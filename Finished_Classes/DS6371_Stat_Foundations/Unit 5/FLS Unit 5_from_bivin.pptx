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3" r:id="rId1"/>
  </p:sldMasterIdLst>
  <p:notesMasterIdLst>
    <p:notesMasterId r:id="rId58"/>
  </p:notesMasterIdLst>
  <p:sldIdLst>
    <p:sldId id="270" r:id="rId2"/>
    <p:sldId id="291" r:id="rId3"/>
    <p:sldId id="296" r:id="rId4"/>
    <p:sldId id="528" r:id="rId5"/>
    <p:sldId id="297" r:id="rId6"/>
    <p:sldId id="529" r:id="rId7"/>
    <p:sldId id="293" r:id="rId8"/>
    <p:sldId id="418" r:id="rId9"/>
    <p:sldId id="527" r:id="rId10"/>
    <p:sldId id="534" r:id="rId11"/>
    <p:sldId id="530" r:id="rId12"/>
    <p:sldId id="531" r:id="rId13"/>
    <p:sldId id="564" r:id="rId14"/>
    <p:sldId id="556" r:id="rId15"/>
    <p:sldId id="557" r:id="rId16"/>
    <p:sldId id="555" r:id="rId17"/>
    <p:sldId id="558" r:id="rId18"/>
    <p:sldId id="532" r:id="rId19"/>
    <p:sldId id="533" r:id="rId20"/>
    <p:sldId id="535" r:id="rId21"/>
    <p:sldId id="537" r:id="rId22"/>
    <p:sldId id="561" r:id="rId23"/>
    <p:sldId id="559" r:id="rId24"/>
    <p:sldId id="536" r:id="rId25"/>
    <p:sldId id="538" r:id="rId26"/>
    <p:sldId id="539" r:id="rId27"/>
    <p:sldId id="540" r:id="rId28"/>
    <p:sldId id="542" r:id="rId29"/>
    <p:sldId id="563" r:id="rId30"/>
    <p:sldId id="562" r:id="rId31"/>
    <p:sldId id="419" r:id="rId32"/>
    <p:sldId id="290" r:id="rId33"/>
    <p:sldId id="544" r:id="rId34"/>
    <p:sldId id="295" r:id="rId35"/>
    <p:sldId id="546" r:id="rId36"/>
    <p:sldId id="547" r:id="rId37"/>
    <p:sldId id="298" r:id="rId38"/>
    <p:sldId id="299" r:id="rId39"/>
    <p:sldId id="301" r:id="rId40"/>
    <p:sldId id="302" r:id="rId41"/>
    <p:sldId id="303" r:id="rId42"/>
    <p:sldId id="304" r:id="rId43"/>
    <p:sldId id="305" r:id="rId44"/>
    <p:sldId id="306" r:id="rId45"/>
    <p:sldId id="548" r:id="rId46"/>
    <p:sldId id="543" r:id="rId47"/>
    <p:sldId id="551" r:id="rId48"/>
    <p:sldId id="549" r:id="rId49"/>
    <p:sldId id="550" r:id="rId50"/>
    <p:sldId id="560" r:id="rId51"/>
    <p:sldId id="565" r:id="rId52"/>
    <p:sldId id="553" r:id="rId53"/>
    <p:sldId id="334" r:id="rId54"/>
    <p:sldId id="336" r:id="rId55"/>
    <p:sldId id="552" r:id="rId56"/>
    <p:sldId id="413" r:id="rId57"/>
  </p:sldIdLst>
  <p:sldSz cx="12192000" cy="6858000"/>
  <p:notesSz cx="6858000" cy="9144000"/>
  <p:custDataLst>
    <p:tags r:id="rId5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M User" initials="LM" lastIdx="1" clrIdx="0">
    <p:extLst>
      <p:ext uri="{19B8F6BF-5375-455C-9EA6-DF929625EA0E}">
        <p15:presenceInfo xmlns:p15="http://schemas.microsoft.com/office/powerpoint/2012/main" userId="LM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4CA1"/>
    <a:srgbClr val="6C6C6C"/>
    <a:srgbClr val="013334"/>
    <a:srgbClr val="10069F"/>
    <a:srgbClr val="4E2A84"/>
    <a:srgbClr val="582E8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97" autoAdjust="0"/>
    <p:restoredTop sz="88435" autoAdjust="0"/>
  </p:normalViewPr>
  <p:slideViewPr>
    <p:cSldViewPr>
      <p:cViewPr varScale="1">
        <p:scale>
          <a:sx n="112" d="100"/>
          <a:sy n="112" d="100"/>
        </p:scale>
        <p:origin x="904" y="20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340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gs" Target="tags/tag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8570D6A-FB49-A14C-9B03-21B3417100CD}" type="datetimeFigureOut">
              <a:rPr lang="en-US" smtClean="0"/>
              <a:t>9/26/24</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4CB6C83-B894-2740-9986-97D8BB6F6D98}" type="slidenum">
              <a:rPr lang="en-US" smtClean="0"/>
              <a:t>‹#›</a:t>
            </a:fld>
            <a:endParaRPr lang="en-US" dirty="0"/>
          </a:p>
        </p:txBody>
      </p:sp>
    </p:spTree>
    <p:extLst>
      <p:ext uri="{BB962C8B-B14F-4D97-AF65-F5344CB8AC3E}">
        <p14:creationId xmlns:p14="http://schemas.microsoft.com/office/powerpoint/2010/main" val="1801669850"/>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CB6C83-B894-2740-9986-97D8BB6F6D98}" type="slidenum">
              <a:rPr lang="en-US" smtClean="0"/>
              <a:t>13</a:t>
            </a:fld>
            <a:endParaRPr lang="en-US" dirty="0"/>
          </a:p>
        </p:txBody>
      </p:sp>
    </p:spTree>
    <p:extLst>
      <p:ext uri="{BB962C8B-B14F-4D97-AF65-F5344CB8AC3E}">
        <p14:creationId xmlns:p14="http://schemas.microsoft.com/office/powerpoint/2010/main" val="29821636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CB6C83-B894-2740-9986-97D8BB6F6D98}" type="slidenum">
              <a:rPr lang="en-US" smtClean="0"/>
              <a:t>18</a:t>
            </a:fld>
            <a:endParaRPr lang="en-US" dirty="0"/>
          </a:p>
        </p:txBody>
      </p:sp>
    </p:spTree>
    <p:extLst>
      <p:ext uri="{BB962C8B-B14F-4D97-AF65-F5344CB8AC3E}">
        <p14:creationId xmlns:p14="http://schemas.microsoft.com/office/powerpoint/2010/main" val="16913524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CB6C83-B894-2740-9986-97D8BB6F6D98}" type="slidenum">
              <a:rPr lang="en-US" smtClean="0"/>
              <a:t>36</a:t>
            </a:fld>
            <a:endParaRPr lang="en-US" dirty="0"/>
          </a:p>
        </p:txBody>
      </p:sp>
    </p:spTree>
    <p:extLst>
      <p:ext uri="{BB962C8B-B14F-4D97-AF65-F5344CB8AC3E}">
        <p14:creationId xmlns:p14="http://schemas.microsoft.com/office/powerpoint/2010/main" val="8487823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CB6C83-B894-2740-9986-97D8BB6F6D98}" type="slidenum">
              <a:rPr lang="en-US" smtClean="0"/>
              <a:t>41</a:t>
            </a:fld>
            <a:endParaRPr lang="en-US" dirty="0"/>
          </a:p>
        </p:txBody>
      </p:sp>
    </p:spTree>
    <p:extLst>
      <p:ext uri="{BB962C8B-B14F-4D97-AF65-F5344CB8AC3E}">
        <p14:creationId xmlns:p14="http://schemas.microsoft.com/office/powerpoint/2010/main" val="246338022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1828800"/>
            <a:ext cx="10363200" cy="900546"/>
          </a:xfrm>
        </p:spPr>
        <p:txBody>
          <a:bodyPr anchor="b" anchorCtr="0"/>
          <a:lstStyle>
            <a:lvl1pPr algn="l">
              <a:defRPr/>
            </a:lvl1pPr>
          </a:lstStyle>
          <a:p>
            <a:r>
              <a:rPr lang="en-US" dirty="0"/>
              <a:t>Click To Edit Title</a:t>
            </a:r>
          </a:p>
        </p:txBody>
      </p:sp>
      <p:cxnSp>
        <p:nvCxnSpPr>
          <p:cNvPr id="8" name="Straight Connector 7"/>
          <p:cNvCxnSpPr/>
          <p:nvPr userDrawn="1"/>
        </p:nvCxnSpPr>
        <p:spPr>
          <a:xfrm>
            <a:off x="914400" y="2819400"/>
            <a:ext cx="103632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ubtitle 2"/>
          <p:cNvSpPr>
            <a:spLocks noGrp="1"/>
          </p:cNvSpPr>
          <p:nvPr>
            <p:ph type="subTitle" idx="1" hasCustomPrompt="1"/>
          </p:nvPr>
        </p:nvSpPr>
        <p:spPr>
          <a:xfrm>
            <a:off x="914400" y="2895600"/>
            <a:ext cx="10363200" cy="1752600"/>
          </a:xfrm>
        </p:spPr>
        <p:txBody>
          <a:bodyP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Subtitle</a:t>
            </a:r>
          </a:p>
        </p:txBody>
      </p:sp>
      <p:pic>
        <p:nvPicPr>
          <p:cNvPr id="11" name="Picture 10" descr="C:\Users\njones\Dropbox (2U)\Work\Designing Slides\SMU\Design Brief\logo\logo_datasci_SMU.png">
            <a:extLst>
              <a:ext uri="{FF2B5EF4-FFF2-40B4-BE49-F238E27FC236}">
                <a16:creationId xmlns:a16="http://schemas.microsoft.com/office/drawing/2014/main" id="{6C9BC461-74A3-3B43-A311-BC67E0EEF880}"/>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06402" y="6386563"/>
            <a:ext cx="2348007" cy="2072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51382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cxnSp>
        <p:nvCxnSpPr>
          <p:cNvPr id="8" name="Straight Connector 7"/>
          <p:cNvCxnSpPr/>
          <p:nvPr userDrawn="1"/>
        </p:nvCxnSpPr>
        <p:spPr>
          <a:xfrm>
            <a:off x="609600" y="1293970"/>
            <a:ext cx="109728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8239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3084" y="4406903"/>
            <a:ext cx="10363200" cy="1362075"/>
          </a:xfrm>
        </p:spPr>
        <p:txBody>
          <a:bodyPr anchor="t"/>
          <a:lstStyle>
            <a:lvl1pPr algn="l">
              <a:defRPr sz="4000" b="0" cap="none"/>
            </a:lvl1pPr>
          </a:lstStyle>
          <a:p>
            <a:r>
              <a:rPr lang="en-US" dirty="0"/>
              <a:t>Click To Edit Master Title Style</a:t>
            </a:r>
          </a:p>
        </p:txBody>
      </p:sp>
      <p:sp>
        <p:nvSpPr>
          <p:cNvPr id="3" name="Text Placeholder 2"/>
          <p:cNvSpPr>
            <a:spLocks noGrp="1"/>
          </p:cNvSpPr>
          <p:nvPr>
            <p:ph type="body" idx="1" hasCustomPrompt="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cxnSp>
        <p:nvCxnSpPr>
          <p:cNvPr id="7" name="Straight Connector 6"/>
          <p:cNvCxnSpPr/>
          <p:nvPr userDrawn="1"/>
        </p:nvCxnSpPr>
        <p:spPr>
          <a:xfrm>
            <a:off x="963084" y="4406900"/>
            <a:ext cx="103632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44414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3200"/>
            </a:lvl1pPr>
            <a:lvl2pPr>
              <a:defRPr sz="2800"/>
            </a:lvl2pPr>
            <a:lvl3pPr>
              <a:defRPr sz="2400"/>
            </a:lvl3pPr>
            <a:lvl4pPr>
              <a:defRPr sz="20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97600" y="1600203"/>
            <a:ext cx="5384800" cy="4525963"/>
          </a:xfrm>
        </p:spPr>
        <p:txBody>
          <a:bodyPr/>
          <a:lstStyle>
            <a:lvl1pPr>
              <a:defRPr sz="3200"/>
            </a:lvl1pPr>
            <a:lvl2pPr>
              <a:defRPr sz="2800"/>
            </a:lvl2pPr>
            <a:lvl3pPr>
              <a:defRPr sz="2400"/>
            </a:lvl3pPr>
            <a:lvl4pPr>
              <a:defRPr sz="20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p:cNvCxnSpPr/>
          <p:nvPr userDrawn="1"/>
        </p:nvCxnSpPr>
        <p:spPr>
          <a:xfrm>
            <a:off x="609600" y="1293970"/>
            <a:ext cx="109728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9440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609600" y="1417638"/>
            <a:ext cx="5386917" cy="906462"/>
          </a:xfr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09600" y="2590800"/>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93369" y="1417638"/>
            <a:ext cx="5389033" cy="906462"/>
          </a:xfr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222644" y="2590800"/>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p:cNvCxnSpPr/>
          <p:nvPr userDrawn="1"/>
        </p:nvCxnSpPr>
        <p:spPr>
          <a:xfrm>
            <a:off x="609600" y="1293970"/>
            <a:ext cx="109728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90703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Tree>
    <p:extLst>
      <p:ext uri="{BB962C8B-B14F-4D97-AF65-F5344CB8AC3E}">
        <p14:creationId xmlns:p14="http://schemas.microsoft.com/office/powerpoint/2010/main" val="15618349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with Horizontal Ru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cxnSp>
        <p:nvCxnSpPr>
          <p:cNvPr id="3" name="Straight Connector 2"/>
          <p:cNvCxnSpPr/>
          <p:nvPr userDrawn="1"/>
        </p:nvCxnSpPr>
        <p:spPr>
          <a:xfrm>
            <a:off x="609600" y="1293970"/>
            <a:ext cx="109728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75669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74179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End Slide">
    <p:spTree>
      <p:nvGrpSpPr>
        <p:cNvPr id="1" name=""/>
        <p:cNvGrpSpPr/>
        <p:nvPr/>
      </p:nvGrpSpPr>
      <p:grpSpPr>
        <a:xfrm>
          <a:off x="0" y="0"/>
          <a:ext cx="0" cy="0"/>
          <a:chOff x="0" y="0"/>
          <a:chExt cx="0" cy="0"/>
        </a:xfrm>
      </p:grpSpPr>
      <p:pic>
        <p:nvPicPr>
          <p:cNvPr id="4" name="Picture 3" descr="C:\Users\njones\Dropbox (2U)\Work\Designing Slides\SMU\Design Brief\logo\logo_datasci_SMU.png">
            <a:extLst>
              <a:ext uri="{FF2B5EF4-FFF2-40B4-BE49-F238E27FC236}">
                <a16:creationId xmlns:a16="http://schemas.microsoft.com/office/drawing/2014/main" id="{A756B8E1-2372-7141-AD48-1954EB22C32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209800" y="2778677"/>
            <a:ext cx="7772399" cy="6860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5738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ltGray">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28600"/>
            <a:ext cx="10972800" cy="1143000"/>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Rectangle 11"/>
          <p:cNvSpPr/>
          <p:nvPr userDrawn="1"/>
        </p:nvSpPr>
        <p:spPr>
          <a:xfrm>
            <a:off x="0" y="6779932"/>
            <a:ext cx="12192000" cy="91440"/>
          </a:xfrm>
          <a:prstGeom prst="rect">
            <a:avLst/>
          </a:prstGeom>
          <a:solidFill>
            <a:srgbClr val="35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4" name="Rectangle 13"/>
          <p:cNvSpPr/>
          <p:nvPr userDrawn="1"/>
        </p:nvSpPr>
        <p:spPr>
          <a:xfrm>
            <a:off x="0" y="0"/>
            <a:ext cx="12192000" cy="304800"/>
          </a:xfrm>
          <a:prstGeom prst="rect">
            <a:avLst/>
          </a:prstGeom>
          <a:solidFill>
            <a:srgbClr val="35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Tree>
    <p:extLst>
      <p:ext uri="{BB962C8B-B14F-4D97-AF65-F5344CB8AC3E}">
        <p14:creationId xmlns:p14="http://schemas.microsoft.com/office/powerpoint/2010/main" val="122329842"/>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6" r:id="rId9"/>
  </p:sldLayoutIdLst>
  <p:txStyles>
    <p:titleStyle>
      <a:lvl1pPr algn="ctr" defTabSz="914400" rtl="0" eaLnBrk="1" latinLnBrk="0" hangingPunct="1">
        <a:spcBef>
          <a:spcPct val="0"/>
        </a:spcBef>
        <a:buNone/>
        <a:defRPr sz="4400" b="0" i="0" u="none" kern="1200">
          <a:solidFill>
            <a:schemeClr val="tx1"/>
          </a:solidFill>
          <a:latin typeface="+mj-lt"/>
          <a:ea typeface="+mj-ea"/>
          <a:cs typeface="+mj-cs"/>
        </a:defRPr>
      </a:lvl1pPr>
    </p:titleStyle>
    <p:bodyStyle>
      <a:lvl1pPr marL="342900" indent="-342900" algn="l" defTabSz="914400" rtl="0" eaLnBrk="1" latinLnBrk="0" hangingPunct="1">
        <a:spcBef>
          <a:spcPts val="600"/>
        </a:spcBef>
        <a:buFont typeface="Arial" charset="0"/>
        <a:buChar char="•"/>
        <a:defRPr sz="3200" kern="1200">
          <a:solidFill>
            <a:schemeClr val="tx1"/>
          </a:solidFill>
          <a:latin typeface="+mn-lt"/>
          <a:ea typeface="+mn-ea"/>
          <a:cs typeface="+mn-cs"/>
        </a:defRPr>
      </a:lvl1pPr>
      <a:lvl2pPr marL="742950" indent="-285750" algn="l" defTabSz="914400" rtl="0" eaLnBrk="1" latinLnBrk="0" hangingPunct="1">
        <a:spcBef>
          <a:spcPts val="600"/>
        </a:spcBef>
        <a:buFont typeface="Arial" charset="0"/>
        <a:buChar char="•"/>
        <a:defRPr sz="2800" b="0" i="0" u="none" kern="1200">
          <a:solidFill>
            <a:schemeClr val="tx1"/>
          </a:solidFill>
          <a:latin typeface="+mn-lt"/>
          <a:ea typeface="+mn-ea"/>
          <a:cs typeface="+mn-cs"/>
        </a:defRPr>
      </a:lvl2pPr>
      <a:lvl3pPr marL="1143000" indent="-228600" algn="l" defTabSz="914400" rtl="0" eaLnBrk="1" latinLnBrk="0" hangingPunct="1">
        <a:spcBef>
          <a:spcPts val="600"/>
        </a:spcBef>
        <a:buFont typeface="Arial" charset="0"/>
        <a:buChar char="•"/>
        <a:defRPr sz="2400" kern="1200">
          <a:solidFill>
            <a:schemeClr val="tx1"/>
          </a:solidFill>
          <a:latin typeface="+mn-lt"/>
          <a:ea typeface="+mn-ea"/>
          <a:cs typeface="+mn-cs"/>
        </a:defRPr>
      </a:lvl3pPr>
      <a:lvl4pPr marL="1600200" indent="-228600" algn="l" defTabSz="914400" rtl="0" eaLnBrk="1" latinLnBrk="0" hangingPunct="1">
        <a:spcBef>
          <a:spcPts val="600"/>
        </a:spcBef>
        <a:buFont typeface="Arial"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Font typeface="Arial"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r-bloggers.com/wilcoxon-mann-whitney-rank-sum-test-or-test-u/"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support.sas.com/documentation/onlinedoc/stat/142/npar1way.pdf" TargetMode="External"/><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support.sas.com/documentation/onlinedoc/stat/142/npar1way.pdf" TargetMode="External"/><Relationship Id="rId5" Type="http://schemas.openxmlformats.org/officeDocument/2006/relationships/image" Target="../media/image8.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www.r-bloggers.com/wilcoxon-mann-whitney-rank-sum-test-or-test-u/"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190.png"/><Relationship Id="rId5" Type="http://schemas.openxmlformats.org/officeDocument/2006/relationships/image" Target="../media/image180.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180.png"/><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www.r-bloggers.com/wilcoxon-mann-whitney-rank-sum-test-or-test-u/"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0.png"/><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5.tiff"/><Relationship Id="rId2" Type="http://schemas.openxmlformats.org/officeDocument/2006/relationships/image" Target="../media/image160.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1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51.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80.png"/><Relationship Id="rId2" Type="http://schemas.openxmlformats.org/officeDocument/2006/relationships/image" Target="../media/image581.png"/><Relationship Id="rId1" Type="http://schemas.openxmlformats.org/officeDocument/2006/relationships/slideLayout" Target="../slideLayouts/slideLayout2.xml"/><Relationship Id="rId5" Type="http://schemas.openxmlformats.org/officeDocument/2006/relationships/image" Target="../media/image600.png"/><Relationship Id="rId4" Type="http://schemas.openxmlformats.org/officeDocument/2006/relationships/image" Target="../media/image590.png"/></Relationships>
</file>

<file path=ppt/slides/_rels/slide4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4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21.png"/><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4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60.png"/><Relationship Id="rId2" Type="http://schemas.openxmlformats.org/officeDocument/2006/relationships/image" Target="../media/image350.png"/><Relationship Id="rId1" Type="http://schemas.openxmlformats.org/officeDocument/2006/relationships/slideLayout" Target="../slideLayouts/slideLayout2.xml"/><Relationship Id="rId5" Type="http://schemas.openxmlformats.org/officeDocument/2006/relationships/image" Target="../media/image380.png"/><Relationship Id="rId4" Type="http://schemas.openxmlformats.org/officeDocument/2006/relationships/image" Target="../media/image370.png"/></Relationships>
</file>

<file path=ppt/slides/_rels/slide49.xml.rels><?xml version="1.0" encoding="UTF-8" standalone="yes"?>
<Relationships xmlns="http://schemas.openxmlformats.org/package/2006/relationships"><Relationship Id="rId3" Type="http://schemas.openxmlformats.org/officeDocument/2006/relationships/image" Target="../media/image400.png"/><Relationship Id="rId2" Type="http://schemas.openxmlformats.org/officeDocument/2006/relationships/image" Target="../media/image51.png"/><Relationship Id="rId1" Type="http://schemas.openxmlformats.org/officeDocument/2006/relationships/slideLayout" Target="../slideLayouts/slideLayout2.xml"/><Relationship Id="rId5" Type="http://schemas.openxmlformats.org/officeDocument/2006/relationships/image" Target="../media/image440.png"/><Relationship Id="rId4" Type="http://schemas.openxmlformats.org/officeDocument/2006/relationships/image" Target="../media/image430.png"/></Relationships>
</file>

<file path=ppt/slides/_rels/slide50.xml.rels><?xml version="1.0" encoding="UTF-8" standalone="yes"?>
<Relationships xmlns="http://schemas.openxmlformats.org/package/2006/relationships"><Relationship Id="rId3" Type="http://schemas.openxmlformats.org/officeDocument/2006/relationships/image" Target="../media/image400.png"/><Relationship Id="rId2" Type="http://schemas.openxmlformats.org/officeDocument/2006/relationships/image" Target="../media/image51.png"/><Relationship Id="rId1" Type="http://schemas.openxmlformats.org/officeDocument/2006/relationships/slideLayout" Target="../slideLayouts/slideLayout2.xml"/><Relationship Id="rId5" Type="http://schemas.openxmlformats.org/officeDocument/2006/relationships/image" Target="../media/image420.png"/><Relationship Id="rId4" Type="http://schemas.openxmlformats.org/officeDocument/2006/relationships/image" Target="../media/image490.png"/></Relationships>
</file>

<file path=ppt/slides/_rels/slide5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hyperlink" Target="https://documentation.sas.com/?cdcId=pgmsascdc&amp;cdcVersion=9.4_3.5&amp;docsetId=procstat&amp;docsetTarget=procstat_univariate_details17.htm&amp;locale=en" TargetMode="External"/><Relationship Id="rId2" Type="http://schemas.openxmlformats.org/officeDocument/2006/relationships/hyperlink" Target="https://stat-methods.com/home/wilcoxon-signed-rank-sas/" TargetMode="Externa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C4CB0-3087-9D43-85D3-6DA36180D5A4}"/>
              </a:ext>
            </a:extLst>
          </p:cNvPr>
          <p:cNvSpPr>
            <a:spLocks noGrp="1"/>
          </p:cNvSpPr>
          <p:nvPr>
            <p:ph type="ctrTitle"/>
          </p:nvPr>
        </p:nvSpPr>
        <p:spPr/>
        <p:txBody>
          <a:bodyPr/>
          <a:lstStyle/>
          <a:p>
            <a:r>
              <a:rPr lang="en-US" dirty="0"/>
              <a:t>For Live Session Assignment</a:t>
            </a:r>
            <a:r>
              <a:rPr lang="en-US" dirty="0">
                <a:sym typeface="Wingdings" pitchFamily="2" charset="2"/>
              </a:rPr>
              <a:t> (FLS)</a:t>
            </a:r>
            <a:r>
              <a:rPr lang="en-US" dirty="0"/>
              <a:t> </a:t>
            </a:r>
          </a:p>
        </p:txBody>
      </p:sp>
      <p:sp>
        <p:nvSpPr>
          <p:cNvPr id="5" name="Subtitle 4"/>
          <p:cNvSpPr>
            <a:spLocks noGrp="1"/>
          </p:cNvSpPr>
          <p:nvPr>
            <p:ph type="subTitle" idx="1"/>
          </p:nvPr>
        </p:nvSpPr>
        <p:spPr/>
        <p:txBody>
          <a:bodyPr/>
          <a:lstStyle/>
          <a:p>
            <a:r>
              <a:rPr lang="en-US" dirty="0"/>
              <a:t>Unit 5</a:t>
            </a:r>
          </a:p>
        </p:txBody>
      </p:sp>
    </p:spTree>
    <p:extLst>
      <p:ext uri="{BB962C8B-B14F-4D97-AF65-F5344CB8AC3E}">
        <p14:creationId xmlns:p14="http://schemas.microsoft.com/office/powerpoint/2010/main" val="2742512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E449F-B444-7D43-BAB9-2A9A05C50B80}"/>
              </a:ext>
            </a:extLst>
          </p:cNvPr>
          <p:cNvSpPr>
            <a:spLocks noGrp="1"/>
          </p:cNvSpPr>
          <p:nvPr>
            <p:ph type="title"/>
          </p:nvPr>
        </p:nvSpPr>
        <p:spPr>
          <a:xfrm>
            <a:off x="2152650" y="2407287"/>
            <a:ext cx="7886700" cy="1325563"/>
          </a:xfrm>
        </p:spPr>
        <p:txBody>
          <a:bodyPr/>
          <a:lstStyle/>
          <a:p>
            <a:pPr algn="ctr"/>
            <a:r>
              <a:rPr lang="en-US" dirty="0"/>
              <a:t>Question 1:</a:t>
            </a:r>
            <a:br>
              <a:rPr lang="en-US" dirty="0"/>
            </a:br>
            <a:r>
              <a:rPr lang="en-US" dirty="0"/>
              <a:t>Quick Quiz Questions</a:t>
            </a:r>
          </a:p>
        </p:txBody>
      </p:sp>
    </p:spTree>
    <p:extLst>
      <p:ext uri="{BB962C8B-B14F-4D97-AF65-F5344CB8AC3E}">
        <p14:creationId xmlns:p14="http://schemas.microsoft.com/office/powerpoint/2010/main" val="1446849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8ED0E-3958-BF4C-A743-EA2E5482EF5D}"/>
              </a:ext>
            </a:extLst>
          </p:cNvPr>
          <p:cNvSpPr>
            <a:spLocks noGrp="1"/>
          </p:cNvSpPr>
          <p:nvPr>
            <p:ph type="title"/>
          </p:nvPr>
        </p:nvSpPr>
        <p:spPr/>
        <p:txBody>
          <a:bodyPr/>
          <a:lstStyle/>
          <a:p>
            <a:r>
              <a:rPr lang="en-US" dirty="0"/>
              <a:t>Question 1</a:t>
            </a:r>
          </a:p>
        </p:txBody>
      </p:sp>
      <p:pic>
        <p:nvPicPr>
          <p:cNvPr id="4" name="Picture 3">
            <a:extLst>
              <a:ext uri="{FF2B5EF4-FFF2-40B4-BE49-F238E27FC236}">
                <a16:creationId xmlns:a16="http://schemas.microsoft.com/office/drawing/2014/main" id="{7D9136E0-41B2-DD4E-8710-DED1F89BD956}"/>
              </a:ext>
            </a:extLst>
          </p:cNvPr>
          <p:cNvPicPr>
            <a:picLocks noChangeAspect="1"/>
          </p:cNvPicPr>
          <p:nvPr/>
        </p:nvPicPr>
        <p:blipFill>
          <a:blip r:embed="rId2"/>
          <a:stretch>
            <a:fillRect/>
          </a:stretch>
        </p:blipFill>
        <p:spPr>
          <a:xfrm>
            <a:off x="228600" y="1485900"/>
            <a:ext cx="8509000" cy="5105400"/>
          </a:xfrm>
          <a:prstGeom prst="rect">
            <a:avLst/>
          </a:prstGeom>
        </p:spPr>
      </p:pic>
    </p:spTree>
    <p:extLst>
      <p:ext uri="{BB962C8B-B14F-4D97-AF65-F5344CB8AC3E}">
        <p14:creationId xmlns:p14="http://schemas.microsoft.com/office/powerpoint/2010/main" val="16208144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600C0DE-07B2-2D4E-9A7B-870924839C8A}"/>
              </a:ext>
            </a:extLst>
          </p:cNvPr>
          <p:cNvPicPr>
            <a:picLocks noChangeAspect="1"/>
          </p:cNvPicPr>
          <p:nvPr/>
        </p:nvPicPr>
        <p:blipFill>
          <a:blip r:embed="rId2"/>
          <a:stretch>
            <a:fillRect/>
          </a:stretch>
        </p:blipFill>
        <p:spPr>
          <a:xfrm>
            <a:off x="8229600" y="2988623"/>
            <a:ext cx="3880129" cy="1657621"/>
          </a:xfrm>
          <a:prstGeom prst="rect">
            <a:avLst/>
          </a:prstGeom>
        </p:spPr>
      </p:pic>
      <p:sp>
        <p:nvSpPr>
          <p:cNvPr id="2" name="Title 1">
            <a:extLst>
              <a:ext uri="{FF2B5EF4-FFF2-40B4-BE49-F238E27FC236}">
                <a16:creationId xmlns:a16="http://schemas.microsoft.com/office/drawing/2014/main" id="{FFD8ED0E-3958-BF4C-A743-EA2E5482EF5D}"/>
              </a:ext>
            </a:extLst>
          </p:cNvPr>
          <p:cNvSpPr>
            <a:spLocks noGrp="1"/>
          </p:cNvSpPr>
          <p:nvPr>
            <p:ph type="title"/>
          </p:nvPr>
        </p:nvSpPr>
        <p:spPr/>
        <p:txBody>
          <a:bodyPr/>
          <a:lstStyle/>
          <a:p>
            <a:r>
              <a:rPr lang="en-US" dirty="0"/>
              <a:t>Question 1</a:t>
            </a:r>
          </a:p>
        </p:txBody>
      </p:sp>
      <p:pic>
        <p:nvPicPr>
          <p:cNvPr id="4" name="Picture 3">
            <a:extLst>
              <a:ext uri="{FF2B5EF4-FFF2-40B4-BE49-F238E27FC236}">
                <a16:creationId xmlns:a16="http://schemas.microsoft.com/office/drawing/2014/main" id="{7D9136E0-41B2-DD4E-8710-DED1F89BD956}"/>
              </a:ext>
            </a:extLst>
          </p:cNvPr>
          <p:cNvPicPr>
            <a:picLocks noChangeAspect="1"/>
          </p:cNvPicPr>
          <p:nvPr/>
        </p:nvPicPr>
        <p:blipFill>
          <a:blip r:embed="rId3"/>
          <a:stretch>
            <a:fillRect/>
          </a:stretch>
        </p:blipFill>
        <p:spPr>
          <a:xfrm>
            <a:off x="193535" y="1485900"/>
            <a:ext cx="8509000" cy="5105400"/>
          </a:xfrm>
          <a:prstGeom prst="rect">
            <a:avLst/>
          </a:prstGeom>
        </p:spPr>
      </p:pic>
      <p:sp>
        <p:nvSpPr>
          <p:cNvPr id="3" name="Triangle 2">
            <a:extLst>
              <a:ext uri="{FF2B5EF4-FFF2-40B4-BE49-F238E27FC236}">
                <a16:creationId xmlns:a16="http://schemas.microsoft.com/office/drawing/2014/main" id="{F9EB1C6C-631C-8F45-BB03-0A55CE50E399}"/>
              </a:ext>
            </a:extLst>
          </p:cNvPr>
          <p:cNvSpPr/>
          <p:nvPr/>
        </p:nvSpPr>
        <p:spPr>
          <a:xfrm>
            <a:off x="472935" y="3817434"/>
            <a:ext cx="317500" cy="2286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E100394-3B53-C94C-97EE-49E4712D9649}"/>
              </a:ext>
            </a:extLst>
          </p:cNvPr>
          <p:cNvSpPr txBox="1"/>
          <p:nvPr/>
        </p:nvSpPr>
        <p:spPr>
          <a:xfrm>
            <a:off x="5410200" y="6229765"/>
            <a:ext cx="5867400" cy="307777"/>
          </a:xfrm>
          <a:prstGeom prst="rect">
            <a:avLst/>
          </a:prstGeom>
          <a:noFill/>
        </p:spPr>
        <p:txBody>
          <a:bodyPr wrap="square" rtlCol="0">
            <a:spAutoFit/>
          </a:bodyPr>
          <a:lstStyle/>
          <a:p>
            <a:r>
              <a:rPr lang="en-US" sz="1400" dirty="0">
                <a:solidFill>
                  <a:srgbClr val="FF0000"/>
                </a:solidFill>
              </a:rPr>
              <a:t>While true, this does not “suggest a problem, as the question asked. ”</a:t>
            </a:r>
          </a:p>
        </p:txBody>
      </p:sp>
      <p:cxnSp>
        <p:nvCxnSpPr>
          <p:cNvPr id="8" name="Straight Connector 7">
            <a:extLst>
              <a:ext uri="{FF2B5EF4-FFF2-40B4-BE49-F238E27FC236}">
                <a16:creationId xmlns:a16="http://schemas.microsoft.com/office/drawing/2014/main" id="{C0C80DBD-D08D-BD43-8531-A91A01063ED8}"/>
              </a:ext>
            </a:extLst>
          </p:cNvPr>
          <p:cNvCxnSpPr/>
          <p:nvPr/>
        </p:nvCxnSpPr>
        <p:spPr>
          <a:xfrm>
            <a:off x="9525000" y="3511550"/>
            <a:ext cx="0" cy="98425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6721AE4-20B3-E149-BEF5-93AF03C4D400}"/>
              </a:ext>
            </a:extLst>
          </p:cNvPr>
          <p:cNvSpPr txBox="1"/>
          <p:nvPr/>
        </p:nvSpPr>
        <p:spPr>
          <a:xfrm>
            <a:off x="9029703" y="4461578"/>
            <a:ext cx="990593" cy="369332"/>
          </a:xfrm>
          <a:prstGeom prst="rect">
            <a:avLst/>
          </a:prstGeom>
          <a:noFill/>
        </p:spPr>
        <p:txBody>
          <a:bodyPr wrap="square" rtlCol="0">
            <a:spAutoFit/>
          </a:bodyPr>
          <a:lstStyle/>
          <a:p>
            <a:r>
              <a:rPr lang="en-US" dirty="0"/>
              <a:t>3 years</a:t>
            </a:r>
          </a:p>
        </p:txBody>
      </p:sp>
      <p:sp>
        <p:nvSpPr>
          <p:cNvPr id="10" name="Freeform 9">
            <a:extLst>
              <a:ext uri="{FF2B5EF4-FFF2-40B4-BE49-F238E27FC236}">
                <a16:creationId xmlns:a16="http://schemas.microsoft.com/office/drawing/2014/main" id="{6CE9532E-CB2D-F144-8A58-F84D70E5A7C4}"/>
              </a:ext>
            </a:extLst>
          </p:cNvPr>
          <p:cNvSpPr/>
          <p:nvPr/>
        </p:nvSpPr>
        <p:spPr>
          <a:xfrm>
            <a:off x="8697191" y="3990109"/>
            <a:ext cx="831273" cy="353291"/>
          </a:xfrm>
          <a:custGeom>
            <a:avLst/>
            <a:gdLst>
              <a:gd name="connsiteX0" fmla="*/ 831273 w 831273"/>
              <a:gd name="connsiteY0" fmla="*/ 0 h 353291"/>
              <a:gd name="connsiteX1" fmla="*/ 716973 w 831273"/>
              <a:gd name="connsiteY1" fmla="*/ 62346 h 353291"/>
              <a:gd name="connsiteX2" fmla="*/ 561109 w 831273"/>
              <a:gd name="connsiteY2" fmla="*/ 145473 h 353291"/>
              <a:gd name="connsiteX3" fmla="*/ 426027 w 831273"/>
              <a:gd name="connsiteY3" fmla="*/ 187036 h 353291"/>
              <a:gd name="connsiteX4" fmla="*/ 218209 w 831273"/>
              <a:gd name="connsiteY4" fmla="*/ 270164 h 353291"/>
              <a:gd name="connsiteX5" fmla="*/ 72736 w 831273"/>
              <a:gd name="connsiteY5" fmla="*/ 311727 h 353291"/>
              <a:gd name="connsiteX6" fmla="*/ 72736 w 831273"/>
              <a:gd name="connsiteY6" fmla="*/ 311727 h 353291"/>
              <a:gd name="connsiteX7" fmla="*/ 0 w 831273"/>
              <a:gd name="connsiteY7" fmla="*/ 353291 h 353291"/>
              <a:gd name="connsiteX8" fmla="*/ 820882 w 831273"/>
              <a:gd name="connsiteY8" fmla="*/ 353291 h 353291"/>
              <a:gd name="connsiteX9" fmla="*/ 831273 w 831273"/>
              <a:gd name="connsiteY9" fmla="*/ 0 h 353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31273" h="353291">
                <a:moveTo>
                  <a:pt x="831273" y="0"/>
                </a:moveTo>
                <a:lnTo>
                  <a:pt x="716973" y="62346"/>
                </a:lnTo>
                <a:lnTo>
                  <a:pt x="561109" y="145473"/>
                </a:lnTo>
                <a:lnTo>
                  <a:pt x="426027" y="187036"/>
                </a:lnTo>
                <a:lnTo>
                  <a:pt x="218209" y="270164"/>
                </a:lnTo>
                <a:lnTo>
                  <a:pt x="72736" y="311727"/>
                </a:lnTo>
                <a:lnTo>
                  <a:pt x="72736" y="311727"/>
                </a:lnTo>
                <a:lnTo>
                  <a:pt x="0" y="353291"/>
                </a:lnTo>
                <a:lnTo>
                  <a:pt x="820882" y="353291"/>
                </a:lnTo>
                <a:lnTo>
                  <a:pt x="831273" y="0"/>
                </a:lnTo>
                <a:close/>
              </a:path>
            </a:pathLst>
          </a:custGeom>
          <a:solidFill>
            <a:srgbClr val="FF0000">
              <a:alpha val="5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0">
            <a:extLst>
              <a:ext uri="{FF2B5EF4-FFF2-40B4-BE49-F238E27FC236}">
                <a16:creationId xmlns:a16="http://schemas.microsoft.com/office/drawing/2014/main" id="{A3FFE885-8056-664F-AD9D-59E902FC670B}"/>
              </a:ext>
            </a:extLst>
          </p:cNvPr>
          <p:cNvSpPr/>
          <p:nvPr/>
        </p:nvSpPr>
        <p:spPr>
          <a:xfrm>
            <a:off x="9279082" y="4197927"/>
            <a:ext cx="259773" cy="145473"/>
          </a:xfrm>
          <a:custGeom>
            <a:avLst/>
            <a:gdLst>
              <a:gd name="connsiteX0" fmla="*/ 249382 w 259773"/>
              <a:gd name="connsiteY0" fmla="*/ 0 h 145473"/>
              <a:gd name="connsiteX1" fmla="*/ 197427 w 259773"/>
              <a:gd name="connsiteY1" fmla="*/ 41564 h 145473"/>
              <a:gd name="connsiteX2" fmla="*/ 145473 w 259773"/>
              <a:gd name="connsiteY2" fmla="*/ 72737 h 145473"/>
              <a:gd name="connsiteX3" fmla="*/ 103909 w 259773"/>
              <a:gd name="connsiteY3" fmla="*/ 93518 h 145473"/>
              <a:gd name="connsiteX4" fmla="*/ 0 w 259773"/>
              <a:gd name="connsiteY4" fmla="*/ 135082 h 145473"/>
              <a:gd name="connsiteX5" fmla="*/ 259773 w 259773"/>
              <a:gd name="connsiteY5" fmla="*/ 145473 h 145473"/>
              <a:gd name="connsiteX6" fmla="*/ 249382 w 259773"/>
              <a:gd name="connsiteY6" fmla="*/ 0 h 145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9773" h="145473">
                <a:moveTo>
                  <a:pt x="249382" y="0"/>
                </a:moveTo>
                <a:lnTo>
                  <a:pt x="197427" y="41564"/>
                </a:lnTo>
                <a:lnTo>
                  <a:pt x="145473" y="72737"/>
                </a:lnTo>
                <a:lnTo>
                  <a:pt x="103909" y="93518"/>
                </a:lnTo>
                <a:lnTo>
                  <a:pt x="0" y="135082"/>
                </a:lnTo>
                <a:lnTo>
                  <a:pt x="259773" y="145473"/>
                </a:lnTo>
                <a:lnTo>
                  <a:pt x="249382" y="0"/>
                </a:lnTo>
                <a:close/>
              </a:path>
            </a:pathLst>
          </a:custGeom>
          <a:solidFill>
            <a:srgbClr val="00B050">
              <a:alpha val="8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48849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8ED0E-3958-BF4C-A743-EA2E5482EF5D}"/>
              </a:ext>
            </a:extLst>
          </p:cNvPr>
          <p:cNvSpPr>
            <a:spLocks noGrp="1"/>
          </p:cNvSpPr>
          <p:nvPr>
            <p:ph type="title"/>
          </p:nvPr>
        </p:nvSpPr>
        <p:spPr/>
        <p:txBody>
          <a:bodyPr/>
          <a:lstStyle/>
          <a:p>
            <a:r>
              <a:rPr lang="en-US" dirty="0"/>
              <a:t>Question 2</a:t>
            </a:r>
          </a:p>
        </p:txBody>
      </p:sp>
      <p:pic>
        <p:nvPicPr>
          <p:cNvPr id="3" name="Picture 2">
            <a:extLst>
              <a:ext uri="{FF2B5EF4-FFF2-40B4-BE49-F238E27FC236}">
                <a16:creationId xmlns:a16="http://schemas.microsoft.com/office/drawing/2014/main" id="{396477D2-B950-B74B-8B62-C5480D1B6825}"/>
              </a:ext>
            </a:extLst>
          </p:cNvPr>
          <p:cNvPicPr>
            <a:picLocks noChangeAspect="1"/>
          </p:cNvPicPr>
          <p:nvPr/>
        </p:nvPicPr>
        <p:blipFill>
          <a:blip r:embed="rId2"/>
          <a:stretch>
            <a:fillRect/>
          </a:stretch>
        </p:blipFill>
        <p:spPr>
          <a:xfrm>
            <a:off x="1930400" y="1690689"/>
            <a:ext cx="8331200" cy="4826000"/>
          </a:xfrm>
          <a:prstGeom prst="rect">
            <a:avLst/>
          </a:prstGeom>
        </p:spPr>
      </p:pic>
    </p:spTree>
    <p:extLst>
      <p:ext uri="{BB962C8B-B14F-4D97-AF65-F5344CB8AC3E}">
        <p14:creationId xmlns:p14="http://schemas.microsoft.com/office/powerpoint/2010/main" val="7673104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8ED0E-3958-BF4C-A743-EA2E5482EF5D}"/>
              </a:ext>
            </a:extLst>
          </p:cNvPr>
          <p:cNvSpPr>
            <a:spLocks noGrp="1"/>
          </p:cNvSpPr>
          <p:nvPr>
            <p:ph type="title"/>
          </p:nvPr>
        </p:nvSpPr>
        <p:spPr/>
        <p:txBody>
          <a:bodyPr/>
          <a:lstStyle/>
          <a:p>
            <a:r>
              <a:rPr lang="en-US" dirty="0"/>
              <a:t>Question 2</a:t>
            </a:r>
          </a:p>
        </p:txBody>
      </p:sp>
      <p:pic>
        <p:nvPicPr>
          <p:cNvPr id="3" name="Picture 2">
            <a:extLst>
              <a:ext uri="{FF2B5EF4-FFF2-40B4-BE49-F238E27FC236}">
                <a16:creationId xmlns:a16="http://schemas.microsoft.com/office/drawing/2014/main" id="{396477D2-B950-B74B-8B62-C5480D1B6825}"/>
              </a:ext>
            </a:extLst>
          </p:cNvPr>
          <p:cNvPicPr>
            <a:picLocks noChangeAspect="1"/>
          </p:cNvPicPr>
          <p:nvPr/>
        </p:nvPicPr>
        <p:blipFill>
          <a:blip r:embed="rId2"/>
          <a:stretch>
            <a:fillRect/>
          </a:stretch>
        </p:blipFill>
        <p:spPr>
          <a:xfrm>
            <a:off x="1905000" y="1690689"/>
            <a:ext cx="8331200" cy="4826000"/>
          </a:xfrm>
          <a:prstGeom prst="rect">
            <a:avLst/>
          </a:prstGeom>
        </p:spPr>
      </p:pic>
      <p:sp>
        <p:nvSpPr>
          <p:cNvPr id="4" name="Triangle 3">
            <a:extLst>
              <a:ext uri="{FF2B5EF4-FFF2-40B4-BE49-F238E27FC236}">
                <a16:creationId xmlns:a16="http://schemas.microsoft.com/office/drawing/2014/main" id="{7E637821-E786-F046-8EDE-AC1DFD94F6E1}"/>
              </a:ext>
            </a:extLst>
          </p:cNvPr>
          <p:cNvSpPr/>
          <p:nvPr/>
        </p:nvSpPr>
        <p:spPr>
          <a:xfrm>
            <a:off x="2193635" y="5142010"/>
            <a:ext cx="317500" cy="2286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671824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B032C-F3A2-3246-954B-BB47CD54099B}"/>
              </a:ext>
            </a:extLst>
          </p:cNvPr>
          <p:cNvSpPr>
            <a:spLocks noGrp="1"/>
          </p:cNvSpPr>
          <p:nvPr>
            <p:ph type="title"/>
          </p:nvPr>
        </p:nvSpPr>
        <p:spPr>
          <a:xfrm>
            <a:off x="609600" y="3124200"/>
            <a:ext cx="10972800" cy="1143000"/>
          </a:xfrm>
        </p:spPr>
        <p:txBody>
          <a:bodyPr/>
          <a:lstStyle/>
          <a:p>
            <a:r>
              <a:rPr lang="en-US" dirty="0"/>
              <a:t>End Question 1</a:t>
            </a:r>
          </a:p>
        </p:txBody>
      </p:sp>
    </p:spTree>
    <p:extLst>
      <p:ext uri="{BB962C8B-B14F-4D97-AF65-F5344CB8AC3E}">
        <p14:creationId xmlns:p14="http://schemas.microsoft.com/office/powerpoint/2010/main" val="39245173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1781783" y="3429001"/>
                <a:ext cx="8628434" cy="1450757"/>
              </a:xfrm>
            </p:spPr>
            <p:txBody>
              <a:bodyPr/>
              <a:lstStyle/>
              <a:p>
                <a:pPr algn="ctr"/>
                <a:r>
                  <a:rPr lang="en-US" dirty="0"/>
                  <a:t>Question 2</a:t>
                </a:r>
                <a:br>
                  <a:rPr lang="en-US" dirty="0"/>
                </a:br>
                <a:r>
                  <a:rPr lang="en-US" dirty="0"/>
                  <a:t>(</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0" smtClean="0">
                        <a:latin typeface="Cambria Math" panose="02040503050406030204" pitchFamily="18" charset="0"/>
                        <a:ea typeface="Cambria Math" panose="02040503050406030204" pitchFamily="18" charset="0"/>
                      </a:rPr>
                      <m:t>2</m:t>
                    </m:r>
                  </m:oMath>
                </a14:m>
                <a:r>
                  <a:rPr lang="en-US" dirty="0"/>
                  <a:t> hours)</a:t>
                </a:r>
                <a:br>
                  <a:rPr lang="en-US" dirty="0"/>
                </a:br>
                <a:br>
                  <a:rPr lang="en-US" dirty="0"/>
                </a:br>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1781783" y="3429001"/>
                <a:ext cx="8628434" cy="1450757"/>
              </a:xfrm>
              <a:blipFill>
                <a:blip r:embed="rId2"/>
                <a:stretch>
                  <a:fillRect t="-55263"/>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a:xfrm>
            <a:off x="7425345" y="6459789"/>
            <a:ext cx="984019"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85BC5B7D-D6B0-4550-9BAF-D21F2647AC79}" type="slidenum">
              <a:rPr lang="en-US" altLang="en-US" smtClean="0"/>
              <a:pPr>
                <a:defRPr/>
              </a:pPr>
              <a:t>8</a:t>
            </a:fld>
            <a:endParaRPr lang="en-US" altLang="en-US" dirty="0"/>
          </a:p>
        </p:txBody>
      </p:sp>
    </p:spTree>
    <p:extLst>
      <p:ext uri="{BB962C8B-B14F-4D97-AF65-F5344CB8AC3E}">
        <p14:creationId xmlns:p14="http://schemas.microsoft.com/office/powerpoint/2010/main" val="27165848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F5CC1-17A8-144D-BB4D-794B04E87DD3}"/>
              </a:ext>
            </a:extLst>
          </p:cNvPr>
          <p:cNvSpPr>
            <a:spLocks noGrp="1"/>
          </p:cNvSpPr>
          <p:nvPr>
            <p:ph type="title"/>
          </p:nvPr>
        </p:nvSpPr>
        <p:spPr/>
        <p:txBody>
          <a:bodyPr/>
          <a:lstStyle/>
          <a:p>
            <a:r>
              <a:rPr lang="en-US" dirty="0"/>
              <a:t>Ecology: Wildfires!</a:t>
            </a:r>
          </a:p>
        </p:txBody>
      </p:sp>
      <p:sp>
        <p:nvSpPr>
          <p:cNvPr id="3" name="Content Placeholder 2">
            <a:extLst>
              <a:ext uri="{FF2B5EF4-FFF2-40B4-BE49-F238E27FC236}">
                <a16:creationId xmlns:a16="http://schemas.microsoft.com/office/drawing/2014/main" id="{9EBDA57C-0EE1-6348-A2FD-671FDCFD73D9}"/>
              </a:ext>
            </a:extLst>
          </p:cNvPr>
          <p:cNvSpPr>
            <a:spLocks noGrp="1"/>
          </p:cNvSpPr>
          <p:nvPr>
            <p:ph idx="1"/>
          </p:nvPr>
        </p:nvSpPr>
        <p:spPr>
          <a:xfrm>
            <a:off x="381000" y="1600203"/>
            <a:ext cx="11430000" cy="4525963"/>
          </a:xfrm>
        </p:spPr>
        <p:txBody>
          <a:bodyPr/>
          <a:lstStyle/>
          <a:p>
            <a:pPr lvl="0"/>
            <a:r>
              <a:rPr lang="en-US" sz="1800" dirty="0"/>
              <a:t>When wildfires ravage forests, the timber industry argues that logging </a:t>
            </a:r>
            <a:r>
              <a:rPr lang="en-US" sz="1800" b="1" dirty="0"/>
              <a:t>(actual logging of trees … not the mathematical log!)</a:t>
            </a:r>
            <a:r>
              <a:rPr lang="en-US" sz="1800" dirty="0"/>
              <a:t> the burned trees enhances forest recovery; the EPA argues the opposite. The 2002 Biscuit Fire in southwest Oregon provided a test case.  Researchers selected 16 fire-affected plots in 2004, before any logging was done and counted tree seedlings along a randomly located transect pattern in each plot.  They returned in 2005, after nine of the plots had been logged, and counted the tree seedlings along the same transects.  The percent of seedlings lost from 2004 to 2005 is recorded in the file </a:t>
            </a:r>
            <a:r>
              <a:rPr lang="en-US" sz="1800" b="1" i="1" dirty="0" err="1"/>
              <a:t>logging.csv</a:t>
            </a:r>
            <a:r>
              <a:rPr lang="en-US" sz="1800" dirty="0"/>
              <a:t> for logged (L) and unlogged (U) plots:</a:t>
            </a:r>
          </a:p>
          <a:p>
            <a:r>
              <a:rPr lang="en-US" sz="1800" dirty="0"/>
              <a:t>Test the EPA’s assertion (and thus the opposite of the logging industries assertion) that logging </a:t>
            </a:r>
            <a:r>
              <a:rPr lang="en-US" sz="1800" b="1" dirty="0"/>
              <a:t>(again…. not the mathematical log! :)</a:t>
            </a:r>
            <a:r>
              <a:rPr lang="en-US" sz="1800" dirty="0"/>
              <a:t> actually increases the percentage of seedlings lost from 2004 to 2005.  </a:t>
            </a:r>
          </a:p>
          <a:p>
            <a:pPr lvl="1"/>
            <a:r>
              <a:rPr lang="en-US" sz="1600" dirty="0"/>
              <a:t>Perform a complete analysis using a rank sum test in SAS. (Logging data).</a:t>
            </a:r>
          </a:p>
          <a:p>
            <a:pPr lvl="1"/>
            <a:r>
              <a:rPr lang="en-US" sz="1600" dirty="0"/>
              <a:t>Verify the p-value and confidence interval by running the rank sum test in R (using R function </a:t>
            </a:r>
            <a:r>
              <a:rPr lang="en-US" sz="1600" dirty="0" err="1"/>
              <a:t>Wilcox.test</a:t>
            </a:r>
            <a:r>
              <a:rPr lang="en-US" sz="1600" dirty="0"/>
              <a:t>).  (You do not need to repeat the complete analysis … simply cut and paste a screen shot of your code and the output.) You may use: </a:t>
            </a:r>
            <a:r>
              <a:rPr lang="en-US" sz="1600" u="sng" dirty="0">
                <a:hlinkClick r:id="rId2"/>
              </a:rPr>
              <a:t>https://www.r-bloggers.com/wilcoxon-mann-whitney-rank-sum-test-or-test-u/</a:t>
            </a:r>
            <a:r>
              <a:rPr lang="en-US" sz="1600" dirty="0"/>
              <a:t> for reference. </a:t>
            </a:r>
          </a:p>
          <a:p>
            <a:pPr lvl="1"/>
            <a:r>
              <a:rPr lang="en-US" sz="1600" dirty="0"/>
              <a:t>Finally, perform a permutation test for the difference of means. Finally, perform a permutation test for the difference of means.  As with all ”tests”, this should include a clear conclusion written in the context of the problem and in terms understandable by a client (although it should also include a </a:t>
            </a:r>
            <a:r>
              <a:rPr lang="en-US" sz="1600" dirty="0" err="1"/>
              <a:t>pvalue</a:t>
            </a:r>
            <a:r>
              <a:rPr lang="en-US" sz="1600" dirty="0"/>
              <a:t>.)  </a:t>
            </a:r>
          </a:p>
          <a:p>
            <a:pPr lvl="1"/>
            <a:endParaRPr lang="en-US" sz="1600" dirty="0"/>
          </a:p>
          <a:p>
            <a:endParaRPr lang="en-US" sz="1800" dirty="0"/>
          </a:p>
        </p:txBody>
      </p:sp>
    </p:spTree>
    <p:extLst>
      <p:ext uri="{BB962C8B-B14F-4D97-AF65-F5344CB8AC3E}">
        <p14:creationId xmlns:p14="http://schemas.microsoft.com/office/powerpoint/2010/main" val="457614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F5CC1-17A8-144D-BB4D-794B04E87DD3}"/>
              </a:ext>
            </a:extLst>
          </p:cNvPr>
          <p:cNvSpPr>
            <a:spLocks noGrp="1"/>
          </p:cNvSpPr>
          <p:nvPr>
            <p:ph type="title"/>
          </p:nvPr>
        </p:nvSpPr>
        <p:spPr/>
        <p:txBody>
          <a:bodyPr/>
          <a:lstStyle/>
          <a:p>
            <a:r>
              <a:rPr lang="en-US" dirty="0"/>
              <a:t>Ecology: Wildfires!</a:t>
            </a:r>
          </a:p>
        </p:txBody>
      </p:sp>
      <p:sp>
        <p:nvSpPr>
          <p:cNvPr id="3" name="Content Placeholder 2">
            <a:extLst>
              <a:ext uri="{FF2B5EF4-FFF2-40B4-BE49-F238E27FC236}">
                <a16:creationId xmlns:a16="http://schemas.microsoft.com/office/drawing/2014/main" id="{9EBDA57C-0EE1-6348-A2FD-671FDCFD73D9}"/>
              </a:ext>
            </a:extLst>
          </p:cNvPr>
          <p:cNvSpPr>
            <a:spLocks noGrp="1"/>
          </p:cNvSpPr>
          <p:nvPr>
            <p:ph idx="1"/>
          </p:nvPr>
        </p:nvSpPr>
        <p:spPr>
          <a:xfrm>
            <a:off x="381000" y="1600203"/>
            <a:ext cx="11430000" cy="4525963"/>
          </a:xfrm>
        </p:spPr>
        <p:txBody>
          <a:bodyPr/>
          <a:lstStyle/>
          <a:p>
            <a:pPr lvl="0"/>
            <a:r>
              <a:rPr lang="en-US" sz="1800" dirty="0"/>
              <a:t>When wildfires ravage forests, the timber industry argues that logging </a:t>
            </a:r>
            <a:r>
              <a:rPr lang="en-US" sz="1800" b="1" dirty="0"/>
              <a:t>(actual logging of trees … not the mathematical log!)</a:t>
            </a:r>
            <a:r>
              <a:rPr lang="en-US" sz="1800" dirty="0"/>
              <a:t> the burned trees enhances forest recovery; the EPA argues the opposite. The 2002 Biscuit Fire in southwest Oregon provided a test case.  Researchers selected 16 fire-affected plots in 2004, before any logging was done and counted tree seedlings along a randomly located transect pattern in each plot.  They returned in 2005, after nine of the plots had been logged, and counted the tree seedlings along the same transects.  The percent of seedlings lost from 2004 to 2005 is recorded in the file </a:t>
            </a:r>
            <a:r>
              <a:rPr lang="en-US" sz="1800" b="1" i="1" dirty="0" err="1"/>
              <a:t>logging.csv</a:t>
            </a:r>
            <a:r>
              <a:rPr lang="en-US" sz="1800" dirty="0"/>
              <a:t> for logged (L) and unlogged (U) plots:</a:t>
            </a:r>
          </a:p>
          <a:p>
            <a:r>
              <a:rPr lang="en-US" sz="1800" dirty="0"/>
              <a:t>Test the EPA’s assertion (and thus the opposite of the logging industries assertion) that logging </a:t>
            </a:r>
            <a:r>
              <a:rPr lang="en-US" sz="1800" b="1" dirty="0"/>
              <a:t>(again…. not the mathematical log! :)</a:t>
            </a:r>
            <a:r>
              <a:rPr lang="en-US" sz="1800" dirty="0"/>
              <a:t> actually increases the percentage of seedlings lost from 2004 to 2005.  </a:t>
            </a:r>
          </a:p>
          <a:p>
            <a:pPr lvl="1"/>
            <a:r>
              <a:rPr lang="en-US" sz="1600" dirty="0"/>
              <a:t>Perform a complete analysis using a rank sum test in SAS. (Logging data).</a:t>
            </a:r>
          </a:p>
          <a:p>
            <a:endParaRPr lang="en-US" sz="1800" dirty="0"/>
          </a:p>
        </p:txBody>
      </p:sp>
    </p:spTree>
    <p:extLst>
      <p:ext uri="{BB962C8B-B14F-4D97-AF65-F5344CB8AC3E}">
        <p14:creationId xmlns:p14="http://schemas.microsoft.com/office/powerpoint/2010/main" val="15845869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DE806-5CB6-9C48-9D8F-0ACD517EE298}"/>
              </a:ext>
            </a:extLst>
          </p:cNvPr>
          <p:cNvSpPr>
            <a:spLocks noGrp="1"/>
          </p:cNvSpPr>
          <p:nvPr>
            <p:ph type="title"/>
          </p:nvPr>
        </p:nvSpPr>
        <p:spPr/>
        <p:txBody>
          <a:bodyPr/>
          <a:lstStyle/>
          <a:p>
            <a:r>
              <a:rPr lang="en-US" dirty="0"/>
              <a:t>State the Problem</a:t>
            </a:r>
          </a:p>
        </p:txBody>
      </p:sp>
      <p:sp>
        <p:nvSpPr>
          <p:cNvPr id="3" name="Content Placeholder 2">
            <a:extLst>
              <a:ext uri="{FF2B5EF4-FFF2-40B4-BE49-F238E27FC236}">
                <a16:creationId xmlns:a16="http://schemas.microsoft.com/office/drawing/2014/main" id="{1AB776B5-2B02-3743-A776-70BA66AA5138}"/>
              </a:ext>
            </a:extLst>
          </p:cNvPr>
          <p:cNvSpPr>
            <a:spLocks noGrp="1"/>
          </p:cNvSpPr>
          <p:nvPr>
            <p:ph idx="1"/>
          </p:nvPr>
        </p:nvSpPr>
        <p:spPr/>
        <p:txBody>
          <a:bodyPr/>
          <a:lstStyle/>
          <a:p>
            <a:pPr marL="0" indent="0">
              <a:buNone/>
            </a:pPr>
            <a:r>
              <a:rPr lang="en-US" b="1" dirty="0"/>
              <a:t>Problem: </a:t>
            </a:r>
          </a:p>
          <a:p>
            <a:pPr marL="0" indent="0">
              <a:buNone/>
            </a:pPr>
            <a:r>
              <a:rPr lang="en-US" dirty="0"/>
              <a:t>Test the EPA’s assertion (and thus the opposite of the logging industry’s assertion) that logging actually increases the percentage of seedlings lost from 2004 to 2005.</a:t>
            </a:r>
          </a:p>
          <a:p>
            <a:pPr marL="0" indent="0">
              <a:buNone/>
            </a:pPr>
            <a:endParaRPr lang="en-US" dirty="0"/>
          </a:p>
        </p:txBody>
      </p:sp>
    </p:spTree>
    <p:extLst>
      <p:ext uri="{BB962C8B-B14F-4D97-AF65-F5344CB8AC3E}">
        <p14:creationId xmlns:p14="http://schemas.microsoft.com/office/powerpoint/2010/main" val="12338042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D980D-1E63-8947-8F8C-494895CB051F}"/>
              </a:ext>
            </a:extLst>
          </p:cNvPr>
          <p:cNvSpPr>
            <a:spLocks noGrp="1"/>
          </p:cNvSpPr>
          <p:nvPr>
            <p:ph type="title"/>
          </p:nvPr>
        </p:nvSpPr>
        <p:spPr/>
        <p:txBody>
          <a:bodyPr/>
          <a:lstStyle/>
          <a:p>
            <a:r>
              <a:rPr lang="en-US" dirty="0"/>
              <a:t>Assumptions of the Rank Sum Test</a:t>
            </a:r>
          </a:p>
        </p:txBody>
      </p:sp>
      <p:sp>
        <p:nvSpPr>
          <p:cNvPr id="3" name="Content Placeholder 2">
            <a:extLst>
              <a:ext uri="{FF2B5EF4-FFF2-40B4-BE49-F238E27FC236}">
                <a16:creationId xmlns:a16="http://schemas.microsoft.com/office/drawing/2014/main" id="{B3F75A4F-B286-0341-A28E-AC604BD9F27A}"/>
              </a:ext>
            </a:extLst>
          </p:cNvPr>
          <p:cNvSpPr>
            <a:spLocks noGrp="1"/>
          </p:cNvSpPr>
          <p:nvPr>
            <p:ph idx="1"/>
          </p:nvPr>
        </p:nvSpPr>
        <p:spPr/>
        <p:txBody>
          <a:bodyPr/>
          <a:lstStyle/>
          <a:p>
            <a:pPr marL="0" indent="0">
              <a:buNone/>
            </a:pPr>
            <a:r>
              <a:rPr lang="en-US" b="1" dirty="0"/>
              <a:t>Assumptions: </a:t>
            </a:r>
          </a:p>
          <a:p>
            <a:pPr marL="0" indent="0">
              <a:buNone/>
            </a:pPr>
            <a:r>
              <a:rPr lang="en-US" dirty="0"/>
              <a:t>The data are ordinal as they are percentages of seedlings. </a:t>
            </a:r>
          </a:p>
          <a:p>
            <a:pPr marL="0" indent="0">
              <a:buNone/>
            </a:pPr>
            <a:r>
              <a:rPr lang="en-US" dirty="0"/>
              <a:t>We will assume the observations are independent, although significant spatial correlation may be present. </a:t>
            </a:r>
          </a:p>
          <a:p>
            <a:pPr marL="0" indent="0">
              <a:buNone/>
            </a:pPr>
            <a:r>
              <a:rPr lang="en-US" dirty="0"/>
              <a:t>You may also have assumed that the distributions were the same, except for location.</a:t>
            </a:r>
          </a:p>
          <a:p>
            <a:endParaRPr lang="en-US" dirty="0"/>
          </a:p>
        </p:txBody>
      </p:sp>
      <p:pic>
        <p:nvPicPr>
          <p:cNvPr id="5" name="Picture 4">
            <a:extLst>
              <a:ext uri="{FF2B5EF4-FFF2-40B4-BE49-F238E27FC236}">
                <a16:creationId xmlns:a16="http://schemas.microsoft.com/office/drawing/2014/main" id="{6E5AE7F8-CFF2-ACF6-2D9E-3C2B2BFCF2DC}"/>
              </a:ext>
            </a:extLst>
          </p:cNvPr>
          <p:cNvPicPr>
            <a:picLocks noChangeAspect="1"/>
          </p:cNvPicPr>
          <p:nvPr/>
        </p:nvPicPr>
        <p:blipFill>
          <a:blip r:embed="rId2"/>
          <a:stretch>
            <a:fillRect/>
          </a:stretch>
        </p:blipFill>
        <p:spPr>
          <a:xfrm>
            <a:off x="7924800" y="4343400"/>
            <a:ext cx="3048000" cy="2349096"/>
          </a:xfrm>
          <a:prstGeom prst="rect">
            <a:avLst/>
          </a:prstGeom>
        </p:spPr>
      </p:pic>
    </p:spTree>
    <p:extLst>
      <p:ext uri="{BB962C8B-B14F-4D97-AF65-F5344CB8AC3E}">
        <p14:creationId xmlns:p14="http://schemas.microsoft.com/office/powerpoint/2010/main" val="29459566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F448E-3ED5-4947-A972-5B415E17DAAD}"/>
              </a:ext>
            </a:extLst>
          </p:cNvPr>
          <p:cNvSpPr>
            <a:spLocks noGrp="1"/>
          </p:cNvSpPr>
          <p:nvPr>
            <p:ph type="title"/>
          </p:nvPr>
        </p:nvSpPr>
        <p:spPr/>
        <p:txBody>
          <a:bodyPr/>
          <a:lstStyle/>
          <a:p>
            <a:r>
              <a:rPr lang="en-US" dirty="0"/>
              <a:t>6 Step Rank Sum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3A6B92C-6C89-A744-BF2A-100DBBD70555}"/>
                  </a:ext>
                </a:extLst>
              </p:cNvPr>
              <p:cNvSpPr>
                <a:spLocks noGrp="1"/>
              </p:cNvSpPr>
              <p:nvPr>
                <p:ph idx="1"/>
              </p:nvPr>
            </p:nvSpPr>
            <p:spPr>
              <a:xfrm>
                <a:off x="152400" y="1371600"/>
                <a:ext cx="8153400" cy="4525963"/>
              </a:xfrm>
            </p:spPr>
            <p:txBody>
              <a:bodyPr/>
              <a:lstStyle/>
              <a:p>
                <a:r>
                  <a:rPr lang="en-US" sz="1600" b="1" dirty="0"/>
                  <a:t>Step 1 - Hypotheses:</a:t>
                </a:r>
                <a:endParaRPr lang="en-US" sz="1600" dirty="0"/>
              </a:p>
              <a:p>
                <a14:m>
                  <m:oMath xmlns:m="http://schemas.openxmlformats.org/officeDocument/2006/math">
                    <m:sSub>
                      <m:sSubPr>
                        <m:ctrlPr>
                          <a:rPr lang="en-US" sz="1600" b="1" i="1">
                            <a:latin typeface="Cambria Math" panose="02040503050406030204" pitchFamily="18" charset="0"/>
                          </a:rPr>
                        </m:ctrlPr>
                      </m:sSubPr>
                      <m:e>
                        <m:r>
                          <a:rPr lang="en-US" sz="1600" b="1" i="1">
                            <a:latin typeface="Cambria Math" panose="02040503050406030204" pitchFamily="18" charset="0"/>
                          </a:rPr>
                          <m:t>𝑯</m:t>
                        </m:r>
                      </m:e>
                      <m:sub>
                        <m:r>
                          <a:rPr lang="en-US" sz="1600" b="1" i="1">
                            <a:latin typeface="Cambria Math" panose="02040503050406030204" pitchFamily="18" charset="0"/>
                          </a:rPr>
                          <m:t>𝒐</m:t>
                        </m:r>
                      </m:sub>
                    </m:sSub>
                    <m:r>
                      <a:rPr lang="en-US" sz="1600" i="1">
                        <a:latin typeface="Cambria Math" panose="02040503050406030204" pitchFamily="18" charset="0"/>
                      </a:rPr>
                      <m:t>:</m:t>
                    </m:r>
                  </m:oMath>
                </a14:m>
                <a:r>
                  <a:rPr lang="en-US" sz="1600" b="1" dirty="0"/>
                  <a:t> The median of the percent of lost seedlings in the logged plots is equal to that of the unlogged plots.  </a:t>
                </a:r>
                <a:r>
                  <a:rPr lang="en-US" sz="1600" b="1" dirty="0" err="1"/>
                  <a:t>Median_U</a:t>
                </a:r>
                <a:r>
                  <a:rPr lang="en-US" sz="1600" b="1" dirty="0"/>
                  <a:t> = </a:t>
                </a:r>
                <a:r>
                  <a:rPr lang="en-US" sz="1600" b="1" dirty="0" err="1"/>
                  <a:t>Median_L</a:t>
                </a:r>
                <a:br>
                  <a:rPr lang="en-US" sz="1600" dirty="0"/>
                </a:br>
                <a14:m>
                  <m:oMath xmlns:m="http://schemas.openxmlformats.org/officeDocument/2006/math">
                    <m:sSub>
                      <m:sSubPr>
                        <m:ctrlPr>
                          <a:rPr lang="en-US" sz="1600" b="1" i="1">
                            <a:latin typeface="Cambria Math" panose="02040503050406030204" pitchFamily="18" charset="0"/>
                          </a:rPr>
                        </m:ctrlPr>
                      </m:sSubPr>
                      <m:e>
                        <m:r>
                          <a:rPr lang="en-US" sz="1600" b="1" i="1">
                            <a:latin typeface="Cambria Math" panose="02040503050406030204" pitchFamily="18" charset="0"/>
                          </a:rPr>
                          <m:t>𝑯</m:t>
                        </m:r>
                      </m:e>
                      <m:sub>
                        <m:r>
                          <a:rPr lang="en-US" sz="1600" b="1" i="1">
                            <a:latin typeface="Cambria Math" panose="02040503050406030204" pitchFamily="18" charset="0"/>
                          </a:rPr>
                          <m:t>𝒂</m:t>
                        </m:r>
                      </m:sub>
                    </m:sSub>
                    <m:r>
                      <a:rPr lang="en-US" sz="1600" i="1">
                        <a:latin typeface="Cambria Math" panose="02040503050406030204" pitchFamily="18" charset="0"/>
                      </a:rPr>
                      <m:t>:</m:t>
                    </m:r>
                  </m:oMath>
                </a14:m>
                <a:r>
                  <a:rPr lang="en-US" sz="1600" b="1" dirty="0"/>
                  <a:t> The median of the percent of lost seedlings in the logged plots is more than that of the unlogged plots. </a:t>
                </a:r>
                <a:r>
                  <a:rPr lang="en-US" sz="1600" b="1" dirty="0" err="1"/>
                  <a:t>Median_U</a:t>
                </a:r>
                <a:r>
                  <a:rPr lang="en-US" sz="1600" b="1" dirty="0"/>
                  <a:t> &lt; </a:t>
                </a:r>
                <a:r>
                  <a:rPr lang="en-US" sz="1600" b="1" dirty="0" err="1"/>
                  <a:t>Median_L</a:t>
                </a:r>
                <a:endParaRPr lang="en-US" sz="1600" dirty="0"/>
              </a:p>
              <a:p>
                <a:r>
                  <a:rPr lang="en-US" sz="1600" b="1" dirty="0"/>
                  <a:t>Step 2 - Identification of Critical Value: critical value for Normal approximation (you may leave this out if you used “Exact” p-values) </a:t>
                </a:r>
                <a14:m>
                  <m:oMath xmlns:m="http://schemas.openxmlformats.org/officeDocument/2006/math">
                    <m:r>
                      <a:rPr lang="en-US" sz="1600" i="1">
                        <a:latin typeface="Cambria Math" panose="02040503050406030204" pitchFamily="18" charset="0"/>
                      </a:rPr>
                      <m:t>−1.645</m:t>
                    </m:r>
                  </m:oMath>
                </a14:m>
                <a:r>
                  <a:rPr lang="en-US" sz="1600" b="1" dirty="0"/>
                  <a:t> (1-sided, </a:t>
                </a:r>
                <a14:m>
                  <m:oMath xmlns:m="http://schemas.openxmlformats.org/officeDocument/2006/math">
                    <m:r>
                      <a:rPr lang="en-US" sz="1600" i="1">
                        <a:latin typeface="Cambria Math" panose="02040503050406030204" pitchFamily="18" charset="0"/>
                      </a:rPr>
                      <m:t>𝛼</m:t>
                    </m:r>
                    <m:r>
                      <a:rPr lang="en-US" sz="1600" i="1">
                        <a:latin typeface="Cambria Math" panose="02040503050406030204" pitchFamily="18" charset="0"/>
                      </a:rPr>
                      <m:t>=0.05</m:t>
                    </m:r>
                  </m:oMath>
                </a14:m>
                <a:r>
                  <a:rPr lang="en-US" sz="1600" b="1" dirty="0"/>
                  <a:t>)</a:t>
                </a:r>
                <a:endParaRPr lang="en-US" sz="1600" dirty="0"/>
              </a:p>
              <a:p>
                <a:r>
                  <a:rPr lang="en-US" sz="1600" b="1" dirty="0"/>
                  <a:t>Step 3 - Value of Test Statistic: </a:t>
                </a:r>
                <a14:m>
                  <m:oMath xmlns:m="http://schemas.openxmlformats.org/officeDocument/2006/math">
                    <m:r>
                      <a:rPr lang="en-US" sz="1600" i="1">
                        <a:latin typeface="Cambria Math" panose="02040503050406030204" pitchFamily="18" charset="0"/>
                      </a:rPr>
                      <m:t>𝑧</m:t>
                    </m:r>
                    <m:r>
                      <a:rPr lang="en-US" sz="1600" i="1">
                        <a:latin typeface="Cambria Math" panose="02040503050406030204" pitchFamily="18" charset="0"/>
                      </a:rPr>
                      <m:t>=−2.4346</m:t>
                    </m:r>
                  </m:oMath>
                </a14:m>
                <a:endParaRPr lang="en-US" sz="1600" dirty="0"/>
              </a:p>
              <a:p>
                <a:r>
                  <a:rPr lang="en-US" sz="1600" b="1" dirty="0"/>
                  <a:t>Step 4 - Give p-value: </a:t>
                </a:r>
                <a14:m>
                  <m:oMath xmlns:m="http://schemas.openxmlformats.org/officeDocument/2006/math">
                    <m:r>
                      <a:rPr lang="en-US" sz="1600" i="1">
                        <a:latin typeface="Cambria Math" panose="02040503050406030204" pitchFamily="18" charset="0"/>
                      </a:rPr>
                      <m:t>𝑝</m:t>
                    </m:r>
                    <m:r>
                      <a:rPr lang="en-US" sz="1600" i="1">
                        <a:latin typeface="Cambria Math" panose="02040503050406030204" pitchFamily="18" charset="0"/>
                      </a:rPr>
                      <m:t>=0.0075</m:t>
                    </m:r>
                  </m:oMath>
                </a14:m>
                <a:r>
                  <a:rPr lang="en-US" sz="1600" b="1" dirty="0"/>
                  <a:t> (1-sided)</a:t>
                </a:r>
                <a:endParaRPr lang="en-US" sz="1600" dirty="0"/>
              </a:p>
              <a:p>
                <a:r>
                  <a:rPr lang="en-US" sz="1600" b="1" dirty="0"/>
                  <a:t>Step 5 – Decision: Reject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𝐻</m:t>
                        </m:r>
                      </m:e>
                      <m:sub>
                        <m:r>
                          <a:rPr lang="en-US" sz="1600" i="1">
                            <a:latin typeface="Cambria Math" panose="02040503050406030204" pitchFamily="18" charset="0"/>
                          </a:rPr>
                          <m:t>𝑜</m:t>
                        </m:r>
                      </m:sub>
                    </m:sSub>
                  </m:oMath>
                </a14:m>
                <a:r>
                  <a:rPr lang="en-US" sz="1600" b="1" dirty="0"/>
                  <a:t> (assuming </a:t>
                </a:r>
                <a14:m>
                  <m:oMath xmlns:m="http://schemas.openxmlformats.org/officeDocument/2006/math">
                    <m:r>
                      <a:rPr lang="en-US" sz="1600" i="1">
                        <a:latin typeface="Cambria Math" panose="02040503050406030204" pitchFamily="18" charset="0"/>
                      </a:rPr>
                      <m:t>𝛼</m:t>
                    </m:r>
                    <m:r>
                      <a:rPr lang="en-US" sz="1600" i="1">
                        <a:latin typeface="Cambria Math" panose="02040503050406030204" pitchFamily="18" charset="0"/>
                      </a:rPr>
                      <m:t>=0.05</m:t>
                    </m:r>
                  </m:oMath>
                </a14:m>
                <a:r>
                  <a:rPr lang="en-US" sz="1600" b="1" dirty="0"/>
                  <a:t>)</a:t>
                </a:r>
              </a:p>
              <a:p>
                <a:r>
                  <a:rPr lang="en-US" sz="1600" b="1" dirty="0"/>
                  <a:t>Step 6 – Conclusion: There is strong evidence to suggest that the median of the percent seedlings lost in the logged plots is more than that of the unlogged plots (</a:t>
                </a:r>
                <a14:m>
                  <m:oMath xmlns:m="http://schemas.openxmlformats.org/officeDocument/2006/math">
                    <m:r>
                      <a:rPr lang="en-US" sz="1600" i="1">
                        <a:latin typeface="Cambria Math" panose="02040503050406030204" pitchFamily="18" charset="0"/>
                      </a:rPr>
                      <m:t>𝑝</m:t>
                    </m:r>
                    <m:r>
                      <a:rPr lang="en-US" sz="1600" i="1">
                        <a:latin typeface="Cambria Math" panose="02040503050406030204" pitchFamily="18" charset="0"/>
                      </a:rPr>
                      <m:t>=0.0075</m:t>
                    </m:r>
                  </m:oMath>
                </a14:m>
                <a:r>
                  <a:rPr lang="en-US" sz="1600" b="1" dirty="0"/>
                  <a:t> from a one-sided rank sum test). A 95% confidence interval for the increase in median percent seedlings lost in logged plots is </a:t>
                </a:r>
                <a14:m>
                  <m:oMath xmlns:m="http://schemas.openxmlformats.org/officeDocument/2006/math">
                    <m:r>
                      <a:rPr lang="en-US" sz="1600" i="1">
                        <a:latin typeface="Cambria Math" panose="02040503050406030204" pitchFamily="18" charset="0"/>
                      </a:rPr>
                      <m:t>[10.8,65.1]</m:t>
                    </m:r>
                  </m:oMath>
                </a14:m>
                <a:r>
                  <a:rPr lang="en-US" sz="1600" b="1" dirty="0"/>
                  <a:t>. Note that a 90% confidence interval </a:t>
                </a:r>
                <a14:m>
                  <m:oMath xmlns:m="http://schemas.openxmlformats.org/officeDocument/2006/math">
                    <m:d>
                      <m:dPr>
                        <m:begChr m:val="["/>
                        <m:endChr m:val="]"/>
                        <m:ctrlPr>
                          <a:rPr lang="en-US" sz="1600" i="1">
                            <a:latin typeface="Cambria Math" panose="02040503050406030204" pitchFamily="18" charset="0"/>
                          </a:rPr>
                        </m:ctrlPr>
                      </m:dPr>
                      <m:e>
                        <m:r>
                          <a:rPr lang="en-US" sz="1600" i="1">
                            <a:latin typeface="Cambria Math" panose="02040503050406030204" pitchFamily="18" charset="0"/>
                          </a:rPr>
                          <m:t>18.9,62.0</m:t>
                        </m:r>
                      </m:e>
                    </m:d>
                    <m:r>
                      <a:rPr lang="en-US" sz="1600" b="1" i="0" smtClean="0">
                        <a:latin typeface="Cambria Math" panose="02040503050406030204" pitchFamily="18" charset="0"/>
                      </a:rPr>
                      <m:t> </m:t>
                    </m:r>
                    <m:r>
                      <a:rPr lang="en-US" sz="1600" b="1" i="0" smtClean="0">
                        <a:latin typeface="Cambria Math" panose="02040503050406030204" pitchFamily="18" charset="0"/>
                      </a:rPr>
                      <m:t>𝐢𝐬</m:t>
                    </m:r>
                  </m:oMath>
                </a14:m>
                <a:r>
                  <a:rPr lang="en-US" sz="1600" b="1" dirty="0"/>
                  <a:t> more appropriate for a one-sided test with significance level </a:t>
                </a:r>
                <a14:m>
                  <m:oMath xmlns:m="http://schemas.openxmlformats.org/officeDocument/2006/math">
                    <m:r>
                      <a:rPr lang="en-US" sz="1600" i="1">
                        <a:latin typeface="Cambria Math" panose="02040503050406030204" pitchFamily="18" charset="0"/>
                      </a:rPr>
                      <m:t>𝛼</m:t>
                    </m:r>
                    <m:r>
                      <a:rPr lang="en-US" sz="1600" i="1">
                        <a:latin typeface="Cambria Math" panose="02040503050406030204" pitchFamily="18" charset="0"/>
                      </a:rPr>
                      <m:t>=0.05</m:t>
                    </m:r>
                  </m:oMath>
                </a14:m>
                <a:r>
                  <a:rPr lang="en-US" sz="1600" b="1" dirty="0"/>
                  <a:t>, so that the results of the hypothesis test and confidence intervals match up.</a:t>
                </a:r>
                <a:endParaRPr lang="en-US" sz="1600" dirty="0"/>
              </a:p>
              <a:p>
                <a:endParaRPr lang="en-US" sz="1600" dirty="0"/>
              </a:p>
              <a:p>
                <a:endParaRPr lang="en-US" sz="2400" dirty="0"/>
              </a:p>
              <a:p>
                <a:endParaRPr lang="en-US" sz="2400" dirty="0"/>
              </a:p>
            </p:txBody>
          </p:sp>
        </mc:Choice>
        <mc:Fallback xmlns="">
          <p:sp>
            <p:nvSpPr>
              <p:cNvPr id="3" name="Content Placeholder 2">
                <a:extLst>
                  <a:ext uri="{FF2B5EF4-FFF2-40B4-BE49-F238E27FC236}">
                    <a16:creationId xmlns:a16="http://schemas.microsoft.com/office/drawing/2014/main" id="{53A6B92C-6C89-A744-BF2A-100DBBD70555}"/>
                  </a:ext>
                </a:extLst>
              </p:cNvPr>
              <p:cNvSpPr>
                <a:spLocks noGrp="1" noRot="1" noChangeAspect="1" noMove="1" noResize="1" noEditPoints="1" noAdjustHandles="1" noChangeArrowheads="1" noChangeShapeType="1" noTextEdit="1"/>
              </p:cNvSpPr>
              <p:nvPr>
                <p:ph idx="1"/>
              </p:nvPr>
            </p:nvSpPr>
            <p:spPr>
              <a:xfrm>
                <a:off x="152400" y="1371600"/>
                <a:ext cx="8153400" cy="4525963"/>
              </a:xfrm>
              <a:blipFill>
                <a:blip r:embed="rId3"/>
                <a:stretch>
                  <a:fillRect l="-311" t="-560" r="-311" b="-5602"/>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F78E61D2-F702-DE49-AF2F-B434B56F1C59}"/>
              </a:ext>
            </a:extLst>
          </p:cNvPr>
          <p:cNvPicPr/>
          <p:nvPr/>
        </p:nvPicPr>
        <p:blipFill>
          <a:blip r:embed="rId4"/>
          <a:stretch>
            <a:fillRect/>
          </a:stretch>
        </p:blipFill>
        <p:spPr>
          <a:xfrm>
            <a:off x="8839200" y="1371600"/>
            <a:ext cx="2590800" cy="2590800"/>
          </a:xfrm>
          <a:prstGeom prst="rect">
            <a:avLst/>
          </a:prstGeom>
        </p:spPr>
      </p:pic>
      <p:sp>
        <p:nvSpPr>
          <p:cNvPr id="5" name="Rectangle 4">
            <a:extLst>
              <a:ext uri="{FF2B5EF4-FFF2-40B4-BE49-F238E27FC236}">
                <a16:creationId xmlns:a16="http://schemas.microsoft.com/office/drawing/2014/main" id="{6E3B2D59-BBD5-4046-A0B0-253C666D0478}"/>
              </a:ext>
            </a:extLst>
          </p:cNvPr>
          <p:cNvSpPr/>
          <p:nvPr/>
        </p:nvSpPr>
        <p:spPr>
          <a:xfrm>
            <a:off x="8322013" y="3817709"/>
            <a:ext cx="4191000" cy="2354491"/>
          </a:xfrm>
          <a:prstGeom prst="rect">
            <a:avLst/>
          </a:prstGeom>
        </p:spPr>
        <p:txBody>
          <a:bodyPr wrap="square">
            <a:spAutoFit/>
          </a:bodyPr>
          <a:lstStyle/>
          <a:p>
            <a:r>
              <a:rPr lang="en-US" sz="1050" dirty="0">
                <a:latin typeface="Cambria" panose="02040503050406030204" pitchFamily="18" charset="0"/>
                <a:ea typeface="Cambria" panose="02040503050406030204" pitchFamily="18" charset="0"/>
                <a:cs typeface="Times New Roman" panose="02020603050405020304" pitchFamily="18" charset="0"/>
              </a:rPr>
              <a:t>SAS:</a:t>
            </a:r>
          </a:p>
          <a:p>
            <a:r>
              <a:rPr lang="en-US" sz="1050" dirty="0">
                <a:latin typeface="Cambria" panose="02040503050406030204" pitchFamily="18" charset="0"/>
                <a:ea typeface="Cambria" panose="02040503050406030204" pitchFamily="18" charset="0"/>
                <a:cs typeface="Times New Roman" panose="02020603050405020304" pitchFamily="18" charset="0"/>
              </a:rPr>
              <a:t>*To compute rank sum test;</a:t>
            </a:r>
          </a:p>
          <a:p>
            <a:r>
              <a:rPr lang="en-US" sz="1050" dirty="0">
                <a:latin typeface="Cambria" panose="02040503050406030204" pitchFamily="18" charset="0"/>
                <a:ea typeface="Cambria" panose="02040503050406030204" pitchFamily="18" charset="0"/>
                <a:cs typeface="Times New Roman" panose="02020603050405020304" pitchFamily="18" charset="0"/>
              </a:rPr>
              <a:t>proc npar1way data = </a:t>
            </a:r>
            <a:r>
              <a:rPr lang="en-US" sz="1050" dirty="0" err="1">
                <a:latin typeface="Cambria" panose="02040503050406030204" pitchFamily="18" charset="0"/>
                <a:ea typeface="Cambria" panose="02040503050406030204" pitchFamily="18" charset="0"/>
                <a:cs typeface="Times New Roman" panose="02020603050405020304" pitchFamily="18" charset="0"/>
              </a:rPr>
              <a:t>loggingdata</a:t>
            </a:r>
            <a:r>
              <a:rPr lang="en-US" sz="1050" dirty="0">
                <a:latin typeface="Cambria" panose="02040503050406030204" pitchFamily="18" charset="0"/>
                <a:ea typeface="Cambria" panose="02040503050406030204" pitchFamily="18" charset="0"/>
                <a:cs typeface="Times New Roman" panose="02020603050405020304" pitchFamily="18" charset="0"/>
              </a:rPr>
              <a:t> </a:t>
            </a:r>
            <a:r>
              <a:rPr lang="en-US" sz="1050" dirty="0" err="1">
                <a:latin typeface="Cambria" panose="02040503050406030204" pitchFamily="18" charset="0"/>
                <a:ea typeface="Cambria" panose="02040503050406030204" pitchFamily="18" charset="0"/>
                <a:cs typeface="Times New Roman" panose="02020603050405020304" pitchFamily="18" charset="0"/>
              </a:rPr>
              <a:t>wilcoxon</a:t>
            </a:r>
            <a:r>
              <a:rPr lang="en-US" sz="1050" dirty="0">
                <a:latin typeface="Cambria" panose="02040503050406030204" pitchFamily="18" charset="0"/>
                <a:ea typeface="Cambria" panose="02040503050406030204" pitchFamily="18" charset="0"/>
                <a:cs typeface="Times New Roman" panose="02020603050405020304" pitchFamily="18" charset="0"/>
              </a:rPr>
              <a:t>;</a:t>
            </a:r>
          </a:p>
          <a:p>
            <a:r>
              <a:rPr lang="en-US" sz="1050" dirty="0">
                <a:latin typeface="Cambria" panose="02040503050406030204" pitchFamily="18" charset="0"/>
                <a:ea typeface="Cambria" panose="02040503050406030204" pitchFamily="18" charset="0"/>
                <a:cs typeface="Times New Roman" panose="02020603050405020304" pitchFamily="18" charset="0"/>
              </a:rPr>
              <a:t>class Action;</a:t>
            </a:r>
          </a:p>
          <a:p>
            <a:r>
              <a:rPr lang="en-US" sz="1050" dirty="0">
                <a:latin typeface="Cambria" panose="02040503050406030204" pitchFamily="18" charset="0"/>
                <a:ea typeface="Cambria" panose="02040503050406030204" pitchFamily="18" charset="0"/>
                <a:cs typeface="Times New Roman" panose="02020603050405020304" pitchFamily="18" charset="0"/>
              </a:rPr>
              <a:t>var </a:t>
            </a:r>
            <a:r>
              <a:rPr lang="en-US" sz="1050" dirty="0" err="1">
                <a:latin typeface="Cambria" panose="02040503050406030204" pitchFamily="18" charset="0"/>
                <a:ea typeface="Cambria" panose="02040503050406030204" pitchFamily="18" charset="0"/>
                <a:cs typeface="Times New Roman" panose="02020603050405020304" pitchFamily="18" charset="0"/>
              </a:rPr>
              <a:t>PercentLost</a:t>
            </a:r>
            <a:r>
              <a:rPr lang="en-US" sz="1050" dirty="0">
                <a:latin typeface="Cambria" panose="02040503050406030204" pitchFamily="18" charset="0"/>
                <a:ea typeface="Cambria" panose="02040503050406030204" pitchFamily="18" charset="0"/>
                <a:cs typeface="Times New Roman" panose="02020603050405020304" pitchFamily="18" charset="0"/>
              </a:rPr>
              <a:t>;</a:t>
            </a:r>
          </a:p>
          <a:p>
            <a:r>
              <a:rPr lang="en-US" sz="1050" dirty="0">
                <a:latin typeface="Cambria" panose="02040503050406030204" pitchFamily="18" charset="0"/>
                <a:ea typeface="Cambria" panose="02040503050406030204" pitchFamily="18" charset="0"/>
                <a:cs typeface="Times New Roman" panose="02020603050405020304" pitchFamily="18" charset="0"/>
              </a:rPr>
              <a:t>exact HL Wilcoxon;</a:t>
            </a:r>
          </a:p>
          <a:p>
            <a:r>
              <a:rPr lang="en-US" sz="1050" dirty="0">
                <a:latin typeface="Cambria" panose="02040503050406030204" pitchFamily="18" charset="0"/>
                <a:ea typeface="Cambria" panose="02040503050406030204" pitchFamily="18" charset="0"/>
                <a:cs typeface="Times New Roman" panose="02020603050405020304" pitchFamily="18" charset="0"/>
              </a:rPr>
              <a:t>run;</a:t>
            </a:r>
          </a:p>
          <a:p>
            <a:endParaRPr lang="en-US" sz="600" dirty="0">
              <a:latin typeface="Cambria" panose="02040503050406030204" pitchFamily="18" charset="0"/>
              <a:ea typeface="Cambria" panose="02040503050406030204" pitchFamily="18" charset="0"/>
              <a:cs typeface="Times New Roman" panose="02020603050405020304" pitchFamily="18" charset="0"/>
            </a:endParaRPr>
          </a:p>
          <a:p>
            <a:pPr lvl="0" eaLnBrk="0" fontAlgn="base" hangingPunct="0">
              <a:spcBef>
                <a:spcPct val="0"/>
              </a:spcBef>
              <a:spcAft>
                <a:spcPct val="0"/>
              </a:spcAft>
            </a:pPr>
            <a:r>
              <a:rPr lang="en-US" altLang="en-US" sz="1050" dirty="0">
                <a:latin typeface="Cambria" panose="02040503050406030204" pitchFamily="18" charset="0"/>
                <a:ea typeface="Cambria" panose="02040503050406030204" pitchFamily="18" charset="0"/>
                <a:cs typeface="Times New Roman" panose="02020603050405020304" pitchFamily="18" charset="0"/>
              </a:rPr>
              <a:t>proc npar1way data = </a:t>
            </a:r>
            <a:r>
              <a:rPr lang="en-US" altLang="en-US" sz="1050" dirty="0" err="1">
                <a:latin typeface="Cambria" panose="02040503050406030204" pitchFamily="18" charset="0"/>
                <a:ea typeface="Cambria" panose="02040503050406030204" pitchFamily="18" charset="0"/>
                <a:cs typeface="Times New Roman" panose="02020603050405020304" pitchFamily="18" charset="0"/>
              </a:rPr>
              <a:t>loggingdata</a:t>
            </a:r>
            <a:r>
              <a:rPr lang="en-US" altLang="en-US" sz="1050" dirty="0">
                <a:latin typeface="Cambria" panose="02040503050406030204" pitchFamily="18" charset="0"/>
                <a:ea typeface="Cambria" panose="02040503050406030204" pitchFamily="18" charset="0"/>
                <a:cs typeface="Times New Roman" panose="02020603050405020304" pitchFamily="18" charset="0"/>
              </a:rPr>
              <a:t> </a:t>
            </a:r>
            <a:r>
              <a:rPr lang="en-US" altLang="en-US" sz="1050" dirty="0" err="1">
                <a:latin typeface="Cambria" panose="02040503050406030204" pitchFamily="18" charset="0"/>
                <a:ea typeface="Cambria" panose="02040503050406030204" pitchFamily="18" charset="0"/>
                <a:cs typeface="Times New Roman" panose="02020603050405020304" pitchFamily="18" charset="0"/>
              </a:rPr>
              <a:t>wilcoxon</a:t>
            </a:r>
            <a:r>
              <a:rPr lang="en-US" altLang="en-US" sz="1050" dirty="0">
                <a:latin typeface="Cambria" panose="02040503050406030204" pitchFamily="18" charset="0"/>
                <a:ea typeface="Cambria" panose="02040503050406030204" pitchFamily="18" charset="0"/>
                <a:cs typeface="Times New Roman" panose="02020603050405020304" pitchFamily="18" charset="0"/>
              </a:rPr>
              <a:t> alpha = 0.1;</a:t>
            </a:r>
            <a:endParaRPr lang="en-US" altLang="en-US" sz="800" dirty="0"/>
          </a:p>
          <a:p>
            <a:pPr lvl="0" eaLnBrk="0" fontAlgn="base" hangingPunct="0">
              <a:spcBef>
                <a:spcPct val="0"/>
              </a:spcBef>
              <a:spcAft>
                <a:spcPct val="0"/>
              </a:spcAft>
            </a:pPr>
            <a:r>
              <a:rPr lang="en-US" altLang="en-US" sz="1050" dirty="0">
                <a:latin typeface="Cambria" panose="02040503050406030204" pitchFamily="18" charset="0"/>
                <a:ea typeface="Cambria" panose="02040503050406030204" pitchFamily="18" charset="0"/>
                <a:cs typeface="Times New Roman" panose="02020603050405020304" pitchFamily="18" charset="0"/>
              </a:rPr>
              <a:t>class Action;</a:t>
            </a:r>
            <a:endParaRPr lang="en-US" altLang="en-US" sz="800" dirty="0"/>
          </a:p>
          <a:p>
            <a:pPr lvl="0" eaLnBrk="0" fontAlgn="base" hangingPunct="0">
              <a:spcBef>
                <a:spcPct val="0"/>
              </a:spcBef>
              <a:spcAft>
                <a:spcPct val="0"/>
              </a:spcAft>
            </a:pPr>
            <a:r>
              <a:rPr lang="en-US" altLang="en-US" sz="1050" dirty="0">
                <a:latin typeface="Cambria" panose="02040503050406030204" pitchFamily="18" charset="0"/>
                <a:ea typeface="Cambria" panose="02040503050406030204" pitchFamily="18" charset="0"/>
                <a:cs typeface="Times New Roman" panose="02020603050405020304" pitchFamily="18" charset="0"/>
              </a:rPr>
              <a:t>var </a:t>
            </a:r>
            <a:r>
              <a:rPr lang="en-US" altLang="en-US" sz="1050" dirty="0" err="1">
                <a:latin typeface="Cambria" panose="02040503050406030204" pitchFamily="18" charset="0"/>
                <a:ea typeface="Cambria" panose="02040503050406030204" pitchFamily="18" charset="0"/>
                <a:cs typeface="Times New Roman" panose="02020603050405020304" pitchFamily="18" charset="0"/>
              </a:rPr>
              <a:t>PercentLost</a:t>
            </a:r>
            <a:r>
              <a:rPr lang="en-US" altLang="en-US" sz="1050" dirty="0">
                <a:latin typeface="Cambria" panose="02040503050406030204" pitchFamily="18" charset="0"/>
                <a:ea typeface="Cambria" panose="02040503050406030204" pitchFamily="18" charset="0"/>
                <a:cs typeface="Times New Roman" panose="02020603050405020304" pitchFamily="18" charset="0"/>
              </a:rPr>
              <a:t>;</a:t>
            </a:r>
            <a:endParaRPr lang="en-US" altLang="en-US" sz="800" dirty="0"/>
          </a:p>
          <a:p>
            <a:pPr lvl="0" eaLnBrk="0" fontAlgn="base" hangingPunct="0">
              <a:spcBef>
                <a:spcPct val="0"/>
              </a:spcBef>
              <a:spcAft>
                <a:spcPct val="0"/>
              </a:spcAft>
            </a:pPr>
            <a:r>
              <a:rPr lang="en-US" altLang="en-US" sz="1050" dirty="0">
                <a:latin typeface="Cambria" panose="02040503050406030204" pitchFamily="18" charset="0"/>
                <a:ea typeface="Cambria" panose="02040503050406030204" pitchFamily="18" charset="0"/>
                <a:cs typeface="Times New Roman" panose="02020603050405020304" pitchFamily="18" charset="0"/>
              </a:rPr>
              <a:t>exact HL Wilcoxon;</a:t>
            </a:r>
            <a:endParaRPr lang="en-US" altLang="en-US" sz="800" dirty="0"/>
          </a:p>
          <a:p>
            <a:pPr lvl="0" eaLnBrk="0" fontAlgn="base" hangingPunct="0">
              <a:spcBef>
                <a:spcPct val="0"/>
              </a:spcBef>
              <a:spcAft>
                <a:spcPct val="0"/>
              </a:spcAft>
            </a:pPr>
            <a:r>
              <a:rPr lang="en-US" altLang="en-US" sz="1050" dirty="0">
                <a:latin typeface="Cambria" panose="02040503050406030204" pitchFamily="18" charset="0"/>
                <a:ea typeface="Cambria" panose="02040503050406030204" pitchFamily="18" charset="0"/>
                <a:cs typeface="Times New Roman" panose="02020603050405020304" pitchFamily="18" charset="0"/>
              </a:rPr>
              <a:t>run;</a:t>
            </a:r>
            <a:endParaRPr lang="en-US" altLang="en-US" sz="800" dirty="0"/>
          </a:p>
          <a:p>
            <a:endParaRPr lang="en-US" sz="1050" dirty="0">
              <a:latin typeface="Cambria" panose="02040503050406030204" pitchFamily="18" charset="0"/>
              <a:ea typeface="Cambria" panose="02040503050406030204" pitchFamily="18" charset="0"/>
              <a:cs typeface="Times New Roman" panose="02020603050405020304" pitchFamily="18" charset="0"/>
            </a:endParaRPr>
          </a:p>
        </p:txBody>
      </p:sp>
      <p:pic>
        <p:nvPicPr>
          <p:cNvPr id="1025" name="Picture 28">
            <a:extLst>
              <a:ext uri="{FF2B5EF4-FFF2-40B4-BE49-F238E27FC236}">
                <a16:creationId xmlns:a16="http://schemas.microsoft.com/office/drawing/2014/main" id="{949BA0FA-89A0-7444-8CB8-555C9C3F8AC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68269" y="5785149"/>
            <a:ext cx="2838450" cy="768051"/>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816BF4DD-C042-3249-ACBA-8445C4D489BC}"/>
              </a:ext>
            </a:extLst>
          </p:cNvPr>
          <p:cNvSpPr/>
          <p:nvPr/>
        </p:nvSpPr>
        <p:spPr>
          <a:xfrm>
            <a:off x="5029200" y="6553200"/>
            <a:ext cx="7162800" cy="430887"/>
          </a:xfrm>
          <a:prstGeom prst="rect">
            <a:avLst/>
          </a:prstGeom>
        </p:spPr>
        <p:txBody>
          <a:bodyPr wrap="square">
            <a:spAutoFit/>
          </a:bodyPr>
          <a:lstStyle/>
          <a:p>
            <a:r>
              <a:rPr lang="en-US" sz="1100" dirty="0"/>
              <a:t>Proc npar1way reference:  </a:t>
            </a:r>
            <a:r>
              <a:rPr lang="en-US" sz="1100" dirty="0">
                <a:hlinkClick r:id="rId6"/>
              </a:rPr>
              <a:t>https://support.sas.com/documentation/onlinedoc/stat/142/npar1way.pdf</a:t>
            </a:r>
            <a:r>
              <a:rPr lang="en-US" sz="1100" dirty="0"/>
              <a:t>  page 6776</a:t>
            </a:r>
          </a:p>
          <a:p>
            <a:endParaRPr lang="en-US" sz="1100" dirty="0"/>
          </a:p>
        </p:txBody>
      </p:sp>
      <p:cxnSp>
        <p:nvCxnSpPr>
          <p:cNvPr id="8" name="Straight Arrow Connector 7">
            <a:extLst>
              <a:ext uri="{FF2B5EF4-FFF2-40B4-BE49-F238E27FC236}">
                <a16:creationId xmlns:a16="http://schemas.microsoft.com/office/drawing/2014/main" id="{8EE81884-207D-5CC9-AEBA-B941876D9695}"/>
              </a:ext>
            </a:extLst>
          </p:cNvPr>
          <p:cNvCxnSpPr/>
          <p:nvPr/>
        </p:nvCxnSpPr>
        <p:spPr>
          <a:xfrm flipH="1">
            <a:off x="4800600" y="2743200"/>
            <a:ext cx="5562600" cy="685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8787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fade">
                                      <p:cBhvr>
                                        <p:cTn id="42" dur="500"/>
                                        <p:tgtEl>
                                          <p:spTgt spid="4"/>
                                        </p:tgtEl>
                                      </p:cBhvr>
                                    </p:animEffect>
                                  </p:childTnLst>
                                </p:cTn>
                              </p:par>
                              <p:par>
                                <p:cTn id="43" presetID="10" presetClass="entr" presetSubtype="0" fill="hold" nodeType="withEffect">
                                  <p:stCondLst>
                                    <p:cond delay="0"/>
                                  </p:stCondLst>
                                  <p:childTnLst>
                                    <p:set>
                                      <p:cBhvr>
                                        <p:cTn id="44" dur="1" fill="hold">
                                          <p:stCondLst>
                                            <p:cond delay="0"/>
                                          </p:stCondLst>
                                        </p:cTn>
                                        <p:tgtEl>
                                          <p:spTgt spid="5">
                                            <p:txEl>
                                              <p:pRg st="0" end="0"/>
                                            </p:txEl>
                                          </p:spTgt>
                                        </p:tgtEl>
                                        <p:attrNameLst>
                                          <p:attrName>style.visibility</p:attrName>
                                        </p:attrNameLst>
                                      </p:cBhvr>
                                      <p:to>
                                        <p:strVal val="visible"/>
                                      </p:to>
                                    </p:set>
                                    <p:animEffect transition="in" filter="fade">
                                      <p:cBhvr>
                                        <p:cTn id="45" dur="500"/>
                                        <p:tgtEl>
                                          <p:spTgt spid="5">
                                            <p:txEl>
                                              <p:pRg st="0" end="0"/>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5">
                                            <p:txEl>
                                              <p:pRg st="1" end="1"/>
                                            </p:txEl>
                                          </p:spTgt>
                                        </p:tgtEl>
                                        <p:attrNameLst>
                                          <p:attrName>style.visibility</p:attrName>
                                        </p:attrNameLst>
                                      </p:cBhvr>
                                      <p:to>
                                        <p:strVal val="visible"/>
                                      </p:to>
                                    </p:set>
                                    <p:animEffect transition="in" filter="fade">
                                      <p:cBhvr>
                                        <p:cTn id="48" dur="500"/>
                                        <p:tgtEl>
                                          <p:spTgt spid="5">
                                            <p:txEl>
                                              <p:pRg st="1" end="1"/>
                                            </p:txEl>
                                          </p:spTgt>
                                        </p:tgtEl>
                                      </p:cBhvr>
                                    </p:animEffect>
                                  </p:childTnLst>
                                </p:cTn>
                              </p:par>
                              <p:par>
                                <p:cTn id="49" presetID="10" presetClass="entr" presetSubtype="0" fill="hold" nodeType="withEffect">
                                  <p:stCondLst>
                                    <p:cond delay="0"/>
                                  </p:stCondLst>
                                  <p:childTnLst>
                                    <p:set>
                                      <p:cBhvr>
                                        <p:cTn id="50" dur="1" fill="hold">
                                          <p:stCondLst>
                                            <p:cond delay="0"/>
                                          </p:stCondLst>
                                        </p:cTn>
                                        <p:tgtEl>
                                          <p:spTgt spid="5">
                                            <p:txEl>
                                              <p:pRg st="2" end="2"/>
                                            </p:txEl>
                                          </p:spTgt>
                                        </p:tgtEl>
                                        <p:attrNameLst>
                                          <p:attrName>style.visibility</p:attrName>
                                        </p:attrNameLst>
                                      </p:cBhvr>
                                      <p:to>
                                        <p:strVal val="visible"/>
                                      </p:to>
                                    </p:set>
                                    <p:animEffect transition="in" filter="fade">
                                      <p:cBhvr>
                                        <p:cTn id="51" dur="500"/>
                                        <p:tgtEl>
                                          <p:spTgt spid="5">
                                            <p:txEl>
                                              <p:pRg st="2" end="2"/>
                                            </p:txEl>
                                          </p:spTgt>
                                        </p:tgtEl>
                                      </p:cBhvr>
                                    </p:animEffect>
                                  </p:childTnLst>
                                </p:cTn>
                              </p:par>
                              <p:par>
                                <p:cTn id="52" presetID="10" presetClass="entr" presetSubtype="0" fill="hold" nodeType="withEffect">
                                  <p:stCondLst>
                                    <p:cond delay="0"/>
                                  </p:stCondLst>
                                  <p:childTnLst>
                                    <p:set>
                                      <p:cBhvr>
                                        <p:cTn id="53" dur="1" fill="hold">
                                          <p:stCondLst>
                                            <p:cond delay="0"/>
                                          </p:stCondLst>
                                        </p:cTn>
                                        <p:tgtEl>
                                          <p:spTgt spid="5">
                                            <p:txEl>
                                              <p:pRg st="3" end="3"/>
                                            </p:txEl>
                                          </p:spTgt>
                                        </p:tgtEl>
                                        <p:attrNameLst>
                                          <p:attrName>style.visibility</p:attrName>
                                        </p:attrNameLst>
                                      </p:cBhvr>
                                      <p:to>
                                        <p:strVal val="visible"/>
                                      </p:to>
                                    </p:set>
                                    <p:animEffect transition="in" filter="fade">
                                      <p:cBhvr>
                                        <p:cTn id="54" dur="500"/>
                                        <p:tgtEl>
                                          <p:spTgt spid="5">
                                            <p:txEl>
                                              <p:pRg st="3" end="3"/>
                                            </p:txEl>
                                          </p:spTgt>
                                        </p:tgtEl>
                                      </p:cBhvr>
                                    </p:animEffect>
                                  </p:childTnLst>
                                </p:cTn>
                              </p:par>
                              <p:par>
                                <p:cTn id="55" presetID="10" presetClass="entr" presetSubtype="0" fill="hold" nodeType="withEffect">
                                  <p:stCondLst>
                                    <p:cond delay="0"/>
                                  </p:stCondLst>
                                  <p:childTnLst>
                                    <p:set>
                                      <p:cBhvr>
                                        <p:cTn id="56" dur="1" fill="hold">
                                          <p:stCondLst>
                                            <p:cond delay="0"/>
                                          </p:stCondLst>
                                        </p:cTn>
                                        <p:tgtEl>
                                          <p:spTgt spid="5">
                                            <p:txEl>
                                              <p:pRg st="4" end="4"/>
                                            </p:txEl>
                                          </p:spTgt>
                                        </p:tgtEl>
                                        <p:attrNameLst>
                                          <p:attrName>style.visibility</p:attrName>
                                        </p:attrNameLst>
                                      </p:cBhvr>
                                      <p:to>
                                        <p:strVal val="visible"/>
                                      </p:to>
                                    </p:set>
                                    <p:animEffect transition="in" filter="fade">
                                      <p:cBhvr>
                                        <p:cTn id="57" dur="500"/>
                                        <p:tgtEl>
                                          <p:spTgt spid="5">
                                            <p:txEl>
                                              <p:pRg st="4" end="4"/>
                                            </p:txEl>
                                          </p:spTgt>
                                        </p:tgtEl>
                                      </p:cBhvr>
                                    </p:animEffect>
                                  </p:childTnLst>
                                </p:cTn>
                              </p:par>
                              <p:par>
                                <p:cTn id="58" presetID="10" presetClass="entr" presetSubtype="0" fill="hold" nodeType="withEffect">
                                  <p:stCondLst>
                                    <p:cond delay="0"/>
                                  </p:stCondLst>
                                  <p:childTnLst>
                                    <p:set>
                                      <p:cBhvr>
                                        <p:cTn id="59" dur="1" fill="hold">
                                          <p:stCondLst>
                                            <p:cond delay="0"/>
                                          </p:stCondLst>
                                        </p:cTn>
                                        <p:tgtEl>
                                          <p:spTgt spid="5">
                                            <p:txEl>
                                              <p:pRg st="5" end="5"/>
                                            </p:txEl>
                                          </p:spTgt>
                                        </p:tgtEl>
                                        <p:attrNameLst>
                                          <p:attrName>style.visibility</p:attrName>
                                        </p:attrNameLst>
                                      </p:cBhvr>
                                      <p:to>
                                        <p:strVal val="visible"/>
                                      </p:to>
                                    </p:set>
                                    <p:animEffect transition="in" filter="fade">
                                      <p:cBhvr>
                                        <p:cTn id="60" dur="500"/>
                                        <p:tgtEl>
                                          <p:spTgt spid="5">
                                            <p:txEl>
                                              <p:pRg st="5" end="5"/>
                                            </p:txEl>
                                          </p:spTgt>
                                        </p:tgtEl>
                                      </p:cBhvr>
                                    </p:animEffect>
                                  </p:childTnLst>
                                </p:cTn>
                              </p:par>
                              <p:par>
                                <p:cTn id="61" presetID="10" presetClass="entr" presetSubtype="0" fill="hold" nodeType="withEffect">
                                  <p:stCondLst>
                                    <p:cond delay="0"/>
                                  </p:stCondLst>
                                  <p:childTnLst>
                                    <p:set>
                                      <p:cBhvr>
                                        <p:cTn id="62" dur="1" fill="hold">
                                          <p:stCondLst>
                                            <p:cond delay="0"/>
                                          </p:stCondLst>
                                        </p:cTn>
                                        <p:tgtEl>
                                          <p:spTgt spid="5">
                                            <p:txEl>
                                              <p:pRg st="6" end="6"/>
                                            </p:txEl>
                                          </p:spTgt>
                                        </p:tgtEl>
                                        <p:attrNameLst>
                                          <p:attrName>style.visibility</p:attrName>
                                        </p:attrNameLst>
                                      </p:cBhvr>
                                      <p:to>
                                        <p:strVal val="visible"/>
                                      </p:to>
                                    </p:set>
                                    <p:animEffect transition="in" filter="fade">
                                      <p:cBhvr>
                                        <p:cTn id="63" dur="500"/>
                                        <p:tgtEl>
                                          <p:spTgt spid="5">
                                            <p:txEl>
                                              <p:pRg st="6" end="6"/>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8"/>
                                        </p:tgtEl>
                                        <p:attrNameLst>
                                          <p:attrName>style.visibility</p:attrName>
                                        </p:attrNameLst>
                                      </p:cBhvr>
                                      <p:to>
                                        <p:strVal val="visible"/>
                                      </p:to>
                                    </p:set>
                                    <p:animEffect transition="in" filter="fade">
                                      <p:cBhvr>
                                        <p:cTn id="68" dur="500"/>
                                        <p:tgtEl>
                                          <p:spTgt spid="8"/>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5">
                                            <p:txEl>
                                              <p:pRg st="8" end="8"/>
                                            </p:txEl>
                                          </p:spTgt>
                                        </p:tgtEl>
                                        <p:attrNameLst>
                                          <p:attrName>style.visibility</p:attrName>
                                        </p:attrNameLst>
                                      </p:cBhvr>
                                      <p:to>
                                        <p:strVal val="visible"/>
                                      </p:to>
                                    </p:set>
                                    <p:animEffect transition="in" filter="fade">
                                      <p:cBhvr>
                                        <p:cTn id="73" dur="500"/>
                                        <p:tgtEl>
                                          <p:spTgt spid="5">
                                            <p:txEl>
                                              <p:pRg st="8" end="8"/>
                                            </p:txEl>
                                          </p:spTgt>
                                        </p:tgtEl>
                                      </p:cBhvr>
                                    </p:animEffect>
                                  </p:childTnLst>
                                </p:cTn>
                              </p:par>
                              <p:par>
                                <p:cTn id="74" presetID="10" presetClass="entr" presetSubtype="0" fill="hold" nodeType="withEffect">
                                  <p:stCondLst>
                                    <p:cond delay="0"/>
                                  </p:stCondLst>
                                  <p:childTnLst>
                                    <p:set>
                                      <p:cBhvr>
                                        <p:cTn id="75" dur="1" fill="hold">
                                          <p:stCondLst>
                                            <p:cond delay="0"/>
                                          </p:stCondLst>
                                        </p:cTn>
                                        <p:tgtEl>
                                          <p:spTgt spid="5">
                                            <p:txEl>
                                              <p:pRg st="9" end="9"/>
                                            </p:txEl>
                                          </p:spTgt>
                                        </p:tgtEl>
                                        <p:attrNameLst>
                                          <p:attrName>style.visibility</p:attrName>
                                        </p:attrNameLst>
                                      </p:cBhvr>
                                      <p:to>
                                        <p:strVal val="visible"/>
                                      </p:to>
                                    </p:set>
                                    <p:animEffect transition="in" filter="fade">
                                      <p:cBhvr>
                                        <p:cTn id="76" dur="500"/>
                                        <p:tgtEl>
                                          <p:spTgt spid="5">
                                            <p:txEl>
                                              <p:pRg st="9" end="9"/>
                                            </p:txEl>
                                          </p:spTgt>
                                        </p:tgtEl>
                                      </p:cBhvr>
                                    </p:animEffect>
                                  </p:childTnLst>
                                </p:cTn>
                              </p:par>
                              <p:par>
                                <p:cTn id="77" presetID="10" presetClass="entr" presetSubtype="0" fill="hold" nodeType="withEffect">
                                  <p:stCondLst>
                                    <p:cond delay="0"/>
                                  </p:stCondLst>
                                  <p:childTnLst>
                                    <p:set>
                                      <p:cBhvr>
                                        <p:cTn id="78" dur="1" fill="hold">
                                          <p:stCondLst>
                                            <p:cond delay="0"/>
                                          </p:stCondLst>
                                        </p:cTn>
                                        <p:tgtEl>
                                          <p:spTgt spid="5">
                                            <p:txEl>
                                              <p:pRg st="10" end="10"/>
                                            </p:txEl>
                                          </p:spTgt>
                                        </p:tgtEl>
                                        <p:attrNameLst>
                                          <p:attrName>style.visibility</p:attrName>
                                        </p:attrNameLst>
                                      </p:cBhvr>
                                      <p:to>
                                        <p:strVal val="visible"/>
                                      </p:to>
                                    </p:set>
                                    <p:animEffect transition="in" filter="fade">
                                      <p:cBhvr>
                                        <p:cTn id="79" dur="500"/>
                                        <p:tgtEl>
                                          <p:spTgt spid="5">
                                            <p:txEl>
                                              <p:pRg st="10" end="10"/>
                                            </p:txEl>
                                          </p:spTgt>
                                        </p:tgtEl>
                                      </p:cBhvr>
                                    </p:animEffect>
                                  </p:childTnLst>
                                </p:cTn>
                              </p:par>
                              <p:par>
                                <p:cTn id="80" presetID="10" presetClass="entr" presetSubtype="0" fill="hold" nodeType="withEffect">
                                  <p:stCondLst>
                                    <p:cond delay="0"/>
                                  </p:stCondLst>
                                  <p:childTnLst>
                                    <p:set>
                                      <p:cBhvr>
                                        <p:cTn id="81" dur="1" fill="hold">
                                          <p:stCondLst>
                                            <p:cond delay="0"/>
                                          </p:stCondLst>
                                        </p:cTn>
                                        <p:tgtEl>
                                          <p:spTgt spid="5">
                                            <p:txEl>
                                              <p:pRg st="11" end="11"/>
                                            </p:txEl>
                                          </p:spTgt>
                                        </p:tgtEl>
                                        <p:attrNameLst>
                                          <p:attrName>style.visibility</p:attrName>
                                        </p:attrNameLst>
                                      </p:cBhvr>
                                      <p:to>
                                        <p:strVal val="visible"/>
                                      </p:to>
                                    </p:set>
                                    <p:animEffect transition="in" filter="fade">
                                      <p:cBhvr>
                                        <p:cTn id="82" dur="500"/>
                                        <p:tgtEl>
                                          <p:spTgt spid="5">
                                            <p:txEl>
                                              <p:pRg st="11" end="11"/>
                                            </p:txEl>
                                          </p:spTgt>
                                        </p:tgtEl>
                                      </p:cBhvr>
                                    </p:animEffect>
                                  </p:childTnLst>
                                </p:cTn>
                              </p:par>
                              <p:par>
                                <p:cTn id="83" presetID="10" presetClass="entr" presetSubtype="0" fill="hold" nodeType="withEffect">
                                  <p:stCondLst>
                                    <p:cond delay="0"/>
                                  </p:stCondLst>
                                  <p:childTnLst>
                                    <p:set>
                                      <p:cBhvr>
                                        <p:cTn id="84" dur="1" fill="hold">
                                          <p:stCondLst>
                                            <p:cond delay="0"/>
                                          </p:stCondLst>
                                        </p:cTn>
                                        <p:tgtEl>
                                          <p:spTgt spid="5">
                                            <p:txEl>
                                              <p:pRg st="12" end="12"/>
                                            </p:txEl>
                                          </p:spTgt>
                                        </p:tgtEl>
                                        <p:attrNameLst>
                                          <p:attrName>style.visibility</p:attrName>
                                        </p:attrNameLst>
                                      </p:cBhvr>
                                      <p:to>
                                        <p:strVal val="visible"/>
                                      </p:to>
                                    </p:set>
                                    <p:animEffect transition="in" filter="fade">
                                      <p:cBhvr>
                                        <p:cTn id="85" dur="500"/>
                                        <p:tgtEl>
                                          <p:spTgt spid="5">
                                            <p:txEl>
                                              <p:pRg st="12" end="12"/>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nodeType="clickEffect">
                                  <p:stCondLst>
                                    <p:cond delay="0"/>
                                  </p:stCondLst>
                                  <p:childTnLst>
                                    <p:set>
                                      <p:cBhvr>
                                        <p:cTn id="89" dur="1" fill="hold">
                                          <p:stCondLst>
                                            <p:cond delay="0"/>
                                          </p:stCondLst>
                                        </p:cTn>
                                        <p:tgtEl>
                                          <p:spTgt spid="1025"/>
                                        </p:tgtEl>
                                        <p:attrNameLst>
                                          <p:attrName>style.visibility</p:attrName>
                                        </p:attrNameLst>
                                      </p:cBhvr>
                                      <p:to>
                                        <p:strVal val="visible"/>
                                      </p:to>
                                    </p:set>
                                    <p:animEffect transition="in" filter="fade">
                                      <p:cBhvr>
                                        <p:cTn id="90" dur="500"/>
                                        <p:tgtEl>
                                          <p:spTgt spid="1025"/>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grpId="0" nodeType="clickEffect">
                                  <p:stCondLst>
                                    <p:cond delay="0"/>
                                  </p:stCondLst>
                                  <p:childTnLst>
                                    <p:set>
                                      <p:cBhvr>
                                        <p:cTn id="94" dur="1" fill="hold">
                                          <p:stCondLst>
                                            <p:cond delay="0"/>
                                          </p:stCondLst>
                                        </p:cTn>
                                        <p:tgtEl>
                                          <p:spTgt spid="6"/>
                                        </p:tgtEl>
                                        <p:attrNameLst>
                                          <p:attrName>style.visibility</p:attrName>
                                        </p:attrNameLst>
                                      </p:cBhvr>
                                      <p:to>
                                        <p:strVal val="visible"/>
                                      </p:to>
                                    </p:set>
                                    <p:animEffect transition="in" filter="fade">
                                      <p:cBhvr>
                                        <p:cTn id="9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BE727-EB03-7F44-9076-4A4852DA49A1}"/>
              </a:ext>
            </a:extLst>
          </p:cNvPr>
          <p:cNvSpPr>
            <a:spLocks noGrp="1"/>
          </p:cNvSpPr>
          <p:nvPr>
            <p:ph type="title"/>
          </p:nvPr>
        </p:nvSpPr>
        <p:spPr>
          <a:xfrm>
            <a:off x="0" y="228600"/>
            <a:ext cx="12192000" cy="1143000"/>
          </a:xfrm>
        </p:spPr>
        <p:txBody>
          <a:bodyPr/>
          <a:lstStyle/>
          <a:p>
            <a:r>
              <a:rPr lang="en-US" sz="3200" dirty="0"/>
              <a:t>The Rank Sum Test: If Logging Had No Effect on % of Seedlings, Then these would not be surprising outcomes of the experiment.</a:t>
            </a:r>
          </a:p>
        </p:txBody>
      </p:sp>
      <p:pic>
        <p:nvPicPr>
          <p:cNvPr id="5" name="Picture 4">
            <a:extLst>
              <a:ext uri="{FF2B5EF4-FFF2-40B4-BE49-F238E27FC236}">
                <a16:creationId xmlns:a16="http://schemas.microsoft.com/office/drawing/2014/main" id="{E8E64433-35CB-DD41-8718-2CFD1340F170}"/>
              </a:ext>
            </a:extLst>
          </p:cNvPr>
          <p:cNvPicPr>
            <a:picLocks noChangeAspect="1"/>
          </p:cNvPicPr>
          <p:nvPr/>
        </p:nvPicPr>
        <p:blipFill>
          <a:blip r:embed="rId2"/>
          <a:stretch>
            <a:fillRect/>
          </a:stretch>
        </p:blipFill>
        <p:spPr>
          <a:xfrm>
            <a:off x="4578350" y="1676400"/>
            <a:ext cx="2501900" cy="4330700"/>
          </a:xfrm>
          <a:prstGeom prst="rect">
            <a:avLst/>
          </a:prstGeom>
        </p:spPr>
      </p:pic>
      <p:pic>
        <p:nvPicPr>
          <p:cNvPr id="6" name="Picture 5">
            <a:extLst>
              <a:ext uri="{FF2B5EF4-FFF2-40B4-BE49-F238E27FC236}">
                <a16:creationId xmlns:a16="http://schemas.microsoft.com/office/drawing/2014/main" id="{1F8EDA18-3E76-E947-B9D5-BF0106AE770D}"/>
              </a:ext>
            </a:extLst>
          </p:cNvPr>
          <p:cNvPicPr>
            <a:picLocks noChangeAspect="1"/>
          </p:cNvPicPr>
          <p:nvPr/>
        </p:nvPicPr>
        <p:blipFill>
          <a:blip r:embed="rId3"/>
          <a:stretch>
            <a:fillRect/>
          </a:stretch>
        </p:blipFill>
        <p:spPr>
          <a:xfrm>
            <a:off x="8534400" y="1676400"/>
            <a:ext cx="2514600" cy="4318000"/>
          </a:xfrm>
          <a:prstGeom prst="rect">
            <a:avLst/>
          </a:prstGeom>
        </p:spPr>
      </p:pic>
      <p:grpSp>
        <p:nvGrpSpPr>
          <p:cNvPr id="10" name="Group 9">
            <a:extLst>
              <a:ext uri="{FF2B5EF4-FFF2-40B4-BE49-F238E27FC236}">
                <a16:creationId xmlns:a16="http://schemas.microsoft.com/office/drawing/2014/main" id="{BE6B9125-8E1A-04F0-259B-F684B530B170}"/>
              </a:ext>
            </a:extLst>
          </p:cNvPr>
          <p:cNvGrpSpPr/>
          <p:nvPr/>
        </p:nvGrpSpPr>
        <p:grpSpPr>
          <a:xfrm>
            <a:off x="555172" y="1676400"/>
            <a:ext cx="2569028" cy="4318000"/>
            <a:chOff x="555172" y="1676400"/>
            <a:chExt cx="2569028" cy="4318000"/>
          </a:xfrm>
        </p:grpSpPr>
        <p:pic>
          <p:nvPicPr>
            <p:cNvPr id="4" name="Picture 3">
              <a:extLst>
                <a:ext uri="{FF2B5EF4-FFF2-40B4-BE49-F238E27FC236}">
                  <a16:creationId xmlns:a16="http://schemas.microsoft.com/office/drawing/2014/main" id="{6901D685-B4B7-3649-875B-1869E80AC41D}"/>
                </a:ext>
              </a:extLst>
            </p:cNvPr>
            <p:cNvPicPr>
              <a:picLocks noChangeAspect="1"/>
            </p:cNvPicPr>
            <p:nvPr/>
          </p:nvPicPr>
          <p:blipFill>
            <a:blip r:embed="rId4"/>
            <a:stretch>
              <a:fillRect/>
            </a:stretch>
          </p:blipFill>
          <p:spPr>
            <a:xfrm>
              <a:off x="609600" y="1676400"/>
              <a:ext cx="2514600" cy="4292600"/>
            </a:xfrm>
            <a:prstGeom prst="rect">
              <a:avLst/>
            </a:prstGeom>
          </p:spPr>
        </p:pic>
        <p:sp>
          <p:nvSpPr>
            <p:cNvPr id="3" name="TextBox 2">
              <a:extLst>
                <a:ext uri="{FF2B5EF4-FFF2-40B4-BE49-F238E27FC236}">
                  <a16:creationId xmlns:a16="http://schemas.microsoft.com/office/drawing/2014/main" id="{A67A9BFE-A833-B1A3-5332-AB9C5DFBB311}"/>
                </a:ext>
              </a:extLst>
            </p:cNvPr>
            <p:cNvSpPr txBox="1"/>
            <p:nvPr/>
          </p:nvSpPr>
          <p:spPr>
            <a:xfrm>
              <a:off x="555172" y="3691895"/>
              <a:ext cx="304800" cy="261610"/>
            </a:xfrm>
            <a:prstGeom prst="rect">
              <a:avLst/>
            </a:prstGeom>
            <a:solidFill>
              <a:schemeClr val="bg1"/>
            </a:solidFill>
          </p:spPr>
          <p:txBody>
            <a:bodyPr wrap="square" rtlCol="0">
              <a:spAutoFit/>
            </a:bodyPr>
            <a:lstStyle/>
            <a:p>
              <a:r>
                <a:rPr lang="en-US" sz="1100" dirty="0"/>
                <a:t>L</a:t>
              </a:r>
            </a:p>
          </p:txBody>
        </p:sp>
        <p:sp>
          <p:nvSpPr>
            <p:cNvPr id="7" name="TextBox 6">
              <a:extLst>
                <a:ext uri="{FF2B5EF4-FFF2-40B4-BE49-F238E27FC236}">
                  <a16:creationId xmlns:a16="http://schemas.microsoft.com/office/drawing/2014/main" id="{D894B971-8AAB-2A28-2AC5-611D07471B5B}"/>
                </a:ext>
              </a:extLst>
            </p:cNvPr>
            <p:cNvSpPr txBox="1"/>
            <p:nvPr/>
          </p:nvSpPr>
          <p:spPr>
            <a:xfrm>
              <a:off x="555172" y="2291733"/>
              <a:ext cx="304800" cy="261610"/>
            </a:xfrm>
            <a:prstGeom prst="rect">
              <a:avLst/>
            </a:prstGeom>
            <a:solidFill>
              <a:schemeClr val="bg1"/>
            </a:solidFill>
          </p:spPr>
          <p:txBody>
            <a:bodyPr wrap="square" rtlCol="0">
              <a:spAutoFit/>
            </a:bodyPr>
            <a:lstStyle/>
            <a:p>
              <a:r>
                <a:rPr lang="en-US" sz="1100" dirty="0"/>
                <a:t>U</a:t>
              </a:r>
            </a:p>
          </p:txBody>
        </p:sp>
        <p:sp>
          <p:nvSpPr>
            <p:cNvPr id="8" name="TextBox 7">
              <a:extLst>
                <a:ext uri="{FF2B5EF4-FFF2-40B4-BE49-F238E27FC236}">
                  <a16:creationId xmlns:a16="http://schemas.microsoft.com/office/drawing/2014/main" id="{E3E964BD-64B5-4432-B7E1-ACE162BCD8D9}"/>
                </a:ext>
              </a:extLst>
            </p:cNvPr>
            <p:cNvSpPr txBox="1"/>
            <p:nvPr/>
          </p:nvSpPr>
          <p:spPr>
            <a:xfrm>
              <a:off x="2675618" y="5732790"/>
              <a:ext cx="415925" cy="261610"/>
            </a:xfrm>
            <a:prstGeom prst="rect">
              <a:avLst/>
            </a:prstGeom>
            <a:solidFill>
              <a:schemeClr val="bg1"/>
            </a:solidFill>
          </p:spPr>
          <p:txBody>
            <a:bodyPr wrap="square" rtlCol="0">
              <a:spAutoFit/>
            </a:bodyPr>
            <a:lstStyle/>
            <a:p>
              <a:r>
                <a:rPr lang="en-US" sz="1100" dirty="0"/>
                <a:t>72</a:t>
              </a:r>
            </a:p>
          </p:txBody>
        </p:sp>
        <p:sp>
          <p:nvSpPr>
            <p:cNvPr id="9" name="TextBox 8">
              <a:extLst>
                <a:ext uri="{FF2B5EF4-FFF2-40B4-BE49-F238E27FC236}">
                  <a16:creationId xmlns:a16="http://schemas.microsoft.com/office/drawing/2014/main" id="{CC848FBD-9A0C-10B9-C973-B60A429C6FCE}"/>
                </a:ext>
              </a:extLst>
            </p:cNvPr>
            <p:cNvSpPr txBox="1"/>
            <p:nvPr/>
          </p:nvSpPr>
          <p:spPr>
            <a:xfrm>
              <a:off x="2708275" y="5297185"/>
              <a:ext cx="339725" cy="261610"/>
            </a:xfrm>
            <a:prstGeom prst="rect">
              <a:avLst/>
            </a:prstGeom>
            <a:solidFill>
              <a:schemeClr val="bg1"/>
            </a:solidFill>
          </p:spPr>
          <p:txBody>
            <a:bodyPr wrap="square" rtlCol="0">
              <a:spAutoFit/>
            </a:bodyPr>
            <a:lstStyle/>
            <a:p>
              <a:r>
                <a:rPr lang="en-US" sz="1100" dirty="0"/>
                <a:t>64</a:t>
              </a:r>
            </a:p>
          </p:txBody>
        </p:sp>
      </p:grpSp>
      <p:sp>
        <p:nvSpPr>
          <p:cNvPr id="11" name="Rectangle 10">
            <a:extLst>
              <a:ext uri="{FF2B5EF4-FFF2-40B4-BE49-F238E27FC236}">
                <a16:creationId xmlns:a16="http://schemas.microsoft.com/office/drawing/2014/main" id="{A7847552-C2F5-D6AE-8A4F-652D1564B0F3}"/>
              </a:ext>
            </a:extLst>
          </p:cNvPr>
          <p:cNvSpPr/>
          <p:nvPr/>
        </p:nvSpPr>
        <p:spPr>
          <a:xfrm>
            <a:off x="612648" y="4961659"/>
            <a:ext cx="2468880" cy="161531"/>
          </a:xfrm>
          <a:prstGeom prst="rect">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12" name="Rectangle 11">
            <a:extLst>
              <a:ext uri="{FF2B5EF4-FFF2-40B4-BE49-F238E27FC236}">
                <a16:creationId xmlns:a16="http://schemas.microsoft.com/office/drawing/2014/main" id="{EEC39662-3D67-A019-82A3-4E5D397FA368}"/>
              </a:ext>
            </a:extLst>
          </p:cNvPr>
          <p:cNvSpPr/>
          <p:nvPr/>
        </p:nvSpPr>
        <p:spPr>
          <a:xfrm>
            <a:off x="612648" y="1900055"/>
            <a:ext cx="2466703" cy="217684"/>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13" name="Rectangle 12">
            <a:extLst>
              <a:ext uri="{FF2B5EF4-FFF2-40B4-BE49-F238E27FC236}">
                <a16:creationId xmlns:a16="http://schemas.microsoft.com/office/drawing/2014/main" id="{43FD374A-F164-9CFA-644F-71A4BA713F56}"/>
              </a:ext>
            </a:extLst>
          </p:cNvPr>
          <p:cNvSpPr/>
          <p:nvPr/>
        </p:nvSpPr>
        <p:spPr>
          <a:xfrm>
            <a:off x="621030" y="2687013"/>
            <a:ext cx="2466703" cy="217684"/>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14" name="Rectangle 13">
            <a:extLst>
              <a:ext uri="{FF2B5EF4-FFF2-40B4-BE49-F238E27FC236}">
                <a16:creationId xmlns:a16="http://schemas.microsoft.com/office/drawing/2014/main" id="{AD66E434-923F-D604-A13B-4F3E0CBFF53E}"/>
              </a:ext>
            </a:extLst>
          </p:cNvPr>
          <p:cNvSpPr/>
          <p:nvPr/>
        </p:nvSpPr>
        <p:spPr>
          <a:xfrm>
            <a:off x="616222" y="3116474"/>
            <a:ext cx="2466703" cy="998326"/>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15" name="Rectangle 14">
            <a:extLst>
              <a:ext uri="{FF2B5EF4-FFF2-40B4-BE49-F238E27FC236}">
                <a16:creationId xmlns:a16="http://schemas.microsoft.com/office/drawing/2014/main" id="{D8A3FED5-7639-A83B-193C-F2E404745FA3}"/>
              </a:ext>
            </a:extLst>
          </p:cNvPr>
          <p:cNvSpPr/>
          <p:nvPr/>
        </p:nvSpPr>
        <p:spPr>
          <a:xfrm>
            <a:off x="612648" y="4298859"/>
            <a:ext cx="2466703" cy="26161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16" name="Rectangle 15">
            <a:extLst>
              <a:ext uri="{FF2B5EF4-FFF2-40B4-BE49-F238E27FC236}">
                <a16:creationId xmlns:a16="http://schemas.microsoft.com/office/drawing/2014/main" id="{85B9E1C2-77BE-800A-D3D8-8C35878D5CEF}"/>
              </a:ext>
            </a:extLst>
          </p:cNvPr>
          <p:cNvSpPr/>
          <p:nvPr/>
        </p:nvSpPr>
        <p:spPr>
          <a:xfrm>
            <a:off x="612648" y="4688260"/>
            <a:ext cx="2466703" cy="26161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17" name="Rectangle 16">
            <a:extLst>
              <a:ext uri="{FF2B5EF4-FFF2-40B4-BE49-F238E27FC236}">
                <a16:creationId xmlns:a16="http://schemas.microsoft.com/office/drawing/2014/main" id="{7EAA40B6-5A94-BB5F-C7AE-AD209C8B984D}"/>
              </a:ext>
            </a:extLst>
          </p:cNvPr>
          <p:cNvSpPr/>
          <p:nvPr/>
        </p:nvSpPr>
        <p:spPr>
          <a:xfrm>
            <a:off x="612648" y="4129665"/>
            <a:ext cx="2468880" cy="161531"/>
          </a:xfrm>
          <a:prstGeom prst="rect">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18" name="Rectangle 17">
            <a:extLst>
              <a:ext uri="{FF2B5EF4-FFF2-40B4-BE49-F238E27FC236}">
                <a16:creationId xmlns:a16="http://schemas.microsoft.com/office/drawing/2014/main" id="{061A7D02-A13A-B301-147B-53FCFD53F067}"/>
              </a:ext>
            </a:extLst>
          </p:cNvPr>
          <p:cNvSpPr/>
          <p:nvPr/>
        </p:nvSpPr>
        <p:spPr>
          <a:xfrm>
            <a:off x="612648" y="2932355"/>
            <a:ext cx="2480945" cy="169254"/>
          </a:xfrm>
          <a:prstGeom prst="rect">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19" name="Rectangle 18">
            <a:extLst>
              <a:ext uri="{FF2B5EF4-FFF2-40B4-BE49-F238E27FC236}">
                <a16:creationId xmlns:a16="http://schemas.microsoft.com/office/drawing/2014/main" id="{DEC03342-78D5-601A-17CD-6BA0A3B5C0D2}"/>
              </a:ext>
            </a:extLst>
          </p:cNvPr>
          <p:cNvSpPr/>
          <p:nvPr/>
        </p:nvSpPr>
        <p:spPr>
          <a:xfrm>
            <a:off x="611233" y="2151127"/>
            <a:ext cx="2468880" cy="521021"/>
          </a:xfrm>
          <a:prstGeom prst="rect">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20" name="Rectangle 19">
            <a:extLst>
              <a:ext uri="{FF2B5EF4-FFF2-40B4-BE49-F238E27FC236}">
                <a16:creationId xmlns:a16="http://schemas.microsoft.com/office/drawing/2014/main" id="{FA7167EE-8B4E-2F10-C674-1A5D44EE3F34}"/>
              </a:ext>
            </a:extLst>
          </p:cNvPr>
          <p:cNvSpPr/>
          <p:nvPr/>
        </p:nvSpPr>
        <p:spPr>
          <a:xfrm>
            <a:off x="4562856" y="2134224"/>
            <a:ext cx="2529840" cy="161531"/>
          </a:xfrm>
          <a:prstGeom prst="rect">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21" name="Rectangle 20">
            <a:extLst>
              <a:ext uri="{FF2B5EF4-FFF2-40B4-BE49-F238E27FC236}">
                <a16:creationId xmlns:a16="http://schemas.microsoft.com/office/drawing/2014/main" id="{46E0B608-E017-C51B-193C-AB13E28C264D}"/>
              </a:ext>
            </a:extLst>
          </p:cNvPr>
          <p:cNvSpPr/>
          <p:nvPr/>
        </p:nvSpPr>
        <p:spPr>
          <a:xfrm>
            <a:off x="4564380" y="2541291"/>
            <a:ext cx="2529840" cy="161531"/>
          </a:xfrm>
          <a:prstGeom prst="rect">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22" name="Rectangle 21">
            <a:extLst>
              <a:ext uri="{FF2B5EF4-FFF2-40B4-BE49-F238E27FC236}">
                <a16:creationId xmlns:a16="http://schemas.microsoft.com/office/drawing/2014/main" id="{F848B5F8-52B6-F854-A4A0-F7919FAF5EDF}"/>
              </a:ext>
            </a:extLst>
          </p:cNvPr>
          <p:cNvSpPr/>
          <p:nvPr/>
        </p:nvSpPr>
        <p:spPr>
          <a:xfrm>
            <a:off x="4560570" y="2944045"/>
            <a:ext cx="2529840" cy="161531"/>
          </a:xfrm>
          <a:prstGeom prst="rect">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23" name="Rectangle 22">
            <a:extLst>
              <a:ext uri="{FF2B5EF4-FFF2-40B4-BE49-F238E27FC236}">
                <a16:creationId xmlns:a16="http://schemas.microsoft.com/office/drawing/2014/main" id="{326BDC53-783A-92C5-EF99-7D25A9C8EA9A}"/>
              </a:ext>
            </a:extLst>
          </p:cNvPr>
          <p:cNvSpPr/>
          <p:nvPr/>
        </p:nvSpPr>
        <p:spPr>
          <a:xfrm>
            <a:off x="4563745" y="3760984"/>
            <a:ext cx="2529840" cy="161531"/>
          </a:xfrm>
          <a:prstGeom prst="rect">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24" name="Rectangle 23">
            <a:extLst>
              <a:ext uri="{FF2B5EF4-FFF2-40B4-BE49-F238E27FC236}">
                <a16:creationId xmlns:a16="http://schemas.microsoft.com/office/drawing/2014/main" id="{E71A1551-C411-4A24-2DC9-305AA84C9CE7}"/>
              </a:ext>
            </a:extLst>
          </p:cNvPr>
          <p:cNvSpPr/>
          <p:nvPr/>
        </p:nvSpPr>
        <p:spPr>
          <a:xfrm>
            <a:off x="4568553" y="4163738"/>
            <a:ext cx="2529840" cy="161531"/>
          </a:xfrm>
          <a:prstGeom prst="rect">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25" name="Rectangle 24">
            <a:extLst>
              <a:ext uri="{FF2B5EF4-FFF2-40B4-BE49-F238E27FC236}">
                <a16:creationId xmlns:a16="http://schemas.microsoft.com/office/drawing/2014/main" id="{49179B2F-9049-4CFA-B4E7-09530BCB9175}"/>
              </a:ext>
            </a:extLst>
          </p:cNvPr>
          <p:cNvSpPr/>
          <p:nvPr/>
        </p:nvSpPr>
        <p:spPr>
          <a:xfrm>
            <a:off x="4574540" y="4579173"/>
            <a:ext cx="2529840" cy="161531"/>
          </a:xfrm>
          <a:prstGeom prst="rect">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26" name="Rectangle 25">
            <a:extLst>
              <a:ext uri="{FF2B5EF4-FFF2-40B4-BE49-F238E27FC236}">
                <a16:creationId xmlns:a16="http://schemas.microsoft.com/office/drawing/2014/main" id="{BFF3E38E-40E7-FF56-7E99-526018162176}"/>
              </a:ext>
            </a:extLst>
          </p:cNvPr>
          <p:cNvSpPr/>
          <p:nvPr/>
        </p:nvSpPr>
        <p:spPr>
          <a:xfrm>
            <a:off x="4578803" y="4980677"/>
            <a:ext cx="2529840" cy="161531"/>
          </a:xfrm>
          <a:prstGeom prst="rect">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27" name="Rectangle 26">
            <a:extLst>
              <a:ext uri="{FF2B5EF4-FFF2-40B4-BE49-F238E27FC236}">
                <a16:creationId xmlns:a16="http://schemas.microsoft.com/office/drawing/2014/main" id="{6474BE41-5D8B-49DE-EB41-D0DF25808D3B}"/>
              </a:ext>
            </a:extLst>
          </p:cNvPr>
          <p:cNvSpPr/>
          <p:nvPr/>
        </p:nvSpPr>
        <p:spPr>
          <a:xfrm>
            <a:off x="4562856" y="3145607"/>
            <a:ext cx="2532888" cy="606818"/>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28" name="Rectangle 27">
            <a:extLst>
              <a:ext uri="{FF2B5EF4-FFF2-40B4-BE49-F238E27FC236}">
                <a16:creationId xmlns:a16="http://schemas.microsoft.com/office/drawing/2014/main" id="{DE613FB0-58D6-BACD-05A6-1EFA0C2984E2}"/>
              </a:ext>
            </a:extLst>
          </p:cNvPr>
          <p:cNvSpPr/>
          <p:nvPr/>
        </p:nvSpPr>
        <p:spPr>
          <a:xfrm>
            <a:off x="612648" y="4562869"/>
            <a:ext cx="2468880" cy="161531"/>
          </a:xfrm>
          <a:prstGeom prst="rect">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29" name="Rectangle 28">
            <a:extLst>
              <a:ext uri="{FF2B5EF4-FFF2-40B4-BE49-F238E27FC236}">
                <a16:creationId xmlns:a16="http://schemas.microsoft.com/office/drawing/2014/main" id="{7811C920-50CE-4D45-63C3-D72AD8EEE452}"/>
              </a:ext>
            </a:extLst>
          </p:cNvPr>
          <p:cNvSpPr/>
          <p:nvPr/>
        </p:nvSpPr>
        <p:spPr>
          <a:xfrm>
            <a:off x="4562856" y="1928702"/>
            <a:ext cx="2532888" cy="17914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30" name="Rectangle 29">
            <a:extLst>
              <a:ext uri="{FF2B5EF4-FFF2-40B4-BE49-F238E27FC236}">
                <a16:creationId xmlns:a16="http://schemas.microsoft.com/office/drawing/2014/main" id="{A9D9C3EE-4097-C6FB-1A3E-E7F940C9C000}"/>
              </a:ext>
            </a:extLst>
          </p:cNvPr>
          <p:cNvSpPr/>
          <p:nvPr/>
        </p:nvSpPr>
        <p:spPr>
          <a:xfrm>
            <a:off x="4560207" y="2339979"/>
            <a:ext cx="2532888" cy="17914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31" name="Rectangle 30">
            <a:extLst>
              <a:ext uri="{FF2B5EF4-FFF2-40B4-BE49-F238E27FC236}">
                <a16:creationId xmlns:a16="http://schemas.microsoft.com/office/drawing/2014/main" id="{A133365B-26B1-DA73-0CDB-1A5D9AA5DA7D}"/>
              </a:ext>
            </a:extLst>
          </p:cNvPr>
          <p:cNvSpPr/>
          <p:nvPr/>
        </p:nvSpPr>
        <p:spPr>
          <a:xfrm>
            <a:off x="4557159" y="2724497"/>
            <a:ext cx="2532888" cy="17914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32" name="Rectangle 31">
            <a:extLst>
              <a:ext uri="{FF2B5EF4-FFF2-40B4-BE49-F238E27FC236}">
                <a16:creationId xmlns:a16="http://schemas.microsoft.com/office/drawing/2014/main" id="{E3DF47AC-3C5C-B8F3-B239-277645AF9DF7}"/>
              </a:ext>
            </a:extLst>
          </p:cNvPr>
          <p:cNvSpPr/>
          <p:nvPr/>
        </p:nvSpPr>
        <p:spPr>
          <a:xfrm>
            <a:off x="4567029" y="3960145"/>
            <a:ext cx="2532888" cy="17914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33" name="Rectangle 32">
            <a:extLst>
              <a:ext uri="{FF2B5EF4-FFF2-40B4-BE49-F238E27FC236}">
                <a16:creationId xmlns:a16="http://schemas.microsoft.com/office/drawing/2014/main" id="{8BBB8083-7179-5311-7596-8B3FA6B0EF00}"/>
              </a:ext>
            </a:extLst>
          </p:cNvPr>
          <p:cNvSpPr/>
          <p:nvPr/>
        </p:nvSpPr>
        <p:spPr>
          <a:xfrm>
            <a:off x="4565505" y="4369617"/>
            <a:ext cx="2532888" cy="17914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34" name="Rectangle 33">
            <a:extLst>
              <a:ext uri="{FF2B5EF4-FFF2-40B4-BE49-F238E27FC236}">
                <a16:creationId xmlns:a16="http://schemas.microsoft.com/office/drawing/2014/main" id="{38F93915-7859-F6A7-4625-FFB8AB0AD453}"/>
              </a:ext>
            </a:extLst>
          </p:cNvPr>
          <p:cNvSpPr/>
          <p:nvPr/>
        </p:nvSpPr>
        <p:spPr>
          <a:xfrm>
            <a:off x="4562856" y="4766173"/>
            <a:ext cx="2532888" cy="17914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35" name="Rectangle 34">
            <a:extLst>
              <a:ext uri="{FF2B5EF4-FFF2-40B4-BE49-F238E27FC236}">
                <a16:creationId xmlns:a16="http://schemas.microsoft.com/office/drawing/2014/main" id="{B8DB1266-7E19-B997-6528-9D35EE49E20D}"/>
              </a:ext>
            </a:extLst>
          </p:cNvPr>
          <p:cNvSpPr/>
          <p:nvPr/>
        </p:nvSpPr>
        <p:spPr>
          <a:xfrm>
            <a:off x="8516112" y="1919327"/>
            <a:ext cx="2532888" cy="599792"/>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36" name="Rectangle 35">
            <a:extLst>
              <a:ext uri="{FF2B5EF4-FFF2-40B4-BE49-F238E27FC236}">
                <a16:creationId xmlns:a16="http://schemas.microsoft.com/office/drawing/2014/main" id="{C7B4A5F1-D5E6-61DE-98C8-6B72D9874184}"/>
              </a:ext>
            </a:extLst>
          </p:cNvPr>
          <p:cNvSpPr/>
          <p:nvPr/>
        </p:nvSpPr>
        <p:spPr>
          <a:xfrm>
            <a:off x="8513064" y="2724497"/>
            <a:ext cx="2532888" cy="17914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37" name="Rectangle 36">
            <a:extLst>
              <a:ext uri="{FF2B5EF4-FFF2-40B4-BE49-F238E27FC236}">
                <a16:creationId xmlns:a16="http://schemas.microsoft.com/office/drawing/2014/main" id="{00A8602B-E473-E015-D81D-550E938227EB}"/>
              </a:ext>
            </a:extLst>
          </p:cNvPr>
          <p:cNvSpPr/>
          <p:nvPr/>
        </p:nvSpPr>
        <p:spPr>
          <a:xfrm>
            <a:off x="8511991" y="3147281"/>
            <a:ext cx="2532888" cy="17914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38" name="Rectangle 37">
            <a:extLst>
              <a:ext uri="{FF2B5EF4-FFF2-40B4-BE49-F238E27FC236}">
                <a16:creationId xmlns:a16="http://schemas.microsoft.com/office/drawing/2014/main" id="{397B5724-793A-9E16-0B93-D243E20E8E04}"/>
              </a:ext>
            </a:extLst>
          </p:cNvPr>
          <p:cNvSpPr/>
          <p:nvPr/>
        </p:nvSpPr>
        <p:spPr>
          <a:xfrm>
            <a:off x="8511991" y="3543836"/>
            <a:ext cx="2532888" cy="619901"/>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39" name="Rectangle 38">
            <a:extLst>
              <a:ext uri="{FF2B5EF4-FFF2-40B4-BE49-F238E27FC236}">
                <a16:creationId xmlns:a16="http://schemas.microsoft.com/office/drawing/2014/main" id="{EE691335-53B3-D943-9171-708ECDAAD88B}"/>
              </a:ext>
            </a:extLst>
          </p:cNvPr>
          <p:cNvSpPr/>
          <p:nvPr/>
        </p:nvSpPr>
        <p:spPr>
          <a:xfrm>
            <a:off x="8513064" y="4936863"/>
            <a:ext cx="2532888" cy="244738"/>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0" name="Rectangle 39">
            <a:extLst>
              <a:ext uri="{FF2B5EF4-FFF2-40B4-BE49-F238E27FC236}">
                <a16:creationId xmlns:a16="http://schemas.microsoft.com/office/drawing/2014/main" id="{E1621794-4671-5DD1-AB40-4C618530EE8D}"/>
              </a:ext>
            </a:extLst>
          </p:cNvPr>
          <p:cNvSpPr/>
          <p:nvPr/>
        </p:nvSpPr>
        <p:spPr>
          <a:xfrm>
            <a:off x="8513064" y="2521391"/>
            <a:ext cx="2532888" cy="183172"/>
          </a:xfrm>
          <a:prstGeom prst="rect">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1" name="Rectangle 40">
            <a:extLst>
              <a:ext uri="{FF2B5EF4-FFF2-40B4-BE49-F238E27FC236}">
                <a16:creationId xmlns:a16="http://schemas.microsoft.com/office/drawing/2014/main" id="{2E386B8F-C555-1E73-B855-B675FD93728F}"/>
              </a:ext>
            </a:extLst>
          </p:cNvPr>
          <p:cNvSpPr/>
          <p:nvPr/>
        </p:nvSpPr>
        <p:spPr>
          <a:xfrm>
            <a:off x="8510270" y="2943377"/>
            <a:ext cx="2532888" cy="183172"/>
          </a:xfrm>
          <a:prstGeom prst="rect">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2" name="Rectangle 41">
            <a:extLst>
              <a:ext uri="{FF2B5EF4-FFF2-40B4-BE49-F238E27FC236}">
                <a16:creationId xmlns:a16="http://schemas.microsoft.com/office/drawing/2014/main" id="{38221816-AD38-F652-5DCD-699AB462E546}"/>
              </a:ext>
            </a:extLst>
          </p:cNvPr>
          <p:cNvSpPr/>
          <p:nvPr/>
        </p:nvSpPr>
        <p:spPr>
          <a:xfrm>
            <a:off x="8513064" y="3375767"/>
            <a:ext cx="2532888" cy="183172"/>
          </a:xfrm>
          <a:prstGeom prst="rect">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3" name="Rectangle 42">
            <a:extLst>
              <a:ext uri="{FF2B5EF4-FFF2-40B4-BE49-F238E27FC236}">
                <a16:creationId xmlns:a16="http://schemas.microsoft.com/office/drawing/2014/main" id="{58931422-8350-D130-1E8C-C23C02C1C9DC}"/>
              </a:ext>
            </a:extLst>
          </p:cNvPr>
          <p:cNvSpPr/>
          <p:nvPr/>
        </p:nvSpPr>
        <p:spPr>
          <a:xfrm>
            <a:off x="8510270" y="4163737"/>
            <a:ext cx="2532888" cy="773125"/>
          </a:xfrm>
          <a:prstGeom prst="rect">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Tree>
    <p:extLst>
      <p:ext uri="{BB962C8B-B14F-4D97-AF65-F5344CB8AC3E}">
        <p14:creationId xmlns:p14="http://schemas.microsoft.com/office/powerpoint/2010/main" val="1341885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500"/>
                                        <p:tgtEl>
                                          <p:spTgt spid="1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500"/>
                                        <p:tgtEl>
                                          <p:spTgt spid="1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500"/>
                                        <p:tgtEl>
                                          <p:spTgt spid="1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fade">
                                      <p:cBhvr>
                                        <p:cTn id="38" dur="500"/>
                                        <p:tgtEl>
                                          <p:spTgt spid="28"/>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fade">
                                      <p:cBhvr>
                                        <p:cTn id="43" dur="500"/>
                                        <p:tgtEl>
                                          <p:spTgt spid="5"/>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500"/>
                                        <p:tgtEl>
                                          <p:spTgt spid="20"/>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500"/>
                                        <p:tgtEl>
                                          <p:spTgt spid="21"/>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fade">
                                      <p:cBhvr>
                                        <p:cTn id="54" dur="500"/>
                                        <p:tgtEl>
                                          <p:spTgt spid="22"/>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fade">
                                      <p:cBhvr>
                                        <p:cTn id="57" dur="500"/>
                                        <p:tgtEl>
                                          <p:spTgt spid="23"/>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500"/>
                                        <p:tgtEl>
                                          <p:spTgt spid="24"/>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fade">
                                      <p:cBhvr>
                                        <p:cTn id="63" dur="500"/>
                                        <p:tgtEl>
                                          <p:spTgt spid="25"/>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fade">
                                      <p:cBhvr>
                                        <p:cTn id="66" dur="500"/>
                                        <p:tgtEl>
                                          <p:spTgt spid="26"/>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7"/>
                                        </p:tgtEl>
                                        <p:attrNameLst>
                                          <p:attrName>style.visibility</p:attrName>
                                        </p:attrNameLst>
                                      </p:cBhvr>
                                      <p:to>
                                        <p:strVal val="visible"/>
                                      </p:to>
                                    </p:set>
                                    <p:animEffect transition="in" filter="fade">
                                      <p:cBhvr>
                                        <p:cTn id="69" dur="500"/>
                                        <p:tgtEl>
                                          <p:spTgt spid="27"/>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9"/>
                                        </p:tgtEl>
                                        <p:attrNameLst>
                                          <p:attrName>style.visibility</p:attrName>
                                        </p:attrNameLst>
                                      </p:cBhvr>
                                      <p:to>
                                        <p:strVal val="visible"/>
                                      </p:to>
                                    </p:set>
                                    <p:animEffect transition="in" filter="fade">
                                      <p:cBhvr>
                                        <p:cTn id="72" dur="500"/>
                                        <p:tgtEl>
                                          <p:spTgt spid="29"/>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5" dur="500"/>
                                        <p:tgtEl>
                                          <p:spTgt spid="30"/>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1"/>
                                        </p:tgtEl>
                                        <p:attrNameLst>
                                          <p:attrName>style.visibility</p:attrName>
                                        </p:attrNameLst>
                                      </p:cBhvr>
                                      <p:to>
                                        <p:strVal val="visible"/>
                                      </p:to>
                                    </p:set>
                                    <p:animEffect transition="in" filter="fade">
                                      <p:cBhvr>
                                        <p:cTn id="78" dur="500"/>
                                        <p:tgtEl>
                                          <p:spTgt spid="31"/>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2"/>
                                        </p:tgtEl>
                                        <p:attrNameLst>
                                          <p:attrName>style.visibility</p:attrName>
                                        </p:attrNameLst>
                                      </p:cBhvr>
                                      <p:to>
                                        <p:strVal val="visible"/>
                                      </p:to>
                                    </p:set>
                                    <p:animEffect transition="in" filter="fade">
                                      <p:cBhvr>
                                        <p:cTn id="81" dur="500"/>
                                        <p:tgtEl>
                                          <p:spTgt spid="32"/>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3"/>
                                        </p:tgtEl>
                                        <p:attrNameLst>
                                          <p:attrName>style.visibility</p:attrName>
                                        </p:attrNameLst>
                                      </p:cBhvr>
                                      <p:to>
                                        <p:strVal val="visible"/>
                                      </p:to>
                                    </p:set>
                                    <p:animEffect transition="in" filter="fade">
                                      <p:cBhvr>
                                        <p:cTn id="84" dur="500"/>
                                        <p:tgtEl>
                                          <p:spTgt spid="33"/>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4"/>
                                        </p:tgtEl>
                                        <p:attrNameLst>
                                          <p:attrName>style.visibility</p:attrName>
                                        </p:attrNameLst>
                                      </p:cBhvr>
                                      <p:to>
                                        <p:strVal val="visible"/>
                                      </p:to>
                                    </p:set>
                                    <p:animEffect transition="in" filter="fade">
                                      <p:cBhvr>
                                        <p:cTn id="87" dur="500"/>
                                        <p:tgtEl>
                                          <p:spTgt spid="34"/>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6"/>
                                        </p:tgtEl>
                                        <p:attrNameLst>
                                          <p:attrName>style.visibility</p:attrName>
                                        </p:attrNameLst>
                                      </p:cBhvr>
                                      <p:to>
                                        <p:strVal val="visible"/>
                                      </p:to>
                                    </p:set>
                                    <p:animEffect transition="in" filter="fade">
                                      <p:cBhvr>
                                        <p:cTn id="92" dur="500"/>
                                        <p:tgtEl>
                                          <p:spTgt spid="6"/>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35"/>
                                        </p:tgtEl>
                                        <p:attrNameLst>
                                          <p:attrName>style.visibility</p:attrName>
                                        </p:attrNameLst>
                                      </p:cBhvr>
                                      <p:to>
                                        <p:strVal val="visible"/>
                                      </p:to>
                                    </p:set>
                                    <p:animEffect transition="in" filter="fade">
                                      <p:cBhvr>
                                        <p:cTn id="97" dur="500"/>
                                        <p:tgtEl>
                                          <p:spTgt spid="35"/>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6"/>
                                        </p:tgtEl>
                                        <p:attrNameLst>
                                          <p:attrName>style.visibility</p:attrName>
                                        </p:attrNameLst>
                                      </p:cBhvr>
                                      <p:to>
                                        <p:strVal val="visible"/>
                                      </p:to>
                                    </p:set>
                                    <p:animEffect transition="in" filter="fade">
                                      <p:cBhvr>
                                        <p:cTn id="100" dur="500"/>
                                        <p:tgtEl>
                                          <p:spTgt spid="36"/>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7"/>
                                        </p:tgtEl>
                                        <p:attrNameLst>
                                          <p:attrName>style.visibility</p:attrName>
                                        </p:attrNameLst>
                                      </p:cBhvr>
                                      <p:to>
                                        <p:strVal val="visible"/>
                                      </p:to>
                                    </p:set>
                                    <p:animEffect transition="in" filter="fade">
                                      <p:cBhvr>
                                        <p:cTn id="103" dur="500"/>
                                        <p:tgtEl>
                                          <p:spTgt spid="37"/>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8"/>
                                        </p:tgtEl>
                                        <p:attrNameLst>
                                          <p:attrName>style.visibility</p:attrName>
                                        </p:attrNameLst>
                                      </p:cBhvr>
                                      <p:to>
                                        <p:strVal val="visible"/>
                                      </p:to>
                                    </p:set>
                                    <p:animEffect transition="in" filter="fade">
                                      <p:cBhvr>
                                        <p:cTn id="106" dur="500"/>
                                        <p:tgtEl>
                                          <p:spTgt spid="38"/>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39"/>
                                        </p:tgtEl>
                                        <p:attrNameLst>
                                          <p:attrName>style.visibility</p:attrName>
                                        </p:attrNameLst>
                                      </p:cBhvr>
                                      <p:to>
                                        <p:strVal val="visible"/>
                                      </p:to>
                                    </p:set>
                                    <p:animEffect transition="in" filter="fade">
                                      <p:cBhvr>
                                        <p:cTn id="109" dur="500"/>
                                        <p:tgtEl>
                                          <p:spTgt spid="39"/>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0"/>
                                        </p:tgtEl>
                                        <p:attrNameLst>
                                          <p:attrName>style.visibility</p:attrName>
                                        </p:attrNameLst>
                                      </p:cBhvr>
                                      <p:to>
                                        <p:strVal val="visible"/>
                                      </p:to>
                                    </p:set>
                                    <p:animEffect transition="in" filter="fade">
                                      <p:cBhvr>
                                        <p:cTn id="112" dur="500"/>
                                        <p:tgtEl>
                                          <p:spTgt spid="40"/>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41"/>
                                        </p:tgtEl>
                                        <p:attrNameLst>
                                          <p:attrName>style.visibility</p:attrName>
                                        </p:attrNameLst>
                                      </p:cBhvr>
                                      <p:to>
                                        <p:strVal val="visible"/>
                                      </p:to>
                                    </p:set>
                                    <p:animEffect transition="in" filter="fade">
                                      <p:cBhvr>
                                        <p:cTn id="115" dur="500"/>
                                        <p:tgtEl>
                                          <p:spTgt spid="41"/>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2"/>
                                        </p:tgtEl>
                                        <p:attrNameLst>
                                          <p:attrName>style.visibility</p:attrName>
                                        </p:attrNameLst>
                                      </p:cBhvr>
                                      <p:to>
                                        <p:strVal val="visible"/>
                                      </p:to>
                                    </p:set>
                                    <p:animEffect transition="in" filter="fade">
                                      <p:cBhvr>
                                        <p:cTn id="118" dur="500"/>
                                        <p:tgtEl>
                                          <p:spTgt spid="42"/>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43"/>
                                        </p:tgtEl>
                                        <p:attrNameLst>
                                          <p:attrName>style.visibility</p:attrName>
                                        </p:attrNameLst>
                                      </p:cBhvr>
                                      <p:to>
                                        <p:strVal val="visible"/>
                                      </p:to>
                                    </p:set>
                                    <p:animEffect transition="in" filter="fade">
                                      <p:cBhvr>
                                        <p:cTn id="121"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BE727-EB03-7F44-9076-4A4852DA49A1}"/>
              </a:ext>
            </a:extLst>
          </p:cNvPr>
          <p:cNvSpPr>
            <a:spLocks noGrp="1"/>
          </p:cNvSpPr>
          <p:nvPr>
            <p:ph type="title"/>
          </p:nvPr>
        </p:nvSpPr>
        <p:spPr>
          <a:xfrm>
            <a:off x="0" y="228600"/>
            <a:ext cx="12192000" cy="1143000"/>
          </a:xfrm>
        </p:spPr>
        <p:txBody>
          <a:bodyPr/>
          <a:lstStyle/>
          <a:p>
            <a:r>
              <a:rPr lang="en-US" sz="3600" dirty="0"/>
              <a:t>The Rank Sum Test: </a:t>
            </a:r>
            <a:br>
              <a:rPr lang="en-US" sz="3600" dirty="0"/>
            </a:br>
            <a:r>
              <a:rPr lang="en-US" sz="3600" dirty="0"/>
              <a:t>What would be the most evidence that L was Bigger?</a:t>
            </a:r>
          </a:p>
        </p:txBody>
      </p:sp>
      <p:pic>
        <p:nvPicPr>
          <p:cNvPr id="3" name="Picture 2">
            <a:extLst>
              <a:ext uri="{FF2B5EF4-FFF2-40B4-BE49-F238E27FC236}">
                <a16:creationId xmlns:a16="http://schemas.microsoft.com/office/drawing/2014/main" id="{878E9294-DDDF-5340-BA36-0ED3339E7AB0}"/>
              </a:ext>
            </a:extLst>
          </p:cNvPr>
          <p:cNvPicPr>
            <a:picLocks noChangeAspect="1"/>
          </p:cNvPicPr>
          <p:nvPr/>
        </p:nvPicPr>
        <p:blipFill>
          <a:blip r:embed="rId2"/>
          <a:stretch>
            <a:fillRect/>
          </a:stretch>
        </p:blipFill>
        <p:spPr>
          <a:xfrm>
            <a:off x="8600883" y="1529038"/>
            <a:ext cx="2981517" cy="5100362"/>
          </a:xfrm>
          <a:prstGeom prst="rect">
            <a:avLst/>
          </a:prstGeom>
        </p:spPr>
      </p:pic>
      <p:pic>
        <p:nvPicPr>
          <p:cNvPr id="4" name="Picture 3">
            <a:extLst>
              <a:ext uri="{FF2B5EF4-FFF2-40B4-BE49-F238E27FC236}">
                <a16:creationId xmlns:a16="http://schemas.microsoft.com/office/drawing/2014/main" id="{C6652C5C-3F0F-CEC6-F3A0-138F4412512C}"/>
              </a:ext>
            </a:extLst>
          </p:cNvPr>
          <p:cNvPicPr>
            <a:picLocks noChangeAspect="1"/>
          </p:cNvPicPr>
          <p:nvPr/>
        </p:nvPicPr>
        <p:blipFill>
          <a:blip r:embed="rId3"/>
          <a:stretch>
            <a:fillRect/>
          </a:stretch>
        </p:blipFill>
        <p:spPr>
          <a:xfrm>
            <a:off x="304800" y="1828800"/>
            <a:ext cx="8092820" cy="3429000"/>
          </a:xfrm>
          <a:prstGeom prst="rect">
            <a:avLst/>
          </a:prstGeom>
        </p:spPr>
      </p:pic>
      <p:sp>
        <p:nvSpPr>
          <p:cNvPr id="8" name="Rectangle 7">
            <a:extLst>
              <a:ext uri="{FF2B5EF4-FFF2-40B4-BE49-F238E27FC236}">
                <a16:creationId xmlns:a16="http://schemas.microsoft.com/office/drawing/2014/main" id="{4615BF18-7577-ECCB-B53C-3D739A9926DA}"/>
              </a:ext>
            </a:extLst>
          </p:cNvPr>
          <p:cNvSpPr/>
          <p:nvPr/>
        </p:nvSpPr>
        <p:spPr>
          <a:xfrm>
            <a:off x="8604504" y="3478906"/>
            <a:ext cx="2968638" cy="2159894"/>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9" name="Rectangle 8">
            <a:extLst>
              <a:ext uri="{FF2B5EF4-FFF2-40B4-BE49-F238E27FC236}">
                <a16:creationId xmlns:a16="http://schemas.microsoft.com/office/drawing/2014/main" id="{3A79A962-E777-2135-4D94-E47B46B7424E}"/>
              </a:ext>
            </a:extLst>
          </p:cNvPr>
          <p:cNvSpPr/>
          <p:nvPr/>
        </p:nvSpPr>
        <p:spPr>
          <a:xfrm>
            <a:off x="8600883" y="1763225"/>
            <a:ext cx="2968637" cy="1691640"/>
          </a:xfrm>
          <a:prstGeom prst="rect">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5" name="TextBox 4">
            <a:extLst>
              <a:ext uri="{FF2B5EF4-FFF2-40B4-BE49-F238E27FC236}">
                <a16:creationId xmlns:a16="http://schemas.microsoft.com/office/drawing/2014/main" id="{F23A2199-D784-8330-88DB-2D61F72A66D6}"/>
              </a:ext>
            </a:extLst>
          </p:cNvPr>
          <p:cNvSpPr txBox="1"/>
          <p:nvPr/>
        </p:nvSpPr>
        <p:spPr>
          <a:xfrm>
            <a:off x="381000" y="5417641"/>
            <a:ext cx="7551610" cy="1477328"/>
          </a:xfrm>
          <a:prstGeom prst="rect">
            <a:avLst/>
          </a:prstGeom>
          <a:noFill/>
        </p:spPr>
        <p:txBody>
          <a:bodyPr wrap="square" rtlCol="0">
            <a:spAutoFit/>
          </a:bodyPr>
          <a:lstStyle/>
          <a:p>
            <a:r>
              <a:rPr lang="en-US" dirty="0"/>
              <a:t>If logging didn’t have any effect, it is</a:t>
            </a:r>
            <a:r>
              <a:rPr lang="en-US" i="1" dirty="0"/>
              <a:t> possible </a:t>
            </a:r>
            <a:r>
              <a:rPr lang="en-US" dirty="0"/>
              <a:t>that all the unlogged plots would randomly have the smallest percentage of lost seedlings … but it is not </a:t>
            </a:r>
            <a:r>
              <a:rPr lang="en-US" i="1" dirty="0"/>
              <a:t>plausible</a:t>
            </a:r>
            <a:r>
              <a:rPr lang="en-US" dirty="0"/>
              <a:t> … this is reflected in the Sum of the Ranks when compared to the others that come from random assignment of the labels  ...</a:t>
            </a:r>
          </a:p>
        </p:txBody>
      </p:sp>
      <p:cxnSp>
        <p:nvCxnSpPr>
          <p:cNvPr id="7" name="Straight Arrow Connector 6">
            <a:extLst>
              <a:ext uri="{FF2B5EF4-FFF2-40B4-BE49-F238E27FC236}">
                <a16:creationId xmlns:a16="http://schemas.microsoft.com/office/drawing/2014/main" id="{4B7E6F8F-9EA8-A47D-0DDB-80D13821C387}"/>
              </a:ext>
            </a:extLst>
          </p:cNvPr>
          <p:cNvCxnSpPr>
            <a:cxnSpLocks/>
          </p:cNvCxnSpPr>
          <p:nvPr/>
        </p:nvCxnSpPr>
        <p:spPr>
          <a:xfrm flipV="1">
            <a:off x="7772400" y="6019800"/>
            <a:ext cx="819225" cy="152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24B97385-95C6-2A24-3815-D564593BB82D}"/>
              </a:ext>
            </a:extLst>
          </p:cNvPr>
          <p:cNvCxnSpPr>
            <a:cxnSpLocks/>
          </p:cNvCxnSpPr>
          <p:nvPr/>
        </p:nvCxnSpPr>
        <p:spPr>
          <a:xfrm>
            <a:off x="7772400" y="6331924"/>
            <a:ext cx="762000" cy="1450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4915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1"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par>
                                <p:cTn id="23" presetID="10" presetClass="entr" presetSubtype="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par>
                                <p:cTn id="26" presetID="10" presetClass="entr" presetSubtype="0"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1" animBg="1"/>
      <p:bldP spid="9" grpId="1" animBg="1"/>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87F6D-5881-2040-A37C-01E24A7458EA}"/>
              </a:ext>
            </a:extLst>
          </p:cNvPr>
          <p:cNvSpPr>
            <a:spLocks noGrp="1"/>
          </p:cNvSpPr>
          <p:nvPr>
            <p:ph type="title"/>
          </p:nvPr>
        </p:nvSpPr>
        <p:spPr>
          <a:xfrm>
            <a:off x="0" y="228600"/>
            <a:ext cx="12192000" cy="1143000"/>
          </a:xfrm>
        </p:spPr>
        <p:txBody>
          <a:bodyPr/>
          <a:lstStyle/>
          <a:p>
            <a:r>
              <a:rPr lang="en-US" sz="3600" dirty="0"/>
              <a:t>Rank Sum Test: </a:t>
            </a:r>
            <a:br>
              <a:rPr lang="en-US" sz="3600" dirty="0"/>
            </a:br>
            <a:r>
              <a:rPr lang="en-US" sz="3600" dirty="0"/>
              <a:t>Here is the Outcome of the Experiment that we ran!</a:t>
            </a:r>
          </a:p>
        </p:txBody>
      </p:sp>
      <p:pic>
        <p:nvPicPr>
          <p:cNvPr id="4" name="Picture 3">
            <a:extLst>
              <a:ext uri="{FF2B5EF4-FFF2-40B4-BE49-F238E27FC236}">
                <a16:creationId xmlns:a16="http://schemas.microsoft.com/office/drawing/2014/main" id="{BE430EA9-4352-0046-870B-1C84C640F6A0}"/>
              </a:ext>
            </a:extLst>
          </p:cNvPr>
          <p:cNvPicPr>
            <a:picLocks noChangeAspect="1"/>
          </p:cNvPicPr>
          <p:nvPr/>
        </p:nvPicPr>
        <p:blipFill>
          <a:blip r:embed="rId2"/>
          <a:stretch>
            <a:fillRect/>
          </a:stretch>
        </p:blipFill>
        <p:spPr>
          <a:xfrm>
            <a:off x="1219200" y="1600200"/>
            <a:ext cx="3276600" cy="4567382"/>
          </a:xfrm>
          <a:prstGeom prst="rect">
            <a:avLst/>
          </a:prstGeom>
        </p:spPr>
      </p:pic>
      <p:sp>
        <p:nvSpPr>
          <p:cNvPr id="5" name="Rectangle 4">
            <a:extLst>
              <a:ext uri="{FF2B5EF4-FFF2-40B4-BE49-F238E27FC236}">
                <a16:creationId xmlns:a16="http://schemas.microsoft.com/office/drawing/2014/main" id="{FCC42237-EF03-AB4E-B437-54B38A80FE89}"/>
              </a:ext>
            </a:extLst>
          </p:cNvPr>
          <p:cNvSpPr/>
          <p:nvPr/>
        </p:nvSpPr>
        <p:spPr>
          <a:xfrm>
            <a:off x="1219200" y="2961120"/>
            <a:ext cx="3215640" cy="294121"/>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6" name="Rectangle 5">
            <a:extLst>
              <a:ext uri="{FF2B5EF4-FFF2-40B4-BE49-F238E27FC236}">
                <a16:creationId xmlns:a16="http://schemas.microsoft.com/office/drawing/2014/main" id="{E9858DF0-7089-A444-B596-EF7640D0ED9A}"/>
              </a:ext>
            </a:extLst>
          </p:cNvPr>
          <p:cNvSpPr/>
          <p:nvPr/>
        </p:nvSpPr>
        <p:spPr>
          <a:xfrm>
            <a:off x="1234440" y="3781021"/>
            <a:ext cx="3215640" cy="1296901"/>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7" name="Rectangle 6">
            <a:extLst>
              <a:ext uri="{FF2B5EF4-FFF2-40B4-BE49-F238E27FC236}">
                <a16:creationId xmlns:a16="http://schemas.microsoft.com/office/drawing/2014/main" id="{A3253052-5B46-D443-BE91-402AC4B9619C}"/>
              </a:ext>
            </a:extLst>
          </p:cNvPr>
          <p:cNvSpPr/>
          <p:nvPr/>
        </p:nvSpPr>
        <p:spPr>
          <a:xfrm>
            <a:off x="1219200" y="5334692"/>
            <a:ext cx="3215640" cy="832889"/>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8" name="TextBox 7">
            <a:extLst>
              <a:ext uri="{FF2B5EF4-FFF2-40B4-BE49-F238E27FC236}">
                <a16:creationId xmlns:a16="http://schemas.microsoft.com/office/drawing/2014/main" id="{1AF7E56A-02F1-A34F-B642-28257EA946CE}"/>
              </a:ext>
            </a:extLst>
          </p:cNvPr>
          <p:cNvSpPr txBox="1"/>
          <p:nvPr/>
        </p:nvSpPr>
        <p:spPr>
          <a:xfrm>
            <a:off x="5452110" y="3243031"/>
            <a:ext cx="6248400" cy="369332"/>
          </a:xfrm>
          <a:prstGeom prst="rect">
            <a:avLst/>
          </a:prstGeom>
          <a:noFill/>
          <a:ln w="38100">
            <a:solidFill>
              <a:srgbClr val="FF0000"/>
            </a:solidFill>
          </a:ln>
        </p:spPr>
        <p:txBody>
          <a:bodyPr wrap="square" rtlCol="0">
            <a:spAutoFit/>
          </a:bodyPr>
          <a:lstStyle/>
          <a:p>
            <a:r>
              <a:rPr lang="en-US" dirty="0"/>
              <a:t>Sum of the L ranks: 5+8+9+1-+11+12+14+15+16 = 100</a:t>
            </a:r>
          </a:p>
        </p:txBody>
      </p:sp>
      <p:sp>
        <p:nvSpPr>
          <p:cNvPr id="10" name="Rectangle 9">
            <a:extLst>
              <a:ext uri="{FF2B5EF4-FFF2-40B4-BE49-F238E27FC236}">
                <a16:creationId xmlns:a16="http://schemas.microsoft.com/office/drawing/2014/main" id="{2ACFE4D7-EA79-0E49-BB1F-6316798D8DFC}"/>
              </a:ext>
            </a:extLst>
          </p:cNvPr>
          <p:cNvSpPr/>
          <p:nvPr/>
        </p:nvSpPr>
        <p:spPr>
          <a:xfrm>
            <a:off x="1219200" y="1905000"/>
            <a:ext cx="3215640" cy="1066800"/>
          </a:xfrm>
          <a:prstGeom prst="rect">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11" name="Rectangle 10">
            <a:extLst>
              <a:ext uri="{FF2B5EF4-FFF2-40B4-BE49-F238E27FC236}">
                <a16:creationId xmlns:a16="http://schemas.microsoft.com/office/drawing/2014/main" id="{34266B4B-26B3-B34E-BC0D-DD4AFE8B38EB}"/>
              </a:ext>
            </a:extLst>
          </p:cNvPr>
          <p:cNvSpPr/>
          <p:nvPr/>
        </p:nvSpPr>
        <p:spPr>
          <a:xfrm>
            <a:off x="1249680" y="3255241"/>
            <a:ext cx="3215640" cy="478559"/>
          </a:xfrm>
          <a:prstGeom prst="rect">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12" name="Rectangle 11">
            <a:extLst>
              <a:ext uri="{FF2B5EF4-FFF2-40B4-BE49-F238E27FC236}">
                <a16:creationId xmlns:a16="http://schemas.microsoft.com/office/drawing/2014/main" id="{9B88A3BB-9E1F-7943-801D-87C7791D380D}"/>
              </a:ext>
            </a:extLst>
          </p:cNvPr>
          <p:cNvSpPr/>
          <p:nvPr/>
        </p:nvSpPr>
        <p:spPr>
          <a:xfrm>
            <a:off x="1219200" y="5100782"/>
            <a:ext cx="3215640" cy="248458"/>
          </a:xfrm>
          <a:prstGeom prst="rect">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13" name="TextBox 12">
            <a:extLst>
              <a:ext uri="{FF2B5EF4-FFF2-40B4-BE49-F238E27FC236}">
                <a16:creationId xmlns:a16="http://schemas.microsoft.com/office/drawing/2014/main" id="{9698A125-F7AC-B941-AEBA-9DF54181F88F}"/>
              </a:ext>
            </a:extLst>
          </p:cNvPr>
          <p:cNvSpPr txBox="1"/>
          <p:nvPr/>
        </p:nvSpPr>
        <p:spPr>
          <a:xfrm>
            <a:off x="6214110" y="4110134"/>
            <a:ext cx="4724400" cy="369332"/>
          </a:xfrm>
          <a:prstGeom prst="rect">
            <a:avLst/>
          </a:prstGeom>
          <a:noFill/>
          <a:ln w="38100">
            <a:solidFill>
              <a:srgbClr val="00B0F0"/>
            </a:solidFill>
          </a:ln>
        </p:spPr>
        <p:txBody>
          <a:bodyPr wrap="square" rtlCol="0">
            <a:spAutoFit/>
          </a:bodyPr>
          <a:lstStyle/>
          <a:p>
            <a:r>
              <a:rPr lang="en-US" dirty="0"/>
              <a:t>Sum of the U ranks: 1+2+3+4+6+7+13 = 36</a:t>
            </a:r>
          </a:p>
        </p:txBody>
      </p:sp>
    </p:spTree>
    <p:extLst>
      <p:ext uri="{BB962C8B-B14F-4D97-AF65-F5344CB8AC3E}">
        <p14:creationId xmlns:p14="http://schemas.microsoft.com/office/powerpoint/2010/main" val="3373236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xit" presetSubtype="0" fill="hold" grpId="1" nodeType="withEffect">
                                  <p:stCondLst>
                                    <p:cond delay="0"/>
                                  </p:stCondLst>
                                  <p:childTnLst>
                                    <p:animEffect transition="out" filter="fade">
                                      <p:cBhvr>
                                        <p:cTn id="32" dur="500"/>
                                        <p:tgtEl>
                                          <p:spTgt spid="5"/>
                                        </p:tgtEl>
                                      </p:cBhvr>
                                    </p:animEffect>
                                    <p:set>
                                      <p:cBhvr>
                                        <p:cTn id="33" dur="1" fill="hold">
                                          <p:stCondLst>
                                            <p:cond delay="499"/>
                                          </p:stCondLst>
                                        </p:cTn>
                                        <p:tgtEl>
                                          <p:spTgt spid="5"/>
                                        </p:tgtEl>
                                        <p:attrNameLst>
                                          <p:attrName>style.visibility</p:attrName>
                                        </p:attrNameLst>
                                      </p:cBhvr>
                                      <p:to>
                                        <p:strVal val="hidden"/>
                                      </p:to>
                                    </p:set>
                                  </p:childTnLst>
                                </p:cTn>
                              </p:par>
                              <p:par>
                                <p:cTn id="34" presetID="10" presetClass="exit" presetSubtype="0" fill="hold" grpId="1" nodeType="withEffect">
                                  <p:stCondLst>
                                    <p:cond delay="0"/>
                                  </p:stCondLst>
                                  <p:childTnLst>
                                    <p:animEffect transition="out" filter="fade">
                                      <p:cBhvr>
                                        <p:cTn id="35" dur="500"/>
                                        <p:tgtEl>
                                          <p:spTgt spid="6"/>
                                        </p:tgtEl>
                                      </p:cBhvr>
                                    </p:animEffect>
                                    <p:set>
                                      <p:cBhvr>
                                        <p:cTn id="36" dur="1" fill="hold">
                                          <p:stCondLst>
                                            <p:cond delay="499"/>
                                          </p:stCondLst>
                                        </p:cTn>
                                        <p:tgtEl>
                                          <p:spTgt spid="6"/>
                                        </p:tgtEl>
                                        <p:attrNameLst>
                                          <p:attrName>style.visibility</p:attrName>
                                        </p:attrNameLst>
                                      </p:cBhvr>
                                      <p:to>
                                        <p:strVal val="hidden"/>
                                      </p:to>
                                    </p:set>
                                  </p:childTnLst>
                                </p:cTn>
                              </p:par>
                              <p:par>
                                <p:cTn id="37" presetID="10" presetClass="exit" presetSubtype="0" fill="hold" grpId="1" nodeType="withEffect">
                                  <p:stCondLst>
                                    <p:cond delay="0"/>
                                  </p:stCondLst>
                                  <p:childTnLst>
                                    <p:animEffect transition="out" filter="fade">
                                      <p:cBhvr>
                                        <p:cTn id="38" dur="500"/>
                                        <p:tgtEl>
                                          <p:spTgt spid="8"/>
                                        </p:tgtEl>
                                      </p:cBhvr>
                                    </p:animEffect>
                                    <p:set>
                                      <p:cBhvr>
                                        <p:cTn id="39" dur="1" fill="hold">
                                          <p:stCondLst>
                                            <p:cond delay="499"/>
                                          </p:stCondLst>
                                        </p:cTn>
                                        <p:tgtEl>
                                          <p:spTgt spid="8"/>
                                        </p:tgtEl>
                                        <p:attrNameLst>
                                          <p:attrName>style.visibility</p:attrName>
                                        </p:attrNameLst>
                                      </p:cBhvr>
                                      <p:to>
                                        <p:strVal val="hidden"/>
                                      </p:to>
                                    </p:set>
                                  </p:childTnLst>
                                </p:cTn>
                              </p:par>
                              <p:par>
                                <p:cTn id="40" presetID="10" presetClass="exit" presetSubtype="0" fill="hold" grpId="1" nodeType="withEffect">
                                  <p:stCondLst>
                                    <p:cond delay="0"/>
                                  </p:stCondLst>
                                  <p:childTnLst>
                                    <p:animEffect transition="out" filter="fade">
                                      <p:cBhvr>
                                        <p:cTn id="41" dur="500"/>
                                        <p:tgtEl>
                                          <p:spTgt spid="7"/>
                                        </p:tgtEl>
                                      </p:cBhvr>
                                    </p:animEffect>
                                    <p:set>
                                      <p:cBhvr>
                                        <p:cTn id="42" dur="1" fill="hold">
                                          <p:stCondLst>
                                            <p:cond delay="499"/>
                                          </p:stCondLst>
                                        </p:cTn>
                                        <p:tgtEl>
                                          <p:spTgt spid="7"/>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2" nodeType="click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fade">
                                      <p:cBhvr>
                                        <p:cTn id="47" dur="500"/>
                                        <p:tgtEl>
                                          <p:spTgt spid="5"/>
                                        </p:tgtEl>
                                      </p:cBhvr>
                                    </p:animEffect>
                                  </p:childTnLst>
                                </p:cTn>
                              </p:par>
                              <p:par>
                                <p:cTn id="48" presetID="10" presetClass="entr" presetSubtype="0" fill="hold" grpId="2" nodeType="withEffect">
                                  <p:stCondLst>
                                    <p:cond delay="0"/>
                                  </p:stCondLst>
                                  <p:childTnLst>
                                    <p:set>
                                      <p:cBhvr>
                                        <p:cTn id="49" dur="1" fill="hold">
                                          <p:stCondLst>
                                            <p:cond delay="0"/>
                                          </p:stCondLst>
                                        </p:cTn>
                                        <p:tgtEl>
                                          <p:spTgt spid="6"/>
                                        </p:tgtEl>
                                        <p:attrNameLst>
                                          <p:attrName>style.visibility</p:attrName>
                                        </p:attrNameLst>
                                      </p:cBhvr>
                                      <p:to>
                                        <p:strVal val="visible"/>
                                      </p:to>
                                    </p:set>
                                    <p:animEffect transition="in" filter="fade">
                                      <p:cBhvr>
                                        <p:cTn id="50" dur="500"/>
                                        <p:tgtEl>
                                          <p:spTgt spid="6"/>
                                        </p:tgtEl>
                                      </p:cBhvr>
                                    </p:animEffect>
                                  </p:childTnLst>
                                </p:cTn>
                              </p:par>
                              <p:par>
                                <p:cTn id="51" presetID="10" presetClass="entr" presetSubtype="0" fill="hold" grpId="2" nodeType="withEffect">
                                  <p:stCondLst>
                                    <p:cond delay="0"/>
                                  </p:stCondLst>
                                  <p:childTnLst>
                                    <p:set>
                                      <p:cBhvr>
                                        <p:cTn id="52" dur="1" fill="hold">
                                          <p:stCondLst>
                                            <p:cond delay="0"/>
                                          </p:stCondLst>
                                        </p:cTn>
                                        <p:tgtEl>
                                          <p:spTgt spid="7"/>
                                        </p:tgtEl>
                                        <p:attrNameLst>
                                          <p:attrName>style.visibility</p:attrName>
                                        </p:attrNameLst>
                                      </p:cBhvr>
                                      <p:to>
                                        <p:strVal val="visible"/>
                                      </p:to>
                                    </p:set>
                                    <p:animEffect transition="in" filter="fade">
                                      <p:cBhvr>
                                        <p:cTn id="53" dur="500"/>
                                        <p:tgtEl>
                                          <p:spTgt spid="7"/>
                                        </p:tgtEl>
                                      </p:cBhvr>
                                    </p:animEffect>
                                  </p:childTnLst>
                                </p:cTn>
                              </p:par>
                              <p:par>
                                <p:cTn id="54" presetID="10" presetClass="entr" presetSubtype="0" fill="hold" grpId="2" nodeType="withEffect">
                                  <p:stCondLst>
                                    <p:cond delay="0"/>
                                  </p:stCondLst>
                                  <p:childTnLst>
                                    <p:set>
                                      <p:cBhvr>
                                        <p:cTn id="55" dur="1" fill="hold">
                                          <p:stCondLst>
                                            <p:cond delay="0"/>
                                          </p:stCondLst>
                                        </p:cTn>
                                        <p:tgtEl>
                                          <p:spTgt spid="8"/>
                                        </p:tgtEl>
                                        <p:attrNameLst>
                                          <p:attrName>style.visibility</p:attrName>
                                        </p:attrNameLst>
                                      </p:cBhvr>
                                      <p:to>
                                        <p:strVal val="visible"/>
                                      </p:to>
                                    </p:set>
                                    <p:animEffect transition="in" filter="fade">
                                      <p:cBhvr>
                                        <p:cTn id="5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5" grpId="2" animBg="1"/>
      <p:bldP spid="6" grpId="0" animBg="1"/>
      <p:bldP spid="6" grpId="1" animBg="1"/>
      <p:bldP spid="6" grpId="2" animBg="1"/>
      <p:bldP spid="7" grpId="0" animBg="1"/>
      <p:bldP spid="7" grpId="1" animBg="1"/>
      <p:bldP spid="7" grpId="2" animBg="1"/>
      <p:bldP spid="8" grpId="0" animBg="1"/>
      <p:bldP spid="8" grpId="1" animBg="1"/>
      <p:bldP spid="8" grpId="2" animBg="1"/>
      <p:bldP spid="10" grpId="0" animBg="1"/>
      <p:bldP spid="11" grpId="0" animBg="1"/>
      <p:bldP spid="12" grpId="0" animBg="1"/>
      <p:bldP spid="1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87F6D-5881-2040-A37C-01E24A7458EA}"/>
              </a:ext>
            </a:extLst>
          </p:cNvPr>
          <p:cNvSpPr>
            <a:spLocks noGrp="1"/>
          </p:cNvSpPr>
          <p:nvPr>
            <p:ph type="title"/>
          </p:nvPr>
        </p:nvSpPr>
        <p:spPr>
          <a:xfrm>
            <a:off x="0" y="228600"/>
            <a:ext cx="12192000" cy="1143000"/>
          </a:xfrm>
        </p:spPr>
        <p:txBody>
          <a:bodyPr/>
          <a:lstStyle/>
          <a:p>
            <a:r>
              <a:rPr lang="en-US" sz="3600"/>
              <a:t>Rank Sum Test: </a:t>
            </a:r>
            <a:br>
              <a:rPr lang="en-US" sz="3600"/>
            </a:br>
            <a:r>
              <a:rPr lang="en-US" sz="3600"/>
              <a:t>Strategy</a:t>
            </a:r>
            <a:endParaRPr lang="en-US" sz="3600" dirty="0"/>
          </a:p>
        </p:txBody>
      </p:sp>
      <p:sp>
        <p:nvSpPr>
          <p:cNvPr id="17" name="TextBox 16">
            <a:extLst>
              <a:ext uri="{FF2B5EF4-FFF2-40B4-BE49-F238E27FC236}">
                <a16:creationId xmlns:a16="http://schemas.microsoft.com/office/drawing/2014/main" id="{E874CEEB-5A28-684B-AB0D-53E778518AB8}"/>
              </a:ext>
            </a:extLst>
          </p:cNvPr>
          <p:cNvSpPr txBox="1"/>
          <p:nvPr/>
        </p:nvSpPr>
        <p:spPr>
          <a:xfrm>
            <a:off x="6477000" y="1755396"/>
            <a:ext cx="4114800" cy="369332"/>
          </a:xfrm>
          <a:prstGeom prst="rect">
            <a:avLst/>
          </a:prstGeom>
          <a:noFill/>
        </p:spPr>
        <p:txBody>
          <a:bodyPr wrap="square" rtlCol="0">
            <a:spAutoFit/>
          </a:bodyPr>
          <a:lstStyle/>
          <a:p>
            <a:r>
              <a:rPr lang="en-US" dirty="0"/>
              <a:t>2. Evidence</a:t>
            </a:r>
          </a:p>
        </p:txBody>
      </p:sp>
      <p:sp>
        <p:nvSpPr>
          <p:cNvPr id="18" name="TextBox 17">
            <a:extLst>
              <a:ext uri="{FF2B5EF4-FFF2-40B4-BE49-F238E27FC236}">
                <a16:creationId xmlns:a16="http://schemas.microsoft.com/office/drawing/2014/main" id="{3DC28C0B-2742-9D43-BB24-D0BCE58CE903}"/>
              </a:ext>
            </a:extLst>
          </p:cNvPr>
          <p:cNvSpPr txBox="1"/>
          <p:nvPr/>
        </p:nvSpPr>
        <p:spPr>
          <a:xfrm>
            <a:off x="457200" y="1755396"/>
            <a:ext cx="4114800" cy="369332"/>
          </a:xfrm>
          <a:prstGeom prst="rect">
            <a:avLst/>
          </a:prstGeom>
          <a:noFill/>
        </p:spPr>
        <p:txBody>
          <a:bodyPr wrap="square" rtlCol="0">
            <a:spAutoFit/>
          </a:bodyPr>
          <a:lstStyle/>
          <a:p>
            <a:r>
              <a:rPr lang="en-US" dirty="0"/>
              <a:t>1. Assume the Medians are the same</a:t>
            </a:r>
          </a:p>
        </p:txBody>
      </p:sp>
      <p:sp>
        <p:nvSpPr>
          <p:cNvPr id="19" name="TextBox 18">
            <a:extLst>
              <a:ext uri="{FF2B5EF4-FFF2-40B4-BE49-F238E27FC236}">
                <a16:creationId xmlns:a16="http://schemas.microsoft.com/office/drawing/2014/main" id="{A0DC03DC-8515-8046-84B5-38D2AE5664B8}"/>
              </a:ext>
            </a:extLst>
          </p:cNvPr>
          <p:cNvSpPr txBox="1"/>
          <p:nvPr/>
        </p:nvSpPr>
        <p:spPr>
          <a:xfrm>
            <a:off x="346554" y="4876800"/>
            <a:ext cx="4682645" cy="1754326"/>
          </a:xfrm>
          <a:prstGeom prst="rect">
            <a:avLst/>
          </a:prstGeom>
          <a:noFill/>
        </p:spPr>
        <p:txBody>
          <a:bodyPr wrap="square" rtlCol="0">
            <a:spAutoFit/>
          </a:bodyPr>
          <a:lstStyle/>
          <a:p>
            <a:r>
              <a:rPr lang="en-US" dirty="0"/>
              <a:t>3. Probability</a:t>
            </a:r>
          </a:p>
          <a:p>
            <a:endParaRPr lang="en-US" dirty="0"/>
          </a:p>
          <a:p>
            <a:r>
              <a:rPr lang="en-US" dirty="0"/>
              <a:t>What is the probability that the sum of the ranks of the </a:t>
            </a:r>
            <a:r>
              <a:rPr lang="en-US" dirty="0" err="1"/>
              <a:t>UnLogged</a:t>
            </a:r>
            <a:r>
              <a:rPr lang="en-US" dirty="0"/>
              <a:t> plots would be 36 or less if the distributions were the same and we could thus scramble the labels.  </a:t>
            </a:r>
          </a:p>
        </p:txBody>
      </p:sp>
      <p:sp>
        <p:nvSpPr>
          <p:cNvPr id="20" name="TextBox 19">
            <a:extLst>
              <a:ext uri="{FF2B5EF4-FFF2-40B4-BE49-F238E27FC236}">
                <a16:creationId xmlns:a16="http://schemas.microsoft.com/office/drawing/2014/main" id="{030FFAA3-3B8D-7744-9F87-C75CC3D989CD}"/>
              </a:ext>
            </a:extLst>
          </p:cNvPr>
          <p:cNvSpPr txBox="1"/>
          <p:nvPr/>
        </p:nvSpPr>
        <p:spPr>
          <a:xfrm>
            <a:off x="5943600" y="4876800"/>
            <a:ext cx="4114800" cy="923330"/>
          </a:xfrm>
          <a:prstGeom prst="rect">
            <a:avLst/>
          </a:prstGeom>
          <a:noFill/>
        </p:spPr>
        <p:txBody>
          <a:bodyPr wrap="square" rtlCol="0">
            <a:spAutoFit/>
          </a:bodyPr>
          <a:lstStyle/>
          <a:p>
            <a:r>
              <a:rPr lang="en-US" dirty="0"/>
              <a:t>4. Decision  / Conclusion</a:t>
            </a:r>
          </a:p>
          <a:p>
            <a:endParaRPr lang="en-US" dirty="0"/>
          </a:p>
          <a:p>
            <a:r>
              <a:rPr lang="en-US" dirty="0"/>
              <a:t>Let’s find out!</a:t>
            </a:r>
          </a:p>
        </p:txBody>
      </p:sp>
      <p:sp>
        <p:nvSpPr>
          <p:cNvPr id="21" name="TextBox 20">
            <a:extLst>
              <a:ext uri="{FF2B5EF4-FFF2-40B4-BE49-F238E27FC236}">
                <a16:creationId xmlns:a16="http://schemas.microsoft.com/office/drawing/2014/main" id="{DF26691F-D0FF-A548-8FDD-9D436BEA7AB6}"/>
              </a:ext>
            </a:extLst>
          </p:cNvPr>
          <p:cNvSpPr txBox="1"/>
          <p:nvPr/>
        </p:nvSpPr>
        <p:spPr>
          <a:xfrm>
            <a:off x="308610" y="4569023"/>
            <a:ext cx="4724399" cy="307777"/>
          </a:xfrm>
          <a:prstGeom prst="rect">
            <a:avLst/>
          </a:prstGeom>
          <a:noFill/>
        </p:spPr>
        <p:txBody>
          <a:bodyPr wrap="square" rtlCol="0">
            <a:spAutoFit/>
          </a:bodyPr>
          <a:lstStyle/>
          <a:p>
            <a:r>
              <a:rPr lang="en-US" sz="1400" i="1" dirty="0"/>
              <a:t>If the are then the above results would not be surprising.</a:t>
            </a:r>
          </a:p>
        </p:txBody>
      </p:sp>
      <p:pic>
        <p:nvPicPr>
          <p:cNvPr id="4" name="Picture 3">
            <a:extLst>
              <a:ext uri="{FF2B5EF4-FFF2-40B4-BE49-F238E27FC236}">
                <a16:creationId xmlns:a16="http://schemas.microsoft.com/office/drawing/2014/main" id="{D3E5B5B9-4087-0FC5-DB5B-638DFED2783B}"/>
              </a:ext>
            </a:extLst>
          </p:cNvPr>
          <p:cNvPicPr>
            <a:picLocks noChangeAspect="1"/>
          </p:cNvPicPr>
          <p:nvPr/>
        </p:nvPicPr>
        <p:blipFill>
          <a:blip r:embed="rId2"/>
          <a:stretch>
            <a:fillRect/>
          </a:stretch>
        </p:blipFill>
        <p:spPr>
          <a:xfrm>
            <a:off x="230347" y="2288977"/>
            <a:ext cx="4915057" cy="2074244"/>
          </a:xfrm>
          <a:prstGeom prst="rect">
            <a:avLst/>
          </a:prstGeom>
        </p:spPr>
      </p:pic>
      <p:pic>
        <p:nvPicPr>
          <p:cNvPr id="5" name="Picture 4">
            <a:extLst>
              <a:ext uri="{FF2B5EF4-FFF2-40B4-BE49-F238E27FC236}">
                <a16:creationId xmlns:a16="http://schemas.microsoft.com/office/drawing/2014/main" id="{95400002-0A30-A24A-3322-042B85921A25}"/>
              </a:ext>
            </a:extLst>
          </p:cNvPr>
          <p:cNvPicPr>
            <a:picLocks noChangeAspect="1"/>
          </p:cNvPicPr>
          <p:nvPr/>
        </p:nvPicPr>
        <p:blipFill>
          <a:blip r:embed="rId3"/>
          <a:stretch>
            <a:fillRect/>
          </a:stretch>
        </p:blipFill>
        <p:spPr>
          <a:xfrm>
            <a:off x="5638800" y="2163108"/>
            <a:ext cx="5581729" cy="2531783"/>
          </a:xfrm>
          <a:prstGeom prst="rect">
            <a:avLst/>
          </a:prstGeom>
        </p:spPr>
      </p:pic>
    </p:spTree>
    <p:extLst>
      <p:ext uri="{BB962C8B-B14F-4D97-AF65-F5344CB8AC3E}">
        <p14:creationId xmlns:p14="http://schemas.microsoft.com/office/powerpoint/2010/main" val="2609166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1"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0" grpId="0"/>
      <p:bldP spid="21"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F448E-3ED5-4947-A972-5B415E17DAAD}"/>
              </a:ext>
            </a:extLst>
          </p:cNvPr>
          <p:cNvSpPr>
            <a:spLocks noGrp="1"/>
          </p:cNvSpPr>
          <p:nvPr>
            <p:ph type="title"/>
          </p:nvPr>
        </p:nvSpPr>
        <p:spPr/>
        <p:txBody>
          <a:bodyPr/>
          <a:lstStyle/>
          <a:p>
            <a:r>
              <a:rPr lang="en-US" dirty="0"/>
              <a:t>6 Step Rank Sum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3A6B92C-6C89-A744-BF2A-100DBBD70555}"/>
                  </a:ext>
                </a:extLst>
              </p:cNvPr>
              <p:cNvSpPr>
                <a:spLocks noGrp="1"/>
              </p:cNvSpPr>
              <p:nvPr>
                <p:ph idx="1"/>
              </p:nvPr>
            </p:nvSpPr>
            <p:spPr>
              <a:xfrm>
                <a:off x="152400" y="1371600"/>
                <a:ext cx="8153400" cy="4525963"/>
              </a:xfrm>
            </p:spPr>
            <p:txBody>
              <a:bodyPr/>
              <a:lstStyle/>
              <a:p>
                <a:r>
                  <a:rPr lang="en-US" sz="1600" b="1" dirty="0"/>
                  <a:t>Step 1 - Hypotheses:</a:t>
                </a:r>
                <a:endParaRPr lang="en-US" sz="1600" dirty="0"/>
              </a:p>
              <a:p>
                <a14:m>
                  <m:oMath xmlns:m="http://schemas.openxmlformats.org/officeDocument/2006/math">
                    <m:sSub>
                      <m:sSubPr>
                        <m:ctrlPr>
                          <a:rPr lang="en-US" sz="1600" b="1" i="1">
                            <a:latin typeface="Cambria Math" panose="02040503050406030204" pitchFamily="18" charset="0"/>
                          </a:rPr>
                        </m:ctrlPr>
                      </m:sSubPr>
                      <m:e>
                        <m:r>
                          <a:rPr lang="en-US" sz="1600" b="1" i="1">
                            <a:latin typeface="Cambria Math" panose="02040503050406030204" pitchFamily="18" charset="0"/>
                          </a:rPr>
                          <m:t>𝑯</m:t>
                        </m:r>
                      </m:e>
                      <m:sub>
                        <m:r>
                          <a:rPr lang="en-US" sz="1600" b="1" i="1">
                            <a:latin typeface="Cambria Math" panose="02040503050406030204" pitchFamily="18" charset="0"/>
                          </a:rPr>
                          <m:t>𝒐</m:t>
                        </m:r>
                      </m:sub>
                    </m:sSub>
                    <m:r>
                      <a:rPr lang="en-US" sz="1600" i="1">
                        <a:latin typeface="Cambria Math" panose="02040503050406030204" pitchFamily="18" charset="0"/>
                      </a:rPr>
                      <m:t>:</m:t>
                    </m:r>
                  </m:oMath>
                </a14:m>
                <a:r>
                  <a:rPr lang="en-US" sz="1600" b="1" dirty="0"/>
                  <a:t> The median of the percent of lost seedlings in the logged plots is equal to that of the unlogged plots.  </a:t>
                </a:r>
                <a:r>
                  <a:rPr lang="en-US" sz="1600" b="1" dirty="0" err="1"/>
                  <a:t>Median_U</a:t>
                </a:r>
                <a:r>
                  <a:rPr lang="en-US" sz="1600" b="1" dirty="0"/>
                  <a:t> = </a:t>
                </a:r>
                <a:r>
                  <a:rPr lang="en-US" sz="1600" b="1" dirty="0" err="1"/>
                  <a:t>Median_L</a:t>
                </a:r>
                <a:br>
                  <a:rPr lang="en-US" sz="1600" dirty="0"/>
                </a:br>
                <a14:m>
                  <m:oMath xmlns:m="http://schemas.openxmlformats.org/officeDocument/2006/math">
                    <m:sSub>
                      <m:sSubPr>
                        <m:ctrlPr>
                          <a:rPr lang="en-US" sz="1600" b="1" i="1">
                            <a:latin typeface="Cambria Math" panose="02040503050406030204" pitchFamily="18" charset="0"/>
                          </a:rPr>
                        </m:ctrlPr>
                      </m:sSubPr>
                      <m:e>
                        <m:r>
                          <a:rPr lang="en-US" sz="1600" b="1" i="1">
                            <a:latin typeface="Cambria Math" panose="02040503050406030204" pitchFamily="18" charset="0"/>
                          </a:rPr>
                          <m:t>𝑯</m:t>
                        </m:r>
                      </m:e>
                      <m:sub>
                        <m:r>
                          <a:rPr lang="en-US" sz="1600" b="1" i="1">
                            <a:latin typeface="Cambria Math" panose="02040503050406030204" pitchFamily="18" charset="0"/>
                          </a:rPr>
                          <m:t>𝒂</m:t>
                        </m:r>
                      </m:sub>
                    </m:sSub>
                    <m:r>
                      <a:rPr lang="en-US" sz="1600" i="1">
                        <a:latin typeface="Cambria Math" panose="02040503050406030204" pitchFamily="18" charset="0"/>
                      </a:rPr>
                      <m:t>:</m:t>
                    </m:r>
                  </m:oMath>
                </a14:m>
                <a:r>
                  <a:rPr lang="en-US" sz="1600" b="1" dirty="0"/>
                  <a:t> The median of the percent of lost seedlings in the logged plots is more than that of the unlogged plots. </a:t>
                </a:r>
                <a:r>
                  <a:rPr lang="en-US" sz="1600" b="1" dirty="0" err="1"/>
                  <a:t>Median_U</a:t>
                </a:r>
                <a:r>
                  <a:rPr lang="en-US" sz="1600" b="1" dirty="0"/>
                  <a:t> &lt; </a:t>
                </a:r>
                <a:r>
                  <a:rPr lang="en-US" sz="1600" b="1" dirty="0" err="1"/>
                  <a:t>Median_L</a:t>
                </a:r>
                <a:endParaRPr lang="en-US" sz="1600" dirty="0"/>
              </a:p>
              <a:p>
                <a:r>
                  <a:rPr lang="en-US" sz="1600" b="1" dirty="0"/>
                  <a:t>Step 2 - Identification of Critical Value: critical value for Normal approximation (you may leave this out if you used “Exact” p-values) </a:t>
                </a:r>
                <a14:m>
                  <m:oMath xmlns:m="http://schemas.openxmlformats.org/officeDocument/2006/math">
                    <m:r>
                      <a:rPr lang="en-US" sz="1600" i="1">
                        <a:latin typeface="Cambria Math" panose="02040503050406030204" pitchFamily="18" charset="0"/>
                      </a:rPr>
                      <m:t>−1.645</m:t>
                    </m:r>
                  </m:oMath>
                </a14:m>
                <a:r>
                  <a:rPr lang="en-US" sz="1600" b="1" dirty="0"/>
                  <a:t> (1-sided, </a:t>
                </a:r>
                <a14:m>
                  <m:oMath xmlns:m="http://schemas.openxmlformats.org/officeDocument/2006/math">
                    <m:r>
                      <a:rPr lang="en-US" sz="1600" i="1">
                        <a:latin typeface="Cambria Math" panose="02040503050406030204" pitchFamily="18" charset="0"/>
                      </a:rPr>
                      <m:t>𝛼</m:t>
                    </m:r>
                    <m:r>
                      <a:rPr lang="en-US" sz="1600" i="1">
                        <a:latin typeface="Cambria Math" panose="02040503050406030204" pitchFamily="18" charset="0"/>
                      </a:rPr>
                      <m:t>=0.05</m:t>
                    </m:r>
                  </m:oMath>
                </a14:m>
                <a:r>
                  <a:rPr lang="en-US" sz="1600" b="1" dirty="0"/>
                  <a:t>)</a:t>
                </a:r>
                <a:endParaRPr lang="en-US" sz="1600" dirty="0"/>
              </a:p>
              <a:p>
                <a:r>
                  <a:rPr lang="en-US" sz="1600" b="1" dirty="0"/>
                  <a:t>Step 3 - Value of Test Statistic: </a:t>
                </a:r>
                <a14:m>
                  <m:oMath xmlns:m="http://schemas.openxmlformats.org/officeDocument/2006/math">
                    <m:r>
                      <a:rPr lang="en-US" sz="1600" i="1">
                        <a:latin typeface="Cambria Math" panose="02040503050406030204" pitchFamily="18" charset="0"/>
                      </a:rPr>
                      <m:t>𝑧</m:t>
                    </m:r>
                    <m:r>
                      <a:rPr lang="en-US" sz="1600" i="1">
                        <a:latin typeface="Cambria Math" panose="02040503050406030204" pitchFamily="18" charset="0"/>
                      </a:rPr>
                      <m:t>=−2.4346</m:t>
                    </m:r>
                  </m:oMath>
                </a14:m>
                <a:endParaRPr lang="en-US" sz="1600" dirty="0"/>
              </a:p>
              <a:p>
                <a:r>
                  <a:rPr lang="en-US" sz="1600" b="1" dirty="0"/>
                  <a:t>Step 4 - Give p-value: </a:t>
                </a:r>
                <a14:m>
                  <m:oMath xmlns:m="http://schemas.openxmlformats.org/officeDocument/2006/math">
                    <m:r>
                      <a:rPr lang="en-US" sz="1600" i="1">
                        <a:latin typeface="Cambria Math" panose="02040503050406030204" pitchFamily="18" charset="0"/>
                      </a:rPr>
                      <m:t>𝑝</m:t>
                    </m:r>
                    <m:r>
                      <a:rPr lang="en-US" sz="1600" i="1">
                        <a:latin typeface="Cambria Math" panose="02040503050406030204" pitchFamily="18" charset="0"/>
                      </a:rPr>
                      <m:t>=0.0075</m:t>
                    </m:r>
                  </m:oMath>
                </a14:m>
                <a:r>
                  <a:rPr lang="en-US" sz="1600" b="1" dirty="0"/>
                  <a:t> (1-sided)</a:t>
                </a:r>
                <a:endParaRPr lang="en-US" sz="1600" dirty="0"/>
              </a:p>
              <a:p>
                <a:r>
                  <a:rPr lang="en-US" sz="1600" b="1" dirty="0"/>
                  <a:t>Step 5 – Decision: Reject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𝐻</m:t>
                        </m:r>
                      </m:e>
                      <m:sub>
                        <m:r>
                          <a:rPr lang="en-US" sz="1600" i="1">
                            <a:latin typeface="Cambria Math" panose="02040503050406030204" pitchFamily="18" charset="0"/>
                          </a:rPr>
                          <m:t>𝑜</m:t>
                        </m:r>
                      </m:sub>
                    </m:sSub>
                  </m:oMath>
                </a14:m>
                <a:r>
                  <a:rPr lang="en-US" sz="1600" b="1" dirty="0"/>
                  <a:t> (assuming </a:t>
                </a:r>
                <a14:m>
                  <m:oMath xmlns:m="http://schemas.openxmlformats.org/officeDocument/2006/math">
                    <m:r>
                      <a:rPr lang="en-US" sz="1600" i="1">
                        <a:latin typeface="Cambria Math" panose="02040503050406030204" pitchFamily="18" charset="0"/>
                      </a:rPr>
                      <m:t>𝛼</m:t>
                    </m:r>
                    <m:r>
                      <a:rPr lang="en-US" sz="1600" i="1">
                        <a:latin typeface="Cambria Math" panose="02040503050406030204" pitchFamily="18" charset="0"/>
                      </a:rPr>
                      <m:t>=0.05</m:t>
                    </m:r>
                  </m:oMath>
                </a14:m>
                <a:r>
                  <a:rPr lang="en-US" sz="1600" b="1" dirty="0"/>
                  <a:t>)</a:t>
                </a:r>
              </a:p>
              <a:p>
                <a:r>
                  <a:rPr lang="en-US" sz="1600" b="1" dirty="0"/>
                  <a:t>Step 6 – Conclusion: There is strong evidence to suggest that the median of the percent seedlings lost in the logged plots is more than that of the unlogged plots (</a:t>
                </a:r>
                <a14:m>
                  <m:oMath xmlns:m="http://schemas.openxmlformats.org/officeDocument/2006/math">
                    <m:r>
                      <a:rPr lang="en-US" sz="1600" i="1">
                        <a:latin typeface="Cambria Math" panose="02040503050406030204" pitchFamily="18" charset="0"/>
                      </a:rPr>
                      <m:t>𝑝</m:t>
                    </m:r>
                    <m:r>
                      <a:rPr lang="en-US" sz="1600" i="1">
                        <a:latin typeface="Cambria Math" panose="02040503050406030204" pitchFamily="18" charset="0"/>
                      </a:rPr>
                      <m:t>=0.0075</m:t>
                    </m:r>
                  </m:oMath>
                </a14:m>
                <a:r>
                  <a:rPr lang="en-US" sz="1600" b="1" dirty="0"/>
                  <a:t> from a one-sided rank sum test). A 95% confidence interval for the increase in median percent seedlings lost in logged plots is </a:t>
                </a:r>
                <a14:m>
                  <m:oMath xmlns:m="http://schemas.openxmlformats.org/officeDocument/2006/math">
                    <m:r>
                      <a:rPr lang="en-US" sz="1600" i="1">
                        <a:latin typeface="Cambria Math" panose="02040503050406030204" pitchFamily="18" charset="0"/>
                      </a:rPr>
                      <m:t>[10.8,65.1]</m:t>
                    </m:r>
                  </m:oMath>
                </a14:m>
                <a:r>
                  <a:rPr lang="en-US" sz="1600" b="1" dirty="0"/>
                  <a:t>. Note that a 90% confidence interval </a:t>
                </a:r>
                <a14:m>
                  <m:oMath xmlns:m="http://schemas.openxmlformats.org/officeDocument/2006/math">
                    <m:d>
                      <m:dPr>
                        <m:begChr m:val="["/>
                        <m:endChr m:val="]"/>
                        <m:ctrlPr>
                          <a:rPr lang="en-US" sz="1600" i="1">
                            <a:latin typeface="Cambria Math" panose="02040503050406030204" pitchFamily="18" charset="0"/>
                          </a:rPr>
                        </m:ctrlPr>
                      </m:dPr>
                      <m:e>
                        <m:r>
                          <a:rPr lang="en-US" sz="1600" i="1">
                            <a:latin typeface="Cambria Math" panose="02040503050406030204" pitchFamily="18" charset="0"/>
                          </a:rPr>
                          <m:t>18.9,62.0</m:t>
                        </m:r>
                      </m:e>
                    </m:d>
                    <m:r>
                      <a:rPr lang="en-US" sz="1600" b="1" i="0" smtClean="0">
                        <a:latin typeface="Cambria Math" panose="02040503050406030204" pitchFamily="18" charset="0"/>
                      </a:rPr>
                      <m:t> </m:t>
                    </m:r>
                    <m:r>
                      <a:rPr lang="en-US" sz="1600" b="1" i="0" smtClean="0">
                        <a:latin typeface="Cambria Math" panose="02040503050406030204" pitchFamily="18" charset="0"/>
                      </a:rPr>
                      <m:t>𝐢𝐬</m:t>
                    </m:r>
                  </m:oMath>
                </a14:m>
                <a:r>
                  <a:rPr lang="en-US" sz="1600" b="1" dirty="0"/>
                  <a:t> more appropriate for a one-sided test with significance level </a:t>
                </a:r>
                <a14:m>
                  <m:oMath xmlns:m="http://schemas.openxmlformats.org/officeDocument/2006/math">
                    <m:r>
                      <a:rPr lang="en-US" sz="1600" i="1">
                        <a:latin typeface="Cambria Math" panose="02040503050406030204" pitchFamily="18" charset="0"/>
                      </a:rPr>
                      <m:t>𝛼</m:t>
                    </m:r>
                    <m:r>
                      <a:rPr lang="en-US" sz="1600" i="1">
                        <a:latin typeface="Cambria Math" panose="02040503050406030204" pitchFamily="18" charset="0"/>
                      </a:rPr>
                      <m:t>=0.05</m:t>
                    </m:r>
                  </m:oMath>
                </a14:m>
                <a:r>
                  <a:rPr lang="en-US" sz="1600" b="1" dirty="0"/>
                  <a:t>, so that the results of the hypothesis test and confidence intervals match up.</a:t>
                </a:r>
                <a:endParaRPr lang="en-US" sz="1600" dirty="0"/>
              </a:p>
              <a:p>
                <a:endParaRPr lang="en-US" sz="1600" dirty="0"/>
              </a:p>
              <a:p>
                <a:endParaRPr lang="en-US" sz="2400" dirty="0"/>
              </a:p>
              <a:p>
                <a:endParaRPr lang="en-US" sz="2400" dirty="0"/>
              </a:p>
            </p:txBody>
          </p:sp>
        </mc:Choice>
        <mc:Fallback xmlns="">
          <p:sp>
            <p:nvSpPr>
              <p:cNvPr id="3" name="Content Placeholder 2">
                <a:extLst>
                  <a:ext uri="{FF2B5EF4-FFF2-40B4-BE49-F238E27FC236}">
                    <a16:creationId xmlns:a16="http://schemas.microsoft.com/office/drawing/2014/main" id="{53A6B92C-6C89-A744-BF2A-100DBBD70555}"/>
                  </a:ext>
                </a:extLst>
              </p:cNvPr>
              <p:cNvSpPr>
                <a:spLocks noGrp="1" noRot="1" noChangeAspect="1" noMove="1" noResize="1" noEditPoints="1" noAdjustHandles="1" noChangeArrowheads="1" noChangeShapeType="1" noTextEdit="1"/>
              </p:cNvSpPr>
              <p:nvPr>
                <p:ph idx="1"/>
              </p:nvPr>
            </p:nvSpPr>
            <p:spPr>
              <a:xfrm>
                <a:off x="152400" y="1371600"/>
                <a:ext cx="8153400" cy="4525963"/>
              </a:xfrm>
              <a:blipFill>
                <a:blip r:embed="rId3"/>
                <a:stretch>
                  <a:fillRect l="-311" t="-560" r="-311" b="-5602"/>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F78E61D2-F702-DE49-AF2F-B434B56F1C59}"/>
              </a:ext>
            </a:extLst>
          </p:cNvPr>
          <p:cNvPicPr/>
          <p:nvPr/>
        </p:nvPicPr>
        <p:blipFill>
          <a:blip r:embed="rId4"/>
          <a:stretch>
            <a:fillRect/>
          </a:stretch>
        </p:blipFill>
        <p:spPr>
          <a:xfrm>
            <a:off x="8839200" y="1371600"/>
            <a:ext cx="2590800" cy="2590800"/>
          </a:xfrm>
          <a:prstGeom prst="rect">
            <a:avLst/>
          </a:prstGeom>
        </p:spPr>
      </p:pic>
      <p:sp>
        <p:nvSpPr>
          <p:cNvPr id="5" name="Rectangle 4">
            <a:extLst>
              <a:ext uri="{FF2B5EF4-FFF2-40B4-BE49-F238E27FC236}">
                <a16:creationId xmlns:a16="http://schemas.microsoft.com/office/drawing/2014/main" id="{6E3B2D59-BBD5-4046-A0B0-253C666D0478}"/>
              </a:ext>
            </a:extLst>
          </p:cNvPr>
          <p:cNvSpPr/>
          <p:nvPr/>
        </p:nvSpPr>
        <p:spPr>
          <a:xfrm>
            <a:off x="8322013" y="3817709"/>
            <a:ext cx="4191000" cy="2354491"/>
          </a:xfrm>
          <a:prstGeom prst="rect">
            <a:avLst/>
          </a:prstGeom>
        </p:spPr>
        <p:txBody>
          <a:bodyPr wrap="square">
            <a:spAutoFit/>
          </a:bodyPr>
          <a:lstStyle/>
          <a:p>
            <a:r>
              <a:rPr lang="en-US" sz="1050" dirty="0">
                <a:latin typeface="Cambria" panose="02040503050406030204" pitchFamily="18" charset="0"/>
                <a:ea typeface="Cambria" panose="02040503050406030204" pitchFamily="18" charset="0"/>
                <a:cs typeface="Times New Roman" panose="02020603050405020304" pitchFamily="18" charset="0"/>
              </a:rPr>
              <a:t>SAS:</a:t>
            </a:r>
          </a:p>
          <a:p>
            <a:r>
              <a:rPr lang="en-US" sz="1050" dirty="0">
                <a:latin typeface="Cambria" panose="02040503050406030204" pitchFamily="18" charset="0"/>
                <a:ea typeface="Cambria" panose="02040503050406030204" pitchFamily="18" charset="0"/>
                <a:cs typeface="Times New Roman" panose="02020603050405020304" pitchFamily="18" charset="0"/>
              </a:rPr>
              <a:t>*To compute rank sum test;</a:t>
            </a:r>
          </a:p>
          <a:p>
            <a:r>
              <a:rPr lang="en-US" sz="1050" dirty="0">
                <a:latin typeface="Cambria" panose="02040503050406030204" pitchFamily="18" charset="0"/>
                <a:ea typeface="Cambria" panose="02040503050406030204" pitchFamily="18" charset="0"/>
                <a:cs typeface="Times New Roman" panose="02020603050405020304" pitchFamily="18" charset="0"/>
              </a:rPr>
              <a:t>proc npar1way data = </a:t>
            </a:r>
            <a:r>
              <a:rPr lang="en-US" sz="1050" dirty="0" err="1">
                <a:latin typeface="Cambria" panose="02040503050406030204" pitchFamily="18" charset="0"/>
                <a:ea typeface="Cambria" panose="02040503050406030204" pitchFamily="18" charset="0"/>
                <a:cs typeface="Times New Roman" panose="02020603050405020304" pitchFamily="18" charset="0"/>
              </a:rPr>
              <a:t>loggingdata</a:t>
            </a:r>
            <a:r>
              <a:rPr lang="en-US" sz="1050" dirty="0">
                <a:latin typeface="Cambria" panose="02040503050406030204" pitchFamily="18" charset="0"/>
                <a:ea typeface="Cambria" panose="02040503050406030204" pitchFamily="18" charset="0"/>
                <a:cs typeface="Times New Roman" panose="02020603050405020304" pitchFamily="18" charset="0"/>
              </a:rPr>
              <a:t> </a:t>
            </a:r>
            <a:r>
              <a:rPr lang="en-US" sz="1050" dirty="0" err="1">
                <a:latin typeface="Cambria" panose="02040503050406030204" pitchFamily="18" charset="0"/>
                <a:ea typeface="Cambria" panose="02040503050406030204" pitchFamily="18" charset="0"/>
                <a:cs typeface="Times New Roman" panose="02020603050405020304" pitchFamily="18" charset="0"/>
              </a:rPr>
              <a:t>wilcoxon</a:t>
            </a:r>
            <a:r>
              <a:rPr lang="en-US" sz="1050" dirty="0">
                <a:latin typeface="Cambria" panose="02040503050406030204" pitchFamily="18" charset="0"/>
                <a:ea typeface="Cambria" panose="02040503050406030204" pitchFamily="18" charset="0"/>
                <a:cs typeface="Times New Roman" panose="02020603050405020304" pitchFamily="18" charset="0"/>
              </a:rPr>
              <a:t>;</a:t>
            </a:r>
          </a:p>
          <a:p>
            <a:r>
              <a:rPr lang="en-US" sz="1050" dirty="0">
                <a:latin typeface="Cambria" panose="02040503050406030204" pitchFamily="18" charset="0"/>
                <a:ea typeface="Cambria" panose="02040503050406030204" pitchFamily="18" charset="0"/>
                <a:cs typeface="Times New Roman" panose="02020603050405020304" pitchFamily="18" charset="0"/>
              </a:rPr>
              <a:t>class Action;</a:t>
            </a:r>
          </a:p>
          <a:p>
            <a:r>
              <a:rPr lang="en-US" sz="1050" dirty="0">
                <a:latin typeface="Cambria" panose="02040503050406030204" pitchFamily="18" charset="0"/>
                <a:ea typeface="Cambria" panose="02040503050406030204" pitchFamily="18" charset="0"/>
                <a:cs typeface="Times New Roman" panose="02020603050405020304" pitchFamily="18" charset="0"/>
              </a:rPr>
              <a:t>var </a:t>
            </a:r>
            <a:r>
              <a:rPr lang="en-US" sz="1050" dirty="0" err="1">
                <a:latin typeface="Cambria" panose="02040503050406030204" pitchFamily="18" charset="0"/>
                <a:ea typeface="Cambria" panose="02040503050406030204" pitchFamily="18" charset="0"/>
                <a:cs typeface="Times New Roman" panose="02020603050405020304" pitchFamily="18" charset="0"/>
              </a:rPr>
              <a:t>PercentLost</a:t>
            </a:r>
            <a:r>
              <a:rPr lang="en-US" sz="1050" dirty="0">
                <a:latin typeface="Cambria" panose="02040503050406030204" pitchFamily="18" charset="0"/>
                <a:ea typeface="Cambria" panose="02040503050406030204" pitchFamily="18" charset="0"/>
                <a:cs typeface="Times New Roman" panose="02020603050405020304" pitchFamily="18" charset="0"/>
              </a:rPr>
              <a:t>;</a:t>
            </a:r>
          </a:p>
          <a:p>
            <a:r>
              <a:rPr lang="en-US" sz="1050" dirty="0">
                <a:latin typeface="Cambria" panose="02040503050406030204" pitchFamily="18" charset="0"/>
                <a:ea typeface="Cambria" panose="02040503050406030204" pitchFamily="18" charset="0"/>
                <a:cs typeface="Times New Roman" panose="02020603050405020304" pitchFamily="18" charset="0"/>
              </a:rPr>
              <a:t>exact HL Wilcoxon;</a:t>
            </a:r>
          </a:p>
          <a:p>
            <a:r>
              <a:rPr lang="en-US" sz="1050" dirty="0">
                <a:latin typeface="Cambria" panose="02040503050406030204" pitchFamily="18" charset="0"/>
                <a:ea typeface="Cambria" panose="02040503050406030204" pitchFamily="18" charset="0"/>
                <a:cs typeface="Times New Roman" panose="02020603050405020304" pitchFamily="18" charset="0"/>
              </a:rPr>
              <a:t>run;</a:t>
            </a:r>
          </a:p>
          <a:p>
            <a:endParaRPr lang="en-US" sz="600" dirty="0">
              <a:latin typeface="Cambria" panose="02040503050406030204" pitchFamily="18" charset="0"/>
              <a:ea typeface="Cambria" panose="02040503050406030204" pitchFamily="18" charset="0"/>
              <a:cs typeface="Times New Roman" panose="02020603050405020304" pitchFamily="18" charset="0"/>
            </a:endParaRPr>
          </a:p>
          <a:p>
            <a:pPr lvl="0" eaLnBrk="0" fontAlgn="base" hangingPunct="0">
              <a:spcBef>
                <a:spcPct val="0"/>
              </a:spcBef>
              <a:spcAft>
                <a:spcPct val="0"/>
              </a:spcAft>
            </a:pPr>
            <a:r>
              <a:rPr lang="en-US" altLang="en-US" sz="1050" dirty="0">
                <a:latin typeface="Cambria" panose="02040503050406030204" pitchFamily="18" charset="0"/>
                <a:ea typeface="Cambria" panose="02040503050406030204" pitchFamily="18" charset="0"/>
                <a:cs typeface="Times New Roman" panose="02020603050405020304" pitchFamily="18" charset="0"/>
              </a:rPr>
              <a:t>proc npar1way data = </a:t>
            </a:r>
            <a:r>
              <a:rPr lang="en-US" altLang="en-US" sz="1050" dirty="0" err="1">
                <a:latin typeface="Cambria" panose="02040503050406030204" pitchFamily="18" charset="0"/>
                <a:ea typeface="Cambria" panose="02040503050406030204" pitchFamily="18" charset="0"/>
                <a:cs typeface="Times New Roman" panose="02020603050405020304" pitchFamily="18" charset="0"/>
              </a:rPr>
              <a:t>loggingdata</a:t>
            </a:r>
            <a:r>
              <a:rPr lang="en-US" altLang="en-US" sz="1050" dirty="0">
                <a:latin typeface="Cambria" panose="02040503050406030204" pitchFamily="18" charset="0"/>
                <a:ea typeface="Cambria" panose="02040503050406030204" pitchFamily="18" charset="0"/>
                <a:cs typeface="Times New Roman" panose="02020603050405020304" pitchFamily="18" charset="0"/>
              </a:rPr>
              <a:t> </a:t>
            </a:r>
            <a:r>
              <a:rPr lang="en-US" altLang="en-US" sz="1050" dirty="0" err="1">
                <a:latin typeface="Cambria" panose="02040503050406030204" pitchFamily="18" charset="0"/>
                <a:ea typeface="Cambria" panose="02040503050406030204" pitchFamily="18" charset="0"/>
                <a:cs typeface="Times New Roman" panose="02020603050405020304" pitchFamily="18" charset="0"/>
              </a:rPr>
              <a:t>wilcoxon</a:t>
            </a:r>
            <a:r>
              <a:rPr lang="en-US" altLang="en-US" sz="1050" dirty="0">
                <a:latin typeface="Cambria" panose="02040503050406030204" pitchFamily="18" charset="0"/>
                <a:ea typeface="Cambria" panose="02040503050406030204" pitchFamily="18" charset="0"/>
                <a:cs typeface="Times New Roman" panose="02020603050405020304" pitchFamily="18" charset="0"/>
              </a:rPr>
              <a:t> alpha = 0.1;</a:t>
            </a:r>
            <a:endParaRPr lang="en-US" altLang="en-US" sz="800" dirty="0"/>
          </a:p>
          <a:p>
            <a:pPr lvl="0" eaLnBrk="0" fontAlgn="base" hangingPunct="0">
              <a:spcBef>
                <a:spcPct val="0"/>
              </a:spcBef>
              <a:spcAft>
                <a:spcPct val="0"/>
              </a:spcAft>
            </a:pPr>
            <a:r>
              <a:rPr lang="en-US" altLang="en-US" sz="1050" dirty="0">
                <a:latin typeface="Cambria" panose="02040503050406030204" pitchFamily="18" charset="0"/>
                <a:ea typeface="Cambria" panose="02040503050406030204" pitchFamily="18" charset="0"/>
                <a:cs typeface="Times New Roman" panose="02020603050405020304" pitchFamily="18" charset="0"/>
              </a:rPr>
              <a:t>class Action;</a:t>
            </a:r>
            <a:endParaRPr lang="en-US" altLang="en-US" sz="800" dirty="0"/>
          </a:p>
          <a:p>
            <a:pPr lvl="0" eaLnBrk="0" fontAlgn="base" hangingPunct="0">
              <a:spcBef>
                <a:spcPct val="0"/>
              </a:spcBef>
              <a:spcAft>
                <a:spcPct val="0"/>
              </a:spcAft>
            </a:pPr>
            <a:r>
              <a:rPr lang="en-US" altLang="en-US" sz="1050" dirty="0">
                <a:latin typeface="Cambria" panose="02040503050406030204" pitchFamily="18" charset="0"/>
                <a:ea typeface="Cambria" panose="02040503050406030204" pitchFamily="18" charset="0"/>
                <a:cs typeface="Times New Roman" panose="02020603050405020304" pitchFamily="18" charset="0"/>
              </a:rPr>
              <a:t>var </a:t>
            </a:r>
            <a:r>
              <a:rPr lang="en-US" altLang="en-US" sz="1050" dirty="0" err="1">
                <a:latin typeface="Cambria" panose="02040503050406030204" pitchFamily="18" charset="0"/>
                <a:ea typeface="Cambria" panose="02040503050406030204" pitchFamily="18" charset="0"/>
                <a:cs typeface="Times New Roman" panose="02020603050405020304" pitchFamily="18" charset="0"/>
              </a:rPr>
              <a:t>PercentLost</a:t>
            </a:r>
            <a:r>
              <a:rPr lang="en-US" altLang="en-US" sz="1050" dirty="0">
                <a:latin typeface="Cambria" panose="02040503050406030204" pitchFamily="18" charset="0"/>
                <a:ea typeface="Cambria" panose="02040503050406030204" pitchFamily="18" charset="0"/>
                <a:cs typeface="Times New Roman" panose="02020603050405020304" pitchFamily="18" charset="0"/>
              </a:rPr>
              <a:t>;</a:t>
            </a:r>
            <a:endParaRPr lang="en-US" altLang="en-US" sz="800" dirty="0"/>
          </a:p>
          <a:p>
            <a:pPr lvl="0" eaLnBrk="0" fontAlgn="base" hangingPunct="0">
              <a:spcBef>
                <a:spcPct val="0"/>
              </a:spcBef>
              <a:spcAft>
                <a:spcPct val="0"/>
              </a:spcAft>
            </a:pPr>
            <a:r>
              <a:rPr lang="en-US" altLang="en-US" sz="1050" dirty="0">
                <a:latin typeface="Cambria" panose="02040503050406030204" pitchFamily="18" charset="0"/>
                <a:ea typeface="Cambria" panose="02040503050406030204" pitchFamily="18" charset="0"/>
                <a:cs typeface="Times New Roman" panose="02020603050405020304" pitchFamily="18" charset="0"/>
              </a:rPr>
              <a:t>exact HL Wilcoxon;</a:t>
            </a:r>
            <a:endParaRPr lang="en-US" altLang="en-US" sz="800" dirty="0"/>
          </a:p>
          <a:p>
            <a:pPr lvl="0" eaLnBrk="0" fontAlgn="base" hangingPunct="0">
              <a:spcBef>
                <a:spcPct val="0"/>
              </a:spcBef>
              <a:spcAft>
                <a:spcPct val="0"/>
              </a:spcAft>
            </a:pPr>
            <a:r>
              <a:rPr lang="en-US" altLang="en-US" sz="1050" dirty="0">
                <a:latin typeface="Cambria" panose="02040503050406030204" pitchFamily="18" charset="0"/>
                <a:ea typeface="Cambria" panose="02040503050406030204" pitchFamily="18" charset="0"/>
                <a:cs typeface="Times New Roman" panose="02020603050405020304" pitchFamily="18" charset="0"/>
              </a:rPr>
              <a:t>run;</a:t>
            </a:r>
            <a:endParaRPr lang="en-US" altLang="en-US" sz="800" dirty="0"/>
          </a:p>
          <a:p>
            <a:endParaRPr lang="en-US" sz="1050" dirty="0">
              <a:latin typeface="Cambria" panose="02040503050406030204" pitchFamily="18" charset="0"/>
              <a:ea typeface="Cambria" panose="02040503050406030204" pitchFamily="18" charset="0"/>
              <a:cs typeface="Times New Roman" panose="02020603050405020304" pitchFamily="18" charset="0"/>
            </a:endParaRPr>
          </a:p>
        </p:txBody>
      </p:sp>
      <p:pic>
        <p:nvPicPr>
          <p:cNvPr id="1025" name="Picture 28">
            <a:extLst>
              <a:ext uri="{FF2B5EF4-FFF2-40B4-BE49-F238E27FC236}">
                <a16:creationId xmlns:a16="http://schemas.microsoft.com/office/drawing/2014/main" id="{949BA0FA-89A0-7444-8CB8-555C9C3F8AC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68269" y="5785149"/>
            <a:ext cx="2838450" cy="768051"/>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816BF4DD-C042-3249-ACBA-8445C4D489BC}"/>
              </a:ext>
            </a:extLst>
          </p:cNvPr>
          <p:cNvSpPr/>
          <p:nvPr/>
        </p:nvSpPr>
        <p:spPr>
          <a:xfrm>
            <a:off x="5029200" y="6553200"/>
            <a:ext cx="7162800" cy="430887"/>
          </a:xfrm>
          <a:prstGeom prst="rect">
            <a:avLst/>
          </a:prstGeom>
        </p:spPr>
        <p:txBody>
          <a:bodyPr wrap="square">
            <a:spAutoFit/>
          </a:bodyPr>
          <a:lstStyle/>
          <a:p>
            <a:r>
              <a:rPr lang="en-US" sz="1100" dirty="0"/>
              <a:t>Proc npar1way reference:  </a:t>
            </a:r>
            <a:r>
              <a:rPr lang="en-US" sz="1100" dirty="0">
                <a:hlinkClick r:id="rId6"/>
              </a:rPr>
              <a:t>https://support.sas.com/documentation/onlinedoc/stat/142/npar1way.pdf</a:t>
            </a:r>
            <a:r>
              <a:rPr lang="en-US" sz="1100" dirty="0"/>
              <a:t>  page 6776</a:t>
            </a:r>
          </a:p>
          <a:p>
            <a:endParaRPr lang="en-US" sz="1100" dirty="0"/>
          </a:p>
        </p:txBody>
      </p:sp>
      <p:cxnSp>
        <p:nvCxnSpPr>
          <p:cNvPr id="8" name="Straight Arrow Connector 7">
            <a:extLst>
              <a:ext uri="{FF2B5EF4-FFF2-40B4-BE49-F238E27FC236}">
                <a16:creationId xmlns:a16="http://schemas.microsoft.com/office/drawing/2014/main" id="{8EE81884-207D-5CC9-AEBA-B941876D9695}"/>
              </a:ext>
            </a:extLst>
          </p:cNvPr>
          <p:cNvCxnSpPr/>
          <p:nvPr/>
        </p:nvCxnSpPr>
        <p:spPr>
          <a:xfrm flipH="1">
            <a:off x="4800600" y="2743200"/>
            <a:ext cx="5562600" cy="685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4077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fade">
                                      <p:cBhvr>
                                        <p:cTn id="42" dur="500"/>
                                        <p:tgtEl>
                                          <p:spTgt spid="4"/>
                                        </p:tgtEl>
                                      </p:cBhvr>
                                    </p:animEffect>
                                  </p:childTnLst>
                                </p:cTn>
                              </p:par>
                              <p:par>
                                <p:cTn id="43" presetID="10" presetClass="entr" presetSubtype="0" fill="hold" nodeType="withEffect">
                                  <p:stCondLst>
                                    <p:cond delay="0"/>
                                  </p:stCondLst>
                                  <p:childTnLst>
                                    <p:set>
                                      <p:cBhvr>
                                        <p:cTn id="44" dur="1" fill="hold">
                                          <p:stCondLst>
                                            <p:cond delay="0"/>
                                          </p:stCondLst>
                                        </p:cTn>
                                        <p:tgtEl>
                                          <p:spTgt spid="5">
                                            <p:txEl>
                                              <p:pRg st="0" end="0"/>
                                            </p:txEl>
                                          </p:spTgt>
                                        </p:tgtEl>
                                        <p:attrNameLst>
                                          <p:attrName>style.visibility</p:attrName>
                                        </p:attrNameLst>
                                      </p:cBhvr>
                                      <p:to>
                                        <p:strVal val="visible"/>
                                      </p:to>
                                    </p:set>
                                    <p:animEffect transition="in" filter="fade">
                                      <p:cBhvr>
                                        <p:cTn id="45" dur="500"/>
                                        <p:tgtEl>
                                          <p:spTgt spid="5">
                                            <p:txEl>
                                              <p:pRg st="0" end="0"/>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5">
                                            <p:txEl>
                                              <p:pRg st="1" end="1"/>
                                            </p:txEl>
                                          </p:spTgt>
                                        </p:tgtEl>
                                        <p:attrNameLst>
                                          <p:attrName>style.visibility</p:attrName>
                                        </p:attrNameLst>
                                      </p:cBhvr>
                                      <p:to>
                                        <p:strVal val="visible"/>
                                      </p:to>
                                    </p:set>
                                    <p:animEffect transition="in" filter="fade">
                                      <p:cBhvr>
                                        <p:cTn id="48" dur="500"/>
                                        <p:tgtEl>
                                          <p:spTgt spid="5">
                                            <p:txEl>
                                              <p:pRg st="1" end="1"/>
                                            </p:txEl>
                                          </p:spTgt>
                                        </p:tgtEl>
                                      </p:cBhvr>
                                    </p:animEffect>
                                  </p:childTnLst>
                                </p:cTn>
                              </p:par>
                              <p:par>
                                <p:cTn id="49" presetID="10" presetClass="entr" presetSubtype="0" fill="hold" nodeType="withEffect">
                                  <p:stCondLst>
                                    <p:cond delay="0"/>
                                  </p:stCondLst>
                                  <p:childTnLst>
                                    <p:set>
                                      <p:cBhvr>
                                        <p:cTn id="50" dur="1" fill="hold">
                                          <p:stCondLst>
                                            <p:cond delay="0"/>
                                          </p:stCondLst>
                                        </p:cTn>
                                        <p:tgtEl>
                                          <p:spTgt spid="5">
                                            <p:txEl>
                                              <p:pRg st="2" end="2"/>
                                            </p:txEl>
                                          </p:spTgt>
                                        </p:tgtEl>
                                        <p:attrNameLst>
                                          <p:attrName>style.visibility</p:attrName>
                                        </p:attrNameLst>
                                      </p:cBhvr>
                                      <p:to>
                                        <p:strVal val="visible"/>
                                      </p:to>
                                    </p:set>
                                    <p:animEffect transition="in" filter="fade">
                                      <p:cBhvr>
                                        <p:cTn id="51" dur="500"/>
                                        <p:tgtEl>
                                          <p:spTgt spid="5">
                                            <p:txEl>
                                              <p:pRg st="2" end="2"/>
                                            </p:txEl>
                                          </p:spTgt>
                                        </p:tgtEl>
                                      </p:cBhvr>
                                    </p:animEffect>
                                  </p:childTnLst>
                                </p:cTn>
                              </p:par>
                              <p:par>
                                <p:cTn id="52" presetID="10" presetClass="entr" presetSubtype="0" fill="hold" nodeType="withEffect">
                                  <p:stCondLst>
                                    <p:cond delay="0"/>
                                  </p:stCondLst>
                                  <p:childTnLst>
                                    <p:set>
                                      <p:cBhvr>
                                        <p:cTn id="53" dur="1" fill="hold">
                                          <p:stCondLst>
                                            <p:cond delay="0"/>
                                          </p:stCondLst>
                                        </p:cTn>
                                        <p:tgtEl>
                                          <p:spTgt spid="5">
                                            <p:txEl>
                                              <p:pRg st="3" end="3"/>
                                            </p:txEl>
                                          </p:spTgt>
                                        </p:tgtEl>
                                        <p:attrNameLst>
                                          <p:attrName>style.visibility</p:attrName>
                                        </p:attrNameLst>
                                      </p:cBhvr>
                                      <p:to>
                                        <p:strVal val="visible"/>
                                      </p:to>
                                    </p:set>
                                    <p:animEffect transition="in" filter="fade">
                                      <p:cBhvr>
                                        <p:cTn id="54" dur="500"/>
                                        <p:tgtEl>
                                          <p:spTgt spid="5">
                                            <p:txEl>
                                              <p:pRg st="3" end="3"/>
                                            </p:txEl>
                                          </p:spTgt>
                                        </p:tgtEl>
                                      </p:cBhvr>
                                    </p:animEffect>
                                  </p:childTnLst>
                                </p:cTn>
                              </p:par>
                              <p:par>
                                <p:cTn id="55" presetID="10" presetClass="entr" presetSubtype="0" fill="hold" nodeType="withEffect">
                                  <p:stCondLst>
                                    <p:cond delay="0"/>
                                  </p:stCondLst>
                                  <p:childTnLst>
                                    <p:set>
                                      <p:cBhvr>
                                        <p:cTn id="56" dur="1" fill="hold">
                                          <p:stCondLst>
                                            <p:cond delay="0"/>
                                          </p:stCondLst>
                                        </p:cTn>
                                        <p:tgtEl>
                                          <p:spTgt spid="5">
                                            <p:txEl>
                                              <p:pRg st="4" end="4"/>
                                            </p:txEl>
                                          </p:spTgt>
                                        </p:tgtEl>
                                        <p:attrNameLst>
                                          <p:attrName>style.visibility</p:attrName>
                                        </p:attrNameLst>
                                      </p:cBhvr>
                                      <p:to>
                                        <p:strVal val="visible"/>
                                      </p:to>
                                    </p:set>
                                    <p:animEffect transition="in" filter="fade">
                                      <p:cBhvr>
                                        <p:cTn id="57" dur="500"/>
                                        <p:tgtEl>
                                          <p:spTgt spid="5">
                                            <p:txEl>
                                              <p:pRg st="4" end="4"/>
                                            </p:txEl>
                                          </p:spTgt>
                                        </p:tgtEl>
                                      </p:cBhvr>
                                    </p:animEffect>
                                  </p:childTnLst>
                                </p:cTn>
                              </p:par>
                              <p:par>
                                <p:cTn id="58" presetID="10" presetClass="entr" presetSubtype="0" fill="hold" nodeType="withEffect">
                                  <p:stCondLst>
                                    <p:cond delay="0"/>
                                  </p:stCondLst>
                                  <p:childTnLst>
                                    <p:set>
                                      <p:cBhvr>
                                        <p:cTn id="59" dur="1" fill="hold">
                                          <p:stCondLst>
                                            <p:cond delay="0"/>
                                          </p:stCondLst>
                                        </p:cTn>
                                        <p:tgtEl>
                                          <p:spTgt spid="5">
                                            <p:txEl>
                                              <p:pRg st="5" end="5"/>
                                            </p:txEl>
                                          </p:spTgt>
                                        </p:tgtEl>
                                        <p:attrNameLst>
                                          <p:attrName>style.visibility</p:attrName>
                                        </p:attrNameLst>
                                      </p:cBhvr>
                                      <p:to>
                                        <p:strVal val="visible"/>
                                      </p:to>
                                    </p:set>
                                    <p:animEffect transition="in" filter="fade">
                                      <p:cBhvr>
                                        <p:cTn id="60" dur="500"/>
                                        <p:tgtEl>
                                          <p:spTgt spid="5">
                                            <p:txEl>
                                              <p:pRg st="5" end="5"/>
                                            </p:txEl>
                                          </p:spTgt>
                                        </p:tgtEl>
                                      </p:cBhvr>
                                    </p:animEffect>
                                  </p:childTnLst>
                                </p:cTn>
                              </p:par>
                              <p:par>
                                <p:cTn id="61" presetID="10" presetClass="entr" presetSubtype="0" fill="hold" nodeType="withEffect">
                                  <p:stCondLst>
                                    <p:cond delay="0"/>
                                  </p:stCondLst>
                                  <p:childTnLst>
                                    <p:set>
                                      <p:cBhvr>
                                        <p:cTn id="62" dur="1" fill="hold">
                                          <p:stCondLst>
                                            <p:cond delay="0"/>
                                          </p:stCondLst>
                                        </p:cTn>
                                        <p:tgtEl>
                                          <p:spTgt spid="5">
                                            <p:txEl>
                                              <p:pRg st="6" end="6"/>
                                            </p:txEl>
                                          </p:spTgt>
                                        </p:tgtEl>
                                        <p:attrNameLst>
                                          <p:attrName>style.visibility</p:attrName>
                                        </p:attrNameLst>
                                      </p:cBhvr>
                                      <p:to>
                                        <p:strVal val="visible"/>
                                      </p:to>
                                    </p:set>
                                    <p:animEffect transition="in" filter="fade">
                                      <p:cBhvr>
                                        <p:cTn id="63" dur="500"/>
                                        <p:tgtEl>
                                          <p:spTgt spid="5">
                                            <p:txEl>
                                              <p:pRg st="6" end="6"/>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8"/>
                                        </p:tgtEl>
                                        <p:attrNameLst>
                                          <p:attrName>style.visibility</p:attrName>
                                        </p:attrNameLst>
                                      </p:cBhvr>
                                      <p:to>
                                        <p:strVal val="visible"/>
                                      </p:to>
                                    </p:set>
                                    <p:animEffect transition="in" filter="fade">
                                      <p:cBhvr>
                                        <p:cTn id="68" dur="500"/>
                                        <p:tgtEl>
                                          <p:spTgt spid="8"/>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5">
                                            <p:txEl>
                                              <p:pRg st="8" end="8"/>
                                            </p:txEl>
                                          </p:spTgt>
                                        </p:tgtEl>
                                        <p:attrNameLst>
                                          <p:attrName>style.visibility</p:attrName>
                                        </p:attrNameLst>
                                      </p:cBhvr>
                                      <p:to>
                                        <p:strVal val="visible"/>
                                      </p:to>
                                    </p:set>
                                    <p:animEffect transition="in" filter="fade">
                                      <p:cBhvr>
                                        <p:cTn id="73" dur="500"/>
                                        <p:tgtEl>
                                          <p:spTgt spid="5">
                                            <p:txEl>
                                              <p:pRg st="8" end="8"/>
                                            </p:txEl>
                                          </p:spTgt>
                                        </p:tgtEl>
                                      </p:cBhvr>
                                    </p:animEffect>
                                  </p:childTnLst>
                                </p:cTn>
                              </p:par>
                              <p:par>
                                <p:cTn id="74" presetID="10" presetClass="entr" presetSubtype="0" fill="hold" nodeType="withEffect">
                                  <p:stCondLst>
                                    <p:cond delay="0"/>
                                  </p:stCondLst>
                                  <p:childTnLst>
                                    <p:set>
                                      <p:cBhvr>
                                        <p:cTn id="75" dur="1" fill="hold">
                                          <p:stCondLst>
                                            <p:cond delay="0"/>
                                          </p:stCondLst>
                                        </p:cTn>
                                        <p:tgtEl>
                                          <p:spTgt spid="5">
                                            <p:txEl>
                                              <p:pRg st="9" end="9"/>
                                            </p:txEl>
                                          </p:spTgt>
                                        </p:tgtEl>
                                        <p:attrNameLst>
                                          <p:attrName>style.visibility</p:attrName>
                                        </p:attrNameLst>
                                      </p:cBhvr>
                                      <p:to>
                                        <p:strVal val="visible"/>
                                      </p:to>
                                    </p:set>
                                    <p:animEffect transition="in" filter="fade">
                                      <p:cBhvr>
                                        <p:cTn id="76" dur="500"/>
                                        <p:tgtEl>
                                          <p:spTgt spid="5">
                                            <p:txEl>
                                              <p:pRg st="9" end="9"/>
                                            </p:txEl>
                                          </p:spTgt>
                                        </p:tgtEl>
                                      </p:cBhvr>
                                    </p:animEffect>
                                  </p:childTnLst>
                                </p:cTn>
                              </p:par>
                              <p:par>
                                <p:cTn id="77" presetID="10" presetClass="entr" presetSubtype="0" fill="hold" nodeType="withEffect">
                                  <p:stCondLst>
                                    <p:cond delay="0"/>
                                  </p:stCondLst>
                                  <p:childTnLst>
                                    <p:set>
                                      <p:cBhvr>
                                        <p:cTn id="78" dur="1" fill="hold">
                                          <p:stCondLst>
                                            <p:cond delay="0"/>
                                          </p:stCondLst>
                                        </p:cTn>
                                        <p:tgtEl>
                                          <p:spTgt spid="5">
                                            <p:txEl>
                                              <p:pRg st="10" end="10"/>
                                            </p:txEl>
                                          </p:spTgt>
                                        </p:tgtEl>
                                        <p:attrNameLst>
                                          <p:attrName>style.visibility</p:attrName>
                                        </p:attrNameLst>
                                      </p:cBhvr>
                                      <p:to>
                                        <p:strVal val="visible"/>
                                      </p:to>
                                    </p:set>
                                    <p:animEffect transition="in" filter="fade">
                                      <p:cBhvr>
                                        <p:cTn id="79" dur="500"/>
                                        <p:tgtEl>
                                          <p:spTgt spid="5">
                                            <p:txEl>
                                              <p:pRg st="10" end="10"/>
                                            </p:txEl>
                                          </p:spTgt>
                                        </p:tgtEl>
                                      </p:cBhvr>
                                    </p:animEffect>
                                  </p:childTnLst>
                                </p:cTn>
                              </p:par>
                              <p:par>
                                <p:cTn id="80" presetID="10" presetClass="entr" presetSubtype="0" fill="hold" nodeType="withEffect">
                                  <p:stCondLst>
                                    <p:cond delay="0"/>
                                  </p:stCondLst>
                                  <p:childTnLst>
                                    <p:set>
                                      <p:cBhvr>
                                        <p:cTn id="81" dur="1" fill="hold">
                                          <p:stCondLst>
                                            <p:cond delay="0"/>
                                          </p:stCondLst>
                                        </p:cTn>
                                        <p:tgtEl>
                                          <p:spTgt spid="5">
                                            <p:txEl>
                                              <p:pRg st="11" end="11"/>
                                            </p:txEl>
                                          </p:spTgt>
                                        </p:tgtEl>
                                        <p:attrNameLst>
                                          <p:attrName>style.visibility</p:attrName>
                                        </p:attrNameLst>
                                      </p:cBhvr>
                                      <p:to>
                                        <p:strVal val="visible"/>
                                      </p:to>
                                    </p:set>
                                    <p:animEffect transition="in" filter="fade">
                                      <p:cBhvr>
                                        <p:cTn id="82" dur="500"/>
                                        <p:tgtEl>
                                          <p:spTgt spid="5">
                                            <p:txEl>
                                              <p:pRg st="11" end="11"/>
                                            </p:txEl>
                                          </p:spTgt>
                                        </p:tgtEl>
                                      </p:cBhvr>
                                    </p:animEffect>
                                  </p:childTnLst>
                                </p:cTn>
                              </p:par>
                              <p:par>
                                <p:cTn id="83" presetID="10" presetClass="entr" presetSubtype="0" fill="hold" nodeType="withEffect">
                                  <p:stCondLst>
                                    <p:cond delay="0"/>
                                  </p:stCondLst>
                                  <p:childTnLst>
                                    <p:set>
                                      <p:cBhvr>
                                        <p:cTn id="84" dur="1" fill="hold">
                                          <p:stCondLst>
                                            <p:cond delay="0"/>
                                          </p:stCondLst>
                                        </p:cTn>
                                        <p:tgtEl>
                                          <p:spTgt spid="5">
                                            <p:txEl>
                                              <p:pRg st="12" end="12"/>
                                            </p:txEl>
                                          </p:spTgt>
                                        </p:tgtEl>
                                        <p:attrNameLst>
                                          <p:attrName>style.visibility</p:attrName>
                                        </p:attrNameLst>
                                      </p:cBhvr>
                                      <p:to>
                                        <p:strVal val="visible"/>
                                      </p:to>
                                    </p:set>
                                    <p:animEffect transition="in" filter="fade">
                                      <p:cBhvr>
                                        <p:cTn id="85" dur="500"/>
                                        <p:tgtEl>
                                          <p:spTgt spid="5">
                                            <p:txEl>
                                              <p:pRg st="12" end="12"/>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nodeType="clickEffect">
                                  <p:stCondLst>
                                    <p:cond delay="0"/>
                                  </p:stCondLst>
                                  <p:childTnLst>
                                    <p:set>
                                      <p:cBhvr>
                                        <p:cTn id="89" dur="1" fill="hold">
                                          <p:stCondLst>
                                            <p:cond delay="0"/>
                                          </p:stCondLst>
                                        </p:cTn>
                                        <p:tgtEl>
                                          <p:spTgt spid="1025"/>
                                        </p:tgtEl>
                                        <p:attrNameLst>
                                          <p:attrName>style.visibility</p:attrName>
                                        </p:attrNameLst>
                                      </p:cBhvr>
                                      <p:to>
                                        <p:strVal val="visible"/>
                                      </p:to>
                                    </p:set>
                                    <p:animEffect transition="in" filter="fade">
                                      <p:cBhvr>
                                        <p:cTn id="90" dur="500"/>
                                        <p:tgtEl>
                                          <p:spTgt spid="1025"/>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grpId="0" nodeType="clickEffect">
                                  <p:stCondLst>
                                    <p:cond delay="0"/>
                                  </p:stCondLst>
                                  <p:childTnLst>
                                    <p:set>
                                      <p:cBhvr>
                                        <p:cTn id="94" dur="1" fill="hold">
                                          <p:stCondLst>
                                            <p:cond delay="0"/>
                                          </p:stCondLst>
                                        </p:cTn>
                                        <p:tgtEl>
                                          <p:spTgt spid="6"/>
                                        </p:tgtEl>
                                        <p:attrNameLst>
                                          <p:attrName>style.visibility</p:attrName>
                                        </p:attrNameLst>
                                      </p:cBhvr>
                                      <p:to>
                                        <p:strVal val="visible"/>
                                      </p:to>
                                    </p:set>
                                    <p:animEffect transition="in" filter="fade">
                                      <p:cBhvr>
                                        <p:cTn id="9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E990A-4C4F-2343-B578-2A263BCF3484}"/>
              </a:ext>
            </a:extLst>
          </p:cNvPr>
          <p:cNvSpPr>
            <a:spLocks noGrp="1"/>
          </p:cNvSpPr>
          <p:nvPr>
            <p:ph type="title"/>
          </p:nvPr>
        </p:nvSpPr>
        <p:spPr/>
        <p:txBody>
          <a:bodyPr/>
          <a:lstStyle/>
          <a:p>
            <a:r>
              <a:rPr lang="en-US" dirty="0"/>
              <a:t>Scope of Inference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A04D3AC-42E1-EC42-BBA1-DD28B01442E5}"/>
                  </a:ext>
                </a:extLst>
              </p:cNvPr>
              <p:cNvSpPr>
                <a:spLocks noGrp="1"/>
              </p:cNvSpPr>
              <p:nvPr>
                <p:ph idx="1"/>
              </p:nvPr>
            </p:nvSpPr>
            <p:spPr/>
            <p:txBody>
              <a:bodyPr/>
              <a:lstStyle/>
              <a:p>
                <a:pPr marL="0" indent="0">
                  <a:buNone/>
                </a:pPr>
                <a:r>
                  <a:rPr lang="en-US" sz="1600" dirty="0"/>
                  <a:t>Conclusion: There is strong evidence to suggest that the distribution of the percent seedlings lost in the logged plots is more than that of the unlogged plots (</a:t>
                </a:r>
                <a14:m>
                  <m:oMath xmlns:m="http://schemas.openxmlformats.org/officeDocument/2006/math">
                    <m:r>
                      <a:rPr lang="en-US" sz="1600" b="0" i="1">
                        <a:latin typeface="Cambria Math" panose="02040503050406030204" pitchFamily="18" charset="0"/>
                      </a:rPr>
                      <m:t>𝑝</m:t>
                    </m:r>
                    <m:r>
                      <a:rPr lang="en-US" sz="1600" b="0" i="1">
                        <a:latin typeface="Cambria Math" panose="02040503050406030204" pitchFamily="18" charset="0"/>
                      </a:rPr>
                      <m:t>=0.0075</m:t>
                    </m:r>
                  </m:oMath>
                </a14:m>
                <a:r>
                  <a:rPr lang="en-US" sz="1600" dirty="0"/>
                  <a:t> from a one-sided rank sum test). A 95% confidence interval for the increase in median percent seedlings lost in logged plots is </a:t>
                </a:r>
                <a14:m>
                  <m:oMath xmlns:m="http://schemas.openxmlformats.org/officeDocument/2006/math">
                    <m:r>
                      <a:rPr lang="en-US" sz="1600" b="0" i="1">
                        <a:latin typeface="Cambria Math" panose="02040503050406030204" pitchFamily="18" charset="0"/>
                      </a:rPr>
                      <m:t>[10.8,65.1]</m:t>
                    </m:r>
                  </m:oMath>
                </a14:m>
                <a:r>
                  <a:rPr lang="en-US" sz="1600" dirty="0"/>
                  <a:t>. Note that a 90% confidence interval </a:t>
                </a:r>
                <a14:m>
                  <m:oMath xmlns:m="http://schemas.openxmlformats.org/officeDocument/2006/math">
                    <m:r>
                      <a:rPr lang="en-US" sz="1600" b="0" i="1">
                        <a:latin typeface="Cambria Math" panose="02040503050406030204" pitchFamily="18" charset="0"/>
                      </a:rPr>
                      <m:t>[18.9,62.0]</m:t>
                    </m:r>
                  </m:oMath>
                </a14:m>
                <a:r>
                  <a:rPr lang="en-US" sz="1600" dirty="0"/>
                  <a:t> may be more appropriate for a one-sided test with significance level </a:t>
                </a:r>
                <a14:m>
                  <m:oMath xmlns:m="http://schemas.openxmlformats.org/officeDocument/2006/math">
                    <m:r>
                      <a:rPr lang="en-US" sz="1600" b="0" i="1">
                        <a:latin typeface="Cambria Math" panose="02040503050406030204" pitchFamily="18" charset="0"/>
                      </a:rPr>
                      <m:t>𝛼</m:t>
                    </m:r>
                    <m:r>
                      <a:rPr lang="en-US" sz="1600" b="0" i="1">
                        <a:latin typeface="Cambria Math" panose="02040503050406030204" pitchFamily="18" charset="0"/>
                      </a:rPr>
                      <m:t>=0.05</m:t>
                    </m:r>
                  </m:oMath>
                </a14:m>
                <a:r>
                  <a:rPr lang="en-US" sz="1600" dirty="0"/>
                  <a:t>, so that the results of thy hypothesis test and confidence intervals match up.</a:t>
                </a:r>
                <a:br>
                  <a:rPr lang="en-US" sz="1600" dirty="0"/>
                </a:br>
                <a:endParaRPr lang="en-US" sz="1600" dirty="0"/>
              </a:p>
              <a:p>
                <a:pPr marL="0" indent="0">
                  <a:buNone/>
                </a:pPr>
                <a:r>
                  <a:rPr lang="en-US" sz="1600" b="1" dirty="0"/>
                  <a:t>Scope of inference: Since the plots were not randomized to receive either the logging or not logging treatment, no causation can be implied here. Since the transect patterns were randomly selected, this inference can be generalized to the 16 larger plots.</a:t>
                </a:r>
                <a:endParaRPr lang="en-US" sz="1600" dirty="0"/>
              </a:p>
              <a:p>
                <a:pPr marL="0" indent="0">
                  <a:buNone/>
                </a:pPr>
                <a:endParaRPr lang="en-US" sz="1600" b="1" dirty="0"/>
              </a:p>
              <a:p>
                <a:pPr marL="0" indent="0">
                  <a:buNone/>
                </a:pPr>
                <a:endParaRPr lang="en-US" sz="1600" b="1" dirty="0"/>
              </a:p>
              <a:p>
                <a:pPr marL="0" indent="0">
                  <a:buNone/>
                </a:pPr>
                <a:endParaRPr lang="en-US" sz="1600" dirty="0"/>
              </a:p>
              <a:p>
                <a:endParaRPr lang="en-US" dirty="0"/>
              </a:p>
            </p:txBody>
          </p:sp>
        </mc:Choice>
        <mc:Fallback xmlns="">
          <p:sp>
            <p:nvSpPr>
              <p:cNvPr id="3" name="Content Placeholder 2">
                <a:extLst>
                  <a:ext uri="{FF2B5EF4-FFF2-40B4-BE49-F238E27FC236}">
                    <a16:creationId xmlns:a16="http://schemas.microsoft.com/office/drawing/2014/main" id="{6A04D3AC-42E1-EC42-BBA1-DD28B01442E5}"/>
                  </a:ext>
                </a:extLst>
              </p:cNvPr>
              <p:cNvSpPr>
                <a:spLocks noGrp="1" noRot="1" noChangeAspect="1" noMove="1" noResize="1" noEditPoints="1" noAdjustHandles="1" noChangeArrowheads="1" noChangeShapeType="1" noTextEdit="1"/>
              </p:cNvSpPr>
              <p:nvPr>
                <p:ph idx="1"/>
              </p:nvPr>
            </p:nvSpPr>
            <p:spPr>
              <a:blipFill>
                <a:blip r:embed="rId2"/>
                <a:stretch>
                  <a:fillRect l="-347" t="-560"/>
                </a:stretch>
              </a:blipFill>
            </p:spPr>
            <p:txBody>
              <a:bodyPr/>
              <a:lstStyle/>
              <a:p>
                <a:r>
                  <a:rPr lang="en-US">
                    <a:noFill/>
                  </a:rPr>
                  <a:t> </a:t>
                </a:r>
              </a:p>
            </p:txBody>
          </p:sp>
        </mc:Fallback>
      </mc:AlternateContent>
    </p:spTree>
    <p:extLst>
      <p:ext uri="{BB962C8B-B14F-4D97-AF65-F5344CB8AC3E}">
        <p14:creationId xmlns:p14="http://schemas.microsoft.com/office/powerpoint/2010/main" val="28346427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F5CC1-17A8-144D-BB4D-794B04E87DD3}"/>
              </a:ext>
            </a:extLst>
          </p:cNvPr>
          <p:cNvSpPr>
            <a:spLocks noGrp="1"/>
          </p:cNvSpPr>
          <p:nvPr>
            <p:ph type="title"/>
          </p:nvPr>
        </p:nvSpPr>
        <p:spPr/>
        <p:txBody>
          <a:bodyPr/>
          <a:lstStyle/>
          <a:p>
            <a:r>
              <a:rPr lang="en-US" dirty="0"/>
              <a:t>Ecology: Wildfires!</a:t>
            </a:r>
          </a:p>
        </p:txBody>
      </p:sp>
      <p:sp>
        <p:nvSpPr>
          <p:cNvPr id="3" name="Content Placeholder 2">
            <a:extLst>
              <a:ext uri="{FF2B5EF4-FFF2-40B4-BE49-F238E27FC236}">
                <a16:creationId xmlns:a16="http://schemas.microsoft.com/office/drawing/2014/main" id="{9EBDA57C-0EE1-6348-A2FD-671FDCFD73D9}"/>
              </a:ext>
            </a:extLst>
          </p:cNvPr>
          <p:cNvSpPr>
            <a:spLocks noGrp="1"/>
          </p:cNvSpPr>
          <p:nvPr>
            <p:ph idx="1"/>
          </p:nvPr>
        </p:nvSpPr>
        <p:spPr>
          <a:xfrm>
            <a:off x="381000" y="1600203"/>
            <a:ext cx="11430000" cy="4525963"/>
          </a:xfrm>
        </p:spPr>
        <p:txBody>
          <a:bodyPr/>
          <a:lstStyle/>
          <a:p>
            <a:pPr lvl="0"/>
            <a:r>
              <a:rPr lang="en-US" sz="1800" dirty="0"/>
              <a:t>When wildfires ravage forests, the timber industry argues that logging </a:t>
            </a:r>
            <a:r>
              <a:rPr lang="en-US" sz="1800" b="1" dirty="0"/>
              <a:t>(actual logging of trees … not the mathematical log!)</a:t>
            </a:r>
            <a:r>
              <a:rPr lang="en-US" sz="1800" dirty="0"/>
              <a:t> the burned trees enhances forest recovery; the EPA argues the opposite. The 2002 Biscuit Fire in southwest Oregon provided a test case.  Researchers selected 16 fire-affected plots in 2004, before any logging was done and counted tree seedlings along a randomly located transect pattern in each plot.  They returned in 2005, after nine of the plots had been logged, and counted the tree seedlings along the same transects.  The percent of seedlings lost from 2004 to 2005 is recorded in the file </a:t>
            </a:r>
            <a:r>
              <a:rPr lang="en-US" sz="1800" b="1" i="1" dirty="0" err="1"/>
              <a:t>logging.csv</a:t>
            </a:r>
            <a:r>
              <a:rPr lang="en-US" sz="1800" dirty="0"/>
              <a:t> for logged (L) and unlogged (U) plots:</a:t>
            </a:r>
          </a:p>
          <a:p>
            <a:r>
              <a:rPr lang="en-US" sz="1800" dirty="0"/>
              <a:t>Test the EPA’s assertion (and thus the opposite of the logging industries assertion) that logging </a:t>
            </a:r>
            <a:r>
              <a:rPr lang="en-US" sz="1800" b="1" dirty="0"/>
              <a:t>(again…. not the mathematical log! :)</a:t>
            </a:r>
            <a:r>
              <a:rPr lang="en-US" sz="1800" dirty="0"/>
              <a:t> actually increases the percentage of seedlings lost from 2004 to 2005.  </a:t>
            </a:r>
          </a:p>
          <a:p>
            <a:pPr lvl="1"/>
            <a:r>
              <a:rPr lang="en-US" sz="1600" dirty="0">
                <a:solidFill>
                  <a:schemeClr val="accent4"/>
                </a:solidFill>
              </a:rPr>
              <a:t>Perform a complete analysis using a rank sum test in SAS. (Logging data).</a:t>
            </a:r>
          </a:p>
          <a:p>
            <a:pPr lvl="1"/>
            <a:r>
              <a:rPr lang="en-US" sz="1600" dirty="0"/>
              <a:t>Verify the p-value and confidence interval by running the rank sum test in R (using R function </a:t>
            </a:r>
            <a:r>
              <a:rPr lang="en-US" sz="1600" dirty="0" err="1"/>
              <a:t>Wilcox.test</a:t>
            </a:r>
            <a:r>
              <a:rPr lang="en-US" sz="1600" dirty="0"/>
              <a:t>).  (You do not need to repeat the complete analysis … simply cut and paste a screen shot of your code and the output.) You may use: </a:t>
            </a:r>
            <a:r>
              <a:rPr lang="en-US" sz="1600" u="sng" dirty="0">
                <a:hlinkClick r:id="rId2"/>
              </a:rPr>
              <a:t>https://www.r-bloggers.com/wilcoxon-mann-whitney-rank-sum-test-or-test-u/</a:t>
            </a:r>
            <a:r>
              <a:rPr lang="en-US" sz="1600" dirty="0"/>
              <a:t> for reference. </a:t>
            </a:r>
          </a:p>
          <a:p>
            <a:endParaRPr lang="en-US" sz="1800" dirty="0"/>
          </a:p>
        </p:txBody>
      </p:sp>
    </p:spTree>
    <p:extLst>
      <p:ext uri="{BB962C8B-B14F-4D97-AF65-F5344CB8AC3E}">
        <p14:creationId xmlns:p14="http://schemas.microsoft.com/office/powerpoint/2010/main" val="11344053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569C44F-DD1D-1B44-975D-AE92CF3AD26C}"/>
              </a:ext>
            </a:extLst>
          </p:cNvPr>
          <p:cNvPicPr>
            <a:picLocks noChangeAspect="1"/>
          </p:cNvPicPr>
          <p:nvPr/>
        </p:nvPicPr>
        <p:blipFill>
          <a:blip r:embed="rId2"/>
          <a:stretch>
            <a:fillRect/>
          </a:stretch>
        </p:blipFill>
        <p:spPr>
          <a:xfrm>
            <a:off x="179231" y="1504407"/>
            <a:ext cx="4061137" cy="1346910"/>
          </a:xfrm>
          <a:prstGeom prst="rect">
            <a:avLst/>
          </a:prstGeom>
        </p:spPr>
      </p:pic>
      <p:pic>
        <p:nvPicPr>
          <p:cNvPr id="10" name="Picture 9">
            <a:extLst>
              <a:ext uri="{FF2B5EF4-FFF2-40B4-BE49-F238E27FC236}">
                <a16:creationId xmlns:a16="http://schemas.microsoft.com/office/drawing/2014/main" id="{9D8136DE-A487-844E-98AB-46DDD7571591}"/>
              </a:ext>
            </a:extLst>
          </p:cNvPr>
          <p:cNvPicPr>
            <a:picLocks noChangeAspect="1"/>
          </p:cNvPicPr>
          <p:nvPr/>
        </p:nvPicPr>
        <p:blipFill>
          <a:blip r:embed="rId3"/>
          <a:stretch>
            <a:fillRect/>
          </a:stretch>
        </p:blipFill>
        <p:spPr>
          <a:xfrm>
            <a:off x="1676400" y="3148352"/>
            <a:ext cx="4760102" cy="1346910"/>
          </a:xfrm>
          <a:prstGeom prst="rect">
            <a:avLst/>
          </a:prstGeom>
        </p:spPr>
      </p:pic>
      <p:sp>
        <p:nvSpPr>
          <p:cNvPr id="2" name="Title 1">
            <a:extLst>
              <a:ext uri="{FF2B5EF4-FFF2-40B4-BE49-F238E27FC236}">
                <a16:creationId xmlns:a16="http://schemas.microsoft.com/office/drawing/2014/main" id="{086EB1E5-E6EE-C44F-BDF8-BA70468553F6}"/>
              </a:ext>
            </a:extLst>
          </p:cNvPr>
          <p:cNvSpPr>
            <a:spLocks noGrp="1"/>
          </p:cNvSpPr>
          <p:nvPr>
            <p:ph type="title"/>
          </p:nvPr>
        </p:nvSpPr>
        <p:spPr/>
        <p:txBody>
          <a:bodyPr/>
          <a:lstStyle/>
          <a:p>
            <a:endParaRPr lang="en-US"/>
          </a:p>
        </p:txBody>
      </p:sp>
      <p:sp>
        <p:nvSpPr>
          <p:cNvPr id="5" name="Rectangle 3">
            <a:extLst>
              <a:ext uri="{FF2B5EF4-FFF2-40B4-BE49-F238E27FC236}">
                <a16:creationId xmlns:a16="http://schemas.microsoft.com/office/drawing/2014/main" id="{86D06859-B6A7-FD4F-A69F-7713D48859A9}"/>
              </a:ext>
            </a:extLst>
          </p:cNvPr>
          <p:cNvSpPr>
            <a:spLocks noChangeArrowheads="1"/>
          </p:cNvSpPr>
          <p:nvPr/>
        </p:nvSpPr>
        <p:spPr bwMode="auto">
          <a:xfrm>
            <a:off x="1219200" y="4328973"/>
            <a:ext cx="624840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1"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1"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Note: The ‘</a:t>
            </a:r>
            <a:r>
              <a:rPr kumimoji="0" lang="en-US" altLang="en-US" sz="1100" b="0" i="1" u="none" strike="noStrike" cap="none" normalizeH="0" baseline="0" dirty="0" err="1">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conf.int</a:t>
            </a:r>
            <a:r>
              <a:rPr kumimoji="0" lang="en-US" altLang="en-US" sz="1100" b="0" i="1"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and </a:t>
            </a:r>
            <a:r>
              <a:rPr kumimoji="0" lang="en-US" altLang="en-US" sz="1100" b="0" i="1" u="none" strike="noStrike" cap="none" normalizeH="0" baseline="0" dirty="0" err="1">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conf.le</a:t>
            </a:r>
            <a:r>
              <a:rPr lang="en-US" altLang="en-US" sz="1100" i="1" dirty="0" err="1">
                <a:latin typeface="Calibri" panose="020F0502020204030204" pitchFamily="34" charset="0"/>
                <a:ea typeface="Times New Roman" panose="02020603050405020304" pitchFamily="18" charset="0"/>
                <a:cs typeface="Times New Roman" panose="02020603050405020304" pitchFamily="18" charset="0"/>
              </a:rPr>
              <a:t>vel</a:t>
            </a:r>
            <a:r>
              <a:rPr lang="en-US" altLang="en-US" sz="1100" i="1" dirty="0">
                <a:latin typeface="Calibri" panose="020F0502020204030204" pitchFamily="34" charset="0"/>
                <a:ea typeface="Times New Roman" panose="02020603050405020304" pitchFamily="18" charset="0"/>
                <a:cs typeface="Times New Roman" panose="02020603050405020304" pitchFamily="18" charset="0"/>
              </a:rPr>
              <a:t> </a:t>
            </a:r>
            <a:r>
              <a:rPr kumimoji="0" lang="en-US" altLang="en-US" sz="1100" b="0" i="1"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options provides the HL confidence limits which should match SAS exactly</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6" name="Rectangle 5">
            <a:extLst>
              <a:ext uri="{FF2B5EF4-FFF2-40B4-BE49-F238E27FC236}">
                <a16:creationId xmlns:a16="http://schemas.microsoft.com/office/drawing/2014/main" id="{759C0291-B752-344D-800D-C09D79BC827D}"/>
              </a:ext>
            </a:extLst>
          </p:cNvPr>
          <p:cNvSpPr/>
          <p:nvPr/>
        </p:nvSpPr>
        <p:spPr>
          <a:xfrm>
            <a:off x="609600" y="2849256"/>
            <a:ext cx="8839200" cy="261610"/>
          </a:xfrm>
          <a:prstGeom prst="rect">
            <a:avLst/>
          </a:prstGeom>
        </p:spPr>
        <p:txBody>
          <a:bodyPr wrap="square">
            <a:spAutoFit/>
          </a:bodyPr>
          <a:lstStyle/>
          <a:p>
            <a:pPr lvl="0" eaLnBrk="0" fontAlgn="base" hangingPunct="0">
              <a:spcBef>
                <a:spcPct val="0"/>
              </a:spcBef>
              <a:spcAft>
                <a:spcPct val="0"/>
              </a:spcAft>
            </a:pPr>
            <a:r>
              <a:rPr lang="en-US" altLang="en-US" sz="1100" i="1" dirty="0">
                <a:latin typeface="Calibri" panose="020F0502020204030204" pitchFamily="34" charset="0"/>
                <a:ea typeface="Times New Roman" panose="02020603050405020304" pitchFamily="18" charset="0"/>
                <a:cs typeface="Times New Roman" panose="02020603050405020304" pitchFamily="18" charset="0"/>
              </a:rPr>
              <a:t>Note: by default, R provides the exact p-value rather than the normal approximation for the p-value for smaller sample sizes. </a:t>
            </a:r>
          </a:p>
        </p:txBody>
      </p:sp>
      <p:pic>
        <p:nvPicPr>
          <p:cNvPr id="12" name="Picture 11">
            <a:extLst>
              <a:ext uri="{FF2B5EF4-FFF2-40B4-BE49-F238E27FC236}">
                <a16:creationId xmlns:a16="http://schemas.microsoft.com/office/drawing/2014/main" id="{9CD250ED-E849-2340-8263-D0F1491618FB}"/>
              </a:ext>
            </a:extLst>
          </p:cNvPr>
          <p:cNvPicPr>
            <a:picLocks noChangeAspect="1"/>
          </p:cNvPicPr>
          <p:nvPr/>
        </p:nvPicPr>
        <p:blipFill>
          <a:blip r:embed="rId4"/>
          <a:stretch>
            <a:fillRect/>
          </a:stretch>
        </p:blipFill>
        <p:spPr>
          <a:xfrm>
            <a:off x="2895600" y="4843356"/>
            <a:ext cx="5943600" cy="1405044"/>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36400F7-AA58-2746-A632-E9DB88BE62FE}"/>
                  </a:ext>
                </a:extLst>
              </p:cNvPr>
              <p:cNvSpPr txBox="1"/>
              <p:nvPr/>
            </p:nvSpPr>
            <p:spPr>
              <a:xfrm>
                <a:off x="7207727" y="1797775"/>
                <a:ext cx="4426276" cy="411138"/>
              </a:xfrm>
              <a:prstGeom prst="rect">
                <a:avLst/>
              </a:prstGeom>
              <a:noFill/>
            </p:spPr>
            <p:txBody>
              <a:bodyPr wrap="none" lIns="0" tIns="0" rIns="0" bIns="0" rtlCol="0">
                <a:spAutoFit/>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2</m:t>
                        </m:r>
                      </m:sub>
                    </m:sSub>
                    <m:r>
                      <a:rPr lang="en-US" b="0" i="1" smtClean="0">
                        <a:latin typeface="Cambria Math" panose="02040503050406030204" pitchFamily="18" charset="0"/>
                      </a:rPr>
                      <m:t>+ </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1</m:t>
                                </m:r>
                              </m:sub>
                            </m:sSub>
                            <m:r>
                              <a:rPr lang="en-US" b="0" i="1" smtClean="0">
                                <a:latin typeface="Cambria Math" panose="02040503050406030204" pitchFamily="18" charset="0"/>
                              </a:rPr>
                              <m:t>+1</m:t>
                            </m:r>
                          </m:e>
                        </m:d>
                      </m:num>
                      <m:den>
                        <m:r>
                          <a:rPr lang="en-US" b="0" i="1" smtClean="0">
                            <a:latin typeface="Cambria Math" panose="02040503050406030204" pitchFamily="18" charset="0"/>
                          </a:rPr>
                          <m:t>2</m:t>
                        </m:r>
                      </m:den>
                    </m:f>
                  </m:oMath>
                </a14:m>
                <a:r>
                  <a:rPr lang="en-US" dirty="0"/>
                  <a:t> </a:t>
                </a:r>
                <a14:m>
                  <m:oMath xmlns:m="http://schemas.openxmlformats.org/officeDocument/2006/math">
                    <m:r>
                      <a:rPr lang="en-US" i="1">
                        <a:latin typeface="Cambria Math" panose="02040503050406030204" pitchFamily="18" charset="0"/>
                      </a:rPr>
                      <m:t>− </m:t>
                    </m:r>
                    <m:r>
                      <a:rPr lang="en-US" i="1">
                        <a:latin typeface="Cambria Math" panose="02040503050406030204" pitchFamily="18" charset="0"/>
                      </a:rPr>
                      <m:t>𝑆𝑢𝑚</m:t>
                    </m:r>
                    <m:r>
                      <a:rPr lang="en-US" i="1">
                        <a:latin typeface="Cambria Math" panose="02040503050406030204" pitchFamily="18" charset="0"/>
                      </a:rPr>
                      <m:t> </m:t>
                    </m:r>
                    <m:r>
                      <a:rPr lang="en-US" i="1">
                        <a:latin typeface="Cambria Math" panose="02040503050406030204" pitchFamily="18" charset="0"/>
                      </a:rPr>
                      <m:t>𝑜𝑓</m:t>
                    </m:r>
                    <m:r>
                      <a:rPr lang="en-US" i="1">
                        <a:latin typeface="Cambria Math" panose="02040503050406030204" pitchFamily="18" charset="0"/>
                      </a:rPr>
                      <m:t> </m:t>
                    </m:r>
                    <m:r>
                      <a:rPr lang="en-US" i="1">
                        <a:latin typeface="Cambria Math" panose="02040503050406030204" pitchFamily="18" charset="0"/>
                      </a:rPr>
                      <m:t>𝑅𝑎𝑛𝑘</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oMath>
                </a14:m>
                <a:r>
                  <a:rPr lang="en-US" dirty="0"/>
                  <a:t> </a:t>
                </a:r>
              </a:p>
            </p:txBody>
          </p:sp>
        </mc:Choice>
        <mc:Fallback xmlns="">
          <p:sp>
            <p:nvSpPr>
              <p:cNvPr id="3" name="TextBox 2">
                <a:extLst>
                  <a:ext uri="{FF2B5EF4-FFF2-40B4-BE49-F238E27FC236}">
                    <a16:creationId xmlns:a16="http://schemas.microsoft.com/office/drawing/2014/main" id="{636400F7-AA58-2746-A632-E9DB88BE62FE}"/>
                  </a:ext>
                </a:extLst>
              </p:cNvPr>
              <p:cNvSpPr txBox="1">
                <a:spLocks noRot="1" noChangeAspect="1" noMove="1" noResize="1" noEditPoints="1" noAdjustHandles="1" noChangeArrowheads="1" noChangeShapeType="1" noTextEdit="1"/>
              </p:cNvSpPr>
              <p:nvPr/>
            </p:nvSpPr>
            <p:spPr>
              <a:xfrm>
                <a:off x="7207727" y="1797775"/>
                <a:ext cx="4426276" cy="411138"/>
              </a:xfrm>
              <a:prstGeom prst="rect">
                <a:avLst/>
              </a:prstGeom>
              <a:blipFill>
                <a:blip r:embed="rId5"/>
                <a:stretch>
                  <a:fillRect l="-1719" b="-151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E4F65028-2D51-2A4E-961E-8A0B9046B42B}"/>
                  </a:ext>
                </a:extLst>
              </p:cNvPr>
              <p:cNvSpPr txBox="1"/>
              <p:nvPr/>
            </p:nvSpPr>
            <p:spPr>
              <a:xfrm>
                <a:off x="7287887" y="3653335"/>
                <a:ext cx="4431598" cy="411138"/>
              </a:xfrm>
              <a:prstGeom prst="rect">
                <a:avLst/>
              </a:prstGeom>
              <a:noFill/>
            </p:spPr>
            <p:txBody>
              <a:bodyPr wrap="none" lIns="0" tIns="0" rIns="0" bIns="0" rtlCol="0">
                <a:spAutoFit/>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2</m:t>
                        </m:r>
                      </m:sub>
                    </m:sSub>
                    <m:r>
                      <a:rPr lang="en-US" b="0" i="1" smtClean="0">
                        <a:latin typeface="Cambria Math" panose="02040503050406030204" pitchFamily="18" charset="0"/>
                      </a:rPr>
                      <m:t>+ </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2</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2</m:t>
                                </m:r>
                              </m:sub>
                            </m:sSub>
                            <m:r>
                              <a:rPr lang="en-US" b="0" i="1" smtClean="0">
                                <a:latin typeface="Cambria Math" panose="02040503050406030204" pitchFamily="18" charset="0"/>
                              </a:rPr>
                              <m:t>+1</m:t>
                            </m:r>
                          </m:e>
                        </m:d>
                      </m:num>
                      <m:den>
                        <m:r>
                          <a:rPr lang="en-US" b="0" i="1" smtClean="0">
                            <a:latin typeface="Cambria Math" panose="02040503050406030204" pitchFamily="18" charset="0"/>
                          </a:rPr>
                          <m:t>2</m:t>
                        </m:r>
                      </m:den>
                    </m:f>
                  </m:oMath>
                </a14:m>
                <a:r>
                  <a:rPr lang="en-US" dirty="0"/>
                  <a:t> </a:t>
                </a:r>
                <a14:m>
                  <m:oMath xmlns:m="http://schemas.openxmlformats.org/officeDocument/2006/math">
                    <m:r>
                      <a:rPr lang="en-US" i="1">
                        <a:latin typeface="Cambria Math" panose="02040503050406030204" pitchFamily="18" charset="0"/>
                      </a:rPr>
                      <m:t>− </m:t>
                    </m:r>
                    <m:r>
                      <a:rPr lang="en-US" i="1">
                        <a:latin typeface="Cambria Math" panose="02040503050406030204" pitchFamily="18" charset="0"/>
                      </a:rPr>
                      <m:t>𝑆𝑢𝑚</m:t>
                    </m:r>
                    <m:r>
                      <a:rPr lang="en-US" i="1">
                        <a:latin typeface="Cambria Math" panose="02040503050406030204" pitchFamily="18" charset="0"/>
                      </a:rPr>
                      <m:t> </m:t>
                    </m:r>
                    <m:r>
                      <a:rPr lang="en-US" i="1">
                        <a:latin typeface="Cambria Math" panose="02040503050406030204" pitchFamily="18" charset="0"/>
                      </a:rPr>
                      <m:t>𝑜𝑓</m:t>
                    </m:r>
                    <m:r>
                      <a:rPr lang="en-US" i="1">
                        <a:latin typeface="Cambria Math" panose="02040503050406030204" pitchFamily="18" charset="0"/>
                      </a:rPr>
                      <m:t> </m:t>
                    </m:r>
                    <m:r>
                      <a:rPr lang="en-US" i="1">
                        <a:latin typeface="Cambria Math" panose="02040503050406030204" pitchFamily="18" charset="0"/>
                      </a:rPr>
                      <m:t>𝑅𝑎𝑛𝑘</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2</m:t>
                        </m:r>
                      </m:sub>
                    </m:sSub>
                  </m:oMath>
                </a14:m>
                <a:r>
                  <a:rPr lang="en-US" dirty="0"/>
                  <a:t> </a:t>
                </a:r>
              </a:p>
            </p:txBody>
          </p:sp>
        </mc:Choice>
        <mc:Fallback xmlns="">
          <p:sp>
            <p:nvSpPr>
              <p:cNvPr id="13" name="TextBox 12">
                <a:extLst>
                  <a:ext uri="{FF2B5EF4-FFF2-40B4-BE49-F238E27FC236}">
                    <a16:creationId xmlns:a16="http://schemas.microsoft.com/office/drawing/2014/main" id="{E4F65028-2D51-2A4E-961E-8A0B9046B42B}"/>
                  </a:ext>
                </a:extLst>
              </p:cNvPr>
              <p:cNvSpPr txBox="1">
                <a:spLocks noRot="1" noChangeAspect="1" noMove="1" noResize="1" noEditPoints="1" noAdjustHandles="1" noChangeArrowheads="1" noChangeShapeType="1" noTextEdit="1"/>
              </p:cNvSpPr>
              <p:nvPr/>
            </p:nvSpPr>
            <p:spPr>
              <a:xfrm>
                <a:off x="7287887" y="3653335"/>
                <a:ext cx="4431598" cy="411138"/>
              </a:xfrm>
              <a:prstGeom prst="rect">
                <a:avLst/>
              </a:prstGeom>
              <a:blipFill>
                <a:blip r:embed="rId6"/>
                <a:stretch>
                  <a:fillRect l="-2006" b="-8824"/>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E013E587-56ED-CA49-B7AB-C42C385C43AF}"/>
              </a:ext>
            </a:extLst>
          </p:cNvPr>
          <p:cNvSpPr txBox="1"/>
          <p:nvPr/>
        </p:nvSpPr>
        <p:spPr>
          <a:xfrm>
            <a:off x="8382000" y="5334000"/>
            <a:ext cx="3429000" cy="369332"/>
          </a:xfrm>
          <a:prstGeom prst="rect">
            <a:avLst/>
          </a:prstGeom>
          <a:noFill/>
        </p:spPr>
        <p:txBody>
          <a:bodyPr wrap="square" rtlCol="0">
            <a:spAutoFit/>
          </a:bodyPr>
          <a:lstStyle/>
          <a:p>
            <a:r>
              <a:rPr lang="en-US" dirty="0"/>
              <a:t>The lower one is usually used. </a:t>
            </a:r>
          </a:p>
        </p:txBody>
      </p:sp>
    </p:spTree>
    <p:extLst>
      <p:ext uri="{BB962C8B-B14F-4D97-AF65-F5344CB8AC3E}">
        <p14:creationId xmlns:p14="http://schemas.microsoft.com/office/powerpoint/2010/main" val="3752983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fade">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fade">
                                      <p:cBhvr>
                                        <p:cTn id="4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3" grpId="0"/>
      <p:bldP spid="13" grpId="0"/>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569C44F-DD1D-1B44-975D-AE92CF3AD26C}"/>
              </a:ext>
            </a:extLst>
          </p:cNvPr>
          <p:cNvPicPr>
            <a:picLocks noChangeAspect="1"/>
          </p:cNvPicPr>
          <p:nvPr/>
        </p:nvPicPr>
        <p:blipFill>
          <a:blip r:embed="rId2"/>
          <a:stretch>
            <a:fillRect/>
          </a:stretch>
        </p:blipFill>
        <p:spPr>
          <a:xfrm>
            <a:off x="179231" y="1504407"/>
            <a:ext cx="4061137" cy="1346910"/>
          </a:xfrm>
          <a:prstGeom prst="rect">
            <a:avLst/>
          </a:prstGeom>
        </p:spPr>
      </p:pic>
      <p:pic>
        <p:nvPicPr>
          <p:cNvPr id="10" name="Picture 9">
            <a:extLst>
              <a:ext uri="{FF2B5EF4-FFF2-40B4-BE49-F238E27FC236}">
                <a16:creationId xmlns:a16="http://schemas.microsoft.com/office/drawing/2014/main" id="{9D8136DE-A487-844E-98AB-46DDD7571591}"/>
              </a:ext>
            </a:extLst>
          </p:cNvPr>
          <p:cNvPicPr>
            <a:picLocks noChangeAspect="1"/>
          </p:cNvPicPr>
          <p:nvPr/>
        </p:nvPicPr>
        <p:blipFill>
          <a:blip r:embed="rId3"/>
          <a:stretch>
            <a:fillRect/>
          </a:stretch>
        </p:blipFill>
        <p:spPr>
          <a:xfrm>
            <a:off x="1676400" y="3148352"/>
            <a:ext cx="4760102" cy="1346910"/>
          </a:xfrm>
          <a:prstGeom prst="rect">
            <a:avLst/>
          </a:prstGeom>
        </p:spPr>
      </p:pic>
      <p:sp>
        <p:nvSpPr>
          <p:cNvPr id="2" name="Title 1">
            <a:extLst>
              <a:ext uri="{FF2B5EF4-FFF2-40B4-BE49-F238E27FC236}">
                <a16:creationId xmlns:a16="http://schemas.microsoft.com/office/drawing/2014/main" id="{086EB1E5-E6EE-C44F-BDF8-BA70468553F6}"/>
              </a:ext>
            </a:extLst>
          </p:cNvPr>
          <p:cNvSpPr>
            <a:spLocks noGrp="1"/>
          </p:cNvSpPr>
          <p:nvPr>
            <p:ph type="title"/>
          </p:nvPr>
        </p:nvSpPr>
        <p:spPr/>
        <p:txBody>
          <a:bodyPr/>
          <a:lstStyle/>
          <a:p>
            <a:endParaRPr lang="en-US"/>
          </a:p>
        </p:txBody>
      </p:sp>
      <p:sp>
        <p:nvSpPr>
          <p:cNvPr id="5" name="Rectangle 3">
            <a:extLst>
              <a:ext uri="{FF2B5EF4-FFF2-40B4-BE49-F238E27FC236}">
                <a16:creationId xmlns:a16="http://schemas.microsoft.com/office/drawing/2014/main" id="{86D06859-B6A7-FD4F-A69F-7713D48859A9}"/>
              </a:ext>
            </a:extLst>
          </p:cNvPr>
          <p:cNvSpPr>
            <a:spLocks noChangeArrowheads="1"/>
          </p:cNvSpPr>
          <p:nvPr/>
        </p:nvSpPr>
        <p:spPr bwMode="auto">
          <a:xfrm>
            <a:off x="1219200" y="4328973"/>
            <a:ext cx="624840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1"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1"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Note: The ‘</a:t>
            </a:r>
            <a:r>
              <a:rPr kumimoji="0" lang="en-US" altLang="en-US" sz="1100" b="0" i="1" u="none" strike="noStrike" cap="none" normalizeH="0" baseline="0" dirty="0" err="1">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conf.int</a:t>
            </a:r>
            <a:r>
              <a:rPr kumimoji="0" lang="en-US" altLang="en-US" sz="1100" b="0" i="1"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and </a:t>
            </a:r>
            <a:r>
              <a:rPr kumimoji="0" lang="en-US" altLang="en-US" sz="1100" b="0" i="1" u="none" strike="noStrike" cap="none" normalizeH="0" baseline="0" dirty="0" err="1">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conf.le</a:t>
            </a:r>
            <a:r>
              <a:rPr lang="en-US" altLang="en-US" sz="1100" i="1" dirty="0" err="1">
                <a:latin typeface="Calibri" panose="020F0502020204030204" pitchFamily="34" charset="0"/>
                <a:ea typeface="Times New Roman" panose="02020603050405020304" pitchFamily="18" charset="0"/>
                <a:cs typeface="Times New Roman" panose="02020603050405020304" pitchFamily="18" charset="0"/>
              </a:rPr>
              <a:t>vel</a:t>
            </a:r>
            <a:r>
              <a:rPr lang="en-US" altLang="en-US" sz="1100" i="1" dirty="0">
                <a:latin typeface="Calibri" panose="020F0502020204030204" pitchFamily="34" charset="0"/>
                <a:ea typeface="Times New Roman" panose="02020603050405020304" pitchFamily="18" charset="0"/>
                <a:cs typeface="Times New Roman" panose="02020603050405020304" pitchFamily="18" charset="0"/>
              </a:rPr>
              <a:t> </a:t>
            </a:r>
            <a:r>
              <a:rPr kumimoji="0" lang="en-US" altLang="en-US" sz="1100" b="0" i="1"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options provides the HL confidence limits which should match SAS exactly</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6" name="Rectangle 5">
            <a:extLst>
              <a:ext uri="{FF2B5EF4-FFF2-40B4-BE49-F238E27FC236}">
                <a16:creationId xmlns:a16="http://schemas.microsoft.com/office/drawing/2014/main" id="{759C0291-B752-344D-800D-C09D79BC827D}"/>
              </a:ext>
            </a:extLst>
          </p:cNvPr>
          <p:cNvSpPr/>
          <p:nvPr/>
        </p:nvSpPr>
        <p:spPr>
          <a:xfrm>
            <a:off x="609600" y="2849256"/>
            <a:ext cx="8839200" cy="261610"/>
          </a:xfrm>
          <a:prstGeom prst="rect">
            <a:avLst/>
          </a:prstGeom>
        </p:spPr>
        <p:txBody>
          <a:bodyPr wrap="square">
            <a:spAutoFit/>
          </a:bodyPr>
          <a:lstStyle/>
          <a:p>
            <a:pPr lvl="0" eaLnBrk="0" fontAlgn="base" hangingPunct="0">
              <a:spcBef>
                <a:spcPct val="0"/>
              </a:spcBef>
              <a:spcAft>
                <a:spcPct val="0"/>
              </a:spcAft>
            </a:pPr>
            <a:r>
              <a:rPr lang="en-US" altLang="en-US" sz="1100" i="1" dirty="0">
                <a:latin typeface="Calibri" panose="020F0502020204030204" pitchFamily="34" charset="0"/>
                <a:ea typeface="Times New Roman" panose="02020603050405020304" pitchFamily="18" charset="0"/>
                <a:cs typeface="Times New Roman" panose="02020603050405020304" pitchFamily="18" charset="0"/>
              </a:rPr>
              <a:t>Note: by default, R provides the exact p-value rather than the normal approximation for the p-value for smaller sample sizes. </a:t>
            </a:r>
          </a:p>
        </p:txBody>
      </p:sp>
      <p:pic>
        <p:nvPicPr>
          <p:cNvPr id="12" name="Picture 11">
            <a:extLst>
              <a:ext uri="{FF2B5EF4-FFF2-40B4-BE49-F238E27FC236}">
                <a16:creationId xmlns:a16="http://schemas.microsoft.com/office/drawing/2014/main" id="{9CD250ED-E849-2340-8263-D0F1491618FB}"/>
              </a:ext>
            </a:extLst>
          </p:cNvPr>
          <p:cNvPicPr>
            <a:picLocks noChangeAspect="1"/>
          </p:cNvPicPr>
          <p:nvPr/>
        </p:nvPicPr>
        <p:blipFill>
          <a:blip r:embed="rId4"/>
          <a:stretch>
            <a:fillRect/>
          </a:stretch>
        </p:blipFill>
        <p:spPr>
          <a:xfrm>
            <a:off x="2895600" y="4843356"/>
            <a:ext cx="5943600" cy="1405044"/>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36400F7-AA58-2746-A632-E9DB88BE62FE}"/>
                  </a:ext>
                </a:extLst>
              </p:cNvPr>
              <p:cNvSpPr txBox="1"/>
              <p:nvPr/>
            </p:nvSpPr>
            <p:spPr>
              <a:xfrm>
                <a:off x="7207727" y="1797775"/>
                <a:ext cx="4426276" cy="411138"/>
              </a:xfrm>
              <a:prstGeom prst="rect">
                <a:avLst/>
              </a:prstGeom>
              <a:noFill/>
            </p:spPr>
            <p:txBody>
              <a:bodyPr wrap="none" lIns="0" tIns="0" rIns="0" bIns="0" rtlCol="0">
                <a:spAutoFit/>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2</m:t>
                        </m:r>
                      </m:sub>
                    </m:sSub>
                    <m:r>
                      <a:rPr lang="en-US" b="0" i="1" smtClean="0">
                        <a:latin typeface="Cambria Math" panose="02040503050406030204" pitchFamily="18" charset="0"/>
                      </a:rPr>
                      <m:t>+ </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1</m:t>
                                </m:r>
                              </m:sub>
                            </m:sSub>
                            <m:r>
                              <a:rPr lang="en-US" b="0" i="1" smtClean="0">
                                <a:latin typeface="Cambria Math" panose="02040503050406030204" pitchFamily="18" charset="0"/>
                              </a:rPr>
                              <m:t>+1</m:t>
                            </m:r>
                          </m:e>
                        </m:d>
                      </m:num>
                      <m:den>
                        <m:r>
                          <a:rPr lang="en-US" b="0" i="1" smtClean="0">
                            <a:latin typeface="Cambria Math" panose="02040503050406030204" pitchFamily="18" charset="0"/>
                          </a:rPr>
                          <m:t>2</m:t>
                        </m:r>
                      </m:den>
                    </m:f>
                  </m:oMath>
                </a14:m>
                <a:r>
                  <a:rPr lang="en-US" dirty="0"/>
                  <a:t> </a:t>
                </a:r>
                <a14:m>
                  <m:oMath xmlns:m="http://schemas.openxmlformats.org/officeDocument/2006/math">
                    <m:r>
                      <a:rPr lang="en-US" i="1">
                        <a:latin typeface="Cambria Math" panose="02040503050406030204" pitchFamily="18" charset="0"/>
                      </a:rPr>
                      <m:t>− </m:t>
                    </m:r>
                    <m:r>
                      <a:rPr lang="en-US" i="1">
                        <a:latin typeface="Cambria Math" panose="02040503050406030204" pitchFamily="18" charset="0"/>
                      </a:rPr>
                      <m:t>𝑆𝑢𝑚</m:t>
                    </m:r>
                    <m:r>
                      <a:rPr lang="en-US" i="1">
                        <a:latin typeface="Cambria Math" panose="02040503050406030204" pitchFamily="18" charset="0"/>
                      </a:rPr>
                      <m:t> </m:t>
                    </m:r>
                    <m:r>
                      <a:rPr lang="en-US" i="1">
                        <a:latin typeface="Cambria Math" panose="02040503050406030204" pitchFamily="18" charset="0"/>
                      </a:rPr>
                      <m:t>𝑜𝑓</m:t>
                    </m:r>
                    <m:r>
                      <a:rPr lang="en-US" i="1">
                        <a:latin typeface="Cambria Math" panose="02040503050406030204" pitchFamily="18" charset="0"/>
                      </a:rPr>
                      <m:t> </m:t>
                    </m:r>
                    <m:r>
                      <a:rPr lang="en-US" i="1">
                        <a:latin typeface="Cambria Math" panose="02040503050406030204" pitchFamily="18" charset="0"/>
                      </a:rPr>
                      <m:t>𝑅𝑎𝑛𝑘</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oMath>
                </a14:m>
                <a:r>
                  <a:rPr lang="en-US" dirty="0"/>
                  <a:t> </a:t>
                </a:r>
              </a:p>
            </p:txBody>
          </p:sp>
        </mc:Choice>
        <mc:Fallback xmlns="">
          <p:sp>
            <p:nvSpPr>
              <p:cNvPr id="3" name="TextBox 2">
                <a:extLst>
                  <a:ext uri="{FF2B5EF4-FFF2-40B4-BE49-F238E27FC236}">
                    <a16:creationId xmlns:a16="http://schemas.microsoft.com/office/drawing/2014/main" id="{636400F7-AA58-2746-A632-E9DB88BE62FE}"/>
                  </a:ext>
                </a:extLst>
              </p:cNvPr>
              <p:cNvSpPr txBox="1">
                <a:spLocks noRot="1" noChangeAspect="1" noMove="1" noResize="1" noEditPoints="1" noAdjustHandles="1" noChangeArrowheads="1" noChangeShapeType="1" noTextEdit="1"/>
              </p:cNvSpPr>
              <p:nvPr/>
            </p:nvSpPr>
            <p:spPr>
              <a:xfrm>
                <a:off x="7207727" y="1797775"/>
                <a:ext cx="4426276" cy="411138"/>
              </a:xfrm>
              <a:prstGeom prst="rect">
                <a:avLst/>
              </a:prstGeom>
              <a:blipFill>
                <a:blip r:embed="rId5"/>
                <a:stretch>
                  <a:fillRect l="-1719" b="-15152"/>
                </a:stretch>
              </a:blipFill>
            </p:spPr>
            <p:txBody>
              <a:bodyPr/>
              <a:lstStyle/>
              <a:p>
                <a:r>
                  <a:rPr lang="en-US">
                    <a:noFill/>
                  </a:rPr>
                  <a:t> </a:t>
                </a:r>
              </a:p>
            </p:txBody>
          </p:sp>
        </mc:Fallback>
      </mc:AlternateContent>
    </p:spTree>
    <p:extLst>
      <p:ext uri="{BB962C8B-B14F-4D97-AF65-F5344CB8AC3E}">
        <p14:creationId xmlns:p14="http://schemas.microsoft.com/office/powerpoint/2010/main" val="444445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fade">
                                      <p:cBhvr>
                                        <p:cTn id="3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B51A3D3-4795-914C-ABB1-CF098CB1C7D1}"/>
              </a:ext>
            </a:extLst>
          </p:cNvPr>
          <p:cNvPicPr>
            <a:picLocks noChangeAspect="1"/>
          </p:cNvPicPr>
          <p:nvPr/>
        </p:nvPicPr>
        <p:blipFill>
          <a:blip r:embed="rId2"/>
          <a:stretch>
            <a:fillRect/>
          </a:stretch>
        </p:blipFill>
        <p:spPr>
          <a:xfrm>
            <a:off x="6477000" y="371931"/>
            <a:ext cx="5423899" cy="6383167"/>
          </a:xfrm>
          <a:prstGeom prst="rect">
            <a:avLst/>
          </a:prstGeom>
        </p:spPr>
      </p:pic>
      <p:pic>
        <p:nvPicPr>
          <p:cNvPr id="5" name="Picture 4">
            <a:extLst>
              <a:ext uri="{FF2B5EF4-FFF2-40B4-BE49-F238E27FC236}">
                <a16:creationId xmlns:a16="http://schemas.microsoft.com/office/drawing/2014/main" id="{06CB7301-0F0C-C343-AE5C-A9C2316253DF}"/>
              </a:ext>
            </a:extLst>
          </p:cNvPr>
          <p:cNvPicPr>
            <a:picLocks noChangeAspect="1"/>
          </p:cNvPicPr>
          <p:nvPr/>
        </p:nvPicPr>
        <p:blipFill>
          <a:blip r:embed="rId3"/>
          <a:stretch>
            <a:fillRect/>
          </a:stretch>
        </p:blipFill>
        <p:spPr>
          <a:xfrm>
            <a:off x="258794" y="838200"/>
            <a:ext cx="6446806" cy="1524000"/>
          </a:xfrm>
          <a:prstGeom prst="rect">
            <a:avLst/>
          </a:prstGeom>
        </p:spPr>
      </p:pic>
      <p:sp>
        <p:nvSpPr>
          <p:cNvPr id="6" name="TextBox 5">
            <a:extLst>
              <a:ext uri="{FF2B5EF4-FFF2-40B4-BE49-F238E27FC236}">
                <a16:creationId xmlns:a16="http://schemas.microsoft.com/office/drawing/2014/main" id="{CD0E4B40-6746-7E45-BB16-9B754562932B}"/>
              </a:ext>
            </a:extLst>
          </p:cNvPr>
          <p:cNvSpPr txBox="1"/>
          <p:nvPr/>
        </p:nvSpPr>
        <p:spPr>
          <a:xfrm>
            <a:off x="1371600" y="2895600"/>
            <a:ext cx="3352800" cy="369332"/>
          </a:xfrm>
          <a:prstGeom prst="rect">
            <a:avLst/>
          </a:prstGeom>
          <a:noFill/>
        </p:spPr>
        <p:txBody>
          <a:bodyPr wrap="square" rtlCol="0">
            <a:spAutoFit/>
          </a:bodyPr>
          <a:lstStyle/>
          <a:p>
            <a:r>
              <a:rPr lang="en-US" dirty="0"/>
              <a:t>W = 55</a:t>
            </a:r>
          </a:p>
        </p:txBody>
      </p:sp>
      <p:sp>
        <p:nvSpPr>
          <p:cNvPr id="7" name="TextBox 6">
            <a:extLst>
              <a:ext uri="{FF2B5EF4-FFF2-40B4-BE49-F238E27FC236}">
                <a16:creationId xmlns:a16="http://schemas.microsoft.com/office/drawing/2014/main" id="{4E8FD8E5-42DC-C648-B21B-C2D68B2FBA07}"/>
              </a:ext>
            </a:extLst>
          </p:cNvPr>
          <p:cNvSpPr txBox="1"/>
          <p:nvPr/>
        </p:nvSpPr>
        <p:spPr>
          <a:xfrm>
            <a:off x="1371600" y="3429000"/>
            <a:ext cx="3352800" cy="369332"/>
          </a:xfrm>
          <a:prstGeom prst="rect">
            <a:avLst/>
          </a:prstGeom>
          <a:noFill/>
        </p:spPr>
        <p:txBody>
          <a:bodyPr wrap="square" rtlCol="0">
            <a:spAutoFit/>
          </a:bodyPr>
          <a:lstStyle/>
          <a:p>
            <a:r>
              <a:rPr lang="en-US" dirty="0" err="1"/>
              <a:t>Pvalue</a:t>
            </a:r>
            <a:r>
              <a:rPr lang="en-US" dirty="0"/>
              <a:t> ~ .01</a:t>
            </a:r>
          </a:p>
        </p:txBody>
      </p:sp>
      <p:sp>
        <p:nvSpPr>
          <p:cNvPr id="8" name="Rectangle 7">
            <a:extLst>
              <a:ext uri="{FF2B5EF4-FFF2-40B4-BE49-F238E27FC236}">
                <a16:creationId xmlns:a16="http://schemas.microsoft.com/office/drawing/2014/main" id="{92C33200-CF02-AF4F-AEDD-A6D4B5C64503}"/>
              </a:ext>
            </a:extLst>
          </p:cNvPr>
          <p:cNvSpPr/>
          <p:nvPr/>
        </p:nvSpPr>
        <p:spPr>
          <a:xfrm>
            <a:off x="349685" y="6508877"/>
            <a:ext cx="6096000" cy="246221"/>
          </a:xfrm>
          <a:prstGeom prst="rect">
            <a:avLst/>
          </a:prstGeom>
        </p:spPr>
        <p:txBody>
          <a:bodyPr>
            <a:spAutoFit/>
          </a:bodyPr>
          <a:lstStyle/>
          <a:p>
            <a:r>
              <a:rPr lang="en-US" sz="1000" dirty="0"/>
              <a:t>https://</a:t>
            </a:r>
            <a:r>
              <a:rPr lang="en-US" sz="1000" dirty="0" err="1"/>
              <a:t>sphweb.bumc.bu.edu</a:t>
            </a:r>
            <a:r>
              <a:rPr lang="en-US" sz="1000" dirty="0"/>
              <a:t>/</a:t>
            </a:r>
            <a:r>
              <a:rPr lang="en-US" sz="1000" dirty="0" err="1"/>
              <a:t>otlt</a:t>
            </a:r>
            <a:r>
              <a:rPr lang="en-US" sz="1000" dirty="0"/>
              <a:t>/mph-modules/bs/bs704_nonparametric/bs704_nonparametric4.html</a:t>
            </a:r>
          </a:p>
        </p:txBody>
      </p:sp>
      <p:sp>
        <p:nvSpPr>
          <p:cNvPr id="9" name="Rectangle 8">
            <a:extLst>
              <a:ext uri="{FF2B5EF4-FFF2-40B4-BE49-F238E27FC236}">
                <a16:creationId xmlns:a16="http://schemas.microsoft.com/office/drawing/2014/main" id="{751BE5C8-FC90-5E46-B7D3-709D020ABED0}"/>
              </a:ext>
            </a:extLst>
          </p:cNvPr>
          <p:cNvSpPr/>
          <p:nvPr/>
        </p:nvSpPr>
        <p:spPr>
          <a:xfrm>
            <a:off x="365343" y="6247267"/>
            <a:ext cx="6096000" cy="261610"/>
          </a:xfrm>
          <a:prstGeom prst="rect">
            <a:avLst/>
          </a:prstGeom>
        </p:spPr>
        <p:txBody>
          <a:bodyPr>
            <a:spAutoFit/>
          </a:bodyPr>
          <a:lstStyle/>
          <a:p>
            <a:r>
              <a:rPr lang="en-US" sz="1100" dirty="0"/>
              <a:t>https://</a:t>
            </a:r>
            <a:r>
              <a:rPr lang="en-US" sz="1100" dirty="0" err="1"/>
              <a:t>onlinepubs.trb.org</a:t>
            </a:r>
            <a:r>
              <a:rPr lang="en-US" sz="1100" dirty="0"/>
              <a:t>/</a:t>
            </a:r>
            <a:r>
              <a:rPr lang="en-US" sz="1100" dirty="0" err="1"/>
              <a:t>onlinepubs</a:t>
            </a:r>
            <a:r>
              <a:rPr lang="en-US" sz="1100" dirty="0"/>
              <a:t>/</a:t>
            </a:r>
            <a:r>
              <a:rPr lang="en-US" sz="1100" dirty="0" err="1"/>
              <a:t>nchrp</a:t>
            </a:r>
            <a:r>
              <a:rPr lang="en-US" sz="1100" dirty="0"/>
              <a:t>/cd-22/manual/v2appendixc.pdf</a:t>
            </a:r>
          </a:p>
        </p:txBody>
      </p:sp>
      <p:sp>
        <p:nvSpPr>
          <p:cNvPr id="2" name="Rectangle 1">
            <a:extLst>
              <a:ext uri="{FF2B5EF4-FFF2-40B4-BE49-F238E27FC236}">
                <a16:creationId xmlns:a16="http://schemas.microsoft.com/office/drawing/2014/main" id="{39AAF317-422C-3E8A-BE3A-E74BDA103C21}"/>
              </a:ext>
            </a:extLst>
          </p:cNvPr>
          <p:cNvSpPr/>
          <p:nvPr/>
        </p:nvSpPr>
        <p:spPr>
          <a:xfrm>
            <a:off x="6934200" y="5486400"/>
            <a:ext cx="1676400" cy="152400"/>
          </a:xfrm>
          <a:prstGeom prst="rect">
            <a:avLst/>
          </a:prstGeom>
          <a:solidFill>
            <a:schemeClr val="accent1">
              <a:alpha val="1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EA87E7C-009B-382A-7C90-17503B3F82D8}"/>
              </a:ext>
            </a:extLst>
          </p:cNvPr>
          <p:cNvSpPr/>
          <p:nvPr/>
        </p:nvSpPr>
        <p:spPr>
          <a:xfrm>
            <a:off x="8458200" y="457200"/>
            <a:ext cx="152400" cy="5181600"/>
          </a:xfrm>
          <a:prstGeom prst="rect">
            <a:avLst/>
          </a:prstGeom>
          <a:solidFill>
            <a:schemeClr val="accent1">
              <a:alpha val="1577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2E3D2869-61CA-073F-43B8-CCAE7FF707E2}"/>
              </a:ext>
            </a:extLst>
          </p:cNvPr>
          <p:cNvSpPr/>
          <p:nvPr/>
        </p:nvSpPr>
        <p:spPr>
          <a:xfrm>
            <a:off x="6934200" y="5486400"/>
            <a:ext cx="228600" cy="15240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19477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2" grpId="0" animBg="1"/>
      <p:bldP spid="3" grpId="0" animBg="1"/>
      <p:bldP spid="1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F5CC1-17A8-144D-BB4D-794B04E87DD3}"/>
              </a:ext>
            </a:extLst>
          </p:cNvPr>
          <p:cNvSpPr>
            <a:spLocks noGrp="1"/>
          </p:cNvSpPr>
          <p:nvPr>
            <p:ph type="title"/>
          </p:nvPr>
        </p:nvSpPr>
        <p:spPr/>
        <p:txBody>
          <a:bodyPr/>
          <a:lstStyle/>
          <a:p>
            <a:r>
              <a:rPr lang="en-US" dirty="0"/>
              <a:t>Ecology: Wildfires!</a:t>
            </a:r>
          </a:p>
        </p:txBody>
      </p:sp>
      <p:sp>
        <p:nvSpPr>
          <p:cNvPr id="3" name="Content Placeholder 2">
            <a:extLst>
              <a:ext uri="{FF2B5EF4-FFF2-40B4-BE49-F238E27FC236}">
                <a16:creationId xmlns:a16="http://schemas.microsoft.com/office/drawing/2014/main" id="{9EBDA57C-0EE1-6348-A2FD-671FDCFD73D9}"/>
              </a:ext>
            </a:extLst>
          </p:cNvPr>
          <p:cNvSpPr>
            <a:spLocks noGrp="1"/>
          </p:cNvSpPr>
          <p:nvPr>
            <p:ph idx="1"/>
          </p:nvPr>
        </p:nvSpPr>
        <p:spPr>
          <a:xfrm>
            <a:off x="381000" y="1600203"/>
            <a:ext cx="11430000" cy="4525963"/>
          </a:xfrm>
        </p:spPr>
        <p:txBody>
          <a:bodyPr/>
          <a:lstStyle/>
          <a:p>
            <a:pPr lvl="0"/>
            <a:r>
              <a:rPr lang="en-US" sz="1800" dirty="0"/>
              <a:t>When wildfires ravage forests, the timber industry argues that logging </a:t>
            </a:r>
            <a:r>
              <a:rPr lang="en-US" sz="1800" b="1" dirty="0"/>
              <a:t>(actual logging of trees … not the mathematical log!)</a:t>
            </a:r>
            <a:r>
              <a:rPr lang="en-US" sz="1800" dirty="0"/>
              <a:t> the burned trees enhances forest recovery; the EPA argues the opposite. The 2002 Biscuit Fire in southwest Oregon provided a test case.  Researchers selected 16 fire-affected plots in 2004, before any logging was done and counted tree seedlings along a randomly located transect pattern in each plot.  They returned in 2005, after nine of the plots had been logged, and counted the tree seedlings along the same transects.  The percent of seedlings lost from 2004 to 2005 is recorded in the file </a:t>
            </a:r>
            <a:r>
              <a:rPr lang="en-US" sz="1800" b="1" i="1" dirty="0" err="1"/>
              <a:t>logging.csv</a:t>
            </a:r>
            <a:r>
              <a:rPr lang="en-US" sz="1800" dirty="0"/>
              <a:t> for logged (L) and unlogged (U) plots:</a:t>
            </a:r>
          </a:p>
          <a:p>
            <a:r>
              <a:rPr lang="en-US" sz="1800" dirty="0"/>
              <a:t>Test the EPA’s assertion (and thus the opposite of the logging industries assertion) that logging </a:t>
            </a:r>
            <a:r>
              <a:rPr lang="en-US" sz="1800" b="1" dirty="0"/>
              <a:t>(again…. not the mathematical log! :)</a:t>
            </a:r>
            <a:r>
              <a:rPr lang="en-US" sz="1800" dirty="0"/>
              <a:t> actually increases the percentage of seedlings lost from 2004 to 2005.  </a:t>
            </a:r>
          </a:p>
          <a:p>
            <a:pPr lvl="1"/>
            <a:r>
              <a:rPr lang="en-US" sz="1600" dirty="0">
                <a:solidFill>
                  <a:schemeClr val="accent4"/>
                </a:solidFill>
              </a:rPr>
              <a:t>Perform a complete analysis using a rank sum test in SAS. (Logging data).</a:t>
            </a:r>
          </a:p>
          <a:p>
            <a:pPr lvl="1"/>
            <a:r>
              <a:rPr lang="en-US" sz="1600" dirty="0">
                <a:solidFill>
                  <a:schemeClr val="accent4"/>
                </a:solidFill>
              </a:rPr>
              <a:t>Verify the p-value and confidence interval by running the rank sum test in R (using R function </a:t>
            </a:r>
            <a:r>
              <a:rPr lang="en-US" sz="1600" dirty="0" err="1">
                <a:solidFill>
                  <a:schemeClr val="accent4"/>
                </a:solidFill>
              </a:rPr>
              <a:t>Wilcox.test</a:t>
            </a:r>
            <a:r>
              <a:rPr lang="en-US" sz="1600" dirty="0">
                <a:solidFill>
                  <a:schemeClr val="accent4"/>
                </a:solidFill>
              </a:rPr>
              <a:t>).  (You do not need to repeat the complete analysis … simply cut and paste a screen shot of your code and the output.) You may use: </a:t>
            </a:r>
            <a:r>
              <a:rPr lang="en-US" sz="1600" u="sng" dirty="0">
                <a:solidFill>
                  <a:schemeClr val="accent4"/>
                </a:solidFill>
                <a:hlinkClick r:id="rId2">
                  <a:extLst>
                    <a:ext uri="{A12FA001-AC4F-418D-AE19-62706E023703}">
                      <ahyp:hlinkClr xmlns:ahyp="http://schemas.microsoft.com/office/drawing/2018/hyperlinkcolor" val="tx"/>
                    </a:ext>
                  </a:extLst>
                </a:hlinkClick>
              </a:rPr>
              <a:t>https://www.r-bloggers.com/wilcoxon-mann-whitney-rank-sum-test-or-test-u/</a:t>
            </a:r>
            <a:r>
              <a:rPr lang="en-US" sz="1600" dirty="0">
                <a:solidFill>
                  <a:schemeClr val="accent4"/>
                </a:solidFill>
              </a:rPr>
              <a:t> for reference. </a:t>
            </a:r>
          </a:p>
          <a:p>
            <a:pPr lvl="1"/>
            <a:r>
              <a:rPr lang="en-US" sz="1600" dirty="0"/>
              <a:t>Finally, perform a permutation test for the difference of means. Finally, perform a permutation test for the difference of means.  As with all ”tests”, this should include a clear conclusion written in the context of the problem and in terms understandable by a client (although it should also include a </a:t>
            </a:r>
            <a:r>
              <a:rPr lang="en-US" sz="1600" dirty="0" err="1"/>
              <a:t>pvalue</a:t>
            </a:r>
            <a:r>
              <a:rPr lang="en-US" sz="1600" dirty="0"/>
              <a:t>.)  </a:t>
            </a:r>
          </a:p>
          <a:p>
            <a:pPr lvl="1"/>
            <a:endParaRPr lang="en-US" sz="1600" dirty="0"/>
          </a:p>
          <a:p>
            <a:endParaRPr lang="en-US" sz="1800" dirty="0"/>
          </a:p>
        </p:txBody>
      </p:sp>
    </p:spTree>
    <p:extLst>
      <p:ext uri="{BB962C8B-B14F-4D97-AF65-F5344CB8AC3E}">
        <p14:creationId xmlns:p14="http://schemas.microsoft.com/office/powerpoint/2010/main" val="1420806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E381D-5667-4D4E-A547-905D6562B986}"/>
              </a:ext>
            </a:extLst>
          </p:cNvPr>
          <p:cNvSpPr>
            <a:spLocks noGrp="1"/>
          </p:cNvSpPr>
          <p:nvPr>
            <p:ph type="title"/>
          </p:nvPr>
        </p:nvSpPr>
        <p:spPr/>
        <p:txBody>
          <a:bodyPr/>
          <a:lstStyle/>
          <a:p>
            <a:r>
              <a:rPr lang="en-US" dirty="0"/>
              <a:t>Permutation Test of the Mean: SAS</a:t>
            </a:r>
          </a:p>
        </p:txBody>
      </p:sp>
      <p:sp>
        <p:nvSpPr>
          <p:cNvPr id="4" name="Rectangle 3">
            <a:extLst>
              <a:ext uri="{FF2B5EF4-FFF2-40B4-BE49-F238E27FC236}">
                <a16:creationId xmlns:a16="http://schemas.microsoft.com/office/drawing/2014/main" id="{4E9BF8D2-F6D4-584E-B724-8571214299D0}"/>
              </a:ext>
            </a:extLst>
          </p:cNvPr>
          <p:cNvSpPr/>
          <p:nvPr/>
        </p:nvSpPr>
        <p:spPr>
          <a:xfrm>
            <a:off x="228600" y="1598051"/>
            <a:ext cx="7543800" cy="5632311"/>
          </a:xfrm>
          <a:prstGeom prst="rect">
            <a:avLst/>
          </a:prstGeom>
        </p:spPr>
        <p:txBody>
          <a:bodyPr wrap="square">
            <a:spAutoFit/>
          </a:bodyPr>
          <a:lstStyle/>
          <a:p>
            <a:r>
              <a:rPr lang="en-US" sz="1200" b="1" dirty="0">
                <a:solidFill>
                  <a:srgbClr val="000080"/>
                </a:solidFill>
                <a:latin typeface="Courier New" panose="02070309020205020404" pitchFamily="49" charset="0"/>
              </a:rPr>
              <a:t>proc</a:t>
            </a:r>
            <a:r>
              <a:rPr lang="en-US" sz="1200" dirty="0">
                <a:solidFill>
                  <a:srgbClr val="000000"/>
                </a:solidFill>
                <a:latin typeface="Courier New" panose="02070309020205020404" pitchFamily="49" charset="0"/>
              </a:rPr>
              <a:t> </a:t>
            </a:r>
            <a:r>
              <a:rPr lang="en-US" sz="1200" b="1" dirty="0" err="1">
                <a:solidFill>
                  <a:srgbClr val="000080"/>
                </a:solidFill>
                <a:latin typeface="Courier New" panose="02070309020205020404" pitchFamily="49" charset="0"/>
              </a:rPr>
              <a:t>iml</a:t>
            </a:r>
            <a:r>
              <a:rPr lang="en-US" sz="1200" dirty="0">
                <a:solidFill>
                  <a:srgbClr val="000000"/>
                </a:solidFill>
                <a:latin typeface="Courier New" panose="02070309020205020404" pitchFamily="49" charset="0"/>
              </a:rPr>
              <a:t>;</a:t>
            </a:r>
            <a:endParaRPr lang="en-US" sz="1200" dirty="0">
              <a:solidFill>
                <a:srgbClr val="000080"/>
              </a:solidFill>
              <a:latin typeface="Courier New" panose="02070309020205020404" pitchFamily="49" charset="0"/>
            </a:endParaRPr>
          </a:p>
          <a:p>
            <a:r>
              <a:rPr lang="en-US" sz="1200" dirty="0">
                <a:latin typeface="Courier New" panose="02070309020205020404" pitchFamily="49" charset="0"/>
              </a:rPr>
              <a:t>L = {</a:t>
            </a:r>
            <a:r>
              <a:rPr lang="en-US" sz="1200" b="1" dirty="0">
                <a:solidFill>
                  <a:srgbClr val="008080"/>
                </a:solidFill>
                <a:latin typeface="Courier New" panose="02070309020205020404" pitchFamily="49" charset="0"/>
              </a:rPr>
              <a:t>45</a:t>
            </a:r>
            <a:r>
              <a:rPr lang="en-US" sz="1200" dirty="0">
                <a:latin typeface="Courier New" panose="02070309020205020404" pitchFamily="49" charset="0"/>
              </a:rPr>
              <a:t>,</a:t>
            </a:r>
            <a:r>
              <a:rPr lang="en-US" sz="1200" b="1" dirty="0">
                <a:solidFill>
                  <a:srgbClr val="008080"/>
                </a:solidFill>
                <a:latin typeface="Courier New" panose="02070309020205020404" pitchFamily="49" charset="0"/>
              </a:rPr>
              <a:t>53.1</a:t>
            </a:r>
            <a:r>
              <a:rPr lang="en-US" sz="1200" dirty="0">
                <a:solidFill>
                  <a:srgbClr val="000000"/>
                </a:solidFill>
                <a:latin typeface="Courier New" panose="02070309020205020404" pitchFamily="49" charset="0"/>
              </a:rPr>
              <a:t>,</a:t>
            </a:r>
            <a:r>
              <a:rPr lang="en-US" sz="1200" b="1" dirty="0">
                <a:solidFill>
                  <a:srgbClr val="008080"/>
                </a:solidFill>
                <a:latin typeface="Courier New" panose="02070309020205020404" pitchFamily="49" charset="0"/>
              </a:rPr>
              <a:t>40.8</a:t>
            </a:r>
            <a:r>
              <a:rPr lang="en-US" sz="1200" dirty="0">
                <a:solidFill>
                  <a:srgbClr val="000000"/>
                </a:solidFill>
                <a:latin typeface="Courier New" panose="02070309020205020404" pitchFamily="49" charset="0"/>
              </a:rPr>
              <a:t>,</a:t>
            </a:r>
            <a:r>
              <a:rPr lang="en-US" sz="1200" b="1" dirty="0">
                <a:solidFill>
                  <a:srgbClr val="008080"/>
                </a:solidFill>
                <a:latin typeface="Courier New" panose="02070309020205020404" pitchFamily="49" charset="0"/>
              </a:rPr>
              <a:t>75.5</a:t>
            </a:r>
            <a:r>
              <a:rPr lang="en-US" sz="1200" dirty="0">
                <a:solidFill>
                  <a:srgbClr val="000000"/>
                </a:solidFill>
                <a:latin typeface="Courier New" panose="02070309020205020404" pitchFamily="49" charset="0"/>
              </a:rPr>
              <a:t>,</a:t>
            </a:r>
            <a:r>
              <a:rPr lang="en-US" sz="1200" b="1" dirty="0">
                <a:solidFill>
                  <a:srgbClr val="008080"/>
                </a:solidFill>
                <a:latin typeface="Courier New" panose="02070309020205020404" pitchFamily="49" charset="0"/>
              </a:rPr>
              <a:t>46.7</a:t>
            </a:r>
            <a:r>
              <a:rPr lang="en-US" sz="1200" dirty="0">
                <a:solidFill>
                  <a:srgbClr val="000000"/>
                </a:solidFill>
                <a:latin typeface="Courier New" panose="02070309020205020404" pitchFamily="49" charset="0"/>
              </a:rPr>
              <a:t>,</a:t>
            </a:r>
            <a:r>
              <a:rPr lang="en-US" sz="1200" b="1" dirty="0">
                <a:solidFill>
                  <a:srgbClr val="008080"/>
                </a:solidFill>
                <a:latin typeface="Courier New" panose="02070309020205020404" pitchFamily="49" charset="0"/>
              </a:rPr>
              <a:t>85.4</a:t>
            </a:r>
            <a:r>
              <a:rPr lang="en-US" sz="1200" dirty="0">
                <a:solidFill>
                  <a:srgbClr val="000000"/>
                </a:solidFill>
                <a:latin typeface="Courier New" panose="02070309020205020404" pitchFamily="49" charset="0"/>
              </a:rPr>
              <a:t>,</a:t>
            </a:r>
            <a:r>
              <a:rPr lang="en-US" sz="1200" b="1" dirty="0">
                <a:solidFill>
                  <a:srgbClr val="008080"/>
                </a:solidFill>
                <a:latin typeface="Courier New" panose="02070309020205020404" pitchFamily="49" charset="0"/>
              </a:rPr>
              <a:t>85.6</a:t>
            </a:r>
            <a:r>
              <a:rPr lang="en-US" sz="1200" dirty="0">
                <a:solidFill>
                  <a:srgbClr val="000000"/>
                </a:solidFill>
                <a:latin typeface="Courier New" panose="02070309020205020404" pitchFamily="49" charset="0"/>
              </a:rPr>
              <a:t>,</a:t>
            </a:r>
            <a:r>
              <a:rPr lang="en-US" sz="1200" b="1" dirty="0">
                <a:solidFill>
                  <a:srgbClr val="008080"/>
                </a:solidFill>
                <a:latin typeface="Courier New" panose="02070309020205020404" pitchFamily="49" charset="0"/>
              </a:rPr>
              <a:t>18.2</a:t>
            </a:r>
            <a:r>
              <a:rPr lang="en-US" sz="1200" dirty="0">
                <a:solidFill>
                  <a:srgbClr val="000000"/>
                </a:solidFill>
                <a:latin typeface="Courier New" panose="02070309020205020404" pitchFamily="49" charset="0"/>
              </a:rPr>
              <a:t>,</a:t>
            </a:r>
            <a:r>
              <a:rPr lang="en-US" sz="1200" b="1" dirty="0">
                <a:solidFill>
                  <a:srgbClr val="008080"/>
                </a:solidFill>
                <a:latin typeface="Courier New" panose="02070309020205020404" pitchFamily="49" charset="0"/>
              </a:rPr>
              <a:t>43.2</a:t>
            </a:r>
            <a:r>
              <a:rPr lang="en-US" sz="1200" dirty="0">
                <a:solidFill>
                  <a:srgbClr val="000000"/>
                </a:solidFill>
                <a:latin typeface="Courier New" panose="02070309020205020404" pitchFamily="49" charset="0"/>
              </a:rPr>
              <a:t>};</a:t>
            </a:r>
            <a:endParaRPr lang="en-US" sz="1200" dirty="0">
              <a:solidFill>
                <a:srgbClr val="008080"/>
              </a:solidFill>
              <a:latin typeface="Courier New" panose="02070309020205020404" pitchFamily="49" charset="0"/>
            </a:endParaRPr>
          </a:p>
          <a:p>
            <a:r>
              <a:rPr lang="en-US" sz="1200" dirty="0">
                <a:latin typeface="Courier New" panose="02070309020205020404" pitchFamily="49" charset="0"/>
              </a:rPr>
              <a:t>U = {</a:t>
            </a:r>
            <a:r>
              <a:rPr lang="en-US" sz="1200" b="1" dirty="0">
                <a:solidFill>
                  <a:srgbClr val="008080"/>
                </a:solidFill>
                <a:latin typeface="Courier New" panose="02070309020205020404" pitchFamily="49" charset="0"/>
              </a:rPr>
              <a:t>23.6</a:t>
            </a:r>
            <a:r>
              <a:rPr lang="en-US" sz="1200" dirty="0">
                <a:latin typeface="Courier New" panose="02070309020205020404" pitchFamily="49" charset="0"/>
              </a:rPr>
              <a:t>,</a:t>
            </a:r>
            <a:r>
              <a:rPr lang="en-US" sz="1200" b="1" dirty="0">
                <a:solidFill>
                  <a:srgbClr val="008080"/>
                </a:solidFill>
                <a:latin typeface="Courier New" panose="02070309020205020404" pitchFamily="49" charset="0"/>
              </a:rPr>
              <a:t>13.3</a:t>
            </a:r>
            <a:r>
              <a:rPr lang="en-US" sz="1200" dirty="0">
                <a:solidFill>
                  <a:srgbClr val="000000"/>
                </a:solidFill>
                <a:latin typeface="Courier New" panose="02070309020205020404" pitchFamily="49" charset="0"/>
              </a:rPr>
              <a:t>,</a:t>
            </a:r>
            <a:r>
              <a:rPr lang="en-US" sz="1200" b="1" dirty="0">
                <a:solidFill>
                  <a:srgbClr val="008080"/>
                </a:solidFill>
                <a:latin typeface="Courier New" panose="02070309020205020404" pitchFamily="49" charset="0"/>
              </a:rPr>
              <a:t>34.2</a:t>
            </a:r>
            <a:r>
              <a:rPr lang="en-US" sz="1200" dirty="0">
                <a:solidFill>
                  <a:srgbClr val="000000"/>
                </a:solidFill>
                <a:latin typeface="Courier New" panose="02070309020205020404" pitchFamily="49" charset="0"/>
              </a:rPr>
              <a:t>,</a:t>
            </a:r>
            <a:r>
              <a:rPr lang="en-US" sz="1200" b="1" dirty="0">
                <a:solidFill>
                  <a:srgbClr val="008080"/>
                </a:solidFill>
                <a:latin typeface="Courier New" panose="02070309020205020404" pitchFamily="49" charset="0"/>
              </a:rPr>
              <a:t>18.1</a:t>
            </a:r>
            <a:r>
              <a:rPr lang="en-US" sz="1200" dirty="0">
                <a:solidFill>
                  <a:srgbClr val="000000"/>
                </a:solidFill>
                <a:latin typeface="Courier New" panose="02070309020205020404" pitchFamily="49" charset="0"/>
              </a:rPr>
              <a:t>,</a:t>
            </a:r>
            <a:r>
              <a:rPr lang="en-US" sz="1200" b="1" dirty="0">
                <a:solidFill>
                  <a:srgbClr val="008080"/>
                </a:solidFill>
                <a:latin typeface="Courier New" panose="02070309020205020404" pitchFamily="49" charset="0"/>
              </a:rPr>
              <a:t>56.1</a:t>
            </a:r>
            <a:r>
              <a:rPr lang="en-US" sz="1200" dirty="0">
                <a:solidFill>
                  <a:srgbClr val="000000"/>
                </a:solidFill>
                <a:latin typeface="Courier New" panose="02070309020205020404" pitchFamily="49" charset="0"/>
              </a:rPr>
              <a:t>,-</a:t>
            </a:r>
            <a:r>
              <a:rPr lang="en-US" sz="1200" b="1" dirty="0">
                <a:solidFill>
                  <a:srgbClr val="008080"/>
                </a:solidFill>
                <a:latin typeface="Courier New" panose="02070309020205020404" pitchFamily="49" charset="0"/>
              </a:rPr>
              <a:t>8.1</a:t>
            </a:r>
            <a:r>
              <a:rPr lang="en-US" sz="1200" dirty="0">
                <a:solidFill>
                  <a:srgbClr val="000000"/>
                </a:solidFill>
                <a:latin typeface="Courier New" panose="02070309020205020404" pitchFamily="49" charset="0"/>
              </a:rPr>
              <a:t>,-</a:t>
            </a:r>
            <a:r>
              <a:rPr lang="en-US" sz="1200" b="1" dirty="0">
                <a:solidFill>
                  <a:srgbClr val="008080"/>
                </a:solidFill>
                <a:latin typeface="Courier New" panose="02070309020205020404" pitchFamily="49" charset="0"/>
              </a:rPr>
              <a:t>20.1</a:t>
            </a:r>
            <a:r>
              <a:rPr lang="en-US" sz="1200" dirty="0">
                <a:solidFill>
                  <a:srgbClr val="000000"/>
                </a:solidFill>
                <a:latin typeface="Courier New" panose="02070309020205020404" pitchFamily="49" charset="0"/>
              </a:rPr>
              <a:t>};</a:t>
            </a:r>
            <a:endParaRPr lang="en-US" sz="1200" dirty="0">
              <a:solidFill>
                <a:srgbClr val="008080"/>
              </a:solidFill>
              <a:latin typeface="Courier New" panose="02070309020205020404" pitchFamily="49" charset="0"/>
            </a:endParaRPr>
          </a:p>
          <a:p>
            <a:r>
              <a:rPr lang="en-US" sz="1200" dirty="0" err="1">
                <a:latin typeface="Courier New" panose="02070309020205020404" pitchFamily="49" charset="0"/>
              </a:rPr>
              <a:t>obsdiff</a:t>
            </a:r>
            <a:r>
              <a:rPr lang="en-US" sz="1200" dirty="0">
                <a:latin typeface="Courier New" panose="02070309020205020404" pitchFamily="49" charset="0"/>
              </a:rPr>
              <a:t> = mean(L) - mean(U);</a:t>
            </a:r>
          </a:p>
          <a:p>
            <a:r>
              <a:rPr lang="en-US" sz="1200" dirty="0">
                <a:solidFill>
                  <a:srgbClr val="0000FF"/>
                </a:solidFill>
                <a:latin typeface="Courier New" panose="02070309020205020404" pitchFamily="49" charset="0"/>
              </a:rPr>
              <a:t>print</a:t>
            </a:r>
            <a:r>
              <a:rPr lang="en-US" sz="1200" dirty="0">
                <a:latin typeface="Courier New" panose="02070309020205020404" pitchFamily="49" charset="0"/>
              </a:rPr>
              <a:t> </a:t>
            </a:r>
            <a:r>
              <a:rPr lang="en-US" sz="1200" dirty="0" err="1">
                <a:latin typeface="Courier New" panose="02070309020205020404" pitchFamily="49" charset="0"/>
              </a:rPr>
              <a:t>obsdiff</a:t>
            </a:r>
            <a:r>
              <a:rPr lang="en-US" sz="1200" dirty="0">
                <a:latin typeface="Courier New" panose="02070309020205020404" pitchFamily="49" charset="0"/>
              </a:rPr>
              <a:t>;</a:t>
            </a:r>
          </a:p>
          <a:p>
            <a:endParaRPr lang="en-US" sz="1200" dirty="0">
              <a:latin typeface="Courier New" panose="02070309020205020404" pitchFamily="49" charset="0"/>
            </a:endParaRPr>
          </a:p>
          <a:p>
            <a:endParaRPr lang="en-US" sz="1200" dirty="0">
              <a:latin typeface="Courier New" panose="02070309020205020404" pitchFamily="49" charset="0"/>
            </a:endParaRPr>
          </a:p>
          <a:p>
            <a:endParaRPr lang="en-US" sz="1200" dirty="0">
              <a:latin typeface="Courier New" panose="02070309020205020404" pitchFamily="49" charset="0"/>
            </a:endParaRPr>
          </a:p>
          <a:p>
            <a:r>
              <a:rPr lang="en-US" sz="1200" dirty="0">
                <a:solidFill>
                  <a:srgbClr val="0000FF"/>
                </a:solidFill>
                <a:latin typeface="Courier New" panose="02070309020205020404" pitchFamily="49" charset="0"/>
              </a:rPr>
              <a:t>call</a:t>
            </a:r>
            <a:r>
              <a:rPr lang="en-US" sz="1200" dirty="0">
                <a:latin typeface="Courier New" panose="02070309020205020404" pitchFamily="49" charset="0"/>
              </a:rPr>
              <a:t> </a:t>
            </a:r>
            <a:r>
              <a:rPr lang="en-US" sz="1200" dirty="0" err="1">
                <a:latin typeface="Courier New" panose="02070309020205020404" pitchFamily="49" charset="0"/>
              </a:rPr>
              <a:t>randseed</a:t>
            </a:r>
            <a:r>
              <a:rPr lang="en-US" sz="1200" dirty="0">
                <a:latin typeface="Courier New" panose="02070309020205020404" pitchFamily="49" charset="0"/>
              </a:rPr>
              <a:t>(</a:t>
            </a:r>
            <a:r>
              <a:rPr lang="en-US" sz="1200" b="1" dirty="0">
                <a:solidFill>
                  <a:srgbClr val="008080"/>
                </a:solidFill>
                <a:latin typeface="Courier New" panose="02070309020205020404" pitchFamily="49" charset="0"/>
              </a:rPr>
              <a:t>12345</a:t>
            </a:r>
            <a:r>
              <a:rPr lang="en-US" sz="1200" dirty="0">
                <a:latin typeface="Courier New" panose="02070309020205020404" pitchFamily="49" charset="0"/>
              </a:rPr>
              <a:t>);                             </a:t>
            </a:r>
            <a:r>
              <a:rPr lang="en-US" sz="1200" dirty="0">
                <a:solidFill>
                  <a:srgbClr val="008000"/>
                </a:solidFill>
                <a:latin typeface="Courier New" panose="02070309020205020404" pitchFamily="49" charset="0"/>
              </a:rPr>
              <a:t>/* set random number seed */</a:t>
            </a:r>
            <a:endParaRPr lang="en-US" sz="1200" dirty="0">
              <a:latin typeface="Courier New" panose="02070309020205020404" pitchFamily="49" charset="0"/>
            </a:endParaRPr>
          </a:p>
          <a:p>
            <a:r>
              <a:rPr lang="en-US" sz="1200" dirty="0" err="1">
                <a:latin typeface="Courier New" panose="02070309020205020404" pitchFamily="49" charset="0"/>
              </a:rPr>
              <a:t>alldata</a:t>
            </a:r>
            <a:r>
              <a:rPr lang="en-US" sz="1200" dirty="0">
                <a:latin typeface="Courier New" panose="02070309020205020404" pitchFamily="49" charset="0"/>
              </a:rPr>
              <a:t> = L // U;                        </a:t>
            </a:r>
            <a:r>
              <a:rPr lang="en-US" sz="1200" dirty="0">
                <a:solidFill>
                  <a:srgbClr val="008000"/>
                </a:solidFill>
                <a:latin typeface="Courier New" panose="02070309020205020404" pitchFamily="49" charset="0"/>
              </a:rPr>
              <a:t>/* stack data in a single vector */</a:t>
            </a:r>
            <a:endParaRPr lang="en-US" sz="1200" dirty="0">
              <a:latin typeface="Courier New" panose="02070309020205020404" pitchFamily="49" charset="0"/>
            </a:endParaRPr>
          </a:p>
          <a:p>
            <a:r>
              <a:rPr lang="en-US" sz="1200" dirty="0">
                <a:latin typeface="Courier New" panose="02070309020205020404" pitchFamily="49" charset="0"/>
              </a:rPr>
              <a:t>N1 = </a:t>
            </a:r>
            <a:r>
              <a:rPr lang="en-US" sz="1200" dirty="0" err="1">
                <a:latin typeface="Courier New" panose="02070309020205020404" pitchFamily="49" charset="0"/>
              </a:rPr>
              <a:t>nrow</a:t>
            </a:r>
            <a:r>
              <a:rPr lang="en-US" sz="1200" dirty="0">
                <a:latin typeface="Courier New" panose="02070309020205020404" pitchFamily="49" charset="0"/>
              </a:rPr>
              <a:t>(L);  N = N1 + </a:t>
            </a:r>
            <a:r>
              <a:rPr lang="en-US" sz="1200" dirty="0" err="1">
                <a:latin typeface="Courier New" panose="02070309020205020404" pitchFamily="49" charset="0"/>
              </a:rPr>
              <a:t>nrow</a:t>
            </a:r>
            <a:r>
              <a:rPr lang="en-US" sz="1200" dirty="0">
                <a:latin typeface="Courier New" panose="02070309020205020404" pitchFamily="49" charset="0"/>
              </a:rPr>
              <a:t>(U);</a:t>
            </a:r>
          </a:p>
          <a:p>
            <a:r>
              <a:rPr lang="en-US" sz="1200" dirty="0" err="1">
                <a:latin typeface="Courier New" panose="02070309020205020404" pitchFamily="49" charset="0"/>
              </a:rPr>
              <a:t>NRepl</a:t>
            </a:r>
            <a:r>
              <a:rPr lang="en-US" sz="1200" dirty="0">
                <a:latin typeface="Courier New" panose="02070309020205020404" pitchFamily="49" charset="0"/>
              </a:rPr>
              <a:t> = </a:t>
            </a:r>
            <a:r>
              <a:rPr lang="en-US" sz="1200" b="1" dirty="0">
                <a:solidFill>
                  <a:srgbClr val="008080"/>
                </a:solidFill>
                <a:latin typeface="Courier New" panose="02070309020205020404" pitchFamily="49" charset="0"/>
              </a:rPr>
              <a:t>9999</a:t>
            </a:r>
            <a:r>
              <a:rPr lang="en-US" sz="1200" dirty="0">
                <a:latin typeface="Courier New" panose="02070309020205020404" pitchFamily="49" charset="0"/>
              </a:rPr>
              <a:t>;                                     </a:t>
            </a:r>
            <a:r>
              <a:rPr lang="en-US" sz="1200" dirty="0">
                <a:solidFill>
                  <a:srgbClr val="008000"/>
                </a:solidFill>
                <a:latin typeface="Courier New" panose="02070309020205020404" pitchFamily="49" charset="0"/>
              </a:rPr>
              <a:t>/* number of permutations */</a:t>
            </a:r>
            <a:endParaRPr lang="en-US" sz="1200" dirty="0">
              <a:latin typeface="Courier New" panose="02070309020205020404" pitchFamily="49" charset="0"/>
            </a:endParaRPr>
          </a:p>
          <a:p>
            <a:r>
              <a:rPr lang="en-US" sz="1200" dirty="0" err="1">
                <a:latin typeface="Courier New" panose="02070309020205020404" pitchFamily="49" charset="0"/>
              </a:rPr>
              <a:t>nulldist</a:t>
            </a:r>
            <a:r>
              <a:rPr lang="en-US" sz="1200" dirty="0">
                <a:latin typeface="Courier New" panose="02070309020205020404" pitchFamily="49" charset="0"/>
              </a:rPr>
              <a:t> = j(NRepl,</a:t>
            </a:r>
            <a:r>
              <a:rPr lang="en-US" sz="1200" b="1" dirty="0">
                <a:solidFill>
                  <a:srgbClr val="008080"/>
                </a:solidFill>
                <a:latin typeface="Courier New" panose="02070309020205020404" pitchFamily="49" charset="0"/>
              </a:rPr>
              <a:t>1</a:t>
            </a:r>
            <a:r>
              <a:rPr lang="en-US" sz="1200" dirty="0">
                <a:latin typeface="Courier New" panose="02070309020205020404" pitchFamily="49" charset="0"/>
              </a:rPr>
              <a:t>);                   </a:t>
            </a:r>
            <a:r>
              <a:rPr lang="en-US" sz="1200" dirty="0">
                <a:solidFill>
                  <a:srgbClr val="008000"/>
                </a:solidFill>
                <a:latin typeface="Courier New" panose="02070309020205020404" pitchFamily="49" charset="0"/>
              </a:rPr>
              <a:t>/* allocate vector to hold results */</a:t>
            </a:r>
            <a:endParaRPr lang="en-US" sz="1200" dirty="0">
              <a:latin typeface="Courier New" panose="02070309020205020404" pitchFamily="49" charset="0"/>
            </a:endParaRPr>
          </a:p>
          <a:p>
            <a:br>
              <a:rPr lang="en-US" sz="1200" dirty="0">
                <a:latin typeface="Courier New" panose="02070309020205020404" pitchFamily="49" charset="0"/>
              </a:rPr>
            </a:br>
            <a:endParaRPr lang="en-US" sz="1200" dirty="0">
              <a:latin typeface="Courier New" panose="02070309020205020404" pitchFamily="49" charset="0"/>
            </a:endParaRPr>
          </a:p>
          <a:p>
            <a:r>
              <a:rPr lang="en-US" sz="1200" dirty="0">
                <a:latin typeface="Courier New" panose="02070309020205020404" pitchFamily="49" charset="0"/>
              </a:rPr>
              <a:t>x = sample(</a:t>
            </a:r>
            <a:r>
              <a:rPr lang="en-US" sz="1200" dirty="0" err="1">
                <a:latin typeface="Courier New" panose="02070309020205020404" pitchFamily="49" charset="0"/>
              </a:rPr>
              <a:t>alldata</a:t>
            </a:r>
            <a:r>
              <a:rPr lang="en-US" sz="1200" dirty="0">
                <a:latin typeface="Courier New" panose="02070309020205020404" pitchFamily="49" charset="0"/>
              </a:rPr>
              <a:t>, N//</a:t>
            </a:r>
            <a:r>
              <a:rPr lang="en-US" sz="1200" dirty="0" err="1">
                <a:latin typeface="Courier New" panose="02070309020205020404" pitchFamily="49" charset="0"/>
              </a:rPr>
              <a:t>NRepl</a:t>
            </a:r>
            <a:r>
              <a:rPr lang="en-US" sz="1200" dirty="0">
                <a:latin typeface="Courier New" panose="02070309020205020404" pitchFamily="49" charset="0"/>
              </a:rPr>
              <a:t>, </a:t>
            </a:r>
            <a:r>
              <a:rPr lang="en-US" sz="1200" dirty="0">
                <a:solidFill>
                  <a:srgbClr val="800080"/>
                </a:solidFill>
                <a:latin typeface="Courier New" panose="02070309020205020404" pitchFamily="49" charset="0"/>
              </a:rPr>
              <a:t>"WOR"</a:t>
            </a:r>
            <a:r>
              <a:rPr lang="en-US" sz="1200" dirty="0">
                <a:latin typeface="Courier New" panose="02070309020205020404" pitchFamily="49" charset="0"/>
              </a:rPr>
              <a:t>);               </a:t>
            </a:r>
            <a:r>
              <a:rPr lang="en-US" sz="1200" dirty="0">
                <a:solidFill>
                  <a:srgbClr val="008000"/>
                </a:solidFill>
                <a:latin typeface="Courier New" panose="02070309020205020404" pitchFamily="49" charset="0"/>
              </a:rPr>
              <a:t>/* create all resamples */</a:t>
            </a:r>
            <a:endParaRPr lang="en-US" sz="1200" dirty="0">
              <a:latin typeface="Courier New" panose="02070309020205020404" pitchFamily="49" charset="0"/>
            </a:endParaRPr>
          </a:p>
          <a:p>
            <a:r>
              <a:rPr lang="en-US" sz="1200" dirty="0" err="1">
                <a:latin typeface="Courier New" panose="02070309020205020404" pitchFamily="49" charset="0"/>
              </a:rPr>
              <a:t>nulldist</a:t>
            </a:r>
            <a:r>
              <a:rPr lang="en-US" sz="1200" dirty="0">
                <a:latin typeface="Courier New" panose="02070309020205020404" pitchFamily="49" charset="0"/>
              </a:rPr>
              <a:t> = x[,</a:t>
            </a:r>
            <a:r>
              <a:rPr lang="en-US" sz="1200" b="1" dirty="0">
                <a:solidFill>
                  <a:srgbClr val="008080"/>
                </a:solidFill>
                <a:latin typeface="Courier New" panose="02070309020205020404" pitchFamily="49" charset="0"/>
              </a:rPr>
              <a:t>1</a:t>
            </a:r>
            <a:r>
              <a:rPr lang="en-US" sz="1200" dirty="0">
                <a:latin typeface="Courier New" panose="02070309020205020404" pitchFamily="49" charset="0"/>
              </a:rPr>
              <a:t>:N1][,:] - x[,(N1+</a:t>
            </a:r>
            <a:r>
              <a:rPr lang="en-US" sz="1200" b="1" dirty="0">
                <a:solidFill>
                  <a:srgbClr val="008080"/>
                </a:solidFill>
                <a:latin typeface="Courier New" panose="02070309020205020404" pitchFamily="49" charset="0"/>
              </a:rPr>
              <a:t>1</a:t>
            </a:r>
            <a:r>
              <a:rPr lang="en-US" sz="1200" dirty="0">
                <a:latin typeface="Courier New" panose="02070309020205020404" pitchFamily="49" charset="0"/>
              </a:rPr>
              <a:t>):N][,:]; </a:t>
            </a:r>
            <a:r>
              <a:rPr lang="en-US" sz="1200" dirty="0">
                <a:solidFill>
                  <a:srgbClr val="008000"/>
                </a:solidFill>
                <a:latin typeface="Courier New" panose="02070309020205020404" pitchFamily="49" charset="0"/>
              </a:rPr>
              <a:t>/* compute all mean differences */</a:t>
            </a:r>
            <a:endParaRPr lang="en-US" sz="1200" dirty="0">
              <a:latin typeface="Courier New" panose="02070309020205020404" pitchFamily="49" charset="0"/>
            </a:endParaRPr>
          </a:p>
          <a:p>
            <a:r>
              <a:rPr lang="en-US" sz="1200" dirty="0">
                <a:latin typeface="Courier New" panose="02070309020205020404" pitchFamily="49" charset="0"/>
              </a:rPr>
              <a:t> </a:t>
            </a:r>
          </a:p>
          <a:p>
            <a:r>
              <a:rPr lang="en-US" sz="1200" dirty="0">
                <a:solidFill>
                  <a:srgbClr val="0000FF"/>
                </a:solidFill>
                <a:latin typeface="Courier New" panose="02070309020205020404" pitchFamily="49" charset="0"/>
              </a:rPr>
              <a:t>title</a:t>
            </a:r>
            <a:r>
              <a:rPr lang="en-US" sz="1200" dirty="0">
                <a:solidFill>
                  <a:srgbClr val="000000"/>
                </a:solidFill>
                <a:latin typeface="Courier New" panose="02070309020205020404" pitchFamily="49" charset="0"/>
              </a:rPr>
              <a:t> </a:t>
            </a:r>
            <a:r>
              <a:rPr lang="en-US" sz="1200" dirty="0">
                <a:solidFill>
                  <a:srgbClr val="800080"/>
                </a:solidFill>
                <a:latin typeface="Courier New" panose="02070309020205020404" pitchFamily="49" charset="0"/>
              </a:rPr>
              <a:t>"Histogram of Null Distribution"</a:t>
            </a:r>
            <a:r>
              <a:rPr lang="en-US" sz="1200" dirty="0">
                <a:solidFill>
                  <a:srgbClr val="000000"/>
                </a:solidFill>
                <a:latin typeface="Courier New" panose="02070309020205020404" pitchFamily="49" charset="0"/>
              </a:rPr>
              <a:t>;</a:t>
            </a:r>
            <a:endParaRPr lang="en-US" sz="1200" dirty="0">
              <a:solidFill>
                <a:srgbClr val="800080"/>
              </a:solidFill>
              <a:latin typeface="Courier New" panose="02070309020205020404" pitchFamily="49" charset="0"/>
            </a:endParaRPr>
          </a:p>
          <a:p>
            <a:r>
              <a:rPr lang="en-US" sz="1200" dirty="0" err="1">
                <a:solidFill>
                  <a:srgbClr val="000000"/>
                </a:solidFill>
                <a:latin typeface="Courier New" panose="02070309020205020404" pitchFamily="49" charset="0"/>
              </a:rPr>
              <a:t>refline</a:t>
            </a:r>
            <a:r>
              <a:rPr lang="en-US" sz="1200" dirty="0">
                <a:solidFill>
                  <a:srgbClr val="000000"/>
                </a:solidFill>
                <a:latin typeface="Courier New" panose="02070309020205020404" pitchFamily="49" charset="0"/>
              </a:rPr>
              <a:t> = </a:t>
            </a:r>
            <a:r>
              <a:rPr lang="en-US" sz="1200" dirty="0">
                <a:solidFill>
                  <a:srgbClr val="800080"/>
                </a:solidFill>
                <a:latin typeface="Courier New" panose="02070309020205020404" pitchFamily="49" charset="0"/>
              </a:rPr>
              <a:t>"</a:t>
            </a:r>
            <a:r>
              <a:rPr lang="en-US" sz="1200" dirty="0" err="1">
                <a:solidFill>
                  <a:srgbClr val="800080"/>
                </a:solidFill>
                <a:latin typeface="Courier New" panose="02070309020205020404" pitchFamily="49" charset="0"/>
              </a:rPr>
              <a:t>refline</a:t>
            </a:r>
            <a:r>
              <a:rPr lang="en-US" sz="1200" dirty="0">
                <a:solidFill>
                  <a:srgbClr val="800080"/>
                </a:solidFill>
                <a:latin typeface="Courier New" panose="02070309020205020404" pitchFamily="49" charset="0"/>
              </a:rPr>
              <a:t> "</a:t>
            </a:r>
            <a:r>
              <a:rPr lang="en-US" sz="1200" dirty="0">
                <a:solidFill>
                  <a:srgbClr val="000000"/>
                </a:solidFill>
                <a:latin typeface="Courier New" panose="02070309020205020404" pitchFamily="49" charset="0"/>
              </a:rPr>
              <a:t> + char(</a:t>
            </a:r>
            <a:r>
              <a:rPr lang="en-US" sz="1200" dirty="0" err="1">
                <a:solidFill>
                  <a:srgbClr val="000000"/>
                </a:solidFill>
                <a:latin typeface="Courier New" panose="02070309020205020404" pitchFamily="49" charset="0"/>
              </a:rPr>
              <a:t>obsdiff</a:t>
            </a:r>
            <a:r>
              <a:rPr lang="en-US" sz="1200" dirty="0">
                <a:solidFill>
                  <a:srgbClr val="000000"/>
                </a:solidFill>
                <a:latin typeface="Courier New" panose="02070309020205020404" pitchFamily="49" charset="0"/>
              </a:rPr>
              <a:t>) + </a:t>
            </a:r>
            <a:r>
              <a:rPr lang="en-US" sz="1200" dirty="0">
                <a:solidFill>
                  <a:srgbClr val="800080"/>
                </a:solidFill>
                <a:latin typeface="Courier New" panose="02070309020205020404" pitchFamily="49" charset="0"/>
              </a:rPr>
              <a:t>" / axis=x </a:t>
            </a:r>
            <a:r>
              <a:rPr lang="en-US" sz="1200" dirty="0" err="1">
                <a:solidFill>
                  <a:srgbClr val="800080"/>
                </a:solidFill>
                <a:latin typeface="Courier New" panose="02070309020205020404" pitchFamily="49" charset="0"/>
              </a:rPr>
              <a:t>lineattrs</a:t>
            </a:r>
            <a:r>
              <a:rPr lang="en-US" sz="1200" dirty="0">
                <a:solidFill>
                  <a:srgbClr val="800080"/>
                </a:solidFill>
                <a:latin typeface="Courier New" panose="02070309020205020404" pitchFamily="49" charset="0"/>
              </a:rPr>
              <a:t>=(color=red);"</a:t>
            </a:r>
            <a:r>
              <a:rPr lang="en-US" sz="1200" dirty="0">
                <a:solidFill>
                  <a:srgbClr val="000000"/>
                </a:solidFill>
                <a:latin typeface="Courier New" panose="02070309020205020404" pitchFamily="49" charset="0"/>
              </a:rPr>
              <a:t>;</a:t>
            </a:r>
            <a:endParaRPr lang="en-US" sz="1200" dirty="0">
              <a:solidFill>
                <a:srgbClr val="800080"/>
              </a:solidFill>
              <a:latin typeface="Courier New" panose="02070309020205020404" pitchFamily="49" charset="0"/>
            </a:endParaRPr>
          </a:p>
          <a:p>
            <a:r>
              <a:rPr lang="en-US" sz="1200" dirty="0">
                <a:solidFill>
                  <a:srgbClr val="0000FF"/>
                </a:solidFill>
                <a:latin typeface="Courier New" panose="02070309020205020404" pitchFamily="49" charset="0"/>
              </a:rPr>
              <a:t>call</a:t>
            </a:r>
            <a:r>
              <a:rPr lang="en-US" sz="1200" dirty="0">
                <a:latin typeface="Courier New" panose="02070309020205020404" pitchFamily="49" charset="0"/>
              </a:rPr>
              <a:t> Histogram(</a:t>
            </a:r>
            <a:r>
              <a:rPr lang="en-US" sz="1200" dirty="0" err="1">
                <a:latin typeface="Courier New" panose="02070309020205020404" pitchFamily="49" charset="0"/>
              </a:rPr>
              <a:t>nulldist</a:t>
            </a:r>
            <a:r>
              <a:rPr lang="en-US" sz="1200" dirty="0">
                <a:latin typeface="Courier New" panose="02070309020205020404" pitchFamily="49" charset="0"/>
              </a:rPr>
              <a:t>) other=</a:t>
            </a:r>
            <a:r>
              <a:rPr lang="en-US" sz="1200" dirty="0" err="1">
                <a:latin typeface="Courier New" panose="02070309020205020404" pitchFamily="49" charset="0"/>
              </a:rPr>
              <a:t>refline</a:t>
            </a:r>
            <a:r>
              <a:rPr lang="en-US" sz="1200" dirty="0">
                <a:latin typeface="Courier New" panose="02070309020205020404" pitchFamily="49" charset="0"/>
              </a:rPr>
              <a:t>;</a:t>
            </a:r>
          </a:p>
          <a:p>
            <a:endParaRPr lang="en-US" sz="1200" dirty="0">
              <a:latin typeface="Courier New" panose="02070309020205020404" pitchFamily="49" charset="0"/>
            </a:endParaRPr>
          </a:p>
          <a:p>
            <a:r>
              <a:rPr lang="en-US" sz="1200" dirty="0">
                <a:solidFill>
                  <a:srgbClr val="0000FF"/>
                </a:solidFill>
                <a:latin typeface="Courier New" panose="02070309020205020404" pitchFamily="49" charset="0"/>
              </a:rPr>
              <a:t>create</a:t>
            </a:r>
            <a:r>
              <a:rPr lang="en-US" sz="1200" dirty="0">
                <a:latin typeface="Courier New" panose="02070309020205020404" pitchFamily="49" charset="0"/>
              </a:rPr>
              <a:t> </a:t>
            </a:r>
            <a:r>
              <a:rPr lang="en-US" sz="1200" dirty="0" err="1">
                <a:latin typeface="Courier New" panose="02070309020205020404" pitchFamily="49" charset="0"/>
              </a:rPr>
              <a:t>newds</a:t>
            </a:r>
            <a:r>
              <a:rPr lang="en-US" sz="1200" dirty="0">
                <a:latin typeface="Courier New" panose="02070309020205020404" pitchFamily="49" charset="0"/>
              </a:rPr>
              <a:t> </a:t>
            </a:r>
            <a:r>
              <a:rPr lang="en-US" sz="1200" dirty="0">
                <a:solidFill>
                  <a:srgbClr val="0000FF"/>
                </a:solidFill>
                <a:latin typeface="Courier New" panose="02070309020205020404" pitchFamily="49" charset="0"/>
              </a:rPr>
              <a:t>from</a:t>
            </a:r>
            <a:r>
              <a:rPr lang="en-US" sz="1200" dirty="0">
                <a:latin typeface="Courier New" panose="02070309020205020404" pitchFamily="49" charset="0"/>
              </a:rPr>
              <a:t> </a:t>
            </a:r>
            <a:r>
              <a:rPr lang="en-US" sz="1200" dirty="0" err="1">
                <a:latin typeface="Courier New" panose="02070309020205020404" pitchFamily="49" charset="0"/>
              </a:rPr>
              <a:t>nulldist</a:t>
            </a:r>
            <a:r>
              <a:rPr lang="en-US" sz="1200" dirty="0">
                <a:latin typeface="Courier New" panose="02070309020205020404" pitchFamily="49" charset="0"/>
              </a:rPr>
              <a:t>;                                                                      </a:t>
            </a:r>
          </a:p>
          <a:p>
            <a:r>
              <a:rPr lang="en-US" sz="1200" dirty="0">
                <a:solidFill>
                  <a:srgbClr val="0000FF"/>
                </a:solidFill>
                <a:latin typeface="Courier New" panose="02070309020205020404" pitchFamily="49" charset="0"/>
              </a:rPr>
              <a:t>append</a:t>
            </a:r>
            <a:r>
              <a:rPr lang="en-US" sz="1200" dirty="0">
                <a:latin typeface="Courier New" panose="02070309020205020404" pitchFamily="49" charset="0"/>
              </a:rPr>
              <a:t> </a:t>
            </a:r>
            <a:r>
              <a:rPr lang="en-US" sz="1200" dirty="0">
                <a:solidFill>
                  <a:srgbClr val="0000FF"/>
                </a:solidFill>
                <a:latin typeface="Courier New" panose="02070309020205020404" pitchFamily="49" charset="0"/>
              </a:rPr>
              <a:t>from</a:t>
            </a:r>
            <a:r>
              <a:rPr lang="en-US" sz="1200" dirty="0">
                <a:latin typeface="Courier New" panose="02070309020205020404" pitchFamily="49" charset="0"/>
              </a:rPr>
              <a:t> </a:t>
            </a:r>
            <a:r>
              <a:rPr lang="en-US" sz="1200" dirty="0" err="1">
                <a:latin typeface="Courier New" panose="02070309020205020404" pitchFamily="49" charset="0"/>
              </a:rPr>
              <a:t>nulldist</a:t>
            </a:r>
            <a:r>
              <a:rPr lang="en-US" sz="1200" dirty="0">
                <a:latin typeface="Courier New" panose="02070309020205020404" pitchFamily="49" charset="0"/>
              </a:rPr>
              <a:t>; </a:t>
            </a:r>
          </a:p>
          <a:p>
            <a:endParaRPr lang="en-US" sz="1200" dirty="0">
              <a:latin typeface="Courier New" panose="02070309020205020404" pitchFamily="49" charset="0"/>
            </a:endParaRPr>
          </a:p>
          <a:p>
            <a:r>
              <a:rPr lang="en-US" sz="1200" b="1" dirty="0">
                <a:solidFill>
                  <a:srgbClr val="000080"/>
                </a:solidFill>
                <a:latin typeface="Courier New" panose="02070309020205020404" pitchFamily="49" charset="0"/>
              </a:rPr>
              <a:t>run</a:t>
            </a:r>
            <a:r>
              <a:rPr lang="en-US" sz="1200" dirty="0">
                <a:solidFill>
                  <a:srgbClr val="000000"/>
                </a:solidFill>
                <a:latin typeface="Courier New" panose="02070309020205020404" pitchFamily="49" charset="0"/>
              </a:rPr>
              <a:t>;</a:t>
            </a:r>
            <a:endParaRPr lang="en-US" sz="1200" dirty="0">
              <a:solidFill>
                <a:srgbClr val="000080"/>
              </a:solidFill>
              <a:latin typeface="Courier New" panose="02070309020205020404" pitchFamily="49" charset="0"/>
            </a:endParaRPr>
          </a:p>
          <a:p>
            <a:br>
              <a:rPr lang="en-US" sz="1200" dirty="0">
                <a:latin typeface="Courier New" panose="02070309020205020404" pitchFamily="49" charset="0"/>
              </a:rPr>
            </a:br>
            <a:endParaRPr lang="en-US" sz="1200" dirty="0">
              <a:latin typeface="Courier New" panose="02070309020205020404" pitchFamily="49" charset="0"/>
            </a:endParaRPr>
          </a:p>
          <a:p>
            <a:endParaRPr lang="en-US" sz="1200" dirty="0">
              <a:solidFill>
                <a:srgbClr val="000080"/>
              </a:solidFill>
              <a:effectLst/>
              <a:latin typeface="Courier New" panose="02070309020205020404" pitchFamily="49" charset="0"/>
            </a:endParaRPr>
          </a:p>
        </p:txBody>
      </p:sp>
      <p:sp>
        <p:nvSpPr>
          <p:cNvPr id="5" name="Rectangle 4">
            <a:extLst>
              <a:ext uri="{FF2B5EF4-FFF2-40B4-BE49-F238E27FC236}">
                <a16:creationId xmlns:a16="http://schemas.microsoft.com/office/drawing/2014/main" id="{E23A5BAA-1D5A-4A40-A8F4-275CB919F6CC}"/>
              </a:ext>
            </a:extLst>
          </p:cNvPr>
          <p:cNvSpPr/>
          <p:nvPr/>
        </p:nvSpPr>
        <p:spPr>
          <a:xfrm>
            <a:off x="7772400" y="1371600"/>
            <a:ext cx="4343400" cy="3416320"/>
          </a:xfrm>
          <a:prstGeom prst="rect">
            <a:avLst/>
          </a:prstGeom>
        </p:spPr>
        <p:txBody>
          <a:bodyPr wrap="square">
            <a:spAutoFit/>
          </a:bodyPr>
          <a:lstStyle/>
          <a:p>
            <a:br>
              <a:rPr lang="en-US" sz="1200" dirty="0">
                <a:latin typeface="Courier New" panose="02070309020205020404" pitchFamily="49" charset="0"/>
              </a:rPr>
            </a:br>
            <a:endParaRPr lang="en-US" sz="1200" dirty="0">
              <a:latin typeface="Courier New" panose="02070309020205020404" pitchFamily="49" charset="0"/>
            </a:endParaRPr>
          </a:p>
          <a:p>
            <a:r>
              <a:rPr lang="en-US" sz="1200" b="1" dirty="0">
                <a:solidFill>
                  <a:srgbClr val="000080"/>
                </a:solidFill>
                <a:latin typeface="Courier New" panose="02070309020205020404" pitchFamily="49" charset="0"/>
              </a:rPr>
              <a:t>data</a:t>
            </a:r>
            <a:r>
              <a:rPr lang="en-US" sz="1200" dirty="0">
                <a:latin typeface="Courier New" panose="02070309020205020404" pitchFamily="49" charset="0"/>
              </a:rPr>
              <a:t> </a:t>
            </a:r>
            <a:r>
              <a:rPr lang="en-US" sz="1200" dirty="0" err="1">
                <a:latin typeface="Courier New" panose="02070309020205020404" pitchFamily="49" charset="0"/>
              </a:rPr>
              <a:t>pvaluecalc</a:t>
            </a:r>
            <a:r>
              <a:rPr lang="en-US" sz="1200" dirty="0">
                <a:latin typeface="Courier New" panose="02070309020205020404" pitchFamily="49" charset="0"/>
              </a:rPr>
              <a:t>;</a:t>
            </a:r>
          </a:p>
          <a:p>
            <a:r>
              <a:rPr lang="en-US" sz="1200" dirty="0">
                <a:solidFill>
                  <a:srgbClr val="0000FF"/>
                </a:solidFill>
                <a:latin typeface="Courier New" panose="02070309020205020404" pitchFamily="49" charset="0"/>
              </a:rPr>
              <a:t>set</a:t>
            </a:r>
            <a:r>
              <a:rPr lang="en-US" sz="1200" dirty="0">
                <a:latin typeface="Courier New" panose="02070309020205020404" pitchFamily="49" charset="0"/>
              </a:rPr>
              <a:t> </a:t>
            </a:r>
            <a:r>
              <a:rPr lang="en-US" sz="1200" dirty="0" err="1">
                <a:latin typeface="Courier New" panose="02070309020205020404" pitchFamily="49" charset="0"/>
              </a:rPr>
              <a:t>newds</a:t>
            </a:r>
            <a:r>
              <a:rPr lang="en-US" sz="1200" dirty="0">
                <a:latin typeface="Courier New" panose="02070309020205020404" pitchFamily="49" charset="0"/>
              </a:rPr>
              <a:t>;</a:t>
            </a:r>
          </a:p>
          <a:p>
            <a:r>
              <a:rPr lang="en-US" sz="1200" dirty="0">
                <a:latin typeface="Courier New" panose="02070309020205020404" pitchFamily="49" charset="0"/>
              </a:rPr>
              <a:t>count = </a:t>
            </a:r>
            <a:r>
              <a:rPr lang="en-US" sz="1200" b="1" dirty="0">
                <a:solidFill>
                  <a:srgbClr val="008080"/>
                </a:solidFill>
                <a:latin typeface="Courier New" panose="02070309020205020404" pitchFamily="49" charset="0"/>
              </a:rPr>
              <a:t>0</a:t>
            </a:r>
            <a:r>
              <a:rPr lang="en-US" sz="1200" dirty="0">
                <a:latin typeface="Courier New" panose="02070309020205020404" pitchFamily="49" charset="0"/>
              </a:rPr>
              <a:t>;</a:t>
            </a:r>
          </a:p>
          <a:p>
            <a:r>
              <a:rPr lang="en-US" sz="1200" dirty="0">
                <a:solidFill>
                  <a:srgbClr val="0000FF"/>
                </a:solidFill>
                <a:latin typeface="Courier New" panose="02070309020205020404" pitchFamily="49" charset="0"/>
              </a:rPr>
              <a:t>if</a:t>
            </a:r>
            <a:r>
              <a:rPr lang="en-US" sz="1200" dirty="0">
                <a:latin typeface="Courier New" panose="02070309020205020404" pitchFamily="49" charset="0"/>
              </a:rPr>
              <a:t> (COL1 &gt;= </a:t>
            </a:r>
            <a:r>
              <a:rPr lang="en-US" sz="1200" b="1" dirty="0">
                <a:solidFill>
                  <a:srgbClr val="008080"/>
                </a:solidFill>
                <a:latin typeface="Courier New" panose="02070309020205020404" pitchFamily="49" charset="0"/>
              </a:rPr>
              <a:t>38.1048</a:t>
            </a:r>
            <a:r>
              <a:rPr lang="en-US" sz="1200" dirty="0">
                <a:latin typeface="Courier New" panose="02070309020205020404" pitchFamily="49" charset="0"/>
              </a:rPr>
              <a:t>) </a:t>
            </a:r>
            <a:r>
              <a:rPr lang="en-US" sz="1200" dirty="0">
                <a:solidFill>
                  <a:srgbClr val="0000FF"/>
                </a:solidFill>
                <a:latin typeface="Courier New" panose="02070309020205020404" pitchFamily="49" charset="0"/>
              </a:rPr>
              <a:t>then</a:t>
            </a:r>
            <a:r>
              <a:rPr lang="en-US" sz="1200" dirty="0">
                <a:latin typeface="Courier New" panose="02070309020205020404" pitchFamily="49" charset="0"/>
              </a:rPr>
              <a:t> count = count + </a:t>
            </a:r>
            <a:r>
              <a:rPr lang="en-US" sz="1200" b="1" dirty="0">
                <a:solidFill>
                  <a:srgbClr val="008080"/>
                </a:solidFill>
                <a:latin typeface="Courier New" panose="02070309020205020404" pitchFamily="49" charset="0"/>
              </a:rPr>
              <a:t>1</a:t>
            </a:r>
            <a:r>
              <a:rPr lang="en-US" sz="1200" dirty="0">
                <a:latin typeface="Courier New" panose="02070309020205020404" pitchFamily="49" charset="0"/>
              </a:rPr>
              <a:t>;</a:t>
            </a:r>
          </a:p>
          <a:p>
            <a:r>
              <a:rPr lang="en-US" sz="1200" dirty="0" err="1">
                <a:latin typeface="Courier New" panose="02070309020205020404" pitchFamily="49" charset="0"/>
              </a:rPr>
              <a:t>pvalue</a:t>
            </a:r>
            <a:r>
              <a:rPr lang="en-US" sz="1200" dirty="0">
                <a:latin typeface="Courier New" panose="02070309020205020404" pitchFamily="49" charset="0"/>
              </a:rPr>
              <a:t> = count / </a:t>
            </a:r>
            <a:r>
              <a:rPr lang="en-US" sz="1200" b="1" dirty="0">
                <a:solidFill>
                  <a:srgbClr val="008080"/>
                </a:solidFill>
                <a:latin typeface="Courier New" panose="02070309020205020404" pitchFamily="49" charset="0"/>
              </a:rPr>
              <a:t>10000</a:t>
            </a:r>
            <a:r>
              <a:rPr lang="en-US" sz="1200" dirty="0">
                <a:latin typeface="Courier New" panose="02070309020205020404" pitchFamily="49" charset="0"/>
              </a:rPr>
              <a:t>;</a:t>
            </a:r>
          </a:p>
          <a:p>
            <a:r>
              <a:rPr lang="en-US" sz="1200" b="1" dirty="0">
                <a:solidFill>
                  <a:srgbClr val="000080"/>
                </a:solidFill>
                <a:latin typeface="Courier New" panose="02070309020205020404" pitchFamily="49" charset="0"/>
              </a:rPr>
              <a:t>run</a:t>
            </a:r>
            <a:r>
              <a:rPr lang="en-US" sz="1200" dirty="0">
                <a:solidFill>
                  <a:srgbClr val="000000"/>
                </a:solidFill>
                <a:latin typeface="Courier New" panose="02070309020205020404" pitchFamily="49" charset="0"/>
              </a:rPr>
              <a:t>;</a:t>
            </a:r>
            <a:endParaRPr lang="en-US" sz="1200" dirty="0">
              <a:solidFill>
                <a:srgbClr val="000080"/>
              </a:solidFill>
              <a:latin typeface="Courier New" panose="02070309020205020404" pitchFamily="49" charset="0"/>
            </a:endParaRPr>
          </a:p>
          <a:p>
            <a:br>
              <a:rPr lang="en-US" sz="1200" dirty="0">
                <a:latin typeface="Courier New" panose="02070309020205020404" pitchFamily="49" charset="0"/>
              </a:rPr>
            </a:br>
            <a:endParaRPr lang="en-US" sz="1200" dirty="0">
              <a:latin typeface="Courier New" panose="02070309020205020404" pitchFamily="49" charset="0"/>
            </a:endParaRPr>
          </a:p>
          <a:p>
            <a:r>
              <a:rPr lang="en-US" sz="1200" b="1" dirty="0">
                <a:solidFill>
                  <a:srgbClr val="000080"/>
                </a:solidFill>
                <a:latin typeface="Courier New" panose="02070309020205020404" pitchFamily="49" charset="0"/>
              </a:rPr>
              <a:t>proc</a:t>
            </a:r>
            <a:r>
              <a:rPr lang="en-US" sz="1200" dirty="0">
                <a:latin typeface="Courier New" panose="02070309020205020404" pitchFamily="49" charset="0"/>
              </a:rPr>
              <a:t> </a:t>
            </a:r>
            <a:r>
              <a:rPr lang="en-US" sz="1200" b="1" dirty="0">
                <a:solidFill>
                  <a:srgbClr val="000080"/>
                </a:solidFill>
                <a:latin typeface="Courier New" panose="02070309020205020404" pitchFamily="49" charset="0"/>
              </a:rPr>
              <a:t>univariate</a:t>
            </a:r>
            <a:r>
              <a:rPr lang="en-US" sz="1200" dirty="0">
                <a:latin typeface="Courier New" panose="02070309020205020404" pitchFamily="49" charset="0"/>
              </a:rPr>
              <a:t> </a:t>
            </a:r>
            <a:r>
              <a:rPr lang="en-US" sz="1200" dirty="0">
                <a:solidFill>
                  <a:srgbClr val="0000FF"/>
                </a:solidFill>
                <a:latin typeface="Courier New" panose="02070309020205020404" pitchFamily="49" charset="0"/>
              </a:rPr>
              <a:t>data</a:t>
            </a:r>
            <a:r>
              <a:rPr lang="en-US" sz="1200" dirty="0">
                <a:latin typeface="Courier New" panose="02070309020205020404" pitchFamily="49" charset="0"/>
              </a:rPr>
              <a:t> = </a:t>
            </a:r>
            <a:r>
              <a:rPr lang="en-US" sz="1200" dirty="0" err="1">
                <a:latin typeface="Courier New" panose="02070309020205020404" pitchFamily="49" charset="0"/>
              </a:rPr>
              <a:t>pvaluecalc</a:t>
            </a:r>
            <a:r>
              <a:rPr lang="en-US" sz="1200" dirty="0">
                <a:latin typeface="Courier New" panose="02070309020205020404" pitchFamily="49" charset="0"/>
              </a:rPr>
              <a:t>;</a:t>
            </a:r>
          </a:p>
          <a:p>
            <a:r>
              <a:rPr lang="en-US" sz="1200" dirty="0">
                <a:solidFill>
                  <a:srgbClr val="0000FF"/>
                </a:solidFill>
                <a:latin typeface="Courier New" panose="02070309020205020404" pitchFamily="49" charset="0"/>
              </a:rPr>
              <a:t>var</a:t>
            </a:r>
            <a:r>
              <a:rPr lang="en-US" sz="1200" dirty="0">
                <a:latin typeface="Courier New" panose="02070309020205020404" pitchFamily="49" charset="0"/>
              </a:rPr>
              <a:t> </a:t>
            </a:r>
            <a:r>
              <a:rPr lang="en-US" sz="1200" dirty="0" err="1">
                <a:latin typeface="Courier New" panose="02070309020205020404" pitchFamily="49" charset="0"/>
              </a:rPr>
              <a:t>pvalue</a:t>
            </a:r>
            <a:r>
              <a:rPr lang="en-US" sz="1200" dirty="0">
                <a:latin typeface="Courier New" panose="02070309020205020404" pitchFamily="49" charset="0"/>
              </a:rPr>
              <a:t>;</a:t>
            </a:r>
          </a:p>
          <a:p>
            <a:r>
              <a:rPr lang="en-US" sz="1200" dirty="0">
                <a:solidFill>
                  <a:srgbClr val="0000FF"/>
                </a:solidFill>
                <a:latin typeface="Courier New" panose="02070309020205020404" pitchFamily="49" charset="0"/>
              </a:rPr>
              <a:t>output</a:t>
            </a:r>
            <a:r>
              <a:rPr lang="en-US" sz="1200" dirty="0">
                <a:latin typeface="Courier New" panose="02070309020205020404" pitchFamily="49" charset="0"/>
              </a:rPr>
              <a:t> </a:t>
            </a:r>
            <a:r>
              <a:rPr lang="en-US" sz="1200" dirty="0">
                <a:solidFill>
                  <a:srgbClr val="0000FF"/>
                </a:solidFill>
                <a:latin typeface="Courier New" panose="02070309020205020404" pitchFamily="49" charset="0"/>
              </a:rPr>
              <a:t>out</a:t>
            </a:r>
            <a:r>
              <a:rPr lang="en-US" sz="1200" dirty="0">
                <a:latin typeface="Courier New" panose="02070309020205020404" pitchFamily="49" charset="0"/>
              </a:rPr>
              <a:t> = </a:t>
            </a:r>
            <a:r>
              <a:rPr lang="en-US" sz="1200" dirty="0" err="1">
                <a:latin typeface="Courier New" panose="02070309020205020404" pitchFamily="49" charset="0"/>
              </a:rPr>
              <a:t>pvalue</a:t>
            </a:r>
            <a:r>
              <a:rPr lang="en-US" sz="1200" dirty="0">
                <a:latin typeface="Courier New" panose="02070309020205020404" pitchFamily="49" charset="0"/>
              </a:rPr>
              <a:t> </a:t>
            </a:r>
            <a:r>
              <a:rPr lang="en-US" sz="1200" dirty="0">
                <a:solidFill>
                  <a:srgbClr val="0000FF"/>
                </a:solidFill>
                <a:latin typeface="Courier New" panose="02070309020205020404" pitchFamily="49" charset="0"/>
              </a:rPr>
              <a:t>sum</a:t>
            </a:r>
            <a:r>
              <a:rPr lang="en-US" sz="1200" dirty="0">
                <a:latin typeface="Courier New" panose="02070309020205020404" pitchFamily="49" charset="0"/>
              </a:rPr>
              <a:t> = </a:t>
            </a:r>
            <a:r>
              <a:rPr lang="en-US" sz="1200" dirty="0" err="1">
                <a:latin typeface="Courier New" panose="02070309020205020404" pitchFamily="49" charset="0"/>
              </a:rPr>
              <a:t>pvalue</a:t>
            </a:r>
            <a:r>
              <a:rPr lang="en-US" sz="1200" dirty="0">
                <a:latin typeface="Courier New" panose="02070309020205020404" pitchFamily="49" charset="0"/>
              </a:rPr>
              <a:t>;</a:t>
            </a:r>
          </a:p>
          <a:p>
            <a:r>
              <a:rPr lang="en-US" sz="1200" b="1" dirty="0">
                <a:solidFill>
                  <a:srgbClr val="000080"/>
                </a:solidFill>
                <a:latin typeface="Courier New" panose="02070309020205020404" pitchFamily="49" charset="0"/>
              </a:rPr>
              <a:t>run</a:t>
            </a:r>
            <a:r>
              <a:rPr lang="en-US" sz="1200" dirty="0">
                <a:solidFill>
                  <a:srgbClr val="000000"/>
                </a:solidFill>
                <a:latin typeface="Courier New" panose="02070309020205020404" pitchFamily="49" charset="0"/>
              </a:rPr>
              <a:t>;</a:t>
            </a:r>
            <a:endParaRPr lang="en-US" sz="1200" dirty="0">
              <a:solidFill>
                <a:srgbClr val="000080"/>
              </a:solidFill>
              <a:latin typeface="Courier New" panose="02070309020205020404" pitchFamily="49" charset="0"/>
            </a:endParaRPr>
          </a:p>
          <a:p>
            <a:br>
              <a:rPr lang="en-US" sz="1200" dirty="0">
                <a:latin typeface="Courier New" panose="02070309020205020404" pitchFamily="49" charset="0"/>
              </a:rPr>
            </a:br>
            <a:endParaRPr lang="en-US" sz="1200" dirty="0">
              <a:latin typeface="Courier New" panose="02070309020205020404" pitchFamily="49" charset="0"/>
            </a:endParaRPr>
          </a:p>
          <a:p>
            <a:r>
              <a:rPr lang="en-US" sz="1200" b="1" dirty="0">
                <a:solidFill>
                  <a:srgbClr val="000080"/>
                </a:solidFill>
                <a:latin typeface="Courier New" panose="02070309020205020404" pitchFamily="49" charset="0"/>
              </a:rPr>
              <a:t>proc</a:t>
            </a:r>
            <a:r>
              <a:rPr lang="en-US" sz="1200" dirty="0">
                <a:latin typeface="Courier New" panose="02070309020205020404" pitchFamily="49" charset="0"/>
              </a:rPr>
              <a:t> </a:t>
            </a:r>
            <a:r>
              <a:rPr lang="en-US" sz="1200" b="1" dirty="0">
                <a:solidFill>
                  <a:srgbClr val="000080"/>
                </a:solidFill>
                <a:latin typeface="Courier New" panose="02070309020205020404" pitchFamily="49" charset="0"/>
              </a:rPr>
              <a:t>print</a:t>
            </a:r>
            <a:r>
              <a:rPr lang="en-US" sz="1200" dirty="0">
                <a:latin typeface="Courier New" panose="02070309020205020404" pitchFamily="49" charset="0"/>
              </a:rPr>
              <a:t> </a:t>
            </a:r>
            <a:r>
              <a:rPr lang="en-US" sz="1200" dirty="0">
                <a:solidFill>
                  <a:srgbClr val="0000FF"/>
                </a:solidFill>
                <a:latin typeface="Courier New" panose="02070309020205020404" pitchFamily="49" charset="0"/>
              </a:rPr>
              <a:t>data</a:t>
            </a:r>
            <a:r>
              <a:rPr lang="en-US" sz="1200" dirty="0">
                <a:latin typeface="Courier New" panose="02070309020205020404" pitchFamily="49" charset="0"/>
              </a:rPr>
              <a:t> = </a:t>
            </a:r>
            <a:r>
              <a:rPr lang="en-US" sz="1200" dirty="0" err="1">
                <a:latin typeface="Courier New" panose="02070309020205020404" pitchFamily="49" charset="0"/>
              </a:rPr>
              <a:t>pvalue</a:t>
            </a:r>
            <a:r>
              <a:rPr lang="en-US" sz="1200" dirty="0">
                <a:latin typeface="Courier New" panose="02070309020205020404" pitchFamily="49" charset="0"/>
              </a:rPr>
              <a:t>;</a:t>
            </a:r>
          </a:p>
          <a:p>
            <a:r>
              <a:rPr lang="en-US" sz="1200" b="1" dirty="0">
                <a:solidFill>
                  <a:srgbClr val="000080"/>
                </a:solidFill>
                <a:latin typeface="Courier New" panose="02070309020205020404" pitchFamily="49" charset="0"/>
              </a:rPr>
              <a:t>run</a:t>
            </a:r>
            <a:r>
              <a:rPr lang="en-US" sz="1200" dirty="0">
                <a:solidFill>
                  <a:srgbClr val="000000"/>
                </a:solidFill>
                <a:latin typeface="Courier New" panose="02070309020205020404" pitchFamily="49" charset="0"/>
              </a:rPr>
              <a:t>;</a:t>
            </a:r>
            <a:endParaRPr lang="en-US" sz="1200" dirty="0"/>
          </a:p>
        </p:txBody>
      </p:sp>
      <p:pic>
        <p:nvPicPr>
          <p:cNvPr id="6" name="Picture 5">
            <a:extLst>
              <a:ext uri="{FF2B5EF4-FFF2-40B4-BE49-F238E27FC236}">
                <a16:creationId xmlns:a16="http://schemas.microsoft.com/office/drawing/2014/main" id="{7612A113-4F4B-AA4C-8B2C-82736BDFF7A8}"/>
              </a:ext>
            </a:extLst>
          </p:cNvPr>
          <p:cNvPicPr>
            <a:picLocks noChangeAspect="1"/>
          </p:cNvPicPr>
          <p:nvPr/>
        </p:nvPicPr>
        <p:blipFill>
          <a:blip r:embed="rId2"/>
          <a:stretch>
            <a:fillRect/>
          </a:stretch>
        </p:blipFill>
        <p:spPr>
          <a:xfrm>
            <a:off x="1828800" y="2438400"/>
            <a:ext cx="728168" cy="579025"/>
          </a:xfrm>
          <a:prstGeom prst="rect">
            <a:avLst/>
          </a:prstGeom>
        </p:spPr>
      </p:pic>
    </p:spTree>
    <p:extLst>
      <p:ext uri="{BB962C8B-B14F-4D97-AF65-F5344CB8AC3E}">
        <p14:creationId xmlns:p14="http://schemas.microsoft.com/office/powerpoint/2010/main" val="3954858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E2993-5595-EC4E-AE8A-0DCA769CE9BC}"/>
              </a:ext>
            </a:extLst>
          </p:cNvPr>
          <p:cNvSpPr>
            <a:spLocks noGrp="1"/>
          </p:cNvSpPr>
          <p:nvPr>
            <p:ph type="title"/>
          </p:nvPr>
        </p:nvSpPr>
        <p:spPr/>
        <p:txBody>
          <a:bodyPr/>
          <a:lstStyle/>
          <a:p>
            <a:r>
              <a:rPr lang="en-US" dirty="0"/>
              <a:t>Permutation Test of the Mean: SAS</a:t>
            </a:r>
          </a:p>
        </p:txBody>
      </p:sp>
      <p:pic>
        <p:nvPicPr>
          <p:cNvPr id="6" name="Picture 5">
            <a:extLst>
              <a:ext uri="{FF2B5EF4-FFF2-40B4-BE49-F238E27FC236}">
                <a16:creationId xmlns:a16="http://schemas.microsoft.com/office/drawing/2014/main" id="{318AD74B-E48E-2D4D-8F1C-F4591B0216C5}"/>
              </a:ext>
            </a:extLst>
          </p:cNvPr>
          <p:cNvPicPr>
            <a:picLocks noChangeAspect="1"/>
          </p:cNvPicPr>
          <p:nvPr/>
        </p:nvPicPr>
        <p:blipFill>
          <a:blip r:embed="rId2"/>
          <a:stretch>
            <a:fillRect/>
          </a:stretch>
        </p:blipFill>
        <p:spPr>
          <a:xfrm>
            <a:off x="381000" y="1905000"/>
            <a:ext cx="5334000" cy="4043649"/>
          </a:xfrm>
          <a:prstGeom prst="rect">
            <a:avLst/>
          </a:prstGeom>
        </p:spPr>
      </p:pic>
      <p:pic>
        <p:nvPicPr>
          <p:cNvPr id="7" name="Picture 6">
            <a:extLst>
              <a:ext uri="{FF2B5EF4-FFF2-40B4-BE49-F238E27FC236}">
                <a16:creationId xmlns:a16="http://schemas.microsoft.com/office/drawing/2014/main" id="{21E779A3-A8E4-0644-B3A2-CD0DF99E9F1A}"/>
              </a:ext>
            </a:extLst>
          </p:cNvPr>
          <p:cNvPicPr>
            <a:picLocks noChangeAspect="1"/>
          </p:cNvPicPr>
          <p:nvPr/>
        </p:nvPicPr>
        <p:blipFill>
          <a:blip r:embed="rId3"/>
          <a:stretch>
            <a:fillRect/>
          </a:stretch>
        </p:blipFill>
        <p:spPr>
          <a:xfrm>
            <a:off x="9252395" y="2903863"/>
            <a:ext cx="1606301" cy="1050274"/>
          </a:xfrm>
          <a:prstGeom prst="rect">
            <a:avLst/>
          </a:prstGeom>
        </p:spPr>
      </p:pic>
      <p:pic>
        <p:nvPicPr>
          <p:cNvPr id="8" name="Picture 7">
            <a:extLst>
              <a:ext uri="{FF2B5EF4-FFF2-40B4-BE49-F238E27FC236}">
                <a16:creationId xmlns:a16="http://schemas.microsoft.com/office/drawing/2014/main" id="{3892E5BB-B354-3C41-8E43-B3D52FA2D6CF}"/>
              </a:ext>
            </a:extLst>
          </p:cNvPr>
          <p:cNvPicPr>
            <a:picLocks noChangeAspect="1"/>
          </p:cNvPicPr>
          <p:nvPr/>
        </p:nvPicPr>
        <p:blipFill>
          <a:blip r:embed="rId4"/>
          <a:stretch>
            <a:fillRect/>
          </a:stretch>
        </p:blipFill>
        <p:spPr>
          <a:xfrm>
            <a:off x="6576158" y="2903863"/>
            <a:ext cx="1320800" cy="1050274"/>
          </a:xfrm>
          <a:prstGeom prst="rect">
            <a:avLst/>
          </a:prstGeom>
        </p:spPr>
      </p:pic>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8FE996F2-A2B2-FD40-A5F2-E1511E2EEA16}"/>
                  </a:ext>
                </a:extLst>
              </p:cNvPr>
              <p:cNvSpPr/>
              <p:nvPr/>
            </p:nvSpPr>
            <p:spPr>
              <a:xfrm>
                <a:off x="6128197" y="4381977"/>
                <a:ext cx="5943598" cy="1815882"/>
              </a:xfrm>
              <a:prstGeom prst="rect">
                <a:avLst/>
              </a:prstGeom>
            </p:spPr>
            <p:txBody>
              <a:bodyPr wrap="square">
                <a:spAutoFit/>
              </a:bodyPr>
              <a:lstStyle/>
              <a:p>
                <a:r>
                  <a:rPr lang="en-US" sz="1600" dirty="0"/>
                  <a:t>Conclusion: There is strong evidence to suggest that the mean of the percent seedlings lost in the logged plots is more than that of the unlogged plots (</a:t>
                </a:r>
                <a14:m>
                  <m:oMath xmlns:m="http://schemas.openxmlformats.org/officeDocument/2006/math">
                    <m:r>
                      <a:rPr lang="en-US" sz="1600" i="1">
                        <a:latin typeface="Cambria Math" panose="02040503050406030204" pitchFamily="18" charset="0"/>
                      </a:rPr>
                      <m:t>𝑝</m:t>
                    </m:r>
                    <m:r>
                      <a:rPr lang="en-US" sz="1600" i="1">
                        <a:latin typeface="Cambria Math" panose="02040503050406030204" pitchFamily="18" charset="0"/>
                      </a:rPr>
                      <m:t>=0.003</m:t>
                    </m:r>
                  </m:oMath>
                </a14:m>
                <a:r>
                  <a:rPr lang="en-US" sz="1600" dirty="0"/>
                  <a:t> from a one-sided permutation test). Note that this is on the mean rather than the median although both tests found strong evidence of a difference in their respective parameters (median and mean percent lost) with similar </a:t>
                </a:r>
                <a:r>
                  <a:rPr lang="en-US" sz="1600" dirty="0" err="1"/>
                  <a:t>pvalues</a:t>
                </a:r>
                <a:r>
                  <a:rPr lang="en-US" sz="1600" dirty="0"/>
                  <a:t> (.0075 and .003).</a:t>
                </a:r>
              </a:p>
            </p:txBody>
          </p:sp>
        </mc:Choice>
        <mc:Fallback xmlns="">
          <p:sp>
            <p:nvSpPr>
              <p:cNvPr id="9" name="Rectangle 8">
                <a:extLst>
                  <a:ext uri="{FF2B5EF4-FFF2-40B4-BE49-F238E27FC236}">
                    <a16:creationId xmlns:a16="http://schemas.microsoft.com/office/drawing/2014/main" id="{8FE996F2-A2B2-FD40-A5F2-E1511E2EEA16}"/>
                  </a:ext>
                </a:extLst>
              </p:cNvPr>
              <p:cNvSpPr>
                <a:spLocks noRot="1" noChangeAspect="1" noMove="1" noResize="1" noEditPoints="1" noAdjustHandles="1" noChangeArrowheads="1" noChangeShapeType="1" noTextEdit="1"/>
              </p:cNvSpPr>
              <p:nvPr/>
            </p:nvSpPr>
            <p:spPr>
              <a:xfrm>
                <a:off x="6128197" y="4381977"/>
                <a:ext cx="5943598" cy="1815882"/>
              </a:xfrm>
              <a:prstGeom prst="rect">
                <a:avLst/>
              </a:prstGeom>
              <a:blipFill>
                <a:blip r:embed="rId5"/>
                <a:stretch>
                  <a:fillRect l="-426" t="-1389" b="-347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67DD609-3C25-EA78-24C6-721A1EB7B6D5}"/>
                  </a:ext>
                </a:extLst>
              </p:cNvPr>
              <p:cNvSpPr txBox="1"/>
              <p:nvPr/>
            </p:nvSpPr>
            <p:spPr>
              <a:xfrm>
                <a:off x="5943600" y="1552956"/>
                <a:ext cx="5943598" cy="1169551"/>
              </a:xfrm>
              <a:prstGeom prst="rect">
                <a:avLst/>
              </a:prstGeom>
              <a:noFill/>
            </p:spPr>
            <p:txBody>
              <a:bodyPr wrap="square">
                <a:spAutoFit/>
              </a:bodyPr>
              <a:lstStyle/>
              <a:p>
                <a14:m>
                  <m:oMath xmlns:m="http://schemas.openxmlformats.org/officeDocument/2006/math">
                    <m:sSub>
                      <m:sSubPr>
                        <m:ctrlPr>
                          <a:rPr lang="en-US" sz="1400" b="1" i="1" smtClean="0">
                            <a:latin typeface="Cambria Math" panose="02040503050406030204" pitchFamily="18" charset="0"/>
                          </a:rPr>
                        </m:ctrlPr>
                      </m:sSubPr>
                      <m:e>
                        <m:r>
                          <a:rPr lang="en-US" sz="1400" b="1" i="1">
                            <a:latin typeface="Cambria Math" panose="02040503050406030204" pitchFamily="18" charset="0"/>
                          </a:rPr>
                          <m:t>𝑯</m:t>
                        </m:r>
                      </m:e>
                      <m:sub>
                        <m:r>
                          <a:rPr lang="en-US" sz="1400" b="1" i="1">
                            <a:latin typeface="Cambria Math" panose="02040503050406030204" pitchFamily="18" charset="0"/>
                          </a:rPr>
                          <m:t>𝒐</m:t>
                        </m:r>
                      </m:sub>
                    </m:sSub>
                    <m:r>
                      <a:rPr lang="en-US" sz="1400" i="1">
                        <a:latin typeface="Cambria Math" panose="02040503050406030204" pitchFamily="18" charset="0"/>
                      </a:rPr>
                      <m:t>:</m:t>
                    </m:r>
                  </m:oMath>
                </a14:m>
                <a:r>
                  <a:rPr lang="en-US" sz="1400" b="1" dirty="0"/>
                  <a:t> The mean of the percent of lost seedlings in the logged plots is equal to that of the unlogged plots.  SAS </a:t>
                </a:r>
                <a:r>
                  <a:rPr lang="en-US" sz="1400" b="1" dirty="0" err="1"/>
                  <a:t>Mean_U</a:t>
                </a:r>
                <a:r>
                  <a:rPr lang="en-US" sz="1400" b="1" dirty="0"/>
                  <a:t> = </a:t>
                </a:r>
                <a:r>
                  <a:rPr lang="en-US" sz="1400" b="1" dirty="0" err="1"/>
                  <a:t>Mean_L</a:t>
                </a:r>
                <a:endParaRPr lang="en-US" sz="1400" b="1" dirty="0"/>
              </a:p>
              <a:p>
                <a:br>
                  <a:rPr lang="en-US" sz="1400" dirty="0"/>
                </a:br>
                <a14:m>
                  <m:oMath xmlns:m="http://schemas.openxmlformats.org/officeDocument/2006/math">
                    <m:sSub>
                      <m:sSubPr>
                        <m:ctrlPr>
                          <a:rPr lang="en-US" sz="1400" b="1" i="1">
                            <a:latin typeface="Cambria Math" panose="02040503050406030204" pitchFamily="18" charset="0"/>
                          </a:rPr>
                        </m:ctrlPr>
                      </m:sSubPr>
                      <m:e>
                        <m:r>
                          <a:rPr lang="en-US" sz="1400" b="1" i="1">
                            <a:latin typeface="Cambria Math" panose="02040503050406030204" pitchFamily="18" charset="0"/>
                          </a:rPr>
                          <m:t>𝑯</m:t>
                        </m:r>
                      </m:e>
                      <m:sub>
                        <m:r>
                          <a:rPr lang="en-US" sz="1400" b="1" i="1">
                            <a:latin typeface="Cambria Math" panose="02040503050406030204" pitchFamily="18" charset="0"/>
                          </a:rPr>
                          <m:t>𝒂</m:t>
                        </m:r>
                      </m:sub>
                    </m:sSub>
                    <m:r>
                      <a:rPr lang="en-US" sz="1400" i="1">
                        <a:latin typeface="Cambria Math" panose="02040503050406030204" pitchFamily="18" charset="0"/>
                      </a:rPr>
                      <m:t>:</m:t>
                    </m:r>
                  </m:oMath>
                </a14:m>
                <a:r>
                  <a:rPr lang="en-US" sz="1400" b="1" dirty="0"/>
                  <a:t> The mean of the percent of lost seedlings in the logged plots is more than that of the unlogged plots. SAS </a:t>
                </a:r>
                <a:r>
                  <a:rPr lang="en-US" sz="1400" b="1" dirty="0" err="1"/>
                  <a:t>Mean_U</a:t>
                </a:r>
                <a:r>
                  <a:rPr lang="en-US" sz="1400" b="1" dirty="0"/>
                  <a:t> &lt; </a:t>
                </a:r>
                <a:r>
                  <a:rPr lang="en-US" sz="1400" b="1" dirty="0" err="1"/>
                  <a:t>Mean_L</a:t>
                </a:r>
                <a:endParaRPr lang="en-US" sz="1400" dirty="0"/>
              </a:p>
            </p:txBody>
          </p:sp>
        </mc:Choice>
        <mc:Fallback xmlns="">
          <p:sp>
            <p:nvSpPr>
              <p:cNvPr id="4" name="TextBox 3">
                <a:extLst>
                  <a:ext uri="{FF2B5EF4-FFF2-40B4-BE49-F238E27FC236}">
                    <a16:creationId xmlns:a16="http://schemas.microsoft.com/office/drawing/2014/main" id="{467DD609-3C25-EA78-24C6-721A1EB7B6D5}"/>
                  </a:ext>
                </a:extLst>
              </p:cNvPr>
              <p:cNvSpPr txBox="1">
                <a:spLocks noRot="1" noChangeAspect="1" noMove="1" noResize="1" noEditPoints="1" noAdjustHandles="1" noChangeArrowheads="1" noChangeShapeType="1" noTextEdit="1"/>
              </p:cNvSpPr>
              <p:nvPr/>
            </p:nvSpPr>
            <p:spPr>
              <a:xfrm>
                <a:off x="5943600" y="1552956"/>
                <a:ext cx="5943598" cy="1169551"/>
              </a:xfrm>
              <a:prstGeom prst="rect">
                <a:avLst/>
              </a:prstGeom>
              <a:blipFill>
                <a:blip r:embed="rId6"/>
                <a:stretch>
                  <a:fillRect l="-426" t="-1075" b="-4301"/>
                </a:stretch>
              </a:blipFill>
            </p:spPr>
            <p:txBody>
              <a:bodyPr/>
              <a:lstStyle/>
              <a:p>
                <a:r>
                  <a:rPr lang="en-US">
                    <a:noFill/>
                  </a:rPr>
                  <a:t> </a:t>
                </a:r>
              </a:p>
            </p:txBody>
          </p:sp>
        </mc:Fallback>
      </mc:AlternateContent>
    </p:spTree>
    <p:extLst>
      <p:ext uri="{BB962C8B-B14F-4D97-AF65-F5344CB8AC3E}">
        <p14:creationId xmlns:p14="http://schemas.microsoft.com/office/powerpoint/2010/main" val="2187425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403A3-7030-7C47-93C4-F8ADAA007AAE}"/>
              </a:ext>
            </a:extLst>
          </p:cNvPr>
          <p:cNvSpPr>
            <a:spLocks noGrp="1"/>
          </p:cNvSpPr>
          <p:nvPr>
            <p:ph type="title"/>
          </p:nvPr>
        </p:nvSpPr>
        <p:spPr/>
        <p:txBody>
          <a:bodyPr/>
          <a:lstStyle/>
          <a:p>
            <a:r>
              <a:rPr lang="en-US" dirty="0"/>
              <a:t>Permutation Test of the Mean: R</a:t>
            </a:r>
          </a:p>
        </p:txBody>
      </p:sp>
      <p:sp>
        <p:nvSpPr>
          <p:cNvPr id="4" name="Rectangle 3">
            <a:extLst>
              <a:ext uri="{FF2B5EF4-FFF2-40B4-BE49-F238E27FC236}">
                <a16:creationId xmlns:a16="http://schemas.microsoft.com/office/drawing/2014/main" id="{EEDB2E50-B86A-C341-B6E8-45F698C9CCEE}"/>
              </a:ext>
            </a:extLst>
          </p:cNvPr>
          <p:cNvSpPr/>
          <p:nvPr/>
        </p:nvSpPr>
        <p:spPr>
          <a:xfrm>
            <a:off x="419100" y="1458754"/>
            <a:ext cx="11353800" cy="5170646"/>
          </a:xfrm>
          <a:prstGeom prst="rect">
            <a:avLst/>
          </a:prstGeom>
        </p:spPr>
        <p:txBody>
          <a:bodyPr wrap="square">
            <a:spAutoFit/>
          </a:bodyPr>
          <a:lstStyle/>
          <a:p>
            <a:r>
              <a:rPr lang="en-US" sz="1500" dirty="0"/>
              <a:t>logging &lt;- </a:t>
            </a:r>
            <a:r>
              <a:rPr lang="en-US" sz="1500" dirty="0" err="1"/>
              <a:t>read.csv</a:t>
            </a:r>
            <a:r>
              <a:rPr lang="en-US" sz="1500" dirty="0"/>
              <a:t>(</a:t>
            </a:r>
            <a:r>
              <a:rPr lang="en-US" sz="1500" dirty="0" err="1"/>
              <a:t>file.choose</a:t>
            </a:r>
            <a:r>
              <a:rPr lang="en-US" sz="1500" dirty="0"/>
              <a:t>(),header = TRUE); # This reads it in if you directory is set to the right folder.</a:t>
            </a:r>
          </a:p>
          <a:p>
            <a:endParaRPr lang="en-US" sz="1500" dirty="0"/>
          </a:p>
          <a:p>
            <a:r>
              <a:rPr lang="en-US" sz="1500" dirty="0" err="1"/>
              <a:t>number_of_permutations</a:t>
            </a:r>
            <a:r>
              <a:rPr lang="en-US" sz="1500" dirty="0"/>
              <a:t> = 10000;</a:t>
            </a:r>
          </a:p>
          <a:p>
            <a:r>
              <a:rPr lang="en-US" sz="1500" dirty="0" err="1"/>
              <a:t>xbarholder</a:t>
            </a:r>
            <a:r>
              <a:rPr lang="en-US" sz="1500" dirty="0"/>
              <a:t> = c();</a:t>
            </a:r>
          </a:p>
          <a:p>
            <a:r>
              <a:rPr lang="en-US" sz="1500" dirty="0"/>
              <a:t>counter = 0;</a:t>
            </a:r>
          </a:p>
          <a:p>
            <a:r>
              <a:rPr lang="en-US" sz="1500" dirty="0" err="1"/>
              <a:t>observed_diff</a:t>
            </a:r>
            <a:r>
              <a:rPr lang="en-US" sz="1500" dirty="0"/>
              <a:t> = mean(subset(logging, Action == "L")$</a:t>
            </a:r>
            <a:r>
              <a:rPr lang="en-US" sz="1500" dirty="0" err="1"/>
              <a:t>PercentLost</a:t>
            </a:r>
            <a:r>
              <a:rPr lang="en-US" sz="1500" dirty="0"/>
              <a:t>)-mean(subset(logging, Action == "U")$</a:t>
            </a:r>
            <a:r>
              <a:rPr lang="en-US" sz="1500" dirty="0" err="1"/>
              <a:t>PercentLost</a:t>
            </a:r>
            <a:r>
              <a:rPr lang="en-US" sz="1500" dirty="0"/>
              <a:t>)</a:t>
            </a:r>
          </a:p>
          <a:p>
            <a:endParaRPr lang="en-US" sz="1500" dirty="0"/>
          </a:p>
          <a:p>
            <a:r>
              <a:rPr lang="en-US" sz="1500" dirty="0"/>
              <a:t>for(</a:t>
            </a:r>
            <a:r>
              <a:rPr lang="en-US" sz="1500" dirty="0" err="1"/>
              <a:t>i</a:t>
            </a:r>
            <a:r>
              <a:rPr lang="en-US" sz="1500" dirty="0"/>
              <a:t> in 1:number_of_permutations)</a:t>
            </a:r>
          </a:p>
          <a:p>
            <a:r>
              <a:rPr lang="en-US" sz="1500" dirty="0"/>
              <a:t>{</a:t>
            </a:r>
          </a:p>
          <a:p>
            <a:r>
              <a:rPr lang="en-US" sz="1500" dirty="0"/>
              <a:t>  scramble = sample(logging$PercentLost,16);</a:t>
            </a:r>
          </a:p>
          <a:p>
            <a:r>
              <a:rPr lang="en-US" sz="1500" dirty="0"/>
              <a:t>  L = scramble[1:9];</a:t>
            </a:r>
          </a:p>
          <a:p>
            <a:r>
              <a:rPr lang="en-US" sz="1500" dirty="0"/>
              <a:t>  U = scramble[10:16];</a:t>
            </a:r>
          </a:p>
          <a:p>
            <a:r>
              <a:rPr lang="en-US" sz="1500" dirty="0"/>
              <a:t>  diff = mean(L)-mean(U);</a:t>
            </a:r>
          </a:p>
          <a:p>
            <a:r>
              <a:rPr lang="en-US" sz="1500" dirty="0"/>
              <a:t>  </a:t>
            </a:r>
            <a:r>
              <a:rPr lang="en-US" sz="1500" dirty="0" err="1"/>
              <a:t>xbarholder</a:t>
            </a:r>
            <a:r>
              <a:rPr lang="en-US" sz="1500" dirty="0"/>
              <a:t>[</a:t>
            </a:r>
            <a:r>
              <a:rPr lang="en-US" sz="1500" dirty="0" err="1"/>
              <a:t>i</a:t>
            </a:r>
            <a:r>
              <a:rPr lang="en-US" sz="1500" dirty="0"/>
              <a:t>] = diff;</a:t>
            </a:r>
          </a:p>
          <a:p>
            <a:r>
              <a:rPr lang="en-US" sz="1500" dirty="0"/>
              <a:t>  if(diff &gt;= </a:t>
            </a:r>
            <a:r>
              <a:rPr lang="en-US" sz="1500" dirty="0" err="1"/>
              <a:t>observed_diff</a:t>
            </a:r>
            <a:r>
              <a:rPr lang="en-US" sz="1500" dirty="0"/>
              <a:t>)</a:t>
            </a:r>
          </a:p>
          <a:p>
            <a:r>
              <a:rPr lang="en-US" sz="1500" dirty="0"/>
              <a:t>    counter = counter + 1;</a:t>
            </a:r>
          </a:p>
          <a:p>
            <a:r>
              <a:rPr lang="en-US" sz="1500" dirty="0"/>
              <a:t>  </a:t>
            </a:r>
          </a:p>
          <a:p>
            <a:r>
              <a:rPr lang="en-US" sz="1500" dirty="0"/>
              <a:t>}</a:t>
            </a:r>
          </a:p>
          <a:p>
            <a:r>
              <a:rPr lang="en-US" sz="1500" dirty="0"/>
              <a:t>hist(</a:t>
            </a:r>
            <a:r>
              <a:rPr lang="en-US" sz="1500" dirty="0" err="1"/>
              <a:t>xbarholder</a:t>
            </a:r>
            <a:r>
              <a:rPr lang="en-US" sz="1500" dirty="0"/>
              <a:t>, col = "</a:t>
            </a:r>
            <a:r>
              <a:rPr lang="en-US" sz="1500" dirty="0" err="1"/>
              <a:t>lightblue</a:t>
            </a:r>
            <a:r>
              <a:rPr lang="en-US" sz="1500" dirty="0"/>
              <a:t>", main = "Differences Means Under Ho", </a:t>
            </a:r>
            <a:r>
              <a:rPr lang="en-US" sz="1500" dirty="0" err="1"/>
              <a:t>xlab</a:t>
            </a:r>
            <a:r>
              <a:rPr lang="en-US" sz="1500" dirty="0"/>
              <a:t> = "Diff of Means");</a:t>
            </a:r>
          </a:p>
          <a:p>
            <a:r>
              <a:rPr lang="en-US" sz="1500" dirty="0" err="1"/>
              <a:t>abline</a:t>
            </a:r>
            <a:r>
              <a:rPr lang="en-US" sz="1500" dirty="0"/>
              <a:t>(v = </a:t>
            </a:r>
            <a:r>
              <a:rPr lang="en-US" sz="1500" dirty="0" err="1"/>
              <a:t>observed_diff,col</a:t>
            </a:r>
            <a:r>
              <a:rPr lang="en-US" sz="1500" dirty="0"/>
              <a:t> = "red", </a:t>
            </a:r>
            <a:r>
              <a:rPr lang="en-US" sz="1500" dirty="0" err="1"/>
              <a:t>lwd</a:t>
            </a:r>
            <a:r>
              <a:rPr lang="en-US" sz="1500" dirty="0"/>
              <a:t> = 3);</a:t>
            </a:r>
          </a:p>
          <a:p>
            <a:r>
              <a:rPr lang="en-US" sz="1500" dirty="0" err="1"/>
              <a:t>pvalue</a:t>
            </a:r>
            <a:r>
              <a:rPr lang="en-US" sz="1500" dirty="0"/>
              <a:t> = counter / </a:t>
            </a:r>
            <a:r>
              <a:rPr lang="en-US" sz="1500" dirty="0" err="1"/>
              <a:t>number_of_permutations</a:t>
            </a:r>
            <a:r>
              <a:rPr lang="en-US" sz="1500" dirty="0"/>
              <a:t>;</a:t>
            </a:r>
          </a:p>
          <a:p>
            <a:r>
              <a:rPr lang="en-US" sz="1500" dirty="0" err="1"/>
              <a:t>pvalue</a:t>
            </a:r>
            <a:endParaRPr lang="en-US" sz="1500" dirty="0"/>
          </a:p>
        </p:txBody>
      </p:sp>
    </p:spTree>
    <p:extLst>
      <p:ext uri="{BB962C8B-B14F-4D97-AF65-F5344CB8AC3E}">
        <p14:creationId xmlns:p14="http://schemas.microsoft.com/office/powerpoint/2010/main" val="30236131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E2993-5595-EC4E-AE8A-0DCA769CE9BC}"/>
              </a:ext>
            </a:extLst>
          </p:cNvPr>
          <p:cNvSpPr>
            <a:spLocks noGrp="1"/>
          </p:cNvSpPr>
          <p:nvPr>
            <p:ph type="title"/>
          </p:nvPr>
        </p:nvSpPr>
        <p:spPr/>
        <p:txBody>
          <a:bodyPr/>
          <a:lstStyle/>
          <a:p>
            <a:r>
              <a:rPr lang="en-US" dirty="0"/>
              <a:t>Permutation Test of the Mean: R</a:t>
            </a:r>
          </a:p>
        </p:txBody>
      </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8FE996F2-A2B2-FD40-A5F2-E1511E2EEA16}"/>
                  </a:ext>
                </a:extLst>
              </p:cNvPr>
              <p:cNvSpPr/>
              <p:nvPr/>
            </p:nvSpPr>
            <p:spPr>
              <a:xfrm>
                <a:off x="6381173" y="3610322"/>
                <a:ext cx="5638800" cy="2062103"/>
              </a:xfrm>
              <a:prstGeom prst="rect">
                <a:avLst/>
              </a:prstGeom>
            </p:spPr>
            <p:txBody>
              <a:bodyPr wrap="square">
                <a:spAutoFit/>
              </a:bodyPr>
              <a:lstStyle/>
              <a:p>
                <a:r>
                  <a:rPr lang="en-US" sz="1600" dirty="0"/>
                  <a:t>Conclusion: There is strong evidence to suggest that the mean of the percent seedlings lost in the logged plots is more than that of the unlogged plots (</a:t>
                </a:r>
                <a14:m>
                  <m:oMath xmlns:m="http://schemas.openxmlformats.org/officeDocument/2006/math">
                    <m:r>
                      <a:rPr lang="en-US" sz="1600" i="1">
                        <a:latin typeface="Cambria Math" panose="02040503050406030204" pitchFamily="18" charset="0"/>
                      </a:rPr>
                      <m:t>𝑝</m:t>
                    </m:r>
                    <m:r>
                      <a:rPr lang="en-US" sz="1600" i="1">
                        <a:latin typeface="Cambria Math" panose="02040503050406030204" pitchFamily="18" charset="0"/>
                      </a:rPr>
                      <m:t>=0.0041</m:t>
                    </m:r>
                  </m:oMath>
                </a14:m>
                <a:r>
                  <a:rPr lang="en-US" sz="1600" dirty="0"/>
                  <a:t> from a one-sided permutation test). Note that this is on the mean rather than the median although both tests found strong evidence of a difference in their respective parameters (median and mean percent lost) with similar </a:t>
                </a:r>
                <a:r>
                  <a:rPr lang="en-US" sz="1600" dirty="0" err="1"/>
                  <a:t>pvalues</a:t>
                </a:r>
                <a:r>
                  <a:rPr lang="en-US" sz="1600" dirty="0"/>
                  <a:t> (.0075 and .0041).</a:t>
                </a:r>
              </a:p>
            </p:txBody>
          </p:sp>
        </mc:Choice>
        <mc:Fallback xmlns="">
          <p:sp>
            <p:nvSpPr>
              <p:cNvPr id="9" name="Rectangle 8">
                <a:extLst>
                  <a:ext uri="{FF2B5EF4-FFF2-40B4-BE49-F238E27FC236}">
                    <a16:creationId xmlns:a16="http://schemas.microsoft.com/office/drawing/2014/main" id="{8FE996F2-A2B2-FD40-A5F2-E1511E2EEA16}"/>
                  </a:ext>
                </a:extLst>
              </p:cNvPr>
              <p:cNvSpPr>
                <a:spLocks noRot="1" noChangeAspect="1" noMove="1" noResize="1" noEditPoints="1" noAdjustHandles="1" noChangeArrowheads="1" noChangeShapeType="1" noTextEdit="1"/>
              </p:cNvSpPr>
              <p:nvPr/>
            </p:nvSpPr>
            <p:spPr>
              <a:xfrm>
                <a:off x="6381173" y="3610322"/>
                <a:ext cx="5638800" cy="2062103"/>
              </a:xfrm>
              <a:prstGeom prst="rect">
                <a:avLst/>
              </a:prstGeom>
              <a:blipFill>
                <a:blip r:embed="rId2"/>
                <a:stretch>
                  <a:fillRect l="-674" t="-1227" b="-3067"/>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73B354B2-81A9-6C4B-8B56-E3DE6EB9158D}"/>
              </a:ext>
            </a:extLst>
          </p:cNvPr>
          <p:cNvPicPr>
            <a:picLocks noChangeAspect="1"/>
          </p:cNvPicPr>
          <p:nvPr/>
        </p:nvPicPr>
        <p:blipFill>
          <a:blip r:embed="rId3"/>
          <a:stretch>
            <a:fillRect/>
          </a:stretch>
        </p:blipFill>
        <p:spPr>
          <a:xfrm>
            <a:off x="345696" y="2015870"/>
            <a:ext cx="6035477" cy="3911600"/>
          </a:xfrm>
          <a:prstGeom prst="rect">
            <a:avLst/>
          </a:prstGeom>
        </p:spPr>
      </p:pic>
      <p:pic>
        <p:nvPicPr>
          <p:cNvPr id="4" name="Picture 3">
            <a:extLst>
              <a:ext uri="{FF2B5EF4-FFF2-40B4-BE49-F238E27FC236}">
                <a16:creationId xmlns:a16="http://schemas.microsoft.com/office/drawing/2014/main" id="{19A75D41-32CD-A24D-86D3-21DD22110B9D}"/>
              </a:ext>
            </a:extLst>
          </p:cNvPr>
          <p:cNvPicPr>
            <a:picLocks noChangeAspect="1"/>
          </p:cNvPicPr>
          <p:nvPr/>
        </p:nvPicPr>
        <p:blipFill>
          <a:blip r:embed="rId4"/>
          <a:stretch>
            <a:fillRect/>
          </a:stretch>
        </p:blipFill>
        <p:spPr>
          <a:xfrm>
            <a:off x="9644318" y="2324125"/>
            <a:ext cx="1493723" cy="660383"/>
          </a:xfrm>
          <a:prstGeom prst="rect">
            <a:avLst/>
          </a:prstGeom>
        </p:spPr>
      </p:pic>
      <p:pic>
        <p:nvPicPr>
          <p:cNvPr id="5" name="Picture 4">
            <a:extLst>
              <a:ext uri="{FF2B5EF4-FFF2-40B4-BE49-F238E27FC236}">
                <a16:creationId xmlns:a16="http://schemas.microsoft.com/office/drawing/2014/main" id="{229DAFB1-59BE-CA4C-ADD4-4DAC529A7A2D}"/>
              </a:ext>
            </a:extLst>
          </p:cNvPr>
          <p:cNvPicPr>
            <a:picLocks noChangeAspect="1"/>
          </p:cNvPicPr>
          <p:nvPr/>
        </p:nvPicPr>
        <p:blipFill>
          <a:blip r:embed="rId5"/>
          <a:stretch>
            <a:fillRect/>
          </a:stretch>
        </p:blipFill>
        <p:spPr>
          <a:xfrm>
            <a:off x="6994071" y="2362201"/>
            <a:ext cx="2037349" cy="660382"/>
          </a:xfrm>
          <a:prstGeom prst="rect">
            <a:avLst/>
          </a:prstGeom>
        </p:spPr>
      </p:pic>
    </p:spTree>
    <p:extLst>
      <p:ext uri="{BB962C8B-B14F-4D97-AF65-F5344CB8AC3E}">
        <p14:creationId xmlns:p14="http://schemas.microsoft.com/office/powerpoint/2010/main" val="37247821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403A3-7030-7C47-93C4-F8ADAA007AAE}"/>
              </a:ext>
            </a:extLst>
          </p:cNvPr>
          <p:cNvSpPr>
            <a:spLocks noGrp="1"/>
          </p:cNvSpPr>
          <p:nvPr>
            <p:ph type="title"/>
          </p:nvPr>
        </p:nvSpPr>
        <p:spPr/>
        <p:txBody>
          <a:bodyPr/>
          <a:lstStyle/>
          <a:p>
            <a:r>
              <a:rPr lang="en-US" dirty="0"/>
              <a:t>Permutation Test of the Median: R</a:t>
            </a:r>
          </a:p>
        </p:txBody>
      </p:sp>
      <p:sp>
        <p:nvSpPr>
          <p:cNvPr id="4" name="Rectangle 3">
            <a:extLst>
              <a:ext uri="{FF2B5EF4-FFF2-40B4-BE49-F238E27FC236}">
                <a16:creationId xmlns:a16="http://schemas.microsoft.com/office/drawing/2014/main" id="{EEDB2E50-B86A-C341-B6E8-45F698C9CCEE}"/>
              </a:ext>
            </a:extLst>
          </p:cNvPr>
          <p:cNvSpPr/>
          <p:nvPr/>
        </p:nvSpPr>
        <p:spPr>
          <a:xfrm>
            <a:off x="419100" y="1458754"/>
            <a:ext cx="11353800" cy="5170646"/>
          </a:xfrm>
          <a:prstGeom prst="rect">
            <a:avLst/>
          </a:prstGeom>
        </p:spPr>
        <p:txBody>
          <a:bodyPr wrap="square">
            <a:spAutoFit/>
          </a:bodyPr>
          <a:lstStyle/>
          <a:p>
            <a:r>
              <a:rPr lang="en-US" sz="1500" dirty="0"/>
              <a:t>logging &lt;- </a:t>
            </a:r>
            <a:r>
              <a:rPr lang="en-US" sz="1500" dirty="0" err="1"/>
              <a:t>read.csv</a:t>
            </a:r>
            <a:r>
              <a:rPr lang="en-US" sz="1500" dirty="0"/>
              <a:t>(</a:t>
            </a:r>
            <a:r>
              <a:rPr lang="en-US" sz="1500" dirty="0" err="1"/>
              <a:t>file.choose</a:t>
            </a:r>
            <a:r>
              <a:rPr lang="en-US" sz="1500" dirty="0"/>
              <a:t>(),header = TRUE); # This reads it in if you directory is set to the right folder.</a:t>
            </a:r>
          </a:p>
          <a:p>
            <a:endParaRPr lang="en-US" sz="1500" dirty="0"/>
          </a:p>
          <a:p>
            <a:r>
              <a:rPr lang="en-US" sz="1500" dirty="0" err="1"/>
              <a:t>number_of_permutations</a:t>
            </a:r>
            <a:r>
              <a:rPr lang="en-US" sz="1500" dirty="0"/>
              <a:t> = 10000;</a:t>
            </a:r>
          </a:p>
          <a:p>
            <a:r>
              <a:rPr lang="en-US" sz="1500" dirty="0" err="1"/>
              <a:t>xbarholder</a:t>
            </a:r>
            <a:r>
              <a:rPr lang="en-US" sz="1500" dirty="0"/>
              <a:t> = c();</a:t>
            </a:r>
          </a:p>
          <a:p>
            <a:r>
              <a:rPr lang="en-US" sz="1500" dirty="0"/>
              <a:t>counter = 0;</a:t>
            </a:r>
          </a:p>
          <a:p>
            <a:r>
              <a:rPr lang="en-US" sz="1500" dirty="0" err="1"/>
              <a:t>observed_diff</a:t>
            </a:r>
            <a:r>
              <a:rPr lang="en-US" sz="1500" dirty="0"/>
              <a:t> = </a:t>
            </a:r>
            <a:r>
              <a:rPr lang="en-US" sz="1500" b="1" dirty="0"/>
              <a:t>median</a:t>
            </a:r>
            <a:r>
              <a:rPr lang="en-US" sz="1500" dirty="0"/>
              <a:t>(subset(logging, Action == "L")$</a:t>
            </a:r>
            <a:r>
              <a:rPr lang="en-US" sz="1500" dirty="0" err="1"/>
              <a:t>PercentLost</a:t>
            </a:r>
            <a:r>
              <a:rPr lang="en-US" sz="1500" dirty="0"/>
              <a:t>)-</a:t>
            </a:r>
            <a:r>
              <a:rPr lang="en-US" sz="1500" b="1" dirty="0"/>
              <a:t>median</a:t>
            </a:r>
            <a:r>
              <a:rPr lang="en-US" sz="1500" dirty="0"/>
              <a:t>(subset(logging, Action == "U")$</a:t>
            </a:r>
            <a:r>
              <a:rPr lang="en-US" sz="1500" dirty="0" err="1"/>
              <a:t>PercentLost</a:t>
            </a:r>
            <a:r>
              <a:rPr lang="en-US" sz="1500" dirty="0"/>
              <a:t>)</a:t>
            </a:r>
          </a:p>
          <a:p>
            <a:endParaRPr lang="en-US" sz="1500" dirty="0"/>
          </a:p>
          <a:p>
            <a:r>
              <a:rPr lang="en-US" sz="1500" dirty="0"/>
              <a:t>for(</a:t>
            </a:r>
            <a:r>
              <a:rPr lang="en-US" sz="1500" dirty="0" err="1"/>
              <a:t>i</a:t>
            </a:r>
            <a:r>
              <a:rPr lang="en-US" sz="1500" dirty="0"/>
              <a:t> in 1:number_of_permutations)</a:t>
            </a:r>
          </a:p>
          <a:p>
            <a:r>
              <a:rPr lang="en-US" sz="1500" dirty="0"/>
              <a:t>{</a:t>
            </a:r>
          </a:p>
          <a:p>
            <a:r>
              <a:rPr lang="en-US" sz="1500" dirty="0"/>
              <a:t>  scramble = sample(logging$PercentLost,16);</a:t>
            </a:r>
          </a:p>
          <a:p>
            <a:r>
              <a:rPr lang="en-US" sz="1500" dirty="0"/>
              <a:t>  L = scramble[1:9];</a:t>
            </a:r>
          </a:p>
          <a:p>
            <a:r>
              <a:rPr lang="en-US" sz="1500" dirty="0"/>
              <a:t>  U = scramble[10:16];</a:t>
            </a:r>
          </a:p>
          <a:p>
            <a:r>
              <a:rPr lang="en-US" sz="1500" dirty="0"/>
              <a:t>  diff = </a:t>
            </a:r>
            <a:r>
              <a:rPr lang="en-US" sz="1500" b="1" dirty="0"/>
              <a:t>median</a:t>
            </a:r>
            <a:r>
              <a:rPr lang="en-US" sz="1500" dirty="0"/>
              <a:t>(L)-</a:t>
            </a:r>
            <a:r>
              <a:rPr lang="en-US" sz="1500" b="1" dirty="0"/>
              <a:t>median</a:t>
            </a:r>
            <a:r>
              <a:rPr lang="en-US" sz="1500" dirty="0"/>
              <a:t>(U);</a:t>
            </a:r>
          </a:p>
          <a:p>
            <a:r>
              <a:rPr lang="en-US" sz="1500" dirty="0"/>
              <a:t>  </a:t>
            </a:r>
            <a:r>
              <a:rPr lang="en-US" sz="1500" dirty="0" err="1"/>
              <a:t>xbarholder</a:t>
            </a:r>
            <a:r>
              <a:rPr lang="en-US" sz="1500" dirty="0"/>
              <a:t>[</a:t>
            </a:r>
            <a:r>
              <a:rPr lang="en-US" sz="1500" dirty="0" err="1"/>
              <a:t>i</a:t>
            </a:r>
            <a:r>
              <a:rPr lang="en-US" sz="1500" dirty="0"/>
              <a:t>] = diff;</a:t>
            </a:r>
          </a:p>
          <a:p>
            <a:r>
              <a:rPr lang="en-US" sz="1500" dirty="0"/>
              <a:t>  if(diff &gt;= </a:t>
            </a:r>
            <a:r>
              <a:rPr lang="en-US" sz="1500" dirty="0" err="1"/>
              <a:t>observed_diff</a:t>
            </a:r>
            <a:r>
              <a:rPr lang="en-US" sz="1500" dirty="0"/>
              <a:t>)</a:t>
            </a:r>
          </a:p>
          <a:p>
            <a:r>
              <a:rPr lang="en-US" sz="1500" dirty="0"/>
              <a:t>    counter = counter + 1;</a:t>
            </a:r>
          </a:p>
          <a:p>
            <a:r>
              <a:rPr lang="en-US" sz="1500" dirty="0"/>
              <a:t>  </a:t>
            </a:r>
          </a:p>
          <a:p>
            <a:r>
              <a:rPr lang="en-US" sz="1500" dirty="0"/>
              <a:t>}</a:t>
            </a:r>
          </a:p>
          <a:p>
            <a:r>
              <a:rPr lang="en-US" sz="1500" dirty="0"/>
              <a:t>hist(</a:t>
            </a:r>
            <a:r>
              <a:rPr lang="en-US" sz="1500" dirty="0" err="1"/>
              <a:t>xbarholder</a:t>
            </a:r>
            <a:r>
              <a:rPr lang="en-US" sz="1500" dirty="0"/>
              <a:t>, col = "</a:t>
            </a:r>
            <a:r>
              <a:rPr lang="en-US" sz="1500" dirty="0" err="1"/>
              <a:t>lightblue</a:t>
            </a:r>
            <a:r>
              <a:rPr lang="en-US" sz="1500" dirty="0"/>
              <a:t>", main = "Differences </a:t>
            </a:r>
            <a:r>
              <a:rPr lang="en-US" sz="1500" b="1" dirty="0"/>
              <a:t>Median</a:t>
            </a:r>
            <a:r>
              <a:rPr lang="en-US" sz="1500" dirty="0"/>
              <a:t> Under Ho", </a:t>
            </a:r>
            <a:r>
              <a:rPr lang="en-US" sz="1500" dirty="0" err="1"/>
              <a:t>xlab</a:t>
            </a:r>
            <a:r>
              <a:rPr lang="en-US" sz="1500" dirty="0"/>
              <a:t> = "Diff of </a:t>
            </a:r>
            <a:r>
              <a:rPr lang="en-US" sz="1500" b="1" dirty="0"/>
              <a:t>Median</a:t>
            </a:r>
            <a:r>
              <a:rPr lang="en-US" sz="1500" dirty="0"/>
              <a:t>");</a:t>
            </a:r>
          </a:p>
          <a:p>
            <a:r>
              <a:rPr lang="en-US" sz="1500" dirty="0" err="1"/>
              <a:t>abline</a:t>
            </a:r>
            <a:r>
              <a:rPr lang="en-US" sz="1500" dirty="0"/>
              <a:t>(v = </a:t>
            </a:r>
            <a:r>
              <a:rPr lang="en-US" sz="1500" dirty="0" err="1"/>
              <a:t>observed_diff,col</a:t>
            </a:r>
            <a:r>
              <a:rPr lang="en-US" sz="1500" dirty="0"/>
              <a:t> = "red", </a:t>
            </a:r>
            <a:r>
              <a:rPr lang="en-US" sz="1500" dirty="0" err="1"/>
              <a:t>lwd</a:t>
            </a:r>
            <a:r>
              <a:rPr lang="en-US" sz="1500" dirty="0"/>
              <a:t> = 3);</a:t>
            </a:r>
          </a:p>
          <a:p>
            <a:r>
              <a:rPr lang="en-US" sz="1500" dirty="0" err="1"/>
              <a:t>pvalue</a:t>
            </a:r>
            <a:r>
              <a:rPr lang="en-US" sz="1500" dirty="0"/>
              <a:t> = counter / </a:t>
            </a:r>
            <a:r>
              <a:rPr lang="en-US" sz="1500" dirty="0" err="1"/>
              <a:t>number_of_permutations</a:t>
            </a:r>
            <a:r>
              <a:rPr lang="en-US" sz="1500" dirty="0"/>
              <a:t>;</a:t>
            </a:r>
          </a:p>
          <a:p>
            <a:r>
              <a:rPr lang="en-US" sz="1500" dirty="0" err="1"/>
              <a:t>pvalue</a:t>
            </a:r>
            <a:endParaRPr lang="en-US" sz="1500" dirty="0"/>
          </a:p>
        </p:txBody>
      </p:sp>
    </p:spTree>
    <p:extLst>
      <p:ext uri="{BB962C8B-B14F-4D97-AF65-F5344CB8AC3E}">
        <p14:creationId xmlns:p14="http://schemas.microsoft.com/office/powerpoint/2010/main" val="26129209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7375D-C245-38B5-5C46-30B3043C40BA}"/>
              </a:ext>
            </a:extLst>
          </p:cNvPr>
          <p:cNvSpPr>
            <a:spLocks noGrp="1"/>
          </p:cNvSpPr>
          <p:nvPr>
            <p:ph type="title"/>
          </p:nvPr>
        </p:nvSpPr>
        <p:spPr/>
        <p:txBody>
          <a:bodyPr/>
          <a:lstStyle/>
          <a:p>
            <a:r>
              <a:rPr lang="en-US" dirty="0"/>
              <a:t>Permutation Test of the Median: R</a:t>
            </a:r>
          </a:p>
        </p:txBody>
      </p:sp>
      <p:pic>
        <p:nvPicPr>
          <p:cNvPr id="3" name="Picture 2">
            <a:extLst>
              <a:ext uri="{FF2B5EF4-FFF2-40B4-BE49-F238E27FC236}">
                <a16:creationId xmlns:a16="http://schemas.microsoft.com/office/drawing/2014/main" id="{9FEE56C6-A96D-BC03-C145-D8B9B325615D}"/>
              </a:ext>
            </a:extLst>
          </p:cNvPr>
          <p:cNvPicPr>
            <a:picLocks noChangeAspect="1"/>
          </p:cNvPicPr>
          <p:nvPr/>
        </p:nvPicPr>
        <p:blipFill>
          <a:blip r:embed="rId2"/>
          <a:stretch>
            <a:fillRect/>
          </a:stretch>
        </p:blipFill>
        <p:spPr>
          <a:xfrm>
            <a:off x="868680" y="1676400"/>
            <a:ext cx="4800600" cy="4572929"/>
          </a:xfrm>
          <a:prstGeom prst="rect">
            <a:avLst/>
          </a:prstGeom>
        </p:spPr>
      </p:pic>
      <p:pic>
        <p:nvPicPr>
          <p:cNvPr id="5" name="Picture 4">
            <a:extLst>
              <a:ext uri="{FF2B5EF4-FFF2-40B4-BE49-F238E27FC236}">
                <a16:creationId xmlns:a16="http://schemas.microsoft.com/office/drawing/2014/main" id="{DE41087C-D963-53A2-6AA2-ECBF60B10E54}"/>
              </a:ext>
            </a:extLst>
          </p:cNvPr>
          <p:cNvPicPr>
            <a:picLocks noChangeAspect="1"/>
          </p:cNvPicPr>
          <p:nvPr/>
        </p:nvPicPr>
        <p:blipFill>
          <a:blip r:embed="rId3"/>
          <a:stretch>
            <a:fillRect/>
          </a:stretch>
        </p:blipFill>
        <p:spPr>
          <a:xfrm>
            <a:off x="7696200" y="2286000"/>
            <a:ext cx="2209800" cy="931843"/>
          </a:xfrm>
          <a:prstGeom prst="rect">
            <a:avLst/>
          </a:prstGeom>
        </p:spPr>
      </p:pic>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12FE79FA-F27C-4ADA-6458-09865327E246}"/>
                  </a:ext>
                </a:extLst>
              </p:cNvPr>
              <p:cNvSpPr txBox="1"/>
              <p:nvPr/>
            </p:nvSpPr>
            <p:spPr>
              <a:xfrm>
                <a:off x="5715000" y="3807976"/>
                <a:ext cx="6363652" cy="1200329"/>
              </a:xfrm>
              <a:prstGeom prst="rect">
                <a:avLst/>
              </a:prstGeom>
              <a:noFill/>
            </p:spPr>
            <p:txBody>
              <a:bodyPr wrap="square">
                <a:spAutoFit/>
              </a:bodyPr>
              <a:lstStyle/>
              <a:p>
                <a:r>
                  <a:rPr lang="en-US" sz="1800" dirty="0"/>
                  <a:t>Conclusion: There is </a:t>
                </a:r>
                <a:r>
                  <a:rPr lang="en-US" dirty="0"/>
                  <a:t>sufficient</a:t>
                </a:r>
                <a:r>
                  <a:rPr lang="en-US" sz="1800" dirty="0"/>
                  <a:t> evidence to suggest that the median of the percent seedlings lost in the logged plots is more than that of the unlogged plots (</a:t>
                </a:r>
                <a14:m>
                  <m:oMath xmlns:m="http://schemas.openxmlformats.org/officeDocument/2006/math">
                    <m:r>
                      <a:rPr lang="en-US" sz="1800" i="1">
                        <a:latin typeface="Cambria Math" panose="02040503050406030204" pitchFamily="18" charset="0"/>
                      </a:rPr>
                      <m:t>𝑝</m:t>
                    </m:r>
                    <m:r>
                      <a:rPr lang="en-US" sz="1800" i="1">
                        <a:latin typeface="Cambria Math" panose="02040503050406030204" pitchFamily="18" charset="0"/>
                      </a:rPr>
                      <m:t>=0.0254</m:t>
                    </m:r>
                  </m:oMath>
                </a14:m>
                <a:r>
                  <a:rPr lang="en-US" sz="1800" dirty="0"/>
                  <a:t> from a one-sided permutation test). </a:t>
                </a:r>
              </a:p>
            </p:txBody>
          </p:sp>
        </mc:Choice>
        <mc:Fallback>
          <p:sp>
            <p:nvSpPr>
              <p:cNvPr id="8" name="TextBox 7">
                <a:extLst>
                  <a:ext uri="{FF2B5EF4-FFF2-40B4-BE49-F238E27FC236}">
                    <a16:creationId xmlns:a16="http://schemas.microsoft.com/office/drawing/2014/main" id="{12FE79FA-F27C-4ADA-6458-09865327E246}"/>
                  </a:ext>
                </a:extLst>
              </p:cNvPr>
              <p:cNvSpPr txBox="1">
                <a:spLocks noRot="1" noChangeAspect="1" noMove="1" noResize="1" noEditPoints="1" noAdjustHandles="1" noChangeArrowheads="1" noChangeShapeType="1" noTextEdit="1"/>
              </p:cNvSpPr>
              <p:nvPr/>
            </p:nvSpPr>
            <p:spPr>
              <a:xfrm>
                <a:off x="5715000" y="3807976"/>
                <a:ext cx="6363652" cy="1200329"/>
              </a:xfrm>
              <a:prstGeom prst="rect">
                <a:avLst/>
              </a:prstGeom>
              <a:blipFill>
                <a:blip r:embed="rId4"/>
                <a:stretch>
                  <a:fillRect l="-998" t="-3158" r="-200" b="-6316"/>
                </a:stretch>
              </a:blipFill>
            </p:spPr>
            <p:txBody>
              <a:bodyPr/>
              <a:lstStyle/>
              <a:p>
                <a:r>
                  <a:rPr lang="en-US">
                    <a:noFill/>
                  </a:rPr>
                  <a:t> </a:t>
                </a:r>
              </a:p>
            </p:txBody>
          </p:sp>
        </mc:Fallback>
      </mc:AlternateContent>
    </p:spTree>
    <p:extLst>
      <p:ext uri="{BB962C8B-B14F-4D97-AF65-F5344CB8AC3E}">
        <p14:creationId xmlns:p14="http://schemas.microsoft.com/office/powerpoint/2010/main" val="33379097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81783" y="3429001"/>
            <a:ext cx="8628434" cy="1450757"/>
          </a:xfrm>
        </p:spPr>
        <p:txBody>
          <a:bodyPr/>
          <a:lstStyle/>
          <a:p>
            <a:pPr algn="ctr"/>
            <a:r>
              <a:rPr lang="en-US" dirty="0"/>
              <a:t>End Question 2</a:t>
            </a:r>
            <a:br>
              <a:rPr lang="en-US" dirty="0"/>
            </a:br>
            <a:br>
              <a:rPr lang="en-US" dirty="0"/>
            </a:br>
            <a:br>
              <a:rPr lang="en-US" dirty="0"/>
            </a:br>
            <a:endParaRPr lang="en-US" dirty="0"/>
          </a:p>
        </p:txBody>
      </p:sp>
      <p:sp>
        <p:nvSpPr>
          <p:cNvPr id="4" name="Slide Number Placeholder 3"/>
          <p:cNvSpPr>
            <a:spLocks noGrp="1"/>
          </p:cNvSpPr>
          <p:nvPr>
            <p:ph type="sldNum" sz="quarter" idx="12"/>
          </p:nvPr>
        </p:nvSpPr>
        <p:spPr>
          <a:xfrm>
            <a:off x="7425345" y="6459789"/>
            <a:ext cx="984019"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85BC5B7D-D6B0-4550-9BAF-D21F2647AC79}" type="slidenum">
              <a:rPr lang="en-US" altLang="en-US" smtClean="0"/>
              <a:pPr>
                <a:defRPr/>
              </a:pPr>
              <a:t>31</a:t>
            </a:fld>
            <a:endParaRPr lang="en-US" altLang="en-US" dirty="0"/>
          </a:p>
        </p:txBody>
      </p:sp>
    </p:spTree>
    <p:extLst>
      <p:ext uri="{BB962C8B-B14F-4D97-AF65-F5344CB8AC3E}">
        <p14:creationId xmlns:p14="http://schemas.microsoft.com/office/powerpoint/2010/main" val="24111954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978" y="190949"/>
            <a:ext cx="11178822" cy="1325563"/>
          </a:xfrm>
        </p:spPr>
        <p:txBody>
          <a:bodyPr>
            <a:normAutofit/>
          </a:bodyPr>
          <a:lstStyle/>
          <a:p>
            <a:pPr algn="ctr"/>
            <a:r>
              <a:rPr lang="en-US" dirty="0"/>
              <a:t>Rank Sum versus Welch’s … the Take Away</a:t>
            </a:r>
          </a:p>
        </p:txBody>
      </p:sp>
      <p:sp>
        <p:nvSpPr>
          <p:cNvPr id="3" name="Content Placeholder 2"/>
          <p:cNvSpPr>
            <a:spLocks noGrp="1"/>
          </p:cNvSpPr>
          <p:nvPr>
            <p:ph idx="1"/>
          </p:nvPr>
        </p:nvSpPr>
        <p:spPr>
          <a:xfrm>
            <a:off x="267848" y="1842181"/>
            <a:ext cx="11661881" cy="1024534"/>
          </a:xfrm>
        </p:spPr>
        <p:txBody>
          <a:bodyPr>
            <a:normAutofit fontScale="77500" lnSpcReduction="20000"/>
          </a:bodyPr>
          <a:lstStyle/>
          <a:p>
            <a:pPr marL="0" indent="0">
              <a:buNone/>
            </a:pPr>
            <a:r>
              <a:rPr lang="en-US" dirty="0"/>
              <a:t>If you wish to make inference on the mean and you have the sample size to invoke the CLT, Welch’s t-test is preferred by most statisticians, and it is robust to different standard deviations even when the sample sizes are not equal.</a:t>
            </a:r>
          </a:p>
        </p:txBody>
      </p:sp>
      <p:sp>
        <p:nvSpPr>
          <p:cNvPr id="4" name="Content Placeholder 2">
            <a:extLst>
              <a:ext uri="{FF2B5EF4-FFF2-40B4-BE49-F238E27FC236}">
                <a16:creationId xmlns:a16="http://schemas.microsoft.com/office/drawing/2014/main" id="{D5B7AB9A-ADD7-41E4-B02E-B8ABB8F742B0}"/>
              </a:ext>
            </a:extLst>
          </p:cNvPr>
          <p:cNvSpPr txBox="1">
            <a:spLocks/>
          </p:cNvSpPr>
          <p:nvPr/>
        </p:nvSpPr>
        <p:spPr>
          <a:xfrm>
            <a:off x="267848" y="2982889"/>
            <a:ext cx="11661881" cy="1024534"/>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Font typeface="Calibri" panose="020F0502020204030204" pitchFamily="34" charset="0"/>
              <a:buNone/>
            </a:pPr>
            <a:r>
              <a:rPr lang="en-US" dirty="0"/>
              <a:t>Often, especially in skewed distributions, the median is a better measure of center.  For this reason, one may prefer the rank sum test even when Welch’s t-test is available.  </a:t>
            </a:r>
          </a:p>
        </p:txBody>
      </p:sp>
      <p:sp>
        <p:nvSpPr>
          <p:cNvPr id="5" name="Content Placeholder 2">
            <a:extLst>
              <a:ext uri="{FF2B5EF4-FFF2-40B4-BE49-F238E27FC236}">
                <a16:creationId xmlns:a16="http://schemas.microsoft.com/office/drawing/2014/main" id="{9853570E-8B46-4E47-A7E6-CA1BBC5A7CC5}"/>
              </a:ext>
            </a:extLst>
          </p:cNvPr>
          <p:cNvSpPr txBox="1">
            <a:spLocks/>
          </p:cNvSpPr>
          <p:nvPr/>
        </p:nvSpPr>
        <p:spPr>
          <a:xfrm>
            <a:off x="262271" y="3792210"/>
            <a:ext cx="11661881" cy="1024534"/>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Font typeface="Calibri" panose="020F0502020204030204" pitchFamily="34" charset="0"/>
              <a:buNone/>
            </a:pPr>
            <a:r>
              <a:rPr lang="en-US" dirty="0"/>
              <a:t>If you have small sample sizes, you may not be very confident about the normality assumption even if the histograms and q-q plots look okay.  For this reason, one may wish to be “conservative” and run the rank sum test and obtain inference on the median.</a:t>
            </a:r>
          </a:p>
          <a:p>
            <a:pPr marL="0" indent="0">
              <a:buFont typeface="Calibri" panose="020F0502020204030204" pitchFamily="34" charset="0"/>
              <a:buNone/>
            </a:pPr>
            <a:endParaRPr lang="en-US" sz="1100" dirty="0"/>
          </a:p>
          <a:p>
            <a:pPr marL="0" indent="0">
              <a:buFont typeface="Calibri" panose="020F0502020204030204" pitchFamily="34" charset="0"/>
              <a:buNone/>
            </a:pPr>
            <a:endParaRPr lang="en-US" dirty="0"/>
          </a:p>
        </p:txBody>
      </p:sp>
      <p:sp>
        <p:nvSpPr>
          <p:cNvPr id="6" name="Content Placeholder 2">
            <a:extLst>
              <a:ext uri="{FF2B5EF4-FFF2-40B4-BE49-F238E27FC236}">
                <a16:creationId xmlns:a16="http://schemas.microsoft.com/office/drawing/2014/main" id="{E9A6C80C-30E3-4361-97C1-C95C5D7C5E7A}"/>
              </a:ext>
            </a:extLst>
          </p:cNvPr>
          <p:cNvSpPr txBox="1">
            <a:spLocks/>
          </p:cNvSpPr>
          <p:nvPr/>
        </p:nvSpPr>
        <p:spPr>
          <a:xfrm>
            <a:off x="267848" y="4816744"/>
            <a:ext cx="11661881" cy="1325562"/>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Font typeface="Calibri" panose="020F0502020204030204" pitchFamily="34" charset="0"/>
              <a:buNone/>
            </a:pPr>
            <a:r>
              <a:rPr lang="en-US" dirty="0"/>
              <a:t>If there are outliers or censored values, the rank sum test is often the most appropriate as the t-test is not resistant to outliers and has no way of using censored data. </a:t>
            </a:r>
          </a:p>
          <a:p>
            <a:pPr marL="0" indent="0">
              <a:buFont typeface="Calibri" panose="020F0502020204030204" pitchFamily="34" charset="0"/>
              <a:buNone/>
            </a:pPr>
            <a:endParaRPr lang="en-US" dirty="0"/>
          </a:p>
        </p:txBody>
      </p:sp>
    </p:spTree>
    <p:extLst>
      <p:ext uri="{BB962C8B-B14F-4D97-AF65-F5344CB8AC3E}">
        <p14:creationId xmlns:p14="http://schemas.microsoft.com/office/powerpoint/2010/main" val="2309876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54ED0036-5587-6040-AB8E-6554512C0179}"/>
              </a:ext>
            </a:extLst>
          </p:cNvPr>
          <p:cNvPicPr>
            <a:picLocks noChangeAspect="1"/>
          </p:cNvPicPr>
          <p:nvPr/>
        </p:nvPicPr>
        <p:blipFill>
          <a:blip r:embed="rId2"/>
          <a:stretch>
            <a:fillRect/>
          </a:stretch>
        </p:blipFill>
        <p:spPr>
          <a:xfrm>
            <a:off x="381000" y="1020762"/>
            <a:ext cx="11430000" cy="914400"/>
          </a:xfrm>
          <a:prstGeom prst="rect">
            <a:avLst/>
          </a:prstGeom>
        </p:spPr>
      </p:pic>
      <p:sp>
        <p:nvSpPr>
          <p:cNvPr id="2" name="Title 1"/>
          <p:cNvSpPr>
            <a:spLocks noGrp="1"/>
          </p:cNvSpPr>
          <p:nvPr>
            <p:ph type="title"/>
          </p:nvPr>
        </p:nvSpPr>
        <p:spPr>
          <a:xfrm>
            <a:off x="1972894" y="228600"/>
            <a:ext cx="8229600" cy="792162"/>
          </a:xfrm>
        </p:spPr>
        <p:txBody>
          <a:bodyPr/>
          <a:lstStyle/>
          <a:p>
            <a:r>
              <a:rPr lang="en-US" dirty="0"/>
              <a:t>Performance of Welch’s t-test</a:t>
            </a:r>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7238" y="3352800"/>
            <a:ext cx="8624291" cy="31630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7237" y="1066800"/>
            <a:ext cx="8780914" cy="2133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7" name="Straight Connector 6"/>
          <p:cNvCxnSpPr/>
          <p:nvPr/>
        </p:nvCxnSpPr>
        <p:spPr>
          <a:xfrm>
            <a:off x="3276600" y="2590800"/>
            <a:ext cx="762000"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505200" y="2362200"/>
            <a:ext cx="3810000"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9144000" y="2362200"/>
            <a:ext cx="381000"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4572000" y="3124200"/>
            <a:ext cx="381000"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1981200" y="2895600"/>
            <a:ext cx="1371600"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1981200" y="5486400"/>
            <a:ext cx="4267200" cy="457200"/>
          </a:xfrm>
          <a:prstGeom prst="rect">
            <a:avLst/>
          </a:prstGeom>
          <a:solidFill>
            <a:srgbClr val="00B050">
              <a:alpha val="23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Tree>
    <p:extLst>
      <p:ext uri="{BB962C8B-B14F-4D97-AF65-F5344CB8AC3E}">
        <p14:creationId xmlns:p14="http://schemas.microsoft.com/office/powerpoint/2010/main" val="280802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Medical Reasoning Test</a:t>
            </a:r>
          </a:p>
        </p:txBody>
      </p:sp>
      <p:sp>
        <p:nvSpPr>
          <p:cNvPr id="3" name="Content Placeholder 2"/>
          <p:cNvSpPr>
            <a:spLocks noGrp="1"/>
          </p:cNvSpPr>
          <p:nvPr>
            <p:ph idx="1"/>
          </p:nvPr>
        </p:nvSpPr>
        <p:spPr>
          <a:xfrm>
            <a:off x="311982" y="2212571"/>
            <a:ext cx="8194709" cy="4023360"/>
          </a:xfrm>
        </p:spPr>
        <p:txBody>
          <a:bodyPr>
            <a:normAutofit/>
          </a:bodyPr>
          <a:lstStyle/>
          <a:p>
            <a:pPr>
              <a:buFont typeface="Arial" charset="0"/>
              <a:buChar char="•"/>
            </a:pPr>
            <a:r>
              <a:rPr lang="en-US" sz="2000" dirty="0"/>
              <a:t> The AMA has a diagnostic test for medical reasoning</a:t>
            </a:r>
          </a:p>
          <a:p>
            <a:pPr>
              <a:buFont typeface="Arial" charset="0"/>
              <a:buChar char="•"/>
            </a:pPr>
            <a:r>
              <a:rPr lang="en-US" sz="2000" dirty="0"/>
              <a:t> On average, people score about 500 points on this test</a:t>
            </a:r>
          </a:p>
          <a:p>
            <a:pPr>
              <a:buFont typeface="Arial" charset="0"/>
              <a:buChar char="•"/>
            </a:pPr>
            <a:r>
              <a:rPr lang="en-US" sz="2000" dirty="0"/>
              <a:t> We have data from 10 subjects who took the medical reasoning test.  These subjects were randomly selected from St. Paul Hospital in Dallas</a:t>
            </a:r>
          </a:p>
          <a:p>
            <a:pPr>
              <a:buFont typeface="Arial" charset="0"/>
              <a:buChar char="•"/>
            </a:pPr>
            <a:endParaRPr lang="en-US" sz="1200" dirty="0"/>
          </a:p>
          <a:p>
            <a:pPr>
              <a:buFont typeface="Arial" charset="0"/>
              <a:buChar char="•"/>
            </a:pPr>
            <a:r>
              <a:rPr lang="en-US" sz="2000" b="1" dirty="0">
                <a:solidFill>
                  <a:schemeClr val="tx1"/>
                </a:solidFill>
              </a:rPr>
              <a:t>Not fatigued:</a:t>
            </a:r>
            <a:r>
              <a:rPr lang="en-US" sz="2000" dirty="0">
                <a:solidFill>
                  <a:srgbClr val="FF0000"/>
                </a:solidFill>
              </a:rPr>
              <a:t> </a:t>
            </a:r>
            <a:r>
              <a:rPr lang="en-US" sz="2000" dirty="0"/>
              <a:t>is the baseline, taking the test before a shift</a:t>
            </a:r>
          </a:p>
          <a:p>
            <a:pPr>
              <a:buFont typeface="Arial" charset="0"/>
              <a:buChar char="•"/>
            </a:pPr>
            <a:r>
              <a:rPr lang="en-US" sz="2000" b="1" dirty="0">
                <a:solidFill>
                  <a:schemeClr val="tx2"/>
                </a:solidFill>
              </a:rPr>
              <a:t>Fatigued: </a:t>
            </a:r>
            <a:r>
              <a:rPr lang="en-US" sz="2000" dirty="0"/>
              <a:t>is after the treatment; working for 12 operational hours prior to re-taking the test.</a:t>
            </a:r>
          </a:p>
          <a:p>
            <a:pPr>
              <a:buFont typeface="Arial" charset="0"/>
              <a:buChar char="•"/>
            </a:pPr>
            <a:endParaRPr lang="en-US" sz="2400" dirty="0"/>
          </a:p>
        </p:txBody>
      </p:sp>
      <p:sp>
        <p:nvSpPr>
          <p:cNvPr id="4" name="Slide Number Placeholder 3"/>
          <p:cNvSpPr>
            <a:spLocks noGrp="1"/>
          </p:cNvSpPr>
          <p:nvPr>
            <p:ph type="sldNum" sz="quarter" idx="12"/>
          </p:nvPr>
        </p:nvSpPr>
        <p:spPr>
          <a:xfrm>
            <a:off x="9900460" y="6459787"/>
            <a:ext cx="1312025"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F6EB086-0FB5-404F-9DB0-02BE9E698E00}" type="slidenum">
              <a:rPr lang="en-US" smtClean="0"/>
              <a:pPr/>
              <a:t>34</a:t>
            </a:fld>
            <a:endParaRPr lang="en-US" dirty="0"/>
          </a:p>
        </p:txBody>
      </p:sp>
      <p:graphicFrame>
        <p:nvGraphicFramePr>
          <p:cNvPr id="5" name="Content Placeholder 3"/>
          <p:cNvGraphicFramePr>
            <a:graphicFrameLocks/>
          </p:cNvGraphicFramePr>
          <p:nvPr/>
        </p:nvGraphicFramePr>
        <p:xfrm>
          <a:off x="8354291" y="2212571"/>
          <a:ext cx="3657600" cy="3017520"/>
        </p:xfrm>
        <a:graphic>
          <a:graphicData uri="http://schemas.openxmlformats.org/drawingml/2006/table">
            <a:tbl>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tblGrid>
              <a:tr h="190500">
                <a:tc>
                  <a:txBody>
                    <a:bodyPr/>
                    <a:lstStyle/>
                    <a:p>
                      <a:pPr algn="ctr" fontAlgn="b"/>
                      <a:r>
                        <a:rPr lang="en-US" sz="1800" b="1" i="0" u="none" strike="noStrike" dirty="0">
                          <a:solidFill>
                            <a:schemeClr val="tx1"/>
                          </a:solidFill>
                          <a:latin typeface="Calibri"/>
                        </a:rPr>
                        <a:t>Subject</a:t>
                      </a:r>
                      <a:r>
                        <a:rPr lang="en-US" sz="1800" b="1" i="0" u="none" strike="noStrike" baseline="0" dirty="0">
                          <a:solidFill>
                            <a:schemeClr val="tx1"/>
                          </a:solidFill>
                          <a:latin typeface="Calibri"/>
                        </a:rPr>
                        <a:t> #</a:t>
                      </a:r>
                      <a:endParaRPr lang="en-US" sz="1800" b="1" i="0" u="none" strike="noStrike" dirty="0">
                        <a:solidFill>
                          <a:schemeClr val="tx1"/>
                        </a:solidFill>
                        <a:latin typeface="Calibri"/>
                      </a:endParaRPr>
                    </a:p>
                  </a:txBody>
                  <a:tcPr marL="0" marR="0" marT="0" marB="0" anchor="b">
                    <a:lnL>
                      <a:noFill/>
                    </a:lnL>
                    <a:lnR>
                      <a:noFill/>
                    </a:lnR>
                    <a:lnT>
                      <a:noFill/>
                    </a:lnT>
                    <a:lnB>
                      <a:noFill/>
                    </a:lnB>
                  </a:tcPr>
                </a:tc>
                <a:tc>
                  <a:txBody>
                    <a:bodyPr/>
                    <a:lstStyle/>
                    <a:p>
                      <a:pPr algn="ctr" fontAlgn="b"/>
                      <a:r>
                        <a:rPr lang="en-US" sz="1800" b="1" i="0" u="none" strike="noStrike" dirty="0">
                          <a:solidFill>
                            <a:schemeClr val="tx1"/>
                          </a:solidFill>
                          <a:latin typeface="Calibri"/>
                        </a:rPr>
                        <a:t>Not</a:t>
                      </a:r>
                      <a:r>
                        <a:rPr lang="en-US" sz="1800" b="1" i="0" u="none" strike="noStrike" baseline="0" dirty="0">
                          <a:solidFill>
                            <a:schemeClr val="tx1"/>
                          </a:solidFill>
                          <a:latin typeface="Calibri"/>
                        </a:rPr>
                        <a:t> Fatigued</a:t>
                      </a:r>
                      <a:endParaRPr lang="en-US" sz="1800" b="1" i="0" u="none" strike="noStrike" dirty="0">
                        <a:solidFill>
                          <a:schemeClr val="tx1"/>
                        </a:solidFill>
                        <a:latin typeface="Calibri"/>
                      </a:endParaRPr>
                    </a:p>
                  </a:txBody>
                  <a:tcPr marL="0" marR="0" marT="0" marB="0" anchor="b">
                    <a:lnL>
                      <a:noFill/>
                    </a:lnL>
                    <a:lnR>
                      <a:noFill/>
                    </a:lnR>
                    <a:lnT>
                      <a:noFill/>
                    </a:lnT>
                    <a:lnB>
                      <a:noFill/>
                    </a:lnB>
                  </a:tcPr>
                </a:tc>
                <a:tc>
                  <a:txBody>
                    <a:bodyPr/>
                    <a:lstStyle/>
                    <a:p>
                      <a:pPr algn="ctr" fontAlgn="b"/>
                      <a:r>
                        <a:rPr lang="en-US" sz="1800" b="1" i="0" u="none" strike="noStrike" dirty="0">
                          <a:solidFill>
                            <a:schemeClr val="tx1"/>
                          </a:solidFill>
                          <a:latin typeface="Calibri"/>
                        </a:rPr>
                        <a:t>Fatigued</a:t>
                      </a:r>
                    </a:p>
                  </a:txBody>
                  <a:tcPr marL="0" marR="0" marT="0" marB="0" anchor="b">
                    <a:lnL>
                      <a:noFill/>
                    </a:lnL>
                    <a:lnR>
                      <a:noFill/>
                    </a:lnR>
                    <a:lnT>
                      <a:noFill/>
                    </a:lnT>
                    <a:lnB>
                      <a:noFill/>
                    </a:lnB>
                  </a:tcPr>
                </a:tc>
                <a:extLst>
                  <a:ext uri="{0D108BD9-81ED-4DB2-BD59-A6C34878D82A}">
                    <a16:rowId xmlns:a16="http://schemas.microsoft.com/office/drawing/2014/main" val="10000"/>
                  </a:ext>
                </a:extLst>
              </a:tr>
              <a:tr h="190500">
                <a:tc>
                  <a:txBody>
                    <a:bodyPr/>
                    <a:lstStyle/>
                    <a:p>
                      <a:pPr algn="ctr" fontAlgn="b"/>
                      <a:r>
                        <a:rPr lang="en-US" sz="1800" b="0" i="0" u="none" strike="noStrike" dirty="0">
                          <a:solidFill>
                            <a:schemeClr val="tx1"/>
                          </a:solidFill>
                          <a:latin typeface="Calibri"/>
                        </a:rPr>
                        <a:t>1</a:t>
                      </a:r>
                    </a:p>
                  </a:txBody>
                  <a:tcPr marL="0" marR="0" marT="0" marB="0" anchor="b">
                    <a:lnL>
                      <a:noFill/>
                    </a:lnL>
                    <a:lnR>
                      <a:noFill/>
                    </a:lnR>
                    <a:lnT>
                      <a:noFill/>
                    </a:lnT>
                    <a:lnB>
                      <a:noFill/>
                    </a:lnB>
                  </a:tcPr>
                </a:tc>
                <a:tc>
                  <a:txBody>
                    <a:bodyPr/>
                    <a:lstStyle/>
                    <a:p>
                      <a:pPr algn="ctr" fontAlgn="b"/>
                      <a:r>
                        <a:rPr lang="en-US" sz="1800" b="0" i="0" u="none" strike="noStrike" dirty="0">
                          <a:solidFill>
                            <a:schemeClr val="tx1"/>
                          </a:solidFill>
                          <a:latin typeface="Calibri"/>
                        </a:rPr>
                        <a:t>567</a:t>
                      </a:r>
                    </a:p>
                  </a:txBody>
                  <a:tcPr marL="0" marR="0" marT="0" marB="0" anchor="b">
                    <a:lnL>
                      <a:noFill/>
                    </a:lnL>
                    <a:lnR>
                      <a:noFill/>
                    </a:lnR>
                    <a:lnT>
                      <a:noFill/>
                    </a:lnT>
                    <a:lnB>
                      <a:noFill/>
                    </a:lnB>
                  </a:tcPr>
                </a:tc>
                <a:tc>
                  <a:txBody>
                    <a:bodyPr/>
                    <a:lstStyle/>
                    <a:p>
                      <a:pPr algn="ctr" fontAlgn="b"/>
                      <a:r>
                        <a:rPr lang="en-US" sz="1800" b="0" i="0" u="none" strike="noStrike" dirty="0">
                          <a:solidFill>
                            <a:schemeClr val="tx1"/>
                          </a:solidFill>
                          <a:latin typeface="Calibri"/>
                        </a:rPr>
                        <a:t>530</a:t>
                      </a:r>
                    </a:p>
                  </a:txBody>
                  <a:tcPr marL="0" marR="0" marT="0" marB="0" anchor="b">
                    <a:lnL>
                      <a:noFill/>
                    </a:lnL>
                    <a:lnR>
                      <a:noFill/>
                    </a:lnR>
                    <a:lnT>
                      <a:noFill/>
                    </a:lnT>
                    <a:lnB>
                      <a:noFill/>
                    </a:lnB>
                  </a:tcPr>
                </a:tc>
                <a:extLst>
                  <a:ext uri="{0D108BD9-81ED-4DB2-BD59-A6C34878D82A}">
                    <a16:rowId xmlns:a16="http://schemas.microsoft.com/office/drawing/2014/main" val="10001"/>
                  </a:ext>
                </a:extLst>
              </a:tr>
              <a:tr h="190500">
                <a:tc>
                  <a:txBody>
                    <a:bodyPr/>
                    <a:lstStyle/>
                    <a:p>
                      <a:pPr algn="ctr" fontAlgn="b"/>
                      <a:r>
                        <a:rPr lang="en-US" sz="1800" b="0" i="0" u="none" strike="noStrike" dirty="0">
                          <a:solidFill>
                            <a:schemeClr val="tx1"/>
                          </a:solidFill>
                          <a:latin typeface="Calibri"/>
                        </a:rPr>
                        <a:t>2</a:t>
                      </a:r>
                    </a:p>
                  </a:txBody>
                  <a:tcPr marL="0" marR="0" marT="0" marB="0" anchor="b">
                    <a:lnL>
                      <a:noFill/>
                    </a:lnL>
                    <a:lnR>
                      <a:noFill/>
                    </a:lnR>
                    <a:lnT>
                      <a:noFill/>
                    </a:lnT>
                    <a:lnB>
                      <a:noFill/>
                    </a:lnB>
                  </a:tcPr>
                </a:tc>
                <a:tc>
                  <a:txBody>
                    <a:bodyPr/>
                    <a:lstStyle/>
                    <a:p>
                      <a:pPr algn="ctr" fontAlgn="b"/>
                      <a:r>
                        <a:rPr lang="en-US" sz="1800" b="0" i="0" u="none" strike="noStrike" dirty="0">
                          <a:solidFill>
                            <a:schemeClr val="tx1"/>
                          </a:solidFill>
                          <a:latin typeface="Calibri"/>
                        </a:rPr>
                        <a:t>512</a:t>
                      </a:r>
                    </a:p>
                  </a:txBody>
                  <a:tcPr marL="0" marR="0" marT="0" marB="0" anchor="b">
                    <a:lnL>
                      <a:noFill/>
                    </a:lnL>
                    <a:lnR>
                      <a:noFill/>
                    </a:lnR>
                    <a:lnT>
                      <a:noFill/>
                    </a:lnT>
                    <a:lnB>
                      <a:noFill/>
                    </a:lnB>
                  </a:tcPr>
                </a:tc>
                <a:tc>
                  <a:txBody>
                    <a:bodyPr/>
                    <a:lstStyle/>
                    <a:p>
                      <a:pPr algn="ctr" fontAlgn="b"/>
                      <a:r>
                        <a:rPr lang="en-US" sz="1800" b="0" i="0" u="none" strike="noStrike" dirty="0">
                          <a:solidFill>
                            <a:schemeClr val="tx1"/>
                          </a:solidFill>
                          <a:latin typeface="Calibri"/>
                        </a:rPr>
                        <a:t>492</a:t>
                      </a:r>
                    </a:p>
                  </a:txBody>
                  <a:tcPr marL="0" marR="0" marT="0" marB="0" anchor="b">
                    <a:lnL>
                      <a:noFill/>
                    </a:lnL>
                    <a:lnR>
                      <a:noFill/>
                    </a:lnR>
                    <a:lnT>
                      <a:noFill/>
                    </a:lnT>
                    <a:lnB>
                      <a:noFill/>
                    </a:lnB>
                  </a:tcPr>
                </a:tc>
                <a:extLst>
                  <a:ext uri="{0D108BD9-81ED-4DB2-BD59-A6C34878D82A}">
                    <a16:rowId xmlns:a16="http://schemas.microsoft.com/office/drawing/2014/main" val="10002"/>
                  </a:ext>
                </a:extLst>
              </a:tr>
              <a:tr h="190500">
                <a:tc>
                  <a:txBody>
                    <a:bodyPr/>
                    <a:lstStyle/>
                    <a:p>
                      <a:pPr algn="ctr" fontAlgn="b"/>
                      <a:r>
                        <a:rPr lang="en-US" sz="1800" b="0" i="0" u="none" strike="noStrike" dirty="0">
                          <a:solidFill>
                            <a:schemeClr val="tx1"/>
                          </a:solidFill>
                          <a:latin typeface="Calibri"/>
                        </a:rPr>
                        <a:t>3</a:t>
                      </a:r>
                    </a:p>
                  </a:txBody>
                  <a:tcPr marL="0" marR="0" marT="0" marB="0" anchor="b">
                    <a:lnL>
                      <a:noFill/>
                    </a:lnL>
                    <a:lnR>
                      <a:noFill/>
                    </a:lnR>
                    <a:lnT>
                      <a:noFill/>
                    </a:lnT>
                    <a:lnB>
                      <a:noFill/>
                    </a:lnB>
                  </a:tcPr>
                </a:tc>
                <a:tc>
                  <a:txBody>
                    <a:bodyPr/>
                    <a:lstStyle/>
                    <a:p>
                      <a:pPr algn="ctr" fontAlgn="b"/>
                      <a:r>
                        <a:rPr lang="en-US" sz="1800" b="0" i="0" u="none" strike="noStrike" dirty="0">
                          <a:solidFill>
                            <a:schemeClr val="tx1"/>
                          </a:solidFill>
                          <a:latin typeface="Calibri"/>
                        </a:rPr>
                        <a:t>509</a:t>
                      </a:r>
                    </a:p>
                  </a:txBody>
                  <a:tcPr marL="0" marR="0" marT="0" marB="0" anchor="b">
                    <a:lnL>
                      <a:noFill/>
                    </a:lnL>
                    <a:lnR>
                      <a:noFill/>
                    </a:lnR>
                    <a:lnT>
                      <a:noFill/>
                    </a:lnT>
                    <a:lnB>
                      <a:noFill/>
                    </a:lnB>
                  </a:tcPr>
                </a:tc>
                <a:tc>
                  <a:txBody>
                    <a:bodyPr/>
                    <a:lstStyle/>
                    <a:p>
                      <a:pPr algn="ctr" fontAlgn="b"/>
                      <a:r>
                        <a:rPr lang="en-US" sz="1800" b="0" i="0" u="none" strike="noStrike" dirty="0">
                          <a:solidFill>
                            <a:schemeClr val="tx1"/>
                          </a:solidFill>
                          <a:latin typeface="Calibri"/>
                        </a:rPr>
                        <a:t>510</a:t>
                      </a:r>
                    </a:p>
                  </a:txBody>
                  <a:tcPr marL="0" marR="0" marT="0" marB="0" anchor="b">
                    <a:lnL>
                      <a:noFill/>
                    </a:lnL>
                    <a:lnR>
                      <a:noFill/>
                    </a:lnR>
                    <a:lnT>
                      <a:noFill/>
                    </a:lnT>
                    <a:lnB>
                      <a:noFill/>
                    </a:lnB>
                  </a:tcPr>
                </a:tc>
                <a:extLst>
                  <a:ext uri="{0D108BD9-81ED-4DB2-BD59-A6C34878D82A}">
                    <a16:rowId xmlns:a16="http://schemas.microsoft.com/office/drawing/2014/main" val="10003"/>
                  </a:ext>
                </a:extLst>
              </a:tr>
              <a:tr h="190500">
                <a:tc>
                  <a:txBody>
                    <a:bodyPr/>
                    <a:lstStyle/>
                    <a:p>
                      <a:pPr algn="ctr" fontAlgn="b"/>
                      <a:r>
                        <a:rPr lang="en-US" sz="1800" b="0" i="0" u="none" strike="noStrike" dirty="0">
                          <a:solidFill>
                            <a:schemeClr val="tx1"/>
                          </a:solidFill>
                          <a:latin typeface="Calibri"/>
                        </a:rPr>
                        <a:t>4</a:t>
                      </a:r>
                    </a:p>
                  </a:txBody>
                  <a:tcPr marL="0" marR="0" marT="0" marB="0" anchor="b">
                    <a:lnL>
                      <a:noFill/>
                    </a:lnL>
                    <a:lnR>
                      <a:noFill/>
                    </a:lnR>
                    <a:lnT>
                      <a:noFill/>
                    </a:lnT>
                    <a:lnB>
                      <a:noFill/>
                    </a:lnB>
                  </a:tcPr>
                </a:tc>
                <a:tc>
                  <a:txBody>
                    <a:bodyPr/>
                    <a:lstStyle/>
                    <a:p>
                      <a:pPr algn="ctr" fontAlgn="b"/>
                      <a:r>
                        <a:rPr lang="en-US" sz="1800" b="0" i="0" u="none" strike="noStrike" dirty="0">
                          <a:solidFill>
                            <a:schemeClr val="tx1"/>
                          </a:solidFill>
                          <a:latin typeface="Calibri"/>
                        </a:rPr>
                        <a:t>593</a:t>
                      </a:r>
                    </a:p>
                  </a:txBody>
                  <a:tcPr marL="0" marR="0" marT="0" marB="0" anchor="b">
                    <a:lnL>
                      <a:noFill/>
                    </a:lnL>
                    <a:lnR>
                      <a:noFill/>
                    </a:lnR>
                    <a:lnT>
                      <a:noFill/>
                    </a:lnT>
                    <a:lnB>
                      <a:noFill/>
                    </a:lnB>
                  </a:tcPr>
                </a:tc>
                <a:tc>
                  <a:txBody>
                    <a:bodyPr/>
                    <a:lstStyle/>
                    <a:p>
                      <a:pPr algn="ctr" fontAlgn="b"/>
                      <a:r>
                        <a:rPr lang="en-US" sz="1800" b="0" i="0" u="none" strike="noStrike" dirty="0">
                          <a:solidFill>
                            <a:schemeClr val="tx1"/>
                          </a:solidFill>
                          <a:latin typeface="Calibri"/>
                        </a:rPr>
                        <a:t>580</a:t>
                      </a:r>
                    </a:p>
                  </a:txBody>
                  <a:tcPr marL="0" marR="0" marT="0" marB="0" anchor="b">
                    <a:lnL>
                      <a:noFill/>
                    </a:lnL>
                    <a:lnR>
                      <a:noFill/>
                    </a:lnR>
                    <a:lnT>
                      <a:noFill/>
                    </a:lnT>
                    <a:lnB>
                      <a:noFill/>
                    </a:lnB>
                  </a:tcPr>
                </a:tc>
                <a:extLst>
                  <a:ext uri="{0D108BD9-81ED-4DB2-BD59-A6C34878D82A}">
                    <a16:rowId xmlns:a16="http://schemas.microsoft.com/office/drawing/2014/main" val="10004"/>
                  </a:ext>
                </a:extLst>
              </a:tr>
              <a:tr h="190500">
                <a:tc>
                  <a:txBody>
                    <a:bodyPr/>
                    <a:lstStyle/>
                    <a:p>
                      <a:pPr algn="ctr" fontAlgn="b"/>
                      <a:r>
                        <a:rPr lang="en-US" sz="1800" b="0" i="0" u="none" strike="noStrike" dirty="0">
                          <a:solidFill>
                            <a:schemeClr val="tx1"/>
                          </a:solidFill>
                          <a:latin typeface="Calibri"/>
                        </a:rPr>
                        <a:t>5</a:t>
                      </a:r>
                    </a:p>
                  </a:txBody>
                  <a:tcPr marL="0" marR="0" marT="0" marB="0" anchor="b">
                    <a:lnL>
                      <a:noFill/>
                    </a:lnL>
                    <a:lnR>
                      <a:noFill/>
                    </a:lnR>
                    <a:lnT>
                      <a:noFill/>
                    </a:lnT>
                    <a:lnB>
                      <a:noFill/>
                    </a:lnB>
                  </a:tcPr>
                </a:tc>
                <a:tc>
                  <a:txBody>
                    <a:bodyPr/>
                    <a:lstStyle/>
                    <a:p>
                      <a:pPr algn="ctr" fontAlgn="b"/>
                      <a:r>
                        <a:rPr lang="en-US" sz="1800" b="0" i="0" u="none" strike="noStrike" dirty="0">
                          <a:solidFill>
                            <a:schemeClr val="tx1"/>
                          </a:solidFill>
                          <a:latin typeface="Calibri"/>
                        </a:rPr>
                        <a:t>588</a:t>
                      </a:r>
                    </a:p>
                  </a:txBody>
                  <a:tcPr marL="0" marR="0" marT="0" marB="0" anchor="b">
                    <a:lnL>
                      <a:noFill/>
                    </a:lnL>
                    <a:lnR>
                      <a:noFill/>
                    </a:lnR>
                    <a:lnT>
                      <a:noFill/>
                    </a:lnT>
                    <a:lnB>
                      <a:noFill/>
                    </a:lnB>
                  </a:tcPr>
                </a:tc>
                <a:tc>
                  <a:txBody>
                    <a:bodyPr/>
                    <a:lstStyle/>
                    <a:p>
                      <a:pPr algn="ctr" fontAlgn="b"/>
                      <a:r>
                        <a:rPr lang="en-US" sz="1800" b="0" i="0" u="none" strike="noStrike" dirty="0">
                          <a:solidFill>
                            <a:schemeClr val="tx1"/>
                          </a:solidFill>
                          <a:latin typeface="Calibri"/>
                        </a:rPr>
                        <a:t>600</a:t>
                      </a:r>
                    </a:p>
                  </a:txBody>
                  <a:tcPr marL="0" marR="0" marT="0" marB="0" anchor="b">
                    <a:lnL>
                      <a:noFill/>
                    </a:lnL>
                    <a:lnR>
                      <a:noFill/>
                    </a:lnR>
                    <a:lnT>
                      <a:noFill/>
                    </a:lnT>
                    <a:lnB>
                      <a:noFill/>
                    </a:lnB>
                  </a:tcPr>
                </a:tc>
                <a:extLst>
                  <a:ext uri="{0D108BD9-81ED-4DB2-BD59-A6C34878D82A}">
                    <a16:rowId xmlns:a16="http://schemas.microsoft.com/office/drawing/2014/main" val="10005"/>
                  </a:ext>
                </a:extLst>
              </a:tr>
              <a:tr h="190500">
                <a:tc>
                  <a:txBody>
                    <a:bodyPr/>
                    <a:lstStyle/>
                    <a:p>
                      <a:pPr algn="ctr" fontAlgn="b"/>
                      <a:r>
                        <a:rPr lang="en-US" sz="1800" b="0" i="0" u="none" strike="noStrike" dirty="0">
                          <a:solidFill>
                            <a:schemeClr val="tx1"/>
                          </a:solidFill>
                          <a:latin typeface="Calibri"/>
                        </a:rPr>
                        <a:t>6</a:t>
                      </a:r>
                    </a:p>
                  </a:txBody>
                  <a:tcPr marL="0" marR="0" marT="0" marB="0" anchor="b">
                    <a:lnL>
                      <a:noFill/>
                    </a:lnL>
                    <a:lnR>
                      <a:noFill/>
                    </a:lnR>
                    <a:lnT>
                      <a:noFill/>
                    </a:lnT>
                    <a:lnB>
                      <a:noFill/>
                    </a:lnB>
                  </a:tcPr>
                </a:tc>
                <a:tc>
                  <a:txBody>
                    <a:bodyPr/>
                    <a:lstStyle/>
                    <a:p>
                      <a:pPr algn="ctr" fontAlgn="b"/>
                      <a:r>
                        <a:rPr lang="en-US" sz="1800" b="0" i="0" u="none" strike="noStrike" dirty="0">
                          <a:solidFill>
                            <a:schemeClr val="tx1"/>
                          </a:solidFill>
                          <a:latin typeface="Calibri"/>
                        </a:rPr>
                        <a:t>491</a:t>
                      </a:r>
                    </a:p>
                  </a:txBody>
                  <a:tcPr marL="0" marR="0" marT="0" marB="0" anchor="b">
                    <a:lnL>
                      <a:noFill/>
                    </a:lnL>
                    <a:lnR>
                      <a:noFill/>
                    </a:lnR>
                    <a:lnT>
                      <a:noFill/>
                    </a:lnT>
                    <a:lnB>
                      <a:noFill/>
                    </a:lnB>
                  </a:tcPr>
                </a:tc>
                <a:tc>
                  <a:txBody>
                    <a:bodyPr/>
                    <a:lstStyle/>
                    <a:p>
                      <a:pPr algn="ctr" fontAlgn="b"/>
                      <a:r>
                        <a:rPr lang="en-US" sz="1800" b="0" i="0" u="none" strike="noStrike" dirty="0">
                          <a:solidFill>
                            <a:schemeClr val="tx1"/>
                          </a:solidFill>
                          <a:latin typeface="Calibri"/>
                        </a:rPr>
                        <a:t>483</a:t>
                      </a:r>
                    </a:p>
                  </a:txBody>
                  <a:tcPr marL="0" marR="0" marT="0" marB="0" anchor="b">
                    <a:lnL>
                      <a:noFill/>
                    </a:lnL>
                    <a:lnR>
                      <a:noFill/>
                    </a:lnR>
                    <a:lnT>
                      <a:noFill/>
                    </a:lnT>
                    <a:lnB>
                      <a:noFill/>
                    </a:lnB>
                  </a:tcPr>
                </a:tc>
                <a:extLst>
                  <a:ext uri="{0D108BD9-81ED-4DB2-BD59-A6C34878D82A}">
                    <a16:rowId xmlns:a16="http://schemas.microsoft.com/office/drawing/2014/main" val="10006"/>
                  </a:ext>
                </a:extLst>
              </a:tr>
              <a:tr h="190500">
                <a:tc>
                  <a:txBody>
                    <a:bodyPr/>
                    <a:lstStyle/>
                    <a:p>
                      <a:pPr algn="ctr" fontAlgn="b"/>
                      <a:r>
                        <a:rPr lang="en-US" sz="1800" b="0" i="0" u="none" strike="noStrike" dirty="0">
                          <a:solidFill>
                            <a:schemeClr val="tx1"/>
                          </a:solidFill>
                          <a:latin typeface="Calibri"/>
                        </a:rPr>
                        <a:t>7</a:t>
                      </a:r>
                    </a:p>
                  </a:txBody>
                  <a:tcPr marL="0" marR="0" marT="0" marB="0" anchor="b">
                    <a:lnL>
                      <a:noFill/>
                    </a:lnL>
                    <a:lnR>
                      <a:noFill/>
                    </a:lnR>
                    <a:lnT>
                      <a:noFill/>
                    </a:lnT>
                    <a:lnB>
                      <a:noFill/>
                    </a:lnB>
                  </a:tcPr>
                </a:tc>
                <a:tc>
                  <a:txBody>
                    <a:bodyPr/>
                    <a:lstStyle/>
                    <a:p>
                      <a:pPr algn="ctr" fontAlgn="b"/>
                      <a:r>
                        <a:rPr lang="en-US" sz="1800" b="0" i="0" u="none" strike="noStrike" dirty="0">
                          <a:solidFill>
                            <a:schemeClr val="tx1"/>
                          </a:solidFill>
                          <a:latin typeface="Calibri"/>
                        </a:rPr>
                        <a:t>520</a:t>
                      </a:r>
                    </a:p>
                  </a:txBody>
                  <a:tcPr marL="0" marR="0" marT="0" marB="0" anchor="b">
                    <a:lnL>
                      <a:noFill/>
                    </a:lnL>
                    <a:lnR>
                      <a:noFill/>
                    </a:lnR>
                    <a:lnT>
                      <a:noFill/>
                    </a:lnT>
                    <a:lnB>
                      <a:noFill/>
                    </a:lnB>
                  </a:tcPr>
                </a:tc>
                <a:tc>
                  <a:txBody>
                    <a:bodyPr/>
                    <a:lstStyle/>
                    <a:p>
                      <a:pPr algn="ctr" fontAlgn="b"/>
                      <a:r>
                        <a:rPr lang="en-US" sz="1800" b="0" i="0" u="none" strike="noStrike" dirty="0">
                          <a:solidFill>
                            <a:schemeClr val="tx1"/>
                          </a:solidFill>
                          <a:latin typeface="Calibri"/>
                        </a:rPr>
                        <a:t>512</a:t>
                      </a:r>
                    </a:p>
                  </a:txBody>
                  <a:tcPr marL="0" marR="0" marT="0" marB="0" anchor="b">
                    <a:lnL>
                      <a:noFill/>
                    </a:lnL>
                    <a:lnR>
                      <a:noFill/>
                    </a:lnR>
                    <a:lnT>
                      <a:noFill/>
                    </a:lnT>
                    <a:lnB>
                      <a:noFill/>
                    </a:lnB>
                  </a:tcPr>
                </a:tc>
                <a:extLst>
                  <a:ext uri="{0D108BD9-81ED-4DB2-BD59-A6C34878D82A}">
                    <a16:rowId xmlns:a16="http://schemas.microsoft.com/office/drawing/2014/main" val="10007"/>
                  </a:ext>
                </a:extLst>
              </a:tr>
              <a:tr h="190500">
                <a:tc>
                  <a:txBody>
                    <a:bodyPr/>
                    <a:lstStyle/>
                    <a:p>
                      <a:pPr algn="ctr" fontAlgn="b"/>
                      <a:r>
                        <a:rPr lang="en-US" sz="1800" b="0" i="0" u="none" strike="noStrike" dirty="0">
                          <a:solidFill>
                            <a:schemeClr val="tx1"/>
                          </a:solidFill>
                          <a:latin typeface="Calibri"/>
                        </a:rPr>
                        <a:t>8</a:t>
                      </a:r>
                    </a:p>
                  </a:txBody>
                  <a:tcPr marL="0" marR="0" marT="0" marB="0" anchor="b">
                    <a:lnL>
                      <a:noFill/>
                    </a:lnL>
                    <a:lnR>
                      <a:noFill/>
                    </a:lnR>
                    <a:lnT>
                      <a:noFill/>
                    </a:lnT>
                    <a:lnB>
                      <a:noFill/>
                    </a:lnB>
                  </a:tcPr>
                </a:tc>
                <a:tc>
                  <a:txBody>
                    <a:bodyPr/>
                    <a:lstStyle/>
                    <a:p>
                      <a:pPr algn="ctr" fontAlgn="b"/>
                      <a:r>
                        <a:rPr lang="en-US" sz="1800" b="0" i="0" u="none" strike="noStrike" dirty="0">
                          <a:solidFill>
                            <a:schemeClr val="tx1"/>
                          </a:solidFill>
                          <a:latin typeface="Calibri"/>
                        </a:rPr>
                        <a:t>588</a:t>
                      </a:r>
                    </a:p>
                  </a:txBody>
                  <a:tcPr marL="0" marR="0" marT="0" marB="0" anchor="b">
                    <a:lnL>
                      <a:noFill/>
                    </a:lnL>
                    <a:lnR>
                      <a:noFill/>
                    </a:lnR>
                    <a:lnT>
                      <a:noFill/>
                    </a:lnT>
                    <a:lnB>
                      <a:noFill/>
                    </a:lnB>
                  </a:tcPr>
                </a:tc>
                <a:tc>
                  <a:txBody>
                    <a:bodyPr/>
                    <a:lstStyle/>
                    <a:p>
                      <a:pPr algn="ctr" fontAlgn="b"/>
                      <a:r>
                        <a:rPr lang="en-US" sz="1800" b="0" i="0" u="none" strike="noStrike" dirty="0">
                          <a:solidFill>
                            <a:schemeClr val="tx1"/>
                          </a:solidFill>
                          <a:latin typeface="Calibri"/>
                        </a:rPr>
                        <a:t>575</a:t>
                      </a:r>
                    </a:p>
                  </a:txBody>
                  <a:tcPr marL="0" marR="0" marT="0" marB="0" anchor="b">
                    <a:lnL>
                      <a:noFill/>
                    </a:lnL>
                    <a:lnR>
                      <a:noFill/>
                    </a:lnR>
                    <a:lnT>
                      <a:noFill/>
                    </a:lnT>
                    <a:lnB>
                      <a:noFill/>
                    </a:lnB>
                  </a:tcPr>
                </a:tc>
                <a:extLst>
                  <a:ext uri="{0D108BD9-81ED-4DB2-BD59-A6C34878D82A}">
                    <a16:rowId xmlns:a16="http://schemas.microsoft.com/office/drawing/2014/main" val="10008"/>
                  </a:ext>
                </a:extLst>
              </a:tr>
              <a:tr h="190500">
                <a:tc>
                  <a:txBody>
                    <a:bodyPr/>
                    <a:lstStyle/>
                    <a:p>
                      <a:pPr algn="ctr" fontAlgn="b"/>
                      <a:r>
                        <a:rPr lang="en-US" sz="1800" b="0" i="0" u="none" strike="noStrike" dirty="0">
                          <a:solidFill>
                            <a:schemeClr val="tx1"/>
                          </a:solidFill>
                          <a:latin typeface="Calibri"/>
                        </a:rPr>
                        <a:t>9</a:t>
                      </a:r>
                    </a:p>
                  </a:txBody>
                  <a:tcPr marL="0" marR="0" marT="0" marB="0" anchor="b">
                    <a:lnL>
                      <a:noFill/>
                    </a:lnL>
                    <a:lnR>
                      <a:noFill/>
                    </a:lnR>
                    <a:lnT>
                      <a:noFill/>
                    </a:lnT>
                    <a:lnB>
                      <a:noFill/>
                    </a:lnB>
                  </a:tcPr>
                </a:tc>
                <a:tc>
                  <a:txBody>
                    <a:bodyPr/>
                    <a:lstStyle/>
                    <a:p>
                      <a:pPr algn="ctr" fontAlgn="b"/>
                      <a:r>
                        <a:rPr lang="en-US" sz="1800" b="0" i="0" u="none" strike="noStrike" dirty="0">
                          <a:solidFill>
                            <a:schemeClr val="tx1"/>
                          </a:solidFill>
                          <a:latin typeface="Calibri"/>
                        </a:rPr>
                        <a:t>529</a:t>
                      </a:r>
                    </a:p>
                  </a:txBody>
                  <a:tcPr marL="0" marR="0" marT="0" marB="0" anchor="b">
                    <a:lnL>
                      <a:noFill/>
                    </a:lnL>
                    <a:lnR>
                      <a:noFill/>
                    </a:lnR>
                    <a:lnT>
                      <a:noFill/>
                    </a:lnT>
                    <a:lnB>
                      <a:noFill/>
                    </a:lnB>
                  </a:tcPr>
                </a:tc>
                <a:tc>
                  <a:txBody>
                    <a:bodyPr/>
                    <a:lstStyle/>
                    <a:p>
                      <a:pPr algn="ctr" fontAlgn="b"/>
                      <a:r>
                        <a:rPr lang="en-US" sz="1800" b="0" i="0" u="none" strike="noStrike" dirty="0">
                          <a:solidFill>
                            <a:schemeClr val="tx1"/>
                          </a:solidFill>
                          <a:latin typeface="Calibri"/>
                        </a:rPr>
                        <a:t>530</a:t>
                      </a:r>
                    </a:p>
                  </a:txBody>
                  <a:tcPr marL="0" marR="0" marT="0" marB="0" anchor="b">
                    <a:lnL>
                      <a:noFill/>
                    </a:lnL>
                    <a:lnR>
                      <a:noFill/>
                    </a:lnR>
                    <a:lnT>
                      <a:noFill/>
                    </a:lnT>
                    <a:lnB>
                      <a:noFill/>
                    </a:lnB>
                  </a:tcPr>
                </a:tc>
                <a:extLst>
                  <a:ext uri="{0D108BD9-81ED-4DB2-BD59-A6C34878D82A}">
                    <a16:rowId xmlns:a16="http://schemas.microsoft.com/office/drawing/2014/main" val="10009"/>
                  </a:ext>
                </a:extLst>
              </a:tr>
              <a:tr h="190500">
                <a:tc>
                  <a:txBody>
                    <a:bodyPr/>
                    <a:lstStyle/>
                    <a:p>
                      <a:pPr algn="ctr" fontAlgn="b"/>
                      <a:r>
                        <a:rPr lang="en-US" sz="1800" b="0" i="0" u="none" strike="noStrike" dirty="0">
                          <a:solidFill>
                            <a:schemeClr val="tx1"/>
                          </a:solidFill>
                          <a:latin typeface="Calibri"/>
                        </a:rPr>
                        <a:t>10</a:t>
                      </a:r>
                    </a:p>
                  </a:txBody>
                  <a:tcPr marL="0" marR="0" marT="0" marB="0" anchor="b">
                    <a:lnL>
                      <a:noFill/>
                    </a:lnL>
                    <a:lnR>
                      <a:noFill/>
                    </a:lnR>
                    <a:lnT>
                      <a:noFill/>
                    </a:lnT>
                    <a:lnB>
                      <a:noFill/>
                    </a:lnB>
                  </a:tcPr>
                </a:tc>
                <a:tc>
                  <a:txBody>
                    <a:bodyPr/>
                    <a:lstStyle/>
                    <a:p>
                      <a:pPr algn="ctr" fontAlgn="b"/>
                      <a:r>
                        <a:rPr lang="en-US" sz="1800" b="0" i="0" u="none" strike="noStrike" dirty="0">
                          <a:solidFill>
                            <a:schemeClr val="tx1"/>
                          </a:solidFill>
                          <a:latin typeface="Calibri"/>
                        </a:rPr>
                        <a:t>508</a:t>
                      </a:r>
                    </a:p>
                  </a:txBody>
                  <a:tcPr marL="0" marR="0" marT="0" marB="0" anchor="b">
                    <a:lnL>
                      <a:noFill/>
                    </a:lnL>
                    <a:lnR>
                      <a:noFill/>
                    </a:lnR>
                    <a:lnT>
                      <a:noFill/>
                    </a:lnT>
                    <a:lnB>
                      <a:noFill/>
                    </a:lnB>
                  </a:tcPr>
                </a:tc>
                <a:tc>
                  <a:txBody>
                    <a:bodyPr/>
                    <a:lstStyle/>
                    <a:p>
                      <a:pPr algn="ctr" fontAlgn="b"/>
                      <a:r>
                        <a:rPr lang="en-US" sz="1800" b="0" i="0" u="none" strike="noStrike" dirty="0">
                          <a:solidFill>
                            <a:schemeClr val="tx1"/>
                          </a:solidFill>
                          <a:latin typeface="Calibri"/>
                        </a:rPr>
                        <a:t>490</a:t>
                      </a:r>
                    </a:p>
                  </a:txBody>
                  <a:tcPr marL="0" marR="0" marT="0" marB="0" anchor="b">
                    <a:lnL>
                      <a:noFill/>
                    </a:lnL>
                    <a:lnR>
                      <a:noFill/>
                    </a:lnR>
                    <a:lnT>
                      <a:noFill/>
                    </a:lnT>
                    <a:lnB>
                      <a:noFill/>
                    </a:lnB>
                  </a:tcPr>
                </a:tc>
                <a:extLst>
                  <a:ext uri="{0D108BD9-81ED-4DB2-BD59-A6C34878D82A}">
                    <a16:rowId xmlns:a16="http://schemas.microsoft.com/office/drawing/2014/main" val="10010"/>
                  </a:ext>
                </a:extLst>
              </a:tr>
            </a:tbl>
          </a:graphicData>
        </a:graphic>
      </p:graphicFrame>
      <p:sp>
        <p:nvSpPr>
          <p:cNvPr id="6" name="TextBox 5"/>
          <p:cNvSpPr txBox="1"/>
          <p:nvPr/>
        </p:nvSpPr>
        <p:spPr>
          <a:xfrm>
            <a:off x="8751918" y="5596928"/>
            <a:ext cx="3128100" cy="369332"/>
          </a:xfrm>
          <a:prstGeom prst="rect">
            <a:avLst/>
          </a:prstGeom>
          <a:noFill/>
        </p:spPr>
        <p:txBody>
          <a:bodyPr wrap="none" rtlCol="0">
            <a:spAutoFit/>
          </a:bodyPr>
          <a:lstStyle/>
          <a:p>
            <a:r>
              <a:rPr lang="en-US" dirty="0">
                <a:solidFill>
                  <a:srgbClr val="FF0000"/>
                </a:solidFill>
              </a:rPr>
              <a:t>(Lower numbers = worse score)</a:t>
            </a:r>
          </a:p>
        </p:txBody>
      </p:sp>
    </p:spTree>
    <p:extLst>
      <p:ext uri="{BB962C8B-B14F-4D97-AF65-F5344CB8AC3E}">
        <p14:creationId xmlns:p14="http://schemas.microsoft.com/office/powerpoint/2010/main" val="34247147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28600"/>
            <a:ext cx="11963400" cy="1143000"/>
          </a:xfrm>
        </p:spPr>
        <p:txBody>
          <a:bodyPr/>
          <a:lstStyle/>
          <a:p>
            <a:r>
              <a:rPr lang="en-US" dirty="0"/>
              <a:t>Example: Keith’s Medical Reasoning Test</a:t>
            </a:r>
          </a:p>
        </p:txBody>
      </p:sp>
      <p:sp>
        <p:nvSpPr>
          <p:cNvPr id="3" name="Content Placeholder 2"/>
          <p:cNvSpPr>
            <a:spLocks noGrp="1"/>
          </p:cNvSpPr>
          <p:nvPr>
            <p:ph idx="1"/>
          </p:nvPr>
        </p:nvSpPr>
        <p:spPr/>
        <p:txBody>
          <a:bodyPr/>
          <a:lstStyle/>
          <a:p>
            <a:r>
              <a:rPr lang="en-US" dirty="0"/>
              <a:t>We can try to test whether the </a:t>
            </a:r>
            <a:r>
              <a:rPr lang="en-US" u="sng" cap="small" dirty="0">
                <a:solidFill>
                  <a:srgbClr val="FF0000"/>
                </a:solidFill>
              </a:rPr>
              <a:t>difference of the means</a:t>
            </a:r>
            <a:r>
              <a:rPr lang="en-US" cap="small" dirty="0"/>
              <a:t> </a:t>
            </a:r>
            <a:r>
              <a:rPr lang="en-US" dirty="0"/>
              <a:t>between the fatigued scores and the not fatigued scores is less than zero. </a:t>
            </a:r>
          </a:p>
        </p:txBody>
      </p:sp>
      <p:sp>
        <p:nvSpPr>
          <p:cNvPr id="4" name="Slide Number Placeholder 3"/>
          <p:cNvSpPr>
            <a:spLocks noGrp="1"/>
          </p:cNvSpPr>
          <p:nvPr>
            <p:ph type="sldNum" sz="quarter" idx="12"/>
          </p:nvPr>
        </p:nvSpPr>
        <p:spPr>
          <a:xfrm>
            <a:off x="9900460" y="6459787"/>
            <a:ext cx="1312025"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F6EB086-0FB5-404F-9DB0-02BE9E698E00}" type="slidenum">
              <a:rPr lang="en-US" smtClean="0"/>
              <a:pPr/>
              <a:t>35</a:t>
            </a:fld>
            <a:endParaRPr lang="en-US" dirty="0"/>
          </a:p>
        </p:txBody>
      </p:sp>
      <mc:AlternateContent xmlns:mc="http://schemas.openxmlformats.org/markup-compatibility/2006" xmlns:a14="http://schemas.microsoft.com/office/drawing/2010/main">
        <mc:Choice Requires="a14">
          <p:sp>
            <p:nvSpPr>
              <p:cNvPr id="6" name="TextBox 5"/>
              <p:cNvSpPr txBox="1"/>
              <p:nvPr/>
            </p:nvSpPr>
            <p:spPr>
              <a:xfrm>
                <a:off x="675861" y="2946576"/>
                <a:ext cx="10813774" cy="1289777"/>
              </a:xfrm>
              <a:prstGeom prst="rect">
                <a:avLst/>
              </a:prstGeom>
              <a:noFill/>
            </p:spPr>
            <p:txBody>
              <a:bodyPr wrap="square" rtlCol="0">
                <a:spAutoFit/>
              </a:bodyPr>
              <a:lstStyle/>
              <a:p>
                <a:endParaRPr lang="en-US" sz="3600" b="0" dirty="0"/>
              </a:p>
              <a:p>
                <a:pPr/>
                <a14:m>
                  <m:oMathPara xmlns:m="http://schemas.openxmlformats.org/officeDocument/2006/math">
                    <m:oMathParaPr>
                      <m:jc m:val="centerGroup"/>
                    </m:oMathParaPr>
                    <m:oMath xmlns:m="http://schemas.openxmlformats.org/officeDocument/2006/math">
                      <m:sSub>
                        <m:sSubPr>
                          <m:ctrlPr>
                            <a:rPr lang="en-US" sz="3600" i="1" smtClean="0">
                              <a:latin typeface="Cambria Math" panose="02040503050406030204" pitchFamily="18" charset="0"/>
                            </a:rPr>
                          </m:ctrlPr>
                        </m:sSubPr>
                        <m:e>
                          <m:r>
                            <a:rPr lang="en-US" sz="3600" b="0" i="1" smtClean="0">
                              <a:latin typeface="Cambria Math" panose="02040503050406030204" pitchFamily="18" charset="0"/>
                            </a:rPr>
                            <m:t>𝐻</m:t>
                          </m:r>
                        </m:e>
                        <m:sub>
                          <m:r>
                            <a:rPr lang="en-US" sz="3600" b="0" i="1" smtClean="0">
                              <a:latin typeface="Cambria Math" panose="02040503050406030204" pitchFamily="18" charset="0"/>
                            </a:rPr>
                            <m:t>𝐴</m:t>
                          </m:r>
                        </m:sub>
                      </m:sSub>
                      <m:r>
                        <a:rPr lang="en-US" sz="3600" b="0" i="1" smtClean="0">
                          <a:latin typeface="Cambria Math" panose="02040503050406030204" pitchFamily="18" charset="0"/>
                        </a:rPr>
                        <m:t>:</m:t>
                      </m:r>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ea typeface="Cambria Math" panose="02040503050406030204" pitchFamily="18" charset="0"/>
                            </a:rPr>
                            <m:t>𝜇</m:t>
                          </m:r>
                        </m:e>
                        <m:sub>
                          <m:r>
                            <a:rPr lang="en-US" sz="3600" b="0" i="1" smtClean="0">
                              <a:latin typeface="Cambria Math" charset="0"/>
                              <a:ea typeface="Cambria Math" panose="02040503050406030204" pitchFamily="18" charset="0"/>
                            </a:rPr>
                            <m:t>𝑓𝑎𝑡𝑖𝑔𝑢𝑒𝑑</m:t>
                          </m:r>
                        </m:sub>
                      </m:sSub>
                      <m:sSub>
                        <m:sSubPr>
                          <m:ctrlPr>
                            <a:rPr lang="en-US" sz="3600" i="1">
                              <a:latin typeface="Cambria Math" panose="02040503050406030204" pitchFamily="18" charset="0"/>
                            </a:rPr>
                          </m:ctrlPr>
                        </m:sSubPr>
                        <m:e>
                          <m:r>
                            <a:rPr lang="en-US" sz="3600" i="1">
                              <a:latin typeface="Cambria Math"/>
                            </a:rPr>
                            <m:t>−</m:t>
                          </m:r>
                          <m:r>
                            <a:rPr lang="en-US" sz="3600" i="1">
                              <a:latin typeface="Cambria Math" panose="02040503050406030204" pitchFamily="18" charset="0"/>
                              <a:ea typeface="Cambria Math" panose="02040503050406030204" pitchFamily="18" charset="0"/>
                            </a:rPr>
                            <m:t>𝜇</m:t>
                          </m:r>
                        </m:e>
                        <m:sub>
                          <m:r>
                            <a:rPr lang="en-US" sz="3600" i="1">
                              <a:latin typeface="Cambria Math" charset="0"/>
                            </a:rPr>
                            <m:t>𝑛𝑜𝑡</m:t>
                          </m:r>
                          <m:r>
                            <a:rPr lang="en-US" sz="3600" b="0" i="1" smtClean="0">
                              <a:latin typeface="Cambria Math" charset="0"/>
                            </a:rPr>
                            <m:t> </m:t>
                          </m:r>
                          <m:r>
                            <a:rPr lang="en-US" sz="3600" i="1">
                              <a:latin typeface="Cambria Math" charset="0"/>
                            </a:rPr>
                            <m:t>𝑓𝑎𝑡𝑖𝑔𝑢𝑒𝑑</m:t>
                          </m:r>
                        </m:sub>
                      </m:sSub>
                      <m:r>
                        <a:rPr lang="en-US" sz="3600" b="0" i="1" smtClean="0">
                          <a:latin typeface="Cambria Math" charset="0"/>
                        </a:rPr>
                        <m:t> </m:t>
                      </m:r>
                      <m:r>
                        <a:rPr lang="en-US" sz="3600" b="0" i="1" smtClean="0">
                          <a:latin typeface="Cambria Math" panose="02040503050406030204" pitchFamily="18" charset="0"/>
                        </a:rPr>
                        <m:t>&lt;0</m:t>
                      </m:r>
                    </m:oMath>
                  </m:oMathPara>
                </a14:m>
                <a:endParaRPr lang="en-US" sz="3600" dirty="0"/>
              </a:p>
            </p:txBody>
          </p:sp>
        </mc:Choice>
        <mc:Fallback xmlns="">
          <p:sp>
            <p:nvSpPr>
              <p:cNvPr id="6" name="TextBox 5"/>
              <p:cNvSpPr txBox="1">
                <a:spLocks noRot="1" noChangeAspect="1" noMove="1" noResize="1" noEditPoints="1" noAdjustHandles="1" noChangeArrowheads="1" noChangeShapeType="1" noTextEdit="1"/>
              </p:cNvSpPr>
              <p:nvPr/>
            </p:nvSpPr>
            <p:spPr>
              <a:xfrm>
                <a:off x="675861" y="2946576"/>
                <a:ext cx="10813774" cy="1289777"/>
              </a:xfrm>
              <a:prstGeom prst="rect">
                <a:avLst/>
              </a:prstGeom>
              <a:blipFill rotWithShape="0">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6622912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28600"/>
            <a:ext cx="11811000" cy="1143000"/>
          </a:xfrm>
        </p:spPr>
        <p:txBody>
          <a:bodyPr/>
          <a:lstStyle/>
          <a:p>
            <a:r>
              <a:rPr lang="en-US" dirty="0"/>
              <a:t>Example: Medical Reasoning Test</a:t>
            </a:r>
          </a:p>
        </p:txBody>
      </p:sp>
      <p:sp>
        <p:nvSpPr>
          <p:cNvPr id="4" name="Slide Number Placeholder 3"/>
          <p:cNvSpPr>
            <a:spLocks noGrp="1"/>
          </p:cNvSpPr>
          <p:nvPr>
            <p:ph type="sldNum" sz="quarter" idx="12"/>
          </p:nvPr>
        </p:nvSpPr>
        <p:spPr>
          <a:xfrm>
            <a:off x="9900460" y="6459787"/>
            <a:ext cx="1312025"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F6EB086-0FB5-404F-9DB0-02BE9E698E00}" type="slidenum">
              <a:rPr lang="en-US" smtClean="0"/>
              <a:pPr/>
              <a:t>36</a:t>
            </a:fld>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4157" y="2912070"/>
            <a:ext cx="5989982" cy="3420234"/>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44138" y="1797084"/>
            <a:ext cx="5127707" cy="4475498"/>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54157" y="1797084"/>
            <a:ext cx="5207000" cy="927100"/>
          </a:xfrm>
          <a:prstGeom prst="rect">
            <a:avLst/>
          </a:prstGeom>
        </p:spPr>
      </p:pic>
      <p:sp>
        <p:nvSpPr>
          <p:cNvPr id="8" name="TextBox 7"/>
          <p:cNvSpPr txBox="1"/>
          <p:nvPr/>
        </p:nvSpPr>
        <p:spPr>
          <a:xfrm>
            <a:off x="7391400" y="1387478"/>
            <a:ext cx="4011804" cy="369332"/>
          </a:xfrm>
          <a:prstGeom prst="rect">
            <a:avLst/>
          </a:prstGeom>
          <a:noFill/>
        </p:spPr>
        <p:txBody>
          <a:bodyPr wrap="none" rtlCol="0">
            <a:spAutoFit/>
          </a:bodyPr>
          <a:lstStyle/>
          <a:p>
            <a:r>
              <a:rPr lang="en-US" dirty="0">
                <a:solidFill>
                  <a:srgbClr val="FF0000"/>
                </a:solidFill>
              </a:rPr>
              <a:t>If we did this, we would be wrong! Why?</a:t>
            </a:r>
          </a:p>
        </p:txBody>
      </p:sp>
      <p:sp>
        <p:nvSpPr>
          <p:cNvPr id="9" name="TextBox 8"/>
          <p:cNvSpPr txBox="1"/>
          <p:nvPr/>
        </p:nvSpPr>
        <p:spPr>
          <a:xfrm>
            <a:off x="6501702" y="6346686"/>
            <a:ext cx="5791200" cy="369332"/>
          </a:xfrm>
          <a:prstGeom prst="rect">
            <a:avLst/>
          </a:prstGeom>
          <a:noFill/>
        </p:spPr>
        <p:txBody>
          <a:bodyPr wrap="square" rtlCol="0">
            <a:spAutoFit/>
          </a:bodyPr>
          <a:lstStyle/>
          <a:p>
            <a:r>
              <a:rPr lang="en-US" dirty="0">
                <a:solidFill>
                  <a:srgbClr val="FF0000"/>
                </a:solidFill>
              </a:rPr>
              <a:t>A fundamental assumption is violated: independence</a:t>
            </a:r>
          </a:p>
        </p:txBody>
      </p:sp>
    </p:spTree>
    <p:extLst>
      <p:ext uri="{BB962C8B-B14F-4D97-AF65-F5344CB8AC3E}">
        <p14:creationId xmlns:p14="http://schemas.microsoft.com/office/powerpoint/2010/main" val="3842827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Assumption Check Failure</a:t>
            </a:r>
          </a:p>
        </p:txBody>
      </p:sp>
      <p:sp>
        <p:nvSpPr>
          <p:cNvPr id="4" name="Slide Number Placeholder 3"/>
          <p:cNvSpPr>
            <a:spLocks noGrp="1"/>
          </p:cNvSpPr>
          <p:nvPr>
            <p:ph type="sldNum" sz="quarter" idx="12"/>
          </p:nvPr>
        </p:nvSpPr>
        <p:spPr>
          <a:xfrm>
            <a:off x="9900460" y="6459787"/>
            <a:ext cx="1312025"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F6EB086-0FB5-404F-9DB0-02BE9E698E00}" type="slidenum">
              <a:rPr lang="en-US" smtClean="0"/>
              <a:pPr/>
              <a:t>37</a:t>
            </a:fld>
            <a:endParaRPr lang="en-US" dirty="0"/>
          </a:p>
        </p:txBody>
      </p:sp>
      <p:pic>
        <p:nvPicPr>
          <p:cNvPr id="5" name="Picture 4"/>
          <p:cNvPicPr>
            <a:picLocks noChangeAspect="1" noChangeArrowheads="1"/>
          </p:cNvPicPr>
          <p:nvPr/>
        </p:nvPicPr>
        <p:blipFill>
          <a:blip r:embed="rId2" cstate="print"/>
          <a:srcRect/>
          <a:stretch>
            <a:fillRect/>
          </a:stretch>
        </p:blipFill>
        <p:spPr bwMode="auto">
          <a:xfrm>
            <a:off x="7452234" y="2600639"/>
            <a:ext cx="3703446" cy="2318679"/>
          </a:xfrm>
          <a:prstGeom prst="rect">
            <a:avLst/>
          </a:prstGeom>
          <a:noFill/>
          <a:ln w="9525">
            <a:noFill/>
            <a:miter lim="800000"/>
            <a:headEnd/>
            <a:tailEnd/>
          </a:ln>
        </p:spPr>
      </p:pic>
      <p:pic>
        <p:nvPicPr>
          <p:cNvPr id="6" name="Picture 3"/>
          <p:cNvPicPr>
            <a:picLocks noChangeAspect="1" noChangeArrowheads="1"/>
          </p:cNvPicPr>
          <p:nvPr/>
        </p:nvPicPr>
        <p:blipFill>
          <a:blip r:embed="rId3" cstate="print"/>
          <a:srcRect/>
          <a:stretch>
            <a:fillRect/>
          </a:stretch>
        </p:blipFill>
        <p:spPr bwMode="auto">
          <a:xfrm>
            <a:off x="1097280" y="2569354"/>
            <a:ext cx="2857500" cy="2381250"/>
          </a:xfrm>
          <a:prstGeom prst="rect">
            <a:avLst/>
          </a:prstGeom>
          <a:noFill/>
          <a:ln w="9525">
            <a:noFill/>
            <a:miter lim="800000"/>
            <a:headEnd/>
            <a:tailEnd/>
          </a:ln>
        </p:spPr>
      </p:pic>
      <p:sp>
        <p:nvSpPr>
          <p:cNvPr id="7" name="TextBox 6"/>
          <p:cNvSpPr txBox="1"/>
          <p:nvPr/>
        </p:nvSpPr>
        <p:spPr>
          <a:xfrm>
            <a:off x="1868722" y="5490006"/>
            <a:ext cx="9104078" cy="461665"/>
          </a:xfrm>
          <a:prstGeom prst="rect">
            <a:avLst/>
          </a:prstGeom>
          <a:noFill/>
        </p:spPr>
        <p:txBody>
          <a:bodyPr wrap="square" rtlCol="0">
            <a:spAutoFit/>
          </a:bodyPr>
          <a:lstStyle/>
          <a:p>
            <a:r>
              <a:rPr lang="en-US" sz="2400" dirty="0"/>
              <a:t>We need to account for the dependence between the two groups</a:t>
            </a:r>
          </a:p>
        </p:txBody>
      </p:sp>
    </p:spTree>
    <p:extLst>
      <p:ext uri="{BB962C8B-B14F-4D97-AF65-F5344CB8AC3E}">
        <p14:creationId xmlns:p14="http://schemas.microsoft.com/office/powerpoint/2010/main" val="15968514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28600"/>
            <a:ext cx="12192000" cy="1143000"/>
          </a:xfrm>
        </p:spPr>
        <p:txBody>
          <a:bodyPr/>
          <a:lstStyle/>
          <a:p>
            <a:r>
              <a:rPr lang="en-US" dirty="0"/>
              <a:t>Example: Keith’s Medical Reasoning Test</a:t>
            </a:r>
          </a:p>
        </p:txBody>
      </p:sp>
      <p:sp>
        <p:nvSpPr>
          <p:cNvPr id="3" name="Content Placeholder 2"/>
          <p:cNvSpPr>
            <a:spLocks noGrp="1"/>
          </p:cNvSpPr>
          <p:nvPr>
            <p:ph idx="1"/>
          </p:nvPr>
        </p:nvSpPr>
        <p:spPr>
          <a:xfrm>
            <a:off x="1097279" y="1845735"/>
            <a:ext cx="10058401" cy="652948"/>
          </a:xfrm>
        </p:spPr>
        <p:txBody>
          <a:bodyPr>
            <a:normAutofit/>
          </a:bodyPr>
          <a:lstStyle/>
          <a:p>
            <a:r>
              <a:rPr lang="en-US" dirty="0"/>
              <a:t>Instead of testing the </a:t>
            </a:r>
            <a:r>
              <a:rPr lang="en-US" u="sng" cap="small" dirty="0">
                <a:solidFill>
                  <a:srgbClr val="FF0000"/>
                </a:solidFill>
              </a:rPr>
              <a:t>difference of the means:</a:t>
            </a:r>
            <a:endParaRPr lang="en-US" dirty="0"/>
          </a:p>
        </p:txBody>
      </p:sp>
      <p:sp>
        <p:nvSpPr>
          <p:cNvPr id="4" name="Slide Number Placeholder 3"/>
          <p:cNvSpPr>
            <a:spLocks noGrp="1"/>
          </p:cNvSpPr>
          <p:nvPr>
            <p:ph type="sldNum" sz="quarter" idx="12"/>
          </p:nvPr>
        </p:nvSpPr>
        <p:spPr>
          <a:xfrm>
            <a:off x="9900460" y="6459787"/>
            <a:ext cx="1312025"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F6EB086-0FB5-404F-9DB0-02BE9E698E00}" type="slidenum">
              <a:rPr lang="en-US" smtClean="0"/>
              <a:pPr/>
              <a:t>38</a:t>
            </a:fld>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1588107955"/>
              </p:ext>
            </p:extLst>
          </p:nvPr>
        </p:nvGraphicFramePr>
        <p:xfrm>
          <a:off x="7467600" y="3104525"/>
          <a:ext cx="4648198" cy="3122295"/>
        </p:xfrm>
        <a:graphic>
          <a:graphicData uri="http://schemas.openxmlformats.org/drawingml/2006/table">
            <a:tbl>
              <a:tblPr/>
              <a:tblGrid>
                <a:gridCol w="979518">
                  <a:extLst>
                    <a:ext uri="{9D8B030D-6E8A-4147-A177-3AD203B41FA5}">
                      <a16:colId xmlns:a16="http://schemas.microsoft.com/office/drawing/2014/main" val="20000"/>
                    </a:ext>
                  </a:extLst>
                </a:gridCol>
                <a:gridCol w="1230282">
                  <a:extLst>
                    <a:ext uri="{9D8B030D-6E8A-4147-A177-3AD203B41FA5}">
                      <a16:colId xmlns:a16="http://schemas.microsoft.com/office/drawing/2014/main" val="683122042"/>
                    </a:ext>
                  </a:extLst>
                </a:gridCol>
                <a:gridCol w="1314459">
                  <a:extLst>
                    <a:ext uri="{9D8B030D-6E8A-4147-A177-3AD203B41FA5}">
                      <a16:colId xmlns:a16="http://schemas.microsoft.com/office/drawing/2014/main" val="20002"/>
                    </a:ext>
                  </a:extLst>
                </a:gridCol>
                <a:gridCol w="1123939">
                  <a:extLst>
                    <a:ext uri="{9D8B030D-6E8A-4147-A177-3AD203B41FA5}">
                      <a16:colId xmlns:a16="http://schemas.microsoft.com/office/drawing/2014/main" val="20003"/>
                    </a:ext>
                  </a:extLst>
                </a:gridCol>
              </a:tblGrid>
              <a:tr h="280164">
                <a:tc>
                  <a:txBody>
                    <a:bodyPr/>
                    <a:lstStyle/>
                    <a:p>
                      <a:pPr algn="ctr" fontAlgn="b"/>
                      <a:r>
                        <a:rPr lang="en-US" sz="1800" b="1" i="0" u="none" strike="noStrike" dirty="0">
                          <a:solidFill>
                            <a:srgbClr val="000000"/>
                          </a:solidFill>
                          <a:latin typeface="Calibri"/>
                        </a:rPr>
                        <a:t>Subject</a:t>
                      </a:r>
                    </a:p>
                  </a:txBody>
                  <a:tcPr marL="9525" marR="9525" marT="9525" marB="0" anchor="b">
                    <a:lnL>
                      <a:noFill/>
                    </a:lnL>
                    <a:lnR>
                      <a:noFill/>
                    </a:lnR>
                    <a:lnT>
                      <a:noFill/>
                    </a:lnT>
                    <a:lnB>
                      <a:noFill/>
                    </a:lnB>
                  </a:tcPr>
                </a:tc>
                <a:tc>
                  <a:txBody>
                    <a:bodyPr/>
                    <a:lstStyle/>
                    <a:p>
                      <a:pPr algn="ctr" fontAlgn="b"/>
                      <a:r>
                        <a:rPr lang="en-US" sz="1800" b="1" i="0" u="none" strike="noStrike" dirty="0">
                          <a:solidFill>
                            <a:schemeClr val="tx2"/>
                          </a:solidFill>
                          <a:latin typeface="Calibri"/>
                        </a:rPr>
                        <a:t>Fatigued</a:t>
                      </a:r>
                    </a:p>
                  </a:txBody>
                  <a:tcPr marL="9525" marR="9525" marT="9525" marB="0" anchor="b">
                    <a:lnL>
                      <a:noFill/>
                    </a:lnL>
                    <a:lnR>
                      <a:noFill/>
                    </a:lnR>
                    <a:lnT>
                      <a:noFill/>
                    </a:lnT>
                    <a:lnB>
                      <a:noFill/>
                    </a:lnB>
                  </a:tcPr>
                </a:tc>
                <a:tc>
                  <a:txBody>
                    <a:bodyPr/>
                    <a:lstStyle/>
                    <a:p>
                      <a:pPr algn="ctr" fontAlgn="b"/>
                      <a:r>
                        <a:rPr lang="en-US" sz="1800" b="1" i="0" u="none" strike="noStrike" dirty="0">
                          <a:solidFill>
                            <a:srgbClr val="FF0000"/>
                          </a:solidFill>
                          <a:latin typeface="Calibri"/>
                        </a:rPr>
                        <a:t>Not Fatigued</a:t>
                      </a:r>
                    </a:p>
                  </a:txBody>
                  <a:tcPr marL="9525" marR="9525" marT="9525" marB="0" anchor="b">
                    <a:lnL>
                      <a:noFill/>
                    </a:lnL>
                    <a:lnR>
                      <a:noFill/>
                    </a:lnR>
                    <a:lnT>
                      <a:noFill/>
                    </a:lnT>
                    <a:lnB>
                      <a:noFill/>
                    </a:lnB>
                  </a:tcPr>
                </a:tc>
                <a:tc>
                  <a:txBody>
                    <a:bodyPr/>
                    <a:lstStyle/>
                    <a:p>
                      <a:pPr algn="ctr" fontAlgn="b"/>
                      <a:r>
                        <a:rPr lang="en-US" sz="1800" b="1" i="0" u="none" strike="noStrike" dirty="0">
                          <a:solidFill>
                            <a:srgbClr val="00B050"/>
                          </a:solidFill>
                          <a:latin typeface="Calibri"/>
                        </a:rPr>
                        <a:t>Difference</a:t>
                      </a:r>
                    </a:p>
                  </a:txBody>
                  <a:tcPr marL="9525" marR="9525" marT="9525" marB="0" anchor="b">
                    <a:lnL>
                      <a:noFill/>
                    </a:lnL>
                    <a:lnR>
                      <a:noFill/>
                    </a:lnR>
                    <a:lnT>
                      <a:noFill/>
                    </a:lnT>
                    <a:lnB>
                      <a:noFill/>
                    </a:lnB>
                  </a:tcPr>
                </a:tc>
                <a:extLst>
                  <a:ext uri="{0D108BD9-81ED-4DB2-BD59-A6C34878D82A}">
                    <a16:rowId xmlns:a16="http://schemas.microsoft.com/office/drawing/2014/main" val="10000"/>
                  </a:ext>
                </a:extLst>
              </a:tr>
              <a:tr h="280164">
                <a:tc>
                  <a:txBody>
                    <a:bodyPr/>
                    <a:lstStyle/>
                    <a:p>
                      <a:pPr algn="ctr" fontAlgn="b"/>
                      <a:r>
                        <a:rPr lang="en-US" sz="1800" b="0" i="0" u="none" strike="noStrike" dirty="0">
                          <a:solidFill>
                            <a:srgbClr val="000000"/>
                          </a:solidFill>
                          <a:latin typeface="Calibri"/>
                        </a:rPr>
                        <a:t>1</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530</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567</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-37</a:t>
                      </a:r>
                    </a:p>
                  </a:txBody>
                  <a:tcPr marL="9525" marR="9525" marT="9525" marB="0" anchor="ctr">
                    <a:lnL>
                      <a:noFill/>
                    </a:lnL>
                    <a:lnR>
                      <a:noFill/>
                    </a:lnR>
                    <a:lnT>
                      <a:noFill/>
                    </a:lnT>
                    <a:lnB>
                      <a:noFill/>
                    </a:lnB>
                  </a:tcPr>
                </a:tc>
                <a:extLst>
                  <a:ext uri="{0D108BD9-81ED-4DB2-BD59-A6C34878D82A}">
                    <a16:rowId xmlns:a16="http://schemas.microsoft.com/office/drawing/2014/main" val="10001"/>
                  </a:ext>
                </a:extLst>
              </a:tr>
              <a:tr h="280164">
                <a:tc>
                  <a:txBody>
                    <a:bodyPr/>
                    <a:lstStyle/>
                    <a:p>
                      <a:pPr algn="ctr" fontAlgn="b"/>
                      <a:r>
                        <a:rPr lang="en-US" sz="1800" b="0" i="0" u="none" strike="noStrike" dirty="0">
                          <a:solidFill>
                            <a:srgbClr val="000000"/>
                          </a:solidFill>
                          <a:latin typeface="Calibri"/>
                        </a:rPr>
                        <a:t>2</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492</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512</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-20</a:t>
                      </a:r>
                    </a:p>
                  </a:txBody>
                  <a:tcPr marL="9525" marR="9525" marT="9525" marB="0" anchor="ctr">
                    <a:lnL>
                      <a:noFill/>
                    </a:lnL>
                    <a:lnR>
                      <a:noFill/>
                    </a:lnR>
                    <a:lnT>
                      <a:noFill/>
                    </a:lnT>
                    <a:lnB>
                      <a:noFill/>
                    </a:lnB>
                  </a:tcPr>
                </a:tc>
                <a:extLst>
                  <a:ext uri="{0D108BD9-81ED-4DB2-BD59-A6C34878D82A}">
                    <a16:rowId xmlns:a16="http://schemas.microsoft.com/office/drawing/2014/main" val="10002"/>
                  </a:ext>
                </a:extLst>
              </a:tr>
              <a:tr h="280164">
                <a:tc>
                  <a:txBody>
                    <a:bodyPr/>
                    <a:lstStyle/>
                    <a:p>
                      <a:pPr algn="ctr" fontAlgn="b"/>
                      <a:r>
                        <a:rPr lang="en-US" sz="1800" b="0" i="0" u="none" strike="noStrike" dirty="0">
                          <a:solidFill>
                            <a:srgbClr val="000000"/>
                          </a:solidFill>
                          <a:latin typeface="Calibri"/>
                        </a:rPr>
                        <a:t>3</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510</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509</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1</a:t>
                      </a:r>
                    </a:p>
                  </a:txBody>
                  <a:tcPr marL="9525" marR="9525" marT="9525" marB="0" anchor="ctr">
                    <a:lnL>
                      <a:noFill/>
                    </a:lnL>
                    <a:lnR>
                      <a:noFill/>
                    </a:lnR>
                    <a:lnT>
                      <a:noFill/>
                    </a:lnT>
                    <a:lnB>
                      <a:noFill/>
                    </a:lnB>
                  </a:tcPr>
                </a:tc>
                <a:extLst>
                  <a:ext uri="{0D108BD9-81ED-4DB2-BD59-A6C34878D82A}">
                    <a16:rowId xmlns:a16="http://schemas.microsoft.com/office/drawing/2014/main" val="10003"/>
                  </a:ext>
                </a:extLst>
              </a:tr>
              <a:tr h="280164">
                <a:tc>
                  <a:txBody>
                    <a:bodyPr/>
                    <a:lstStyle/>
                    <a:p>
                      <a:pPr algn="ctr" fontAlgn="b"/>
                      <a:r>
                        <a:rPr lang="en-US" sz="1800" b="0" i="0" u="none" strike="noStrike" dirty="0">
                          <a:solidFill>
                            <a:srgbClr val="000000"/>
                          </a:solidFill>
                          <a:latin typeface="Calibri"/>
                        </a:rPr>
                        <a:t>4</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580</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593</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-13</a:t>
                      </a:r>
                    </a:p>
                  </a:txBody>
                  <a:tcPr marL="9525" marR="9525" marT="9525" marB="0" anchor="ctr">
                    <a:lnL>
                      <a:noFill/>
                    </a:lnL>
                    <a:lnR>
                      <a:noFill/>
                    </a:lnR>
                    <a:lnT>
                      <a:noFill/>
                    </a:lnT>
                    <a:lnB>
                      <a:noFill/>
                    </a:lnB>
                  </a:tcPr>
                </a:tc>
                <a:extLst>
                  <a:ext uri="{0D108BD9-81ED-4DB2-BD59-A6C34878D82A}">
                    <a16:rowId xmlns:a16="http://schemas.microsoft.com/office/drawing/2014/main" val="10004"/>
                  </a:ext>
                </a:extLst>
              </a:tr>
              <a:tr h="280164">
                <a:tc>
                  <a:txBody>
                    <a:bodyPr/>
                    <a:lstStyle/>
                    <a:p>
                      <a:pPr algn="ctr" fontAlgn="b"/>
                      <a:r>
                        <a:rPr lang="en-US" sz="1800" b="0" i="0" u="none" strike="noStrike" dirty="0">
                          <a:solidFill>
                            <a:srgbClr val="000000"/>
                          </a:solidFill>
                          <a:latin typeface="Calibri"/>
                        </a:rPr>
                        <a:t>5</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600</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588</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12</a:t>
                      </a:r>
                    </a:p>
                  </a:txBody>
                  <a:tcPr marL="9525" marR="9525" marT="9525" marB="0" anchor="ctr">
                    <a:lnL>
                      <a:noFill/>
                    </a:lnL>
                    <a:lnR>
                      <a:noFill/>
                    </a:lnR>
                    <a:lnT>
                      <a:noFill/>
                    </a:lnT>
                    <a:lnB>
                      <a:noFill/>
                    </a:lnB>
                  </a:tcPr>
                </a:tc>
                <a:extLst>
                  <a:ext uri="{0D108BD9-81ED-4DB2-BD59-A6C34878D82A}">
                    <a16:rowId xmlns:a16="http://schemas.microsoft.com/office/drawing/2014/main" val="10005"/>
                  </a:ext>
                </a:extLst>
              </a:tr>
              <a:tr h="280164">
                <a:tc>
                  <a:txBody>
                    <a:bodyPr/>
                    <a:lstStyle/>
                    <a:p>
                      <a:pPr algn="ctr" fontAlgn="b"/>
                      <a:r>
                        <a:rPr lang="en-US" sz="1800" b="0" i="0" u="none" strike="noStrike" dirty="0">
                          <a:solidFill>
                            <a:srgbClr val="000000"/>
                          </a:solidFill>
                          <a:latin typeface="Calibri"/>
                        </a:rPr>
                        <a:t>6</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483</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491</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-8</a:t>
                      </a:r>
                    </a:p>
                  </a:txBody>
                  <a:tcPr marL="9525" marR="9525" marT="9525" marB="0" anchor="ctr">
                    <a:lnL>
                      <a:noFill/>
                    </a:lnL>
                    <a:lnR>
                      <a:noFill/>
                    </a:lnR>
                    <a:lnT>
                      <a:noFill/>
                    </a:lnT>
                    <a:lnB>
                      <a:noFill/>
                    </a:lnB>
                  </a:tcPr>
                </a:tc>
                <a:extLst>
                  <a:ext uri="{0D108BD9-81ED-4DB2-BD59-A6C34878D82A}">
                    <a16:rowId xmlns:a16="http://schemas.microsoft.com/office/drawing/2014/main" val="10006"/>
                  </a:ext>
                </a:extLst>
              </a:tr>
              <a:tr h="280164">
                <a:tc>
                  <a:txBody>
                    <a:bodyPr/>
                    <a:lstStyle/>
                    <a:p>
                      <a:pPr algn="ctr" fontAlgn="b"/>
                      <a:r>
                        <a:rPr lang="en-US" sz="1800" b="0" i="0" u="none" strike="noStrike" dirty="0">
                          <a:solidFill>
                            <a:srgbClr val="000000"/>
                          </a:solidFill>
                          <a:latin typeface="Calibri"/>
                        </a:rPr>
                        <a:t>7</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512</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520</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-8</a:t>
                      </a:r>
                    </a:p>
                  </a:txBody>
                  <a:tcPr marL="9525" marR="9525" marT="9525" marB="0" anchor="ctr">
                    <a:lnL>
                      <a:noFill/>
                    </a:lnL>
                    <a:lnR>
                      <a:noFill/>
                    </a:lnR>
                    <a:lnT>
                      <a:noFill/>
                    </a:lnT>
                    <a:lnB>
                      <a:noFill/>
                    </a:lnB>
                  </a:tcPr>
                </a:tc>
                <a:extLst>
                  <a:ext uri="{0D108BD9-81ED-4DB2-BD59-A6C34878D82A}">
                    <a16:rowId xmlns:a16="http://schemas.microsoft.com/office/drawing/2014/main" val="10007"/>
                  </a:ext>
                </a:extLst>
              </a:tr>
              <a:tr h="280164">
                <a:tc>
                  <a:txBody>
                    <a:bodyPr/>
                    <a:lstStyle/>
                    <a:p>
                      <a:pPr algn="ctr" fontAlgn="b"/>
                      <a:r>
                        <a:rPr lang="en-US" sz="1800" b="0" i="0" u="none" strike="noStrike" dirty="0">
                          <a:solidFill>
                            <a:srgbClr val="000000"/>
                          </a:solidFill>
                          <a:latin typeface="Calibri"/>
                        </a:rPr>
                        <a:t>8</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575</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588</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-13</a:t>
                      </a:r>
                    </a:p>
                  </a:txBody>
                  <a:tcPr marL="9525" marR="9525" marT="9525" marB="0" anchor="ctr">
                    <a:lnL>
                      <a:noFill/>
                    </a:lnL>
                    <a:lnR>
                      <a:noFill/>
                    </a:lnR>
                    <a:lnT>
                      <a:noFill/>
                    </a:lnT>
                    <a:lnB>
                      <a:noFill/>
                    </a:lnB>
                  </a:tcPr>
                </a:tc>
                <a:extLst>
                  <a:ext uri="{0D108BD9-81ED-4DB2-BD59-A6C34878D82A}">
                    <a16:rowId xmlns:a16="http://schemas.microsoft.com/office/drawing/2014/main" val="10008"/>
                  </a:ext>
                </a:extLst>
              </a:tr>
              <a:tr h="280164">
                <a:tc>
                  <a:txBody>
                    <a:bodyPr/>
                    <a:lstStyle/>
                    <a:p>
                      <a:pPr algn="ctr" fontAlgn="b"/>
                      <a:r>
                        <a:rPr lang="en-US" sz="1800" b="0" i="0" u="none" strike="noStrike" dirty="0">
                          <a:solidFill>
                            <a:srgbClr val="000000"/>
                          </a:solidFill>
                          <a:latin typeface="Calibri"/>
                        </a:rPr>
                        <a:t>9</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530</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529</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1</a:t>
                      </a:r>
                    </a:p>
                  </a:txBody>
                  <a:tcPr marL="9525" marR="9525" marT="9525" marB="0" anchor="ctr">
                    <a:lnL>
                      <a:noFill/>
                    </a:lnL>
                    <a:lnR>
                      <a:noFill/>
                    </a:lnR>
                    <a:lnT>
                      <a:noFill/>
                    </a:lnT>
                    <a:lnB>
                      <a:noFill/>
                    </a:lnB>
                  </a:tcPr>
                </a:tc>
                <a:extLst>
                  <a:ext uri="{0D108BD9-81ED-4DB2-BD59-A6C34878D82A}">
                    <a16:rowId xmlns:a16="http://schemas.microsoft.com/office/drawing/2014/main" val="10009"/>
                  </a:ext>
                </a:extLst>
              </a:tr>
              <a:tr h="280164">
                <a:tc>
                  <a:txBody>
                    <a:bodyPr/>
                    <a:lstStyle/>
                    <a:p>
                      <a:pPr algn="ctr" fontAlgn="b"/>
                      <a:r>
                        <a:rPr lang="en-US" sz="1800" b="0" i="0" u="none" strike="noStrike" dirty="0">
                          <a:solidFill>
                            <a:srgbClr val="000000"/>
                          </a:solidFill>
                          <a:latin typeface="Calibri"/>
                        </a:rPr>
                        <a:t>10</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490</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508</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-18</a:t>
                      </a:r>
                    </a:p>
                  </a:txBody>
                  <a:tcPr marL="9525" marR="9525" marT="9525" marB="0" anchor="ctr">
                    <a:lnL>
                      <a:noFill/>
                    </a:lnL>
                    <a:lnR>
                      <a:noFill/>
                    </a:lnR>
                    <a:lnT>
                      <a:noFill/>
                    </a:lnT>
                    <a:lnB>
                      <a:noFill/>
                    </a:lnB>
                  </a:tcPr>
                </a:tc>
                <a:extLst>
                  <a:ext uri="{0D108BD9-81ED-4DB2-BD59-A6C34878D82A}">
                    <a16:rowId xmlns:a16="http://schemas.microsoft.com/office/drawing/2014/main" val="10010"/>
                  </a:ext>
                </a:extLst>
              </a:tr>
            </a:tbl>
          </a:graphicData>
        </a:graphic>
      </p:graphicFrame>
      <mc:AlternateContent xmlns:mc="http://schemas.openxmlformats.org/markup-compatibility/2006" xmlns:a14="http://schemas.microsoft.com/office/drawing/2010/main">
        <mc:Choice Requires="a14">
          <p:sp>
            <p:nvSpPr>
              <p:cNvPr id="8" name="TextBox 7"/>
              <p:cNvSpPr txBox="1"/>
              <p:nvPr/>
            </p:nvSpPr>
            <p:spPr>
              <a:xfrm>
                <a:off x="596347" y="4401072"/>
                <a:ext cx="6652592" cy="1289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3600" i="1" smtClean="0">
                              <a:latin typeface="Cambria Math" panose="02040503050406030204" pitchFamily="18" charset="0"/>
                            </a:rPr>
                          </m:ctrlPr>
                        </m:sSubPr>
                        <m:e>
                          <m:r>
                            <a:rPr lang="en-US" sz="3600" b="0" i="1" smtClean="0">
                              <a:latin typeface="Cambria Math" panose="02040503050406030204" pitchFamily="18" charset="0"/>
                            </a:rPr>
                            <m:t>𝐻</m:t>
                          </m:r>
                        </m:e>
                        <m:sub>
                          <m:r>
                            <a:rPr lang="en-US" sz="3600" b="0" i="1" smtClean="0">
                              <a:latin typeface="Cambria Math" panose="02040503050406030204" pitchFamily="18" charset="0"/>
                            </a:rPr>
                            <m:t>0</m:t>
                          </m:r>
                        </m:sub>
                      </m:sSub>
                      <m:r>
                        <a:rPr lang="en-US" sz="3600" b="0" i="1" smtClean="0">
                          <a:latin typeface="Cambria Math" panose="02040503050406030204" pitchFamily="18" charset="0"/>
                        </a:rPr>
                        <m:t>:</m:t>
                      </m:r>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ea typeface="Cambria Math" panose="02040503050406030204" pitchFamily="18" charset="0"/>
                            </a:rPr>
                            <m:t>𝜇</m:t>
                          </m:r>
                        </m:e>
                        <m:sub>
                          <m:r>
                            <a:rPr lang="en-US" sz="3600" b="0" i="1" smtClean="0">
                              <a:latin typeface="Cambria Math" charset="0"/>
                            </a:rPr>
                            <m:t>𝑓𝑎𝑡𝑖𝑔𝑢𝑒𝑑</m:t>
                          </m:r>
                          <m:r>
                            <a:rPr lang="en-US" sz="3600" b="0" i="1" smtClean="0">
                              <a:latin typeface="Cambria Math" charset="0"/>
                            </a:rPr>
                            <m:t>−</m:t>
                          </m:r>
                          <m:r>
                            <a:rPr lang="en-US" sz="3600" i="1">
                              <a:latin typeface="Cambria Math" panose="02040503050406030204" pitchFamily="18" charset="0"/>
                            </a:rPr>
                            <m:t>𝑛</m:t>
                          </m:r>
                          <m:r>
                            <a:rPr lang="en-US" sz="3600" i="1">
                              <a:latin typeface="Cambria Math" charset="0"/>
                            </a:rPr>
                            <m:t>𝑜𝑡</m:t>
                          </m:r>
                          <m:r>
                            <a:rPr lang="en-US" sz="3600" i="1">
                              <a:latin typeface="Cambria Math" charset="0"/>
                            </a:rPr>
                            <m:t> </m:t>
                          </m:r>
                          <m:r>
                            <a:rPr lang="en-US" sz="3600" i="1">
                              <a:latin typeface="Cambria Math" charset="0"/>
                            </a:rPr>
                            <m:t>𝑓𝑎𝑡𝑖𝑔𝑢𝑒𝑑</m:t>
                          </m:r>
                        </m:sub>
                      </m:sSub>
                      <m:r>
                        <a:rPr lang="en-US" sz="3600" b="0" i="1" smtClean="0">
                          <a:latin typeface="Cambria Math" charset="0"/>
                        </a:rPr>
                        <m:t> </m:t>
                      </m:r>
                      <m:r>
                        <a:rPr lang="en-US" sz="3600" b="0" i="1" smtClean="0">
                          <a:latin typeface="Cambria Math" panose="02040503050406030204" pitchFamily="18" charset="0"/>
                        </a:rPr>
                        <m:t>=0</m:t>
                      </m:r>
                    </m:oMath>
                  </m:oMathPara>
                </a14:m>
                <a:endParaRPr lang="en-US" sz="3600" b="0" dirty="0"/>
              </a:p>
              <a:p>
                <a:pPr/>
                <a14:m>
                  <m:oMathPara xmlns:m="http://schemas.openxmlformats.org/officeDocument/2006/math">
                    <m:oMathParaPr>
                      <m:jc m:val="centerGroup"/>
                    </m:oMathParaPr>
                    <m:oMath xmlns:m="http://schemas.openxmlformats.org/officeDocument/2006/math">
                      <m:sSub>
                        <m:sSubPr>
                          <m:ctrlPr>
                            <a:rPr lang="en-US" sz="3600" i="1" smtClean="0">
                              <a:latin typeface="Cambria Math" panose="02040503050406030204" pitchFamily="18" charset="0"/>
                            </a:rPr>
                          </m:ctrlPr>
                        </m:sSubPr>
                        <m:e>
                          <m:r>
                            <a:rPr lang="en-US" sz="3600" b="0" i="1" smtClean="0">
                              <a:latin typeface="Cambria Math" panose="02040503050406030204" pitchFamily="18" charset="0"/>
                            </a:rPr>
                            <m:t>𝐻</m:t>
                          </m:r>
                        </m:e>
                        <m:sub>
                          <m:r>
                            <a:rPr lang="en-US" sz="3600" b="0" i="1" smtClean="0">
                              <a:latin typeface="Cambria Math" panose="02040503050406030204" pitchFamily="18" charset="0"/>
                            </a:rPr>
                            <m:t>𝐴</m:t>
                          </m:r>
                        </m:sub>
                      </m:sSub>
                      <m:r>
                        <a:rPr lang="en-US" sz="3600" b="0" i="1" smtClean="0">
                          <a:latin typeface="Cambria Math" panose="02040503050406030204" pitchFamily="18" charset="0"/>
                        </a:rPr>
                        <m:t>:</m:t>
                      </m:r>
                      <m:sSub>
                        <m:sSubPr>
                          <m:ctrlPr>
                            <a:rPr lang="en-US" sz="3600" i="1">
                              <a:latin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𝜇</m:t>
                          </m:r>
                        </m:e>
                        <m:sub>
                          <m:r>
                            <a:rPr lang="en-US" sz="3600" i="1">
                              <a:latin typeface="Cambria Math" charset="0"/>
                            </a:rPr>
                            <m:t>𝑓𝑎𝑡𝑖𝑔𝑢𝑒𝑑</m:t>
                          </m:r>
                          <m:r>
                            <a:rPr lang="en-US" sz="3600" i="1">
                              <a:latin typeface="Cambria Math" charset="0"/>
                            </a:rPr>
                            <m:t>−</m:t>
                          </m:r>
                          <m:r>
                            <a:rPr lang="en-US" sz="3600" i="1">
                              <a:latin typeface="Cambria Math" panose="02040503050406030204" pitchFamily="18" charset="0"/>
                            </a:rPr>
                            <m:t>𝑛</m:t>
                          </m:r>
                          <m:r>
                            <a:rPr lang="en-US" sz="3600" i="1">
                              <a:latin typeface="Cambria Math" charset="0"/>
                            </a:rPr>
                            <m:t>𝑜𝑡</m:t>
                          </m:r>
                          <m:r>
                            <a:rPr lang="en-US" sz="3600" i="1">
                              <a:latin typeface="Cambria Math" charset="0"/>
                            </a:rPr>
                            <m:t> </m:t>
                          </m:r>
                          <m:r>
                            <a:rPr lang="en-US" sz="3600" i="1">
                              <a:latin typeface="Cambria Math" charset="0"/>
                            </a:rPr>
                            <m:t>𝑓𝑎𝑡𝑖𝑔𝑢𝑒𝑑</m:t>
                          </m:r>
                        </m:sub>
                      </m:sSub>
                      <m:r>
                        <a:rPr lang="en-US" sz="3600" b="0" i="1" smtClean="0">
                          <a:latin typeface="Cambria Math" panose="02040503050406030204" pitchFamily="18" charset="0"/>
                        </a:rPr>
                        <m:t>&lt;0</m:t>
                      </m:r>
                    </m:oMath>
                  </m:oMathPara>
                </a14:m>
                <a:endParaRPr lang="en-US" sz="3600" dirty="0"/>
              </a:p>
            </p:txBody>
          </p:sp>
        </mc:Choice>
        <mc:Fallback xmlns="">
          <p:sp>
            <p:nvSpPr>
              <p:cNvPr id="8" name="TextBox 7"/>
              <p:cNvSpPr txBox="1">
                <a:spLocks noRot="1" noChangeAspect="1" noMove="1" noResize="1" noEditPoints="1" noAdjustHandles="1" noChangeArrowheads="1" noChangeShapeType="1" noTextEdit="1"/>
              </p:cNvSpPr>
              <p:nvPr/>
            </p:nvSpPr>
            <p:spPr>
              <a:xfrm>
                <a:off x="596347" y="4401072"/>
                <a:ext cx="6652592" cy="1289777"/>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1384852" y="2172209"/>
                <a:ext cx="10813774" cy="129048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3600" i="1" smtClean="0">
                              <a:latin typeface="Cambria Math" panose="02040503050406030204" pitchFamily="18" charset="0"/>
                            </a:rPr>
                          </m:ctrlPr>
                        </m:sSubPr>
                        <m:e>
                          <m:r>
                            <a:rPr lang="en-US" sz="3600" i="1">
                              <a:latin typeface="Cambria Math" panose="02040503050406030204" pitchFamily="18" charset="0"/>
                            </a:rPr>
                            <m:t>𝐻</m:t>
                          </m:r>
                        </m:e>
                        <m:sub>
                          <m:r>
                            <a:rPr lang="en-US" sz="3600" b="0" i="1" smtClean="0">
                              <a:latin typeface="Cambria Math" panose="02040503050406030204" pitchFamily="18" charset="0"/>
                            </a:rPr>
                            <m:t>0</m:t>
                          </m:r>
                        </m:sub>
                      </m:sSub>
                      <m:r>
                        <a:rPr lang="en-US" sz="3600" i="1">
                          <a:latin typeface="Cambria Math" panose="02040503050406030204" pitchFamily="18" charset="0"/>
                        </a:rPr>
                        <m:t>:</m:t>
                      </m:r>
                      <m:sSub>
                        <m:sSubPr>
                          <m:ctrlPr>
                            <a:rPr lang="en-US" sz="3600" i="1">
                              <a:latin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𝜇</m:t>
                          </m:r>
                        </m:e>
                        <m:sub>
                          <m:r>
                            <a:rPr lang="en-US" sz="3600" i="1">
                              <a:latin typeface="Cambria Math" charset="0"/>
                              <a:ea typeface="Cambria Math" panose="02040503050406030204" pitchFamily="18" charset="0"/>
                            </a:rPr>
                            <m:t>𝑓𝑎𝑡𝑖𝑔𝑢𝑒𝑑</m:t>
                          </m:r>
                        </m:sub>
                      </m:sSub>
                      <m:sSub>
                        <m:sSubPr>
                          <m:ctrlPr>
                            <a:rPr lang="en-US" sz="3600" i="1">
                              <a:latin typeface="Cambria Math" panose="02040503050406030204" pitchFamily="18" charset="0"/>
                            </a:rPr>
                          </m:ctrlPr>
                        </m:sSubPr>
                        <m:e>
                          <m:r>
                            <a:rPr lang="en-US" sz="3600" i="1">
                              <a:latin typeface="Cambria Math"/>
                            </a:rPr>
                            <m:t>−</m:t>
                          </m:r>
                          <m:r>
                            <a:rPr lang="en-US" sz="3600" i="1">
                              <a:latin typeface="Cambria Math" panose="02040503050406030204" pitchFamily="18" charset="0"/>
                              <a:ea typeface="Cambria Math" panose="02040503050406030204" pitchFamily="18" charset="0"/>
                            </a:rPr>
                            <m:t>𝜇</m:t>
                          </m:r>
                        </m:e>
                        <m:sub>
                          <m:r>
                            <a:rPr lang="en-US" sz="3600" i="1">
                              <a:latin typeface="Cambria Math" charset="0"/>
                            </a:rPr>
                            <m:t>𝑛𝑜𝑡</m:t>
                          </m:r>
                          <m:r>
                            <a:rPr lang="en-US" sz="3600" i="1">
                              <a:latin typeface="Cambria Math" charset="0"/>
                            </a:rPr>
                            <m:t> </m:t>
                          </m:r>
                          <m:r>
                            <a:rPr lang="en-US" sz="3600" i="1">
                              <a:latin typeface="Cambria Math" charset="0"/>
                            </a:rPr>
                            <m:t>𝑓𝑎𝑡𝑖𝑔𝑢𝑒𝑑</m:t>
                          </m:r>
                        </m:sub>
                      </m:sSub>
                      <m:r>
                        <a:rPr lang="en-US" sz="3600" b="0" i="1" smtClean="0">
                          <a:latin typeface="Cambria Math" panose="02040503050406030204" pitchFamily="18" charset="0"/>
                        </a:rPr>
                        <m:t>=</m:t>
                      </m:r>
                      <m:r>
                        <a:rPr lang="en-US" sz="3600" i="1">
                          <a:latin typeface="Cambria Math" panose="02040503050406030204" pitchFamily="18" charset="0"/>
                        </a:rPr>
                        <m:t>0</m:t>
                      </m:r>
                    </m:oMath>
                  </m:oMathPara>
                </a14:m>
                <a:endParaRPr lang="en-US" sz="3600" b="0" dirty="0"/>
              </a:p>
              <a:p>
                <a:pPr/>
                <a14:m>
                  <m:oMathPara xmlns:m="http://schemas.openxmlformats.org/officeDocument/2006/math">
                    <m:oMathParaPr>
                      <m:jc m:val="centerGroup"/>
                    </m:oMathParaPr>
                    <m:oMath xmlns:m="http://schemas.openxmlformats.org/officeDocument/2006/math">
                      <m:sSub>
                        <m:sSubPr>
                          <m:ctrlPr>
                            <a:rPr lang="en-US" sz="3600" i="1" smtClean="0">
                              <a:latin typeface="Cambria Math" panose="02040503050406030204" pitchFamily="18" charset="0"/>
                            </a:rPr>
                          </m:ctrlPr>
                        </m:sSubPr>
                        <m:e>
                          <m:r>
                            <a:rPr lang="en-US" sz="3600" b="0" i="1" smtClean="0">
                              <a:latin typeface="Cambria Math" panose="02040503050406030204" pitchFamily="18" charset="0"/>
                            </a:rPr>
                            <m:t>𝐻</m:t>
                          </m:r>
                        </m:e>
                        <m:sub>
                          <m:r>
                            <a:rPr lang="en-US" sz="3600" b="0" i="1" smtClean="0">
                              <a:latin typeface="Cambria Math" panose="02040503050406030204" pitchFamily="18" charset="0"/>
                            </a:rPr>
                            <m:t>𝐴</m:t>
                          </m:r>
                        </m:sub>
                      </m:sSub>
                      <m:r>
                        <a:rPr lang="en-US" sz="3600" b="0" i="1" smtClean="0">
                          <a:latin typeface="Cambria Math" panose="02040503050406030204" pitchFamily="18" charset="0"/>
                        </a:rPr>
                        <m:t>:</m:t>
                      </m:r>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ea typeface="Cambria Math" panose="02040503050406030204" pitchFamily="18" charset="0"/>
                            </a:rPr>
                            <m:t>𝜇</m:t>
                          </m:r>
                        </m:e>
                        <m:sub>
                          <m:r>
                            <a:rPr lang="en-US" sz="3600" b="0" i="1" smtClean="0">
                              <a:latin typeface="Cambria Math" charset="0"/>
                              <a:ea typeface="Cambria Math" panose="02040503050406030204" pitchFamily="18" charset="0"/>
                            </a:rPr>
                            <m:t>𝑓𝑎𝑡𝑖𝑔𝑢𝑒𝑑</m:t>
                          </m:r>
                        </m:sub>
                      </m:sSub>
                      <m:sSub>
                        <m:sSubPr>
                          <m:ctrlPr>
                            <a:rPr lang="en-US" sz="3600" i="1">
                              <a:latin typeface="Cambria Math" panose="02040503050406030204" pitchFamily="18" charset="0"/>
                            </a:rPr>
                          </m:ctrlPr>
                        </m:sSubPr>
                        <m:e>
                          <m:r>
                            <a:rPr lang="en-US" sz="3600" i="1">
                              <a:latin typeface="Cambria Math"/>
                            </a:rPr>
                            <m:t>−</m:t>
                          </m:r>
                          <m:r>
                            <a:rPr lang="en-US" sz="3600" i="1">
                              <a:latin typeface="Cambria Math" panose="02040503050406030204" pitchFamily="18" charset="0"/>
                              <a:ea typeface="Cambria Math" panose="02040503050406030204" pitchFamily="18" charset="0"/>
                            </a:rPr>
                            <m:t>𝜇</m:t>
                          </m:r>
                        </m:e>
                        <m:sub>
                          <m:r>
                            <a:rPr lang="en-US" sz="3600" i="1">
                              <a:latin typeface="Cambria Math" charset="0"/>
                            </a:rPr>
                            <m:t>𝑛𝑜𝑡</m:t>
                          </m:r>
                          <m:r>
                            <a:rPr lang="en-US" sz="3600" b="0" i="1" smtClean="0">
                              <a:latin typeface="Cambria Math" charset="0"/>
                            </a:rPr>
                            <m:t> </m:t>
                          </m:r>
                          <m:r>
                            <a:rPr lang="en-US" sz="3600" i="1">
                              <a:latin typeface="Cambria Math" charset="0"/>
                            </a:rPr>
                            <m:t>𝑓𝑎𝑡𝑖𝑔𝑢𝑒𝑑</m:t>
                          </m:r>
                        </m:sub>
                      </m:sSub>
                      <m:r>
                        <a:rPr lang="en-US" sz="3600" b="0" i="1" smtClean="0">
                          <a:latin typeface="Cambria Math" charset="0"/>
                        </a:rPr>
                        <m:t> </m:t>
                      </m:r>
                      <m:r>
                        <a:rPr lang="en-US" sz="3600" b="0" i="1" smtClean="0">
                          <a:latin typeface="Cambria Math" panose="02040503050406030204" pitchFamily="18" charset="0"/>
                        </a:rPr>
                        <m:t>&lt;0</m:t>
                      </m:r>
                    </m:oMath>
                  </m:oMathPara>
                </a14:m>
                <a:endParaRPr lang="en-US" sz="3600" dirty="0"/>
              </a:p>
            </p:txBody>
          </p:sp>
        </mc:Choice>
        <mc:Fallback xmlns="">
          <p:sp>
            <p:nvSpPr>
              <p:cNvPr id="9" name="TextBox 8"/>
              <p:cNvSpPr txBox="1">
                <a:spLocks noRot="1" noChangeAspect="1" noMove="1" noResize="1" noEditPoints="1" noAdjustHandles="1" noChangeArrowheads="1" noChangeShapeType="1" noTextEdit="1"/>
              </p:cNvSpPr>
              <p:nvPr/>
            </p:nvSpPr>
            <p:spPr>
              <a:xfrm>
                <a:off x="-1384852" y="2172209"/>
                <a:ext cx="10813774" cy="1290481"/>
              </a:xfrm>
              <a:prstGeom prst="rect">
                <a:avLst/>
              </a:prstGeom>
              <a:blipFill>
                <a:blip r:embed="rId3"/>
                <a:stretch>
                  <a:fillRect b="-9709"/>
                </a:stretch>
              </a:blipFill>
            </p:spPr>
            <p:txBody>
              <a:bodyPr/>
              <a:lstStyle/>
              <a:p>
                <a:r>
                  <a:rPr lang="en-US">
                    <a:noFill/>
                  </a:rPr>
                  <a:t> </a:t>
                </a:r>
              </a:p>
            </p:txBody>
          </p:sp>
        </mc:Fallback>
      </mc:AlternateContent>
      <p:sp>
        <p:nvSpPr>
          <p:cNvPr id="10" name="Content Placeholder 2"/>
          <p:cNvSpPr txBox="1">
            <a:spLocks/>
          </p:cNvSpPr>
          <p:nvPr/>
        </p:nvSpPr>
        <p:spPr>
          <a:xfrm>
            <a:off x="1097279" y="3921047"/>
            <a:ext cx="6606633" cy="480025"/>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dirty="0"/>
              <a:t>We should test the </a:t>
            </a:r>
            <a:r>
              <a:rPr lang="en-US" u="sng" cap="small" dirty="0">
                <a:solidFill>
                  <a:srgbClr val="FF0000"/>
                </a:solidFill>
              </a:rPr>
              <a:t>mean of the differences:</a:t>
            </a:r>
            <a:endParaRPr lang="en-US" dirty="0"/>
          </a:p>
        </p:txBody>
      </p:sp>
      <p:sp>
        <p:nvSpPr>
          <p:cNvPr id="11" name="Multiplication Sign 10">
            <a:extLst>
              <a:ext uri="{FF2B5EF4-FFF2-40B4-BE49-F238E27FC236}">
                <a16:creationId xmlns:a16="http://schemas.microsoft.com/office/drawing/2014/main" id="{CFC989B8-6F32-47C5-9405-C39154FAFE29}"/>
              </a:ext>
            </a:extLst>
          </p:cNvPr>
          <p:cNvSpPr/>
          <p:nvPr/>
        </p:nvSpPr>
        <p:spPr>
          <a:xfrm>
            <a:off x="-1284763" y="1737362"/>
            <a:ext cx="10813774" cy="2328052"/>
          </a:xfrm>
          <a:prstGeom prst="mathMultiply">
            <a:avLst/>
          </a:prstGeom>
          <a:solidFill>
            <a:srgbClr val="FF0000">
              <a:alpha val="1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72315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08066"/>
            <a:ext cx="11658599" cy="1450757"/>
          </a:xfrm>
        </p:spPr>
        <p:txBody>
          <a:bodyPr/>
          <a:lstStyle/>
          <a:p>
            <a:r>
              <a:rPr lang="en-US" dirty="0"/>
              <a:t>Paired t-test reduces to a one-sample t-test</a:t>
            </a:r>
          </a:p>
        </p:txBody>
      </p:sp>
      <p:sp>
        <p:nvSpPr>
          <p:cNvPr id="4" name="Slide Number Placeholder 3"/>
          <p:cNvSpPr>
            <a:spLocks noGrp="1"/>
          </p:cNvSpPr>
          <p:nvPr>
            <p:ph type="sldNum" sz="quarter" idx="12"/>
          </p:nvPr>
        </p:nvSpPr>
        <p:spPr>
          <a:xfrm>
            <a:off x="9900460" y="6459787"/>
            <a:ext cx="1312025"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F6EB086-0FB5-404F-9DB0-02BE9E698E00}" type="slidenum">
              <a:rPr lang="en-US" smtClean="0"/>
              <a:pPr/>
              <a:t>39</a:t>
            </a:fld>
            <a:endParaRPr lang="en-US" dirty="0"/>
          </a:p>
        </p:txBody>
      </p:sp>
      <p:graphicFrame>
        <p:nvGraphicFramePr>
          <p:cNvPr id="5" name="Table 4"/>
          <p:cNvGraphicFramePr>
            <a:graphicFrameLocks noGrp="1"/>
          </p:cNvGraphicFramePr>
          <p:nvPr/>
        </p:nvGraphicFramePr>
        <p:xfrm>
          <a:off x="1162447" y="2342034"/>
          <a:ext cx="4876800" cy="3122295"/>
        </p:xfrm>
        <a:graphic>
          <a:graphicData uri="http://schemas.openxmlformats.org/drawingml/2006/table">
            <a:tbl>
              <a:tblPr/>
              <a:tblGrid>
                <a:gridCol w="1023257">
                  <a:extLst>
                    <a:ext uri="{9D8B030D-6E8A-4147-A177-3AD203B41FA5}">
                      <a16:colId xmlns:a16="http://schemas.microsoft.com/office/drawing/2014/main" val="20000"/>
                    </a:ext>
                  </a:extLst>
                </a:gridCol>
                <a:gridCol w="1192927">
                  <a:extLst>
                    <a:ext uri="{9D8B030D-6E8A-4147-A177-3AD203B41FA5}">
                      <a16:colId xmlns:a16="http://schemas.microsoft.com/office/drawing/2014/main" val="20001"/>
                    </a:ext>
                  </a:extLst>
                </a:gridCol>
                <a:gridCol w="1441416">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tblGrid>
              <a:tr h="190500">
                <a:tc>
                  <a:txBody>
                    <a:bodyPr/>
                    <a:lstStyle/>
                    <a:p>
                      <a:pPr algn="ctr" fontAlgn="b"/>
                      <a:r>
                        <a:rPr lang="en-US" sz="1800" b="1" i="0" u="none" strike="noStrike" dirty="0">
                          <a:solidFill>
                            <a:srgbClr val="000000"/>
                          </a:solidFill>
                          <a:latin typeface="Calibri"/>
                        </a:rPr>
                        <a:t>Subject</a:t>
                      </a:r>
                    </a:p>
                  </a:txBody>
                  <a:tcPr marL="9525" marR="9525" marT="9525" marB="0" anchor="b">
                    <a:lnL>
                      <a:noFill/>
                    </a:lnL>
                    <a:lnR>
                      <a:noFill/>
                    </a:lnR>
                    <a:lnT>
                      <a:noFill/>
                    </a:lnT>
                    <a:lnB>
                      <a:noFill/>
                    </a:lnB>
                  </a:tcPr>
                </a:tc>
                <a:tc>
                  <a:txBody>
                    <a:bodyPr/>
                    <a:lstStyle/>
                    <a:p>
                      <a:pPr algn="ctr" fontAlgn="b"/>
                      <a:r>
                        <a:rPr lang="en-US" sz="1800" b="1" i="0" u="none" strike="noStrike" dirty="0">
                          <a:solidFill>
                            <a:schemeClr val="tx2"/>
                          </a:solidFill>
                          <a:latin typeface="Calibri"/>
                        </a:rPr>
                        <a:t>Fatigued</a:t>
                      </a:r>
                    </a:p>
                  </a:txBody>
                  <a:tcPr marL="9525" marR="9525" marT="9525" marB="0" anchor="b">
                    <a:lnL>
                      <a:noFill/>
                    </a:lnL>
                    <a:lnR>
                      <a:noFill/>
                    </a:lnR>
                    <a:lnT>
                      <a:noFill/>
                    </a:lnT>
                    <a:lnB>
                      <a:noFill/>
                    </a:lnB>
                  </a:tcPr>
                </a:tc>
                <a:tc>
                  <a:txBody>
                    <a:bodyPr/>
                    <a:lstStyle/>
                    <a:p>
                      <a:pPr algn="ctr" fontAlgn="b"/>
                      <a:r>
                        <a:rPr lang="en-US" sz="1800" b="1" i="0" u="none" strike="noStrike" dirty="0">
                          <a:solidFill>
                            <a:srgbClr val="FF0000"/>
                          </a:solidFill>
                          <a:latin typeface="Calibri"/>
                        </a:rPr>
                        <a:t>Not Fatigued</a:t>
                      </a:r>
                    </a:p>
                  </a:txBody>
                  <a:tcPr marL="9525" marR="9525" marT="9525" marB="0" anchor="b">
                    <a:lnL>
                      <a:noFill/>
                    </a:lnL>
                    <a:lnR>
                      <a:noFill/>
                    </a:lnR>
                    <a:lnT>
                      <a:noFill/>
                    </a:lnT>
                    <a:lnB>
                      <a:noFill/>
                    </a:lnB>
                  </a:tcPr>
                </a:tc>
                <a:tc>
                  <a:txBody>
                    <a:bodyPr/>
                    <a:lstStyle/>
                    <a:p>
                      <a:pPr algn="ctr" fontAlgn="b"/>
                      <a:r>
                        <a:rPr lang="en-US" sz="1800" b="1" i="0" u="none" strike="noStrike" dirty="0">
                          <a:solidFill>
                            <a:srgbClr val="00B050"/>
                          </a:solidFill>
                          <a:latin typeface="Calibri"/>
                        </a:rPr>
                        <a:t>Difference</a:t>
                      </a:r>
                    </a:p>
                  </a:txBody>
                  <a:tcPr marL="9525" marR="9525" marT="9525" marB="0" anchor="b">
                    <a:lnL>
                      <a:noFill/>
                    </a:lnL>
                    <a:lnR>
                      <a:noFill/>
                    </a:lnR>
                    <a:lnT>
                      <a:noFill/>
                    </a:lnT>
                    <a:lnB>
                      <a:noFill/>
                    </a:lnB>
                  </a:tcPr>
                </a:tc>
                <a:extLst>
                  <a:ext uri="{0D108BD9-81ED-4DB2-BD59-A6C34878D82A}">
                    <a16:rowId xmlns:a16="http://schemas.microsoft.com/office/drawing/2014/main" val="10000"/>
                  </a:ext>
                </a:extLst>
              </a:tr>
              <a:tr h="190500">
                <a:tc>
                  <a:txBody>
                    <a:bodyPr/>
                    <a:lstStyle/>
                    <a:p>
                      <a:pPr algn="ctr" fontAlgn="b"/>
                      <a:r>
                        <a:rPr lang="en-US" sz="1800" b="0" i="0" u="none" strike="noStrike" dirty="0">
                          <a:solidFill>
                            <a:srgbClr val="000000"/>
                          </a:solidFill>
                          <a:latin typeface="Calibri"/>
                        </a:rPr>
                        <a:t>1</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530</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567</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-37</a:t>
                      </a:r>
                    </a:p>
                  </a:txBody>
                  <a:tcPr marL="9525" marR="9525" marT="9525" marB="0" anchor="ctr">
                    <a:lnL>
                      <a:noFill/>
                    </a:lnL>
                    <a:lnR>
                      <a:noFill/>
                    </a:lnR>
                    <a:lnT>
                      <a:noFill/>
                    </a:lnT>
                    <a:lnB>
                      <a:noFill/>
                    </a:lnB>
                  </a:tcPr>
                </a:tc>
                <a:extLst>
                  <a:ext uri="{0D108BD9-81ED-4DB2-BD59-A6C34878D82A}">
                    <a16:rowId xmlns:a16="http://schemas.microsoft.com/office/drawing/2014/main" val="10001"/>
                  </a:ext>
                </a:extLst>
              </a:tr>
              <a:tr h="190500">
                <a:tc>
                  <a:txBody>
                    <a:bodyPr/>
                    <a:lstStyle/>
                    <a:p>
                      <a:pPr algn="ctr" fontAlgn="b"/>
                      <a:r>
                        <a:rPr lang="en-US" sz="1800" b="0" i="0" u="none" strike="noStrike" dirty="0">
                          <a:solidFill>
                            <a:srgbClr val="000000"/>
                          </a:solidFill>
                          <a:latin typeface="Calibri"/>
                        </a:rPr>
                        <a:t>2</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492</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512</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-20</a:t>
                      </a:r>
                    </a:p>
                  </a:txBody>
                  <a:tcPr marL="9525" marR="9525" marT="9525" marB="0" anchor="ctr">
                    <a:lnL>
                      <a:noFill/>
                    </a:lnL>
                    <a:lnR>
                      <a:noFill/>
                    </a:lnR>
                    <a:lnT>
                      <a:noFill/>
                    </a:lnT>
                    <a:lnB>
                      <a:noFill/>
                    </a:lnB>
                  </a:tcPr>
                </a:tc>
                <a:extLst>
                  <a:ext uri="{0D108BD9-81ED-4DB2-BD59-A6C34878D82A}">
                    <a16:rowId xmlns:a16="http://schemas.microsoft.com/office/drawing/2014/main" val="10002"/>
                  </a:ext>
                </a:extLst>
              </a:tr>
              <a:tr h="190500">
                <a:tc>
                  <a:txBody>
                    <a:bodyPr/>
                    <a:lstStyle/>
                    <a:p>
                      <a:pPr algn="ctr" fontAlgn="b"/>
                      <a:r>
                        <a:rPr lang="en-US" sz="1800" b="0" i="0" u="none" strike="noStrike" dirty="0">
                          <a:solidFill>
                            <a:srgbClr val="000000"/>
                          </a:solidFill>
                          <a:latin typeface="Calibri"/>
                        </a:rPr>
                        <a:t>3</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510</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509</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1</a:t>
                      </a:r>
                    </a:p>
                  </a:txBody>
                  <a:tcPr marL="9525" marR="9525" marT="9525" marB="0" anchor="ctr">
                    <a:lnL>
                      <a:noFill/>
                    </a:lnL>
                    <a:lnR>
                      <a:noFill/>
                    </a:lnR>
                    <a:lnT>
                      <a:noFill/>
                    </a:lnT>
                    <a:lnB>
                      <a:noFill/>
                    </a:lnB>
                  </a:tcPr>
                </a:tc>
                <a:extLst>
                  <a:ext uri="{0D108BD9-81ED-4DB2-BD59-A6C34878D82A}">
                    <a16:rowId xmlns:a16="http://schemas.microsoft.com/office/drawing/2014/main" val="10003"/>
                  </a:ext>
                </a:extLst>
              </a:tr>
              <a:tr h="190500">
                <a:tc>
                  <a:txBody>
                    <a:bodyPr/>
                    <a:lstStyle/>
                    <a:p>
                      <a:pPr algn="ctr" fontAlgn="b"/>
                      <a:r>
                        <a:rPr lang="en-US" sz="1800" b="0" i="0" u="none" strike="noStrike" dirty="0">
                          <a:solidFill>
                            <a:srgbClr val="000000"/>
                          </a:solidFill>
                          <a:latin typeface="Calibri"/>
                        </a:rPr>
                        <a:t>4</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580</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593</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-13</a:t>
                      </a:r>
                    </a:p>
                  </a:txBody>
                  <a:tcPr marL="9525" marR="9525" marT="9525" marB="0" anchor="ctr">
                    <a:lnL>
                      <a:noFill/>
                    </a:lnL>
                    <a:lnR>
                      <a:noFill/>
                    </a:lnR>
                    <a:lnT>
                      <a:noFill/>
                    </a:lnT>
                    <a:lnB>
                      <a:noFill/>
                    </a:lnB>
                  </a:tcPr>
                </a:tc>
                <a:extLst>
                  <a:ext uri="{0D108BD9-81ED-4DB2-BD59-A6C34878D82A}">
                    <a16:rowId xmlns:a16="http://schemas.microsoft.com/office/drawing/2014/main" val="10004"/>
                  </a:ext>
                </a:extLst>
              </a:tr>
              <a:tr h="190500">
                <a:tc>
                  <a:txBody>
                    <a:bodyPr/>
                    <a:lstStyle/>
                    <a:p>
                      <a:pPr algn="ctr" fontAlgn="b"/>
                      <a:r>
                        <a:rPr lang="en-US" sz="1800" b="0" i="0" u="none" strike="noStrike" dirty="0">
                          <a:solidFill>
                            <a:srgbClr val="000000"/>
                          </a:solidFill>
                          <a:latin typeface="Calibri"/>
                        </a:rPr>
                        <a:t>5</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600</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588</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12</a:t>
                      </a:r>
                    </a:p>
                  </a:txBody>
                  <a:tcPr marL="9525" marR="9525" marT="9525" marB="0" anchor="ctr">
                    <a:lnL>
                      <a:noFill/>
                    </a:lnL>
                    <a:lnR>
                      <a:noFill/>
                    </a:lnR>
                    <a:lnT>
                      <a:noFill/>
                    </a:lnT>
                    <a:lnB>
                      <a:noFill/>
                    </a:lnB>
                  </a:tcPr>
                </a:tc>
                <a:extLst>
                  <a:ext uri="{0D108BD9-81ED-4DB2-BD59-A6C34878D82A}">
                    <a16:rowId xmlns:a16="http://schemas.microsoft.com/office/drawing/2014/main" val="10005"/>
                  </a:ext>
                </a:extLst>
              </a:tr>
              <a:tr h="190500">
                <a:tc>
                  <a:txBody>
                    <a:bodyPr/>
                    <a:lstStyle/>
                    <a:p>
                      <a:pPr algn="ctr" fontAlgn="b"/>
                      <a:r>
                        <a:rPr lang="en-US" sz="1800" b="0" i="0" u="none" strike="noStrike" dirty="0">
                          <a:solidFill>
                            <a:srgbClr val="000000"/>
                          </a:solidFill>
                          <a:latin typeface="Calibri"/>
                        </a:rPr>
                        <a:t>6</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483</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491</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-8</a:t>
                      </a:r>
                    </a:p>
                  </a:txBody>
                  <a:tcPr marL="9525" marR="9525" marT="9525" marB="0" anchor="ctr">
                    <a:lnL>
                      <a:noFill/>
                    </a:lnL>
                    <a:lnR>
                      <a:noFill/>
                    </a:lnR>
                    <a:lnT>
                      <a:noFill/>
                    </a:lnT>
                    <a:lnB>
                      <a:noFill/>
                    </a:lnB>
                  </a:tcPr>
                </a:tc>
                <a:extLst>
                  <a:ext uri="{0D108BD9-81ED-4DB2-BD59-A6C34878D82A}">
                    <a16:rowId xmlns:a16="http://schemas.microsoft.com/office/drawing/2014/main" val="10006"/>
                  </a:ext>
                </a:extLst>
              </a:tr>
              <a:tr h="190500">
                <a:tc>
                  <a:txBody>
                    <a:bodyPr/>
                    <a:lstStyle/>
                    <a:p>
                      <a:pPr algn="ctr" fontAlgn="b"/>
                      <a:r>
                        <a:rPr lang="en-US" sz="1800" b="0" i="0" u="none" strike="noStrike" dirty="0">
                          <a:solidFill>
                            <a:srgbClr val="000000"/>
                          </a:solidFill>
                          <a:latin typeface="Calibri"/>
                        </a:rPr>
                        <a:t>7</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512</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520</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-8</a:t>
                      </a:r>
                    </a:p>
                  </a:txBody>
                  <a:tcPr marL="9525" marR="9525" marT="9525" marB="0" anchor="ctr">
                    <a:lnL>
                      <a:noFill/>
                    </a:lnL>
                    <a:lnR>
                      <a:noFill/>
                    </a:lnR>
                    <a:lnT>
                      <a:noFill/>
                    </a:lnT>
                    <a:lnB>
                      <a:noFill/>
                    </a:lnB>
                  </a:tcPr>
                </a:tc>
                <a:extLst>
                  <a:ext uri="{0D108BD9-81ED-4DB2-BD59-A6C34878D82A}">
                    <a16:rowId xmlns:a16="http://schemas.microsoft.com/office/drawing/2014/main" val="10007"/>
                  </a:ext>
                </a:extLst>
              </a:tr>
              <a:tr h="190500">
                <a:tc>
                  <a:txBody>
                    <a:bodyPr/>
                    <a:lstStyle/>
                    <a:p>
                      <a:pPr algn="ctr" fontAlgn="b"/>
                      <a:r>
                        <a:rPr lang="en-US" sz="1800" b="0" i="0" u="none" strike="noStrike" dirty="0">
                          <a:solidFill>
                            <a:srgbClr val="000000"/>
                          </a:solidFill>
                          <a:latin typeface="Calibri"/>
                        </a:rPr>
                        <a:t>8</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575</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588</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-13</a:t>
                      </a:r>
                    </a:p>
                  </a:txBody>
                  <a:tcPr marL="9525" marR="9525" marT="9525" marB="0" anchor="ctr">
                    <a:lnL>
                      <a:noFill/>
                    </a:lnL>
                    <a:lnR>
                      <a:noFill/>
                    </a:lnR>
                    <a:lnT>
                      <a:noFill/>
                    </a:lnT>
                    <a:lnB>
                      <a:noFill/>
                    </a:lnB>
                  </a:tcPr>
                </a:tc>
                <a:extLst>
                  <a:ext uri="{0D108BD9-81ED-4DB2-BD59-A6C34878D82A}">
                    <a16:rowId xmlns:a16="http://schemas.microsoft.com/office/drawing/2014/main" val="10008"/>
                  </a:ext>
                </a:extLst>
              </a:tr>
              <a:tr h="190500">
                <a:tc>
                  <a:txBody>
                    <a:bodyPr/>
                    <a:lstStyle/>
                    <a:p>
                      <a:pPr algn="ctr" fontAlgn="b"/>
                      <a:r>
                        <a:rPr lang="en-US" sz="1800" b="0" i="0" u="none" strike="noStrike" dirty="0">
                          <a:solidFill>
                            <a:srgbClr val="000000"/>
                          </a:solidFill>
                          <a:latin typeface="Calibri"/>
                        </a:rPr>
                        <a:t>9</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530</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529</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1</a:t>
                      </a:r>
                    </a:p>
                  </a:txBody>
                  <a:tcPr marL="9525" marR="9525" marT="9525" marB="0" anchor="ctr">
                    <a:lnL>
                      <a:noFill/>
                    </a:lnL>
                    <a:lnR>
                      <a:noFill/>
                    </a:lnR>
                    <a:lnT>
                      <a:noFill/>
                    </a:lnT>
                    <a:lnB>
                      <a:noFill/>
                    </a:lnB>
                  </a:tcPr>
                </a:tc>
                <a:extLst>
                  <a:ext uri="{0D108BD9-81ED-4DB2-BD59-A6C34878D82A}">
                    <a16:rowId xmlns:a16="http://schemas.microsoft.com/office/drawing/2014/main" val="10009"/>
                  </a:ext>
                </a:extLst>
              </a:tr>
              <a:tr h="190500">
                <a:tc>
                  <a:txBody>
                    <a:bodyPr/>
                    <a:lstStyle/>
                    <a:p>
                      <a:pPr algn="ctr" fontAlgn="b"/>
                      <a:r>
                        <a:rPr lang="en-US" sz="1800" b="0" i="0" u="none" strike="noStrike" dirty="0">
                          <a:solidFill>
                            <a:srgbClr val="000000"/>
                          </a:solidFill>
                          <a:latin typeface="Calibri"/>
                        </a:rPr>
                        <a:t>10</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490</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508</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-18</a:t>
                      </a:r>
                    </a:p>
                  </a:txBody>
                  <a:tcPr marL="9525" marR="9525" marT="9525" marB="0" anchor="ctr">
                    <a:lnL>
                      <a:noFill/>
                    </a:lnL>
                    <a:lnR>
                      <a:noFill/>
                    </a:lnR>
                    <a:lnT>
                      <a:noFill/>
                    </a:lnT>
                    <a:lnB>
                      <a:noFill/>
                    </a:lnB>
                  </a:tcPr>
                </a:tc>
                <a:extLst>
                  <a:ext uri="{0D108BD9-81ED-4DB2-BD59-A6C34878D82A}">
                    <a16:rowId xmlns:a16="http://schemas.microsoft.com/office/drawing/2014/main" val="10010"/>
                  </a:ext>
                </a:extLst>
              </a:tr>
            </a:tbl>
          </a:graphicData>
        </a:graphic>
      </p:graphicFrame>
      <mc:AlternateContent xmlns:mc="http://schemas.openxmlformats.org/markup-compatibility/2006" xmlns:a14="http://schemas.microsoft.com/office/drawing/2010/main">
        <mc:Choice Requires="a14">
          <p:sp>
            <p:nvSpPr>
              <p:cNvPr id="8" name="TextBox 7"/>
              <p:cNvSpPr txBox="1"/>
              <p:nvPr/>
            </p:nvSpPr>
            <p:spPr>
              <a:xfrm>
                <a:off x="7485146" y="2506865"/>
                <a:ext cx="2926844" cy="67601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𝑑</m:t>
                          </m:r>
                        </m:e>
                      </m:acc>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charset="0"/>
                                </a:rPr>
                                <m:t>𝑑</m:t>
                              </m:r>
                            </m:e>
                            <m:sub>
                              <m:r>
                                <a:rPr lang="en-US" sz="2000" b="0" i="1" smtClean="0">
                                  <a:latin typeface="Cambria Math" charset="0"/>
                                </a:rPr>
                                <m:t>1</m:t>
                              </m:r>
                            </m:sub>
                          </m:sSub>
                          <m:r>
                            <a:rPr lang="en-US" sz="2000" b="0" i="1" smtClean="0">
                              <a:latin typeface="Cambria Math" charset="0"/>
                            </a:rPr>
                            <m:t>+</m:t>
                          </m:r>
                          <m:sSub>
                            <m:sSubPr>
                              <m:ctrlPr>
                                <a:rPr lang="en-US" sz="2000" i="1">
                                  <a:latin typeface="Cambria Math" panose="02040503050406030204" pitchFamily="18" charset="0"/>
                                </a:rPr>
                              </m:ctrlPr>
                            </m:sSubPr>
                            <m:e>
                              <m:r>
                                <a:rPr lang="en-US" sz="2000" i="1">
                                  <a:latin typeface="Cambria Math" charset="0"/>
                                </a:rPr>
                                <m:t>𝑑</m:t>
                              </m:r>
                            </m:e>
                            <m:sub>
                              <m:r>
                                <a:rPr lang="en-US" sz="2000" b="0" i="1" smtClean="0">
                                  <a:latin typeface="Cambria Math" charset="0"/>
                                </a:rPr>
                                <m:t>2</m:t>
                              </m:r>
                            </m:sub>
                          </m:sSub>
                          <m:r>
                            <a:rPr lang="en-US" sz="2000" b="0" i="1" smtClean="0">
                              <a:latin typeface="Cambria Math" charset="0"/>
                            </a:rPr>
                            <m:t>+ …+</m:t>
                          </m:r>
                          <m:sSub>
                            <m:sSubPr>
                              <m:ctrlPr>
                                <a:rPr lang="en-US" sz="2000" i="1">
                                  <a:latin typeface="Cambria Math" panose="02040503050406030204" pitchFamily="18" charset="0"/>
                                </a:rPr>
                              </m:ctrlPr>
                            </m:sSubPr>
                            <m:e>
                              <m:r>
                                <a:rPr lang="en-US" sz="2000" i="1">
                                  <a:latin typeface="Cambria Math" charset="0"/>
                                </a:rPr>
                                <m:t>𝑑</m:t>
                              </m:r>
                            </m:e>
                            <m:sub>
                              <m:r>
                                <a:rPr lang="en-US" sz="2000" i="1">
                                  <a:latin typeface="Cambria Math" charset="0"/>
                                </a:rPr>
                                <m:t>1</m:t>
                              </m:r>
                              <m:r>
                                <a:rPr lang="en-US" sz="2000" b="0" i="1" smtClean="0">
                                  <a:latin typeface="Cambria Math" charset="0"/>
                                </a:rPr>
                                <m:t>0</m:t>
                              </m:r>
                            </m:sub>
                          </m:sSub>
                        </m:num>
                        <m:den>
                          <m:r>
                            <a:rPr lang="en-US" sz="2000" b="0" i="1" baseline="-25000" smtClean="0">
                              <a:latin typeface="Cambria Math" charset="0"/>
                            </a:rPr>
                            <m:t>10</m:t>
                          </m:r>
                        </m:den>
                      </m:f>
                    </m:oMath>
                  </m:oMathPara>
                </a14:m>
                <a:endParaRPr lang="en-US" sz="2000" dirty="0"/>
              </a:p>
            </p:txBody>
          </p:sp>
        </mc:Choice>
        <mc:Fallback xmlns="">
          <p:sp>
            <p:nvSpPr>
              <p:cNvPr id="8" name="TextBox 7"/>
              <p:cNvSpPr txBox="1">
                <a:spLocks noRot="1" noChangeAspect="1" noMove="1" noResize="1" noEditPoints="1" noAdjustHandles="1" noChangeArrowheads="1" noChangeShapeType="1" noTextEdit="1"/>
              </p:cNvSpPr>
              <p:nvPr/>
            </p:nvSpPr>
            <p:spPr>
              <a:xfrm>
                <a:off x="7485146" y="2506865"/>
                <a:ext cx="2926844" cy="676019"/>
              </a:xfrm>
              <a:prstGeom prst="rect">
                <a:avLst/>
              </a:prstGeom>
              <a:blipFill>
                <a:blip r:embed="rId2"/>
                <a:stretch>
                  <a:fillRect b="-90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7734963" y="3161319"/>
                <a:ext cx="3379502" cy="400110"/>
              </a:xfrm>
              <a:prstGeom prst="rect">
                <a:avLst/>
              </a:prstGeom>
              <a:noFill/>
            </p:spPr>
            <p:txBody>
              <a:bodyPr wrap="square" rtlCol="0">
                <a:spAutoFit/>
              </a:bodyPr>
              <a:lstStyle/>
              <a:p>
                <a14:m>
                  <m:oMath xmlns:m="http://schemas.openxmlformats.org/officeDocument/2006/math">
                    <m:r>
                      <a:rPr lang="en-US" sz="2000" b="0" i="1" smtClean="0">
                        <a:latin typeface="Cambria Math" panose="02040503050406030204" pitchFamily="18" charset="0"/>
                      </a:rPr>
                      <m:t>𝑠</m:t>
                    </m:r>
                    <m:r>
                      <a:rPr lang="en-US" sz="2000" b="0" i="1" baseline="-25000" smtClean="0">
                        <a:latin typeface="Cambria Math" panose="02040503050406030204" pitchFamily="18" charset="0"/>
                      </a:rPr>
                      <m:t>𝑑</m:t>
                    </m:r>
                  </m:oMath>
                </a14:m>
                <a:r>
                  <a:rPr lang="en-US" sz="2000" dirty="0"/>
                  <a:t> is the sample std. dev.</a:t>
                </a:r>
              </a:p>
            </p:txBody>
          </p:sp>
        </mc:Choice>
        <mc:Fallback xmlns="">
          <p:sp>
            <p:nvSpPr>
              <p:cNvPr id="9" name="TextBox 8"/>
              <p:cNvSpPr txBox="1">
                <a:spLocks noRot="1" noChangeAspect="1" noMove="1" noResize="1" noEditPoints="1" noAdjustHandles="1" noChangeArrowheads="1" noChangeShapeType="1" noTextEdit="1"/>
              </p:cNvSpPr>
              <p:nvPr/>
            </p:nvSpPr>
            <p:spPr>
              <a:xfrm>
                <a:off x="7734963" y="3161319"/>
                <a:ext cx="3379502" cy="400110"/>
              </a:xfrm>
              <a:prstGeom prst="rect">
                <a:avLst/>
              </a:prstGeom>
              <a:blipFill rotWithShape="0">
                <a:blip r:embed="rId3"/>
                <a:stretch>
                  <a:fillRect t="-9231" b="-27692"/>
                </a:stretch>
              </a:blipFill>
            </p:spPr>
            <p:txBody>
              <a:bodyPr/>
              <a:lstStyle/>
              <a:p>
                <a:r>
                  <a:rPr lang="en-US">
                    <a:noFill/>
                  </a:rPr>
                  <a:t> </a:t>
                </a:r>
              </a:p>
            </p:txBody>
          </p:sp>
        </mc:Fallback>
      </mc:AlternateContent>
      <p:sp>
        <p:nvSpPr>
          <p:cNvPr id="11" name="TextBox 10"/>
          <p:cNvSpPr txBox="1"/>
          <p:nvPr/>
        </p:nvSpPr>
        <p:spPr>
          <a:xfrm>
            <a:off x="5241002" y="1972702"/>
            <a:ext cx="1226372" cy="369332"/>
          </a:xfrm>
          <a:prstGeom prst="rect">
            <a:avLst/>
          </a:prstGeom>
          <a:noFill/>
        </p:spPr>
        <p:txBody>
          <a:bodyPr wrap="square" rtlCol="0">
            <a:spAutoFit/>
          </a:bodyPr>
          <a:lstStyle/>
          <a:p>
            <a:r>
              <a:rPr lang="en-US" dirty="0"/>
              <a:t>(d</a:t>
            </a:r>
            <a:r>
              <a:rPr lang="en-US" baseline="-25000" dirty="0"/>
              <a:t>i</a:t>
            </a:r>
            <a:r>
              <a:rPr lang="en-US" dirty="0"/>
              <a:t>)</a:t>
            </a:r>
            <a:endParaRPr lang="en-US" baseline="-25000" dirty="0"/>
          </a:p>
        </p:txBody>
      </p:sp>
      <mc:AlternateContent xmlns:mc="http://schemas.openxmlformats.org/markup-compatibility/2006" xmlns:a14="http://schemas.microsoft.com/office/drawing/2010/main">
        <mc:Choice Requires="a14">
          <p:sp>
            <p:nvSpPr>
              <p:cNvPr id="12" name="TextBox 11"/>
              <p:cNvSpPr txBox="1"/>
              <p:nvPr/>
            </p:nvSpPr>
            <p:spPr>
              <a:xfrm>
                <a:off x="7734963" y="3807184"/>
                <a:ext cx="1621149" cy="6185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charset="0"/>
                        </a:rPr>
                        <m:t>𝑆𝐸</m:t>
                      </m:r>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charset="0"/>
                                </a:rPr>
                                <m:t>𝑑</m:t>
                              </m:r>
                            </m:e>
                          </m:acc>
                        </m:e>
                      </m:d>
                      <m:r>
                        <a:rPr lang="en-US" b="0" i="1" smtClean="0">
                          <a:latin typeface="Cambria Math" charset="0"/>
                        </a:rPr>
                        <m:t>= </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charset="0"/>
                                </a:rPr>
                                <m:t>𝑠</m:t>
                              </m:r>
                            </m:e>
                            <m:sub>
                              <m:r>
                                <a:rPr lang="en-US" b="0" i="1" smtClean="0">
                                  <a:latin typeface="Cambria Math" charset="0"/>
                                </a:rPr>
                                <m:t>𝑑</m:t>
                              </m:r>
                            </m:sub>
                          </m:sSub>
                        </m:num>
                        <m:den>
                          <m:rad>
                            <m:radPr>
                              <m:degHide m:val="on"/>
                              <m:ctrlPr>
                                <a:rPr lang="en-US" b="0" i="1" smtClean="0">
                                  <a:latin typeface="Cambria Math" panose="02040503050406030204" pitchFamily="18" charset="0"/>
                                </a:rPr>
                              </m:ctrlPr>
                            </m:radPr>
                            <m:deg/>
                            <m:e>
                              <m:r>
                                <a:rPr lang="en-US" b="0" i="1" smtClean="0">
                                  <a:latin typeface="Cambria Math" charset="0"/>
                                </a:rPr>
                                <m:t>10</m:t>
                              </m:r>
                            </m:e>
                          </m:rad>
                        </m:den>
                      </m:f>
                    </m:oMath>
                  </m:oMathPara>
                </a14:m>
                <a:endParaRPr lang="en-US" dirty="0"/>
              </a:p>
            </p:txBody>
          </p:sp>
        </mc:Choice>
        <mc:Fallback xmlns="">
          <p:sp>
            <p:nvSpPr>
              <p:cNvPr id="12" name="TextBox 11"/>
              <p:cNvSpPr txBox="1">
                <a:spLocks noRot="1" noChangeAspect="1" noMove="1" noResize="1" noEditPoints="1" noAdjustHandles="1" noChangeArrowheads="1" noChangeShapeType="1" noTextEdit="1"/>
              </p:cNvSpPr>
              <p:nvPr/>
            </p:nvSpPr>
            <p:spPr>
              <a:xfrm>
                <a:off x="7734963" y="3807184"/>
                <a:ext cx="1621149" cy="618503"/>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8270562" y="4668942"/>
                <a:ext cx="2280240" cy="7486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charset="0"/>
                        </a:rPr>
                        <m:t>𝑇</m:t>
                      </m:r>
                      <m:r>
                        <a:rPr lang="en-US" b="0" i="1" smtClean="0">
                          <a:latin typeface="Cambria Math" charset="0"/>
                        </a:rPr>
                        <m:t>= </m:t>
                      </m:r>
                      <m:f>
                        <m:fPr>
                          <m:ctrlPr>
                            <a:rPr lang="en-US" b="0" i="1" smtClean="0">
                              <a:latin typeface="Cambria Math" panose="02040503050406030204" pitchFamily="18" charset="0"/>
                            </a:rPr>
                          </m:ctrlPr>
                        </m:fPr>
                        <m:num>
                          <m:acc>
                            <m:accPr>
                              <m:chr m:val="̅"/>
                              <m:ctrlPr>
                                <a:rPr lang="en-US" i="1">
                                  <a:latin typeface="Cambria Math" panose="02040503050406030204" pitchFamily="18" charset="0"/>
                                </a:rPr>
                              </m:ctrlPr>
                            </m:accPr>
                            <m:e>
                              <m:r>
                                <a:rPr lang="en-US" i="1">
                                  <a:latin typeface="Cambria Math" charset="0"/>
                                </a:rPr>
                                <m:t>𝑑</m:t>
                              </m:r>
                            </m:e>
                          </m:acc>
                          <m:r>
                            <a:rPr lang="en-US" b="0" i="1" smtClean="0">
                              <a:latin typeface="Cambria Math" panose="02040503050406030204" pitchFamily="18" charset="0"/>
                            </a:rPr>
                            <m:t>−0</m:t>
                          </m:r>
                        </m:num>
                        <m:den>
                          <m:r>
                            <a:rPr lang="en-US" i="1">
                              <a:latin typeface="Cambria Math" charset="0"/>
                            </a:rPr>
                            <m:t>𝑆𝐸</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charset="0"/>
                                    </a:rPr>
                                    <m:t>𝑑</m:t>
                                  </m:r>
                                </m:e>
                              </m:acc>
                            </m:e>
                          </m:d>
                        </m:den>
                      </m:f>
                      <m:r>
                        <a:rPr lang="en-US" b="0" i="1" smtClean="0">
                          <a:latin typeface="Cambria Math" panose="02040503050406030204" pitchFamily="18" charset="0"/>
                        </a:rPr>
                        <m:t>=</m:t>
                      </m:r>
                      <m:f>
                        <m:fPr>
                          <m:ctrlPr>
                            <a:rPr lang="en-US" i="1">
                              <a:latin typeface="Cambria Math" panose="02040503050406030204" pitchFamily="18" charset="0"/>
                            </a:rPr>
                          </m:ctrlPr>
                        </m:fPr>
                        <m:num>
                          <m:acc>
                            <m:accPr>
                              <m:chr m:val="̅"/>
                              <m:ctrlPr>
                                <a:rPr lang="en-US" i="1">
                                  <a:latin typeface="Cambria Math" panose="02040503050406030204" pitchFamily="18" charset="0"/>
                                </a:rPr>
                              </m:ctrlPr>
                            </m:accPr>
                            <m:e>
                              <m:r>
                                <a:rPr lang="en-US" i="1">
                                  <a:latin typeface="Cambria Math" charset="0"/>
                                </a:rPr>
                                <m:t>𝑑</m:t>
                              </m:r>
                            </m:e>
                          </m:acc>
                        </m:num>
                        <m:den>
                          <m:r>
                            <a:rPr lang="en-US" i="1">
                              <a:latin typeface="Cambria Math" charset="0"/>
                            </a:rPr>
                            <m:t>𝑆𝐸</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charset="0"/>
                                    </a:rPr>
                                    <m:t>𝑑</m:t>
                                  </m:r>
                                </m:e>
                              </m:acc>
                            </m:e>
                          </m:d>
                        </m:den>
                      </m:f>
                    </m:oMath>
                  </m:oMathPara>
                </a14:m>
                <a:endParaRPr lang="en-US" dirty="0"/>
              </a:p>
            </p:txBody>
          </p:sp>
        </mc:Choice>
        <mc:Fallback xmlns="">
          <p:sp>
            <p:nvSpPr>
              <p:cNvPr id="13" name="TextBox 12"/>
              <p:cNvSpPr txBox="1">
                <a:spLocks noRot="1" noChangeAspect="1" noMove="1" noResize="1" noEditPoints="1" noAdjustHandles="1" noChangeArrowheads="1" noChangeShapeType="1" noTextEdit="1"/>
              </p:cNvSpPr>
              <p:nvPr/>
            </p:nvSpPr>
            <p:spPr>
              <a:xfrm>
                <a:off x="8270562" y="4668942"/>
                <a:ext cx="2280240" cy="748603"/>
              </a:xfrm>
              <a:prstGeom prst="rect">
                <a:avLst/>
              </a:prstGeom>
              <a:blipFill>
                <a:blip r:embed="rId5"/>
                <a:stretch>
                  <a:fillRect/>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E98A8C4C-B192-4E7A-B988-BB0230187261}"/>
              </a:ext>
            </a:extLst>
          </p:cNvPr>
          <p:cNvSpPr txBox="1"/>
          <p:nvPr/>
        </p:nvSpPr>
        <p:spPr>
          <a:xfrm>
            <a:off x="8283685" y="1834315"/>
            <a:ext cx="3668233" cy="646331"/>
          </a:xfrm>
          <a:prstGeom prst="rect">
            <a:avLst/>
          </a:prstGeom>
          <a:noFill/>
        </p:spPr>
        <p:txBody>
          <a:bodyPr wrap="square" rtlCol="0">
            <a:spAutoFit/>
          </a:bodyPr>
          <a:lstStyle/>
          <a:p>
            <a:r>
              <a:rPr lang="en-US" dirty="0"/>
              <a:t>H</a:t>
            </a:r>
            <a:r>
              <a:rPr lang="en-US" baseline="-25000" dirty="0"/>
              <a:t>0</a:t>
            </a:r>
            <a:r>
              <a:rPr lang="en-US" dirty="0"/>
              <a:t>: d = 0</a:t>
            </a:r>
          </a:p>
          <a:p>
            <a:r>
              <a:rPr lang="en-US" dirty="0"/>
              <a:t>H</a:t>
            </a:r>
            <a:r>
              <a:rPr lang="en-US" baseline="-25000" dirty="0"/>
              <a:t>a</a:t>
            </a:r>
            <a:r>
              <a:rPr lang="en-US" dirty="0"/>
              <a:t>: d &lt; 0</a:t>
            </a:r>
          </a:p>
        </p:txBody>
      </p:sp>
    </p:spTree>
    <p:extLst>
      <p:ext uri="{BB962C8B-B14F-4D97-AF65-F5344CB8AC3E}">
        <p14:creationId xmlns:p14="http://schemas.microsoft.com/office/powerpoint/2010/main" val="38281981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SAS Code Comparison</a:t>
            </a:r>
          </a:p>
        </p:txBody>
      </p:sp>
      <p:sp>
        <p:nvSpPr>
          <p:cNvPr id="4" name="Slide Number Placeholder 3"/>
          <p:cNvSpPr>
            <a:spLocks noGrp="1"/>
          </p:cNvSpPr>
          <p:nvPr>
            <p:ph type="sldNum" sz="quarter" idx="12"/>
          </p:nvPr>
        </p:nvSpPr>
        <p:spPr>
          <a:xfrm>
            <a:off x="9900460" y="6459787"/>
            <a:ext cx="1312025"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F6EB086-0FB5-404F-9DB0-02BE9E698E00}" type="slidenum">
              <a:rPr lang="en-US" smtClean="0"/>
              <a:pPr/>
              <a:t>40</a:t>
            </a:fld>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7243" y="1839086"/>
            <a:ext cx="6960870" cy="2899806"/>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99087" y="1849719"/>
            <a:ext cx="6765648" cy="2899806"/>
          </a:xfrm>
          <a:prstGeom prst="rect">
            <a:avLst/>
          </a:prstGeom>
        </p:spPr>
      </p:pic>
      <p:sp>
        <p:nvSpPr>
          <p:cNvPr id="7" name="TextBox 6"/>
          <p:cNvSpPr txBox="1"/>
          <p:nvPr/>
        </p:nvSpPr>
        <p:spPr>
          <a:xfrm>
            <a:off x="1519670" y="5138305"/>
            <a:ext cx="3305585" cy="369332"/>
          </a:xfrm>
          <a:prstGeom prst="rect">
            <a:avLst/>
          </a:prstGeom>
          <a:noFill/>
        </p:spPr>
        <p:txBody>
          <a:bodyPr wrap="none" rtlCol="0">
            <a:spAutoFit/>
          </a:bodyPr>
          <a:lstStyle/>
          <a:p>
            <a:r>
              <a:rPr lang="en-US" dirty="0">
                <a:solidFill>
                  <a:srgbClr val="FF0000"/>
                </a:solidFill>
              </a:rPr>
              <a:t>Two (independent) sample T-Test</a:t>
            </a:r>
          </a:p>
        </p:txBody>
      </p:sp>
      <p:sp>
        <p:nvSpPr>
          <p:cNvPr id="8" name="TextBox 7"/>
          <p:cNvSpPr txBox="1"/>
          <p:nvPr/>
        </p:nvSpPr>
        <p:spPr>
          <a:xfrm>
            <a:off x="8107848" y="5114925"/>
            <a:ext cx="1365887" cy="369332"/>
          </a:xfrm>
          <a:prstGeom prst="rect">
            <a:avLst/>
          </a:prstGeom>
          <a:noFill/>
        </p:spPr>
        <p:txBody>
          <a:bodyPr wrap="none" rtlCol="0">
            <a:spAutoFit/>
          </a:bodyPr>
          <a:lstStyle/>
          <a:p>
            <a:r>
              <a:rPr lang="en-US" dirty="0">
                <a:solidFill>
                  <a:srgbClr val="FF0000"/>
                </a:solidFill>
              </a:rPr>
              <a:t>Paired T-test</a:t>
            </a:r>
          </a:p>
        </p:txBody>
      </p:sp>
      <p:sp>
        <p:nvSpPr>
          <p:cNvPr id="9" name="Multiplication Sign 8">
            <a:extLst>
              <a:ext uri="{FF2B5EF4-FFF2-40B4-BE49-F238E27FC236}">
                <a16:creationId xmlns:a16="http://schemas.microsoft.com/office/drawing/2014/main" id="{6B9BD505-8A41-4CCE-B950-D9DAA63B998B}"/>
              </a:ext>
            </a:extLst>
          </p:cNvPr>
          <p:cNvSpPr/>
          <p:nvPr/>
        </p:nvSpPr>
        <p:spPr>
          <a:xfrm>
            <a:off x="-1168046" y="869641"/>
            <a:ext cx="8064933" cy="6070416"/>
          </a:xfrm>
          <a:prstGeom prst="mathMultiply">
            <a:avLst/>
          </a:prstGeom>
          <a:solidFill>
            <a:srgbClr val="FF0000">
              <a:alpha val="1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AD7C4AAC-9F8F-4E68-90F5-761F7B20EA0B}"/>
              </a:ext>
            </a:extLst>
          </p:cNvPr>
          <p:cNvSpPr txBox="1"/>
          <p:nvPr/>
        </p:nvSpPr>
        <p:spPr>
          <a:xfrm>
            <a:off x="5170341" y="5507637"/>
            <a:ext cx="7223140" cy="369332"/>
          </a:xfrm>
          <a:prstGeom prst="rect">
            <a:avLst/>
          </a:prstGeom>
          <a:noFill/>
        </p:spPr>
        <p:txBody>
          <a:bodyPr wrap="square" rtlCol="0">
            <a:spAutoFit/>
          </a:bodyPr>
          <a:lstStyle/>
          <a:p>
            <a:r>
              <a:rPr lang="en-US" dirty="0"/>
              <a:t>R: </a:t>
            </a:r>
            <a:r>
              <a:rPr lang="en-US" dirty="0" err="1"/>
              <a:t>t.test</a:t>
            </a:r>
            <a:r>
              <a:rPr lang="en-US" dirty="0"/>
              <a:t>(</a:t>
            </a:r>
            <a:r>
              <a:rPr lang="en-US" dirty="0" err="1"/>
              <a:t>fatigue$Fatigued</a:t>
            </a:r>
            <a:r>
              <a:rPr lang="en-US" dirty="0"/>
              <a:t>, </a:t>
            </a:r>
            <a:r>
              <a:rPr lang="en-US" dirty="0" err="1"/>
              <a:t>fatigue$Not_Fatigued</a:t>
            </a:r>
            <a:r>
              <a:rPr lang="en-US" dirty="0"/>
              <a:t>, paired =TRUE)</a:t>
            </a:r>
          </a:p>
        </p:txBody>
      </p:sp>
    </p:spTree>
    <p:extLst>
      <p:ext uri="{BB962C8B-B14F-4D97-AF65-F5344CB8AC3E}">
        <p14:creationId xmlns:p14="http://schemas.microsoft.com/office/powerpoint/2010/main" val="2984891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8E5CB8CB-0B4E-D7F9-BB79-318FFCE436A6}"/>
              </a:ext>
            </a:extLst>
          </p:cNvPr>
          <p:cNvPicPr>
            <a:picLocks noChangeAspect="1"/>
          </p:cNvPicPr>
          <p:nvPr/>
        </p:nvPicPr>
        <p:blipFill>
          <a:blip r:embed="rId3"/>
          <a:stretch>
            <a:fillRect/>
          </a:stretch>
        </p:blipFill>
        <p:spPr>
          <a:xfrm>
            <a:off x="6400800" y="2656114"/>
            <a:ext cx="5211585" cy="3244298"/>
          </a:xfrm>
          <a:prstGeom prst="rect">
            <a:avLst/>
          </a:prstGeom>
        </p:spPr>
      </p:pic>
      <p:sp>
        <p:nvSpPr>
          <p:cNvPr id="2" name="Title 1"/>
          <p:cNvSpPr>
            <a:spLocks noGrp="1"/>
          </p:cNvSpPr>
          <p:nvPr>
            <p:ph type="title"/>
          </p:nvPr>
        </p:nvSpPr>
        <p:spPr/>
        <p:txBody>
          <a:bodyPr/>
          <a:lstStyle/>
          <a:p>
            <a:r>
              <a:rPr lang="en-US" dirty="0"/>
              <a:t>A SAS Code Comparison</a:t>
            </a:r>
          </a:p>
        </p:txBody>
      </p:sp>
      <p:sp>
        <p:nvSpPr>
          <p:cNvPr id="4" name="Slide Number Placeholder 3"/>
          <p:cNvSpPr>
            <a:spLocks noGrp="1"/>
          </p:cNvSpPr>
          <p:nvPr>
            <p:ph type="sldNum" sz="quarter" idx="12"/>
          </p:nvPr>
        </p:nvSpPr>
        <p:spPr>
          <a:xfrm>
            <a:off x="9900460" y="6459787"/>
            <a:ext cx="1312025"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F6EB086-0FB5-404F-9DB0-02BE9E698E00}" type="slidenum">
              <a:rPr lang="en-US" smtClean="0"/>
              <a:pPr/>
              <a:t>41</a:t>
            </a:fld>
            <a:endParaRPr lang="en-US" dirty="0"/>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4725" y="1860825"/>
            <a:ext cx="5127707" cy="4475498"/>
          </a:xfrm>
          <a:prstGeom prst="rect">
            <a:avLst/>
          </a:prstGeom>
        </p:spPr>
      </p:pic>
      <p:sp>
        <p:nvSpPr>
          <p:cNvPr id="7" name="TextBox 6"/>
          <p:cNvSpPr txBox="1"/>
          <p:nvPr/>
        </p:nvSpPr>
        <p:spPr>
          <a:xfrm>
            <a:off x="1125785" y="6336323"/>
            <a:ext cx="3305585" cy="369332"/>
          </a:xfrm>
          <a:prstGeom prst="rect">
            <a:avLst/>
          </a:prstGeom>
          <a:noFill/>
        </p:spPr>
        <p:txBody>
          <a:bodyPr wrap="none" rtlCol="0">
            <a:spAutoFit/>
          </a:bodyPr>
          <a:lstStyle/>
          <a:p>
            <a:r>
              <a:rPr lang="en-US" dirty="0">
                <a:solidFill>
                  <a:srgbClr val="FF0000"/>
                </a:solidFill>
              </a:rPr>
              <a:t>Two (independent) sample T-Test</a:t>
            </a:r>
          </a:p>
        </p:txBody>
      </p:sp>
      <p:sp>
        <p:nvSpPr>
          <p:cNvPr id="8" name="TextBox 7"/>
          <p:cNvSpPr txBox="1"/>
          <p:nvPr/>
        </p:nvSpPr>
        <p:spPr>
          <a:xfrm>
            <a:off x="8342507" y="5912212"/>
            <a:ext cx="1365887" cy="369332"/>
          </a:xfrm>
          <a:prstGeom prst="rect">
            <a:avLst/>
          </a:prstGeom>
          <a:noFill/>
        </p:spPr>
        <p:txBody>
          <a:bodyPr wrap="none" rtlCol="0">
            <a:spAutoFit/>
          </a:bodyPr>
          <a:lstStyle/>
          <a:p>
            <a:r>
              <a:rPr lang="en-US" dirty="0">
                <a:solidFill>
                  <a:srgbClr val="FF0000"/>
                </a:solidFill>
              </a:rPr>
              <a:t>Paired T-test</a:t>
            </a:r>
          </a:p>
        </p:txBody>
      </p:sp>
      <p:sp>
        <p:nvSpPr>
          <p:cNvPr id="9" name="Rectangle 8">
            <a:extLst>
              <a:ext uri="{FF2B5EF4-FFF2-40B4-BE49-F238E27FC236}">
                <a16:creationId xmlns:a16="http://schemas.microsoft.com/office/drawing/2014/main" id="{4B195B18-C01A-412D-B1AA-0D9AA4E0E65F}"/>
              </a:ext>
            </a:extLst>
          </p:cNvPr>
          <p:cNvSpPr/>
          <p:nvPr/>
        </p:nvSpPr>
        <p:spPr>
          <a:xfrm>
            <a:off x="7532914" y="4464365"/>
            <a:ext cx="1415143" cy="29269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2006434-C45A-4FA0-B35D-E249F2AB2E7F}"/>
              </a:ext>
            </a:extLst>
          </p:cNvPr>
          <p:cNvSpPr/>
          <p:nvPr/>
        </p:nvSpPr>
        <p:spPr>
          <a:xfrm>
            <a:off x="1896140" y="4019107"/>
            <a:ext cx="1561324" cy="22328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850C05C6-A230-402B-9ED8-940D66B7D287}"/>
              </a:ext>
            </a:extLst>
          </p:cNvPr>
          <p:cNvSpPr/>
          <p:nvPr/>
        </p:nvSpPr>
        <p:spPr>
          <a:xfrm>
            <a:off x="3320383" y="4883452"/>
            <a:ext cx="1006963" cy="240636"/>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0302C79A-6628-4D0B-8362-A550E148A52B}"/>
              </a:ext>
            </a:extLst>
          </p:cNvPr>
          <p:cNvSpPr/>
          <p:nvPr/>
        </p:nvSpPr>
        <p:spPr>
          <a:xfrm>
            <a:off x="8046932" y="5138188"/>
            <a:ext cx="1957039" cy="634885"/>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BBF234A2-155E-4C42-BA75-4B49EB8F4AEC}"/>
              </a:ext>
            </a:extLst>
          </p:cNvPr>
          <p:cNvSpPr txBox="1"/>
          <p:nvPr/>
        </p:nvSpPr>
        <p:spPr>
          <a:xfrm>
            <a:off x="5562600" y="1352436"/>
            <a:ext cx="6407337" cy="1200329"/>
          </a:xfrm>
          <a:prstGeom prst="rect">
            <a:avLst/>
          </a:prstGeom>
          <a:noFill/>
        </p:spPr>
        <p:txBody>
          <a:bodyPr wrap="square" rtlCol="0">
            <a:spAutoFit/>
          </a:bodyPr>
          <a:lstStyle/>
          <a:p>
            <a:r>
              <a:rPr lang="en-US" dirty="0"/>
              <a:t>Using paired data (when appropriate) instead of unpaired data allows us to tighten the confidence interval for the difference in means (yeah!) AND increase the power (the likelihood that our data properly detects a shift in score).</a:t>
            </a:r>
          </a:p>
        </p:txBody>
      </p:sp>
      <p:sp>
        <p:nvSpPr>
          <p:cNvPr id="6" name="Multiplication Sign 5">
            <a:extLst>
              <a:ext uri="{FF2B5EF4-FFF2-40B4-BE49-F238E27FC236}">
                <a16:creationId xmlns:a16="http://schemas.microsoft.com/office/drawing/2014/main" id="{A444D6C5-31A6-4EBC-8D2B-DC16CCAF6F42}"/>
              </a:ext>
            </a:extLst>
          </p:cNvPr>
          <p:cNvSpPr/>
          <p:nvPr/>
        </p:nvSpPr>
        <p:spPr>
          <a:xfrm>
            <a:off x="-1105983" y="771884"/>
            <a:ext cx="8064933" cy="6070416"/>
          </a:xfrm>
          <a:prstGeom prst="mathMultiply">
            <a:avLst/>
          </a:prstGeom>
          <a:solidFill>
            <a:srgbClr val="FF0000">
              <a:alpha val="1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5253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Checking the Assumptions</a:t>
            </a: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37548" y="1804935"/>
            <a:ext cx="4359634" cy="3254375"/>
          </a:xfrm>
        </p:spPr>
      </p:pic>
      <p:sp>
        <p:nvSpPr>
          <p:cNvPr id="4" name="Slide Number Placeholder 3"/>
          <p:cNvSpPr>
            <a:spLocks noGrp="1"/>
          </p:cNvSpPr>
          <p:nvPr>
            <p:ph type="sldNum" sz="quarter" idx="12"/>
          </p:nvPr>
        </p:nvSpPr>
        <p:spPr>
          <a:xfrm>
            <a:off x="9900460" y="6459787"/>
            <a:ext cx="1312025"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F6EB086-0FB5-404F-9DB0-02BE9E698E00}" type="slidenum">
              <a:rPr lang="en-US" smtClean="0"/>
              <a:pPr/>
              <a:t>42</a:t>
            </a:fld>
            <a:endParaRPr lang="en-US"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57951" y="1846263"/>
            <a:ext cx="5529262" cy="4125415"/>
          </a:xfrm>
          <a:prstGeom prst="rect">
            <a:avLst/>
          </a:prstGeom>
        </p:spPr>
      </p:pic>
      <p:sp>
        <p:nvSpPr>
          <p:cNvPr id="7" name="TextBox 6"/>
          <p:cNvSpPr txBox="1"/>
          <p:nvPr/>
        </p:nvSpPr>
        <p:spPr>
          <a:xfrm>
            <a:off x="397790" y="5136879"/>
            <a:ext cx="5325605" cy="1477328"/>
          </a:xfrm>
          <a:prstGeom prst="rect">
            <a:avLst/>
          </a:prstGeom>
          <a:noFill/>
        </p:spPr>
        <p:txBody>
          <a:bodyPr wrap="square" rtlCol="0">
            <a:spAutoFit/>
          </a:bodyPr>
          <a:lstStyle/>
          <a:p>
            <a:r>
              <a:rPr lang="en-US" dirty="0"/>
              <a:t>There is little to no evidence that the differences do not come from a normal distribution.  </a:t>
            </a:r>
          </a:p>
          <a:p>
            <a:r>
              <a:rPr lang="en-US" dirty="0"/>
              <a:t>We will assume that the differences are independent.  Is this a reasonable assumption?  </a:t>
            </a:r>
          </a:p>
          <a:p>
            <a:endParaRPr lang="en-US" dirty="0"/>
          </a:p>
        </p:txBody>
      </p:sp>
    </p:spTree>
    <p:extLst>
      <p:ext uri="{BB962C8B-B14F-4D97-AF65-F5344CB8AC3E}">
        <p14:creationId xmlns:p14="http://schemas.microsoft.com/office/powerpoint/2010/main" val="33539469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Additional Information</a:t>
            </a:r>
          </a:p>
        </p:txBody>
      </p:sp>
      <p:sp>
        <p:nvSpPr>
          <p:cNvPr id="4" name="Slide Number Placeholder 3"/>
          <p:cNvSpPr>
            <a:spLocks noGrp="1"/>
          </p:cNvSpPr>
          <p:nvPr>
            <p:ph type="sldNum" sz="quarter" idx="12"/>
          </p:nvPr>
        </p:nvSpPr>
        <p:spPr>
          <a:xfrm>
            <a:off x="9900460" y="6459787"/>
            <a:ext cx="1312025"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F6EB086-0FB5-404F-9DB0-02BE9E698E00}" type="slidenum">
              <a:rPr lang="en-US" smtClean="0"/>
              <a:pPr/>
              <a:t>43</a:t>
            </a:fld>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12579" y="1885950"/>
            <a:ext cx="5876170" cy="4418587"/>
          </a:xfrm>
          <a:prstGeom prst="rect">
            <a:avLst/>
          </a:prstGeom>
        </p:spPr>
      </p:pic>
      <p:sp>
        <p:nvSpPr>
          <p:cNvPr id="6" name="TextBox 5"/>
          <p:cNvSpPr txBox="1"/>
          <p:nvPr/>
        </p:nvSpPr>
        <p:spPr>
          <a:xfrm>
            <a:off x="681924" y="3097966"/>
            <a:ext cx="4602997" cy="1477328"/>
          </a:xfrm>
          <a:prstGeom prst="rect">
            <a:avLst/>
          </a:prstGeom>
          <a:noFill/>
        </p:spPr>
        <p:txBody>
          <a:bodyPr wrap="square" rtlCol="0">
            <a:spAutoFit/>
          </a:bodyPr>
          <a:lstStyle/>
          <a:p>
            <a:pPr marL="285750" indent="-285750">
              <a:buFont typeface="Arial" charset="0"/>
              <a:buChar char="•"/>
            </a:pPr>
            <a:r>
              <a:rPr lang="en-US" dirty="0"/>
              <a:t>We can look at a </a:t>
            </a:r>
            <a:r>
              <a:rPr lang="en-US" b="1" u="sng" cap="small" dirty="0">
                <a:solidFill>
                  <a:srgbClr val="FF0000"/>
                </a:solidFill>
              </a:rPr>
              <a:t>profile plot</a:t>
            </a:r>
          </a:p>
          <a:p>
            <a:pPr marL="285750" indent="-285750">
              <a:buFont typeface="Arial" charset="0"/>
              <a:buChar char="•"/>
            </a:pPr>
            <a:r>
              <a:rPr lang="en-US" dirty="0"/>
              <a:t>The lines connect the scores on the MRT in the “fatigued” versus “not fatigued” states</a:t>
            </a:r>
          </a:p>
          <a:p>
            <a:pPr marL="285750" indent="-285750">
              <a:buFont typeface="Arial" charset="0"/>
              <a:buChar char="•"/>
            </a:pPr>
            <a:r>
              <a:rPr lang="en-US" dirty="0"/>
              <a:t>This plot is standard for SAS proc ttest with paired data.</a:t>
            </a:r>
          </a:p>
        </p:txBody>
      </p:sp>
    </p:spTree>
    <p:extLst>
      <p:ext uri="{BB962C8B-B14F-4D97-AF65-F5344CB8AC3E}">
        <p14:creationId xmlns:p14="http://schemas.microsoft.com/office/powerpoint/2010/main" val="37799167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 (alpha = 0.05)</a:t>
            </a:r>
          </a:p>
        </p:txBody>
      </p:sp>
      <p:sp>
        <p:nvSpPr>
          <p:cNvPr id="3" name="Content Placeholder 2"/>
          <p:cNvSpPr>
            <a:spLocks noGrp="1"/>
          </p:cNvSpPr>
          <p:nvPr>
            <p:ph idx="1"/>
          </p:nvPr>
        </p:nvSpPr>
        <p:spPr>
          <a:xfrm>
            <a:off x="1064988" y="2661228"/>
            <a:ext cx="4932179" cy="2139372"/>
          </a:xfrm>
        </p:spPr>
        <p:txBody>
          <a:bodyPr>
            <a:normAutofit fontScale="70000" lnSpcReduction="20000"/>
          </a:bodyPr>
          <a:lstStyle/>
          <a:p>
            <a:endParaRPr lang="en-US" b="1" dirty="0"/>
          </a:p>
          <a:p>
            <a:endParaRPr lang="en-US" b="1" dirty="0"/>
          </a:p>
          <a:p>
            <a:endParaRPr lang="en-US" b="1" dirty="0"/>
          </a:p>
          <a:p>
            <a:endParaRPr lang="en-US" b="1" dirty="0"/>
          </a:p>
          <a:p>
            <a:endParaRPr lang="en-US" dirty="0"/>
          </a:p>
          <a:p>
            <a:r>
              <a:rPr lang="en-US" dirty="0"/>
              <a:t>Reject H</a:t>
            </a:r>
            <a:r>
              <a:rPr lang="en-US" baseline="-25000" dirty="0"/>
              <a:t>0</a:t>
            </a:r>
          </a:p>
        </p:txBody>
      </p:sp>
      <p:sp>
        <p:nvSpPr>
          <p:cNvPr id="4" name="Slide Number Placeholder 3"/>
          <p:cNvSpPr>
            <a:spLocks noGrp="1"/>
          </p:cNvSpPr>
          <p:nvPr>
            <p:ph type="sldNum" sz="quarter" idx="12"/>
          </p:nvPr>
        </p:nvSpPr>
        <p:spPr>
          <a:xfrm>
            <a:off x="9900460" y="7145244"/>
            <a:ext cx="1312025"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F6EB086-0FB5-404F-9DB0-02BE9E698E00}" type="slidenum">
              <a:rPr lang="en-US" smtClean="0"/>
              <a:pPr/>
              <a:t>44</a:t>
            </a:fld>
            <a:endParaRPr lang="en-US" dirty="0"/>
          </a:p>
        </p:txBody>
      </p:sp>
      <mc:AlternateContent xmlns:mc="http://schemas.openxmlformats.org/markup-compatibility/2006" xmlns:a14="http://schemas.microsoft.com/office/drawing/2010/main">
        <mc:Choice Requires="a14">
          <p:sp>
            <p:nvSpPr>
              <p:cNvPr id="5" name="TextBox 4"/>
              <p:cNvSpPr txBox="1"/>
              <p:nvPr/>
            </p:nvSpPr>
            <p:spPr>
              <a:xfrm>
                <a:off x="685800" y="2661228"/>
                <a:ext cx="4056288" cy="75777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𝐻</m:t>
                          </m:r>
                        </m:e>
                        <m:sub>
                          <m:r>
                            <a:rPr lang="en-US" sz="2000" b="0" i="1" smtClean="0">
                              <a:latin typeface="Cambria Math" panose="02040503050406030204" pitchFamily="18" charset="0"/>
                            </a:rPr>
                            <m:t>0</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𝜇</m:t>
                          </m:r>
                        </m:e>
                        <m:sub>
                          <m:r>
                            <a:rPr lang="en-US" sz="2000" b="0" i="1" smtClean="0">
                              <a:latin typeface="Cambria Math" charset="0"/>
                            </a:rPr>
                            <m:t>𝑓𝑎𝑡𝑖𝑔𝑢𝑒𝑑</m:t>
                          </m:r>
                          <m:r>
                            <a:rPr lang="en-US" sz="2000" b="0" i="1" smtClean="0">
                              <a:latin typeface="Cambria Math" charset="0"/>
                            </a:rPr>
                            <m:t>−</m:t>
                          </m:r>
                          <m:r>
                            <a:rPr lang="en-US" sz="2000" i="1">
                              <a:latin typeface="Cambria Math" panose="02040503050406030204" pitchFamily="18" charset="0"/>
                            </a:rPr>
                            <m:t>𝑛</m:t>
                          </m:r>
                          <m:r>
                            <a:rPr lang="en-US" sz="2000" i="1">
                              <a:latin typeface="Cambria Math" charset="0"/>
                            </a:rPr>
                            <m:t>𝑜𝑡</m:t>
                          </m:r>
                          <m:r>
                            <a:rPr lang="en-US" sz="2000" i="1">
                              <a:latin typeface="Cambria Math" charset="0"/>
                            </a:rPr>
                            <m:t> </m:t>
                          </m:r>
                          <m:r>
                            <a:rPr lang="en-US" sz="2000" i="1">
                              <a:latin typeface="Cambria Math" charset="0"/>
                            </a:rPr>
                            <m:t>𝑓𝑎𝑡𝑖𝑔𝑢𝑒𝑑</m:t>
                          </m:r>
                        </m:sub>
                      </m:sSub>
                      <m:r>
                        <a:rPr lang="en-US" sz="2000" b="0" i="1" smtClean="0">
                          <a:latin typeface="Cambria Math" charset="0"/>
                        </a:rPr>
                        <m:t> </m:t>
                      </m:r>
                      <m:r>
                        <a:rPr lang="en-US" sz="2000" b="0" i="1" smtClean="0">
                          <a:latin typeface="Cambria Math" panose="02040503050406030204" pitchFamily="18" charset="0"/>
                        </a:rPr>
                        <m:t>=0</m:t>
                      </m:r>
                    </m:oMath>
                  </m:oMathPara>
                </a14:m>
                <a:endParaRPr lang="en-US" sz="2000" b="0" dirty="0"/>
              </a:p>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𝐻</m:t>
                          </m:r>
                        </m:e>
                        <m:sub>
                          <m:r>
                            <a:rPr lang="en-US" sz="2000" b="0" i="1" smtClean="0">
                              <a:latin typeface="Cambria Math" panose="02040503050406030204" pitchFamily="18" charset="0"/>
                            </a:rPr>
                            <m:t>𝐴</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𝜇</m:t>
                          </m:r>
                        </m:e>
                        <m:sub>
                          <m:r>
                            <a:rPr lang="en-US" sz="2000" i="1">
                              <a:latin typeface="Cambria Math" charset="0"/>
                            </a:rPr>
                            <m:t>𝑓𝑎𝑡𝑖𝑔𝑢𝑒𝑑</m:t>
                          </m:r>
                          <m:r>
                            <a:rPr lang="en-US" sz="2000" i="1">
                              <a:latin typeface="Cambria Math" charset="0"/>
                            </a:rPr>
                            <m:t>−</m:t>
                          </m:r>
                          <m:r>
                            <a:rPr lang="en-US" sz="2000" i="1">
                              <a:latin typeface="Cambria Math" panose="02040503050406030204" pitchFamily="18" charset="0"/>
                            </a:rPr>
                            <m:t>𝑛</m:t>
                          </m:r>
                          <m:r>
                            <a:rPr lang="en-US" sz="2000" i="1">
                              <a:latin typeface="Cambria Math" charset="0"/>
                            </a:rPr>
                            <m:t>𝑜𝑡</m:t>
                          </m:r>
                          <m:r>
                            <a:rPr lang="en-US" sz="2000" i="1">
                              <a:latin typeface="Cambria Math" charset="0"/>
                            </a:rPr>
                            <m:t> </m:t>
                          </m:r>
                          <m:r>
                            <a:rPr lang="en-US" sz="2000" i="1">
                              <a:latin typeface="Cambria Math" charset="0"/>
                            </a:rPr>
                            <m:t>𝑓𝑎𝑡𝑖𝑔𝑢𝑒𝑑</m:t>
                          </m:r>
                        </m:sub>
                      </m:sSub>
                      <m:r>
                        <a:rPr lang="en-US" sz="2000" b="0" i="1" smtClean="0">
                          <a:latin typeface="Cambria Math" panose="02040503050406030204" pitchFamily="18" charset="0"/>
                        </a:rPr>
                        <m:t>&lt;0</m:t>
                      </m:r>
                    </m:oMath>
                  </m:oMathPara>
                </a14:m>
                <a:endParaRPr lang="en-US" sz="2000" dirty="0"/>
              </a:p>
            </p:txBody>
          </p:sp>
        </mc:Choice>
        <mc:Fallback xmlns="">
          <p:sp>
            <p:nvSpPr>
              <p:cNvPr id="5" name="TextBox 4"/>
              <p:cNvSpPr txBox="1">
                <a:spLocks noRot="1" noChangeAspect="1" noMove="1" noResize="1" noEditPoints="1" noAdjustHandles="1" noChangeArrowheads="1" noChangeShapeType="1" noTextEdit="1"/>
              </p:cNvSpPr>
              <p:nvPr/>
            </p:nvSpPr>
            <p:spPr>
              <a:xfrm>
                <a:off x="685800" y="2661228"/>
                <a:ext cx="4056288" cy="757772"/>
              </a:xfrm>
              <a:prstGeom prst="rect">
                <a:avLst/>
              </a:prstGeom>
              <a:blipFill>
                <a:blip r:embed="rId2"/>
                <a:stretch>
                  <a:fillRect b="-6557"/>
                </a:stretch>
              </a:blipFill>
            </p:spPr>
            <p:txBody>
              <a:bodyPr/>
              <a:lstStyle/>
              <a:p>
                <a:r>
                  <a:rPr lang="en-US">
                    <a:noFill/>
                  </a:rPr>
                  <a:t> </a:t>
                </a:r>
              </a:p>
            </p:txBody>
          </p:sp>
        </mc:Fallback>
      </mc:AlternateContent>
      <p:sp>
        <p:nvSpPr>
          <p:cNvPr id="6" name="TextBox 5"/>
          <p:cNvSpPr txBox="1"/>
          <p:nvPr/>
        </p:nvSpPr>
        <p:spPr>
          <a:xfrm>
            <a:off x="1047426" y="3429543"/>
            <a:ext cx="3549112" cy="369332"/>
          </a:xfrm>
          <a:prstGeom prst="rect">
            <a:avLst/>
          </a:prstGeom>
          <a:noFill/>
        </p:spPr>
        <p:txBody>
          <a:bodyPr wrap="square" rtlCol="0">
            <a:spAutoFit/>
          </a:bodyPr>
          <a:lstStyle/>
          <a:p>
            <a:r>
              <a:rPr lang="en-US" dirty="0"/>
              <a:t>Critical Value:  t</a:t>
            </a:r>
            <a:r>
              <a:rPr lang="en-US" baseline="-25000" dirty="0"/>
              <a:t>0.01,9</a:t>
            </a:r>
            <a:r>
              <a:rPr lang="en-US" dirty="0"/>
              <a:t> = -2.821</a:t>
            </a:r>
          </a:p>
        </p:txBody>
      </p:sp>
      <p:sp>
        <p:nvSpPr>
          <p:cNvPr id="7" name="TextBox 6"/>
          <p:cNvSpPr txBox="1"/>
          <p:nvPr/>
        </p:nvSpPr>
        <p:spPr>
          <a:xfrm>
            <a:off x="1047424" y="3749380"/>
            <a:ext cx="3213315" cy="369332"/>
          </a:xfrm>
          <a:prstGeom prst="rect">
            <a:avLst/>
          </a:prstGeom>
          <a:noFill/>
        </p:spPr>
        <p:txBody>
          <a:bodyPr wrap="square" rtlCol="0">
            <a:spAutoFit/>
          </a:bodyPr>
          <a:lstStyle/>
          <a:p>
            <a:r>
              <a:rPr lang="en-US" dirty="0"/>
              <a:t>Test Statistic: t</a:t>
            </a:r>
            <a:r>
              <a:rPr lang="en-US" baseline="-25000" dirty="0"/>
              <a:t>stat</a:t>
            </a:r>
            <a:r>
              <a:rPr lang="en-US" dirty="0"/>
              <a:t>= -2.41 </a:t>
            </a:r>
          </a:p>
        </p:txBody>
      </p:sp>
      <p:sp>
        <p:nvSpPr>
          <p:cNvPr id="8" name="TextBox 7"/>
          <p:cNvSpPr txBox="1"/>
          <p:nvPr/>
        </p:nvSpPr>
        <p:spPr>
          <a:xfrm>
            <a:off x="1047423" y="4042417"/>
            <a:ext cx="3213315" cy="369332"/>
          </a:xfrm>
          <a:prstGeom prst="rect">
            <a:avLst/>
          </a:prstGeom>
          <a:noFill/>
        </p:spPr>
        <p:txBody>
          <a:bodyPr wrap="square" rtlCol="0">
            <a:spAutoFit/>
          </a:bodyPr>
          <a:lstStyle/>
          <a:p>
            <a:r>
              <a:rPr lang="en-US" dirty="0"/>
              <a:t>P-value = 0.0196 &lt; 0.05 </a:t>
            </a:r>
          </a:p>
        </p:txBody>
      </p:sp>
      <p:sp>
        <p:nvSpPr>
          <p:cNvPr id="12" name="Content Placeholder 2">
            <a:extLst>
              <a:ext uri="{FF2B5EF4-FFF2-40B4-BE49-F238E27FC236}">
                <a16:creationId xmlns:a16="http://schemas.microsoft.com/office/drawing/2014/main" id="{94375A53-A446-427A-BFDF-FE9698FBE18C}"/>
              </a:ext>
            </a:extLst>
          </p:cNvPr>
          <p:cNvSpPr txBox="1">
            <a:spLocks/>
          </p:cNvSpPr>
          <p:nvPr/>
        </p:nvSpPr>
        <p:spPr>
          <a:xfrm>
            <a:off x="971224" y="4815521"/>
            <a:ext cx="10153976" cy="1981149"/>
          </a:xfrm>
          <a:prstGeom prst="rect">
            <a:avLst/>
          </a:prstGeom>
        </p:spPr>
        <p:txBody>
          <a:bodyPr vert="horz" lIns="0" tIns="45720" rIns="0" bIns="45720" rtlCol="0">
            <a:normAutofit fontScale="70000" lnSpcReduction="2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b="1" dirty="0"/>
              <a:t>Statistical Conclusion:  </a:t>
            </a:r>
            <a:r>
              <a:rPr lang="en-US" dirty="0"/>
              <a:t>There is enough evidence to suggest that, on average, the fatigued subjects score lower than the non-fatigued subjects (p-value = .0196).  A 99% one sided confidence interval for the mean difference in scores is (-infinity, -2.4651). A more meaningful confidence interval would be a two-sided 98% confidence interval of (-18.1349, -2.4651).</a:t>
            </a:r>
            <a:endParaRPr lang="en-US" b="1" dirty="0"/>
          </a:p>
          <a:p>
            <a:r>
              <a:rPr lang="en-US" b="1" dirty="0"/>
              <a:t>Scope of Inference:  </a:t>
            </a:r>
            <a:r>
              <a:rPr lang="en-US" dirty="0"/>
              <a:t>Since this was a random sample from St. Paul Hospital in Dallas, we can infer that this result would be repeated for any group selected from this hospital.  There is no way to guarantee a causal inference from a paired t-test. </a:t>
            </a:r>
          </a:p>
          <a:p>
            <a:r>
              <a:rPr lang="en-US" b="1" dirty="0"/>
              <a:t>Note: </a:t>
            </a:r>
            <a:r>
              <a:rPr lang="en-US" dirty="0"/>
              <a:t>The elusiveness of the causal inference comes from the fact that the treatment that induces fatigue may itself be a confounder.  Some may work for 12 hours as a surgeon and others may work 12 hours writing reports.  There is reason to believe that if a difference is detected, this difference may not be due to fatigue rather may be due to the type of work. </a:t>
            </a:r>
            <a:endParaRPr lang="en-US" b="1" dirty="0"/>
          </a:p>
        </p:txBody>
      </p:sp>
      <p:pic>
        <p:nvPicPr>
          <p:cNvPr id="13" name="Picture 12">
            <a:extLst>
              <a:ext uri="{FF2B5EF4-FFF2-40B4-BE49-F238E27FC236}">
                <a16:creationId xmlns:a16="http://schemas.microsoft.com/office/drawing/2014/main" id="{3953FC7C-9EAD-B766-2E02-53770D4D5F9F}"/>
              </a:ext>
            </a:extLst>
          </p:cNvPr>
          <p:cNvPicPr>
            <a:picLocks noChangeAspect="1"/>
          </p:cNvPicPr>
          <p:nvPr/>
        </p:nvPicPr>
        <p:blipFill>
          <a:blip r:embed="rId3"/>
          <a:stretch>
            <a:fillRect/>
          </a:stretch>
        </p:blipFill>
        <p:spPr>
          <a:xfrm>
            <a:off x="7526113" y="1535666"/>
            <a:ext cx="3835400" cy="2387600"/>
          </a:xfrm>
          <a:prstGeom prst="rect">
            <a:avLst/>
          </a:prstGeom>
        </p:spPr>
      </p:pic>
      <p:pic>
        <p:nvPicPr>
          <p:cNvPr id="15" name="Picture 14">
            <a:extLst>
              <a:ext uri="{FF2B5EF4-FFF2-40B4-BE49-F238E27FC236}">
                <a16:creationId xmlns:a16="http://schemas.microsoft.com/office/drawing/2014/main" id="{4CECC047-44FC-4A76-6B98-195D757F7693}"/>
              </a:ext>
            </a:extLst>
          </p:cNvPr>
          <p:cNvPicPr>
            <a:picLocks noChangeAspect="1"/>
          </p:cNvPicPr>
          <p:nvPr/>
        </p:nvPicPr>
        <p:blipFill>
          <a:blip r:embed="rId4"/>
          <a:stretch>
            <a:fillRect/>
          </a:stretch>
        </p:blipFill>
        <p:spPr>
          <a:xfrm>
            <a:off x="7526113" y="4031634"/>
            <a:ext cx="3848100" cy="609600"/>
          </a:xfrm>
          <a:prstGeom prst="rect">
            <a:avLst/>
          </a:prstGeom>
        </p:spPr>
      </p:pic>
      <p:pic>
        <p:nvPicPr>
          <p:cNvPr id="18" name="Picture 17">
            <a:extLst>
              <a:ext uri="{FF2B5EF4-FFF2-40B4-BE49-F238E27FC236}">
                <a16:creationId xmlns:a16="http://schemas.microsoft.com/office/drawing/2014/main" id="{99B004F5-2B70-7D33-C849-6F11101264B5}"/>
              </a:ext>
            </a:extLst>
          </p:cNvPr>
          <p:cNvPicPr>
            <a:picLocks noChangeAspect="1"/>
          </p:cNvPicPr>
          <p:nvPr/>
        </p:nvPicPr>
        <p:blipFill rotWithShape="1">
          <a:blip r:embed="rId5"/>
          <a:srcRect b="3527"/>
          <a:stretch/>
        </p:blipFill>
        <p:spPr>
          <a:xfrm>
            <a:off x="1047423" y="1382719"/>
            <a:ext cx="4056288" cy="1197196"/>
          </a:xfrm>
          <a:prstGeom prst="rect">
            <a:avLst/>
          </a:prstGeom>
        </p:spPr>
      </p:pic>
      <p:cxnSp>
        <p:nvCxnSpPr>
          <p:cNvPr id="20" name="Straight Arrow Connector 19">
            <a:extLst>
              <a:ext uri="{FF2B5EF4-FFF2-40B4-BE49-F238E27FC236}">
                <a16:creationId xmlns:a16="http://schemas.microsoft.com/office/drawing/2014/main" id="{51D5EF98-A0B2-EBF3-709D-661C449AB773}"/>
              </a:ext>
            </a:extLst>
          </p:cNvPr>
          <p:cNvCxnSpPr/>
          <p:nvPr/>
        </p:nvCxnSpPr>
        <p:spPr>
          <a:xfrm>
            <a:off x="4114800" y="2362200"/>
            <a:ext cx="3352800" cy="17565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A2BB8811-7425-41D0-A3FC-7EA5E59BAB31}"/>
              </a:ext>
            </a:extLst>
          </p:cNvPr>
          <p:cNvCxnSpPr>
            <a:cxnSpLocks/>
          </p:cNvCxnSpPr>
          <p:nvPr/>
        </p:nvCxnSpPr>
        <p:spPr>
          <a:xfrm>
            <a:off x="4699955" y="1709120"/>
            <a:ext cx="2767645" cy="11698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3124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3" presetID="10" presetClass="entr" presetSubtype="0"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nodeType="clickEffect">
                                  <p:stCondLst>
                                    <p:cond delay="0"/>
                                  </p:stCondLst>
                                  <p:childTnLst>
                                    <p:animEffect transition="out" filter="fade">
                                      <p:cBhvr>
                                        <p:cTn id="19" dur="500"/>
                                        <p:tgtEl>
                                          <p:spTgt spid="21"/>
                                        </p:tgtEl>
                                      </p:cBhvr>
                                    </p:animEffect>
                                    <p:set>
                                      <p:cBhvr>
                                        <p:cTn id="20" dur="1" fill="hold">
                                          <p:stCondLst>
                                            <p:cond delay="499"/>
                                          </p:stCondLst>
                                        </p:cTn>
                                        <p:tgtEl>
                                          <p:spTgt spid="21"/>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500"/>
                                        <p:tgtEl>
                                          <p:spTgt spid="20"/>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500"/>
                                        <p:tgtEl>
                                          <p:spTgt spid="5"/>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fade">
                                      <p:cBhvr>
                                        <p:cTn id="38" dur="5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fade">
                                      <p:cBhvr>
                                        <p:cTn id="43" dur="500"/>
                                        <p:tgtEl>
                                          <p:spTgt spid="7"/>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8"/>
                                        </p:tgtEl>
                                        <p:attrNameLst>
                                          <p:attrName>style.visibility</p:attrName>
                                        </p:attrNameLst>
                                      </p:cBhvr>
                                      <p:to>
                                        <p:strVal val="visible"/>
                                      </p:to>
                                    </p:set>
                                    <p:animEffect transition="in" filter="fade">
                                      <p:cBhvr>
                                        <p:cTn id="48" dur="500"/>
                                        <p:tgtEl>
                                          <p:spTgt spid="8"/>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3">
                                            <p:txEl>
                                              <p:pRg st="5" end="5"/>
                                            </p:txEl>
                                          </p:spTgt>
                                        </p:tgtEl>
                                        <p:attrNameLst>
                                          <p:attrName>style.visibility</p:attrName>
                                        </p:attrNameLst>
                                      </p:cBhvr>
                                      <p:to>
                                        <p:strVal val="visible"/>
                                      </p:to>
                                    </p:set>
                                    <p:animEffect transition="in" filter="fade">
                                      <p:cBhvr>
                                        <p:cTn id="53" dur="500"/>
                                        <p:tgtEl>
                                          <p:spTgt spid="3">
                                            <p:txEl>
                                              <p:pRg st="5" end="5"/>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12">
                                            <p:txEl>
                                              <p:pRg st="0" end="0"/>
                                            </p:txEl>
                                          </p:spTgt>
                                        </p:tgtEl>
                                        <p:attrNameLst>
                                          <p:attrName>style.visibility</p:attrName>
                                        </p:attrNameLst>
                                      </p:cBhvr>
                                      <p:to>
                                        <p:strVal val="visible"/>
                                      </p:to>
                                    </p:set>
                                    <p:animEffect transition="in" filter="fade">
                                      <p:cBhvr>
                                        <p:cTn id="58" dur="500"/>
                                        <p:tgtEl>
                                          <p:spTgt spid="12">
                                            <p:txEl>
                                              <p:pRg st="0" end="0"/>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12">
                                            <p:txEl>
                                              <p:pRg st="1" end="1"/>
                                            </p:txEl>
                                          </p:spTgt>
                                        </p:tgtEl>
                                        <p:attrNameLst>
                                          <p:attrName>style.visibility</p:attrName>
                                        </p:attrNameLst>
                                      </p:cBhvr>
                                      <p:to>
                                        <p:strVal val="visible"/>
                                      </p:to>
                                    </p:set>
                                    <p:animEffect transition="in" filter="fade">
                                      <p:cBhvr>
                                        <p:cTn id="63" dur="500"/>
                                        <p:tgtEl>
                                          <p:spTgt spid="12">
                                            <p:txEl>
                                              <p:pRg st="1" end="1"/>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12">
                                            <p:txEl>
                                              <p:pRg st="2" end="2"/>
                                            </p:txEl>
                                          </p:spTgt>
                                        </p:tgtEl>
                                        <p:attrNameLst>
                                          <p:attrName>style.visibility</p:attrName>
                                        </p:attrNameLst>
                                      </p:cBhvr>
                                      <p:to>
                                        <p:strVal val="visible"/>
                                      </p:to>
                                    </p:set>
                                    <p:animEffect transition="in" filter="fade">
                                      <p:cBhvr>
                                        <p:cTn id="68" dur="500"/>
                                        <p:tgtEl>
                                          <p:spTgt spid="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6" grpId="0"/>
      <p:bldP spid="7" grpId="0"/>
      <p:bldP spid="8"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Breakout!: Medical Reasoning Test</a:t>
            </a:r>
          </a:p>
        </p:txBody>
      </p:sp>
      <p:sp>
        <p:nvSpPr>
          <p:cNvPr id="4" name="Slide Number Placeholder 3"/>
          <p:cNvSpPr>
            <a:spLocks noGrp="1"/>
          </p:cNvSpPr>
          <p:nvPr>
            <p:ph type="sldNum" sz="quarter" idx="12"/>
          </p:nvPr>
        </p:nvSpPr>
        <p:spPr>
          <a:xfrm>
            <a:off x="9900460" y="6459787"/>
            <a:ext cx="1312025"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F6EB086-0FB5-404F-9DB0-02BE9E698E00}" type="slidenum">
              <a:rPr lang="en-US" smtClean="0"/>
              <a:pPr/>
              <a:t>45</a:t>
            </a:fld>
            <a:endParaRPr lang="en-US" dirty="0"/>
          </a:p>
        </p:txBody>
      </p:sp>
      <p:sp>
        <p:nvSpPr>
          <p:cNvPr id="7" name="Rectangle 6">
            <a:extLst>
              <a:ext uri="{FF2B5EF4-FFF2-40B4-BE49-F238E27FC236}">
                <a16:creationId xmlns:a16="http://schemas.microsoft.com/office/drawing/2014/main" id="{D0ECCCA5-C4E6-9F47-BB1B-232124405D7E}"/>
              </a:ext>
            </a:extLst>
          </p:cNvPr>
          <p:cNvSpPr/>
          <p:nvPr/>
        </p:nvSpPr>
        <p:spPr>
          <a:xfrm>
            <a:off x="585439" y="1951616"/>
            <a:ext cx="6096000" cy="3539430"/>
          </a:xfrm>
          <a:prstGeom prst="rect">
            <a:avLst/>
          </a:prstGeom>
        </p:spPr>
        <p:txBody>
          <a:bodyPr>
            <a:spAutoFit/>
          </a:bodyPr>
          <a:lstStyle/>
          <a:p>
            <a:pPr algn="ctr"/>
            <a:r>
              <a:rPr lang="en-US" sz="2800" dirty="0"/>
              <a:t>Let’s assume the client was not confident in the assumptions of the t-test given the sample size and wanted to run a non parametric test.  </a:t>
            </a:r>
          </a:p>
          <a:p>
            <a:pPr algn="ctr"/>
            <a:r>
              <a:rPr lang="en-US" sz="2800" dirty="0"/>
              <a:t>Perform a signed rank test to test that the median difference in medical reasoning scored (fatigued – not fatigued) is different from zero.  </a:t>
            </a:r>
          </a:p>
        </p:txBody>
      </p:sp>
      <p:graphicFrame>
        <p:nvGraphicFramePr>
          <p:cNvPr id="8" name="Table 7">
            <a:extLst>
              <a:ext uri="{FF2B5EF4-FFF2-40B4-BE49-F238E27FC236}">
                <a16:creationId xmlns:a16="http://schemas.microsoft.com/office/drawing/2014/main" id="{FA802F01-E91F-9449-A007-CEF77734271D}"/>
              </a:ext>
            </a:extLst>
          </p:cNvPr>
          <p:cNvGraphicFramePr>
            <a:graphicFrameLocks noGrp="1"/>
          </p:cNvGraphicFramePr>
          <p:nvPr>
            <p:extLst>
              <p:ext uri="{D42A27DB-BD31-4B8C-83A1-F6EECF244321}">
                <p14:modId xmlns:p14="http://schemas.microsoft.com/office/powerpoint/2010/main" val="3236248407"/>
              </p:ext>
            </p:extLst>
          </p:nvPr>
        </p:nvGraphicFramePr>
        <p:xfrm>
          <a:off x="6934200" y="2160183"/>
          <a:ext cx="4876800" cy="3122295"/>
        </p:xfrm>
        <a:graphic>
          <a:graphicData uri="http://schemas.openxmlformats.org/drawingml/2006/table">
            <a:tbl>
              <a:tblPr/>
              <a:tblGrid>
                <a:gridCol w="1023257">
                  <a:extLst>
                    <a:ext uri="{9D8B030D-6E8A-4147-A177-3AD203B41FA5}">
                      <a16:colId xmlns:a16="http://schemas.microsoft.com/office/drawing/2014/main" val="20000"/>
                    </a:ext>
                  </a:extLst>
                </a:gridCol>
                <a:gridCol w="1192927">
                  <a:extLst>
                    <a:ext uri="{9D8B030D-6E8A-4147-A177-3AD203B41FA5}">
                      <a16:colId xmlns:a16="http://schemas.microsoft.com/office/drawing/2014/main" val="20001"/>
                    </a:ext>
                  </a:extLst>
                </a:gridCol>
                <a:gridCol w="1441416">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tblGrid>
              <a:tr h="190500">
                <a:tc>
                  <a:txBody>
                    <a:bodyPr/>
                    <a:lstStyle/>
                    <a:p>
                      <a:pPr algn="ctr" fontAlgn="b"/>
                      <a:r>
                        <a:rPr lang="en-US" sz="1800" b="1" i="0" u="none" strike="noStrike" dirty="0">
                          <a:solidFill>
                            <a:srgbClr val="000000"/>
                          </a:solidFill>
                          <a:latin typeface="Calibri"/>
                        </a:rPr>
                        <a:t>Subject</a:t>
                      </a:r>
                    </a:p>
                  </a:txBody>
                  <a:tcPr marL="9525" marR="9525" marT="9525" marB="0" anchor="b">
                    <a:lnL>
                      <a:noFill/>
                    </a:lnL>
                    <a:lnR>
                      <a:noFill/>
                    </a:lnR>
                    <a:lnT>
                      <a:noFill/>
                    </a:lnT>
                    <a:lnB>
                      <a:noFill/>
                    </a:lnB>
                  </a:tcPr>
                </a:tc>
                <a:tc>
                  <a:txBody>
                    <a:bodyPr/>
                    <a:lstStyle/>
                    <a:p>
                      <a:pPr algn="ctr" fontAlgn="b"/>
                      <a:r>
                        <a:rPr lang="en-US" sz="1800" b="1" i="0" u="none" strike="noStrike" dirty="0">
                          <a:solidFill>
                            <a:schemeClr val="tx2"/>
                          </a:solidFill>
                          <a:latin typeface="Calibri"/>
                        </a:rPr>
                        <a:t>Fatigued</a:t>
                      </a:r>
                    </a:p>
                  </a:txBody>
                  <a:tcPr marL="9525" marR="9525" marT="9525" marB="0" anchor="b">
                    <a:lnL>
                      <a:noFill/>
                    </a:lnL>
                    <a:lnR>
                      <a:noFill/>
                    </a:lnR>
                    <a:lnT>
                      <a:noFill/>
                    </a:lnT>
                    <a:lnB>
                      <a:noFill/>
                    </a:lnB>
                  </a:tcPr>
                </a:tc>
                <a:tc>
                  <a:txBody>
                    <a:bodyPr/>
                    <a:lstStyle/>
                    <a:p>
                      <a:pPr algn="ctr" fontAlgn="b"/>
                      <a:r>
                        <a:rPr lang="en-US" sz="1800" b="1" i="0" u="none" strike="noStrike" dirty="0">
                          <a:solidFill>
                            <a:srgbClr val="FF0000"/>
                          </a:solidFill>
                          <a:latin typeface="Calibri"/>
                        </a:rPr>
                        <a:t>Not Fatigued</a:t>
                      </a:r>
                    </a:p>
                  </a:txBody>
                  <a:tcPr marL="9525" marR="9525" marT="9525" marB="0" anchor="b">
                    <a:lnL>
                      <a:noFill/>
                    </a:lnL>
                    <a:lnR>
                      <a:noFill/>
                    </a:lnR>
                    <a:lnT>
                      <a:noFill/>
                    </a:lnT>
                    <a:lnB>
                      <a:noFill/>
                    </a:lnB>
                  </a:tcPr>
                </a:tc>
                <a:tc>
                  <a:txBody>
                    <a:bodyPr/>
                    <a:lstStyle/>
                    <a:p>
                      <a:pPr algn="ctr" fontAlgn="b"/>
                      <a:r>
                        <a:rPr lang="en-US" sz="1800" b="1" i="0" u="none" strike="noStrike" dirty="0">
                          <a:solidFill>
                            <a:srgbClr val="00B050"/>
                          </a:solidFill>
                          <a:latin typeface="Calibri"/>
                        </a:rPr>
                        <a:t>Difference</a:t>
                      </a:r>
                    </a:p>
                  </a:txBody>
                  <a:tcPr marL="9525" marR="9525" marT="9525" marB="0" anchor="b">
                    <a:lnL>
                      <a:noFill/>
                    </a:lnL>
                    <a:lnR>
                      <a:noFill/>
                    </a:lnR>
                    <a:lnT>
                      <a:noFill/>
                    </a:lnT>
                    <a:lnB>
                      <a:noFill/>
                    </a:lnB>
                  </a:tcPr>
                </a:tc>
                <a:extLst>
                  <a:ext uri="{0D108BD9-81ED-4DB2-BD59-A6C34878D82A}">
                    <a16:rowId xmlns:a16="http://schemas.microsoft.com/office/drawing/2014/main" val="10000"/>
                  </a:ext>
                </a:extLst>
              </a:tr>
              <a:tr h="190500">
                <a:tc>
                  <a:txBody>
                    <a:bodyPr/>
                    <a:lstStyle/>
                    <a:p>
                      <a:pPr algn="ctr" fontAlgn="b"/>
                      <a:r>
                        <a:rPr lang="en-US" sz="1800" b="0" i="0" u="none" strike="noStrike" dirty="0">
                          <a:solidFill>
                            <a:srgbClr val="000000"/>
                          </a:solidFill>
                          <a:latin typeface="Calibri"/>
                        </a:rPr>
                        <a:t>1</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530</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567</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-37</a:t>
                      </a:r>
                    </a:p>
                  </a:txBody>
                  <a:tcPr marL="9525" marR="9525" marT="9525" marB="0" anchor="ctr">
                    <a:lnL>
                      <a:noFill/>
                    </a:lnL>
                    <a:lnR>
                      <a:noFill/>
                    </a:lnR>
                    <a:lnT>
                      <a:noFill/>
                    </a:lnT>
                    <a:lnB>
                      <a:noFill/>
                    </a:lnB>
                  </a:tcPr>
                </a:tc>
                <a:extLst>
                  <a:ext uri="{0D108BD9-81ED-4DB2-BD59-A6C34878D82A}">
                    <a16:rowId xmlns:a16="http://schemas.microsoft.com/office/drawing/2014/main" val="10001"/>
                  </a:ext>
                </a:extLst>
              </a:tr>
              <a:tr h="190500">
                <a:tc>
                  <a:txBody>
                    <a:bodyPr/>
                    <a:lstStyle/>
                    <a:p>
                      <a:pPr algn="ctr" fontAlgn="b"/>
                      <a:r>
                        <a:rPr lang="en-US" sz="1800" b="0" i="0" u="none" strike="noStrike" dirty="0">
                          <a:solidFill>
                            <a:srgbClr val="000000"/>
                          </a:solidFill>
                          <a:latin typeface="Calibri"/>
                        </a:rPr>
                        <a:t>2</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492</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512</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-20</a:t>
                      </a:r>
                    </a:p>
                  </a:txBody>
                  <a:tcPr marL="9525" marR="9525" marT="9525" marB="0" anchor="ctr">
                    <a:lnL>
                      <a:noFill/>
                    </a:lnL>
                    <a:lnR>
                      <a:noFill/>
                    </a:lnR>
                    <a:lnT>
                      <a:noFill/>
                    </a:lnT>
                    <a:lnB>
                      <a:noFill/>
                    </a:lnB>
                  </a:tcPr>
                </a:tc>
                <a:extLst>
                  <a:ext uri="{0D108BD9-81ED-4DB2-BD59-A6C34878D82A}">
                    <a16:rowId xmlns:a16="http://schemas.microsoft.com/office/drawing/2014/main" val="10002"/>
                  </a:ext>
                </a:extLst>
              </a:tr>
              <a:tr h="190500">
                <a:tc>
                  <a:txBody>
                    <a:bodyPr/>
                    <a:lstStyle/>
                    <a:p>
                      <a:pPr algn="ctr" fontAlgn="b"/>
                      <a:r>
                        <a:rPr lang="en-US" sz="1800" b="0" i="0" u="none" strike="noStrike" dirty="0">
                          <a:solidFill>
                            <a:srgbClr val="000000"/>
                          </a:solidFill>
                          <a:latin typeface="Calibri"/>
                        </a:rPr>
                        <a:t>3</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510</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509</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1</a:t>
                      </a:r>
                    </a:p>
                  </a:txBody>
                  <a:tcPr marL="9525" marR="9525" marT="9525" marB="0" anchor="ctr">
                    <a:lnL>
                      <a:noFill/>
                    </a:lnL>
                    <a:lnR>
                      <a:noFill/>
                    </a:lnR>
                    <a:lnT>
                      <a:noFill/>
                    </a:lnT>
                    <a:lnB>
                      <a:noFill/>
                    </a:lnB>
                  </a:tcPr>
                </a:tc>
                <a:extLst>
                  <a:ext uri="{0D108BD9-81ED-4DB2-BD59-A6C34878D82A}">
                    <a16:rowId xmlns:a16="http://schemas.microsoft.com/office/drawing/2014/main" val="10003"/>
                  </a:ext>
                </a:extLst>
              </a:tr>
              <a:tr h="190500">
                <a:tc>
                  <a:txBody>
                    <a:bodyPr/>
                    <a:lstStyle/>
                    <a:p>
                      <a:pPr algn="ctr" fontAlgn="b"/>
                      <a:r>
                        <a:rPr lang="en-US" sz="1800" b="0" i="0" u="none" strike="noStrike" dirty="0">
                          <a:solidFill>
                            <a:srgbClr val="000000"/>
                          </a:solidFill>
                          <a:latin typeface="Calibri"/>
                        </a:rPr>
                        <a:t>4</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580</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593</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-13</a:t>
                      </a:r>
                    </a:p>
                  </a:txBody>
                  <a:tcPr marL="9525" marR="9525" marT="9525" marB="0" anchor="ctr">
                    <a:lnL>
                      <a:noFill/>
                    </a:lnL>
                    <a:lnR>
                      <a:noFill/>
                    </a:lnR>
                    <a:lnT>
                      <a:noFill/>
                    </a:lnT>
                    <a:lnB>
                      <a:noFill/>
                    </a:lnB>
                  </a:tcPr>
                </a:tc>
                <a:extLst>
                  <a:ext uri="{0D108BD9-81ED-4DB2-BD59-A6C34878D82A}">
                    <a16:rowId xmlns:a16="http://schemas.microsoft.com/office/drawing/2014/main" val="10004"/>
                  </a:ext>
                </a:extLst>
              </a:tr>
              <a:tr h="190500">
                <a:tc>
                  <a:txBody>
                    <a:bodyPr/>
                    <a:lstStyle/>
                    <a:p>
                      <a:pPr algn="ctr" fontAlgn="b"/>
                      <a:r>
                        <a:rPr lang="en-US" sz="1800" b="0" i="0" u="none" strike="noStrike" dirty="0">
                          <a:solidFill>
                            <a:srgbClr val="000000"/>
                          </a:solidFill>
                          <a:latin typeface="Calibri"/>
                        </a:rPr>
                        <a:t>5</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600</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588</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12</a:t>
                      </a:r>
                    </a:p>
                  </a:txBody>
                  <a:tcPr marL="9525" marR="9525" marT="9525" marB="0" anchor="ctr">
                    <a:lnL>
                      <a:noFill/>
                    </a:lnL>
                    <a:lnR>
                      <a:noFill/>
                    </a:lnR>
                    <a:lnT>
                      <a:noFill/>
                    </a:lnT>
                    <a:lnB>
                      <a:noFill/>
                    </a:lnB>
                  </a:tcPr>
                </a:tc>
                <a:extLst>
                  <a:ext uri="{0D108BD9-81ED-4DB2-BD59-A6C34878D82A}">
                    <a16:rowId xmlns:a16="http://schemas.microsoft.com/office/drawing/2014/main" val="10005"/>
                  </a:ext>
                </a:extLst>
              </a:tr>
              <a:tr h="190500">
                <a:tc>
                  <a:txBody>
                    <a:bodyPr/>
                    <a:lstStyle/>
                    <a:p>
                      <a:pPr algn="ctr" fontAlgn="b"/>
                      <a:r>
                        <a:rPr lang="en-US" sz="1800" b="0" i="0" u="none" strike="noStrike" dirty="0">
                          <a:solidFill>
                            <a:srgbClr val="000000"/>
                          </a:solidFill>
                          <a:latin typeface="Calibri"/>
                        </a:rPr>
                        <a:t>6</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483</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491</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-8</a:t>
                      </a:r>
                    </a:p>
                  </a:txBody>
                  <a:tcPr marL="9525" marR="9525" marT="9525" marB="0" anchor="ctr">
                    <a:lnL>
                      <a:noFill/>
                    </a:lnL>
                    <a:lnR>
                      <a:noFill/>
                    </a:lnR>
                    <a:lnT>
                      <a:noFill/>
                    </a:lnT>
                    <a:lnB>
                      <a:noFill/>
                    </a:lnB>
                  </a:tcPr>
                </a:tc>
                <a:extLst>
                  <a:ext uri="{0D108BD9-81ED-4DB2-BD59-A6C34878D82A}">
                    <a16:rowId xmlns:a16="http://schemas.microsoft.com/office/drawing/2014/main" val="10006"/>
                  </a:ext>
                </a:extLst>
              </a:tr>
              <a:tr h="190500">
                <a:tc>
                  <a:txBody>
                    <a:bodyPr/>
                    <a:lstStyle/>
                    <a:p>
                      <a:pPr algn="ctr" fontAlgn="b"/>
                      <a:r>
                        <a:rPr lang="en-US" sz="1800" b="0" i="0" u="none" strike="noStrike" dirty="0">
                          <a:solidFill>
                            <a:srgbClr val="000000"/>
                          </a:solidFill>
                          <a:latin typeface="Calibri"/>
                        </a:rPr>
                        <a:t>7</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512</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520</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-8</a:t>
                      </a:r>
                    </a:p>
                  </a:txBody>
                  <a:tcPr marL="9525" marR="9525" marT="9525" marB="0" anchor="ctr">
                    <a:lnL>
                      <a:noFill/>
                    </a:lnL>
                    <a:lnR>
                      <a:noFill/>
                    </a:lnR>
                    <a:lnT>
                      <a:noFill/>
                    </a:lnT>
                    <a:lnB>
                      <a:noFill/>
                    </a:lnB>
                  </a:tcPr>
                </a:tc>
                <a:extLst>
                  <a:ext uri="{0D108BD9-81ED-4DB2-BD59-A6C34878D82A}">
                    <a16:rowId xmlns:a16="http://schemas.microsoft.com/office/drawing/2014/main" val="10007"/>
                  </a:ext>
                </a:extLst>
              </a:tr>
              <a:tr h="190500">
                <a:tc>
                  <a:txBody>
                    <a:bodyPr/>
                    <a:lstStyle/>
                    <a:p>
                      <a:pPr algn="ctr" fontAlgn="b"/>
                      <a:r>
                        <a:rPr lang="en-US" sz="1800" b="0" i="0" u="none" strike="noStrike" dirty="0">
                          <a:solidFill>
                            <a:srgbClr val="000000"/>
                          </a:solidFill>
                          <a:latin typeface="Calibri"/>
                        </a:rPr>
                        <a:t>8</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575</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588</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-13</a:t>
                      </a:r>
                    </a:p>
                  </a:txBody>
                  <a:tcPr marL="9525" marR="9525" marT="9525" marB="0" anchor="ctr">
                    <a:lnL>
                      <a:noFill/>
                    </a:lnL>
                    <a:lnR>
                      <a:noFill/>
                    </a:lnR>
                    <a:lnT>
                      <a:noFill/>
                    </a:lnT>
                    <a:lnB>
                      <a:noFill/>
                    </a:lnB>
                  </a:tcPr>
                </a:tc>
                <a:extLst>
                  <a:ext uri="{0D108BD9-81ED-4DB2-BD59-A6C34878D82A}">
                    <a16:rowId xmlns:a16="http://schemas.microsoft.com/office/drawing/2014/main" val="10008"/>
                  </a:ext>
                </a:extLst>
              </a:tr>
              <a:tr h="190500">
                <a:tc>
                  <a:txBody>
                    <a:bodyPr/>
                    <a:lstStyle/>
                    <a:p>
                      <a:pPr algn="ctr" fontAlgn="b"/>
                      <a:r>
                        <a:rPr lang="en-US" sz="1800" b="0" i="0" u="none" strike="noStrike" dirty="0">
                          <a:solidFill>
                            <a:srgbClr val="000000"/>
                          </a:solidFill>
                          <a:latin typeface="Calibri"/>
                        </a:rPr>
                        <a:t>9</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530</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529</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1</a:t>
                      </a:r>
                    </a:p>
                  </a:txBody>
                  <a:tcPr marL="9525" marR="9525" marT="9525" marB="0" anchor="ctr">
                    <a:lnL>
                      <a:noFill/>
                    </a:lnL>
                    <a:lnR>
                      <a:noFill/>
                    </a:lnR>
                    <a:lnT>
                      <a:noFill/>
                    </a:lnT>
                    <a:lnB>
                      <a:noFill/>
                    </a:lnB>
                  </a:tcPr>
                </a:tc>
                <a:extLst>
                  <a:ext uri="{0D108BD9-81ED-4DB2-BD59-A6C34878D82A}">
                    <a16:rowId xmlns:a16="http://schemas.microsoft.com/office/drawing/2014/main" val="10009"/>
                  </a:ext>
                </a:extLst>
              </a:tr>
              <a:tr h="190500">
                <a:tc>
                  <a:txBody>
                    <a:bodyPr/>
                    <a:lstStyle/>
                    <a:p>
                      <a:pPr algn="ctr" fontAlgn="b"/>
                      <a:r>
                        <a:rPr lang="en-US" sz="1800" b="0" i="0" u="none" strike="noStrike" dirty="0">
                          <a:solidFill>
                            <a:srgbClr val="000000"/>
                          </a:solidFill>
                          <a:latin typeface="Calibri"/>
                        </a:rPr>
                        <a:t>10</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490</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508</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-18</a:t>
                      </a:r>
                    </a:p>
                  </a:txBody>
                  <a:tcPr marL="9525" marR="9525" marT="9525" marB="0" anchor="ctr">
                    <a:lnL>
                      <a:noFill/>
                    </a:lnL>
                    <a:lnR>
                      <a:noFill/>
                    </a:lnR>
                    <a:lnT>
                      <a:noFill/>
                    </a:lnT>
                    <a:lnB>
                      <a:noFill/>
                    </a:lnB>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9862152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4A4C5D-6C20-025D-A3FD-012A84F9F615}"/>
              </a:ext>
            </a:extLst>
          </p:cNvPr>
          <p:cNvPicPr>
            <a:picLocks noChangeAspect="1"/>
          </p:cNvPicPr>
          <p:nvPr/>
        </p:nvPicPr>
        <p:blipFill>
          <a:blip r:embed="rId2"/>
          <a:stretch>
            <a:fillRect/>
          </a:stretch>
        </p:blipFill>
        <p:spPr>
          <a:xfrm>
            <a:off x="152400" y="1676400"/>
            <a:ext cx="6255524" cy="4445000"/>
          </a:xfrm>
          <a:prstGeom prst="rect">
            <a:avLst/>
          </a:prstGeom>
        </p:spPr>
      </p:pic>
      <p:sp>
        <p:nvSpPr>
          <p:cNvPr id="2" name="Title 1">
            <a:extLst>
              <a:ext uri="{FF2B5EF4-FFF2-40B4-BE49-F238E27FC236}">
                <a16:creationId xmlns:a16="http://schemas.microsoft.com/office/drawing/2014/main" id="{29538F4F-9124-8B47-A945-1CF47087C7D1}"/>
              </a:ext>
            </a:extLst>
          </p:cNvPr>
          <p:cNvSpPr>
            <a:spLocks noGrp="1"/>
          </p:cNvSpPr>
          <p:nvPr>
            <p:ph type="title"/>
          </p:nvPr>
        </p:nvSpPr>
        <p:spPr/>
        <p:txBody>
          <a:bodyPr/>
          <a:lstStyle/>
          <a:p>
            <a:r>
              <a:rPr lang="en-US" dirty="0"/>
              <a:t>Break Out!</a:t>
            </a:r>
          </a:p>
        </p:txBody>
      </p:sp>
      <p:pic>
        <p:nvPicPr>
          <p:cNvPr id="5" name="Picture 4">
            <a:extLst>
              <a:ext uri="{FF2B5EF4-FFF2-40B4-BE49-F238E27FC236}">
                <a16:creationId xmlns:a16="http://schemas.microsoft.com/office/drawing/2014/main" id="{FC69F80C-E9FF-6243-BF77-DA99B318D662}"/>
              </a:ext>
            </a:extLst>
          </p:cNvPr>
          <p:cNvPicPr>
            <a:picLocks noChangeAspect="1"/>
          </p:cNvPicPr>
          <p:nvPr/>
        </p:nvPicPr>
        <p:blipFill>
          <a:blip r:embed="rId3"/>
          <a:stretch>
            <a:fillRect/>
          </a:stretch>
        </p:blipFill>
        <p:spPr>
          <a:xfrm>
            <a:off x="6934200" y="4361575"/>
            <a:ext cx="4440378" cy="2176656"/>
          </a:xfrm>
          <a:prstGeom prst="rect">
            <a:avLst/>
          </a:prstGeom>
        </p:spPr>
      </p:pic>
      <p:sp>
        <p:nvSpPr>
          <p:cNvPr id="6" name="Rectangle 5">
            <a:extLst>
              <a:ext uri="{FF2B5EF4-FFF2-40B4-BE49-F238E27FC236}">
                <a16:creationId xmlns:a16="http://schemas.microsoft.com/office/drawing/2014/main" id="{E40A1F52-A138-664F-9B78-0CFF32459E8C}"/>
              </a:ext>
            </a:extLst>
          </p:cNvPr>
          <p:cNvSpPr/>
          <p:nvPr/>
        </p:nvSpPr>
        <p:spPr>
          <a:xfrm>
            <a:off x="5867400" y="1600199"/>
            <a:ext cx="3129181" cy="2677656"/>
          </a:xfrm>
          <a:prstGeom prst="rect">
            <a:avLst/>
          </a:prstGeom>
        </p:spPr>
        <p:txBody>
          <a:bodyPr wrap="square">
            <a:spAutoFit/>
          </a:bodyPr>
          <a:lstStyle/>
          <a:p>
            <a:r>
              <a:rPr lang="en-US" sz="1200" b="1" dirty="0">
                <a:solidFill>
                  <a:srgbClr val="000080"/>
                </a:solidFill>
                <a:latin typeface="Courier New" panose="02070309020205020404" pitchFamily="49" charset="0"/>
              </a:rPr>
              <a:t>proc</a:t>
            </a:r>
            <a:r>
              <a:rPr lang="en-US" sz="1200" dirty="0">
                <a:latin typeface="Courier New" panose="02070309020205020404" pitchFamily="49" charset="0"/>
              </a:rPr>
              <a:t> </a:t>
            </a:r>
            <a:r>
              <a:rPr lang="en-US" sz="1200" b="1" dirty="0">
                <a:solidFill>
                  <a:srgbClr val="000080"/>
                </a:solidFill>
                <a:latin typeface="Courier New" panose="02070309020205020404" pitchFamily="49" charset="0"/>
              </a:rPr>
              <a:t>print</a:t>
            </a:r>
            <a:r>
              <a:rPr lang="en-US" sz="1200" dirty="0">
                <a:latin typeface="Courier New" panose="02070309020205020404" pitchFamily="49" charset="0"/>
              </a:rPr>
              <a:t> </a:t>
            </a:r>
            <a:r>
              <a:rPr lang="en-US" sz="1200" dirty="0">
                <a:solidFill>
                  <a:srgbClr val="0000FF"/>
                </a:solidFill>
                <a:latin typeface="Courier New" panose="02070309020205020404" pitchFamily="49" charset="0"/>
              </a:rPr>
              <a:t>data</a:t>
            </a:r>
            <a:r>
              <a:rPr lang="en-US" sz="1200" dirty="0">
                <a:latin typeface="Courier New" panose="02070309020205020404" pitchFamily="49" charset="0"/>
              </a:rPr>
              <a:t> = Fatigue;</a:t>
            </a:r>
          </a:p>
          <a:p>
            <a:r>
              <a:rPr lang="en-US" sz="1200" b="1" dirty="0">
                <a:solidFill>
                  <a:srgbClr val="000080"/>
                </a:solidFill>
                <a:latin typeface="Courier New" panose="02070309020205020404" pitchFamily="49" charset="0"/>
              </a:rPr>
              <a:t>run</a:t>
            </a:r>
            <a:r>
              <a:rPr lang="en-US" sz="1200" dirty="0">
                <a:solidFill>
                  <a:srgbClr val="000000"/>
                </a:solidFill>
                <a:latin typeface="Courier New" panose="02070309020205020404" pitchFamily="49" charset="0"/>
              </a:rPr>
              <a:t>;</a:t>
            </a:r>
            <a:br>
              <a:rPr lang="en-US" sz="1200" dirty="0">
                <a:latin typeface="Courier New" panose="02070309020205020404" pitchFamily="49" charset="0"/>
              </a:rPr>
            </a:br>
            <a:endParaRPr lang="en-US" sz="1200" dirty="0">
              <a:latin typeface="Courier New" panose="02070309020205020404" pitchFamily="49" charset="0"/>
            </a:endParaRPr>
          </a:p>
          <a:p>
            <a:r>
              <a:rPr lang="en-US" sz="1200" b="1" dirty="0">
                <a:solidFill>
                  <a:srgbClr val="000080"/>
                </a:solidFill>
                <a:latin typeface="Courier New" panose="02070309020205020404" pitchFamily="49" charset="0"/>
              </a:rPr>
              <a:t>data</a:t>
            </a:r>
            <a:r>
              <a:rPr lang="en-US" sz="1200" dirty="0">
                <a:latin typeface="Courier New" panose="02070309020205020404" pitchFamily="49" charset="0"/>
              </a:rPr>
              <a:t> Fatigue;</a:t>
            </a:r>
          </a:p>
          <a:p>
            <a:r>
              <a:rPr lang="en-US" sz="1200" dirty="0">
                <a:solidFill>
                  <a:srgbClr val="0000FF"/>
                </a:solidFill>
                <a:latin typeface="Courier New" panose="02070309020205020404" pitchFamily="49" charset="0"/>
              </a:rPr>
              <a:t>set</a:t>
            </a:r>
            <a:r>
              <a:rPr lang="en-US" sz="1200" dirty="0">
                <a:latin typeface="Courier New" panose="02070309020205020404" pitchFamily="49" charset="0"/>
              </a:rPr>
              <a:t> Fatigue;</a:t>
            </a:r>
          </a:p>
          <a:p>
            <a:r>
              <a:rPr lang="en-US" sz="1200" dirty="0">
                <a:latin typeface="Courier New" panose="02070309020205020404" pitchFamily="49" charset="0"/>
              </a:rPr>
              <a:t>Diff = </a:t>
            </a:r>
            <a:r>
              <a:rPr lang="en-US" sz="1200" dirty="0" err="1">
                <a:latin typeface="Courier New" panose="02070309020205020404" pitchFamily="49" charset="0"/>
              </a:rPr>
              <a:t>Not_Fatigued</a:t>
            </a:r>
            <a:r>
              <a:rPr lang="en-US" sz="1200" dirty="0">
                <a:latin typeface="Courier New" panose="02070309020205020404" pitchFamily="49" charset="0"/>
              </a:rPr>
              <a:t> - Fatigued;</a:t>
            </a:r>
          </a:p>
          <a:p>
            <a:r>
              <a:rPr lang="en-US" sz="1200" b="1" dirty="0">
                <a:solidFill>
                  <a:srgbClr val="000080"/>
                </a:solidFill>
                <a:latin typeface="Courier New" panose="02070309020205020404" pitchFamily="49" charset="0"/>
              </a:rPr>
              <a:t>run</a:t>
            </a:r>
            <a:r>
              <a:rPr lang="en-US" sz="1200" dirty="0">
                <a:solidFill>
                  <a:srgbClr val="000000"/>
                </a:solidFill>
                <a:latin typeface="Courier New" panose="02070309020205020404" pitchFamily="49" charset="0"/>
              </a:rPr>
              <a:t>;</a:t>
            </a:r>
            <a:br>
              <a:rPr lang="en-US" sz="1200" dirty="0">
                <a:latin typeface="Courier New" panose="02070309020205020404" pitchFamily="49" charset="0"/>
              </a:rPr>
            </a:br>
            <a:endParaRPr lang="en-US" sz="1200" dirty="0">
              <a:latin typeface="Courier New" panose="02070309020205020404" pitchFamily="49" charset="0"/>
            </a:endParaRPr>
          </a:p>
          <a:p>
            <a:r>
              <a:rPr lang="en-US" sz="1200" b="1" dirty="0">
                <a:solidFill>
                  <a:srgbClr val="000080"/>
                </a:solidFill>
                <a:latin typeface="Courier New" panose="02070309020205020404" pitchFamily="49" charset="0"/>
              </a:rPr>
              <a:t>proc</a:t>
            </a:r>
            <a:r>
              <a:rPr lang="en-US" sz="1200" dirty="0">
                <a:latin typeface="Courier New" panose="02070309020205020404" pitchFamily="49" charset="0"/>
              </a:rPr>
              <a:t> </a:t>
            </a:r>
            <a:r>
              <a:rPr lang="en-US" sz="1200" b="1" dirty="0">
                <a:solidFill>
                  <a:srgbClr val="000080"/>
                </a:solidFill>
                <a:latin typeface="Courier New" panose="02070309020205020404" pitchFamily="49" charset="0"/>
              </a:rPr>
              <a:t>print</a:t>
            </a:r>
            <a:r>
              <a:rPr lang="en-US" sz="1200" dirty="0">
                <a:latin typeface="Courier New" panose="02070309020205020404" pitchFamily="49" charset="0"/>
              </a:rPr>
              <a:t> </a:t>
            </a:r>
            <a:r>
              <a:rPr lang="en-US" sz="1200" dirty="0">
                <a:solidFill>
                  <a:srgbClr val="0000FF"/>
                </a:solidFill>
                <a:latin typeface="Courier New" panose="02070309020205020404" pitchFamily="49" charset="0"/>
              </a:rPr>
              <a:t>data</a:t>
            </a:r>
            <a:r>
              <a:rPr lang="en-US" sz="1200" dirty="0">
                <a:latin typeface="Courier New" panose="02070309020205020404" pitchFamily="49" charset="0"/>
              </a:rPr>
              <a:t> = Fatigue;</a:t>
            </a:r>
          </a:p>
          <a:p>
            <a:r>
              <a:rPr lang="en-US" sz="1200" b="1" dirty="0">
                <a:solidFill>
                  <a:srgbClr val="000080"/>
                </a:solidFill>
                <a:latin typeface="Courier New" panose="02070309020205020404" pitchFamily="49" charset="0"/>
              </a:rPr>
              <a:t>run</a:t>
            </a:r>
            <a:r>
              <a:rPr lang="en-US" sz="1200" dirty="0">
                <a:solidFill>
                  <a:srgbClr val="000000"/>
                </a:solidFill>
                <a:latin typeface="Courier New" panose="02070309020205020404" pitchFamily="49" charset="0"/>
              </a:rPr>
              <a:t>;</a:t>
            </a:r>
            <a:endParaRPr lang="en-US" sz="1200" dirty="0">
              <a:solidFill>
                <a:srgbClr val="000080"/>
              </a:solidFill>
              <a:latin typeface="Courier New" panose="02070309020205020404" pitchFamily="49" charset="0"/>
            </a:endParaRPr>
          </a:p>
          <a:p>
            <a:endParaRPr lang="en-US" sz="1200" dirty="0">
              <a:latin typeface="Courier New" panose="02070309020205020404" pitchFamily="49" charset="0"/>
            </a:endParaRPr>
          </a:p>
          <a:p>
            <a:r>
              <a:rPr lang="en-US" sz="1200" b="1" dirty="0">
                <a:solidFill>
                  <a:srgbClr val="000080"/>
                </a:solidFill>
                <a:latin typeface="Courier New" panose="02070309020205020404" pitchFamily="49" charset="0"/>
              </a:rPr>
              <a:t>proc</a:t>
            </a:r>
            <a:r>
              <a:rPr lang="en-US" sz="1200" dirty="0">
                <a:solidFill>
                  <a:srgbClr val="000000"/>
                </a:solidFill>
                <a:latin typeface="Courier New" panose="02070309020205020404" pitchFamily="49" charset="0"/>
              </a:rPr>
              <a:t> </a:t>
            </a:r>
            <a:r>
              <a:rPr lang="en-US" sz="1200" b="1" dirty="0">
                <a:solidFill>
                  <a:srgbClr val="000080"/>
                </a:solidFill>
                <a:latin typeface="Courier New" panose="02070309020205020404" pitchFamily="49" charset="0"/>
              </a:rPr>
              <a:t>univariate</a:t>
            </a:r>
            <a:r>
              <a:rPr lang="en-US" sz="1200" dirty="0">
                <a:solidFill>
                  <a:srgbClr val="000000"/>
                </a:solidFill>
                <a:latin typeface="Courier New" panose="02070309020205020404" pitchFamily="49" charset="0"/>
              </a:rPr>
              <a:t> </a:t>
            </a:r>
            <a:r>
              <a:rPr lang="en-US" sz="1200" dirty="0">
                <a:solidFill>
                  <a:srgbClr val="0000FF"/>
                </a:solidFill>
                <a:latin typeface="Courier New" panose="02070309020205020404" pitchFamily="49" charset="0"/>
              </a:rPr>
              <a:t>data</a:t>
            </a:r>
            <a:r>
              <a:rPr lang="en-US" sz="1200" dirty="0">
                <a:solidFill>
                  <a:srgbClr val="000000"/>
                </a:solidFill>
                <a:latin typeface="Courier New" panose="02070309020205020404" pitchFamily="49" charset="0"/>
              </a:rPr>
              <a:t> = Fatigue;</a:t>
            </a:r>
            <a:endParaRPr lang="en-US" sz="1200" dirty="0">
              <a:solidFill>
                <a:srgbClr val="000080"/>
              </a:solidFill>
              <a:latin typeface="Courier New" panose="02070309020205020404" pitchFamily="49" charset="0"/>
            </a:endParaRPr>
          </a:p>
          <a:p>
            <a:r>
              <a:rPr lang="en-US" sz="1200" dirty="0">
                <a:solidFill>
                  <a:srgbClr val="0000FF"/>
                </a:solidFill>
                <a:latin typeface="Courier New" panose="02070309020205020404" pitchFamily="49" charset="0"/>
              </a:rPr>
              <a:t>var</a:t>
            </a:r>
            <a:r>
              <a:rPr lang="en-US" sz="1200" dirty="0">
                <a:latin typeface="Courier New" panose="02070309020205020404" pitchFamily="49" charset="0"/>
              </a:rPr>
              <a:t> Diff;</a:t>
            </a:r>
          </a:p>
          <a:p>
            <a:r>
              <a:rPr lang="en-US" sz="1200" b="1" dirty="0">
                <a:solidFill>
                  <a:srgbClr val="000080"/>
                </a:solidFill>
                <a:latin typeface="Courier New" panose="02070309020205020404" pitchFamily="49" charset="0"/>
              </a:rPr>
              <a:t>run</a:t>
            </a:r>
            <a:r>
              <a:rPr lang="en-US" sz="1200" dirty="0">
                <a:solidFill>
                  <a:srgbClr val="000000"/>
                </a:solidFill>
                <a:latin typeface="Courier New" panose="02070309020205020404" pitchFamily="49" charset="0"/>
              </a:rPr>
              <a:t>;</a:t>
            </a:r>
            <a:endParaRPr lang="en-US" sz="1200" dirty="0">
              <a:solidFill>
                <a:srgbClr val="000080"/>
              </a:solidFill>
              <a:effectLst/>
              <a:latin typeface="Courier New" panose="02070309020205020404" pitchFamily="49" charset="0"/>
            </a:endParaRPr>
          </a:p>
        </p:txBody>
      </p:sp>
      <p:pic>
        <p:nvPicPr>
          <p:cNvPr id="10" name="Picture 9">
            <a:extLst>
              <a:ext uri="{FF2B5EF4-FFF2-40B4-BE49-F238E27FC236}">
                <a16:creationId xmlns:a16="http://schemas.microsoft.com/office/drawing/2014/main" id="{7DA9B40E-84D5-BFB1-942B-ECE52ECFFC37}"/>
              </a:ext>
            </a:extLst>
          </p:cNvPr>
          <p:cNvPicPr>
            <a:picLocks noChangeAspect="1"/>
          </p:cNvPicPr>
          <p:nvPr/>
        </p:nvPicPr>
        <p:blipFill>
          <a:blip r:embed="rId4"/>
          <a:stretch>
            <a:fillRect/>
          </a:stretch>
        </p:blipFill>
        <p:spPr>
          <a:xfrm>
            <a:off x="8996581" y="1600199"/>
            <a:ext cx="2879733" cy="2532777"/>
          </a:xfrm>
          <a:prstGeom prst="rect">
            <a:avLst/>
          </a:prstGeom>
        </p:spPr>
      </p:pic>
    </p:spTree>
    <p:extLst>
      <p:ext uri="{BB962C8B-B14F-4D97-AF65-F5344CB8AC3E}">
        <p14:creationId xmlns:p14="http://schemas.microsoft.com/office/powerpoint/2010/main" val="20629422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7F457-8C1A-B647-96D7-10F8D00098E6}"/>
              </a:ext>
            </a:extLst>
          </p:cNvPr>
          <p:cNvSpPr>
            <a:spLocks noGrp="1"/>
          </p:cNvSpPr>
          <p:nvPr>
            <p:ph type="title"/>
          </p:nvPr>
        </p:nvSpPr>
        <p:spPr/>
        <p:txBody>
          <a:bodyPr/>
          <a:lstStyle/>
          <a:p>
            <a:r>
              <a:rPr lang="en-US" dirty="0"/>
              <a:t>Break Out!</a:t>
            </a:r>
          </a:p>
        </p:txBody>
      </p:sp>
      <p:pic>
        <p:nvPicPr>
          <p:cNvPr id="5" name="Picture 4">
            <a:extLst>
              <a:ext uri="{FF2B5EF4-FFF2-40B4-BE49-F238E27FC236}">
                <a16:creationId xmlns:a16="http://schemas.microsoft.com/office/drawing/2014/main" id="{BF362FB9-F1FC-8A4B-B7CE-76E7A0687675}"/>
              </a:ext>
            </a:extLst>
          </p:cNvPr>
          <p:cNvPicPr>
            <a:picLocks noChangeAspect="1"/>
          </p:cNvPicPr>
          <p:nvPr/>
        </p:nvPicPr>
        <p:blipFill>
          <a:blip r:embed="rId2"/>
          <a:stretch>
            <a:fillRect/>
          </a:stretch>
        </p:blipFill>
        <p:spPr>
          <a:xfrm>
            <a:off x="7848600" y="1968394"/>
            <a:ext cx="3619500" cy="1774265"/>
          </a:xfrm>
          <a:prstGeom prst="rect">
            <a:avLst/>
          </a:prstGeom>
        </p:spPr>
      </p:pic>
      <p:sp>
        <p:nvSpPr>
          <p:cNvPr id="7" name="TextBox 6">
            <a:extLst>
              <a:ext uri="{FF2B5EF4-FFF2-40B4-BE49-F238E27FC236}">
                <a16:creationId xmlns:a16="http://schemas.microsoft.com/office/drawing/2014/main" id="{8F511AE8-FE19-F441-A306-1866D612E529}"/>
              </a:ext>
            </a:extLst>
          </p:cNvPr>
          <p:cNvSpPr txBox="1"/>
          <p:nvPr/>
        </p:nvSpPr>
        <p:spPr>
          <a:xfrm>
            <a:off x="800100" y="4572000"/>
            <a:ext cx="10591800" cy="1754326"/>
          </a:xfrm>
          <a:prstGeom prst="rect">
            <a:avLst/>
          </a:prstGeom>
          <a:noFill/>
        </p:spPr>
        <p:txBody>
          <a:bodyPr wrap="square" rtlCol="0">
            <a:spAutoFit/>
          </a:bodyPr>
          <a:lstStyle/>
          <a:p>
            <a:r>
              <a:rPr lang="en-US" dirty="0"/>
              <a:t>There is sufficient evidence to suggest that the median difference of medical reasoning scores is greater than 0.  That is, there is sufficient evidence to suggest that fatigue is associated with a decrease in the medical reasoning score (</a:t>
            </a:r>
            <a:r>
              <a:rPr lang="en-US" dirty="0" err="1"/>
              <a:t>pvalue</a:t>
            </a:r>
            <a:r>
              <a:rPr lang="en-US" dirty="0"/>
              <a:t> = .0469 from a Signed Rank Test using SAS.). However, using the t approximation with R, the signed rank test </a:t>
            </a:r>
            <a:r>
              <a:rPr lang="en-US" dirty="0" err="1"/>
              <a:t>pvalue</a:t>
            </a:r>
            <a:r>
              <a:rPr lang="en-US" dirty="0"/>
              <a:t> was .05233 which would not provide enough evidence of a difference.  Both </a:t>
            </a:r>
            <a:r>
              <a:rPr lang="en-US" dirty="0" err="1"/>
              <a:t>pvalues</a:t>
            </a:r>
            <a:r>
              <a:rPr lang="en-US" dirty="0"/>
              <a:t> are very close to the significance level of .05 thus it is suggested that the study be repeated with a possibly larger sample size.  </a:t>
            </a:r>
          </a:p>
        </p:txBody>
      </p:sp>
      <p:pic>
        <p:nvPicPr>
          <p:cNvPr id="8" name="Picture 7">
            <a:extLst>
              <a:ext uri="{FF2B5EF4-FFF2-40B4-BE49-F238E27FC236}">
                <a16:creationId xmlns:a16="http://schemas.microsoft.com/office/drawing/2014/main" id="{702444F6-40AE-774F-9E96-5F6A28863FAE}"/>
              </a:ext>
            </a:extLst>
          </p:cNvPr>
          <p:cNvPicPr>
            <a:picLocks noChangeAspect="1"/>
          </p:cNvPicPr>
          <p:nvPr/>
        </p:nvPicPr>
        <p:blipFill>
          <a:blip r:embed="rId3"/>
          <a:stretch>
            <a:fillRect/>
          </a:stretch>
        </p:blipFill>
        <p:spPr>
          <a:xfrm>
            <a:off x="228600" y="1711550"/>
            <a:ext cx="7366000" cy="2514600"/>
          </a:xfrm>
          <a:prstGeom prst="rect">
            <a:avLst/>
          </a:prstGeom>
        </p:spPr>
      </p:pic>
    </p:spTree>
    <p:extLst>
      <p:ext uri="{BB962C8B-B14F-4D97-AF65-F5344CB8AC3E}">
        <p14:creationId xmlns:p14="http://schemas.microsoft.com/office/powerpoint/2010/main" val="16376769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11430000" cy="1143000"/>
          </a:xfrm>
        </p:spPr>
        <p:txBody>
          <a:bodyPr/>
          <a:lstStyle/>
          <a:p>
            <a:r>
              <a:rPr lang="en-US" dirty="0"/>
              <a:t>Breakout: Medical Reasoning Test: Sign Test</a:t>
            </a:r>
          </a:p>
        </p:txBody>
      </p:sp>
      <p:sp>
        <p:nvSpPr>
          <p:cNvPr id="4" name="Slide Number Placeholder 3"/>
          <p:cNvSpPr>
            <a:spLocks noGrp="1"/>
          </p:cNvSpPr>
          <p:nvPr>
            <p:ph type="sldNum" sz="quarter" idx="12"/>
          </p:nvPr>
        </p:nvSpPr>
        <p:spPr>
          <a:xfrm>
            <a:off x="9900460" y="6459787"/>
            <a:ext cx="1312025"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F6EB086-0FB5-404F-9DB0-02BE9E698E00}" type="slidenum">
              <a:rPr lang="en-US" smtClean="0"/>
              <a:pPr/>
              <a:t>48</a:t>
            </a:fld>
            <a:endParaRPr lang="en-US" dirty="0"/>
          </a:p>
        </p:txBody>
      </p:sp>
      <p:sp>
        <p:nvSpPr>
          <p:cNvPr id="6" name="TextBox 5"/>
          <p:cNvSpPr txBox="1"/>
          <p:nvPr/>
        </p:nvSpPr>
        <p:spPr>
          <a:xfrm>
            <a:off x="1407750" y="5316805"/>
            <a:ext cx="3128100" cy="369332"/>
          </a:xfrm>
          <a:prstGeom prst="rect">
            <a:avLst/>
          </a:prstGeom>
          <a:noFill/>
        </p:spPr>
        <p:txBody>
          <a:bodyPr wrap="none" rtlCol="0">
            <a:spAutoFit/>
          </a:bodyPr>
          <a:lstStyle/>
          <a:p>
            <a:r>
              <a:rPr lang="en-US" dirty="0">
                <a:solidFill>
                  <a:srgbClr val="FF0000"/>
                </a:solidFill>
              </a:rPr>
              <a:t>(Lower numbers = worse score)</a:t>
            </a:r>
          </a:p>
        </p:txBody>
      </p:sp>
      <p:graphicFrame>
        <p:nvGraphicFramePr>
          <p:cNvPr id="9" name="Table 8">
            <a:extLst>
              <a:ext uri="{FF2B5EF4-FFF2-40B4-BE49-F238E27FC236}">
                <a16:creationId xmlns:a16="http://schemas.microsoft.com/office/drawing/2014/main" id="{12BB8934-7318-0B4C-AB5A-2172C82ED24A}"/>
              </a:ext>
            </a:extLst>
          </p:cNvPr>
          <p:cNvGraphicFramePr>
            <a:graphicFrameLocks noGrp="1"/>
          </p:cNvGraphicFramePr>
          <p:nvPr>
            <p:extLst>
              <p:ext uri="{D42A27DB-BD31-4B8C-83A1-F6EECF244321}">
                <p14:modId xmlns:p14="http://schemas.microsoft.com/office/powerpoint/2010/main" val="534997670"/>
              </p:ext>
            </p:extLst>
          </p:nvPr>
        </p:nvGraphicFramePr>
        <p:xfrm>
          <a:off x="775252" y="1867852"/>
          <a:ext cx="5930348" cy="3122295"/>
        </p:xfrm>
        <a:graphic>
          <a:graphicData uri="http://schemas.openxmlformats.org/drawingml/2006/table">
            <a:tbl>
              <a:tblPr/>
              <a:tblGrid>
                <a:gridCol w="995452">
                  <a:extLst>
                    <a:ext uri="{9D8B030D-6E8A-4147-A177-3AD203B41FA5}">
                      <a16:colId xmlns:a16="http://schemas.microsoft.com/office/drawing/2014/main" val="20000"/>
                    </a:ext>
                  </a:extLst>
                </a:gridCol>
                <a:gridCol w="1201351">
                  <a:extLst>
                    <a:ext uri="{9D8B030D-6E8A-4147-A177-3AD203B41FA5}">
                      <a16:colId xmlns:a16="http://schemas.microsoft.com/office/drawing/2014/main" val="20001"/>
                    </a:ext>
                  </a:extLst>
                </a:gridCol>
                <a:gridCol w="1361407">
                  <a:extLst>
                    <a:ext uri="{9D8B030D-6E8A-4147-A177-3AD203B41FA5}">
                      <a16:colId xmlns:a16="http://schemas.microsoft.com/office/drawing/2014/main" val="20002"/>
                    </a:ext>
                  </a:extLst>
                </a:gridCol>
                <a:gridCol w="1186069">
                  <a:extLst>
                    <a:ext uri="{9D8B030D-6E8A-4147-A177-3AD203B41FA5}">
                      <a16:colId xmlns:a16="http://schemas.microsoft.com/office/drawing/2014/main" val="20003"/>
                    </a:ext>
                  </a:extLst>
                </a:gridCol>
                <a:gridCol w="1186069">
                  <a:extLst>
                    <a:ext uri="{9D8B030D-6E8A-4147-A177-3AD203B41FA5}">
                      <a16:colId xmlns:a16="http://schemas.microsoft.com/office/drawing/2014/main" val="2160514163"/>
                    </a:ext>
                  </a:extLst>
                </a:gridCol>
              </a:tblGrid>
              <a:tr h="280164">
                <a:tc>
                  <a:txBody>
                    <a:bodyPr/>
                    <a:lstStyle/>
                    <a:p>
                      <a:pPr algn="ctr" fontAlgn="b"/>
                      <a:r>
                        <a:rPr lang="en-US" sz="1800" b="1" i="0" u="none" strike="noStrike" dirty="0">
                          <a:solidFill>
                            <a:srgbClr val="000000"/>
                          </a:solidFill>
                          <a:latin typeface="Calibri"/>
                        </a:rPr>
                        <a:t>Subject</a:t>
                      </a:r>
                    </a:p>
                  </a:txBody>
                  <a:tcPr marL="9525" marR="9525" marT="9525" marB="0" anchor="b">
                    <a:lnL>
                      <a:noFill/>
                    </a:lnL>
                    <a:lnR>
                      <a:noFill/>
                    </a:lnR>
                    <a:lnT>
                      <a:noFill/>
                    </a:lnT>
                    <a:lnB>
                      <a:noFill/>
                    </a:lnB>
                  </a:tcPr>
                </a:tc>
                <a:tc>
                  <a:txBody>
                    <a:bodyPr/>
                    <a:lstStyle/>
                    <a:p>
                      <a:pPr algn="ctr" fontAlgn="b"/>
                      <a:r>
                        <a:rPr lang="en-US" sz="1800" b="1" i="0" u="none" strike="noStrike" dirty="0">
                          <a:solidFill>
                            <a:schemeClr val="tx2"/>
                          </a:solidFill>
                          <a:latin typeface="Calibri"/>
                        </a:rPr>
                        <a:t>Fatigued</a:t>
                      </a:r>
                    </a:p>
                  </a:txBody>
                  <a:tcPr marL="9525" marR="9525" marT="9525" marB="0" anchor="b">
                    <a:lnL>
                      <a:noFill/>
                    </a:lnL>
                    <a:lnR>
                      <a:noFill/>
                    </a:lnR>
                    <a:lnT>
                      <a:noFill/>
                    </a:lnT>
                    <a:lnB>
                      <a:noFill/>
                    </a:lnB>
                  </a:tcPr>
                </a:tc>
                <a:tc>
                  <a:txBody>
                    <a:bodyPr/>
                    <a:lstStyle/>
                    <a:p>
                      <a:pPr algn="ctr" fontAlgn="b"/>
                      <a:r>
                        <a:rPr lang="en-US" sz="1800" b="1" i="0" u="none" strike="noStrike" dirty="0">
                          <a:solidFill>
                            <a:srgbClr val="FF0000"/>
                          </a:solidFill>
                          <a:latin typeface="Calibri"/>
                        </a:rPr>
                        <a:t>Not Fatigued</a:t>
                      </a:r>
                    </a:p>
                  </a:txBody>
                  <a:tcPr marL="9525" marR="9525" marT="9525" marB="0" anchor="b">
                    <a:lnL>
                      <a:noFill/>
                    </a:lnL>
                    <a:lnR>
                      <a:noFill/>
                    </a:lnR>
                    <a:lnT>
                      <a:noFill/>
                    </a:lnT>
                    <a:lnB>
                      <a:noFill/>
                    </a:lnB>
                  </a:tcPr>
                </a:tc>
                <a:tc>
                  <a:txBody>
                    <a:bodyPr/>
                    <a:lstStyle/>
                    <a:p>
                      <a:pPr algn="ctr" fontAlgn="b"/>
                      <a:r>
                        <a:rPr lang="en-US" sz="1800" b="1" i="0" u="none" strike="noStrike" dirty="0">
                          <a:solidFill>
                            <a:srgbClr val="00B050"/>
                          </a:solidFill>
                          <a:latin typeface="Calibri"/>
                        </a:rPr>
                        <a:t>Difference</a:t>
                      </a:r>
                    </a:p>
                  </a:txBody>
                  <a:tcPr marL="9525" marR="9525" marT="9525" marB="0" anchor="b">
                    <a:lnL>
                      <a:noFill/>
                    </a:lnL>
                    <a:lnR>
                      <a:noFill/>
                    </a:lnR>
                    <a:lnT>
                      <a:noFill/>
                    </a:lnT>
                    <a:lnB>
                      <a:noFill/>
                    </a:lnB>
                  </a:tcPr>
                </a:tc>
                <a:tc>
                  <a:txBody>
                    <a:bodyPr/>
                    <a:lstStyle/>
                    <a:p>
                      <a:pPr algn="ctr" fontAlgn="b"/>
                      <a:r>
                        <a:rPr lang="en-US" sz="1800" b="1" i="0" u="none" strike="noStrike" dirty="0">
                          <a:solidFill>
                            <a:srgbClr val="00B050"/>
                          </a:solidFill>
                          <a:latin typeface="Calibri"/>
                        </a:rPr>
                        <a:t>Sign</a:t>
                      </a:r>
                    </a:p>
                  </a:txBody>
                  <a:tcPr marL="9525" marR="9525" marT="9525" marB="0" anchor="b">
                    <a:lnL>
                      <a:noFill/>
                    </a:lnL>
                    <a:lnR>
                      <a:noFill/>
                    </a:lnR>
                    <a:lnT>
                      <a:noFill/>
                    </a:lnT>
                    <a:lnB>
                      <a:noFill/>
                    </a:lnB>
                  </a:tcPr>
                </a:tc>
                <a:extLst>
                  <a:ext uri="{0D108BD9-81ED-4DB2-BD59-A6C34878D82A}">
                    <a16:rowId xmlns:a16="http://schemas.microsoft.com/office/drawing/2014/main" val="10000"/>
                  </a:ext>
                </a:extLst>
              </a:tr>
              <a:tr h="280164">
                <a:tc>
                  <a:txBody>
                    <a:bodyPr/>
                    <a:lstStyle/>
                    <a:p>
                      <a:pPr algn="ctr" fontAlgn="b"/>
                      <a:r>
                        <a:rPr lang="en-US" sz="1800" b="0" i="0" u="none" strike="noStrike" dirty="0">
                          <a:solidFill>
                            <a:srgbClr val="000000"/>
                          </a:solidFill>
                          <a:latin typeface="Calibri"/>
                        </a:rPr>
                        <a:t>1</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530</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567</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-37</a:t>
                      </a:r>
                    </a:p>
                  </a:txBody>
                  <a:tcPr marL="9525" marR="9525" marT="9525" marB="0" anchor="ctr">
                    <a:lnL>
                      <a:noFill/>
                    </a:lnL>
                    <a:lnR>
                      <a:noFill/>
                    </a:lnR>
                    <a:lnT>
                      <a:noFill/>
                    </a:lnT>
                    <a:lnB>
                      <a:noFill/>
                    </a:lnB>
                  </a:tcPr>
                </a:tc>
                <a:tc>
                  <a:txBody>
                    <a:bodyPr/>
                    <a:lstStyle/>
                    <a:p>
                      <a:pPr algn="ctr" fontAlgn="b"/>
                      <a:r>
                        <a:rPr lang="en-US" sz="1800" b="0" i="0" u="none" strike="noStrike" dirty="0">
                          <a:solidFill>
                            <a:srgbClr val="000000"/>
                          </a:solidFill>
                          <a:latin typeface="Calibri"/>
                        </a:rPr>
                        <a:t>-</a:t>
                      </a:r>
                    </a:p>
                  </a:txBody>
                  <a:tcPr marL="9525" marR="9525" marT="9525" marB="0" anchor="ctr">
                    <a:lnL>
                      <a:noFill/>
                    </a:lnL>
                    <a:lnR>
                      <a:noFill/>
                    </a:lnR>
                    <a:lnT>
                      <a:noFill/>
                    </a:lnT>
                    <a:lnB>
                      <a:noFill/>
                    </a:lnB>
                  </a:tcPr>
                </a:tc>
                <a:extLst>
                  <a:ext uri="{0D108BD9-81ED-4DB2-BD59-A6C34878D82A}">
                    <a16:rowId xmlns:a16="http://schemas.microsoft.com/office/drawing/2014/main" val="10001"/>
                  </a:ext>
                </a:extLst>
              </a:tr>
              <a:tr h="280164">
                <a:tc>
                  <a:txBody>
                    <a:bodyPr/>
                    <a:lstStyle/>
                    <a:p>
                      <a:pPr algn="ctr" fontAlgn="b"/>
                      <a:r>
                        <a:rPr lang="en-US" sz="1800" b="0" i="0" u="none" strike="noStrike" dirty="0">
                          <a:solidFill>
                            <a:srgbClr val="000000"/>
                          </a:solidFill>
                          <a:latin typeface="Calibri"/>
                        </a:rPr>
                        <a:t>2</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492</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512</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-20</a:t>
                      </a:r>
                    </a:p>
                  </a:txBody>
                  <a:tcPr marL="9525" marR="9525" marT="9525" marB="0" anchor="ctr">
                    <a:lnL>
                      <a:noFill/>
                    </a:lnL>
                    <a:lnR>
                      <a:noFill/>
                    </a:lnR>
                    <a:lnT>
                      <a:noFill/>
                    </a:lnT>
                    <a:lnB>
                      <a:noFill/>
                    </a:lnB>
                  </a:tcPr>
                </a:tc>
                <a:tc>
                  <a:txBody>
                    <a:bodyPr/>
                    <a:lstStyle/>
                    <a:p>
                      <a:pPr algn="ctr" fontAlgn="b"/>
                      <a:r>
                        <a:rPr lang="en-US" sz="1800" b="0" i="0" u="none" strike="noStrike" dirty="0">
                          <a:solidFill>
                            <a:srgbClr val="000000"/>
                          </a:solidFill>
                          <a:latin typeface="Calibri"/>
                        </a:rPr>
                        <a:t>-</a:t>
                      </a:r>
                    </a:p>
                  </a:txBody>
                  <a:tcPr marL="9525" marR="9525" marT="9525" marB="0" anchor="ctr">
                    <a:lnL>
                      <a:noFill/>
                    </a:lnL>
                    <a:lnR>
                      <a:noFill/>
                    </a:lnR>
                    <a:lnT>
                      <a:noFill/>
                    </a:lnT>
                    <a:lnB>
                      <a:noFill/>
                    </a:lnB>
                  </a:tcPr>
                </a:tc>
                <a:extLst>
                  <a:ext uri="{0D108BD9-81ED-4DB2-BD59-A6C34878D82A}">
                    <a16:rowId xmlns:a16="http://schemas.microsoft.com/office/drawing/2014/main" val="10002"/>
                  </a:ext>
                </a:extLst>
              </a:tr>
              <a:tr h="280164">
                <a:tc>
                  <a:txBody>
                    <a:bodyPr/>
                    <a:lstStyle/>
                    <a:p>
                      <a:pPr algn="ctr" fontAlgn="b"/>
                      <a:r>
                        <a:rPr lang="en-US" sz="1800" b="0" i="0" u="none" strike="noStrike" dirty="0">
                          <a:solidFill>
                            <a:srgbClr val="000000"/>
                          </a:solidFill>
                          <a:latin typeface="Calibri"/>
                        </a:rPr>
                        <a:t>3</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510</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509</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1</a:t>
                      </a:r>
                    </a:p>
                  </a:txBody>
                  <a:tcPr marL="9525" marR="9525" marT="9525" marB="0" anchor="ctr">
                    <a:lnL>
                      <a:noFill/>
                    </a:lnL>
                    <a:lnR>
                      <a:noFill/>
                    </a:lnR>
                    <a:lnT>
                      <a:noFill/>
                    </a:lnT>
                    <a:lnB>
                      <a:noFill/>
                    </a:lnB>
                  </a:tcPr>
                </a:tc>
                <a:tc>
                  <a:txBody>
                    <a:bodyPr/>
                    <a:lstStyle/>
                    <a:p>
                      <a:pPr algn="ctr" fontAlgn="b"/>
                      <a:r>
                        <a:rPr lang="en-US" sz="1800" b="0" i="0" u="none" strike="noStrike" dirty="0">
                          <a:solidFill>
                            <a:srgbClr val="000000"/>
                          </a:solidFill>
                          <a:latin typeface="Calibri"/>
                        </a:rPr>
                        <a:t>+</a:t>
                      </a:r>
                    </a:p>
                  </a:txBody>
                  <a:tcPr marL="9525" marR="9525" marT="9525" marB="0" anchor="ctr">
                    <a:lnL>
                      <a:noFill/>
                    </a:lnL>
                    <a:lnR>
                      <a:noFill/>
                    </a:lnR>
                    <a:lnT>
                      <a:noFill/>
                    </a:lnT>
                    <a:lnB>
                      <a:noFill/>
                    </a:lnB>
                  </a:tcPr>
                </a:tc>
                <a:extLst>
                  <a:ext uri="{0D108BD9-81ED-4DB2-BD59-A6C34878D82A}">
                    <a16:rowId xmlns:a16="http://schemas.microsoft.com/office/drawing/2014/main" val="10003"/>
                  </a:ext>
                </a:extLst>
              </a:tr>
              <a:tr h="280164">
                <a:tc>
                  <a:txBody>
                    <a:bodyPr/>
                    <a:lstStyle/>
                    <a:p>
                      <a:pPr algn="ctr" fontAlgn="b"/>
                      <a:r>
                        <a:rPr lang="en-US" sz="1800" b="0" i="0" u="none" strike="noStrike" dirty="0">
                          <a:solidFill>
                            <a:srgbClr val="000000"/>
                          </a:solidFill>
                          <a:latin typeface="Calibri"/>
                        </a:rPr>
                        <a:t>4</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580</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593</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-13</a:t>
                      </a:r>
                    </a:p>
                  </a:txBody>
                  <a:tcPr marL="9525" marR="9525" marT="9525" marB="0" anchor="ctr">
                    <a:lnL>
                      <a:noFill/>
                    </a:lnL>
                    <a:lnR>
                      <a:noFill/>
                    </a:lnR>
                    <a:lnT>
                      <a:noFill/>
                    </a:lnT>
                    <a:lnB>
                      <a:noFill/>
                    </a:lnB>
                  </a:tcPr>
                </a:tc>
                <a:tc>
                  <a:txBody>
                    <a:bodyPr/>
                    <a:lstStyle/>
                    <a:p>
                      <a:pPr algn="ctr" fontAlgn="b"/>
                      <a:r>
                        <a:rPr lang="en-US" sz="1800" b="0" i="0" u="none" strike="noStrike" dirty="0">
                          <a:solidFill>
                            <a:srgbClr val="000000"/>
                          </a:solidFill>
                          <a:latin typeface="Calibri"/>
                        </a:rPr>
                        <a:t>-</a:t>
                      </a:r>
                    </a:p>
                  </a:txBody>
                  <a:tcPr marL="9525" marR="9525" marT="9525" marB="0" anchor="ctr">
                    <a:lnL>
                      <a:noFill/>
                    </a:lnL>
                    <a:lnR>
                      <a:noFill/>
                    </a:lnR>
                    <a:lnT>
                      <a:noFill/>
                    </a:lnT>
                    <a:lnB>
                      <a:noFill/>
                    </a:lnB>
                  </a:tcPr>
                </a:tc>
                <a:extLst>
                  <a:ext uri="{0D108BD9-81ED-4DB2-BD59-A6C34878D82A}">
                    <a16:rowId xmlns:a16="http://schemas.microsoft.com/office/drawing/2014/main" val="10004"/>
                  </a:ext>
                </a:extLst>
              </a:tr>
              <a:tr h="280164">
                <a:tc>
                  <a:txBody>
                    <a:bodyPr/>
                    <a:lstStyle/>
                    <a:p>
                      <a:pPr algn="ctr" fontAlgn="b"/>
                      <a:r>
                        <a:rPr lang="en-US" sz="1800" b="0" i="0" u="none" strike="noStrike" dirty="0">
                          <a:solidFill>
                            <a:srgbClr val="000000"/>
                          </a:solidFill>
                          <a:latin typeface="Calibri"/>
                        </a:rPr>
                        <a:t>5</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600</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588</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12</a:t>
                      </a:r>
                    </a:p>
                  </a:txBody>
                  <a:tcPr marL="9525" marR="9525" marT="9525" marB="0" anchor="ctr">
                    <a:lnL>
                      <a:noFill/>
                    </a:lnL>
                    <a:lnR>
                      <a:noFill/>
                    </a:lnR>
                    <a:lnT>
                      <a:noFill/>
                    </a:lnT>
                    <a:lnB>
                      <a:noFill/>
                    </a:lnB>
                  </a:tcPr>
                </a:tc>
                <a:tc>
                  <a:txBody>
                    <a:bodyPr/>
                    <a:lstStyle/>
                    <a:p>
                      <a:pPr algn="ctr" fontAlgn="b"/>
                      <a:r>
                        <a:rPr lang="en-US" sz="1800" b="0" i="0" u="none" strike="noStrike" dirty="0">
                          <a:solidFill>
                            <a:srgbClr val="000000"/>
                          </a:solidFill>
                          <a:latin typeface="Calibri"/>
                        </a:rPr>
                        <a:t>+</a:t>
                      </a:r>
                    </a:p>
                  </a:txBody>
                  <a:tcPr marL="9525" marR="9525" marT="9525" marB="0" anchor="ctr">
                    <a:lnL>
                      <a:noFill/>
                    </a:lnL>
                    <a:lnR>
                      <a:noFill/>
                    </a:lnR>
                    <a:lnT>
                      <a:noFill/>
                    </a:lnT>
                    <a:lnB>
                      <a:noFill/>
                    </a:lnB>
                  </a:tcPr>
                </a:tc>
                <a:extLst>
                  <a:ext uri="{0D108BD9-81ED-4DB2-BD59-A6C34878D82A}">
                    <a16:rowId xmlns:a16="http://schemas.microsoft.com/office/drawing/2014/main" val="10005"/>
                  </a:ext>
                </a:extLst>
              </a:tr>
              <a:tr h="280164">
                <a:tc>
                  <a:txBody>
                    <a:bodyPr/>
                    <a:lstStyle/>
                    <a:p>
                      <a:pPr algn="ctr" fontAlgn="b"/>
                      <a:r>
                        <a:rPr lang="en-US" sz="1800" b="0" i="0" u="none" strike="noStrike" dirty="0">
                          <a:solidFill>
                            <a:srgbClr val="000000"/>
                          </a:solidFill>
                          <a:latin typeface="Calibri"/>
                        </a:rPr>
                        <a:t>6</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483</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491</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-8</a:t>
                      </a:r>
                    </a:p>
                  </a:txBody>
                  <a:tcPr marL="9525" marR="9525" marT="9525" marB="0" anchor="ctr">
                    <a:lnL>
                      <a:noFill/>
                    </a:lnL>
                    <a:lnR>
                      <a:noFill/>
                    </a:lnR>
                    <a:lnT>
                      <a:noFill/>
                    </a:lnT>
                    <a:lnB>
                      <a:noFill/>
                    </a:lnB>
                  </a:tcPr>
                </a:tc>
                <a:tc>
                  <a:txBody>
                    <a:bodyPr/>
                    <a:lstStyle/>
                    <a:p>
                      <a:pPr algn="ctr" fontAlgn="b"/>
                      <a:r>
                        <a:rPr lang="en-US" sz="1800" b="0" i="0" u="none" strike="noStrike" dirty="0">
                          <a:solidFill>
                            <a:srgbClr val="000000"/>
                          </a:solidFill>
                          <a:latin typeface="Calibri"/>
                        </a:rPr>
                        <a:t>-</a:t>
                      </a:r>
                    </a:p>
                  </a:txBody>
                  <a:tcPr marL="9525" marR="9525" marT="9525" marB="0" anchor="ctr">
                    <a:lnL>
                      <a:noFill/>
                    </a:lnL>
                    <a:lnR>
                      <a:noFill/>
                    </a:lnR>
                    <a:lnT>
                      <a:noFill/>
                    </a:lnT>
                    <a:lnB>
                      <a:noFill/>
                    </a:lnB>
                  </a:tcPr>
                </a:tc>
                <a:extLst>
                  <a:ext uri="{0D108BD9-81ED-4DB2-BD59-A6C34878D82A}">
                    <a16:rowId xmlns:a16="http://schemas.microsoft.com/office/drawing/2014/main" val="10006"/>
                  </a:ext>
                </a:extLst>
              </a:tr>
              <a:tr h="280164">
                <a:tc>
                  <a:txBody>
                    <a:bodyPr/>
                    <a:lstStyle/>
                    <a:p>
                      <a:pPr algn="ctr" fontAlgn="b"/>
                      <a:r>
                        <a:rPr lang="en-US" sz="1800" b="0" i="0" u="none" strike="noStrike" dirty="0">
                          <a:solidFill>
                            <a:srgbClr val="000000"/>
                          </a:solidFill>
                          <a:latin typeface="Calibri"/>
                        </a:rPr>
                        <a:t>7</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512</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520</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-8</a:t>
                      </a:r>
                    </a:p>
                  </a:txBody>
                  <a:tcPr marL="9525" marR="9525" marT="9525" marB="0" anchor="ctr">
                    <a:lnL>
                      <a:noFill/>
                    </a:lnL>
                    <a:lnR>
                      <a:noFill/>
                    </a:lnR>
                    <a:lnT>
                      <a:noFill/>
                    </a:lnT>
                    <a:lnB>
                      <a:noFill/>
                    </a:lnB>
                  </a:tcPr>
                </a:tc>
                <a:tc>
                  <a:txBody>
                    <a:bodyPr/>
                    <a:lstStyle/>
                    <a:p>
                      <a:pPr algn="ctr" fontAlgn="b"/>
                      <a:r>
                        <a:rPr lang="en-US" sz="1800" b="0" i="0" u="none" strike="noStrike" dirty="0">
                          <a:solidFill>
                            <a:srgbClr val="000000"/>
                          </a:solidFill>
                          <a:latin typeface="Calibri"/>
                        </a:rPr>
                        <a:t>-</a:t>
                      </a:r>
                    </a:p>
                  </a:txBody>
                  <a:tcPr marL="9525" marR="9525" marT="9525" marB="0" anchor="ctr">
                    <a:lnL>
                      <a:noFill/>
                    </a:lnL>
                    <a:lnR>
                      <a:noFill/>
                    </a:lnR>
                    <a:lnT>
                      <a:noFill/>
                    </a:lnT>
                    <a:lnB>
                      <a:noFill/>
                    </a:lnB>
                  </a:tcPr>
                </a:tc>
                <a:extLst>
                  <a:ext uri="{0D108BD9-81ED-4DB2-BD59-A6C34878D82A}">
                    <a16:rowId xmlns:a16="http://schemas.microsoft.com/office/drawing/2014/main" val="10007"/>
                  </a:ext>
                </a:extLst>
              </a:tr>
              <a:tr h="280164">
                <a:tc>
                  <a:txBody>
                    <a:bodyPr/>
                    <a:lstStyle/>
                    <a:p>
                      <a:pPr algn="ctr" fontAlgn="b"/>
                      <a:r>
                        <a:rPr lang="en-US" sz="1800" b="0" i="0" u="none" strike="noStrike" dirty="0">
                          <a:solidFill>
                            <a:srgbClr val="000000"/>
                          </a:solidFill>
                          <a:latin typeface="Calibri"/>
                        </a:rPr>
                        <a:t>8</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575</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588</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-13</a:t>
                      </a:r>
                    </a:p>
                  </a:txBody>
                  <a:tcPr marL="9525" marR="9525" marT="9525" marB="0" anchor="ctr">
                    <a:lnL>
                      <a:noFill/>
                    </a:lnL>
                    <a:lnR>
                      <a:noFill/>
                    </a:lnR>
                    <a:lnT>
                      <a:noFill/>
                    </a:lnT>
                    <a:lnB>
                      <a:noFill/>
                    </a:lnB>
                  </a:tcPr>
                </a:tc>
                <a:tc>
                  <a:txBody>
                    <a:bodyPr/>
                    <a:lstStyle/>
                    <a:p>
                      <a:pPr algn="ctr" fontAlgn="b"/>
                      <a:r>
                        <a:rPr lang="en-US" sz="1800" b="0" i="0" u="none" strike="noStrike" dirty="0">
                          <a:solidFill>
                            <a:srgbClr val="000000"/>
                          </a:solidFill>
                          <a:latin typeface="Calibri"/>
                        </a:rPr>
                        <a:t>-</a:t>
                      </a:r>
                    </a:p>
                  </a:txBody>
                  <a:tcPr marL="9525" marR="9525" marT="9525" marB="0" anchor="ctr">
                    <a:lnL>
                      <a:noFill/>
                    </a:lnL>
                    <a:lnR>
                      <a:noFill/>
                    </a:lnR>
                    <a:lnT>
                      <a:noFill/>
                    </a:lnT>
                    <a:lnB>
                      <a:noFill/>
                    </a:lnB>
                  </a:tcPr>
                </a:tc>
                <a:extLst>
                  <a:ext uri="{0D108BD9-81ED-4DB2-BD59-A6C34878D82A}">
                    <a16:rowId xmlns:a16="http://schemas.microsoft.com/office/drawing/2014/main" val="10008"/>
                  </a:ext>
                </a:extLst>
              </a:tr>
              <a:tr h="280164">
                <a:tc>
                  <a:txBody>
                    <a:bodyPr/>
                    <a:lstStyle/>
                    <a:p>
                      <a:pPr algn="ctr" fontAlgn="b"/>
                      <a:r>
                        <a:rPr lang="en-US" sz="1800" b="0" i="0" u="none" strike="noStrike" dirty="0">
                          <a:solidFill>
                            <a:srgbClr val="000000"/>
                          </a:solidFill>
                          <a:latin typeface="Calibri"/>
                        </a:rPr>
                        <a:t>9</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530</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529</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1</a:t>
                      </a:r>
                    </a:p>
                  </a:txBody>
                  <a:tcPr marL="9525" marR="9525" marT="9525" marB="0" anchor="ctr">
                    <a:lnL>
                      <a:noFill/>
                    </a:lnL>
                    <a:lnR>
                      <a:noFill/>
                    </a:lnR>
                    <a:lnT>
                      <a:noFill/>
                    </a:lnT>
                    <a:lnB>
                      <a:noFill/>
                    </a:lnB>
                  </a:tcPr>
                </a:tc>
                <a:tc>
                  <a:txBody>
                    <a:bodyPr/>
                    <a:lstStyle/>
                    <a:p>
                      <a:pPr algn="ctr" fontAlgn="b"/>
                      <a:r>
                        <a:rPr lang="en-US" sz="1800" b="0" i="0" u="none" strike="noStrike" dirty="0">
                          <a:solidFill>
                            <a:srgbClr val="000000"/>
                          </a:solidFill>
                          <a:latin typeface="Calibri"/>
                        </a:rPr>
                        <a:t>+</a:t>
                      </a:r>
                    </a:p>
                  </a:txBody>
                  <a:tcPr marL="9525" marR="9525" marT="9525" marB="0" anchor="ctr">
                    <a:lnL>
                      <a:noFill/>
                    </a:lnL>
                    <a:lnR>
                      <a:noFill/>
                    </a:lnR>
                    <a:lnT>
                      <a:noFill/>
                    </a:lnT>
                    <a:lnB>
                      <a:noFill/>
                    </a:lnB>
                  </a:tcPr>
                </a:tc>
                <a:extLst>
                  <a:ext uri="{0D108BD9-81ED-4DB2-BD59-A6C34878D82A}">
                    <a16:rowId xmlns:a16="http://schemas.microsoft.com/office/drawing/2014/main" val="10009"/>
                  </a:ext>
                </a:extLst>
              </a:tr>
              <a:tr h="280164">
                <a:tc>
                  <a:txBody>
                    <a:bodyPr/>
                    <a:lstStyle/>
                    <a:p>
                      <a:pPr algn="ctr" fontAlgn="b"/>
                      <a:r>
                        <a:rPr lang="en-US" sz="1800" b="0" i="0" u="none" strike="noStrike" dirty="0">
                          <a:solidFill>
                            <a:srgbClr val="000000"/>
                          </a:solidFill>
                          <a:latin typeface="Calibri"/>
                        </a:rPr>
                        <a:t>10</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490</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508</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-18</a:t>
                      </a:r>
                    </a:p>
                  </a:txBody>
                  <a:tcPr marL="9525" marR="9525" marT="9525" marB="0" anchor="ctr">
                    <a:lnL>
                      <a:noFill/>
                    </a:lnL>
                    <a:lnR>
                      <a:noFill/>
                    </a:lnR>
                    <a:lnT>
                      <a:noFill/>
                    </a:lnT>
                    <a:lnB>
                      <a:noFill/>
                    </a:lnB>
                  </a:tcPr>
                </a:tc>
                <a:tc>
                  <a:txBody>
                    <a:bodyPr/>
                    <a:lstStyle/>
                    <a:p>
                      <a:pPr algn="ctr" fontAlgn="b"/>
                      <a:r>
                        <a:rPr lang="en-US" sz="1800" b="0" i="0" u="none" strike="noStrike" dirty="0">
                          <a:solidFill>
                            <a:srgbClr val="000000"/>
                          </a:solidFill>
                          <a:latin typeface="Calibri"/>
                        </a:rPr>
                        <a:t>-</a:t>
                      </a:r>
                    </a:p>
                  </a:txBody>
                  <a:tcPr marL="9525" marR="9525" marT="9525" marB="0" anchor="ctr">
                    <a:lnL>
                      <a:noFill/>
                    </a:lnL>
                    <a:lnR>
                      <a:noFill/>
                    </a:lnR>
                    <a:lnT>
                      <a:noFill/>
                    </a:lnT>
                    <a:lnB>
                      <a:noFill/>
                    </a:lnB>
                  </a:tcPr>
                </a:tc>
                <a:extLst>
                  <a:ext uri="{0D108BD9-81ED-4DB2-BD59-A6C34878D82A}">
                    <a16:rowId xmlns:a16="http://schemas.microsoft.com/office/drawing/2014/main" val="10010"/>
                  </a:ext>
                </a:extLst>
              </a:tr>
            </a:tbl>
          </a:graphicData>
        </a:graphic>
      </p:graphicFrame>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9451E94-D6EA-9748-9422-31F70FA8158F}"/>
                  </a:ext>
                </a:extLst>
              </p:cNvPr>
              <p:cNvSpPr txBox="1"/>
              <p:nvPr/>
            </p:nvSpPr>
            <p:spPr>
              <a:xfrm>
                <a:off x="7275152" y="3208653"/>
                <a:ext cx="3767880" cy="128714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charset="0"/>
                        </a:rPr>
                        <m:t>= </m:t>
                      </m:r>
                      <m:f>
                        <m:fPr>
                          <m:ctrlPr>
                            <a:rPr lang="en-US" sz="2400" i="1" smtClean="0">
                              <a:latin typeface="Cambria Math" panose="02040503050406030204" pitchFamily="18" charset="0"/>
                            </a:rPr>
                          </m:ctrlPr>
                        </m:fPr>
                        <m:num>
                          <m:r>
                            <a:rPr lang="en-US" sz="2400" b="0" i="1" smtClean="0">
                              <a:latin typeface="Cambria Math" panose="02040503050406030204" pitchFamily="18" charset="0"/>
                            </a:rPr>
                            <m:t>7− .5</m:t>
                          </m:r>
                          <m:r>
                            <a:rPr lang="en-US" sz="2400" b="0" i="1" smtClean="0">
                              <a:latin typeface="Cambria Math" charset="0"/>
                            </a:rPr>
                            <m:t> −</m:t>
                          </m:r>
                          <m:f>
                            <m:fPr>
                              <m:type m:val="skw"/>
                              <m:ctrlPr>
                                <a:rPr lang="en-US" sz="2400" b="0" i="1" smtClean="0">
                                  <a:latin typeface="Cambria Math" panose="02040503050406030204" pitchFamily="18" charset="0"/>
                                </a:rPr>
                              </m:ctrlPr>
                            </m:fPr>
                            <m:num>
                              <m:r>
                                <a:rPr lang="en-US" sz="2400" b="0" i="1" smtClean="0">
                                  <a:latin typeface="Cambria Math" panose="02040503050406030204" pitchFamily="18" charset="0"/>
                                </a:rPr>
                                <m:t>10</m:t>
                              </m:r>
                            </m:num>
                            <m:den>
                              <m:r>
                                <a:rPr lang="en-US" sz="2400" b="0" i="1" smtClean="0">
                                  <a:latin typeface="Cambria Math" charset="0"/>
                                </a:rPr>
                                <m:t>2</m:t>
                              </m:r>
                            </m:den>
                          </m:f>
                        </m:num>
                        <m:den>
                          <m:rad>
                            <m:radPr>
                              <m:degHide m:val="on"/>
                              <m:ctrlPr>
                                <a:rPr lang="en-US" sz="2400" i="1" smtClean="0">
                                  <a:latin typeface="Cambria Math" panose="02040503050406030204" pitchFamily="18" charset="0"/>
                                </a:rPr>
                              </m:ctrlPr>
                            </m:radPr>
                            <m:deg/>
                            <m:e>
                              <m:f>
                                <m:fPr>
                                  <m:type m:val="skw"/>
                                  <m:ctrlPr>
                                    <a:rPr lang="en-US" sz="2400" i="1" smtClean="0">
                                      <a:latin typeface="Cambria Math" panose="02040503050406030204" pitchFamily="18" charset="0"/>
                                    </a:rPr>
                                  </m:ctrlPr>
                                </m:fPr>
                                <m:num>
                                  <m:r>
                                    <a:rPr lang="en-US" sz="2400" b="0" i="1" smtClean="0">
                                      <a:latin typeface="Cambria Math" panose="02040503050406030204" pitchFamily="18" charset="0"/>
                                    </a:rPr>
                                    <m:t>10</m:t>
                                  </m:r>
                                </m:num>
                                <m:den>
                                  <m:r>
                                    <a:rPr lang="en-US" sz="2400" b="0" i="1" smtClean="0">
                                      <a:latin typeface="Cambria Math" charset="0"/>
                                    </a:rPr>
                                    <m:t>4</m:t>
                                  </m:r>
                                </m:den>
                              </m:f>
                            </m:e>
                          </m:rad>
                        </m:den>
                      </m:f>
                      <m:r>
                        <a:rPr lang="en-US" sz="2400" b="0" i="1" smtClean="0">
                          <a:latin typeface="Cambria Math" charset="0"/>
                        </a:rPr>
                        <m:t>=</m:t>
                      </m:r>
                      <m:r>
                        <a:rPr lang="en-US" sz="2400" b="0" i="1" smtClean="0">
                          <a:latin typeface="Cambria Math" panose="02040503050406030204" pitchFamily="18" charset="0"/>
                        </a:rPr>
                        <m:t>.6666</m:t>
                      </m:r>
                    </m:oMath>
                  </m:oMathPara>
                </a14:m>
                <a:endParaRPr lang="en-US" sz="2400" dirty="0"/>
              </a:p>
            </p:txBody>
          </p:sp>
        </mc:Choice>
        <mc:Fallback xmlns="">
          <p:sp>
            <p:nvSpPr>
              <p:cNvPr id="10" name="TextBox 9">
                <a:extLst>
                  <a:ext uri="{FF2B5EF4-FFF2-40B4-BE49-F238E27FC236}">
                    <a16:creationId xmlns:a16="http://schemas.microsoft.com/office/drawing/2014/main" id="{69451E94-D6EA-9748-9422-31F70FA8158F}"/>
                  </a:ext>
                </a:extLst>
              </p:cNvPr>
              <p:cNvSpPr txBox="1">
                <a:spLocks noRot="1" noChangeAspect="1" noMove="1" noResize="1" noEditPoints="1" noAdjustHandles="1" noChangeArrowheads="1" noChangeShapeType="1" noTextEdit="1"/>
              </p:cNvSpPr>
              <p:nvPr/>
            </p:nvSpPr>
            <p:spPr>
              <a:xfrm>
                <a:off x="7275152" y="3208653"/>
                <a:ext cx="3767880" cy="1287147"/>
              </a:xfrm>
              <a:prstGeom prst="rect">
                <a:avLst/>
              </a:prstGeom>
              <a:blipFill>
                <a:blip r:embed="rId2"/>
                <a:stretch>
                  <a:fillRect t="-58252" b="-7961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755A4C2-B277-D74E-BBE7-20FA20A1C411}"/>
                  </a:ext>
                </a:extLst>
              </p:cNvPr>
              <p:cNvSpPr txBox="1"/>
              <p:nvPr/>
            </p:nvSpPr>
            <p:spPr>
              <a:xfrm>
                <a:off x="7278869" y="5609719"/>
                <a:ext cx="3244542"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charset="0"/>
                        </a:rPr>
                        <m:t>𝑃</m:t>
                      </m:r>
                      <m:d>
                        <m:dPr>
                          <m:ctrlPr>
                            <a:rPr lang="en-US" sz="2400" b="0" i="1" smtClean="0">
                              <a:latin typeface="Cambria Math" panose="02040503050406030204" pitchFamily="18" charset="0"/>
                            </a:rPr>
                          </m:ctrlPr>
                        </m:dPr>
                        <m:e>
                          <m:r>
                            <a:rPr lang="en-US" sz="2400" b="0" i="1" smtClean="0">
                              <a:latin typeface="Cambria Math" charset="0"/>
                            </a:rPr>
                            <m:t>𝑍</m:t>
                          </m:r>
                          <m:r>
                            <a:rPr lang="en-US" sz="2400" b="0" i="1" smtClean="0">
                              <a:latin typeface="Cambria Math" panose="02040503050406030204" pitchFamily="18" charset="0"/>
                            </a:rPr>
                            <m:t>&gt;.9487</m:t>
                          </m:r>
                        </m:e>
                      </m:d>
                      <m:r>
                        <a:rPr lang="en-US" sz="2400" b="0" i="1" smtClean="0">
                          <a:latin typeface="Cambria Math" charset="0"/>
                        </a:rPr>
                        <m:t>=0.</m:t>
                      </m:r>
                      <m:r>
                        <a:rPr lang="en-US" sz="2400" b="0" i="1" smtClean="0">
                          <a:latin typeface="Cambria Math" panose="02040503050406030204" pitchFamily="18" charset="0"/>
                        </a:rPr>
                        <m:t>1714</m:t>
                      </m:r>
                    </m:oMath>
                  </m:oMathPara>
                </a14:m>
                <a:endParaRPr lang="en-US" sz="2400" dirty="0"/>
              </a:p>
            </p:txBody>
          </p:sp>
        </mc:Choice>
        <mc:Fallback xmlns="">
          <p:sp>
            <p:nvSpPr>
              <p:cNvPr id="11" name="TextBox 10">
                <a:extLst>
                  <a:ext uri="{FF2B5EF4-FFF2-40B4-BE49-F238E27FC236}">
                    <a16:creationId xmlns:a16="http://schemas.microsoft.com/office/drawing/2014/main" id="{8755A4C2-B277-D74E-BBE7-20FA20A1C411}"/>
                  </a:ext>
                </a:extLst>
              </p:cNvPr>
              <p:cNvSpPr txBox="1">
                <a:spLocks noRot="1" noChangeAspect="1" noMove="1" noResize="1" noEditPoints="1" noAdjustHandles="1" noChangeArrowheads="1" noChangeShapeType="1" noTextEdit="1"/>
              </p:cNvSpPr>
              <p:nvPr/>
            </p:nvSpPr>
            <p:spPr>
              <a:xfrm>
                <a:off x="7278869" y="5609719"/>
                <a:ext cx="3244542" cy="369332"/>
              </a:xfrm>
              <a:prstGeom prst="rect">
                <a:avLst/>
              </a:prstGeom>
              <a:blipFill>
                <a:blip r:embed="rId3"/>
                <a:stretch>
                  <a:fillRect l="-781" r="-391" b="-6667"/>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DB5C2595-4AC2-3C45-8854-1C3979DA2E2A}"/>
              </a:ext>
            </a:extLst>
          </p:cNvPr>
          <p:cNvSpPr txBox="1"/>
          <p:nvPr/>
        </p:nvSpPr>
        <p:spPr>
          <a:xfrm>
            <a:off x="7634383" y="6132798"/>
            <a:ext cx="2533514" cy="400110"/>
          </a:xfrm>
          <a:prstGeom prst="rect">
            <a:avLst/>
          </a:prstGeom>
          <a:noFill/>
        </p:spPr>
        <p:txBody>
          <a:bodyPr wrap="none" rtlCol="0">
            <a:spAutoFit/>
          </a:bodyPr>
          <a:lstStyle/>
          <a:p>
            <a:r>
              <a:rPr lang="en-US" sz="2000" b="1" u="sng" cap="small" dirty="0">
                <a:solidFill>
                  <a:srgbClr val="FF0000"/>
                </a:solidFill>
              </a:rPr>
              <a:t>(one sided, CC p-value)</a:t>
            </a:r>
            <a:endParaRPr lang="en-US" sz="2000" dirty="0"/>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3430AA0-AE73-3C44-8CD9-4E5106B709E4}"/>
                  </a:ext>
                </a:extLst>
              </p:cNvPr>
              <p:cNvSpPr txBox="1"/>
              <p:nvPr/>
            </p:nvSpPr>
            <p:spPr>
              <a:xfrm>
                <a:off x="7275152" y="1856701"/>
                <a:ext cx="3386880" cy="122584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charset="0"/>
                        </a:rPr>
                        <m:t>𝑧</m:t>
                      </m:r>
                      <m:r>
                        <a:rPr lang="en-US" sz="2400" b="0" i="1" smtClean="0">
                          <a:latin typeface="Cambria Math" charset="0"/>
                        </a:rPr>
                        <m:t>= </m:t>
                      </m:r>
                      <m:f>
                        <m:fPr>
                          <m:ctrlPr>
                            <a:rPr lang="en-US" sz="2400" i="1" smtClean="0">
                              <a:latin typeface="Cambria Math" panose="02040503050406030204" pitchFamily="18" charset="0"/>
                            </a:rPr>
                          </m:ctrlPr>
                        </m:fPr>
                        <m:num>
                          <m:r>
                            <a:rPr lang="en-US" sz="2400" b="0" i="1" smtClean="0">
                              <a:latin typeface="Cambria Math" charset="0"/>
                            </a:rPr>
                            <m:t>𝐾</m:t>
                          </m:r>
                          <m:r>
                            <a:rPr lang="en-US" sz="2400" b="0" i="1" smtClean="0">
                              <a:latin typeface="Cambria Math" panose="02040503050406030204" pitchFamily="18" charset="0"/>
                            </a:rPr>
                            <m:t>−.5</m:t>
                          </m:r>
                          <m:r>
                            <a:rPr lang="en-US" sz="2400" b="0" i="1" smtClean="0">
                              <a:latin typeface="Cambria Math" charset="0"/>
                            </a:rPr>
                            <m:t> −</m:t>
                          </m:r>
                          <m:f>
                            <m:fPr>
                              <m:type m:val="skw"/>
                              <m:ctrlPr>
                                <a:rPr lang="en-US" sz="2400" b="0" i="1" smtClean="0">
                                  <a:latin typeface="Cambria Math" panose="02040503050406030204" pitchFamily="18" charset="0"/>
                                </a:rPr>
                              </m:ctrlPr>
                            </m:fPr>
                            <m:num>
                              <m:r>
                                <a:rPr lang="en-US" sz="2400" b="0" i="1" smtClean="0">
                                  <a:latin typeface="Cambria Math" charset="0"/>
                                </a:rPr>
                                <m:t>𝑛</m:t>
                              </m:r>
                            </m:num>
                            <m:den>
                              <m:r>
                                <a:rPr lang="en-US" sz="2400" b="0" i="1" smtClean="0">
                                  <a:latin typeface="Cambria Math" charset="0"/>
                                </a:rPr>
                                <m:t>2</m:t>
                              </m:r>
                            </m:den>
                          </m:f>
                        </m:num>
                        <m:den>
                          <m:rad>
                            <m:radPr>
                              <m:degHide m:val="on"/>
                              <m:ctrlPr>
                                <a:rPr lang="en-US" sz="2400" i="1" smtClean="0">
                                  <a:latin typeface="Cambria Math" panose="02040503050406030204" pitchFamily="18" charset="0"/>
                                </a:rPr>
                              </m:ctrlPr>
                            </m:radPr>
                            <m:deg/>
                            <m:e>
                              <m:f>
                                <m:fPr>
                                  <m:type m:val="skw"/>
                                  <m:ctrlPr>
                                    <a:rPr lang="en-US" sz="2400" i="1" smtClean="0">
                                      <a:latin typeface="Cambria Math" panose="02040503050406030204" pitchFamily="18" charset="0"/>
                                    </a:rPr>
                                  </m:ctrlPr>
                                </m:fPr>
                                <m:num>
                                  <m:r>
                                    <a:rPr lang="en-US" sz="2400" b="0" i="1" smtClean="0">
                                      <a:latin typeface="Cambria Math" charset="0"/>
                                    </a:rPr>
                                    <m:t>𝑛</m:t>
                                  </m:r>
                                </m:num>
                                <m:den>
                                  <m:r>
                                    <a:rPr lang="en-US" sz="2400" b="0" i="1" smtClean="0">
                                      <a:latin typeface="Cambria Math" charset="0"/>
                                    </a:rPr>
                                    <m:t>4</m:t>
                                  </m:r>
                                </m:den>
                              </m:f>
                            </m:e>
                          </m:rad>
                        </m:den>
                      </m:f>
                    </m:oMath>
                  </m:oMathPara>
                </a14:m>
                <a:endParaRPr lang="en-US" sz="2400" dirty="0"/>
              </a:p>
            </p:txBody>
          </p:sp>
        </mc:Choice>
        <mc:Fallback xmlns="">
          <p:sp>
            <p:nvSpPr>
              <p:cNvPr id="13" name="TextBox 12">
                <a:extLst>
                  <a:ext uri="{FF2B5EF4-FFF2-40B4-BE49-F238E27FC236}">
                    <a16:creationId xmlns:a16="http://schemas.microsoft.com/office/drawing/2014/main" id="{A3430AA0-AE73-3C44-8CD9-4E5106B709E4}"/>
                  </a:ext>
                </a:extLst>
              </p:cNvPr>
              <p:cNvSpPr txBox="1">
                <a:spLocks noRot="1" noChangeAspect="1" noMove="1" noResize="1" noEditPoints="1" noAdjustHandles="1" noChangeArrowheads="1" noChangeShapeType="1" noTextEdit="1"/>
              </p:cNvSpPr>
              <p:nvPr/>
            </p:nvSpPr>
            <p:spPr>
              <a:xfrm>
                <a:off x="7275152" y="1856701"/>
                <a:ext cx="3386880" cy="1225848"/>
              </a:xfrm>
              <a:prstGeom prst="rect">
                <a:avLst/>
              </a:prstGeom>
              <a:blipFill>
                <a:blip r:embed="rId4"/>
                <a:stretch>
                  <a:fillRect t="-63918" b="-855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40A6D44-4C98-DC45-B051-BABC52AF560D}"/>
                  </a:ext>
                </a:extLst>
              </p:cNvPr>
              <p:cNvSpPr txBox="1"/>
              <p:nvPr/>
            </p:nvSpPr>
            <p:spPr>
              <a:xfrm>
                <a:off x="7275152" y="4591302"/>
                <a:ext cx="3767880" cy="77046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charset="0"/>
                        </a:rPr>
                        <m:t>= </m:t>
                      </m:r>
                      <m:f>
                        <m:fPr>
                          <m:ctrlPr>
                            <a:rPr lang="en-US" sz="2400" i="1" smtClean="0">
                              <a:latin typeface="Cambria Math" panose="02040503050406030204" pitchFamily="18" charset="0"/>
                            </a:rPr>
                          </m:ctrlPr>
                        </m:fPr>
                        <m:num>
                          <m:r>
                            <a:rPr lang="en-US" sz="2400" b="0" i="1" smtClean="0">
                              <a:latin typeface="Cambria Math" panose="02040503050406030204" pitchFamily="18" charset="0"/>
                            </a:rPr>
                            <m:t>1.5</m:t>
                          </m:r>
                        </m:num>
                        <m:den>
                          <m:rad>
                            <m:radPr>
                              <m:degHide m:val="on"/>
                              <m:ctrlPr>
                                <a:rPr lang="en-US" sz="2400" i="1" smtClean="0">
                                  <a:latin typeface="Cambria Math" panose="02040503050406030204" pitchFamily="18" charset="0"/>
                                </a:rPr>
                              </m:ctrlPr>
                            </m:radPr>
                            <m:deg/>
                            <m:e>
                              <m:r>
                                <a:rPr lang="en-US" sz="2400" i="1" smtClean="0">
                                  <a:latin typeface="Cambria Math" panose="02040503050406030204" pitchFamily="18" charset="0"/>
                                </a:rPr>
                                <m:t>2</m:t>
                              </m:r>
                              <m:r>
                                <a:rPr lang="en-US" sz="2400" b="0" i="1" smtClean="0">
                                  <a:latin typeface="Cambria Math" panose="02040503050406030204" pitchFamily="18" charset="0"/>
                                </a:rPr>
                                <m:t>.5</m:t>
                              </m:r>
                            </m:e>
                          </m:rad>
                        </m:den>
                      </m:f>
                      <m:r>
                        <a:rPr lang="en-US" sz="2400" b="0" i="1" smtClean="0">
                          <a:latin typeface="Cambria Math" panose="02040503050406030204" pitchFamily="18" charset="0"/>
                        </a:rPr>
                        <m:t>=.9487</m:t>
                      </m:r>
                    </m:oMath>
                  </m:oMathPara>
                </a14:m>
                <a:endParaRPr lang="en-US" sz="2400" dirty="0"/>
              </a:p>
            </p:txBody>
          </p:sp>
        </mc:Choice>
        <mc:Fallback xmlns="">
          <p:sp>
            <p:nvSpPr>
              <p:cNvPr id="14" name="TextBox 13">
                <a:extLst>
                  <a:ext uri="{FF2B5EF4-FFF2-40B4-BE49-F238E27FC236}">
                    <a16:creationId xmlns:a16="http://schemas.microsoft.com/office/drawing/2014/main" id="{640A6D44-4C98-DC45-B051-BABC52AF560D}"/>
                  </a:ext>
                </a:extLst>
              </p:cNvPr>
              <p:cNvSpPr txBox="1">
                <a:spLocks noRot="1" noChangeAspect="1" noMove="1" noResize="1" noEditPoints="1" noAdjustHandles="1" noChangeArrowheads="1" noChangeShapeType="1" noTextEdit="1"/>
              </p:cNvSpPr>
              <p:nvPr/>
            </p:nvSpPr>
            <p:spPr>
              <a:xfrm>
                <a:off x="7275152" y="4591302"/>
                <a:ext cx="3767880" cy="770467"/>
              </a:xfrm>
              <a:prstGeom prst="rect">
                <a:avLst/>
              </a:prstGeom>
              <a:blipFill>
                <a:blip r:embed="rId5"/>
                <a:stretch>
                  <a:fillRect t="-1613" b="-9677"/>
                </a:stretch>
              </a:blipFill>
            </p:spPr>
            <p:txBody>
              <a:bodyPr/>
              <a:lstStyle/>
              <a:p>
                <a:r>
                  <a:rPr lang="en-US">
                    <a:noFill/>
                  </a:rPr>
                  <a:t> </a:t>
                </a:r>
              </a:p>
            </p:txBody>
          </p:sp>
        </mc:Fallback>
      </mc:AlternateContent>
    </p:spTree>
    <p:extLst>
      <p:ext uri="{BB962C8B-B14F-4D97-AF65-F5344CB8AC3E}">
        <p14:creationId xmlns:p14="http://schemas.microsoft.com/office/powerpoint/2010/main" val="10537533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28600"/>
            <a:ext cx="12192000" cy="1143000"/>
          </a:xfrm>
        </p:spPr>
        <p:txBody>
          <a:bodyPr/>
          <a:lstStyle/>
          <a:p>
            <a:r>
              <a:rPr lang="en-US" sz="3600" dirty="0"/>
              <a:t>Breakout: Medical Reasoning Test: </a:t>
            </a:r>
            <a:br>
              <a:rPr lang="en-US" sz="3600" dirty="0"/>
            </a:br>
            <a:r>
              <a:rPr lang="en-US" sz="3600" dirty="0"/>
              <a:t>Signed Rank Test</a:t>
            </a:r>
          </a:p>
        </p:txBody>
      </p:sp>
      <p:sp>
        <p:nvSpPr>
          <p:cNvPr id="4" name="Slide Number Placeholder 3"/>
          <p:cNvSpPr>
            <a:spLocks noGrp="1"/>
          </p:cNvSpPr>
          <p:nvPr>
            <p:ph type="sldNum" sz="quarter" idx="12"/>
          </p:nvPr>
        </p:nvSpPr>
        <p:spPr>
          <a:xfrm>
            <a:off x="9900460" y="6459787"/>
            <a:ext cx="1312025"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F6EB086-0FB5-404F-9DB0-02BE9E698E00}" type="slidenum">
              <a:rPr lang="en-US" smtClean="0"/>
              <a:pPr/>
              <a:t>49</a:t>
            </a:fld>
            <a:endParaRPr lang="en-US" dirty="0"/>
          </a:p>
        </p:txBody>
      </p:sp>
      <p:sp>
        <p:nvSpPr>
          <p:cNvPr id="6" name="TextBox 5"/>
          <p:cNvSpPr txBox="1"/>
          <p:nvPr/>
        </p:nvSpPr>
        <p:spPr>
          <a:xfrm>
            <a:off x="1371600" y="5651016"/>
            <a:ext cx="3128100" cy="369332"/>
          </a:xfrm>
          <a:prstGeom prst="rect">
            <a:avLst/>
          </a:prstGeom>
          <a:noFill/>
        </p:spPr>
        <p:txBody>
          <a:bodyPr wrap="none" rtlCol="0">
            <a:spAutoFit/>
          </a:bodyPr>
          <a:lstStyle/>
          <a:p>
            <a:r>
              <a:rPr lang="en-US" dirty="0">
                <a:solidFill>
                  <a:srgbClr val="FF0000"/>
                </a:solidFill>
              </a:rPr>
              <a:t>(Lower numbers = worse score)</a:t>
            </a:r>
          </a:p>
        </p:txBody>
      </p:sp>
      <p:graphicFrame>
        <p:nvGraphicFramePr>
          <p:cNvPr id="9" name="Table 8">
            <a:extLst>
              <a:ext uri="{FF2B5EF4-FFF2-40B4-BE49-F238E27FC236}">
                <a16:creationId xmlns:a16="http://schemas.microsoft.com/office/drawing/2014/main" id="{12BB8934-7318-0B4C-AB5A-2172C82ED24A}"/>
              </a:ext>
            </a:extLst>
          </p:cNvPr>
          <p:cNvGraphicFramePr>
            <a:graphicFrameLocks noGrp="1"/>
          </p:cNvGraphicFramePr>
          <p:nvPr>
            <p:extLst>
              <p:ext uri="{D42A27DB-BD31-4B8C-83A1-F6EECF244321}">
                <p14:modId xmlns:p14="http://schemas.microsoft.com/office/powerpoint/2010/main" val="2325830727"/>
              </p:ext>
            </p:extLst>
          </p:nvPr>
        </p:nvGraphicFramePr>
        <p:xfrm>
          <a:off x="380521" y="2355836"/>
          <a:ext cx="5930348" cy="3122295"/>
        </p:xfrm>
        <a:graphic>
          <a:graphicData uri="http://schemas.openxmlformats.org/drawingml/2006/table">
            <a:tbl>
              <a:tblPr/>
              <a:tblGrid>
                <a:gridCol w="829543">
                  <a:extLst>
                    <a:ext uri="{9D8B030D-6E8A-4147-A177-3AD203B41FA5}">
                      <a16:colId xmlns:a16="http://schemas.microsoft.com/office/drawing/2014/main" val="20000"/>
                    </a:ext>
                  </a:extLst>
                </a:gridCol>
                <a:gridCol w="1001126">
                  <a:extLst>
                    <a:ext uri="{9D8B030D-6E8A-4147-A177-3AD203B41FA5}">
                      <a16:colId xmlns:a16="http://schemas.microsoft.com/office/drawing/2014/main" val="20001"/>
                    </a:ext>
                  </a:extLst>
                </a:gridCol>
                <a:gridCol w="1280279">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611809">
                  <a:extLst>
                    <a:ext uri="{9D8B030D-6E8A-4147-A177-3AD203B41FA5}">
                      <a16:colId xmlns:a16="http://schemas.microsoft.com/office/drawing/2014/main" val="2160514163"/>
                    </a:ext>
                  </a:extLst>
                </a:gridCol>
                <a:gridCol w="988391">
                  <a:extLst>
                    <a:ext uri="{9D8B030D-6E8A-4147-A177-3AD203B41FA5}">
                      <a16:colId xmlns:a16="http://schemas.microsoft.com/office/drawing/2014/main" val="745831249"/>
                    </a:ext>
                  </a:extLst>
                </a:gridCol>
              </a:tblGrid>
              <a:tr h="280164">
                <a:tc>
                  <a:txBody>
                    <a:bodyPr/>
                    <a:lstStyle/>
                    <a:p>
                      <a:pPr algn="ctr" fontAlgn="b"/>
                      <a:r>
                        <a:rPr lang="en-US" sz="1800" b="1" i="0" u="none" strike="noStrike" dirty="0">
                          <a:solidFill>
                            <a:srgbClr val="000000"/>
                          </a:solidFill>
                          <a:latin typeface="Calibri"/>
                        </a:rPr>
                        <a:t>Subject</a:t>
                      </a:r>
                    </a:p>
                  </a:txBody>
                  <a:tcPr marL="9525" marR="9525" marT="9525" marB="0" anchor="b">
                    <a:lnL>
                      <a:noFill/>
                    </a:lnL>
                    <a:lnR>
                      <a:noFill/>
                    </a:lnR>
                    <a:lnT>
                      <a:noFill/>
                    </a:lnT>
                    <a:lnB>
                      <a:noFill/>
                    </a:lnB>
                  </a:tcPr>
                </a:tc>
                <a:tc>
                  <a:txBody>
                    <a:bodyPr/>
                    <a:lstStyle/>
                    <a:p>
                      <a:pPr algn="ctr" fontAlgn="b"/>
                      <a:r>
                        <a:rPr lang="en-US" sz="1800" b="1" i="0" u="none" strike="noStrike" dirty="0">
                          <a:solidFill>
                            <a:schemeClr val="tx2"/>
                          </a:solidFill>
                          <a:latin typeface="Calibri"/>
                        </a:rPr>
                        <a:t>Fatigued</a:t>
                      </a:r>
                    </a:p>
                  </a:txBody>
                  <a:tcPr marL="9525" marR="9525" marT="9525" marB="0" anchor="b">
                    <a:lnL>
                      <a:noFill/>
                    </a:lnL>
                    <a:lnR>
                      <a:noFill/>
                    </a:lnR>
                    <a:lnT>
                      <a:noFill/>
                    </a:lnT>
                    <a:lnB>
                      <a:noFill/>
                    </a:lnB>
                  </a:tcPr>
                </a:tc>
                <a:tc>
                  <a:txBody>
                    <a:bodyPr/>
                    <a:lstStyle/>
                    <a:p>
                      <a:pPr algn="ctr" fontAlgn="b"/>
                      <a:r>
                        <a:rPr lang="en-US" sz="1800" b="1" i="0" u="none" strike="noStrike" dirty="0">
                          <a:solidFill>
                            <a:srgbClr val="FF0000"/>
                          </a:solidFill>
                          <a:latin typeface="Calibri"/>
                        </a:rPr>
                        <a:t>Not Fatigued</a:t>
                      </a:r>
                    </a:p>
                  </a:txBody>
                  <a:tcPr marL="9525" marR="9525" marT="9525" marB="0" anchor="b">
                    <a:lnL>
                      <a:noFill/>
                    </a:lnL>
                    <a:lnR>
                      <a:noFill/>
                    </a:lnR>
                    <a:lnT>
                      <a:noFill/>
                    </a:lnT>
                    <a:lnB>
                      <a:noFill/>
                    </a:lnB>
                  </a:tcPr>
                </a:tc>
                <a:tc>
                  <a:txBody>
                    <a:bodyPr/>
                    <a:lstStyle/>
                    <a:p>
                      <a:pPr algn="ctr" fontAlgn="b"/>
                      <a:r>
                        <a:rPr lang="en-US" sz="1800" b="1" i="0" u="none" strike="noStrike" dirty="0">
                          <a:solidFill>
                            <a:srgbClr val="00B050"/>
                          </a:solidFill>
                          <a:latin typeface="Calibri"/>
                        </a:rPr>
                        <a:t>Difference</a:t>
                      </a:r>
                    </a:p>
                  </a:txBody>
                  <a:tcPr marL="9525" marR="9525" marT="9525" marB="0" anchor="b">
                    <a:lnL>
                      <a:noFill/>
                    </a:lnL>
                    <a:lnR>
                      <a:noFill/>
                    </a:lnR>
                    <a:lnT>
                      <a:noFill/>
                    </a:lnT>
                    <a:lnB>
                      <a:noFill/>
                    </a:lnB>
                  </a:tcPr>
                </a:tc>
                <a:tc>
                  <a:txBody>
                    <a:bodyPr/>
                    <a:lstStyle/>
                    <a:p>
                      <a:pPr algn="ctr" fontAlgn="b"/>
                      <a:r>
                        <a:rPr lang="en-US" sz="1800" b="1" i="0" u="none" strike="noStrike" dirty="0">
                          <a:solidFill>
                            <a:srgbClr val="00B050"/>
                          </a:solidFill>
                          <a:latin typeface="Calibri"/>
                        </a:rPr>
                        <a:t>Sign</a:t>
                      </a:r>
                    </a:p>
                  </a:txBody>
                  <a:tcPr marL="9525" marR="9525" marT="9525" marB="0" anchor="b">
                    <a:lnL>
                      <a:noFill/>
                    </a:lnL>
                    <a:lnR>
                      <a:noFill/>
                    </a:lnR>
                    <a:lnT>
                      <a:noFill/>
                    </a:lnT>
                    <a:lnB>
                      <a:noFill/>
                    </a:lnB>
                  </a:tcPr>
                </a:tc>
                <a:tc>
                  <a:txBody>
                    <a:bodyPr/>
                    <a:lstStyle/>
                    <a:p>
                      <a:pPr algn="ctr" fontAlgn="b"/>
                      <a:r>
                        <a:rPr lang="en-US" sz="1800" b="1" i="0" u="none" strike="noStrike" dirty="0">
                          <a:solidFill>
                            <a:srgbClr val="00B050"/>
                          </a:solidFill>
                          <a:latin typeface="Calibri"/>
                        </a:rPr>
                        <a:t>Rank</a:t>
                      </a:r>
                    </a:p>
                  </a:txBody>
                  <a:tcPr marL="9525" marR="9525" marT="9525" marB="0" anchor="b">
                    <a:lnL>
                      <a:noFill/>
                    </a:lnL>
                    <a:lnR>
                      <a:noFill/>
                    </a:lnR>
                    <a:lnT>
                      <a:noFill/>
                    </a:lnT>
                    <a:lnB>
                      <a:noFill/>
                    </a:lnB>
                  </a:tcPr>
                </a:tc>
                <a:extLst>
                  <a:ext uri="{0D108BD9-81ED-4DB2-BD59-A6C34878D82A}">
                    <a16:rowId xmlns:a16="http://schemas.microsoft.com/office/drawing/2014/main" val="10000"/>
                  </a:ext>
                </a:extLst>
              </a:tr>
              <a:tr h="280164">
                <a:tc>
                  <a:txBody>
                    <a:bodyPr/>
                    <a:lstStyle/>
                    <a:p>
                      <a:pPr algn="ctr" fontAlgn="b"/>
                      <a:r>
                        <a:rPr lang="en-US" sz="1800" b="0" i="0" u="none" strike="noStrike" dirty="0">
                          <a:solidFill>
                            <a:srgbClr val="000000"/>
                          </a:solidFill>
                          <a:latin typeface="Calibri"/>
                        </a:rPr>
                        <a:t>1</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530</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567</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-37</a:t>
                      </a:r>
                    </a:p>
                  </a:txBody>
                  <a:tcPr marL="9525" marR="9525" marT="9525" marB="0" anchor="ctr">
                    <a:lnL>
                      <a:noFill/>
                    </a:lnL>
                    <a:lnR>
                      <a:noFill/>
                    </a:lnR>
                    <a:lnT>
                      <a:noFill/>
                    </a:lnT>
                    <a:lnB>
                      <a:noFill/>
                    </a:lnB>
                  </a:tcPr>
                </a:tc>
                <a:tc>
                  <a:txBody>
                    <a:bodyPr/>
                    <a:lstStyle/>
                    <a:p>
                      <a:pPr algn="ctr" fontAlgn="b"/>
                      <a:r>
                        <a:rPr lang="en-US" sz="1800" b="0" i="0" u="none" strike="noStrike" dirty="0">
                          <a:solidFill>
                            <a:srgbClr val="000000"/>
                          </a:solidFill>
                          <a:latin typeface="Calibri"/>
                        </a:rPr>
                        <a:t>-</a:t>
                      </a:r>
                    </a:p>
                  </a:txBody>
                  <a:tcPr marL="9525" marR="9525" marT="9525" marB="0" anchor="ctr">
                    <a:lnL>
                      <a:noFill/>
                    </a:lnL>
                    <a:lnR>
                      <a:noFill/>
                    </a:lnR>
                    <a:lnT>
                      <a:noFill/>
                    </a:lnT>
                    <a:lnB>
                      <a:noFill/>
                    </a:lnB>
                  </a:tcPr>
                </a:tc>
                <a:tc>
                  <a:txBody>
                    <a:bodyPr/>
                    <a:lstStyle/>
                    <a:p>
                      <a:pPr algn="ctr" fontAlgn="b"/>
                      <a:r>
                        <a:rPr lang="en-US" sz="1800" b="0" i="0" u="none" strike="noStrike" dirty="0">
                          <a:solidFill>
                            <a:srgbClr val="000000"/>
                          </a:solidFill>
                          <a:latin typeface="Calibri"/>
                        </a:rPr>
                        <a:t>10</a:t>
                      </a:r>
                    </a:p>
                  </a:txBody>
                  <a:tcPr marL="9525" marR="9525" marT="9525" marB="0" anchor="ctr">
                    <a:lnL>
                      <a:noFill/>
                    </a:lnL>
                    <a:lnR>
                      <a:noFill/>
                    </a:lnR>
                    <a:lnT>
                      <a:noFill/>
                    </a:lnT>
                    <a:lnB>
                      <a:noFill/>
                    </a:lnB>
                  </a:tcPr>
                </a:tc>
                <a:extLst>
                  <a:ext uri="{0D108BD9-81ED-4DB2-BD59-A6C34878D82A}">
                    <a16:rowId xmlns:a16="http://schemas.microsoft.com/office/drawing/2014/main" val="10001"/>
                  </a:ext>
                </a:extLst>
              </a:tr>
              <a:tr h="280164">
                <a:tc>
                  <a:txBody>
                    <a:bodyPr/>
                    <a:lstStyle/>
                    <a:p>
                      <a:pPr algn="ctr" fontAlgn="b"/>
                      <a:r>
                        <a:rPr lang="en-US" sz="1800" b="0" i="0" u="none" strike="noStrike" dirty="0">
                          <a:solidFill>
                            <a:srgbClr val="000000"/>
                          </a:solidFill>
                          <a:latin typeface="Calibri"/>
                        </a:rPr>
                        <a:t>2</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492</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512</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-20</a:t>
                      </a:r>
                    </a:p>
                  </a:txBody>
                  <a:tcPr marL="9525" marR="9525" marT="9525" marB="0" anchor="ctr">
                    <a:lnL>
                      <a:noFill/>
                    </a:lnL>
                    <a:lnR>
                      <a:noFill/>
                    </a:lnR>
                    <a:lnT>
                      <a:noFill/>
                    </a:lnT>
                    <a:lnB>
                      <a:noFill/>
                    </a:lnB>
                  </a:tcPr>
                </a:tc>
                <a:tc>
                  <a:txBody>
                    <a:bodyPr/>
                    <a:lstStyle/>
                    <a:p>
                      <a:pPr algn="ctr" fontAlgn="b"/>
                      <a:r>
                        <a:rPr lang="en-US" sz="1800" b="0" i="0" u="none" strike="noStrike" dirty="0">
                          <a:solidFill>
                            <a:srgbClr val="000000"/>
                          </a:solidFill>
                          <a:latin typeface="Calibri"/>
                        </a:rPr>
                        <a:t>-</a:t>
                      </a:r>
                    </a:p>
                  </a:txBody>
                  <a:tcPr marL="9525" marR="9525" marT="9525" marB="0" anchor="ctr">
                    <a:lnL>
                      <a:noFill/>
                    </a:lnL>
                    <a:lnR>
                      <a:noFill/>
                    </a:lnR>
                    <a:lnT>
                      <a:noFill/>
                    </a:lnT>
                    <a:lnB>
                      <a:noFill/>
                    </a:lnB>
                  </a:tcPr>
                </a:tc>
                <a:tc>
                  <a:txBody>
                    <a:bodyPr/>
                    <a:lstStyle/>
                    <a:p>
                      <a:pPr algn="ctr" fontAlgn="b"/>
                      <a:r>
                        <a:rPr lang="en-US" sz="1800" b="0" i="0" u="none" strike="noStrike" dirty="0">
                          <a:solidFill>
                            <a:srgbClr val="000000"/>
                          </a:solidFill>
                          <a:latin typeface="Calibri"/>
                        </a:rPr>
                        <a:t>9</a:t>
                      </a:r>
                    </a:p>
                  </a:txBody>
                  <a:tcPr marL="9525" marR="9525" marT="9525" marB="0" anchor="ctr">
                    <a:lnL>
                      <a:noFill/>
                    </a:lnL>
                    <a:lnR>
                      <a:noFill/>
                    </a:lnR>
                    <a:lnT>
                      <a:noFill/>
                    </a:lnT>
                    <a:lnB>
                      <a:noFill/>
                    </a:lnB>
                  </a:tcPr>
                </a:tc>
                <a:extLst>
                  <a:ext uri="{0D108BD9-81ED-4DB2-BD59-A6C34878D82A}">
                    <a16:rowId xmlns:a16="http://schemas.microsoft.com/office/drawing/2014/main" val="10002"/>
                  </a:ext>
                </a:extLst>
              </a:tr>
              <a:tr h="280164">
                <a:tc>
                  <a:txBody>
                    <a:bodyPr/>
                    <a:lstStyle/>
                    <a:p>
                      <a:pPr algn="ctr" fontAlgn="b"/>
                      <a:r>
                        <a:rPr lang="en-US" sz="1800" b="0" i="0" u="none" strike="noStrike" dirty="0">
                          <a:solidFill>
                            <a:srgbClr val="000000"/>
                          </a:solidFill>
                          <a:latin typeface="Calibri"/>
                        </a:rPr>
                        <a:t>3</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510</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509</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1</a:t>
                      </a:r>
                    </a:p>
                  </a:txBody>
                  <a:tcPr marL="9525" marR="9525" marT="9525" marB="0" anchor="ctr">
                    <a:lnL>
                      <a:noFill/>
                    </a:lnL>
                    <a:lnR>
                      <a:noFill/>
                    </a:lnR>
                    <a:lnT>
                      <a:noFill/>
                    </a:lnT>
                    <a:lnB>
                      <a:noFill/>
                    </a:lnB>
                  </a:tcPr>
                </a:tc>
                <a:tc>
                  <a:txBody>
                    <a:bodyPr/>
                    <a:lstStyle/>
                    <a:p>
                      <a:pPr algn="ctr" fontAlgn="b"/>
                      <a:r>
                        <a:rPr lang="en-US" sz="1800" b="0" i="0" u="none" strike="noStrike" dirty="0">
                          <a:solidFill>
                            <a:srgbClr val="000000"/>
                          </a:solidFill>
                          <a:latin typeface="Calibri"/>
                        </a:rPr>
                        <a:t>+</a:t>
                      </a:r>
                    </a:p>
                  </a:txBody>
                  <a:tcPr marL="9525" marR="9525" marT="9525" marB="0" anchor="ctr">
                    <a:lnL>
                      <a:noFill/>
                    </a:lnL>
                    <a:lnR>
                      <a:noFill/>
                    </a:lnR>
                    <a:lnT>
                      <a:noFill/>
                    </a:lnT>
                    <a:lnB>
                      <a:noFill/>
                    </a:lnB>
                  </a:tcPr>
                </a:tc>
                <a:tc>
                  <a:txBody>
                    <a:bodyPr/>
                    <a:lstStyle/>
                    <a:p>
                      <a:pPr algn="ctr" fontAlgn="b"/>
                      <a:r>
                        <a:rPr lang="en-US" sz="1800" b="0" i="0" u="none" strike="noStrike" dirty="0">
                          <a:solidFill>
                            <a:srgbClr val="000000"/>
                          </a:solidFill>
                          <a:latin typeface="Calibri"/>
                        </a:rPr>
                        <a:t>1.5</a:t>
                      </a:r>
                    </a:p>
                  </a:txBody>
                  <a:tcPr marL="9525" marR="9525" marT="9525" marB="0" anchor="ctr">
                    <a:lnL>
                      <a:noFill/>
                    </a:lnL>
                    <a:lnR>
                      <a:noFill/>
                    </a:lnR>
                    <a:lnT>
                      <a:noFill/>
                    </a:lnT>
                    <a:lnB>
                      <a:noFill/>
                    </a:lnB>
                  </a:tcPr>
                </a:tc>
                <a:extLst>
                  <a:ext uri="{0D108BD9-81ED-4DB2-BD59-A6C34878D82A}">
                    <a16:rowId xmlns:a16="http://schemas.microsoft.com/office/drawing/2014/main" val="10003"/>
                  </a:ext>
                </a:extLst>
              </a:tr>
              <a:tr h="280164">
                <a:tc>
                  <a:txBody>
                    <a:bodyPr/>
                    <a:lstStyle/>
                    <a:p>
                      <a:pPr algn="ctr" fontAlgn="b"/>
                      <a:r>
                        <a:rPr lang="en-US" sz="1800" b="0" i="0" u="none" strike="noStrike" dirty="0">
                          <a:solidFill>
                            <a:srgbClr val="000000"/>
                          </a:solidFill>
                          <a:latin typeface="Calibri"/>
                        </a:rPr>
                        <a:t>4</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580</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593</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-13</a:t>
                      </a:r>
                    </a:p>
                  </a:txBody>
                  <a:tcPr marL="9525" marR="9525" marT="9525" marB="0" anchor="ctr">
                    <a:lnL>
                      <a:noFill/>
                    </a:lnL>
                    <a:lnR>
                      <a:noFill/>
                    </a:lnR>
                    <a:lnT>
                      <a:noFill/>
                    </a:lnT>
                    <a:lnB>
                      <a:noFill/>
                    </a:lnB>
                  </a:tcPr>
                </a:tc>
                <a:tc>
                  <a:txBody>
                    <a:bodyPr/>
                    <a:lstStyle/>
                    <a:p>
                      <a:pPr algn="ctr" fontAlgn="b"/>
                      <a:r>
                        <a:rPr lang="en-US" sz="1800" b="0" i="0" u="none" strike="noStrike" dirty="0">
                          <a:solidFill>
                            <a:srgbClr val="000000"/>
                          </a:solidFill>
                          <a:latin typeface="Calibri"/>
                        </a:rPr>
                        <a:t>-</a:t>
                      </a:r>
                    </a:p>
                  </a:txBody>
                  <a:tcPr marL="9525" marR="9525" marT="9525" marB="0" anchor="ctr">
                    <a:lnL>
                      <a:noFill/>
                    </a:lnL>
                    <a:lnR>
                      <a:noFill/>
                    </a:lnR>
                    <a:lnT>
                      <a:noFill/>
                    </a:lnT>
                    <a:lnB>
                      <a:noFill/>
                    </a:lnB>
                  </a:tcPr>
                </a:tc>
                <a:tc>
                  <a:txBody>
                    <a:bodyPr/>
                    <a:lstStyle/>
                    <a:p>
                      <a:pPr algn="ctr" fontAlgn="b"/>
                      <a:r>
                        <a:rPr lang="en-US" sz="1800" b="0" i="0" u="none" strike="noStrike" dirty="0">
                          <a:solidFill>
                            <a:srgbClr val="000000"/>
                          </a:solidFill>
                          <a:latin typeface="Calibri"/>
                        </a:rPr>
                        <a:t>6.5</a:t>
                      </a:r>
                    </a:p>
                  </a:txBody>
                  <a:tcPr marL="9525" marR="9525" marT="9525" marB="0" anchor="ctr">
                    <a:lnL>
                      <a:noFill/>
                    </a:lnL>
                    <a:lnR>
                      <a:noFill/>
                    </a:lnR>
                    <a:lnT>
                      <a:noFill/>
                    </a:lnT>
                    <a:lnB>
                      <a:noFill/>
                    </a:lnB>
                  </a:tcPr>
                </a:tc>
                <a:extLst>
                  <a:ext uri="{0D108BD9-81ED-4DB2-BD59-A6C34878D82A}">
                    <a16:rowId xmlns:a16="http://schemas.microsoft.com/office/drawing/2014/main" val="10004"/>
                  </a:ext>
                </a:extLst>
              </a:tr>
              <a:tr h="280164">
                <a:tc>
                  <a:txBody>
                    <a:bodyPr/>
                    <a:lstStyle/>
                    <a:p>
                      <a:pPr algn="ctr" fontAlgn="b"/>
                      <a:r>
                        <a:rPr lang="en-US" sz="1800" b="0" i="0" u="none" strike="noStrike" dirty="0">
                          <a:solidFill>
                            <a:srgbClr val="000000"/>
                          </a:solidFill>
                          <a:latin typeface="Calibri"/>
                        </a:rPr>
                        <a:t>5</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600</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588</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12</a:t>
                      </a:r>
                    </a:p>
                  </a:txBody>
                  <a:tcPr marL="9525" marR="9525" marT="9525" marB="0" anchor="ctr">
                    <a:lnL>
                      <a:noFill/>
                    </a:lnL>
                    <a:lnR>
                      <a:noFill/>
                    </a:lnR>
                    <a:lnT>
                      <a:noFill/>
                    </a:lnT>
                    <a:lnB>
                      <a:noFill/>
                    </a:lnB>
                  </a:tcPr>
                </a:tc>
                <a:tc>
                  <a:txBody>
                    <a:bodyPr/>
                    <a:lstStyle/>
                    <a:p>
                      <a:pPr algn="ctr" fontAlgn="b"/>
                      <a:r>
                        <a:rPr lang="en-US" sz="1800" b="0" i="0" u="none" strike="noStrike" dirty="0">
                          <a:solidFill>
                            <a:srgbClr val="000000"/>
                          </a:solidFill>
                          <a:latin typeface="Calibri"/>
                        </a:rPr>
                        <a:t>+</a:t>
                      </a:r>
                    </a:p>
                  </a:txBody>
                  <a:tcPr marL="9525" marR="9525" marT="9525" marB="0" anchor="ctr">
                    <a:lnL>
                      <a:noFill/>
                    </a:lnL>
                    <a:lnR>
                      <a:noFill/>
                    </a:lnR>
                    <a:lnT>
                      <a:noFill/>
                    </a:lnT>
                    <a:lnB>
                      <a:noFill/>
                    </a:lnB>
                  </a:tcPr>
                </a:tc>
                <a:tc>
                  <a:txBody>
                    <a:bodyPr/>
                    <a:lstStyle/>
                    <a:p>
                      <a:pPr algn="ctr" fontAlgn="b"/>
                      <a:r>
                        <a:rPr lang="en-US" sz="1800" b="0" i="0" u="none" strike="noStrike" dirty="0">
                          <a:solidFill>
                            <a:srgbClr val="000000"/>
                          </a:solidFill>
                          <a:latin typeface="Calibri"/>
                        </a:rPr>
                        <a:t>5</a:t>
                      </a:r>
                    </a:p>
                  </a:txBody>
                  <a:tcPr marL="9525" marR="9525" marT="9525" marB="0" anchor="ctr">
                    <a:lnL>
                      <a:noFill/>
                    </a:lnL>
                    <a:lnR>
                      <a:noFill/>
                    </a:lnR>
                    <a:lnT>
                      <a:noFill/>
                    </a:lnT>
                    <a:lnB>
                      <a:noFill/>
                    </a:lnB>
                  </a:tcPr>
                </a:tc>
                <a:extLst>
                  <a:ext uri="{0D108BD9-81ED-4DB2-BD59-A6C34878D82A}">
                    <a16:rowId xmlns:a16="http://schemas.microsoft.com/office/drawing/2014/main" val="10005"/>
                  </a:ext>
                </a:extLst>
              </a:tr>
              <a:tr h="280164">
                <a:tc>
                  <a:txBody>
                    <a:bodyPr/>
                    <a:lstStyle/>
                    <a:p>
                      <a:pPr algn="ctr" fontAlgn="b"/>
                      <a:r>
                        <a:rPr lang="en-US" sz="1800" b="0" i="0" u="none" strike="noStrike" dirty="0">
                          <a:solidFill>
                            <a:srgbClr val="000000"/>
                          </a:solidFill>
                          <a:latin typeface="Calibri"/>
                        </a:rPr>
                        <a:t>6</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483</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491</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-8</a:t>
                      </a:r>
                    </a:p>
                  </a:txBody>
                  <a:tcPr marL="9525" marR="9525" marT="9525" marB="0" anchor="ctr">
                    <a:lnL>
                      <a:noFill/>
                    </a:lnL>
                    <a:lnR>
                      <a:noFill/>
                    </a:lnR>
                    <a:lnT>
                      <a:noFill/>
                    </a:lnT>
                    <a:lnB>
                      <a:noFill/>
                    </a:lnB>
                  </a:tcPr>
                </a:tc>
                <a:tc>
                  <a:txBody>
                    <a:bodyPr/>
                    <a:lstStyle/>
                    <a:p>
                      <a:pPr algn="ctr" fontAlgn="b"/>
                      <a:r>
                        <a:rPr lang="en-US" sz="1800" b="0" i="0" u="none" strike="noStrike" dirty="0">
                          <a:solidFill>
                            <a:srgbClr val="000000"/>
                          </a:solidFill>
                          <a:latin typeface="Calibri"/>
                        </a:rPr>
                        <a:t>-</a:t>
                      </a:r>
                    </a:p>
                  </a:txBody>
                  <a:tcPr marL="9525" marR="9525" marT="9525" marB="0" anchor="ctr">
                    <a:lnL>
                      <a:noFill/>
                    </a:lnL>
                    <a:lnR>
                      <a:noFill/>
                    </a:lnR>
                    <a:lnT>
                      <a:noFill/>
                    </a:lnT>
                    <a:lnB>
                      <a:noFill/>
                    </a:lnB>
                  </a:tcPr>
                </a:tc>
                <a:tc>
                  <a:txBody>
                    <a:bodyPr/>
                    <a:lstStyle/>
                    <a:p>
                      <a:pPr algn="ctr" fontAlgn="b"/>
                      <a:r>
                        <a:rPr lang="en-US" sz="1800" b="0" i="0" u="none" strike="noStrike" dirty="0">
                          <a:solidFill>
                            <a:srgbClr val="000000"/>
                          </a:solidFill>
                          <a:latin typeface="Calibri"/>
                        </a:rPr>
                        <a:t>3.5</a:t>
                      </a:r>
                    </a:p>
                  </a:txBody>
                  <a:tcPr marL="9525" marR="9525" marT="9525" marB="0" anchor="ctr">
                    <a:lnL>
                      <a:noFill/>
                    </a:lnL>
                    <a:lnR>
                      <a:noFill/>
                    </a:lnR>
                    <a:lnT>
                      <a:noFill/>
                    </a:lnT>
                    <a:lnB>
                      <a:noFill/>
                    </a:lnB>
                  </a:tcPr>
                </a:tc>
                <a:extLst>
                  <a:ext uri="{0D108BD9-81ED-4DB2-BD59-A6C34878D82A}">
                    <a16:rowId xmlns:a16="http://schemas.microsoft.com/office/drawing/2014/main" val="10006"/>
                  </a:ext>
                </a:extLst>
              </a:tr>
              <a:tr h="280164">
                <a:tc>
                  <a:txBody>
                    <a:bodyPr/>
                    <a:lstStyle/>
                    <a:p>
                      <a:pPr algn="ctr" fontAlgn="b"/>
                      <a:r>
                        <a:rPr lang="en-US" sz="1800" b="0" i="0" u="none" strike="noStrike" dirty="0">
                          <a:solidFill>
                            <a:srgbClr val="000000"/>
                          </a:solidFill>
                          <a:latin typeface="Calibri"/>
                        </a:rPr>
                        <a:t>7</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512</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520</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-8</a:t>
                      </a:r>
                    </a:p>
                  </a:txBody>
                  <a:tcPr marL="9525" marR="9525" marT="9525" marB="0" anchor="ctr">
                    <a:lnL>
                      <a:noFill/>
                    </a:lnL>
                    <a:lnR>
                      <a:noFill/>
                    </a:lnR>
                    <a:lnT>
                      <a:noFill/>
                    </a:lnT>
                    <a:lnB>
                      <a:noFill/>
                    </a:lnB>
                  </a:tcPr>
                </a:tc>
                <a:tc>
                  <a:txBody>
                    <a:bodyPr/>
                    <a:lstStyle/>
                    <a:p>
                      <a:pPr algn="ctr" fontAlgn="b"/>
                      <a:r>
                        <a:rPr lang="en-US" sz="1800" b="0" i="0" u="none" strike="noStrike" dirty="0">
                          <a:solidFill>
                            <a:srgbClr val="000000"/>
                          </a:solidFill>
                          <a:latin typeface="Calibri"/>
                        </a:rPr>
                        <a:t>-</a:t>
                      </a:r>
                    </a:p>
                  </a:txBody>
                  <a:tcPr marL="9525" marR="9525" marT="9525" marB="0" anchor="ctr">
                    <a:lnL>
                      <a:noFill/>
                    </a:lnL>
                    <a:lnR>
                      <a:noFill/>
                    </a:lnR>
                    <a:lnT>
                      <a:noFill/>
                    </a:lnT>
                    <a:lnB>
                      <a:noFill/>
                    </a:lnB>
                  </a:tcPr>
                </a:tc>
                <a:tc>
                  <a:txBody>
                    <a:bodyPr/>
                    <a:lstStyle/>
                    <a:p>
                      <a:pPr algn="ctr" fontAlgn="b"/>
                      <a:r>
                        <a:rPr lang="en-US" sz="1800" b="0" i="0" u="none" strike="noStrike" dirty="0">
                          <a:solidFill>
                            <a:srgbClr val="000000"/>
                          </a:solidFill>
                          <a:latin typeface="Calibri"/>
                        </a:rPr>
                        <a:t>3.5</a:t>
                      </a:r>
                    </a:p>
                  </a:txBody>
                  <a:tcPr marL="9525" marR="9525" marT="9525" marB="0" anchor="ctr">
                    <a:lnL>
                      <a:noFill/>
                    </a:lnL>
                    <a:lnR>
                      <a:noFill/>
                    </a:lnR>
                    <a:lnT>
                      <a:noFill/>
                    </a:lnT>
                    <a:lnB>
                      <a:noFill/>
                    </a:lnB>
                  </a:tcPr>
                </a:tc>
                <a:extLst>
                  <a:ext uri="{0D108BD9-81ED-4DB2-BD59-A6C34878D82A}">
                    <a16:rowId xmlns:a16="http://schemas.microsoft.com/office/drawing/2014/main" val="10007"/>
                  </a:ext>
                </a:extLst>
              </a:tr>
              <a:tr h="280164">
                <a:tc>
                  <a:txBody>
                    <a:bodyPr/>
                    <a:lstStyle/>
                    <a:p>
                      <a:pPr algn="ctr" fontAlgn="b"/>
                      <a:r>
                        <a:rPr lang="en-US" sz="1800" b="0" i="0" u="none" strike="noStrike" dirty="0">
                          <a:solidFill>
                            <a:srgbClr val="000000"/>
                          </a:solidFill>
                          <a:latin typeface="Calibri"/>
                        </a:rPr>
                        <a:t>8</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575</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588</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-13</a:t>
                      </a:r>
                    </a:p>
                  </a:txBody>
                  <a:tcPr marL="9525" marR="9525" marT="9525" marB="0" anchor="ctr">
                    <a:lnL>
                      <a:noFill/>
                    </a:lnL>
                    <a:lnR>
                      <a:noFill/>
                    </a:lnR>
                    <a:lnT>
                      <a:noFill/>
                    </a:lnT>
                    <a:lnB>
                      <a:noFill/>
                    </a:lnB>
                  </a:tcPr>
                </a:tc>
                <a:tc>
                  <a:txBody>
                    <a:bodyPr/>
                    <a:lstStyle/>
                    <a:p>
                      <a:pPr algn="ctr" fontAlgn="b"/>
                      <a:r>
                        <a:rPr lang="en-US" sz="1800" b="0" i="0" u="none" strike="noStrike" dirty="0">
                          <a:solidFill>
                            <a:srgbClr val="000000"/>
                          </a:solidFill>
                          <a:latin typeface="Calibri"/>
                        </a:rPr>
                        <a:t>-</a:t>
                      </a:r>
                    </a:p>
                  </a:txBody>
                  <a:tcPr marL="9525" marR="9525" marT="9525" marB="0" anchor="ctr">
                    <a:lnL>
                      <a:noFill/>
                    </a:lnL>
                    <a:lnR>
                      <a:noFill/>
                    </a:lnR>
                    <a:lnT>
                      <a:noFill/>
                    </a:lnT>
                    <a:lnB>
                      <a:noFill/>
                    </a:lnB>
                  </a:tcPr>
                </a:tc>
                <a:tc>
                  <a:txBody>
                    <a:bodyPr/>
                    <a:lstStyle/>
                    <a:p>
                      <a:pPr algn="ctr" fontAlgn="b"/>
                      <a:r>
                        <a:rPr lang="en-US" sz="1800" b="0" i="0" u="none" strike="noStrike" dirty="0">
                          <a:solidFill>
                            <a:srgbClr val="000000"/>
                          </a:solidFill>
                          <a:latin typeface="Calibri"/>
                        </a:rPr>
                        <a:t>6.5</a:t>
                      </a:r>
                    </a:p>
                  </a:txBody>
                  <a:tcPr marL="9525" marR="9525" marT="9525" marB="0" anchor="ctr">
                    <a:lnL>
                      <a:noFill/>
                    </a:lnL>
                    <a:lnR>
                      <a:noFill/>
                    </a:lnR>
                    <a:lnT>
                      <a:noFill/>
                    </a:lnT>
                    <a:lnB>
                      <a:noFill/>
                    </a:lnB>
                  </a:tcPr>
                </a:tc>
                <a:extLst>
                  <a:ext uri="{0D108BD9-81ED-4DB2-BD59-A6C34878D82A}">
                    <a16:rowId xmlns:a16="http://schemas.microsoft.com/office/drawing/2014/main" val="10008"/>
                  </a:ext>
                </a:extLst>
              </a:tr>
              <a:tr h="280164">
                <a:tc>
                  <a:txBody>
                    <a:bodyPr/>
                    <a:lstStyle/>
                    <a:p>
                      <a:pPr algn="ctr" fontAlgn="b"/>
                      <a:r>
                        <a:rPr lang="en-US" sz="1800" b="0" i="0" u="none" strike="noStrike" dirty="0">
                          <a:solidFill>
                            <a:srgbClr val="000000"/>
                          </a:solidFill>
                          <a:latin typeface="Calibri"/>
                        </a:rPr>
                        <a:t>9</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530</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529</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1</a:t>
                      </a:r>
                    </a:p>
                  </a:txBody>
                  <a:tcPr marL="9525" marR="9525" marT="9525" marB="0" anchor="ctr">
                    <a:lnL>
                      <a:noFill/>
                    </a:lnL>
                    <a:lnR>
                      <a:noFill/>
                    </a:lnR>
                    <a:lnT>
                      <a:noFill/>
                    </a:lnT>
                    <a:lnB>
                      <a:noFill/>
                    </a:lnB>
                  </a:tcPr>
                </a:tc>
                <a:tc>
                  <a:txBody>
                    <a:bodyPr/>
                    <a:lstStyle/>
                    <a:p>
                      <a:pPr algn="ctr" fontAlgn="b"/>
                      <a:r>
                        <a:rPr lang="en-US" sz="1800" b="0" i="0" u="none" strike="noStrike" dirty="0">
                          <a:solidFill>
                            <a:srgbClr val="000000"/>
                          </a:solidFill>
                          <a:latin typeface="Calibri"/>
                        </a:rPr>
                        <a:t>+</a:t>
                      </a:r>
                    </a:p>
                  </a:txBody>
                  <a:tcPr marL="9525" marR="9525" marT="9525" marB="0" anchor="ctr">
                    <a:lnL>
                      <a:noFill/>
                    </a:lnL>
                    <a:lnR>
                      <a:noFill/>
                    </a:lnR>
                    <a:lnT>
                      <a:noFill/>
                    </a:lnT>
                    <a:lnB>
                      <a:noFill/>
                    </a:lnB>
                  </a:tcPr>
                </a:tc>
                <a:tc>
                  <a:txBody>
                    <a:bodyPr/>
                    <a:lstStyle/>
                    <a:p>
                      <a:pPr algn="ctr" fontAlgn="b"/>
                      <a:r>
                        <a:rPr lang="en-US" sz="1800" b="0" i="0" u="none" strike="noStrike" dirty="0">
                          <a:solidFill>
                            <a:srgbClr val="000000"/>
                          </a:solidFill>
                          <a:latin typeface="Calibri"/>
                        </a:rPr>
                        <a:t>1.5</a:t>
                      </a:r>
                    </a:p>
                  </a:txBody>
                  <a:tcPr marL="9525" marR="9525" marT="9525" marB="0" anchor="ctr">
                    <a:lnL>
                      <a:noFill/>
                    </a:lnL>
                    <a:lnR>
                      <a:noFill/>
                    </a:lnR>
                    <a:lnT>
                      <a:noFill/>
                    </a:lnT>
                    <a:lnB>
                      <a:noFill/>
                    </a:lnB>
                  </a:tcPr>
                </a:tc>
                <a:extLst>
                  <a:ext uri="{0D108BD9-81ED-4DB2-BD59-A6C34878D82A}">
                    <a16:rowId xmlns:a16="http://schemas.microsoft.com/office/drawing/2014/main" val="10009"/>
                  </a:ext>
                </a:extLst>
              </a:tr>
              <a:tr h="280164">
                <a:tc>
                  <a:txBody>
                    <a:bodyPr/>
                    <a:lstStyle/>
                    <a:p>
                      <a:pPr algn="ctr" fontAlgn="b"/>
                      <a:r>
                        <a:rPr lang="en-US" sz="1800" b="0" i="0" u="none" strike="noStrike" dirty="0">
                          <a:solidFill>
                            <a:srgbClr val="000000"/>
                          </a:solidFill>
                          <a:latin typeface="Calibri"/>
                        </a:rPr>
                        <a:t>10</a:t>
                      </a:r>
                    </a:p>
                  </a:txBody>
                  <a:tcPr marL="9525" marR="9525" marT="9525"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490</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508</a:t>
                      </a:r>
                    </a:p>
                  </a:txBody>
                  <a:tcPr marL="0" marR="0" marT="0" marB="0" anchor="b">
                    <a:lnL>
                      <a:noFill/>
                    </a:lnL>
                    <a:lnR>
                      <a:noFill/>
                    </a:lnR>
                    <a:lnT>
                      <a:noFill/>
                    </a:lnT>
                    <a:lnB>
                      <a:noFill/>
                    </a:lnB>
                  </a:tcPr>
                </a:tc>
                <a:tc>
                  <a:txBody>
                    <a:bodyPr/>
                    <a:lstStyle/>
                    <a:p>
                      <a:pPr algn="ctr" fontAlgn="b"/>
                      <a:r>
                        <a:rPr lang="en-US" sz="1800" b="0" i="0" u="none" strike="noStrike" dirty="0">
                          <a:solidFill>
                            <a:srgbClr val="000000"/>
                          </a:solidFill>
                          <a:latin typeface="Calibri"/>
                        </a:rPr>
                        <a:t>-18</a:t>
                      </a:r>
                    </a:p>
                  </a:txBody>
                  <a:tcPr marL="9525" marR="9525" marT="9525" marB="0" anchor="ctr">
                    <a:lnL>
                      <a:noFill/>
                    </a:lnL>
                    <a:lnR>
                      <a:noFill/>
                    </a:lnR>
                    <a:lnT>
                      <a:noFill/>
                    </a:lnT>
                    <a:lnB>
                      <a:noFill/>
                    </a:lnB>
                  </a:tcPr>
                </a:tc>
                <a:tc>
                  <a:txBody>
                    <a:bodyPr/>
                    <a:lstStyle/>
                    <a:p>
                      <a:pPr algn="ctr" fontAlgn="b"/>
                      <a:r>
                        <a:rPr lang="en-US" sz="1800" b="0" i="0" u="none" strike="noStrike" dirty="0">
                          <a:solidFill>
                            <a:srgbClr val="000000"/>
                          </a:solidFill>
                          <a:latin typeface="Calibri"/>
                        </a:rPr>
                        <a:t>-</a:t>
                      </a:r>
                    </a:p>
                  </a:txBody>
                  <a:tcPr marL="9525" marR="9525" marT="9525" marB="0" anchor="ctr">
                    <a:lnL>
                      <a:noFill/>
                    </a:lnL>
                    <a:lnR>
                      <a:noFill/>
                    </a:lnR>
                    <a:lnT>
                      <a:noFill/>
                    </a:lnT>
                    <a:lnB>
                      <a:noFill/>
                    </a:lnB>
                  </a:tcPr>
                </a:tc>
                <a:tc>
                  <a:txBody>
                    <a:bodyPr/>
                    <a:lstStyle/>
                    <a:p>
                      <a:pPr algn="ctr" fontAlgn="b"/>
                      <a:r>
                        <a:rPr lang="en-US" sz="1800" b="0" i="0" u="none" strike="noStrike" dirty="0">
                          <a:solidFill>
                            <a:srgbClr val="000000"/>
                          </a:solidFill>
                          <a:latin typeface="Calibri"/>
                        </a:rPr>
                        <a:t>8</a:t>
                      </a:r>
                    </a:p>
                  </a:txBody>
                  <a:tcPr marL="9525" marR="9525" marT="9525" marB="0" anchor="ctr">
                    <a:lnL>
                      <a:noFill/>
                    </a:lnL>
                    <a:lnR>
                      <a:noFill/>
                    </a:lnR>
                    <a:lnT>
                      <a:noFill/>
                    </a:lnT>
                    <a:lnB>
                      <a:noFill/>
                    </a:lnB>
                  </a:tcPr>
                </a:tc>
                <a:extLst>
                  <a:ext uri="{0D108BD9-81ED-4DB2-BD59-A6C34878D82A}">
                    <a16:rowId xmlns:a16="http://schemas.microsoft.com/office/drawing/2014/main" val="10010"/>
                  </a:ext>
                </a:extLst>
              </a:tr>
            </a:tbl>
          </a:graphicData>
        </a:graphic>
      </p:graphicFrame>
      <p:pic>
        <p:nvPicPr>
          <p:cNvPr id="15" name="Picture 2">
            <a:extLst>
              <a:ext uri="{FF2B5EF4-FFF2-40B4-BE49-F238E27FC236}">
                <a16:creationId xmlns:a16="http://schemas.microsoft.com/office/drawing/2014/main" id="{82111F69-B24E-2149-AB72-EA92DA5F36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75410" y="1405889"/>
            <a:ext cx="7869555" cy="5829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C6782C3-1153-5C48-874A-40543148D66C}"/>
                  </a:ext>
                </a:extLst>
              </p:cNvPr>
              <p:cNvSpPr txBox="1"/>
              <p:nvPr/>
            </p:nvSpPr>
            <p:spPr>
              <a:xfrm>
                <a:off x="7391400" y="2254837"/>
                <a:ext cx="3386880" cy="76899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charset="0"/>
                        </a:rPr>
                        <m:t>𝑧</m:t>
                      </m:r>
                      <m:r>
                        <a:rPr lang="en-US" sz="2400" b="0" i="1" smtClean="0">
                          <a:latin typeface="Cambria Math" charset="0"/>
                        </a:rPr>
                        <m:t>= </m:t>
                      </m:r>
                      <m:f>
                        <m:fPr>
                          <m:ctrlPr>
                            <a:rPr lang="en-US" sz="2400" i="1" smtClean="0">
                              <a:latin typeface="Cambria Math" panose="02040503050406030204" pitchFamily="18" charset="0"/>
                            </a:rPr>
                          </m:ctrlPr>
                        </m:fPr>
                        <m:num>
                          <m:r>
                            <a:rPr lang="en-US" sz="2400" b="0" i="1" smtClean="0">
                              <a:latin typeface="Cambria Math" charset="0"/>
                            </a:rPr>
                            <m:t>𝑆</m:t>
                          </m:r>
                          <m:r>
                            <a:rPr lang="en-US" sz="2400" b="0" i="1" smtClean="0">
                              <a:latin typeface="Cambria Math" charset="0"/>
                            </a:rPr>
                            <m:t> −</m:t>
                          </m:r>
                          <m:r>
                            <a:rPr lang="en-US" sz="2400" b="0" i="1" smtClean="0">
                              <a:latin typeface="Cambria Math" charset="0"/>
                            </a:rPr>
                            <m:t>𝑀𝑒𝑎𝑛</m:t>
                          </m:r>
                          <m:r>
                            <a:rPr lang="en-US" sz="2400" b="0" i="1" smtClean="0">
                              <a:latin typeface="Cambria Math" charset="0"/>
                            </a:rPr>
                            <m:t>(</m:t>
                          </m:r>
                          <m:r>
                            <a:rPr lang="en-US" sz="2400" b="0" i="1" smtClean="0">
                              <a:latin typeface="Cambria Math" charset="0"/>
                            </a:rPr>
                            <m:t>𝑆</m:t>
                          </m:r>
                          <m:r>
                            <a:rPr lang="en-US" sz="2400" b="0" i="1" smtClean="0">
                              <a:latin typeface="Cambria Math" charset="0"/>
                            </a:rPr>
                            <m:t>)</m:t>
                          </m:r>
                        </m:num>
                        <m:den>
                          <m:r>
                            <a:rPr lang="en-US" sz="2400" b="0" i="1" smtClean="0">
                              <a:latin typeface="Cambria Math" charset="0"/>
                            </a:rPr>
                            <m:t>𝑆𝐷</m:t>
                          </m:r>
                          <m:r>
                            <a:rPr lang="en-US" sz="2400" b="0" i="1" smtClean="0">
                              <a:latin typeface="Cambria Math" charset="0"/>
                            </a:rPr>
                            <m:t>(</m:t>
                          </m:r>
                          <m:r>
                            <a:rPr lang="en-US" sz="2400" b="0" i="1" smtClean="0">
                              <a:latin typeface="Cambria Math" charset="0"/>
                            </a:rPr>
                            <m:t>𝑆</m:t>
                          </m:r>
                          <m:r>
                            <a:rPr lang="en-US" sz="2400" b="0" i="1" smtClean="0">
                              <a:latin typeface="Cambria Math" charset="0"/>
                            </a:rPr>
                            <m:t>)</m:t>
                          </m:r>
                        </m:den>
                      </m:f>
                    </m:oMath>
                  </m:oMathPara>
                </a14:m>
                <a:endParaRPr lang="en-US" sz="2400" dirty="0"/>
              </a:p>
            </p:txBody>
          </p:sp>
        </mc:Choice>
        <mc:Fallback xmlns="">
          <p:sp>
            <p:nvSpPr>
              <p:cNvPr id="16" name="TextBox 15">
                <a:extLst>
                  <a:ext uri="{FF2B5EF4-FFF2-40B4-BE49-F238E27FC236}">
                    <a16:creationId xmlns:a16="http://schemas.microsoft.com/office/drawing/2014/main" id="{CC6782C3-1153-5C48-874A-40543148D66C}"/>
                  </a:ext>
                </a:extLst>
              </p:cNvPr>
              <p:cNvSpPr txBox="1">
                <a:spLocks noRot="1" noChangeAspect="1" noMove="1" noResize="1" noEditPoints="1" noAdjustHandles="1" noChangeArrowheads="1" noChangeShapeType="1" noTextEdit="1"/>
              </p:cNvSpPr>
              <p:nvPr/>
            </p:nvSpPr>
            <p:spPr>
              <a:xfrm>
                <a:off x="7391400" y="2254837"/>
                <a:ext cx="3386880" cy="768993"/>
              </a:xfrm>
              <a:prstGeom prst="rect">
                <a:avLst/>
              </a:prstGeom>
              <a:blipFill>
                <a:blip r:embed="rId3"/>
                <a:stretch>
                  <a:fillRect t="-6452" b="-161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CE6992A7-41FD-1644-AEA0-67147F20C6F4}"/>
                  </a:ext>
                </a:extLst>
              </p:cNvPr>
              <p:cNvSpPr txBox="1"/>
              <p:nvPr/>
            </p:nvSpPr>
            <p:spPr>
              <a:xfrm>
                <a:off x="7207237" y="3290086"/>
                <a:ext cx="4172583" cy="122783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charset="0"/>
                        </a:rPr>
                        <m:t>= </m:t>
                      </m:r>
                      <m:f>
                        <m:fPr>
                          <m:ctrlPr>
                            <a:rPr lang="en-US" sz="2400" i="1" smtClean="0">
                              <a:latin typeface="Cambria Math" panose="02040503050406030204" pitchFamily="18" charset="0"/>
                            </a:rPr>
                          </m:ctrlPr>
                        </m:fPr>
                        <m:num>
                          <m:r>
                            <a:rPr lang="en-US" sz="2400" b="0" i="1" smtClean="0">
                              <a:latin typeface="Cambria Math" panose="02040503050406030204" pitchFamily="18" charset="0"/>
                            </a:rPr>
                            <m:t>47 − .5</m:t>
                          </m:r>
                          <m:r>
                            <a:rPr lang="en-US" sz="2400" b="0" i="1" smtClean="0">
                              <a:latin typeface="Cambria Math" charset="0"/>
                            </a:rPr>
                            <m:t> −</m:t>
                          </m:r>
                          <m:r>
                            <a:rPr lang="en-US" sz="2400" i="1">
                              <a:latin typeface="Cambria Math" charset="0"/>
                            </a:rPr>
                            <m:t>(</m:t>
                          </m:r>
                          <m:r>
                            <a:rPr lang="en-US" sz="2400" b="0" i="1" smtClean="0">
                              <a:latin typeface="Cambria Math" panose="02040503050406030204" pitchFamily="18" charset="0"/>
                            </a:rPr>
                            <m:t>10</m:t>
                          </m:r>
                          <m:r>
                            <a:rPr lang="en-US" sz="2400" i="1">
                              <a:latin typeface="Cambria Math" charset="0"/>
                            </a:rPr>
                            <m:t>∗1</m:t>
                          </m:r>
                          <m:r>
                            <a:rPr lang="en-US" sz="2400" b="0" i="1" smtClean="0">
                              <a:latin typeface="Cambria Math" panose="02040503050406030204" pitchFamily="18" charset="0"/>
                            </a:rPr>
                            <m:t>1</m:t>
                          </m:r>
                          <m:r>
                            <a:rPr lang="en-US" sz="2400" i="1">
                              <a:latin typeface="Cambria Math" charset="0"/>
                            </a:rPr>
                            <m:t>)</m:t>
                          </m:r>
                          <m:r>
                            <a:rPr lang="en-US" sz="2400" b="0" i="1" smtClean="0">
                              <a:latin typeface="Cambria Math" charset="0"/>
                            </a:rPr>
                            <m:t>/4</m:t>
                          </m:r>
                        </m:num>
                        <m:den>
                          <m:rad>
                            <m:radPr>
                              <m:degHide m:val="on"/>
                              <m:ctrlPr>
                                <a:rPr lang="en-US" sz="2400" i="1" smtClean="0">
                                  <a:latin typeface="Cambria Math" panose="02040503050406030204" pitchFamily="18" charset="0"/>
                                </a:rPr>
                              </m:ctrlPr>
                            </m:radPr>
                            <m:deg/>
                            <m:e>
                              <m:r>
                                <a:rPr lang="en-US" sz="2400" b="0" i="1" smtClean="0">
                                  <a:latin typeface="Cambria Math" panose="02040503050406030204" pitchFamily="18" charset="0"/>
                                </a:rPr>
                                <m:t>10</m:t>
                              </m:r>
                              <m:r>
                                <a:rPr lang="en-US" sz="2400" b="0" i="1" smtClean="0">
                                  <a:latin typeface="Cambria Math" charset="0"/>
                                </a:rPr>
                                <m:t>∗1</m:t>
                              </m:r>
                              <m:r>
                                <a:rPr lang="en-US" sz="2400" b="0" i="1" smtClean="0">
                                  <a:latin typeface="Cambria Math" panose="02040503050406030204" pitchFamily="18" charset="0"/>
                                </a:rPr>
                                <m:t>1</m:t>
                              </m:r>
                              <m:r>
                                <a:rPr lang="en-US" sz="2400" b="0" i="1" smtClean="0">
                                  <a:latin typeface="Cambria Math" charset="0"/>
                                </a:rPr>
                                <m:t>∗</m:t>
                              </m:r>
                              <m:r>
                                <a:rPr lang="en-US" sz="2400" b="0" i="1" smtClean="0">
                                  <a:latin typeface="Cambria Math" panose="02040503050406030204" pitchFamily="18" charset="0"/>
                                </a:rPr>
                                <m:t>21</m:t>
                              </m:r>
                              <m:r>
                                <a:rPr lang="en-US" sz="2400" b="0" i="1" smtClean="0">
                                  <a:latin typeface="Cambria Math" charset="0"/>
                                </a:rPr>
                                <m:t>/24</m:t>
                              </m:r>
                            </m:e>
                          </m:rad>
                        </m:den>
                      </m:f>
                      <m:r>
                        <a:rPr lang="en-US" sz="2400" b="0" i="1" smtClean="0">
                          <a:latin typeface="Cambria Math" charset="0"/>
                        </a:rPr>
                        <m:t>=</m:t>
                      </m:r>
                      <m:r>
                        <m:rPr>
                          <m:nor/>
                        </m:rPr>
                        <a:rPr lang="en-US" sz="2400"/>
                        <m:t>1.</m:t>
                      </m:r>
                      <m:r>
                        <m:rPr>
                          <m:nor/>
                        </m:rPr>
                        <a:rPr lang="en-US" sz="2400" b="0" i="0" smtClean="0"/>
                        <m:t>93</m:t>
                      </m:r>
                    </m:oMath>
                  </m:oMathPara>
                </a14:m>
                <a:endParaRPr lang="en-US" sz="2400" dirty="0"/>
              </a:p>
            </p:txBody>
          </p:sp>
        </mc:Choice>
        <mc:Fallback xmlns="">
          <p:sp>
            <p:nvSpPr>
              <p:cNvPr id="17" name="TextBox 16">
                <a:extLst>
                  <a:ext uri="{FF2B5EF4-FFF2-40B4-BE49-F238E27FC236}">
                    <a16:creationId xmlns:a16="http://schemas.microsoft.com/office/drawing/2014/main" id="{CE6992A7-41FD-1644-AEA0-67147F20C6F4}"/>
                  </a:ext>
                </a:extLst>
              </p:cNvPr>
              <p:cNvSpPr txBox="1">
                <a:spLocks noRot="1" noChangeAspect="1" noMove="1" noResize="1" noEditPoints="1" noAdjustHandles="1" noChangeArrowheads="1" noChangeShapeType="1" noTextEdit="1"/>
              </p:cNvSpPr>
              <p:nvPr/>
            </p:nvSpPr>
            <p:spPr>
              <a:xfrm>
                <a:off x="7207237" y="3290086"/>
                <a:ext cx="4172583" cy="1227837"/>
              </a:xfrm>
              <a:prstGeom prst="rect">
                <a:avLst/>
              </a:prstGeom>
              <a:blipFill>
                <a:blip r:embed="rId4"/>
                <a:stretch>
                  <a:fillRect t="-5155" b="-20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0F9252C8-0A84-EF4C-B0A9-40F41739B307}"/>
                  </a:ext>
                </a:extLst>
              </p:cNvPr>
              <p:cNvSpPr txBox="1"/>
              <p:nvPr/>
            </p:nvSpPr>
            <p:spPr>
              <a:xfrm>
                <a:off x="7924727" y="4602936"/>
                <a:ext cx="3340778"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charset="0"/>
                        </a:rPr>
                        <m:t>𝑃</m:t>
                      </m:r>
                      <m:d>
                        <m:dPr>
                          <m:ctrlPr>
                            <a:rPr lang="en-US" sz="2400" b="0" i="1" smtClean="0">
                              <a:latin typeface="Cambria Math" panose="02040503050406030204" pitchFamily="18" charset="0"/>
                            </a:rPr>
                          </m:ctrlPr>
                        </m:dPr>
                        <m:e>
                          <m:r>
                            <a:rPr lang="en-US" sz="2400" b="0" i="1" smtClean="0">
                              <a:latin typeface="Cambria Math" charset="0"/>
                            </a:rPr>
                            <m:t>𝑍</m:t>
                          </m:r>
                          <m:r>
                            <a:rPr lang="en-US" sz="2400" b="0" i="1" smtClean="0">
                              <a:latin typeface="Cambria Math" charset="0"/>
                            </a:rPr>
                            <m:t>&gt;1.93</m:t>
                          </m:r>
                        </m:e>
                      </m:d>
                      <m:r>
                        <a:rPr lang="en-US" sz="2400" b="0" i="1" smtClean="0">
                          <a:latin typeface="Cambria Math" charset="0"/>
                        </a:rPr>
                        <m:t>=</m:t>
                      </m:r>
                      <m:r>
                        <a:rPr lang="en-US" sz="2400" b="0" i="1" smtClean="0">
                          <a:latin typeface="Cambria Math" panose="02040503050406030204" pitchFamily="18" charset="0"/>
                        </a:rPr>
                        <m:t> .0264</m:t>
                      </m:r>
                    </m:oMath>
                  </m:oMathPara>
                </a14:m>
                <a:endParaRPr lang="en-US" sz="2400" dirty="0"/>
              </a:p>
            </p:txBody>
          </p:sp>
        </mc:Choice>
        <mc:Fallback xmlns="">
          <p:sp>
            <p:nvSpPr>
              <p:cNvPr id="18" name="TextBox 17">
                <a:extLst>
                  <a:ext uri="{FF2B5EF4-FFF2-40B4-BE49-F238E27FC236}">
                    <a16:creationId xmlns:a16="http://schemas.microsoft.com/office/drawing/2014/main" id="{0F9252C8-0A84-EF4C-B0A9-40F41739B307}"/>
                  </a:ext>
                </a:extLst>
              </p:cNvPr>
              <p:cNvSpPr txBox="1">
                <a:spLocks noRot="1" noChangeAspect="1" noMove="1" noResize="1" noEditPoints="1" noAdjustHandles="1" noChangeArrowheads="1" noChangeShapeType="1" noTextEdit="1"/>
              </p:cNvSpPr>
              <p:nvPr/>
            </p:nvSpPr>
            <p:spPr>
              <a:xfrm>
                <a:off x="7924727" y="4602936"/>
                <a:ext cx="3340778" cy="369332"/>
              </a:xfrm>
              <a:prstGeom prst="rect">
                <a:avLst/>
              </a:prstGeom>
              <a:blipFill>
                <a:blip r:embed="rId5"/>
                <a:stretch>
                  <a:fillRect t="-6667" b="-40000"/>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56E7F035-59A4-9F4B-BFA3-EF37B9910EC5}"/>
              </a:ext>
            </a:extLst>
          </p:cNvPr>
          <p:cNvSpPr txBox="1"/>
          <p:nvPr/>
        </p:nvSpPr>
        <p:spPr>
          <a:xfrm>
            <a:off x="8328359" y="5123776"/>
            <a:ext cx="2533514" cy="400110"/>
          </a:xfrm>
          <a:prstGeom prst="rect">
            <a:avLst/>
          </a:prstGeom>
          <a:noFill/>
        </p:spPr>
        <p:txBody>
          <a:bodyPr wrap="none" rtlCol="0">
            <a:spAutoFit/>
          </a:bodyPr>
          <a:lstStyle/>
          <a:p>
            <a:r>
              <a:rPr lang="en-US" sz="2000" b="1" u="sng" cap="small" dirty="0">
                <a:solidFill>
                  <a:srgbClr val="FF0000"/>
                </a:solidFill>
              </a:rPr>
              <a:t>(one sided, CC p-value)</a:t>
            </a:r>
            <a:endParaRPr lang="en-US" sz="2000" dirty="0"/>
          </a:p>
        </p:txBody>
      </p:sp>
    </p:spTree>
    <p:extLst>
      <p:ext uri="{BB962C8B-B14F-4D97-AF65-F5344CB8AC3E}">
        <p14:creationId xmlns:p14="http://schemas.microsoft.com/office/powerpoint/2010/main" val="25524149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28600"/>
            <a:ext cx="12192000" cy="1143000"/>
          </a:xfrm>
        </p:spPr>
        <p:txBody>
          <a:bodyPr/>
          <a:lstStyle/>
          <a:p>
            <a:r>
              <a:rPr lang="en-US" sz="3600" dirty="0"/>
              <a:t>Breakout: Medical Reasoning Test: </a:t>
            </a:r>
            <a:br>
              <a:rPr lang="en-US" sz="3600" dirty="0"/>
            </a:br>
            <a:r>
              <a:rPr lang="en-US" sz="3600" dirty="0"/>
              <a:t>Signed Rank Test</a:t>
            </a:r>
          </a:p>
        </p:txBody>
      </p:sp>
      <p:sp>
        <p:nvSpPr>
          <p:cNvPr id="4" name="Slide Number Placeholder 3"/>
          <p:cNvSpPr>
            <a:spLocks noGrp="1"/>
          </p:cNvSpPr>
          <p:nvPr>
            <p:ph type="sldNum" sz="quarter" idx="12"/>
          </p:nvPr>
        </p:nvSpPr>
        <p:spPr>
          <a:xfrm>
            <a:off x="9900460" y="6459787"/>
            <a:ext cx="1312025"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F6EB086-0FB5-404F-9DB0-02BE9E698E00}" type="slidenum">
              <a:rPr lang="en-US" smtClean="0"/>
              <a:pPr/>
              <a:t>50</a:t>
            </a:fld>
            <a:endParaRPr lang="en-US" dirty="0"/>
          </a:p>
        </p:txBody>
      </p:sp>
      <p:sp>
        <p:nvSpPr>
          <p:cNvPr id="6" name="TextBox 5"/>
          <p:cNvSpPr txBox="1"/>
          <p:nvPr/>
        </p:nvSpPr>
        <p:spPr>
          <a:xfrm>
            <a:off x="1371600" y="5651016"/>
            <a:ext cx="3128100" cy="369332"/>
          </a:xfrm>
          <a:prstGeom prst="rect">
            <a:avLst/>
          </a:prstGeom>
          <a:noFill/>
        </p:spPr>
        <p:txBody>
          <a:bodyPr wrap="none" rtlCol="0">
            <a:spAutoFit/>
          </a:bodyPr>
          <a:lstStyle/>
          <a:p>
            <a:r>
              <a:rPr lang="en-US" dirty="0">
                <a:solidFill>
                  <a:srgbClr val="FF0000"/>
                </a:solidFill>
              </a:rPr>
              <a:t>(Lower numbers = worse score)</a:t>
            </a:r>
          </a:p>
        </p:txBody>
      </p:sp>
      <p:graphicFrame>
        <p:nvGraphicFramePr>
          <p:cNvPr id="9" name="Table 8">
            <a:extLst>
              <a:ext uri="{FF2B5EF4-FFF2-40B4-BE49-F238E27FC236}">
                <a16:creationId xmlns:a16="http://schemas.microsoft.com/office/drawing/2014/main" id="{12BB8934-7318-0B4C-AB5A-2172C82ED24A}"/>
              </a:ext>
            </a:extLst>
          </p:cNvPr>
          <p:cNvGraphicFramePr>
            <a:graphicFrameLocks noGrp="1"/>
          </p:cNvGraphicFramePr>
          <p:nvPr>
            <p:extLst>
              <p:ext uri="{D42A27DB-BD31-4B8C-83A1-F6EECF244321}">
                <p14:modId xmlns:p14="http://schemas.microsoft.com/office/powerpoint/2010/main" val="2517777507"/>
              </p:ext>
            </p:extLst>
          </p:nvPr>
        </p:nvGraphicFramePr>
        <p:xfrm>
          <a:off x="380521" y="2355836"/>
          <a:ext cx="5930348" cy="3122295"/>
        </p:xfrm>
        <a:graphic>
          <a:graphicData uri="http://schemas.openxmlformats.org/drawingml/2006/table">
            <a:tbl>
              <a:tblPr/>
              <a:tblGrid>
                <a:gridCol w="829543">
                  <a:extLst>
                    <a:ext uri="{9D8B030D-6E8A-4147-A177-3AD203B41FA5}">
                      <a16:colId xmlns:a16="http://schemas.microsoft.com/office/drawing/2014/main" val="20000"/>
                    </a:ext>
                  </a:extLst>
                </a:gridCol>
                <a:gridCol w="1001126">
                  <a:extLst>
                    <a:ext uri="{9D8B030D-6E8A-4147-A177-3AD203B41FA5}">
                      <a16:colId xmlns:a16="http://schemas.microsoft.com/office/drawing/2014/main" val="20001"/>
                    </a:ext>
                  </a:extLst>
                </a:gridCol>
                <a:gridCol w="1280279">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611809">
                  <a:extLst>
                    <a:ext uri="{9D8B030D-6E8A-4147-A177-3AD203B41FA5}">
                      <a16:colId xmlns:a16="http://schemas.microsoft.com/office/drawing/2014/main" val="2160514163"/>
                    </a:ext>
                  </a:extLst>
                </a:gridCol>
                <a:gridCol w="988391">
                  <a:extLst>
                    <a:ext uri="{9D8B030D-6E8A-4147-A177-3AD203B41FA5}">
                      <a16:colId xmlns:a16="http://schemas.microsoft.com/office/drawing/2014/main" val="745831249"/>
                    </a:ext>
                  </a:extLst>
                </a:gridCol>
              </a:tblGrid>
              <a:tr h="280164">
                <a:tc>
                  <a:txBody>
                    <a:bodyPr/>
                    <a:lstStyle/>
                    <a:p>
                      <a:pPr algn="ctr" fontAlgn="b"/>
                      <a:r>
                        <a:rPr lang="en-US" sz="1800" b="1" i="0" u="none" strike="noStrike" dirty="0">
                          <a:solidFill>
                            <a:srgbClr val="000000"/>
                          </a:solidFill>
                          <a:latin typeface="Calibri"/>
                        </a:rPr>
                        <a:t>Subject</a:t>
                      </a:r>
                    </a:p>
                  </a:txBody>
                  <a:tcPr marL="9525" marR="9525" marT="9525" marB="0" anchor="b">
                    <a:lnL>
                      <a:noFill/>
                    </a:lnL>
                    <a:lnR>
                      <a:noFill/>
                    </a:lnR>
                    <a:lnT>
                      <a:noFill/>
                    </a:lnT>
                    <a:lnB>
                      <a:noFill/>
                    </a:lnB>
                  </a:tcPr>
                </a:tc>
                <a:tc>
                  <a:txBody>
                    <a:bodyPr/>
                    <a:lstStyle/>
                    <a:p>
                      <a:pPr algn="ctr" fontAlgn="b"/>
                      <a:r>
                        <a:rPr lang="en-US" sz="1800" b="1" i="0" u="none" strike="noStrike" dirty="0">
                          <a:solidFill>
                            <a:schemeClr val="tx2"/>
                          </a:solidFill>
                          <a:latin typeface="Calibri"/>
                        </a:rPr>
                        <a:t>Fatigued</a:t>
                      </a:r>
                    </a:p>
                  </a:txBody>
                  <a:tcPr marL="9525" marR="9525" marT="9525" marB="0" anchor="b">
                    <a:lnL>
                      <a:noFill/>
                    </a:lnL>
                    <a:lnR>
                      <a:noFill/>
                    </a:lnR>
                    <a:lnT>
                      <a:noFill/>
                    </a:lnT>
                    <a:lnB>
                      <a:noFill/>
                    </a:lnB>
                  </a:tcPr>
                </a:tc>
                <a:tc>
                  <a:txBody>
                    <a:bodyPr/>
                    <a:lstStyle/>
                    <a:p>
                      <a:pPr algn="ctr" fontAlgn="b"/>
                      <a:r>
                        <a:rPr lang="en-US" sz="1800" b="1" i="0" u="none" strike="noStrike" dirty="0">
                          <a:solidFill>
                            <a:srgbClr val="FF0000"/>
                          </a:solidFill>
                          <a:latin typeface="Calibri"/>
                        </a:rPr>
                        <a:t>Not Fatigued</a:t>
                      </a:r>
                    </a:p>
                  </a:txBody>
                  <a:tcPr marL="9525" marR="9525" marT="9525" marB="0" anchor="b">
                    <a:lnL>
                      <a:noFill/>
                    </a:lnL>
                    <a:lnR>
                      <a:noFill/>
                    </a:lnR>
                    <a:lnT>
                      <a:noFill/>
                    </a:lnT>
                    <a:lnB>
                      <a:noFill/>
                    </a:lnB>
                  </a:tcPr>
                </a:tc>
                <a:tc>
                  <a:txBody>
                    <a:bodyPr/>
                    <a:lstStyle/>
                    <a:p>
                      <a:pPr algn="ctr" fontAlgn="b"/>
                      <a:r>
                        <a:rPr lang="en-US" sz="1800" b="1" i="0" u="none" strike="noStrike" dirty="0">
                          <a:solidFill>
                            <a:srgbClr val="00B050"/>
                          </a:solidFill>
                          <a:latin typeface="Calibri"/>
                        </a:rPr>
                        <a:t>Difference</a:t>
                      </a:r>
                    </a:p>
                  </a:txBody>
                  <a:tcPr marL="9525" marR="9525" marT="9525" marB="0" anchor="b">
                    <a:lnL>
                      <a:noFill/>
                    </a:lnL>
                    <a:lnR>
                      <a:noFill/>
                    </a:lnR>
                    <a:lnT>
                      <a:noFill/>
                    </a:lnT>
                    <a:lnB>
                      <a:noFill/>
                    </a:lnB>
                  </a:tcPr>
                </a:tc>
                <a:tc>
                  <a:txBody>
                    <a:bodyPr/>
                    <a:lstStyle/>
                    <a:p>
                      <a:pPr algn="ctr" fontAlgn="b"/>
                      <a:r>
                        <a:rPr lang="en-US" sz="1800" b="1" i="0" u="none" strike="noStrike" dirty="0">
                          <a:solidFill>
                            <a:srgbClr val="00B050"/>
                          </a:solidFill>
                          <a:latin typeface="Calibri"/>
                        </a:rPr>
                        <a:t>Sign</a:t>
                      </a:r>
                    </a:p>
                  </a:txBody>
                  <a:tcPr marL="9525" marR="9525" marT="9525" marB="0" anchor="b">
                    <a:lnL>
                      <a:noFill/>
                    </a:lnL>
                    <a:lnR>
                      <a:noFill/>
                    </a:lnR>
                    <a:lnT>
                      <a:noFill/>
                    </a:lnT>
                    <a:lnB>
                      <a:noFill/>
                    </a:lnB>
                  </a:tcPr>
                </a:tc>
                <a:tc>
                  <a:txBody>
                    <a:bodyPr/>
                    <a:lstStyle/>
                    <a:p>
                      <a:pPr algn="ctr" fontAlgn="b"/>
                      <a:r>
                        <a:rPr lang="en-US" sz="1800" b="1" i="0" u="none" strike="noStrike" dirty="0">
                          <a:solidFill>
                            <a:srgbClr val="00B050"/>
                          </a:solidFill>
                          <a:latin typeface="Calibri"/>
                        </a:rPr>
                        <a:t>Rank</a:t>
                      </a:r>
                    </a:p>
                  </a:txBody>
                  <a:tcPr marL="9525" marR="9525" marT="9525" marB="0" anchor="b">
                    <a:lnL>
                      <a:noFill/>
                    </a:lnL>
                    <a:lnR>
                      <a:noFill/>
                    </a:lnR>
                    <a:lnT>
                      <a:noFill/>
                    </a:lnT>
                    <a:lnB>
                      <a:noFill/>
                    </a:lnB>
                  </a:tcPr>
                </a:tc>
                <a:extLst>
                  <a:ext uri="{0D108BD9-81ED-4DB2-BD59-A6C34878D82A}">
                    <a16:rowId xmlns:a16="http://schemas.microsoft.com/office/drawing/2014/main" val="10000"/>
                  </a:ext>
                </a:extLst>
              </a:tr>
              <a:tr h="280164">
                <a:tc>
                  <a:txBody>
                    <a:bodyPr/>
                    <a:lstStyle/>
                    <a:p>
                      <a:pPr algn="ctr" rtl="0" fontAlgn="b"/>
                      <a:r>
                        <a:rPr lang="en-US" sz="1800" b="0" i="0" u="none" strike="noStrike">
                          <a:solidFill>
                            <a:srgbClr val="000000"/>
                          </a:solidFill>
                          <a:effectLst/>
                          <a:latin typeface="Calibri" panose="020F0502020204030204" pitchFamily="34" charset="0"/>
                        </a:rPr>
                        <a:t>3</a:t>
                      </a:r>
                    </a:p>
                  </a:txBody>
                  <a:tcPr marL="9525" marR="9525" marT="9525" marB="0" anchor="b">
                    <a:lnL>
                      <a:noFill/>
                    </a:lnL>
                    <a:lnR>
                      <a:noFill/>
                    </a:lnR>
                    <a:lnT>
                      <a:noFill/>
                    </a:lnT>
                    <a:lnB>
                      <a:noFill/>
                    </a:lnB>
                  </a:tcPr>
                </a:tc>
                <a:tc>
                  <a:txBody>
                    <a:bodyPr/>
                    <a:lstStyle/>
                    <a:p>
                      <a:pPr algn="ctr" rtl="0" fontAlgn="b"/>
                      <a:r>
                        <a:rPr lang="en-US" sz="1800" b="0" i="0" u="none" strike="noStrike">
                          <a:solidFill>
                            <a:srgbClr val="000000"/>
                          </a:solidFill>
                          <a:effectLst/>
                          <a:latin typeface="Calibri" panose="020F0502020204030204" pitchFamily="34" charset="0"/>
                        </a:rPr>
                        <a:t>510</a:t>
                      </a:r>
                    </a:p>
                  </a:txBody>
                  <a:tcPr marL="9525" marR="9525" marT="9525" marB="0" anchor="b">
                    <a:lnL>
                      <a:noFill/>
                    </a:lnL>
                    <a:lnR>
                      <a:noFill/>
                    </a:lnR>
                    <a:lnT>
                      <a:noFill/>
                    </a:lnT>
                    <a:lnB>
                      <a:noFill/>
                    </a:lnB>
                  </a:tcPr>
                </a:tc>
                <a:tc>
                  <a:txBody>
                    <a:bodyPr/>
                    <a:lstStyle/>
                    <a:p>
                      <a:pPr algn="ctr" rtl="0" fontAlgn="b"/>
                      <a:r>
                        <a:rPr lang="en-US" sz="1800" b="0" i="0" u="none" strike="noStrike">
                          <a:solidFill>
                            <a:srgbClr val="000000"/>
                          </a:solidFill>
                          <a:effectLst/>
                          <a:latin typeface="Calibri" panose="020F0502020204030204" pitchFamily="34" charset="0"/>
                        </a:rPr>
                        <a:t>509</a:t>
                      </a:r>
                    </a:p>
                  </a:txBody>
                  <a:tcPr marL="9525" marR="9525" marT="9525" marB="0" anchor="b">
                    <a:lnL>
                      <a:noFill/>
                    </a:lnL>
                    <a:lnR>
                      <a:noFill/>
                    </a:lnR>
                    <a:lnT>
                      <a:noFill/>
                    </a:lnT>
                    <a:lnB>
                      <a:noFill/>
                    </a:lnB>
                  </a:tcPr>
                </a:tc>
                <a:tc>
                  <a:txBody>
                    <a:bodyPr/>
                    <a:lstStyle/>
                    <a:p>
                      <a:pPr algn="ctr" rtl="0" fontAlgn="b"/>
                      <a:r>
                        <a:rPr lang="en-US" sz="1800" b="0" i="0" u="none" strike="noStrike">
                          <a:solidFill>
                            <a:srgbClr val="000000"/>
                          </a:solidFill>
                          <a:effectLst/>
                          <a:latin typeface="Calibri" panose="020F0502020204030204" pitchFamily="34" charset="0"/>
                        </a:rPr>
                        <a:t>1</a:t>
                      </a:r>
                    </a:p>
                  </a:txBody>
                  <a:tcPr marL="9525" marR="9525" marT="9525" marB="0" anchor="b">
                    <a:lnL>
                      <a:noFill/>
                    </a:lnL>
                    <a:lnR>
                      <a:noFill/>
                    </a:lnR>
                    <a:lnT>
                      <a:noFill/>
                    </a:lnT>
                    <a:lnB>
                      <a:noFill/>
                    </a:lnB>
                  </a:tcPr>
                </a:tc>
                <a:tc>
                  <a:txBody>
                    <a:bodyPr/>
                    <a:lstStyle/>
                    <a:p>
                      <a:pPr algn="ctr" rtl="0" fontAlgn="b"/>
                      <a:r>
                        <a:rPr lang="en-US" sz="1800" b="0" i="0" u="none" strike="noStrike">
                          <a:solidFill>
                            <a:srgbClr val="000000"/>
                          </a:solidFill>
                          <a:effectLst/>
                          <a:latin typeface="Calibri" panose="020F0502020204030204" pitchFamily="34" charset="0"/>
                        </a:rPr>
                        <a:t>+</a:t>
                      </a:r>
                    </a:p>
                  </a:txBody>
                  <a:tcPr marL="9525" marR="9525" marT="9525" marB="0" anchor="b">
                    <a:lnL>
                      <a:noFill/>
                    </a:lnL>
                    <a:lnR>
                      <a:noFill/>
                    </a:lnR>
                    <a:lnT>
                      <a:noFill/>
                    </a:lnT>
                    <a:lnB>
                      <a:noFill/>
                    </a:lnB>
                  </a:tcPr>
                </a:tc>
                <a:tc>
                  <a:txBody>
                    <a:bodyPr/>
                    <a:lstStyle/>
                    <a:p>
                      <a:pPr algn="ctr" rtl="0" fontAlgn="b"/>
                      <a:r>
                        <a:rPr lang="en-US" sz="1800" b="0" i="0" u="none" strike="noStrike">
                          <a:solidFill>
                            <a:srgbClr val="000000"/>
                          </a:solidFill>
                          <a:effectLst/>
                          <a:latin typeface="Calibri" panose="020F0502020204030204" pitchFamily="34" charset="0"/>
                        </a:rPr>
                        <a:t>1.5</a:t>
                      </a:r>
                    </a:p>
                  </a:txBody>
                  <a:tcPr marL="9525" marR="9525" marT="9525" marB="0" anchor="b">
                    <a:lnL>
                      <a:noFill/>
                    </a:lnL>
                    <a:lnR>
                      <a:noFill/>
                    </a:lnR>
                    <a:lnT>
                      <a:noFill/>
                    </a:lnT>
                    <a:lnB>
                      <a:noFill/>
                    </a:lnB>
                  </a:tcPr>
                </a:tc>
                <a:extLst>
                  <a:ext uri="{0D108BD9-81ED-4DB2-BD59-A6C34878D82A}">
                    <a16:rowId xmlns:a16="http://schemas.microsoft.com/office/drawing/2014/main" val="10001"/>
                  </a:ext>
                </a:extLst>
              </a:tr>
              <a:tr h="280164">
                <a:tc>
                  <a:txBody>
                    <a:bodyPr/>
                    <a:lstStyle/>
                    <a:p>
                      <a:pPr algn="ctr" rtl="0" fontAlgn="b"/>
                      <a:r>
                        <a:rPr lang="en-US" sz="1800" b="0" i="0" u="none" strike="noStrike">
                          <a:solidFill>
                            <a:srgbClr val="000000"/>
                          </a:solidFill>
                          <a:effectLst/>
                          <a:latin typeface="Calibri" panose="020F0502020204030204" pitchFamily="34" charset="0"/>
                        </a:rPr>
                        <a:t>9</a:t>
                      </a:r>
                    </a:p>
                  </a:txBody>
                  <a:tcPr marL="9525" marR="9525" marT="9525" marB="0" anchor="b">
                    <a:lnL>
                      <a:noFill/>
                    </a:lnL>
                    <a:lnR>
                      <a:noFill/>
                    </a:lnR>
                    <a:lnT>
                      <a:noFill/>
                    </a:lnT>
                    <a:lnB>
                      <a:noFill/>
                    </a:lnB>
                  </a:tcPr>
                </a:tc>
                <a:tc>
                  <a:txBody>
                    <a:bodyPr/>
                    <a:lstStyle/>
                    <a:p>
                      <a:pPr algn="ctr" rtl="0" fontAlgn="b"/>
                      <a:r>
                        <a:rPr lang="en-US" sz="1800" b="0" i="0" u="none" strike="noStrike">
                          <a:solidFill>
                            <a:srgbClr val="000000"/>
                          </a:solidFill>
                          <a:effectLst/>
                          <a:latin typeface="Calibri" panose="020F0502020204030204" pitchFamily="34" charset="0"/>
                        </a:rPr>
                        <a:t>530</a:t>
                      </a:r>
                    </a:p>
                  </a:txBody>
                  <a:tcPr marL="9525" marR="9525" marT="9525" marB="0" anchor="b">
                    <a:lnL>
                      <a:noFill/>
                    </a:lnL>
                    <a:lnR>
                      <a:noFill/>
                    </a:lnR>
                    <a:lnT>
                      <a:noFill/>
                    </a:lnT>
                    <a:lnB>
                      <a:noFill/>
                    </a:lnB>
                  </a:tcPr>
                </a:tc>
                <a:tc>
                  <a:txBody>
                    <a:bodyPr/>
                    <a:lstStyle/>
                    <a:p>
                      <a:pPr algn="ctr" rtl="0" fontAlgn="b"/>
                      <a:r>
                        <a:rPr lang="en-US" sz="1800" b="0" i="0" u="none" strike="noStrike">
                          <a:solidFill>
                            <a:srgbClr val="000000"/>
                          </a:solidFill>
                          <a:effectLst/>
                          <a:latin typeface="Calibri" panose="020F0502020204030204" pitchFamily="34" charset="0"/>
                        </a:rPr>
                        <a:t>529</a:t>
                      </a:r>
                    </a:p>
                  </a:txBody>
                  <a:tcPr marL="9525" marR="9525" marT="9525" marB="0" anchor="b">
                    <a:lnL>
                      <a:noFill/>
                    </a:lnL>
                    <a:lnR>
                      <a:noFill/>
                    </a:lnR>
                    <a:lnT>
                      <a:noFill/>
                    </a:lnT>
                    <a:lnB>
                      <a:noFill/>
                    </a:lnB>
                  </a:tcPr>
                </a:tc>
                <a:tc>
                  <a:txBody>
                    <a:bodyPr/>
                    <a:lstStyle/>
                    <a:p>
                      <a:pPr algn="ctr" rtl="0" fontAlgn="b"/>
                      <a:r>
                        <a:rPr lang="en-US" sz="1800" b="0" i="0" u="none" strike="noStrike">
                          <a:solidFill>
                            <a:srgbClr val="000000"/>
                          </a:solidFill>
                          <a:effectLst/>
                          <a:latin typeface="Calibri" panose="020F0502020204030204" pitchFamily="34" charset="0"/>
                        </a:rPr>
                        <a:t>1</a:t>
                      </a:r>
                    </a:p>
                  </a:txBody>
                  <a:tcPr marL="9525" marR="9525" marT="9525" marB="0" anchor="b">
                    <a:lnL>
                      <a:noFill/>
                    </a:lnL>
                    <a:lnR>
                      <a:noFill/>
                    </a:lnR>
                    <a:lnT>
                      <a:noFill/>
                    </a:lnT>
                    <a:lnB>
                      <a:noFill/>
                    </a:lnB>
                  </a:tcPr>
                </a:tc>
                <a:tc>
                  <a:txBody>
                    <a:bodyPr/>
                    <a:lstStyle/>
                    <a:p>
                      <a:pPr algn="ctr" rtl="0" fontAlgn="b"/>
                      <a:r>
                        <a:rPr lang="en-US" sz="1800" b="0" i="0" u="none" strike="noStrike">
                          <a:solidFill>
                            <a:srgbClr val="000000"/>
                          </a:solidFill>
                          <a:effectLst/>
                          <a:latin typeface="Calibri" panose="020F0502020204030204" pitchFamily="34" charset="0"/>
                        </a:rPr>
                        <a:t>+</a:t>
                      </a:r>
                    </a:p>
                  </a:txBody>
                  <a:tcPr marL="9525" marR="9525" marT="9525" marB="0" anchor="b">
                    <a:lnL>
                      <a:noFill/>
                    </a:lnL>
                    <a:lnR>
                      <a:noFill/>
                    </a:lnR>
                    <a:lnT>
                      <a:noFill/>
                    </a:lnT>
                    <a:lnB>
                      <a:noFill/>
                    </a:lnB>
                  </a:tcPr>
                </a:tc>
                <a:tc>
                  <a:txBody>
                    <a:bodyPr/>
                    <a:lstStyle/>
                    <a:p>
                      <a:pPr algn="ctr" rtl="0" fontAlgn="b"/>
                      <a:r>
                        <a:rPr lang="en-US" sz="1800" b="0" i="0" u="none" strike="noStrike">
                          <a:solidFill>
                            <a:srgbClr val="000000"/>
                          </a:solidFill>
                          <a:effectLst/>
                          <a:latin typeface="Calibri" panose="020F0502020204030204" pitchFamily="34" charset="0"/>
                        </a:rPr>
                        <a:t>1.5</a:t>
                      </a:r>
                    </a:p>
                  </a:txBody>
                  <a:tcPr marL="9525" marR="9525" marT="9525" marB="0" anchor="b">
                    <a:lnL>
                      <a:noFill/>
                    </a:lnL>
                    <a:lnR>
                      <a:noFill/>
                    </a:lnR>
                    <a:lnT>
                      <a:noFill/>
                    </a:lnT>
                    <a:lnB>
                      <a:noFill/>
                    </a:lnB>
                  </a:tcPr>
                </a:tc>
                <a:extLst>
                  <a:ext uri="{0D108BD9-81ED-4DB2-BD59-A6C34878D82A}">
                    <a16:rowId xmlns:a16="http://schemas.microsoft.com/office/drawing/2014/main" val="10002"/>
                  </a:ext>
                </a:extLst>
              </a:tr>
              <a:tr h="280164">
                <a:tc>
                  <a:txBody>
                    <a:bodyPr/>
                    <a:lstStyle/>
                    <a:p>
                      <a:pPr algn="ctr" rtl="0" fontAlgn="b"/>
                      <a:r>
                        <a:rPr lang="en-US" sz="1800" b="0" i="0" u="none" strike="noStrike">
                          <a:solidFill>
                            <a:srgbClr val="000000"/>
                          </a:solidFill>
                          <a:effectLst/>
                          <a:latin typeface="Calibri" panose="020F0502020204030204" pitchFamily="34" charset="0"/>
                        </a:rPr>
                        <a:t>6</a:t>
                      </a:r>
                    </a:p>
                  </a:txBody>
                  <a:tcPr marL="9525" marR="9525" marT="9525" marB="0" anchor="b">
                    <a:lnL>
                      <a:noFill/>
                    </a:lnL>
                    <a:lnR>
                      <a:noFill/>
                    </a:lnR>
                    <a:lnT>
                      <a:noFill/>
                    </a:lnT>
                    <a:lnB>
                      <a:noFill/>
                    </a:lnB>
                  </a:tcPr>
                </a:tc>
                <a:tc>
                  <a:txBody>
                    <a:bodyPr/>
                    <a:lstStyle/>
                    <a:p>
                      <a:pPr algn="ctr" rtl="0" fontAlgn="b"/>
                      <a:r>
                        <a:rPr lang="en-US" sz="1800" b="0" i="0" u="none" strike="noStrike">
                          <a:solidFill>
                            <a:srgbClr val="000000"/>
                          </a:solidFill>
                          <a:effectLst/>
                          <a:latin typeface="Calibri" panose="020F0502020204030204" pitchFamily="34" charset="0"/>
                        </a:rPr>
                        <a:t>483</a:t>
                      </a:r>
                    </a:p>
                  </a:txBody>
                  <a:tcPr marL="9525" marR="9525" marT="9525" marB="0" anchor="b">
                    <a:lnL>
                      <a:noFill/>
                    </a:lnL>
                    <a:lnR>
                      <a:noFill/>
                    </a:lnR>
                    <a:lnT>
                      <a:noFill/>
                    </a:lnT>
                    <a:lnB>
                      <a:noFill/>
                    </a:lnB>
                  </a:tcPr>
                </a:tc>
                <a:tc>
                  <a:txBody>
                    <a:bodyPr/>
                    <a:lstStyle/>
                    <a:p>
                      <a:pPr algn="ctr" rtl="0" fontAlgn="b"/>
                      <a:r>
                        <a:rPr lang="en-US" sz="1800" b="0" i="0" u="none" strike="noStrike">
                          <a:solidFill>
                            <a:srgbClr val="000000"/>
                          </a:solidFill>
                          <a:effectLst/>
                          <a:latin typeface="Calibri" panose="020F0502020204030204" pitchFamily="34" charset="0"/>
                        </a:rPr>
                        <a:t>491</a:t>
                      </a:r>
                    </a:p>
                  </a:txBody>
                  <a:tcPr marL="9525" marR="9525" marT="9525" marB="0" anchor="b">
                    <a:lnL>
                      <a:noFill/>
                    </a:lnL>
                    <a:lnR>
                      <a:noFill/>
                    </a:lnR>
                    <a:lnT>
                      <a:noFill/>
                    </a:lnT>
                    <a:lnB>
                      <a:noFill/>
                    </a:lnB>
                  </a:tcPr>
                </a:tc>
                <a:tc>
                  <a:txBody>
                    <a:bodyPr/>
                    <a:lstStyle/>
                    <a:p>
                      <a:pPr algn="ctr" rtl="0" fontAlgn="b"/>
                      <a:r>
                        <a:rPr lang="en-US" sz="1800" b="0" i="0" u="none" strike="noStrike">
                          <a:solidFill>
                            <a:srgbClr val="000000"/>
                          </a:solidFill>
                          <a:effectLst/>
                          <a:latin typeface="Calibri" panose="020F0502020204030204" pitchFamily="34" charset="0"/>
                        </a:rPr>
                        <a:t>-8</a:t>
                      </a:r>
                    </a:p>
                  </a:txBody>
                  <a:tcPr marL="9525" marR="9525" marT="9525" marB="0" anchor="b">
                    <a:lnL>
                      <a:noFill/>
                    </a:lnL>
                    <a:lnR>
                      <a:noFill/>
                    </a:lnR>
                    <a:lnT>
                      <a:noFill/>
                    </a:lnT>
                    <a:lnB>
                      <a:noFill/>
                    </a:lnB>
                  </a:tcPr>
                </a:tc>
                <a:tc>
                  <a:txBody>
                    <a:bodyPr/>
                    <a:lstStyle/>
                    <a:p>
                      <a:pPr algn="ctr" rtl="0" fontAlgn="b"/>
                      <a:r>
                        <a:rPr lang="en-US" sz="1800" b="0" i="0" u="none" strike="noStrike">
                          <a:solidFill>
                            <a:srgbClr val="000000"/>
                          </a:solidFill>
                          <a:effectLst/>
                          <a:latin typeface="Calibri" panose="020F0502020204030204" pitchFamily="34" charset="0"/>
                        </a:rPr>
                        <a:t>-</a:t>
                      </a:r>
                    </a:p>
                  </a:txBody>
                  <a:tcPr marL="9525" marR="9525" marT="9525" marB="0" anchor="b">
                    <a:lnL>
                      <a:noFill/>
                    </a:lnL>
                    <a:lnR>
                      <a:noFill/>
                    </a:lnR>
                    <a:lnT>
                      <a:noFill/>
                    </a:lnT>
                    <a:lnB>
                      <a:noFill/>
                    </a:lnB>
                  </a:tcPr>
                </a:tc>
                <a:tc>
                  <a:txBody>
                    <a:bodyPr/>
                    <a:lstStyle/>
                    <a:p>
                      <a:pPr algn="ctr" rtl="0" fontAlgn="b"/>
                      <a:r>
                        <a:rPr lang="en-US" sz="1800" b="0" i="0" u="none" strike="noStrike">
                          <a:solidFill>
                            <a:srgbClr val="000000"/>
                          </a:solidFill>
                          <a:effectLst/>
                          <a:latin typeface="Calibri" panose="020F0502020204030204" pitchFamily="34" charset="0"/>
                        </a:rPr>
                        <a:t>3.5</a:t>
                      </a:r>
                    </a:p>
                  </a:txBody>
                  <a:tcPr marL="9525" marR="9525" marT="9525" marB="0" anchor="b">
                    <a:lnL>
                      <a:noFill/>
                    </a:lnL>
                    <a:lnR>
                      <a:noFill/>
                    </a:lnR>
                    <a:lnT>
                      <a:noFill/>
                    </a:lnT>
                    <a:lnB>
                      <a:noFill/>
                    </a:lnB>
                  </a:tcPr>
                </a:tc>
                <a:extLst>
                  <a:ext uri="{0D108BD9-81ED-4DB2-BD59-A6C34878D82A}">
                    <a16:rowId xmlns:a16="http://schemas.microsoft.com/office/drawing/2014/main" val="10003"/>
                  </a:ext>
                </a:extLst>
              </a:tr>
              <a:tr h="280164">
                <a:tc>
                  <a:txBody>
                    <a:bodyPr/>
                    <a:lstStyle/>
                    <a:p>
                      <a:pPr algn="ctr" rtl="0" fontAlgn="b"/>
                      <a:r>
                        <a:rPr lang="en-US" sz="1800" b="0" i="0" u="none" strike="noStrike">
                          <a:solidFill>
                            <a:srgbClr val="000000"/>
                          </a:solidFill>
                          <a:effectLst/>
                          <a:latin typeface="Calibri" panose="020F0502020204030204" pitchFamily="34" charset="0"/>
                        </a:rPr>
                        <a:t>7</a:t>
                      </a:r>
                    </a:p>
                  </a:txBody>
                  <a:tcPr marL="9525" marR="9525" marT="9525" marB="0" anchor="b">
                    <a:lnL>
                      <a:noFill/>
                    </a:lnL>
                    <a:lnR>
                      <a:noFill/>
                    </a:lnR>
                    <a:lnT>
                      <a:noFill/>
                    </a:lnT>
                    <a:lnB>
                      <a:noFill/>
                    </a:lnB>
                  </a:tcPr>
                </a:tc>
                <a:tc>
                  <a:txBody>
                    <a:bodyPr/>
                    <a:lstStyle/>
                    <a:p>
                      <a:pPr algn="ctr" rtl="0" fontAlgn="b"/>
                      <a:r>
                        <a:rPr lang="en-US" sz="1800" b="0" i="0" u="none" strike="noStrike">
                          <a:solidFill>
                            <a:srgbClr val="000000"/>
                          </a:solidFill>
                          <a:effectLst/>
                          <a:latin typeface="Calibri" panose="020F0502020204030204" pitchFamily="34" charset="0"/>
                        </a:rPr>
                        <a:t>512</a:t>
                      </a:r>
                    </a:p>
                  </a:txBody>
                  <a:tcPr marL="9525" marR="9525" marT="9525" marB="0" anchor="b">
                    <a:lnL>
                      <a:noFill/>
                    </a:lnL>
                    <a:lnR>
                      <a:noFill/>
                    </a:lnR>
                    <a:lnT>
                      <a:noFill/>
                    </a:lnT>
                    <a:lnB>
                      <a:noFill/>
                    </a:lnB>
                  </a:tcPr>
                </a:tc>
                <a:tc>
                  <a:txBody>
                    <a:bodyPr/>
                    <a:lstStyle/>
                    <a:p>
                      <a:pPr algn="ctr" rtl="0" fontAlgn="b"/>
                      <a:r>
                        <a:rPr lang="en-US" sz="1800" b="0" i="0" u="none" strike="noStrike">
                          <a:solidFill>
                            <a:srgbClr val="000000"/>
                          </a:solidFill>
                          <a:effectLst/>
                          <a:latin typeface="Calibri" panose="020F0502020204030204" pitchFamily="34" charset="0"/>
                        </a:rPr>
                        <a:t>520</a:t>
                      </a:r>
                    </a:p>
                  </a:txBody>
                  <a:tcPr marL="9525" marR="9525" marT="9525" marB="0" anchor="b">
                    <a:lnL>
                      <a:noFill/>
                    </a:lnL>
                    <a:lnR>
                      <a:noFill/>
                    </a:lnR>
                    <a:lnT>
                      <a:noFill/>
                    </a:lnT>
                    <a:lnB>
                      <a:noFill/>
                    </a:lnB>
                  </a:tcPr>
                </a:tc>
                <a:tc>
                  <a:txBody>
                    <a:bodyPr/>
                    <a:lstStyle/>
                    <a:p>
                      <a:pPr algn="ctr" rtl="0" fontAlgn="b"/>
                      <a:r>
                        <a:rPr lang="en-US" sz="1800" b="0" i="0" u="none" strike="noStrike">
                          <a:solidFill>
                            <a:srgbClr val="000000"/>
                          </a:solidFill>
                          <a:effectLst/>
                          <a:latin typeface="Calibri" panose="020F0502020204030204" pitchFamily="34" charset="0"/>
                        </a:rPr>
                        <a:t>-8</a:t>
                      </a:r>
                    </a:p>
                  </a:txBody>
                  <a:tcPr marL="9525" marR="9525" marT="9525" marB="0" anchor="b">
                    <a:lnL>
                      <a:noFill/>
                    </a:lnL>
                    <a:lnR>
                      <a:noFill/>
                    </a:lnR>
                    <a:lnT>
                      <a:noFill/>
                    </a:lnT>
                    <a:lnB>
                      <a:noFill/>
                    </a:lnB>
                  </a:tcPr>
                </a:tc>
                <a:tc>
                  <a:txBody>
                    <a:bodyPr/>
                    <a:lstStyle/>
                    <a:p>
                      <a:pPr algn="ctr" rtl="0" fontAlgn="b"/>
                      <a:r>
                        <a:rPr lang="en-US" sz="1800" b="0" i="0" u="none" strike="noStrike">
                          <a:solidFill>
                            <a:srgbClr val="000000"/>
                          </a:solidFill>
                          <a:effectLst/>
                          <a:latin typeface="Calibri" panose="020F0502020204030204" pitchFamily="34" charset="0"/>
                        </a:rPr>
                        <a:t>-</a:t>
                      </a:r>
                    </a:p>
                  </a:txBody>
                  <a:tcPr marL="9525" marR="9525" marT="9525" marB="0" anchor="b">
                    <a:lnL>
                      <a:noFill/>
                    </a:lnL>
                    <a:lnR>
                      <a:noFill/>
                    </a:lnR>
                    <a:lnT>
                      <a:noFill/>
                    </a:lnT>
                    <a:lnB>
                      <a:noFill/>
                    </a:lnB>
                  </a:tcPr>
                </a:tc>
                <a:tc>
                  <a:txBody>
                    <a:bodyPr/>
                    <a:lstStyle/>
                    <a:p>
                      <a:pPr algn="ctr" rtl="0" fontAlgn="b"/>
                      <a:r>
                        <a:rPr lang="en-US" sz="1800" b="0" i="0" u="none" strike="noStrike">
                          <a:solidFill>
                            <a:srgbClr val="000000"/>
                          </a:solidFill>
                          <a:effectLst/>
                          <a:latin typeface="Calibri" panose="020F0502020204030204" pitchFamily="34" charset="0"/>
                        </a:rPr>
                        <a:t>3.5</a:t>
                      </a:r>
                    </a:p>
                  </a:txBody>
                  <a:tcPr marL="9525" marR="9525" marT="9525" marB="0" anchor="b">
                    <a:lnL>
                      <a:noFill/>
                    </a:lnL>
                    <a:lnR>
                      <a:noFill/>
                    </a:lnR>
                    <a:lnT>
                      <a:noFill/>
                    </a:lnT>
                    <a:lnB>
                      <a:noFill/>
                    </a:lnB>
                  </a:tcPr>
                </a:tc>
                <a:extLst>
                  <a:ext uri="{0D108BD9-81ED-4DB2-BD59-A6C34878D82A}">
                    <a16:rowId xmlns:a16="http://schemas.microsoft.com/office/drawing/2014/main" val="10004"/>
                  </a:ext>
                </a:extLst>
              </a:tr>
              <a:tr h="280164">
                <a:tc>
                  <a:txBody>
                    <a:bodyPr/>
                    <a:lstStyle/>
                    <a:p>
                      <a:pPr algn="ctr" rtl="0" fontAlgn="b"/>
                      <a:r>
                        <a:rPr lang="en-US" sz="1800" b="0" i="0" u="none" strike="noStrike">
                          <a:solidFill>
                            <a:srgbClr val="000000"/>
                          </a:solidFill>
                          <a:effectLst/>
                          <a:latin typeface="Calibri" panose="020F0502020204030204" pitchFamily="34" charset="0"/>
                        </a:rPr>
                        <a:t>5</a:t>
                      </a:r>
                    </a:p>
                  </a:txBody>
                  <a:tcPr marL="9525" marR="9525" marT="9525" marB="0" anchor="b">
                    <a:lnL>
                      <a:noFill/>
                    </a:lnL>
                    <a:lnR>
                      <a:noFill/>
                    </a:lnR>
                    <a:lnT>
                      <a:noFill/>
                    </a:lnT>
                    <a:lnB>
                      <a:noFill/>
                    </a:lnB>
                  </a:tcPr>
                </a:tc>
                <a:tc>
                  <a:txBody>
                    <a:bodyPr/>
                    <a:lstStyle/>
                    <a:p>
                      <a:pPr algn="ctr" rtl="0" fontAlgn="b"/>
                      <a:r>
                        <a:rPr lang="en-US" sz="1800" b="0" i="0" u="none" strike="noStrike">
                          <a:solidFill>
                            <a:srgbClr val="000000"/>
                          </a:solidFill>
                          <a:effectLst/>
                          <a:latin typeface="Calibri" panose="020F0502020204030204" pitchFamily="34" charset="0"/>
                        </a:rPr>
                        <a:t>600</a:t>
                      </a:r>
                    </a:p>
                  </a:txBody>
                  <a:tcPr marL="9525" marR="9525" marT="9525" marB="0" anchor="b">
                    <a:lnL>
                      <a:noFill/>
                    </a:lnL>
                    <a:lnR>
                      <a:noFill/>
                    </a:lnR>
                    <a:lnT>
                      <a:noFill/>
                    </a:lnT>
                    <a:lnB>
                      <a:noFill/>
                    </a:lnB>
                  </a:tcPr>
                </a:tc>
                <a:tc>
                  <a:txBody>
                    <a:bodyPr/>
                    <a:lstStyle/>
                    <a:p>
                      <a:pPr algn="ctr" rtl="0" fontAlgn="b"/>
                      <a:r>
                        <a:rPr lang="en-US" sz="1800" b="0" i="0" u="none" strike="noStrike">
                          <a:solidFill>
                            <a:srgbClr val="000000"/>
                          </a:solidFill>
                          <a:effectLst/>
                          <a:latin typeface="Calibri" panose="020F0502020204030204" pitchFamily="34" charset="0"/>
                        </a:rPr>
                        <a:t>588</a:t>
                      </a:r>
                    </a:p>
                  </a:txBody>
                  <a:tcPr marL="9525" marR="9525" marT="9525" marB="0" anchor="b">
                    <a:lnL>
                      <a:noFill/>
                    </a:lnL>
                    <a:lnR>
                      <a:noFill/>
                    </a:lnR>
                    <a:lnT>
                      <a:noFill/>
                    </a:lnT>
                    <a:lnB>
                      <a:noFill/>
                    </a:lnB>
                  </a:tcPr>
                </a:tc>
                <a:tc>
                  <a:txBody>
                    <a:bodyPr/>
                    <a:lstStyle/>
                    <a:p>
                      <a:pPr algn="ctr" rtl="0" fontAlgn="b"/>
                      <a:r>
                        <a:rPr lang="en-US" sz="1800" b="0" i="0" u="none" strike="noStrike">
                          <a:solidFill>
                            <a:srgbClr val="000000"/>
                          </a:solidFill>
                          <a:effectLst/>
                          <a:latin typeface="Calibri" panose="020F0502020204030204" pitchFamily="34" charset="0"/>
                        </a:rPr>
                        <a:t>12</a:t>
                      </a:r>
                    </a:p>
                  </a:txBody>
                  <a:tcPr marL="9525" marR="9525" marT="9525" marB="0" anchor="b">
                    <a:lnL>
                      <a:noFill/>
                    </a:lnL>
                    <a:lnR>
                      <a:noFill/>
                    </a:lnR>
                    <a:lnT>
                      <a:noFill/>
                    </a:lnT>
                    <a:lnB>
                      <a:noFill/>
                    </a:lnB>
                  </a:tcPr>
                </a:tc>
                <a:tc>
                  <a:txBody>
                    <a:bodyPr/>
                    <a:lstStyle/>
                    <a:p>
                      <a:pPr algn="ctr" rtl="0" fontAlgn="b"/>
                      <a:r>
                        <a:rPr lang="en-US" sz="1800" b="0" i="0" u="none" strike="noStrike">
                          <a:solidFill>
                            <a:srgbClr val="000000"/>
                          </a:solidFill>
                          <a:effectLst/>
                          <a:latin typeface="Calibri" panose="020F0502020204030204" pitchFamily="34" charset="0"/>
                        </a:rPr>
                        <a:t>+</a:t>
                      </a:r>
                    </a:p>
                  </a:txBody>
                  <a:tcPr marL="9525" marR="9525" marT="9525" marB="0" anchor="b">
                    <a:lnL>
                      <a:noFill/>
                    </a:lnL>
                    <a:lnR>
                      <a:noFill/>
                    </a:lnR>
                    <a:lnT>
                      <a:noFill/>
                    </a:lnT>
                    <a:lnB>
                      <a:noFill/>
                    </a:lnB>
                  </a:tcPr>
                </a:tc>
                <a:tc>
                  <a:txBody>
                    <a:bodyPr/>
                    <a:lstStyle/>
                    <a:p>
                      <a:pPr algn="ctr" rtl="0" fontAlgn="b"/>
                      <a:r>
                        <a:rPr lang="en-US" sz="1800" b="0" i="0" u="none" strike="noStrike">
                          <a:solidFill>
                            <a:srgbClr val="000000"/>
                          </a:solidFill>
                          <a:effectLst/>
                          <a:latin typeface="Calibri" panose="020F0502020204030204" pitchFamily="34" charset="0"/>
                        </a:rPr>
                        <a:t>5</a:t>
                      </a:r>
                    </a:p>
                  </a:txBody>
                  <a:tcPr marL="9525" marR="9525" marT="9525" marB="0" anchor="b">
                    <a:lnL>
                      <a:noFill/>
                    </a:lnL>
                    <a:lnR>
                      <a:noFill/>
                    </a:lnR>
                    <a:lnT>
                      <a:noFill/>
                    </a:lnT>
                    <a:lnB>
                      <a:noFill/>
                    </a:lnB>
                  </a:tcPr>
                </a:tc>
                <a:extLst>
                  <a:ext uri="{0D108BD9-81ED-4DB2-BD59-A6C34878D82A}">
                    <a16:rowId xmlns:a16="http://schemas.microsoft.com/office/drawing/2014/main" val="10005"/>
                  </a:ext>
                </a:extLst>
              </a:tr>
              <a:tr h="280164">
                <a:tc>
                  <a:txBody>
                    <a:bodyPr/>
                    <a:lstStyle/>
                    <a:p>
                      <a:pPr algn="ctr" rtl="0" fontAlgn="b"/>
                      <a:r>
                        <a:rPr lang="en-US" sz="1800" b="0" i="0" u="none" strike="noStrike">
                          <a:solidFill>
                            <a:srgbClr val="000000"/>
                          </a:solidFill>
                          <a:effectLst/>
                          <a:latin typeface="Calibri" panose="020F0502020204030204" pitchFamily="34" charset="0"/>
                        </a:rPr>
                        <a:t>4</a:t>
                      </a:r>
                    </a:p>
                  </a:txBody>
                  <a:tcPr marL="9525" marR="9525" marT="9525" marB="0" anchor="b">
                    <a:lnL>
                      <a:noFill/>
                    </a:lnL>
                    <a:lnR>
                      <a:noFill/>
                    </a:lnR>
                    <a:lnT>
                      <a:noFill/>
                    </a:lnT>
                    <a:lnB>
                      <a:noFill/>
                    </a:lnB>
                  </a:tcPr>
                </a:tc>
                <a:tc>
                  <a:txBody>
                    <a:bodyPr/>
                    <a:lstStyle/>
                    <a:p>
                      <a:pPr algn="ctr" rtl="0" fontAlgn="b"/>
                      <a:r>
                        <a:rPr lang="en-US" sz="1800" b="0" i="0" u="none" strike="noStrike">
                          <a:solidFill>
                            <a:srgbClr val="000000"/>
                          </a:solidFill>
                          <a:effectLst/>
                          <a:latin typeface="Calibri" panose="020F0502020204030204" pitchFamily="34" charset="0"/>
                        </a:rPr>
                        <a:t>580</a:t>
                      </a:r>
                    </a:p>
                  </a:txBody>
                  <a:tcPr marL="9525" marR="9525" marT="9525" marB="0" anchor="b">
                    <a:lnL>
                      <a:noFill/>
                    </a:lnL>
                    <a:lnR>
                      <a:noFill/>
                    </a:lnR>
                    <a:lnT>
                      <a:noFill/>
                    </a:lnT>
                    <a:lnB>
                      <a:noFill/>
                    </a:lnB>
                  </a:tcPr>
                </a:tc>
                <a:tc>
                  <a:txBody>
                    <a:bodyPr/>
                    <a:lstStyle/>
                    <a:p>
                      <a:pPr algn="ctr" rtl="0" fontAlgn="b"/>
                      <a:r>
                        <a:rPr lang="en-US" sz="1800" b="0" i="0" u="none" strike="noStrike">
                          <a:solidFill>
                            <a:srgbClr val="000000"/>
                          </a:solidFill>
                          <a:effectLst/>
                          <a:latin typeface="Calibri" panose="020F0502020204030204" pitchFamily="34" charset="0"/>
                        </a:rPr>
                        <a:t>593</a:t>
                      </a:r>
                    </a:p>
                  </a:txBody>
                  <a:tcPr marL="9525" marR="9525" marT="9525" marB="0" anchor="b">
                    <a:lnL>
                      <a:noFill/>
                    </a:lnL>
                    <a:lnR>
                      <a:noFill/>
                    </a:lnR>
                    <a:lnT>
                      <a:noFill/>
                    </a:lnT>
                    <a:lnB>
                      <a:noFill/>
                    </a:lnB>
                  </a:tcPr>
                </a:tc>
                <a:tc>
                  <a:txBody>
                    <a:bodyPr/>
                    <a:lstStyle/>
                    <a:p>
                      <a:pPr algn="ctr" rtl="0" fontAlgn="b"/>
                      <a:r>
                        <a:rPr lang="en-US" sz="1800" b="0" i="0" u="none" strike="noStrike">
                          <a:solidFill>
                            <a:srgbClr val="000000"/>
                          </a:solidFill>
                          <a:effectLst/>
                          <a:latin typeface="Calibri" panose="020F0502020204030204" pitchFamily="34" charset="0"/>
                        </a:rPr>
                        <a:t>-13</a:t>
                      </a:r>
                    </a:p>
                  </a:txBody>
                  <a:tcPr marL="9525" marR="9525" marT="9525" marB="0" anchor="b">
                    <a:lnL>
                      <a:noFill/>
                    </a:lnL>
                    <a:lnR>
                      <a:noFill/>
                    </a:lnR>
                    <a:lnT>
                      <a:noFill/>
                    </a:lnT>
                    <a:lnB>
                      <a:noFill/>
                    </a:lnB>
                  </a:tcPr>
                </a:tc>
                <a:tc>
                  <a:txBody>
                    <a:bodyPr/>
                    <a:lstStyle/>
                    <a:p>
                      <a:pPr algn="ctr" rtl="0" fontAlgn="b"/>
                      <a:r>
                        <a:rPr lang="en-US" sz="1800" b="0" i="0" u="none" strike="noStrike">
                          <a:solidFill>
                            <a:srgbClr val="000000"/>
                          </a:solidFill>
                          <a:effectLst/>
                          <a:latin typeface="Calibri" panose="020F0502020204030204" pitchFamily="34" charset="0"/>
                        </a:rPr>
                        <a:t>-</a:t>
                      </a:r>
                    </a:p>
                  </a:txBody>
                  <a:tcPr marL="9525" marR="9525" marT="9525" marB="0" anchor="b">
                    <a:lnL>
                      <a:noFill/>
                    </a:lnL>
                    <a:lnR>
                      <a:noFill/>
                    </a:lnR>
                    <a:lnT>
                      <a:noFill/>
                    </a:lnT>
                    <a:lnB>
                      <a:noFill/>
                    </a:lnB>
                  </a:tcPr>
                </a:tc>
                <a:tc>
                  <a:txBody>
                    <a:bodyPr/>
                    <a:lstStyle/>
                    <a:p>
                      <a:pPr algn="ctr" rtl="0" fontAlgn="b"/>
                      <a:r>
                        <a:rPr lang="en-US" sz="1800" b="0" i="0" u="none" strike="noStrike">
                          <a:solidFill>
                            <a:srgbClr val="000000"/>
                          </a:solidFill>
                          <a:effectLst/>
                          <a:latin typeface="Calibri" panose="020F0502020204030204" pitchFamily="34" charset="0"/>
                        </a:rPr>
                        <a:t>6.5</a:t>
                      </a:r>
                    </a:p>
                  </a:txBody>
                  <a:tcPr marL="9525" marR="9525" marT="9525" marB="0" anchor="b">
                    <a:lnL>
                      <a:noFill/>
                    </a:lnL>
                    <a:lnR>
                      <a:noFill/>
                    </a:lnR>
                    <a:lnT>
                      <a:noFill/>
                    </a:lnT>
                    <a:lnB>
                      <a:noFill/>
                    </a:lnB>
                  </a:tcPr>
                </a:tc>
                <a:extLst>
                  <a:ext uri="{0D108BD9-81ED-4DB2-BD59-A6C34878D82A}">
                    <a16:rowId xmlns:a16="http://schemas.microsoft.com/office/drawing/2014/main" val="10006"/>
                  </a:ext>
                </a:extLst>
              </a:tr>
              <a:tr h="280164">
                <a:tc>
                  <a:txBody>
                    <a:bodyPr/>
                    <a:lstStyle/>
                    <a:p>
                      <a:pPr algn="ctr" rtl="0" fontAlgn="b"/>
                      <a:r>
                        <a:rPr lang="en-US" sz="1800" b="0" i="0" u="none" strike="noStrike">
                          <a:solidFill>
                            <a:srgbClr val="000000"/>
                          </a:solidFill>
                          <a:effectLst/>
                          <a:latin typeface="Calibri" panose="020F0502020204030204" pitchFamily="34" charset="0"/>
                        </a:rPr>
                        <a:t>8</a:t>
                      </a:r>
                    </a:p>
                  </a:txBody>
                  <a:tcPr marL="9525" marR="9525" marT="9525" marB="0" anchor="b">
                    <a:lnL>
                      <a:noFill/>
                    </a:lnL>
                    <a:lnR>
                      <a:noFill/>
                    </a:lnR>
                    <a:lnT>
                      <a:noFill/>
                    </a:lnT>
                    <a:lnB>
                      <a:noFill/>
                    </a:lnB>
                  </a:tcPr>
                </a:tc>
                <a:tc>
                  <a:txBody>
                    <a:bodyPr/>
                    <a:lstStyle/>
                    <a:p>
                      <a:pPr algn="ctr" rtl="0" fontAlgn="b"/>
                      <a:r>
                        <a:rPr lang="en-US" sz="1800" b="0" i="0" u="none" strike="noStrike">
                          <a:solidFill>
                            <a:srgbClr val="000000"/>
                          </a:solidFill>
                          <a:effectLst/>
                          <a:latin typeface="Calibri" panose="020F0502020204030204" pitchFamily="34" charset="0"/>
                        </a:rPr>
                        <a:t>575</a:t>
                      </a:r>
                    </a:p>
                  </a:txBody>
                  <a:tcPr marL="9525" marR="9525" marT="9525" marB="0" anchor="b">
                    <a:lnL>
                      <a:noFill/>
                    </a:lnL>
                    <a:lnR>
                      <a:noFill/>
                    </a:lnR>
                    <a:lnT>
                      <a:noFill/>
                    </a:lnT>
                    <a:lnB>
                      <a:noFill/>
                    </a:lnB>
                  </a:tcPr>
                </a:tc>
                <a:tc>
                  <a:txBody>
                    <a:bodyPr/>
                    <a:lstStyle/>
                    <a:p>
                      <a:pPr algn="ctr" rtl="0" fontAlgn="b"/>
                      <a:r>
                        <a:rPr lang="en-US" sz="1800" b="0" i="0" u="none" strike="noStrike">
                          <a:solidFill>
                            <a:srgbClr val="000000"/>
                          </a:solidFill>
                          <a:effectLst/>
                          <a:latin typeface="Calibri" panose="020F0502020204030204" pitchFamily="34" charset="0"/>
                        </a:rPr>
                        <a:t>588</a:t>
                      </a:r>
                    </a:p>
                  </a:txBody>
                  <a:tcPr marL="9525" marR="9525" marT="9525" marB="0" anchor="b">
                    <a:lnL>
                      <a:noFill/>
                    </a:lnL>
                    <a:lnR>
                      <a:noFill/>
                    </a:lnR>
                    <a:lnT>
                      <a:noFill/>
                    </a:lnT>
                    <a:lnB>
                      <a:noFill/>
                    </a:lnB>
                  </a:tcPr>
                </a:tc>
                <a:tc>
                  <a:txBody>
                    <a:bodyPr/>
                    <a:lstStyle/>
                    <a:p>
                      <a:pPr algn="ctr" rtl="0" fontAlgn="b"/>
                      <a:r>
                        <a:rPr lang="en-US" sz="1800" b="0" i="0" u="none" strike="noStrike">
                          <a:solidFill>
                            <a:srgbClr val="000000"/>
                          </a:solidFill>
                          <a:effectLst/>
                          <a:latin typeface="Calibri" panose="020F0502020204030204" pitchFamily="34" charset="0"/>
                        </a:rPr>
                        <a:t>-13</a:t>
                      </a:r>
                    </a:p>
                  </a:txBody>
                  <a:tcPr marL="9525" marR="9525" marT="9525" marB="0" anchor="b">
                    <a:lnL>
                      <a:noFill/>
                    </a:lnL>
                    <a:lnR>
                      <a:noFill/>
                    </a:lnR>
                    <a:lnT>
                      <a:noFill/>
                    </a:lnT>
                    <a:lnB>
                      <a:noFill/>
                    </a:lnB>
                  </a:tcPr>
                </a:tc>
                <a:tc>
                  <a:txBody>
                    <a:bodyPr/>
                    <a:lstStyle/>
                    <a:p>
                      <a:pPr algn="ctr" rtl="0" fontAlgn="b"/>
                      <a:r>
                        <a:rPr lang="en-US" sz="1800" b="0" i="0" u="none" strike="noStrike">
                          <a:solidFill>
                            <a:srgbClr val="000000"/>
                          </a:solidFill>
                          <a:effectLst/>
                          <a:latin typeface="Calibri" panose="020F0502020204030204" pitchFamily="34" charset="0"/>
                        </a:rPr>
                        <a:t>-</a:t>
                      </a:r>
                    </a:p>
                  </a:txBody>
                  <a:tcPr marL="9525" marR="9525" marT="9525" marB="0" anchor="b">
                    <a:lnL>
                      <a:noFill/>
                    </a:lnL>
                    <a:lnR>
                      <a:noFill/>
                    </a:lnR>
                    <a:lnT>
                      <a:noFill/>
                    </a:lnT>
                    <a:lnB>
                      <a:noFill/>
                    </a:lnB>
                  </a:tcPr>
                </a:tc>
                <a:tc>
                  <a:txBody>
                    <a:bodyPr/>
                    <a:lstStyle/>
                    <a:p>
                      <a:pPr algn="ctr" rtl="0" fontAlgn="b"/>
                      <a:r>
                        <a:rPr lang="en-US" sz="1800" b="0" i="0" u="none" strike="noStrike">
                          <a:solidFill>
                            <a:srgbClr val="000000"/>
                          </a:solidFill>
                          <a:effectLst/>
                          <a:latin typeface="Calibri" panose="020F0502020204030204" pitchFamily="34" charset="0"/>
                        </a:rPr>
                        <a:t>6.5</a:t>
                      </a:r>
                    </a:p>
                  </a:txBody>
                  <a:tcPr marL="9525" marR="9525" marT="9525" marB="0" anchor="b">
                    <a:lnL>
                      <a:noFill/>
                    </a:lnL>
                    <a:lnR>
                      <a:noFill/>
                    </a:lnR>
                    <a:lnT>
                      <a:noFill/>
                    </a:lnT>
                    <a:lnB>
                      <a:noFill/>
                    </a:lnB>
                  </a:tcPr>
                </a:tc>
                <a:extLst>
                  <a:ext uri="{0D108BD9-81ED-4DB2-BD59-A6C34878D82A}">
                    <a16:rowId xmlns:a16="http://schemas.microsoft.com/office/drawing/2014/main" val="10007"/>
                  </a:ext>
                </a:extLst>
              </a:tr>
              <a:tr h="280164">
                <a:tc>
                  <a:txBody>
                    <a:bodyPr/>
                    <a:lstStyle/>
                    <a:p>
                      <a:pPr algn="ctr" rtl="0" fontAlgn="b"/>
                      <a:r>
                        <a:rPr lang="en-US" sz="1800" b="0" i="0" u="none" strike="noStrike">
                          <a:solidFill>
                            <a:srgbClr val="000000"/>
                          </a:solidFill>
                          <a:effectLst/>
                          <a:latin typeface="Calibri" panose="020F0502020204030204" pitchFamily="34" charset="0"/>
                        </a:rPr>
                        <a:t>10</a:t>
                      </a:r>
                    </a:p>
                  </a:txBody>
                  <a:tcPr marL="9525" marR="9525" marT="9525" marB="0" anchor="b">
                    <a:lnL>
                      <a:noFill/>
                    </a:lnL>
                    <a:lnR>
                      <a:noFill/>
                    </a:lnR>
                    <a:lnT>
                      <a:noFill/>
                    </a:lnT>
                    <a:lnB>
                      <a:noFill/>
                    </a:lnB>
                  </a:tcPr>
                </a:tc>
                <a:tc>
                  <a:txBody>
                    <a:bodyPr/>
                    <a:lstStyle/>
                    <a:p>
                      <a:pPr algn="ctr" rtl="0" fontAlgn="b"/>
                      <a:r>
                        <a:rPr lang="en-US" sz="1800" b="0" i="0" u="none" strike="noStrike">
                          <a:solidFill>
                            <a:srgbClr val="000000"/>
                          </a:solidFill>
                          <a:effectLst/>
                          <a:latin typeface="Calibri" panose="020F0502020204030204" pitchFamily="34" charset="0"/>
                        </a:rPr>
                        <a:t>490</a:t>
                      </a:r>
                    </a:p>
                  </a:txBody>
                  <a:tcPr marL="9525" marR="9525" marT="9525" marB="0" anchor="b">
                    <a:lnL>
                      <a:noFill/>
                    </a:lnL>
                    <a:lnR>
                      <a:noFill/>
                    </a:lnR>
                    <a:lnT>
                      <a:noFill/>
                    </a:lnT>
                    <a:lnB>
                      <a:noFill/>
                    </a:lnB>
                  </a:tcPr>
                </a:tc>
                <a:tc>
                  <a:txBody>
                    <a:bodyPr/>
                    <a:lstStyle/>
                    <a:p>
                      <a:pPr algn="ctr" rtl="0" fontAlgn="b"/>
                      <a:r>
                        <a:rPr lang="en-US" sz="1800" b="0" i="0" u="none" strike="noStrike">
                          <a:solidFill>
                            <a:srgbClr val="000000"/>
                          </a:solidFill>
                          <a:effectLst/>
                          <a:latin typeface="Calibri" panose="020F0502020204030204" pitchFamily="34" charset="0"/>
                        </a:rPr>
                        <a:t>508</a:t>
                      </a:r>
                    </a:p>
                  </a:txBody>
                  <a:tcPr marL="9525" marR="9525" marT="9525" marB="0" anchor="b">
                    <a:lnL>
                      <a:noFill/>
                    </a:lnL>
                    <a:lnR>
                      <a:noFill/>
                    </a:lnR>
                    <a:lnT>
                      <a:noFill/>
                    </a:lnT>
                    <a:lnB>
                      <a:noFill/>
                    </a:lnB>
                  </a:tcPr>
                </a:tc>
                <a:tc>
                  <a:txBody>
                    <a:bodyPr/>
                    <a:lstStyle/>
                    <a:p>
                      <a:pPr algn="ctr" rtl="0" fontAlgn="b"/>
                      <a:r>
                        <a:rPr lang="en-US" sz="1800" b="0" i="0" u="none" strike="noStrike">
                          <a:solidFill>
                            <a:srgbClr val="000000"/>
                          </a:solidFill>
                          <a:effectLst/>
                          <a:latin typeface="Calibri" panose="020F0502020204030204" pitchFamily="34" charset="0"/>
                        </a:rPr>
                        <a:t>-18</a:t>
                      </a:r>
                    </a:p>
                  </a:txBody>
                  <a:tcPr marL="9525" marR="9525" marT="9525" marB="0" anchor="b">
                    <a:lnL>
                      <a:noFill/>
                    </a:lnL>
                    <a:lnR>
                      <a:noFill/>
                    </a:lnR>
                    <a:lnT>
                      <a:noFill/>
                    </a:lnT>
                    <a:lnB>
                      <a:noFill/>
                    </a:lnB>
                  </a:tcPr>
                </a:tc>
                <a:tc>
                  <a:txBody>
                    <a:bodyPr/>
                    <a:lstStyle/>
                    <a:p>
                      <a:pPr algn="ctr" rtl="0" fontAlgn="b"/>
                      <a:r>
                        <a:rPr lang="en-US" sz="1800" b="0" i="0" u="none" strike="noStrike">
                          <a:solidFill>
                            <a:srgbClr val="000000"/>
                          </a:solidFill>
                          <a:effectLst/>
                          <a:latin typeface="Calibri" panose="020F0502020204030204" pitchFamily="34" charset="0"/>
                        </a:rPr>
                        <a:t>-</a:t>
                      </a:r>
                    </a:p>
                  </a:txBody>
                  <a:tcPr marL="9525" marR="9525" marT="9525" marB="0" anchor="b">
                    <a:lnL>
                      <a:noFill/>
                    </a:lnL>
                    <a:lnR>
                      <a:noFill/>
                    </a:lnR>
                    <a:lnT>
                      <a:noFill/>
                    </a:lnT>
                    <a:lnB>
                      <a:noFill/>
                    </a:lnB>
                  </a:tcPr>
                </a:tc>
                <a:tc>
                  <a:txBody>
                    <a:bodyPr/>
                    <a:lstStyle/>
                    <a:p>
                      <a:pPr algn="ctr" rtl="0" fontAlgn="b"/>
                      <a:r>
                        <a:rPr lang="en-US" sz="1800" b="0" i="0" u="none" strike="noStrike">
                          <a:solidFill>
                            <a:srgbClr val="000000"/>
                          </a:solidFill>
                          <a:effectLst/>
                          <a:latin typeface="Calibri" panose="020F0502020204030204" pitchFamily="34" charset="0"/>
                        </a:rPr>
                        <a:t>8</a:t>
                      </a:r>
                    </a:p>
                  </a:txBody>
                  <a:tcPr marL="9525" marR="9525" marT="9525" marB="0" anchor="b">
                    <a:lnL>
                      <a:noFill/>
                    </a:lnL>
                    <a:lnR>
                      <a:noFill/>
                    </a:lnR>
                    <a:lnT>
                      <a:noFill/>
                    </a:lnT>
                    <a:lnB>
                      <a:noFill/>
                    </a:lnB>
                  </a:tcPr>
                </a:tc>
                <a:extLst>
                  <a:ext uri="{0D108BD9-81ED-4DB2-BD59-A6C34878D82A}">
                    <a16:rowId xmlns:a16="http://schemas.microsoft.com/office/drawing/2014/main" val="10008"/>
                  </a:ext>
                </a:extLst>
              </a:tr>
              <a:tr h="280164">
                <a:tc>
                  <a:txBody>
                    <a:bodyPr/>
                    <a:lstStyle/>
                    <a:p>
                      <a:pPr algn="ctr" rtl="0" fontAlgn="b"/>
                      <a:r>
                        <a:rPr lang="en-US" sz="1800" b="0" i="0" u="none" strike="noStrike">
                          <a:solidFill>
                            <a:srgbClr val="000000"/>
                          </a:solidFill>
                          <a:effectLst/>
                          <a:latin typeface="Calibri" panose="020F0502020204030204" pitchFamily="34" charset="0"/>
                        </a:rPr>
                        <a:t>2</a:t>
                      </a:r>
                    </a:p>
                  </a:txBody>
                  <a:tcPr marL="9525" marR="9525" marT="9525" marB="0" anchor="b">
                    <a:lnL>
                      <a:noFill/>
                    </a:lnL>
                    <a:lnR>
                      <a:noFill/>
                    </a:lnR>
                    <a:lnT>
                      <a:noFill/>
                    </a:lnT>
                    <a:lnB>
                      <a:noFill/>
                    </a:lnB>
                  </a:tcPr>
                </a:tc>
                <a:tc>
                  <a:txBody>
                    <a:bodyPr/>
                    <a:lstStyle/>
                    <a:p>
                      <a:pPr algn="ctr" rtl="0" fontAlgn="b"/>
                      <a:r>
                        <a:rPr lang="en-US" sz="1800" b="0" i="0" u="none" strike="noStrike">
                          <a:solidFill>
                            <a:srgbClr val="000000"/>
                          </a:solidFill>
                          <a:effectLst/>
                          <a:latin typeface="Calibri" panose="020F0502020204030204" pitchFamily="34" charset="0"/>
                        </a:rPr>
                        <a:t>492</a:t>
                      </a:r>
                    </a:p>
                  </a:txBody>
                  <a:tcPr marL="9525" marR="9525" marT="9525" marB="0" anchor="b">
                    <a:lnL>
                      <a:noFill/>
                    </a:lnL>
                    <a:lnR>
                      <a:noFill/>
                    </a:lnR>
                    <a:lnT>
                      <a:noFill/>
                    </a:lnT>
                    <a:lnB>
                      <a:noFill/>
                    </a:lnB>
                  </a:tcPr>
                </a:tc>
                <a:tc>
                  <a:txBody>
                    <a:bodyPr/>
                    <a:lstStyle/>
                    <a:p>
                      <a:pPr algn="ctr" rtl="0" fontAlgn="b"/>
                      <a:r>
                        <a:rPr lang="en-US" sz="1800" b="0" i="0" u="none" strike="noStrike">
                          <a:solidFill>
                            <a:srgbClr val="000000"/>
                          </a:solidFill>
                          <a:effectLst/>
                          <a:latin typeface="Calibri" panose="020F0502020204030204" pitchFamily="34" charset="0"/>
                        </a:rPr>
                        <a:t>512</a:t>
                      </a:r>
                    </a:p>
                  </a:txBody>
                  <a:tcPr marL="9525" marR="9525" marT="9525" marB="0" anchor="b">
                    <a:lnL>
                      <a:noFill/>
                    </a:lnL>
                    <a:lnR>
                      <a:noFill/>
                    </a:lnR>
                    <a:lnT>
                      <a:noFill/>
                    </a:lnT>
                    <a:lnB>
                      <a:noFill/>
                    </a:lnB>
                  </a:tcPr>
                </a:tc>
                <a:tc>
                  <a:txBody>
                    <a:bodyPr/>
                    <a:lstStyle/>
                    <a:p>
                      <a:pPr algn="ctr" rtl="0" fontAlgn="b"/>
                      <a:r>
                        <a:rPr lang="en-US" sz="1800" b="0" i="0" u="none" strike="noStrike">
                          <a:solidFill>
                            <a:srgbClr val="000000"/>
                          </a:solidFill>
                          <a:effectLst/>
                          <a:latin typeface="Calibri" panose="020F0502020204030204" pitchFamily="34" charset="0"/>
                        </a:rPr>
                        <a:t>-20</a:t>
                      </a:r>
                    </a:p>
                  </a:txBody>
                  <a:tcPr marL="9525" marR="9525" marT="9525" marB="0" anchor="b">
                    <a:lnL>
                      <a:noFill/>
                    </a:lnL>
                    <a:lnR>
                      <a:noFill/>
                    </a:lnR>
                    <a:lnT>
                      <a:noFill/>
                    </a:lnT>
                    <a:lnB>
                      <a:noFill/>
                    </a:lnB>
                  </a:tcPr>
                </a:tc>
                <a:tc>
                  <a:txBody>
                    <a:bodyPr/>
                    <a:lstStyle/>
                    <a:p>
                      <a:pPr algn="ctr" rtl="0" fontAlgn="b"/>
                      <a:r>
                        <a:rPr lang="en-US" sz="1800" b="0" i="0" u="none" strike="noStrike">
                          <a:solidFill>
                            <a:srgbClr val="000000"/>
                          </a:solidFill>
                          <a:effectLst/>
                          <a:latin typeface="Calibri" panose="020F0502020204030204" pitchFamily="34" charset="0"/>
                        </a:rPr>
                        <a:t>-</a:t>
                      </a:r>
                    </a:p>
                  </a:txBody>
                  <a:tcPr marL="9525" marR="9525" marT="9525" marB="0" anchor="b">
                    <a:lnL>
                      <a:noFill/>
                    </a:lnL>
                    <a:lnR>
                      <a:noFill/>
                    </a:lnR>
                    <a:lnT>
                      <a:noFill/>
                    </a:lnT>
                    <a:lnB>
                      <a:noFill/>
                    </a:lnB>
                  </a:tcPr>
                </a:tc>
                <a:tc>
                  <a:txBody>
                    <a:bodyPr/>
                    <a:lstStyle/>
                    <a:p>
                      <a:pPr algn="ctr" rtl="0" fontAlgn="b"/>
                      <a:r>
                        <a:rPr lang="en-US" sz="1800" b="0" i="0" u="none" strike="noStrike">
                          <a:solidFill>
                            <a:srgbClr val="000000"/>
                          </a:solidFill>
                          <a:effectLst/>
                          <a:latin typeface="Calibri" panose="020F0502020204030204" pitchFamily="34" charset="0"/>
                        </a:rPr>
                        <a:t>9</a:t>
                      </a:r>
                    </a:p>
                  </a:txBody>
                  <a:tcPr marL="9525" marR="9525" marT="9525" marB="0" anchor="b">
                    <a:lnL>
                      <a:noFill/>
                    </a:lnL>
                    <a:lnR>
                      <a:noFill/>
                    </a:lnR>
                    <a:lnT>
                      <a:noFill/>
                    </a:lnT>
                    <a:lnB>
                      <a:noFill/>
                    </a:lnB>
                  </a:tcPr>
                </a:tc>
                <a:extLst>
                  <a:ext uri="{0D108BD9-81ED-4DB2-BD59-A6C34878D82A}">
                    <a16:rowId xmlns:a16="http://schemas.microsoft.com/office/drawing/2014/main" val="10009"/>
                  </a:ext>
                </a:extLst>
              </a:tr>
              <a:tr h="280164">
                <a:tc>
                  <a:txBody>
                    <a:bodyPr/>
                    <a:lstStyle/>
                    <a:p>
                      <a:pPr algn="ctr" rtl="0" fontAlgn="b"/>
                      <a:r>
                        <a:rPr lang="en-US" sz="1800" b="0" i="0" u="none" strike="noStrike">
                          <a:solidFill>
                            <a:srgbClr val="000000"/>
                          </a:solidFill>
                          <a:effectLst/>
                          <a:latin typeface="Calibri" panose="020F0502020204030204" pitchFamily="34" charset="0"/>
                        </a:rPr>
                        <a:t>1</a:t>
                      </a:r>
                    </a:p>
                  </a:txBody>
                  <a:tcPr marL="9525" marR="9525" marT="9525" marB="0" anchor="b">
                    <a:lnL>
                      <a:noFill/>
                    </a:lnL>
                    <a:lnR>
                      <a:noFill/>
                    </a:lnR>
                    <a:lnT>
                      <a:noFill/>
                    </a:lnT>
                    <a:lnB>
                      <a:noFill/>
                    </a:lnB>
                  </a:tcPr>
                </a:tc>
                <a:tc>
                  <a:txBody>
                    <a:bodyPr/>
                    <a:lstStyle/>
                    <a:p>
                      <a:pPr algn="ctr" rtl="0" fontAlgn="b"/>
                      <a:r>
                        <a:rPr lang="en-US" sz="1800" b="0" i="0" u="none" strike="noStrike">
                          <a:solidFill>
                            <a:srgbClr val="000000"/>
                          </a:solidFill>
                          <a:effectLst/>
                          <a:latin typeface="Calibri" panose="020F0502020204030204" pitchFamily="34" charset="0"/>
                        </a:rPr>
                        <a:t>530</a:t>
                      </a:r>
                    </a:p>
                  </a:txBody>
                  <a:tcPr marL="9525" marR="9525" marT="9525" marB="0" anchor="b">
                    <a:lnL>
                      <a:noFill/>
                    </a:lnL>
                    <a:lnR>
                      <a:noFill/>
                    </a:lnR>
                    <a:lnT>
                      <a:noFill/>
                    </a:lnT>
                    <a:lnB>
                      <a:noFill/>
                    </a:lnB>
                  </a:tcPr>
                </a:tc>
                <a:tc>
                  <a:txBody>
                    <a:bodyPr/>
                    <a:lstStyle/>
                    <a:p>
                      <a:pPr algn="ctr" rtl="0" fontAlgn="b"/>
                      <a:r>
                        <a:rPr lang="en-US" sz="1800" b="0" i="0" u="none" strike="noStrike">
                          <a:solidFill>
                            <a:srgbClr val="000000"/>
                          </a:solidFill>
                          <a:effectLst/>
                          <a:latin typeface="Calibri" panose="020F0502020204030204" pitchFamily="34" charset="0"/>
                        </a:rPr>
                        <a:t>567</a:t>
                      </a:r>
                    </a:p>
                  </a:txBody>
                  <a:tcPr marL="9525" marR="9525" marT="9525" marB="0" anchor="b">
                    <a:lnL>
                      <a:noFill/>
                    </a:lnL>
                    <a:lnR>
                      <a:noFill/>
                    </a:lnR>
                    <a:lnT>
                      <a:noFill/>
                    </a:lnT>
                    <a:lnB>
                      <a:noFill/>
                    </a:lnB>
                  </a:tcPr>
                </a:tc>
                <a:tc>
                  <a:txBody>
                    <a:bodyPr/>
                    <a:lstStyle/>
                    <a:p>
                      <a:pPr algn="ctr" rtl="0" fontAlgn="b"/>
                      <a:r>
                        <a:rPr lang="en-US" sz="1800" b="0" i="0" u="none" strike="noStrike">
                          <a:solidFill>
                            <a:srgbClr val="000000"/>
                          </a:solidFill>
                          <a:effectLst/>
                          <a:latin typeface="Calibri" panose="020F0502020204030204" pitchFamily="34" charset="0"/>
                        </a:rPr>
                        <a:t>-37</a:t>
                      </a:r>
                    </a:p>
                  </a:txBody>
                  <a:tcPr marL="9525" marR="9525" marT="9525" marB="0" anchor="b">
                    <a:lnL>
                      <a:noFill/>
                    </a:lnL>
                    <a:lnR>
                      <a:noFill/>
                    </a:lnR>
                    <a:lnT>
                      <a:noFill/>
                    </a:lnT>
                    <a:lnB>
                      <a:noFill/>
                    </a:lnB>
                  </a:tcPr>
                </a:tc>
                <a:tc>
                  <a:txBody>
                    <a:bodyPr/>
                    <a:lstStyle/>
                    <a:p>
                      <a:pPr algn="ctr" rtl="0" fontAlgn="b"/>
                      <a:r>
                        <a:rPr lang="en-US" sz="1800" b="0" i="0" u="none" strike="noStrike">
                          <a:solidFill>
                            <a:srgbClr val="000000"/>
                          </a:solidFill>
                          <a:effectLst/>
                          <a:latin typeface="Calibri" panose="020F0502020204030204" pitchFamily="34" charset="0"/>
                        </a:rPr>
                        <a:t>-</a:t>
                      </a:r>
                    </a:p>
                  </a:txBody>
                  <a:tcPr marL="9525" marR="9525" marT="9525" marB="0" anchor="b">
                    <a:lnL>
                      <a:noFill/>
                    </a:lnL>
                    <a:lnR>
                      <a:noFill/>
                    </a:lnR>
                    <a:lnT>
                      <a:noFill/>
                    </a:lnT>
                    <a:lnB>
                      <a:noFill/>
                    </a:lnB>
                  </a:tcPr>
                </a:tc>
                <a:tc>
                  <a:txBody>
                    <a:bodyPr/>
                    <a:lstStyle/>
                    <a:p>
                      <a:pPr algn="ctr" rtl="0" fontAlgn="b"/>
                      <a:r>
                        <a:rPr lang="en-US" sz="1800" b="0" i="0" u="none" strike="noStrike" dirty="0">
                          <a:solidFill>
                            <a:srgbClr val="000000"/>
                          </a:solidFill>
                          <a:effectLst/>
                          <a:latin typeface="Calibri" panose="020F0502020204030204" pitchFamily="34" charset="0"/>
                        </a:rPr>
                        <a:t>10</a:t>
                      </a:r>
                    </a:p>
                  </a:txBody>
                  <a:tcPr marL="9525" marR="9525" marT="9525" marB="0" anchor="b">
                    <a:lnL>
                      <a:noFill/>
                    </a:lnL>
                    <a:lnR>
                      <a:noFill/>
                    </a:lnR>
                    <a:lnT>
                      <a:noFill/>
                    </a:lnT>
                    <a:lnB>
                      <a:noFill/>
                    </a:lnB>
                  </a:tcPr>
                </a:tc>
                <a:extLst>
                  <a:ext uri="{0D108BD9-81ED-4DB2-BD59-A6C34878D82A}">
                    <a16:rowId xmlns:a16="http://schemas.microsoft.com/office/drawing/2014/main" val="10010"/>
                  </a:ext>
                </a:extLst>
              </a:tr>
            </a:tbl>
          </a:graphicData>
        </a:graphic>
      </p:graphicFrame>
      <p:pic>
        <p:nvPicPr>
          <p:cNvPr id="15" name="Picture 2">
            <a:extLst>
              <a:ext uri="{FF2B5EF4-FFF2-40B4-BE49-F238E27FC236}">
                <a16:creationId xmlns:a16="http://schemas.microsoft.com/office/drawing/2014/main" id="{82111F69-B24E-2149-AB72-EA92DA5F36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75410" y="1405889"/>
            <a:ext cx="7869555" cy="5829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C6782C3-1153-5C48-874A-40543148D66C}"/>
                  </a:ext>
                </a:extLst>
              </p:cNvPr>
              <p:cNvSpPr txBox="1"/>
              <p:nvPr/>
            </p:nvSpPr>
            <p:spPr>
              <a:xfrm>
                <a:off x="7391400" y="2254837"/>
                <a:ext cx="3386880" cy="76899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charset="0"/>
                        </a:rPr>
                        <m:t>𝑧</m:t>
                      </m:r>
                      <m:r>
                        <a:rPr lang="en-US" sz="2400" b="0" i="1" smtClean="0">
                          <a:latin typeface="Cambria Math" charset="0"/>
                        </a:rPr>
                        <m:t>= </m:t>
                      </m:r>
                      <m:f>
                        <m:fPr>
                          <m:ctrlPr>
                            <a:rPr lang="en-US" sz="2400" i="1" smtClean="0">
                              <a:latin typeface="Cambria Math" panose="02040503050406030204" pitchFamily="18" charset="0"/>
                            </a:rPr>
                          </m:ctrlPr>
                        </m:fPr>
                        <m:num>
                          <m:r>
                            <a:rPr lang="en-US" sz="2400" b="0" i="1" smtClean="0">
                              <a:latin typeface="Cambria Math" charset="0"/>
                            </a:rPr>
                            <m:t>𝑆</m:t>
                          </m:r>
                          <m:r>
                            <a:rPr lang="en-US" sz="2400" b="0" i="1" smtClean="0">
                              <a:latin typeface="Cambria Math" charset="0"/>
                            </a:rPr>
                            <m:t> −</m:t>
                          </m:r>
                          <m:r>
                            <a:rPr lang="en-US" sz="2400" b="0" i="1" smtClean="0">
                              <a:latin typeface="Cambria Math" charset="0"/>
                            </a:rPr>
                            <m:t>𝑀𝑒𝑎𝑛</m:t>
                          </m:r>
                          <m:r>
                            <a:rPr lang="en-US" sz="2400" b="0" i="1" smtClean="0">
                              <a:latin typeface="Cambria Math" charset="0"/>
                            </a:rPr>
                            <m:t>(</m:t>
                          </m:r>
                          <m:r>
                            <a:rPr lang="en-US" sz="2400" b="0" i="1" smtClean="0">
                              <a:latin typeface="Cambria Math" charset="0"/>
                            </a:rPr>
                            <m:t>𝑆</m:t>
                          </m:r>
                          <m:r>
                            <a:rPr lang="en-US" sz="2400" b="0" i="1" smtClean="0">
                              <a:latin typeface="Cambria Math" charset="0"/>
                            </a:rPr>
                            <m:t>)</m:t>
                          </m:r>
                        </m:num>
                        <m:den>
                          <m:r>
                            <a:rPr lang="en-US" sz="2400" b="0" i="1" smtClean="0">
                              <a:latin typeface="Cambria Math" charset="0"/>
                            </a:rPr>
                            <m:t>𝑆𝐷</m:t>
                          </m:r>
                          <m:r>
                            <a:rPr lang="en-US" sz="2400" b="0" i="1" smtClean="0">
                              <a:latin typeface="Cambria Math" charset="0"/>
                            </a:rPr>
                            <m:t>(</m:t>
                          </m:r>
                          <m:r>
                            <a:rPr lang="en-US" sz="2400" b="0" i="1" smtClean="0">
                              <a:latin typeface="Cambria Math" charset="0"/>
                            </a:rPr>
                            <m:t>𝑆</m:t>
                          </m:r>
                          <m:r>
                            <a:rPr lang="en-US" sz="2400" b="0" i="1" smtClean="0">
                              <a:latin typeface="Cambria Math" charset="0"/>
                            </a:rPr>
                            <m:t>)</m:t>
                          </m:r>
                        </m:den>
                      </m:f>
                    </m:oMath>
                  </m:oMathPara>
                </a14:m>
                <a:endParaRPr lang="en-US" sz="2400" dirty="0"/>
              </a:p>
            </p:txBody>
          </p:sp>
        </mc:Choice>
        <mc:Fallback xmlns="">
          <p:sp>
            <p:nvSpPr>
              <p:cNvPr id="16" name="TextBox 15">
                <a:extLst>
                  <a:ext uri="{FF2B5EF4-FFF2-40B4-BE49-F238E27FC236}">
                    <a16:creationId xmlns:a16="http://schemas.microsoft.com/office/drawing/2014/main" id="{CC6782C3-1153-5C48-874A-40543148D66C}"/>
                  </a:ext>
                </a:extLst>
              </p:cNvPr>
              <p:cNvSpPr txBox="1">
                <a:spLocks noRot="1" noChangeAspect="1" noMove="1" noResize="1" noEditPoints="1" noAdjustHandles="1" noChangeArrowheads="1" noChangeShapeType="1" noTextEdit="1"/>
              </p:cNvSpPr>
              <p:nvPr/>
            </p:nvSpPr>
            <p:spPr>
              <a:xfrm>
                <a:off x="7391400" y="2254837"/>
                <a:ext cx="3386880" cy="768993"/>
              </a:xfrm>
              <a:prstGeom prst="rect">
                <a:avLst/>
              </a:prstGeom>
              <a:blipFill>
                <a:blip r:embed="rId3"/>
                <a:stretch>
                  <a:fillRect t="-6452" b="-161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CE6992A7-41FD-1644-AEA0-67147F20C6F4}"/>
                  </a:ext>
                </a:extLst>
              </p:cNvPr>
              <p:cNvSpPr txBox="1"/>
              <p:nvPr/>
            </p:nvSpPr>
            <p:spPr>
              <a:xfrm>
                <a:off x="7207237" y="3290086"/>
                <a:ext cx="4172583" cy="122783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charset="0"/>
                        </a:rPr>
                        <m:t>= </m:t>
                      </m:r>
                      <m:f>
                        <m:fPr>
                          <m:ctrlPr>
                            <a:rPr lang="en-US" sz="2400" i="1" smtClean="0">
                              <a:latin typeface="Cambria Math" panose="02040503050406030204" pitchFamily="18" charset="0"/>
                            </a:rPr>
                          </m:ctrlPr>
                        </m:fPr>
                        <m:num>
                          <m:r>
                            <a:rPr lang="en-US" sz="2400" b="0" i="1" smtClean="0">
                              <a:latin typeface="Cambria Math" panose="02040503050406030204" pitchFamily="18" charset="0"/>
                            </a:rPr>
                            <m:t>47 − .5</m:t>
                          </m:r>
                          <m:r>
                            <a:rPr lang="en-US" sz="2400" b="0" i="1" smtClean="0">
                              <a:latin typeface="Cambria Math" charset="0"/>
                            </a:rPr>
                            <m:t> −</m:t>
                          </m:r>
                          <m:r>
                            <a:rPr lang="en-US" sz="2400" i="1">
                              <a:latin typeface="Cambria Math" charset="0"/>
                            </a:rPr>
                            <m:t>(</m:t>
                          </m:r>
                          <m:r>
                            <a:rPr lang="en-US" sz="2400" b="0" i="1" smtClean="0">
                              <a:latin typeface="Cambria Math" panose="02040503050406030204" pitchFamily="18" charset="0"/>
                            </a:rPr>
                            <m:t>10</m:t>
                          </m:r>
                          <m:r>
                            <a:rPr lang="en-US" sz="2400" i="1">
                              <a:latin typeface="Cambria Math" charset="0"/>
                            </a:rPr>
                            <m:t>∗1</m:t>
                          </m:r>
                          <m:r>
                            <a:rPr lang="en-US" sz="2400" b="0" i="1" smtClean="0">
                              <a:latin typeface="Cambria Math" panose="02040503050406030204" pitchFamily="18" charset="0"/>
                            </a:rPr>
                            <m:t>1</m:t>
                          </m:r>
                          <m:r>
                            <a:rPr lang="en-US" sz="2400" i="1">
                              <a:latin typeface="Cambria Math" charset="0"/>
                            </a:rPr>
                            <m:t>)</m:t>
                          </m:r>
                          <m:r>
                            <a:rPr lang="en-US" sz="2400" b="0" i="1" smtClean="0">
                              <a:latin typeface="Cambria Math" charset="0"/>
                            </a:rPr>
                            <m:t>/4</m:t>
                          </m:r>
                        </m:num>
                        <m:den>
                          <m:rad>
                            <m:radPr>
                              <m:degHide m:val="on"/>
                              <m:ctrlPr>
                                <a:rPr lang="en-US" sz="2400" i="1" smtClean="0">
                                  <a:latin typeface="Cambria Math" panose="02040503050406030204" pitchFamily="18" charset="0"/>
                                </a:rPr>
                              </m:ctrlPr>
                            </m:radPr>
                            <m:deg/>
                            <m:e>
                              <m:r>
                                <a:rPr lang="en-US" sz="2400" b="0" i="1" smtClean="0">
                                  <a:latin typeface="Cambria Math" panose="02040503050406030204" pitchFamily="18" charset="0"/>
                                </a:rPr>
                                <m:t>10</m:t>
                              </m:r>
                              <m:r>
                                <a:rPr lang="en-US" sz="2400" b="0" i="1" smtClean="0">
                                  <a:latin typeface="Cambria Math" charset="0"/>
                                </a:rPr>
                                <m:t>∗1</m:t>
                              </m:r>
                              <m:r>
                                <a:rPr lang="en-US" sz="2400" b="0" i="1" smtClean="0">
                                  <a:latin typeface="Cambria Math" panose="02040503050406030204" pitchFamily="18" charset="0"/>
                                </a:rPr>
                                <m:t>1</m:t>
                              </m:r>
                              <m:r>
                                <a:rPr lang="en-US" sz="2400" b="0" i="1" smtClean="0">
                                  <a:latin typeface="Cambria Math" charset="0"/>
                                </a:rPr>
                                <m:t>∗</m:t>
                              </m:r>
                              <m:r>
                                <a:rPr lang="en-US" sz="2400" b="0" i="1" smtClean="0">
                                  <a:latin typeface="Cambria Math" panose="02040503050406030204" pitchFamily="18" charset="0"/>
                                </a:rPr>
                                <m:t>21</m:t>
                              </m:r>
                              <m:r>
                                <a:rPr lang="en-US" sz="2400" b="0" i="1" smtClean="0">
                                  <a:latin typeface="Cambria Math" charset="0"/>
                                </a:rPr>
                                <m:t>/24</m:t>
                              </m:r>
                            </m:e>
                          </m:rad>
                        </m:den>
                      </m:f>
                      <m:r>
                        <a:rPr lang="en-US" sz="2400" b="0" i="1" smtClean="0">
                          <a:latin typeface="Cambria Math" charset="0"/>
                        </a:rPr>
                        <m:t>=</m:t>
                      </m:r>
                      <m:r>
                        <m:rPr>
                          <m:nor/>
                        </m:rPr>
                        <a:rPr lang="en-US" sz="2400"/>
                        <m:t>1.</m:t>
                      </m:r>
                      <m:r>
                        <m:rPr>
                          <m:nor/>
                        </m:rPr>
                        <a:rPr lang="en-US" sz="2400" b="0" i="0" smtClean="0"/>
                        <m:t>93</m:t>
                      </m:r>
                    </m:oMath>
                  </m:oMathPara>
                </a14:m>
                <a:endParaRPr lang="en-US" sz="2400" dirty="0"/>
              </a:p>
            </p:txBody>
          </p:sp>
        </mc:Choice>
        <mc:Fallback xmlns="">
          <p:sp>
            <p:nvSpPr>
              <p:cNvPr id="17" name="TextBox 16">
                <a:extLst>
                  <a:ext uri="{FF2B5EF4-FFF2-40B4-BE49-F238E27FC236}">
                    <a16:creationId xmlns:a16="http://schemas.microsoft.com/office/drawing/2014/main" id="{CE6992A7-41FD-1644-AEA0-67147F20C6F4}"/>
                  </a:ext>
                </a:extLst>
              </p:cNvPr>
              <p:cNvSpPr txBox="1">
                <a:spLocks noRot="1" noChangeAspect="1" noMove="1" noResize="1" noEditPoints="1" noAdjustHandles="1" noChangeArrowheads="1" noChangeShapeType="1" noTextEdit="1"/>
              </p:cNvSpPr>
              <p:nvPr/>
            </p:nvSpPr>
            <p:spPr>
              <a:xfrm>
                <a:off x="7207237" y="3290086"/>
                <a:ext cx="4172583" cy="1227837"/>
              </a:xfrm>
              <a:prstGeom prst="rect">
                <a:avLst/>
              </a:prstGeom>
              <a:blipFill>
                <a:blip r:embed="rId4"/>
                <a:stretch>
                  <a:fillRect t="-5155" b="-20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0F9252C8-0A84-EF4C-B0A9-40F41739B307}"/>
                  </a:ext>
                </a:extLst>
              </p:cNvPr>
              <p:cNvSpPr txBox="1"/>
              <p:nvPr/>
            </p:nvSpPr>
            <p:spPr>
              <a:xfrm>
                <a:off x="7924727" y="4602936"/>
                <a:ext cx="3340778"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charset="0"/>
                        </a:rPr>
                        <m:t>𝑃</m:t>
                      </m:r>
                      <m:d>
                        <m:dPr>
                          <m:ctrlPr>
                            <a:rPr lang="en-US" sz="2400" b="0" i="1" smtClean="0">
                              <a:latin typeface="Cambria Math" panose="02040503050406030204" pitchFamily="18" charset="0"/>
                            </a:rPr>
                          </m:ctrlPr>
                        </m:dPr>
                        <m:e>
                          <m:r>
                            <a:rPr lang="en-US" sz="2400" b="0" i="1" smtClean="0">
                              <a:latin typeface="Cambria Math" charset="0"/>
                            </a:rPr>
                            <m:t>𝑍</m:t>
                          </m:r>
                          <m:r>
                            <a:rPr lang="en-US" sz="2400" b="0" i="1" smtClean="0">
                              <a:latin typeface="Cambria Math" charset="0"/>
                            </a:rPr>
                            <m:t>&gt;1.937</m:t>
                          </m:r>
                        </m:e>
                      </m:d>
                      <m:r>
                        <a:rPr lang="en-US" sz="2400" b="0" i="1" smtClean="0">
                          <a:latin typeface="Cambria Math" charset="0"/>
                        </a:rPr>
                        <m:t>=</m:t>
                      </m:r>
                      <m:r>
                        <a:rPr lang="en-US" sz="2400" b="0" i="1" smtClean="0">
                          <a:latin typeface="Cambria Math" panose="02040503050406030204" pitchFamily="18" charset="0"/>
                        </a:rPr>
                        <m:t> .0264</m:t>
                      </m:r>
                    </m:oMath>
                  </m:oMathPara>
                </a14:m>
                <a:endParaRPr lang="en-US" sz="2400" dirty="0"/>
              </a:p>
            </p:txBody>
          </p:sp>
        </mc:Choice>
        <mc:Fallback xmlns="">
          <p:sp>
            <p:nvSpPr>
              <p:cNvPr id="18" name="TextBox 17">
                <a:extLst>
                  <a:ext uri="{FF2B5EF4-FFF2-40B4-BE49-F238E27FC236}">
                    <a16:creationId xmlns:a16="http://schemas.microsoft.com/office/drawing/2014/main" id="{0F9252C8-0A84-EF4C-B0A9-40F41739B307}"/>
                  </a:ext>
                </a:extLst>
              </p:cNvPr>
              <p:cNvSpPr txBox="1">
                <a:spLocks noRot="1" noChangeAspect="1" noMove="1" noResize="1" noEditPoints="1" noAdjustHandles="1" noChangeArrowheads="1" noChangeShapeType="1" noTextEdit="1"/>
              </p:cNvSpPr>
              <p:nvPr/>
            </p:nvSpPr>
            <p:spPr>
              <a:xfrm>
                <a:off x="7924727" y="4602936"/>
                <a:ext cx="3340778" cy="369332"/>
              </a:xfrm>
              <a:prstGeom prst="rect">
                <a:avLst/>
              </a:prstGeom>
              <a:blipFill>
                <a:blip r:embed="rId5"/>
                <a:stretch>
                  <a:fillRect t="-6667" b="-40000"/>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56E7F035-59A4-9F4B-BFA3-EF37B9910EC5}"/>
              </a:ext>
            </a:extLst>
          </p:cNvPr>
          <p:cNvSpPr txBox="1"/>
          <p:nvPr/>
        </p:nvSpPr>
        <p:spPr>
          <a:xfrm>
            <a:off x="8328359" y="5123776"/>
            <a:ext cx="2533514" cy="400110"/>
          </a:xfrm>
          <a:prstGeom prst="rect">
            <a:avLst/>
          </a:prstGeom>
          <a:noFill/>
        </p:spPr>
        <p:txBody>
          <a:bodyPr wrap="none" rtlCol="0">
            <a:spAutoFit/>
          </a:bodyPr>
          <a:lstStyle/>
          <a:p>
            <a:r>
              <a:rPr lang="en-US" sz="2000" b="1" u="sng" cap="small" dirty="0">
                <a:solidFill>
                  <a:srgbClr val="FF0000"/>
                </a:solidFill>
              </a:rPr>
              <a:t>(one sided, CC p-value)</a:t>
            </a:r>
            <a:endParaRPr lang="en-US" sz="2000" dirty="0"/>
          </a:p>
        </p:txBody>
      </p:sp>
    </p:spTree>
    <p:extLst>
      <p:ext uri="{BB962C8B-B14F-4D97-AF65-F5344CB8AC3E}">
        <p14:creationId xmlns:p14="http://schemas.microsoft.com/office/powerpoint/2010/main" val="5871427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CAB4E-6117-6778-C796-246876746F62}"/>
              </a:ext>
            </a:extLst>
          </p:cNvPr>
          <p:cNvSpPr>
            <a:spLocks noGrp="1"/>
          </p:cNvSpPr>
          <p:nvPr>
            <p:ph type="title"/>
          </p:nvPr>
        </p:nvSpPr>
        <p:spPr/>
        <p:txBody>
          <a:bodyPr/>
          <a:lstStyle/>
          <a:p>
            <a:r>
              <a:rPr lang="en-US" dirty="0"/>
              <a:t>Example of Signed Rank Test in Practice</a:t>
            </a:r>
          </a:p>
        </p:txBody>
      </p:sp>
      <p:pic>
        <p:nvPicPr>
          <p:cNvPr id="4" name="Picture 3">
            <a:extLst>
              <a:ext uri="{FF2B5EF4-FFF2-40B4-BE49-F238E27FC236}">
                <a16:creationId xmlns:a16="http://schemas.microsoft.com/office/drawing/2014/main" id="{1C2C291D-1963-4F62-8640-8BCA77EE113C}"/>
              </a:ext>
            </a:extLst>
          </p:cNvPr>
          <p:cNvPicPr>
            <a:picLocks noChangeAspect="1"/>
          </p:cNvPicPr>
          <p:nvPr/>
        </p:nvPicPr>
        <p:blipFill>
          <a:blip r:embed="rId2"/>
          <a:stretch>
            <a:fillRect/>
          </a:stretch>
        </p:blipFill>
        <p:spPr>
          <a:xfrm>
            <a:off x="2990073" y="2209800"/>
            <a:ext cx="6211854" cy="4337969"/>
          </a:xfrm>
          <a:prstGeom prst="rect">
            <a:avLst/>
          </a:prstGeom>
        </p:spPr>
      </p:pic>
      <p:pic>
        <p:nvPicPr>
          <p:cNvPr id="5" name="Picture 4" descr="A close up of a text&#10;&#10;Description automatically generated">
            <a:extLst>
              <a:ext uri="{FF2B5EF4-FFF2-40B4-BE49-F238E27FC236}">
                <a16:creationId xmlns:a16="http://schemas.microsoft.com/office/drawing/2014/main" id="{9963C0C1-7030-3911-EF82-0561D1F6C070}"/>
              </a:ext>
            </a:extLst>
          </p:cNvPr>
          <p:cNvPicPr>
            <a:picLocks noChangeAspect="1"/>
          </p:cNvPicPr>
          <p:nvPr/>
        </p:nvPicPr>
        <p:blipFill>
          <a:blip r:embed="rId3"/>
          <a:stretch>
            <a:fillRect/>
          </a:stretch>
        </p:blipFill>
        <p:spPr>
          <a:xfrm>
            <a:off x="2990073" y="1422082"/>
            <a:ext cx="5943600" cy="737235"/>
          </a:xfrm>
          <a:prstGeom prst="rect">
            <a:avLst/>
          </a:prstGeom>
        </p:spPr>
      </p:pic>
      <p:sp>
        <p:nvSpPr>
          <p:cNvPr id="7" name="TextBox 6">
            <a:extLst>
              <a:ext uri="{FF2B5EF4-FFF2-40B4-BE49-F238E27FC236}">
                <a16:creationId xmlns:a16="http://schemas.microsoft.com/office/drawing/2014/main" id="{1E17C006-9111-4D6C-7BB0-39BC0A8ED30E}"/>
              </a:ext>
            </a:extLst>
          </p:cNvPr>
          <p:cNvSpPr txBox="1"/>
          <p:nvPr/>
        </p:nvSpPr>
        <p:spPr>
          <a:xfrm>
            <a:off x="8458201" y="6316936"/>
            <a:ext cx="3733799" cy="461665"/>
          </a:xfrm>
          <a:prstGeom prst="rect">
            <a:avLst/>
          </a:prstGeom>
          <a:noFill/>
        </p:spPr>
        <p:txBody>
          <a:bodyPr wrap="square">
            <a:spAutoFit/>
          </a:bodyPr>
          <a:lstStyle/>
          <a:p>
            <a:r>
              <a:rPr lang="en-US" sz="1200" dirty="0"/>
              <a:t>https://</a:t>
            </a:r>
            <a:r>
              <a:rPr lang="en-US" sz="1200" dirty="0" err="1"/>
              <a:t>online.ucpress.edu</a:t>
            </a:r>
            <a:r>
              <a:rPr lang="en-US" sz="1200" dirty="0"/>
              <a:t>/</a:t>
            </a:r>
            <a:r>
              <a:rPr lang="en-US" sz="1200" dirty="0" err="1"/>
              <a:t>cse</a:t>
            </a:r>
            <a:r>
              <a:rPr lang="en-US" sz="1200" dirty="0"/>
              <a:t>/article/5/1/1536396/118929/Using-Case-Studies-to-Improve-the-Critical</a:t>
            </a:r>
          </a:p>
        </p:txBody>
      </p:sp>
    </p:spTree>
    <p:extLst>
      <p:ext uri="{BB962C8B-B14F-4D97-AF65-F5344CB8AC3E}">
        <p14:creationId xmlns:p14="http://schemas.microsoft.com/office/powerpoint/2010/main" val="14401911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7F457-8C1A-B647-96D7-10F8D00098E6}"/>
              </a:ext>
            </a:extLst>
          </p:cNvPr>
          <p:cNvSpPr>
            <a:spLocks noGrp="1"/>
          </p:cNvSpPr>
          <p:nvPr>
            <p:ph type="title"/>
          </p:nvPr>
        </p:nvSpPr>
        <p:spPr/>
        <p:txBody>
          <a:bodyPr/>
          <a:lstStyle/>
          <a:p>
            <a:r>
              <a:rPr lang="en-US" dirty="0"/>
              <a:t>Break Out!</a:t>
            </a:r>
          </a:p>
        </p:txBody>
      </p:sp>
      <p:pic>
        <p:nvPicPr>
          <p:cNvPr id="4" name="Picture 3">
            <a:extLst>
              <a:ext uri="{FF2B5EF4-FFF2-40B4-BE49-F238E27FC236}">
                <a16:creationId xmlns:a16="http://schemas.microsoft.com/office/drawing/2014/main" id="{CDE8EFB8-95BC-7D48-8422-FEDDFC27A104}"/>
              </a:ext>
            </a:extLst>
          </p:cNvPr>
          <p:cNvPicPr>
            <a:picLocks noChangeAspect="1"/>
          </p:cNvPicPr>
          <p:nvPr/>
        </p:nvPicPr>
        <p:blipFill>
          <a:blip r:embed="rId2"/>
          <a:stretch>
            <a:fillRect/>
          </a:stretch>
        </p:blipFill>
        <p:spPr>
          <a:xfrm>
            <a:off x="902002" y="1474635"/>
            <a:ext cx="10702700" cy="4365702"/>
          </a:xfrm>
          <a:prstGeom prst="rect">
            <a:avLst/>
          </a:prstGeom>
        </p:spPr>
      </p:pic>
      <p:pic>
        <p:nvPicPr>
          <p:cNvPr id="5" name="Picture 4">
            <a:extLst>
              <a:ext uri="{FF2B5EF4-FFF2-40B4-BE49-F238E27FC236}">
                <a16:creationId xmlns:a16="http://schemas.microsoft.com/office/drawing/2014/main" id="{BF362FB9-F1FC-8A4B-B7CE-76E7A0687675}"/>
              </a:ext>
            </a:extLst>
          </p:cNvPr>
          <p:cNvPicPr>
            <a:picLocks noChangeAspect="1"/>
          </p:cNvPicPr>
          <p:nvPr/>
        </p:nvPicPr>
        <p:blipFill>
          <a:blip r:embed="rId3"/>
          <a:stretch>
            <a:fillRect/>
          </a:stretch>
        </p:blipFill>
        <p:spPr>
          <a:xfrm>
            <a:off x="6934200" y="3657600"/>
            <a:ext cx="2870353" cy="1407036"/>
          </a:xfrm>
          <a:prstGeom prst="rect">
            <a:avLst/>
          </a:prstGeom>
        </p:spPr>
      </p:pic>
      <p:sp>
        <p:nvSpPr>
          <p:cNvPr id="6" name="Rectangle 5">
            <a:extLst>
              <a:ext uri="{FF2B5EF4-FFF2-40B4-BE49-F238E27FC236}">
                <a16:creationId xmlns:a16="http://schemas.microsoft.com/office/drawing/2014/main" id="{1A4D39F1-1FF9-4545-B579-90634013DD4B}"/>
              </a:ext>
            </a:extLst>
          </p:cNvPr>
          <p:cNvSpPr/>
          <p:nvPr/>
        </p:nvSpPr>
        <p:spPr>
          <a:xfrm>
            <a:off x="602166" y="6320806"/>
            <a:ext cx="10972800" cy="276999"/>
          </a:xfrm>
          <a:prstGeom prst="rect">
            <a:avLst/>
          </a:prstGeom>
        </p:spPr>
        <p:txBody>
          <a:bodyPr wrap="square">
            <a:spAutoFit/>
          </a:bodyPr>
          <a:lstStyle/>
          <a:p>
            <a:r>
              <a:rPr lang="en-US" sz="1200" dirty="0"/>
              <a:t>https://</a:t>
            </a:r>
            <a:r>
              <a:rPr lang="en-US" sz="1200" dirty="0" err="1"/>
              <a:t>documentation.sas.com</a:t>
            </a:r>
            <a:r>
              <a:rPr lang="en-US" sz="1200" dirty="0"/>
              <a:t>/?</a:t>
            </a:r>
            <a:r>
              <a:rPr lang="en-US" sz="1200" dirty="0" err="1"/>
              <a:t>cdcId</a:t>
            </a:r>
            <a:r>
              <a:rPr lang="en-US" sz="1200" dirty="0"/>
              <a:t>=</a:t>
            </a:r>
            <a:r>
              <a:rPr lang="en-US" sz="1200" dirty="0" err="1"/>
              <a:t>pgmsascdc&amp;cdcVersion</a:t>
            </a:r>
            <a:r>
              <a:rPr lang="en-US" sz="1200" dirty="0"/>
              <a:t>=9.4_3.5&amp;docsetId=</a:t>
            </a:r>
            <a:r>
              <a:rPr lang="en-US" sz="1200" dirty="0" err="1"/>
              <a:t>procstat&amp;docsetTarget</a:t>
            </a:r>
            <a:r>
              <a:rPr lang="en-US" sz="1200" dirty="0"/>
              <a:t>=procstat_univariate_details17.htm&amp;locale=</a:t>
            </a:r>
            <a:r>
              <a:rPr lang="en-US" sz="1200" dirty="0" err="1"/>
              <a:t>en</a:t>
            </a:r>
            <a:endParaRPr lang="en-US" sz="1200" dirty="0"/>
          </a:p>
        </p:txBody>
      </p:sp>
    </p:spTree>
    <p:extLst>
      <p:ext uri="{BB962C8B-B14F-4D97-AF65-F5344CB8AC3E}">
        <p14:creationId xmlns:p14="http://schemas.microsoft.com/office/powerpoint/2010/main" val="195890451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76CAF-641E-A545-AB1E-A0BE7A1FF036}"/>
              </a:ext>
            </a:extLst>
          </p:cNvPr>
          <p:cNvSpPr>
            <a:spLocks noGrp="1"/>
          </p:cNvSpPr>
          <p:nvPr>
            <p:ph type="title"/>
          </p:nvPr>
        </p:nvSpPr>
        <p:spPr/>
        <p:txBody>
          <a:bodyPr/>
          <a:lstStyle/>
          <a:p>
            <a:pPr algn="l"/>
            <a:r>
              <a:rPr lang="en-US" dirty="0"/>
              <a:t>Question 3: Takeaways!</a:t>
            </a:r>
          </a:p>
        </p:txBody>
      </p:sp>
      <p:sp>
        <p:nvSpPr>
          <p:cNvPr id="3" name="Content Placeholder 2">
            <a:extLst>
              <a:ext uri="{FF2B5EF4-FFF2-40B4-BE49-F238E27FC236}">
                <a16:creationId xmlns:a16="http://schemas.microsoft.com/office/drawing/2014/main" id="{1E3CA146-5F00-F544-97FC-4BDA5AA35C64}"/>
              </a:ext>
            </a:extLst>
          </p:cNvPr>
          <p:cNvSpPr>
            <a:spLocks noGrp="1"/>
          </p:cNvSpPr>
          <p:nvPr>
            <p:ph idx="1"/>
          </p:nvPr>
        </p:nvSpPr>
        <p:spPr>
          <a:xfrm>
            <a:off x="533400" y="1825625"/>
            <a:ext cx="9657945" cy="4351338"/>
          </a:xfrm>
        </p:spPr>
        <p:txBody>
          <a:bodyPr>
            <a:normAutofit fontScale="92500" lnSpcReduction="10000"/>
          </a:bodyPr>
          <a:lstStyle/>
          <a:p>
            <a:pPr marL="0" indent="0">
              <a:buNone/>
            </a:pPr>
            <a:r>
              <a:rPr lang="en-US" dirty="0"/>
              <a:t>Please provide at least 4 takeaways from this section and any questions that you may have.  These questions will help design the live session for this unit.</a:t>
            </a:r>
          </a:p>
          <a:p>
            <a:pPr marL="0" indent="0">
              <a:buNone/>
            </a:pPr>
            <a:r>
              <a:rPr lang="en-US" dirty="0"/>
              <a:t> </a:t>
            </a:r>
          </a:p>
          <a:p>
            <a:pPr marL="0" indent="0">
              <a:buNone/>
            </a:pPr>
            <a:r>
              <a:rPr lang="en-US" sz="2000" i="1" dirty="0"/>
              <a:t>This question will be the last question of every For Live Session Assignment. The idea is that this deck will serve as a document that you can reference in the future to remember what was covered in this section.  For instance, this may come in handy for the Capstone and will hopefully become useful in your career.  Most immediately, it may become handy as a quick reference for your Midterm and Final!  Some students find it very useful and spend a few slides summarizing the </a:t>
            </a:r>
            <a:r>
              <a:rPr lang="en-US" sz="2000" i="1" dirty="0" err="1"/>
              <a:t>asynch</a:t>
            </a:r>
            <a:r>
              <a:rPr lang="en-US" sz="2000" i="1" dirty="0"/>
              <a:t> material while others learn different ways and only had the minimum 4 takeaways.  Either is fine and will earn you full credit for this question.  </a:t>
            </a:r>
          </a:p>
          <a:p>
            <a:pPr marL="0" indent="0">
              <a:buNone/>
            </a:pPr>
            <a:endParaRPr lang="en-US" dirty="0"/>
          </a:p>
        </p:txBody>
      </p:sp>
    </p:spTree>
    <p:extLst>
      <p:ext uri="{BB962C8B-B14F-4D97-AF65-F5344CB8AC3E}">
        <p14:creationId xmlns:p14="http://schemas.microsoft.com/office/powerpoint/2010/main" val="275141839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76CAF-641E-A545-AB1E-A0BE7A1FF036}"/>
              </a:ext>
            </a:extLst>
          </p:cNvPr>
          <p:cNvSpPr>
            <a:spLocks noGrp="1"/>
          </p:cNvSpPr>
          <p:nvPr>
            <p:ph type="title"/>
          </p:nvPr>
        </p:nvSpPr>
        <p:spPr/>
        <p:txBody>
          <a:bodyPr/>
          <a:lstStyle/>
          <a:p>
            <a:pPr algn="l"/>
            <a:r>
              <a:rPr lang="en-US" dirty="0"/>
              <a:t>Question 4: Questions!</a:t>
            </a:r>
          </a:p>
        </p:txBody>
      </p:sp>
      <p:sp>
        <p:nvSpPr>
          <p:cNvPr id="3" name="Content Placeholder 2">
            <a:extLst>
              <a:ext uri="{FF2B5EF4-FFF2-40B4-BE49-F238E27FC236}">
                <a16:creationId xmlns:a16="http://schemas.microsoft.com/office/drawing/2014/main" id="{1E3CA146-5F00-F544-97FC-4BDA5AA35C64}"/>
              </a:ext>
            </a:extLst>
          </p:cNvPr>
          <p:cNvSpPr>
            <a:spLocks noGrp="1"/>
          </p:cNvSpPr>
          <p:nvPr>
            <p:ph idx="1"/>
          </p:nvPr>
        </p:nvSpPr>
        <p:spPr>
          <a:xfrm>
            <a:off x="609600" y="1905000"/>
            <a:ext cx="10820400" cy="4351338"/>
          </a:xfrm>
        </p:spPr>
        <p:txBody>
          <a:bodyPr>
            <a:normAutofit/>
          </a:bodyPr>
          <a:lstStyle/>
          <a:p>
            <a:pPr marL="0" indent="0">
              <a:buNone/>
            </a:pPr>
            <a:r>
              <a:rPr lang="en-US" dirty="0"/>
              <a:t>Please provide any question or topics of discussion that came up in this Unit!  These will help help us optimize our live session for maximum learning and takeaways!  </a:t>
            </a:r>
          </a:p>
          <a:p>
            <a:pPr marL="0" indent="0">
              <a:buNone/>
            </a:pPr>
            <a:r>
              <a:rPr lang="en-US" dirty="0"/>
              <a:t> </a:t>
            </a:r>
          </a:p>
          <a:p>
            <a:pPr marL="0" indent="0">
              <a:buNone/>
            </a:pPr>
            <a:r>
              <a:rPr lang="en-US" sz="2000" i="1" dirty="0"/>
              <a:t>This question will be the last question of every For Live Session Assignment. The idea is that this deck will serve as a document that you can reference in the future to remember what was covered in this section.  For instance, this may come in handy for the Capstone and will hopefully become useful in your career.  Most immediately, it may become handy as a quick reference for your Midterm and Final!  Some students find it very useful and spend a few slides summarizing the </a:t>
            </a:r>
            <a:r>
              <a:rPr lang="en-US" sz="2000" i="1" dirty="0" err="1"/>
              <a:t>asynch</a:t>
            </a:r>
            <a:r>
              <a:rPr lang="en-US" sz="2000" i="1" dirty="0"/>
              <a:t> material while others learn different ways and only had the minimum 4 takeaways.  Either is fine and will earn you full credit for this question.  </a:t>
            </a:r>
          </a:p>
          <a:p>
            <a:pPr marL="0" indent="0">
              <a:buNone/>
            </a:pPr>
            <a:endParaRPr lang="en-US" dirty="0"/>
          </a:p>
        </p:txBody>
      </p:sp>
    </p:spTree>
    <p:extLst>
      <p:ext uri="{BB962C8B-B14F-4D97-AF65-F5344CB8AC3E}">
        <p14:creationId xmlns:p14="http://schemas.microsoft.com/office/powerpoint/2010/main" val="196003993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83C6C-6C5E-9949-837C-15BA99AED366}"/>
              </a:ext>
            </a:extLst>
          </p:cNvPr>
          <p:cNvSpPr>
            <a:spLocks noGrp="1"/>
          </p:cNvSpPr>
          <p:nvPr>
            <p:ph type="title"/>
          </p:nvPr>
        </p:nvSpPr>
        <p:spPr/>
        <p:txBody>
          <a:bodyPr/>
          <a:lstStyle/>
          <a:p>
            <a:r>
              <a:rPr lang="en-US" dirty="0"/>
              <a:t>Resources</a:t>
            </a:r>
          </a:p>
        </p:txBody>
      </p:sp>
      <p:sp>
        <p:nvSpPr>
          <p:cNvPr id="3" name="Content Placeholder 2">
            <a:extLst>
              <a:ext uri="{FF2B5EF4-FFF2-40B4-BE49-F238E27FC236}">
                <a16:creationId xmlns:a16="http://schemas.microsoft.com/office/drawing/2014/main" id="{6672F9D0-B13D-8347-978C-493782F79EB7}"/>
              </a:ext>
            </a:extLst>
          </p:cNvPr>
          <p:cNvSpPr>
            <a:spLocks noGrp="1"/>
          </p:cNvSpPr>
          <p:nvPr>
            <p:ph idx="1"/>
          </p:nvPr>
        </p:nvSpPr>
        <p:spPr/>
        <p:txBody>
          <a:bodyPr/>
          <a:lstStyle/>
          <a:p>
            <a:r>
              <a:rPr lang="en-US" dirty="0">
                <a:hlinkClick r:id="rId2"/>
              </a:rPr>
              <a:t>https://stat-methods.com/home/wilcoxon-signed-rank-sas/</a:t>
            </a:r>
            <a:endParaRPr lang="en-US" dirty="0"/>
          </a:p>
          <a:p>
            <a:r>
              <a:rPr lang="en-US" dirty="0">
                <a:hlinkClick r:id="rId3"/>
              </a:rPr>
              <a:t>https://documentation.sas.com/?cdcId=pgmsascdc&amp;cdcVersion=9.4_3.5&amp;docsetId=procstat&amp;docsetTarget=procstat_univariate_details17.htm&amp;locale=en</a:t>
            </a:r>
            <a:endParaRPr lang="en-US" dirty="0"/>
          </a:p>
          <a:p>
            <a:endParaRPr lang="en-US" dirty="0"/>
          </a:p>
        </p:txBody>
      </p:sp>
    </p:spTree>
    <p:extLst>
      <p:ext uri="{BB962C8B-B14F-4D97-AF65-F5344CB8AC3E}">
        <p14:creationId xmlns:p14="http://schemas.microsoft.com/office/powerpoint/2010/main" val="14643605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1C948-A4A3-5946-B047-076635D43652}"/>
              </a:ext>
            </a:extLst>
          </p:cNvPr>
          <p:cNvSpPr>
            <a:spLocks noGrp="1"/>
          </p:cNvSpPr>
          <p:nvPr>
            <p:ph type="title"/>
          </p:nvPr>
        </p:nvSpPr>
        <p:spPr>
          <a:xfrm>
            <a:off x="1695450" y="2819400"/>
            <a:ext cx="8801100" cy="1450757"/>
          </a:xfrm>
        </p:spPr>
        <p:txBody>
          <a:bodyPr/>
          <a:lstStyle/>
          <a:p>
            <a:pPr algn="ctr"/>
            <a:r>
              <a:rPr lang="en-US" dirty="0"/>
              <a:t>End For Live Session Assignment Unit 5!</a:t>
            </a:r>
          </a:p>
        </p:txBody>
      </p:sp>
      <p:sp>
        <p:nvSpPr>
          <p:cNvPr id="4" name="Slide Number Placeholder 3">
            <a:extLst>
              <a:ext uri="{FF2B5EF4-FFF2-40B4-BE49-F238E27FC236}">
                <a16:creationId xmlns:a16="http://schemas.microsoft.com/office/drawing/2014/main" id="{C89C5DF8-9726-8A40-B8E3-D578C82B8DDF}"/>
              </a:ext>
            </a:extLst>
          </p:cNvPr>
          <p:cNvSpPr>
            <a:spLocks noGrp="1"/>
          </p:cNvSpPr>
          <p:nvPr>
            <p:ph type="sldNum" sz="quarter" idx="12"/>
          </p:nvPr>
        </p:nvSpPr>
        <p:spPr>
          <a:xfrm>
            <a:off x="7425345" y="6459789"/>
            <a:ext cx="984019"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85BC5B7D-D6B0-4550-9BAF-D21F2647AC79}" type="slidenum">
              <a:rPr lang="en-US" altLang="en-US" smtClean="0"/>
              <a:pPr>
                <a:defRPr/>
              </a:pPr>
              <a:t>56</a:t>
            </a:fld>
            <a:endParaRPr lang="en-US" altLang="en-US" dirty="0"/>
          </a:p>
        </p:txBody>
      </p:sp>
    </p:spTree>
    <p:extLst>
      <p:ext uri="{BB962C8B-B14F-4D97-AF65-F5344CB8AC3E}">
        <p14:creationId xmlns:p14="http://schemas.microsoft.com/office/powerpoint/2010/main" val="293539052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34"/>
  <p:tag name="MMPROD_UIDATA" val="&lt;database version=&quot;11.0&quot;&gt;&lt;object type=&quot;1&quot; unique_id=&quot;10001&quot;&gt;&lt;object type=&quot;2&quot; unique_id=&quot;47998&quot;&gt;&lt;object type=&quot;3&quot; unique_id=&quot;47999&quot;&gt;&lt;property id=&quot;20148&quot; value=&quot;5&quot;/&gt;&lt;property id=&quot;20300&quot; value=&quot;Slide 1 - &amp;quot;Insert Title Here&amp;quot;&quot;/&gt;&lt;property id=&quot;20307&quot; value=&quot;269&quot;/&gt;&lt;/object&gt;&lt;object type=&quot;3&quot; unique_id=&quot;48000&quot;&gt;&lt;property id=&quot;20148&quot; value=&quot;5&quot;/&gt;&lt;property id=&quot;20300&quot; value=&quot;Slide 2 - &amp;quot;Header&amp;quot;&quot;/&gt;&lt;property id=&quot;20307&quot; value=&quot;266&quot;/&gt;&lt;/object&gt;&lt;object type=&quot;3&quot; unique_id=&quot;48001&quot;&gt;&lt;property id=&quot;20148&quot; value=&quot;5&quot;/&gt;&lt;property id=&quot;20300&quot; value=&quot;Slide 7&quot;/&gt;&lt;property id=&quot;20307&quot; value=&quot;267&quot;/&gt;&lt;/object&gt;&lt;object type=&quot;3&quot; unique_id=&quot;48032&quot;&gt;&lt;property id=&quot;20148&quot; value=&quot;5&quot;/&gt;&lt;property id=&quot;20300&quot; value=&quot;Slide 3&quot;/&gt;&lt;property id=&quot;20307&quot; value=&quot;270&quot;/&gt;&lt;/object&gt;&lt;object type=&quot;3&quot; unique_id=&quot;48033&quot;&gt;&lt;property id=&quot;20148&quot; value=&quot;5&quot;/&gt;&lt;property id=&quot;20300&quot; value=&quot;Slide 4&quot;/&gt;&lt;property id=&quot;20307&quot; value=&quot;271&quot;/&gt;&lt;/object&gt;&lt;object type=&quot;3&quot; unique_id=&quot;48034&quot;&gt;&lt;property id=&quot;20148&quot; value=&quot;5&quot;/&gt;&lt;property id=&quot;20300&quot; value=&quot;Slide 5&quot;/&gt;&lt;property id=&quot;20307&quot; value=&quot;272&quot;/&gt;&lt;/object&gt;&lt;object type=&quot;3&quot; unique_id=&quot;48035&quot;&gt;&lt;property id=&quot;20148&quot; value=&quot;5&quot;/&gt;&lt;property id=&quot;20300&quot; value=&quot;Slide 6&quot;/&gt;&lt;property id=&quot;20307&quot; value=&quot;273&quot;/&gt;&lt;/object&gt;&lt;/object&gt;&lt;object type=&quot;8&quot; unique_id=&quot;48006&quot;&gt;&lt;/object&gt;&lt;/object&gt;&lt;/database&gt;"/>
  <p:tag name="SECTOMILLISECCONVERTED" val="1"/>
</p:tagLst>
</file>

<file path=ppt/theme/theme1.xml><?xml version="1.0" encoding="utf-8"?>
<a:theme xmlns:a="http://schemas.openxmlformats.org/drawingml/2006/main" name="1_Body Slides">
  <a:themeElements>
    <a:clrScheme name="Southern Methodist University palette">
      <a:dk1>
        <a:srgbClr val="000000"/>
      </a:dk1>
      <a:lt1>
        <a:srgbClr val="FFFFFF"/>
      </a:lt1>
      <a:dk2>
        <a:srgbClr val="303651"/>
      </a:dk2>
      <a:lt2>
        <a:srgbClr val="8EB8E5"/>
      </a:lt2>
      <a:accent1>
        <a:srgbClr val="344CA1"/>
      </a:accent1>
      <a:accent2>
        <a:srgbClr val="DDCBA3"/>
      </a:accent2>
      <a:accent3>
        <a:srgbClr val="CC0034"/>
      </a:accent3>
      <a:accent4>
        <a:srgbClr val="928981"/>
      </a:accent4>
      <a:accent5>
        <a:srgbClr val="F9CA12"/>
      </a:accent5>
      <a:accent6>
        <a:srgbClr val="404041"/>
      </a:accent6>
      <a:hlink>
        <a:srgbClr val="0562C1"/>
      </a:hlink>
      <a:folHlink>
        <a:srgbClr val="0563C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44378</TotalTime>
  <Words>5311</Words>
  <Application>Microsoft Macintosh PowerPoint</Application>
  <PresentationFormat>Widescreen</PresentationFormat>
  <Paragraphs>717</Paragraphs>
  <Slides>56</Slides>
  <Notes>4</Notes>
  <HiddenSlides>3</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56</vt:i4>
      </vt:variant>
    </vt:vector>
  </HeadingPairs>
  <TitlesOfParts>
    <vt:vector size="63" baseType="lpstr">
      <vt:lpstr>Arial</vt:lpstr>
      <vt:lpstr>Calibri</vt:lpstr>
      <vt:lpstr>Cambria</vt:lpstr>
      <vt:lpstr>Cambria Math</vt:lpstr>
      <vt:lpstr>Courier New</vt:lpstr>
      <vt:lpstr>Wingdings</vt:lpstr>
      <vt:lpstr>1_Body Slides</vt:lpstr>
      <vt:lpstr>For Live Session Assignment (FLS) </vt:lpstr>
      <vt:lpstr>Question 1: Quick Quiz Questions</vt:lpstr>
      <vt:lpstr>Question 1</vt:lpstr>
      <vt:lpstr>Question 1</vt:lpstr>
      <vt:lpstr>Question 2</vt:lpstr>
      <vt:lpstr>Question 2</vt:lpstr>
      <vt:lpstr>End Question 1</vt:lpstr>
      <vt:lpstr>Question 2 (≤2 hours)  </vt:lpstr>
      <vt:lpstr>Ecology: Wildfires!</vt:lpstr>
      <vt:lpstr>Ecology: Wildfires!</vt:lpstr>
      <vt:lpstr>State the Problem</vt:lpstr>
      <vt:lpstr>Assumptions of the Rank Sum Test</vt:lpstr>
      <vt:lpstr>6 Step Rank Sum Test</vt:lpstr>
      <vt:lpstr>The Rank Sum Test: If Logging Had No Effect on % of Seedlings, Then these would not be surprising outcomes of the experiment.</vt:lpstr>
      <vt:lpstr>The Rank Sum Test:  What would be the most evidence that L was Bigger?</vt:lpstr>
      <vt:lpstr>Rank Sum Test:  Here is the Outcome of the Experiment that we ran!</vt:lpstr>
      <vt:lpstr>Rank Sum Test:  Strategy</vt:lpstr>
      <vt:lpstr>6 Step Rank Sum Test</vt:lpstr>
      <vt:lpstr>Scope of Inference</vt:lpstr>
      <vt:lpstr>Ecology: Wildfires!</vt:lpstr>
      <vt:lpstr>PowerPoint Presentation</vt:lpstr>
      <vt:lpstr>PowerPoint Presentation</vt:lpstr>
      <vt:lpstr>PowerPoint Presentation</vt:lpstr>
      <vt:lpstr>Ecology: Wildfires!</vt:lpstr>
      <vt:lpstr>Permutation Test of the Mean: SAS</vt:lpstr>
      <vt:lpstr>Permutation Test of the Mean: SAS</vt:lpstr>
      <vt:lpstr>Permutation Test of the Mean: R</vt:lpstr>
      <vt:lpstr>Permutation Test of the Mean: R</vt:lpstr>
      <vt:lpstr>Permutation Test of the Median: R</vt:lpstr>
      <vt:lpstr>Permutation Test of the Median: R</vt:lpstr>
      <vt:lpstr>End Question 2   </vt:lpstr>
      <vt:lpstr>Rank Sum versus Welch’s … the Take Away</vt:lpstr>
      <vt:lpstr>Performance of Welch’s t-test</vt:lpstr>
      <vt:lpstr>Example: Medical Reasoning Test</vt:lpstr>
      <vt:lpstr>Example: Keith’s Medical Reasoning Test</vt:lpstr>
      <vt:lpstr>Example: Medical Reasoning Test</vt:lpstr>
      <vt:lpstr>Assumption Check Failure</vt:lpstr>
      <vt:lpstr>Example: Keith’s Medical Reasoning Test</vt:lpstr>
      <vt:lpstr>Paired t-test reduces to a one-sample t-test</vt:lpstr>
      <vt:lpstr>A SAS Code Comparison</vt:lpstr>
      <vt:lpstr>A SAS Code Comparison</vt:lpstr>
      <vt:lpstr>Checking the Assumptions</vt:lpstr>
      <vt:lpstr>Additional Information</vt:lpstr>
      <vt:lpstr>Conclusion (alpha = 0.05)</vt:lpstr>
      <vt:lpstr>Breakout!: Medical Reasoning Test</vt:lpstr>
      <vt:lpstr>Break Out!</vt:lpstr>
      <vt:lpstr>Break Out!</vt:lpstr>
      <vt:lpstr>Breakout: Medical Reasoning Test: Sign Test</vt:lpstr>
      <vt:lpstr>Breakout: Medical Reasoning Test:  Signed Rank Test</vt:lpstr>
      <vt:lpstr>Breakout: Medical Reasoning Test:  Signed Rank Test</vt:lpstr>
      <vt:lpstr>Example of Signed Rank Test in Practice</vt:lpstr>
      <vt:lpstr>Break Out!</vt:lpstr>
      <vt:lpstr>Question 3: Takeaways!</vt:lpstr>
      <vt:lpstr>Question 4: Questions!</vt:lpstr>
      <vt:lpstr>Resources</vt:lpstr>
      <vt:lpstr>End For Live Session Assignment Unit 5!</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Southern Methodist University</dc:title>
  <dc:subject/>
  <dc:creator>Administrator</dc:creator>
  <cp:keywords/>
  <dc:description/>
  <cp:lastModifiedBy>Sadler, Bivin Philip</cp:lastModifiedBy>
  <cp:revision>331</cp:revision>
  <cp:lastPrinted>2020-09-21T07:53:02Z</cp:lastPrinted>
  <dcterms:created xsi:type="dcterms:W3CDTF">2016-03-21T14:12:59Z</dcterms:created>
  <dcterms:modified xsi:type="dcterms:W3CDTF">2024-09-27T17:29:32Z</dcterms:modified>
  <cp:category/>
</cp:coreProperties>
</file>