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59"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C6E173-27BC-123C-06E0-16DCCDD71B3A}" v="571" dt="2025-06-01T05:26:25.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varScale="1">
        <p:scale>
          <a:sx n="81" d="100"/>
          <a:sy n="81" d="100"/>
        </p:scale>
        <p:origin x="114" y="1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547FE-6220-1109-AE47-464E315259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4E3E51-A6F0-5266-3966-2AF430A7A8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7C957A-17A6-FC60-7C5B-D70EC0DFBF89}"/>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5" name="Footer Placeholder 4">
            <a:extLst>
              <a:ext uri="{FF2B5EF4-FFF2-40B4-BE49-F238E27FC236}">
                <a16:creationId xmlns:a16="http://schemas.microsoft.com/office/drawing/2014/main" id="{18AF94E2-A83F-CC7B-46ED-92FD656D37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42DE2E-DC8D-F1DF-6A20-1E6189D4BE8E}"/>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64543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A2AD-8B80-ABAE-3943-6BC50999E2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9FF4F1-F99B-76E7-0128-D62F773D7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18EF55-F1BC-2634-5969-C99252011FBE}"/>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5" name="Footer Placeholder 4">
            <a:extLst>
              <a:ext uri="{FF2B5EF4-FFF2-40B4-BE49-F238E27FC236}">
                <a16:creationId xmlns:a16="http://schemas.microsoft.com/office/drawing/2014/main" id="{B2E6FABB-A520-15DC-897B-861046043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40B2D9-7D3A-0BDC-6D88-101378353C3C}"/>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408054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6D49-061A-3DCE-1938-15B1CB6E4D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EA0341-9C87-EFB1-6AD8-6ECB787C68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1D09BC-8A79-80EA-9147-E45B123D9238}"/>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5" name="Footer Placeholder 4">
            <a:extLst>
              <a:ext uri="{FF2B5EF4-FFF2-40B4-BE49-F238E27FC236}">
                <a16:creationId xmlns:a16="http://schemas.microsoft.com/office/drawing/2014/main" id="{8D57FCB4-8C80-9BB5-0AFC-CCDBBF07B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5CFFF-75C4-30E0-9D7C-BC39EB25AD60}"/>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4168287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4FDA6-F48A-A468-B2C7-BB51F58AF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0C12B-3A87-CC64-F736-F3EC35A59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2405AE-73CE-7E6E-1859-C2F7822DF4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48B541-380F-B722-74B3-33D0D1D40D5C}"/>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6" name="Footer Placeholder 5">
            <a:extLst>
              <a:ext uri="{FF2B5EF4-FFF2-40B4-BE49-F238E27FC236}">
                <a16:creationId xmlns:a16="http://schemas.microsoft.com/office/drawing/2014/main" id="{AF8860E2-8B9F-37AB-70B3-83F2238E3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4D0156-704F-4DB9-C2E2-7F32CF994DB6}"/>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263817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9E00-1C34-726A-C28A-1B92247861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E014A5-3F9F-4D71-DE04-8A7377BED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ABDD1D-A56B-58A0-F995-6F67E22B3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4642C8-0E30-505F-6CC1-CB17BBB8CB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0B0A8-D1DD-4E3D-2BAE-8378BE103E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9988CE-D592-E1B9-A55A-F07F8775A7F5}"/>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8" name="Footer Placeholder 7">
            <a:extLst>
              <a:ext uri="{FF2B5EF4-FFF2-40B4-BE49-F238E27FC236}">
                <a16:creationId xmlns:a16="http://schemas.microsoft.com/office/drawing/2014/main" id="{A14992F3-F4C7-22E6-CF59-0DC0FCB794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07DC1E-5EF1-24CF-00C4-A7DA355C0D0D}"/>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1455132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D1C61-ACC0-BBD6-5D8D-7DE4BA5076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EA6B98-C085-2842-7706-8BA2E3678F46}"/>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4" name="Footer Placeholder 3">
            <a:extLst>
              <a:ext uri="{FF2B5EF4-FFF2-40B4-BE49-F238E27FC236}">
                <a16:creationId xmlns:a16="http://schemas.microsoft.com/office/drawing/2014/main" id="{188DEB41-E778-43FF-797D-0F8794A89F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F82053-1DC3-1AAE-A0E7-5208865E1841}"/>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64123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5BC98-BB7B-FB6E-89CD-E28977636BBD}"/>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3" name="Footer Placeholder 2">
            <a:extLst>
              <a:ext uri="{FF2B5EF4-FFF2-40B4-BE49-F238E27FC236}">
                <a16:creationId xmlns:a16="http://schemas.microsoft.com/office/drawing/2014/main" id="{96D2057F-1312-666C-58E1-7698B4E197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5DF585-5E00-2D17-02C5-12D34B3EDDE0}"/>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42134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3478-7B70-C286-F182-ED418A567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39B479-87E0-3079-185D-C3CDDB9AF2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F4E47-FDF7-5FAC-1765-AA5652F4A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A15F53-3774-BE72-13F6-72EE6BCEAF8C}"/>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6" name="Footer Placeholder 5">
            <a:extLst>
              <a:ext uri="{FF2B5EF4-FFF2-40B4-BE49-F238E27FC236}">
                <a16:creationId xmlns:a16="http://schemas.microsoft.com/office/drawing/2014/main" id="{29F5EA67-19B3-97B4-C9E1-9294402B51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BC1E81-5EF5-E11F-2080-D4867F81D878}"/>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1522340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4BCF-8077-A9A4-149E-1E63B761FC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FB917E-5547-8420-AC29-D493026173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ED3355-6D8D-4F9C-6833-83C12CC73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F4C5E-BF61-C997-F723-57C693729D5D}"/>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6" name="Footer Placeholder 5">
            <a:extLst>
              <a:ext uri="{FF2B5EF4-FFF2-40B4-BE49-F238E27FC236}">
                <a16:creationId xmlns:a16="http://schemas.microsoft.com/office/drawing/2014/main" id="{E1CDA754-A9E2-7E1F-32C0-D947373DF0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4BAB36-C3B6-4A76-FB5D-74BFB9D16BF5}"/>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3713763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F06A-848A-0641-CADA-15DF7E270F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8DC059-0708-335E-0853-FF68E6583F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1F66F5-69F9-AB53-05F3-99D09E9F9647}"/>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5" name="Footer Placeholder 4">
            <a:extLst>
              <a:ext uri="{FF2B5EF4-FFF2-40B4-BE49-F238E27FC236}">
                <a16:creationId xmlns:a16="http://schemas.microsoft.com/office/drawing/2014/main" id="{7E3F8BCD-499B-AA55-C439-2231E3D94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0658F8-66E4-27D0-E107-2D93EEDC1FDA}"/>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906754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28BD77-A772-0B52-8E15-65A6788D1D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A07937-42AA-895A-ED87-15E5E94700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135003-7D5D-9E89-25D1-86D83C29CF76}"/>
              </a:ext>
            </a:extLst>
          </p:cNvPr>
          <p:cNvSpPr>
            <a:spLocks noGrp="1"/>
          </p:cNvSpPr>
          <p:nvPr>
            <p:ph type="dt" sz="half" idx="10"/>
          </p:nvPr>
        </p:nvSpPr>
        <p:spPr/>
        <p:txBody>
          <a:bodyPr/>
          <a:lstStyle/>
          <a:p>
            <a:fld id="{C19CABB4-FDFD-4A66-8DA3-F5D205363C3F}" type="datetimeFigureOut">
              <a:rPr lang="en-US" smtClean="0"/>
              <a:t>5/31/2025</a:t>
            </a:fld>
            <a:endParaRPr lang="en-US"/>
          </a:p>
        </p:txBody>
      </p:sp>
      <p:sp>
        <p:nvSpPr>
          <p:cNvPr id="5" name="Footer Placeholder 4">
            <a:extLst>
              <a:ext uri="{FF2B5EF4-FFF2-40B4-BE49-F238E27FC236}">
                <a16:creationId xmlns:a16="http://schemas.microsoft.com/office/drawing/2014/main" id="{B96EF80F-DA56-914A-E89B-01D720492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B2957-36A0-89AF-6BFC-77F593F367E3}"/>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130362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043FD-6F63-C3DC-62CA-9B18690A31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8A71D3-EB46-4951-93A0-2DC79F565F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E2647-9CED-2E48-E368-A0FFC23366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9CABB4-FDFD-4A66-8DA3-F5D205363C3F}" type="datetimeFigureOut">
              <a:rPr lang="en-US" smtClean="0"/>
              <a:t>5/31/2025</a:t>
            </a:fld>
            <a:endParaRPr lang="en-US"/>
          </a:p>
        </p:txBody>
      </p:sp>
      <p:sp>
        <p:nvSpPr>
          <p:cNvPr id="5" name="Footer Placeholder 4">
            <a:extLst>
              <a:ext uri="{FF2B5EF4-FFF2-40B4-BE49-F238E27FC236}">
                <a16:creationId xmlns:a16="http://schemas.microsoft.com/office/drawing/2014/main" id="{974A7D68-9776-A48D-1273-1F04233EC8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5A818B-FE8D-DF33-9B2A-2AF4BA398F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C79DD2-0061-48ED-ADBA-0E13756B31C5}" type="slidenum">
              <a:rPr lang="en-US" smtClean="0"/>
              <a:t>‹#›</a:t>
            </a:fld>
            <a:endParaRPr lang="en-US"/>
          </a:p>
        </p:txBody>
      </p:sp>
    </p:spTree>
    <p:extLst>
      <p:ext uri="{BB962C8B-B14F-4D97-AF65-F5344CB8AC3E}">
        <p14:creationId xmlns:p14="http://schemas.microsoft.com/office/powerpoint/2010/main" val="2091019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85154-36D8-A4CD-6B6D-78E7F69B199B}"/>
              </a:ext>
            </a:extLst>
          </p:cNvPr>
          <p:cNvSpPr>
            <a:spLocks noGrp="1"/>
          </p:cNvSpPr>
          <p:nvPr>
            <p:ph type="ctrTitle"/>
          </p:nvPr>
        </p:nvSpPr>
        <p:spPr/>
        <p:txBody>
          <a:bodyPr/>
          <a:lstStyle/>
          <a:p>
            <a:r>
              <a:rPr lang="en-US" dirty="0"/>
              <a:t>FLS Unit 5</a:t>
            </a:r>
          </a:p>
        </p:txBody>
      </p:sp>
      <p:sp>
        <p:nvSpPr>
          <p:cNvPr id="3" name="Subtitle 2">
            <a:extLst>
              <a:ext uri="{FF2B5EF4-FFF2-40B4-BE49-F238E27FC236}">
                <a16:creationId xmlns:a16="http://schemas.microsoft.com/office/drawing/2014/main" id="{5273AA4F-3821-D0BD-3539-54E89A8DCDF2}"/>
              </a:ext>
            </a:extLst>
          </p:cNvPr>
          <p:cNvSpPr>
            <a:spLocks noGrp="1"/>
          </p:cNvSpPr>
          <p:nvPr>
            <p:ph type="subTitle" idx="1"/>
          </p:nvPr>
        </p:nvSpPr>
        <p:spPr/>
        <p:txBody>
          <a:bodyPr/>
          <a:lstStyle/>
          <a:p>
            <a:r>
              <a:rPr lang="en-US" dirty="0"/>
              <a:t>Johnny Vogt</a:t>
            </a:r>
          </a:p>
          <a:p>
            <a:endParaRPr lang="en-US" dirty="0"/>
          </a:p>
        </p:txBody>
      </p:sp>
    </p:spTree>
    <p:extLst>
      <p:ext uri="{BB962C8B-B14F-4D97-AF65-F5344CB8AC3E}">
        <p14:creationId xmlns:p14="http://schemas.microsoft.com/office/powerpoint/2010/main" val="1631065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2C5A9-7CF5-D577-88E7-B5A9912A111F}"/>
              </a:ext>
            </a:extLst>
          </p:cNvPr>
          <p:cNvSpPr>
            <a:spLocks noGrp="1"/>
          </p:cNvSpPr>
          <p:nvPr>
            <p:ph type="title"/>
          </p:nvPr>
        </p:nvSpPr>
        <p:spPr/>
        <p:txBody>
          <a:bodyPr/>
          <a:lstStyle/>
          <a:p>
            <a:r>
              <a:rPr lang="en-US" dirty="0"/>
              <a:t>Question 2 SAS </a:t>
            </a:r>
          </a:p>
        </p:txBody>
      </p:sp>
      <p:pic>
        <p:nvPicPr>
          <p:cNvPr id="5" name="Content Placeholder 4">
            <a:extLst>
              <a:ext uri="{FF2B5EF4-FFF2-40B4-BE49-F238E27FC236}">
                <a16:creationId xmlns:a16="http://schemas.microsoft.com/office/drawing/2014/main" id="{880A6FE3-196C-6A3D-2A5C-8178C774A3D8}"/>
              </a:ext>
            </a:extLst>
          </p:cNvPr>
          <p:cNvPicPr>
            <a:picLocks noGrp="1" noChangeAspect="1"/>
          </p:cNvPicPr>
          <p:nvPr>
            <p:ph idx="1"/>
          </p:nvPr>
        </p:nvPicPr>
        <p:blipFill>
          <a:blip r:embed="rId2"/>
          <a:stretch>
            <a:fillRect/>
          </a:stretch>
        </p:blipFill>
        <p:spPr>
          <a:xfrm>
            <a:off x="838200" y="1690688"/>
            <a:ext cx="3167640" cy="4351338"/>
          </a:xfrm>
        </p:spPr>
      </p:pic>
      <p:pic>
        <p:nvPicPr>
          <p:cNvPr id="7" name="Picture 6">
            <a:extLst>
              <a:ext uri="{FF2B5EF4-FFF2-40B4-BE49-F238E27FC236}">
                <a16:creationId xmlns:a16="http://schemas.microsoft.com/office/drawing/2014/main" id="{02573A4C-045A-6504-67F8-ABCC2542EB73}"/>
              </a:ext>
            </a:extLst>
          </p:cNvPr>
          <p:cNvPicPr>
            <a:picLocks noChangeAspect="1"/>
          </p:cNvPicPr>
          <p:nvPr/>
        </p:nvPicPr>
        <p:blipFill>
          <a:blip r:embed="rId3"/>
          <a:stretch>
            <a:fillRect/>
          </a:stretch>
        </p:blipFill>
        <p:spPr>
          <a:xfrm>
            <a:off x="4264846" y="1487179"/>
            <a:ext cx="5191850" cy="2753109"/>
          </a:xfrm>
          <a:prstGeom prst="rect">
            <a:avLst/>
          </a:prstGeom>
        </p:spPr>
      </p:pic>
    </p:spTree>
    <p:extLst>
      <p:ext uri="{BB962C8B-B14F-4D97-AF65-F5344CB8AC3E}">
        <p14:creationId xmlns:p14="http://schemas.microsoft.com/office/powerpoint/2010/main" val="328636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F3F2A-C3E4-E9E3-628C-7F9E18CB8188}"/>
              </a:ext>
            </a:extLst>
          </p:cNvPr>
          <p:cNvSpPr>
            <a:spLocks noGrp="1"/>
          </p:cNvSpPr>
          <p:nvPr>
            <p:ph type="title"/>
          </p:nvPr>
        </p:nvSpPr>
        <p:spPr/>
        <p:txBody>
          <a:bodyPr/>
          <a:lstStyle/>
          <a:p>
            <a:r>
              <a:rPr lang="en-US" dirty="0"/>
              <a:t>Quick Questions!!!!</a:t>
            </a:r>
          </a:p>
        </p:txBody>
      </p:sp>
      <p:sp>
        <p:nvSpPr>
          <p:cNvPr id="3" name="Content Placeholder 2">
            <a:extLst>
              <a:ext uri="{FF2B5EF4-FFF2-40B4-BE49-F238E27FC236}">
                <a16:creationId xmlns:a16="http://schemas.microsoft.com/office/drawing/2014/main" id="{5C099E18-D664-BE61-ED52-E91C8FF49337}"/>
              </a:ext>
            </a:extLst>
          </p:cNvPr>
          <p:cNvSpPr>
            <a:spLocks noGrp="1"/>
          </p:cNvSpPr>
          <p:nvPr>
            <p:ph idx="1"/>
          </p:nvPr>
        </p:nvSpPr>
        <p:spPr/>
        <p:txBody>
          <a:bodyPr/>
          <a:lstStyle/>
          <a:p>
            <a:pPr marL="514350" indent="-514350">
              <a:buAutoNum type="arabicPeriod"/>
            </a:pPr>
            <a:r>
              <a:rPr lang="en-US" dirty="0"/>
              <a:t>C.</a:t>
            </a:r>
          </a:p>
          <a:p>
            <a:pPr marL="0" indent="0">
              <a:buNone/>
            </a:pPr>
            <a:r>
              <a:rPr lang="en-US" dirty="0"/>
              <a:t>2.  C, again. The just because the </a:t>
            </a:r>
            <a:r>
              <a:rPr lang="en-US" dirty="0" err="1"/>
              <a:t>pvalues</a:t>
            </a:r>
            <a:r>
              <a:rPr lang="en-US" dirty="0"/>
              <a:t> fell on opposite side of .05, doesn’t mean the approximation is wrong. It just means that its really close to the significance value and that we are in danger of making either Type of error.</a:t>
            </a:r>
          </a:p>
        </p:txBody>
      </p:sp>
    </p:spTree>
    <p:extLst>
      <p:ext uri="{BB962C8B-B14F-4D97-AF65-F5344CB8AC3E}">
        <p14:creationId xmlns:p14="http://schemas.microsoft.com/office/powerpoint/2010/main" val="2954620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9BEE-DE5C-3713-BE51-B1062799AF09}"/>
              </a:ext>
            </a:extLst>
          </p:cNvPr>
          <p:cNvSpPr>
            <a:spLocks noGrp="1"/>
          </p:cNvSpPr>
          <p:nvPr>
            <p:ph type="title"/>
          </p:nvPr>
        </p:nvSpPr>
        <p:spPr/>
        <p:txBody>
          <a:bodyPr/>
          <a:lstStyle/>
          <a:p>
            <a:r>
              <a:rPr lang="en-US" dirty="0"/>
              <a:t>SAS Analysis</a:t>
            </a:r>
          </a:p>
        </p:txBody>
      </p:sp>
      <p:sp>
        <p:nvSpPr>
          <p:cNvPr id="3" name="Content Placeholder 2">
            <a:extLst>
              <a:ext uri="{FF2B5EF4-FFF2-40B4-BE49-F238E27FC236}">
                <a16:creationId xmlns:a16="http://schemas.microsoft.com/office/drawing/2014/main" id="{073D7312-85B8-222C-0947-E448D8BD505C}"/>
              </a:ext>
            </a:extLst>
          </p:cNvPr>
          <p:cNvSpPr>
            <a:spLocks noGrp="1"/>
          </p:cNvSpPr>
          <p:nvPr>
            <p:ph idx="1"/>
          </p:nvPr>
        </p:nvSpPr>
        <p:spPr>
          <a:xfrm>
            <a:off x="838200" y="1825625"/>
            <a:ext cx="6443749" cy="4351338"/>
          </a:xfrm>
        </p:spPr>
        <p:txBody>
          <a:bodyPr>
            <a:normAutofit lnSpcReduction="10000"/>
          </a:bodyPr>
          <a:lstStyle/>
          <a:p>
            <a:r>
              <a:rPr lang="en-US" dirty="0"/>
              <a:t>H0: Median of tree saplings in logged areas = Median of tree saplings unlogged areas</a:t>
            </a:r>
          </a:p>
          <a:p>
            <a:r>
              <a:rPr lang="en-US" dirty="0"/>
              <a:t>Ha: Median of tree saplings in logged areas != Median of tree saplings unlogged areas</a:t>
            </a:r>
          </a:p>
          <a:p>
            <a:r>
              <a:rPr lang="en-US" dirty="0"/>
              <a:t>There is sufficient evidence at the alpha level at .05 and a P-Value at .0058 to suggest that the amount of tree saplings in the unlogged areas are less than the logged counterparts. </a:t>
            </a:r>
          </a:p>
        </p:txBody>
      </p:sp>
      <p:pic>
        <p:nvPicPr>
          <p:cNvPr id="5" name="Picture 4">
            <a:extLst>
              <a:ext uri="{FF2B5EF4-FFF2-40B4-BE49-F238E27FC236}">
                <a16:creationId xmlns:a16="http://schemas.microsoft.com/office/drawing/2014/main" id="{B26B1513-DA11-5719-30C3-C691A258A0BD}"/>
              </a:ext>
            </a:extLst>
          </p:cNvPr>
          <p:cNvPicPr>
            <a:picLocks noChangeAspect="1"/>
          </p:cNvPicPr>
          <p:nvPr/>
        </p:nvPicPr>
        <p:blipFill>
          <a:blip r:embed="rId2"/>
          <a:stretch>
            <a:fillRect/>
          </a:stretch>
        </p:blipFill>
        <p:spPr>
          <a:xfrm>
            <a:off x="6775290" y="1690688"/>
            <a:ext cx="5191850" cy="2753109"/>
          </a:xfrm>
          <a:prstGeom prst="rect">
            <a:avLst/>
          </a:prstGeom>
        </p:spPr>
      </p:pic>
    </p:spTree>
    <p:extLst>
      <p:ext uri="{BB962C8B-B14F-4D97-AF65-F5344CB8AC3E}">
        <p14:creationId xmlns:p14="http://schemas.microsoft.com/office/powerpoint/2010/main" val="415858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5BC5-7068-AD9F-E666-2C797EC485C8}"/>
              </a:ext>
            </a:extLst>
          </p:cNvPr>
          <p:cNvSpPr>
            <a:spLocks noGrp="1"/>
          </p:cNvSpPr>
          <p:nvPr>
            <p:ph type="title"/>
          </p:nvPr>
        </p:nvSpPr>
        <p:spPr/>
        <p:txBody>
          <a:bodyPr/>
          <a:lstStyle/>
          <a:p>
            <a:r>
              <a:rPr lang="en-US" dirty="0"/>
              <a:t>Question 2 R Test</a:t>
            </a:r>
          </a:p>
        </p:txBody>
      </p:sp>
      <p:pic>
        <p:nvPicPr>
          <p:cNvPr id="5" name="Picture 4">
            <a:extLst>
              <a:ext uri="{FF2B5EF4-FFF2-40B4-BE49-F238E27FC236}">
                <a16:creationId xmlns:a16="http://schemas.microsoft.com/office/drawing/2014/main" id="{EE39B947-88B2-1F8A-DC22-51F3282CDAEC}"/>
              </a:ext>
            </a:extLst>
          </p:cNvPr>
          <p:cNvPicPr>
            <a:picLocks noChangeAspect="1"/>
          </p:cNvPicPr>
          <p:nvPr/>
        </p:nvPicPr>
        <p:blipFill>
          <a:blip r:embed="rId2"/>
          <a:stretch>
            <a:fillRect/>
          </a:stretch>
        </p:blipFill>
        <p:spPr>
          <a:xfrm>
            <a:off x="683144" y="1690688"/>
            <a:ext cx="5268060" cy="3096057"/>
          </a:xfrm>
          <a:prstGeom prst="rect">
            <a:avLst/>
          </a:prstGeom>
        </p:spPr>
      </p:pic>
    </p:spTree>
    <p:extLst>
      <p:ext uri="{BB962C8B-B14F-4D97-AF65-F5344CB8AC3E}">
        <p14:creationId xmlns:p14="http://schemas.microsoft.com/office/powerpoint/2010/main" val="3334036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EFE3-8BA3-0149-D94F-D48EF029818A}"/>
              </a:ext>
            </a:extLst>
          </p:cNvPr>
          <p:cNvSpPr>
            <a:spLocks noGrp="1"/>
          </p:cNvSpPr>
          <p:nvPr>
            <p:ph type="title"/>
          </p:nvPr>
        </p:nvSpPr>
        <p:spPr/>
        <p:txBody>
          <a:bodyPr/>
          <a:lstStyle/>
          <a:p>
            <a:r>
              <a:rPr lang="en-US" dirty="0"/>
              <a:t>Takeaways	</a:t>
            </a:r>
          </a:p>
        </p:txBody>
      </p:sp>
      <p:sp>
        <p:nvSpPr>
          <p:cNvPr id="3" name="Content Placeholder 2">
            <a:extLst>
              <a:ext uri="{FF2B5EF4-FFF2-40B4-BE49-F238E27FC236}">
                <a16:creationId xmlns:a16="http://schemas.microsoft.com/office/drawing/2014/main" id="{D0A523F6-EBAF-CCD7-DC04-91981D3736AF}"/>
              </a:ext>
            </a:extLst>
          </p:cNvPr>
          <p:cNvSpPr>
            <a:spLocks noGrp="1"/>
          </p:cNvSpPr>
          <p:nvPr>
            <p:ph idx="1"/>
          </p:nvPr>
        </p:nvSpPr>
        <p:spPr/>
        <p:txBody>
          <a:bodyPr vert="horz" lIns="91440" tIns="45720" rIns="91440" bIns="45720" rtlCol="0" anchor="t">
            <a:normAutofit lnSpcReduction="10000"/>
          </a:bodyPr>
          <a:lstStyle/>
          <a:p>
            <a:r>
              <a:rPr lang="en-US" dirty="0"/>
              <a:t>Its </a:t>
            </a:r>
            <a:r>
              <a:rPr lang="en-US" dirty="0" err="1"/>
              <a:t>defnitely</a:t>
            </a:r>
            <a:r>
              <a:rPr lang="en-US" dirty="0"/>
              <a:t> interesting that SAS and R would have different </a:t>
            </a:r>
            <a:r>
              <a:rPr lang="en-US" dirty="0" err="1"/>
              <a:t>Pvalues</a:t>
            </a:r>
            <a:r>
              <a:rPr lang="en-US" dirty="0"/>
              <a:t> for the same test. I wonder what exactly causes that difference? Just randomness?</a:t>
            </a:r>
          </a:p>
          <a:p>
            <a:r>
              <a:rPr lang="en-US" dirty="0"/>
              <a:t>Why does the Wilcoxon test give us the Z Statistic instead of the t statistic, when we don't know the whole population?</a:t>
            </a:r>
          </a:p>
          <a:p>
            <a:r>
              <a:rPr lang="en-US" dirty="0"/>
              <a:t>Does adding in a </a:t>
            </a:r>
            <a:r>
              <a:rPr lang="en-US" dirty="0" err="1"/>
              <a:t>continutity</a:t>
            </a:r>
            <a:r>
              <a:rPr lang="en-US" dirty="0"/>
              <a:t> correction let  us "assume" that the test covers the "True" Population (relates to the takeaway above)</a:t>
            </a:r>
          </a:p>
          <a:p>
            <a:r>
              <a:rPr lang="en-US" dirty="0"/>
              <a:t>I get mixed up on the fact that I'm thinking that we're looking for a lower number "less tree seedlings", but its actually the opposite because we're looking at the higher percentage of lost seedlings. It seems a bit backwards in my head.  </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502789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157</Words>
  <Application>Microsoft Office PowerPoint</Application>
  <PresentationFormat>Widescreen</PresentationFormat>
  <Paragraphs>13</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FLS Unit 5</vt:lpstr>
      <vt:lpstr>Question 2 SAS </vt:lpstr>
      <vt:lpstr>Quick Questions!!!!</vt:lpstr>
      <vt:lpstr>SAS Analysis</vt:lpstr>
      <vt:lpstr>Question 2 R Test</vt:lpstr>
      <vt:lpstr>Takeaways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Vogt, Johnny</dc:creator>
  <cp:lastModifiedBy>Vogt, Johnny</cp:lastModifiedBy>
  <cp:revision>89</cp:revision>
  <dcterms:created xsi:type="dcterms:W3CDTF">2025-05-29T03:23:38Z</dcterms:created>
  <dcterms:modified xsi:type="dcterms:W3CDTF">2025-06-01T05:26:26Z</dcterms:modified>
</cp:coreProperties>
</file>