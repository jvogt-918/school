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0D1A-59CF-7780-94B0-45E3FFAA75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0875AE-AF26-EEC9-F025-AE70DDC53E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27A532-62E1-C0D2-753C-95678DDA0031}"/>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5" name="Footer Placeholder 4">
            <a:extLst>
              <a:ext uri="{FF2B5EF4-FFF2-40B4-BE49-F238E27FC236}">
                <a16:creationId xmlns:a16="http://schemas.microsoft.com/office/drawing/2014/main" id="{9B63016B-7C7C-D60F-C50B-14F4E65EC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1D33B-CFB6-B35D-17FD-DCA15E92AB53}"/>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490396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2C75-B9B0-1C04-5386-57F8C51B77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B4BB6A-CA98-D718-068D-55EF5CF8C7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74346E-717B-A4ED-819A-E56C6CFFC72E}"/>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5" name="Footer Placeholder 4">
            <a:extLst>
              <a:ext uri="{FF2B5EF4-FFF2-40B4-BE49-F238E27FC236}">
                <a16:creationId xmlns:a16="http://schemas.microsoft.com/office/drawing/2014/main" id="{1AE5DBDA-97A0-7976-D077-5866540CF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75BF9-5634-60C8-7C00-11EB4EC3B40C}"/>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3355036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E3A50-ABC2-87DF-1B62-63BFC6DF28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0C32F2-B6E3-419A-8231-264AD9F758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41D7DC-DCC3-E92D-8B3E-E0DA33D77754}"/>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5" name="Footer Placeholder 4">
            <a:extLst>
              <a:ext uri="{FF2B5EF4-FFF2-40B4-BE49-F238E27FC236}">
                <a16:creationId xmlns:a16="http://schemas.microsoft.com/office/drawing/2014/main" id="{F7D86089-C554-9A12-FF3D-B6713A5F9E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9CD91-45BA-6577-A646-0D92A5824CBB}"/>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3452555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D7F33-7DE6-C6C1-01CF-EB19B31F0B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5FE8D1-D19F-DE7E-2434-08514EEEE7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44D5C0-B829-239D-5123-AFBFE22035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33F889-3FEC-9416-1165-0A41B9412263}"/>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6" name="Footer Placeholder 5">
            <a:extLst>
              <a:ext uri="{FF2B5EF4-FFF2-40B4-BE49-F238E27FC236}">
                <a16:creationId xmlns:a16="http://schemas.microsoft.com/office/drawing/2014/main" id="{16DCD105-A15F-EA92-38BA-7946E01763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EC840E-AE7B-3B54-50D6-847C91444181}"/>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2373694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F591-0CA0-AA25-5435-C402FD3CAD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757D56-D7AE-3717-B4E8-6F794FF2D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EE1B22-932A-D81B-4BEA-5CCDBAE31B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F52C6B-81E0-AE50-F02B-F30C8B2459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F6BBC6-8C88-1BDB-A512-32DA537A10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09E3C0-43BD-6F91-7FD2-EC656E525CF0}"/>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8" name="Footer Placeholder 7">
            <a:extLst>
              <a:ext uri="{FF2B5EF4-FFF2-40B4-BE49-F238E27FC236}">
                <a16:creationId xmlns:a16="http://schemas.microsoft.com/office/drawing/2014/main" id="{0E46F24A-D67D-67A5-6F92-30C7C2EB86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D1425B-F2E2-5B0E-F7F7-1B84B3C3F746}"/>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2420201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FF11-FEA8-85C9-0AFC-E36E568EE7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B57138-2EE9-F6FC-8534-499B22A78F7C}"/>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4" name="Footer Placeholder 3">
            <a:extLst>
              <a:ext uri="{FF2B5EF4-FFF2-40B4-BE49-F238E27FC236}">
                <a16:creationId xmlns:a16="http://schemas.microsoft.com/office/drawing/2014/main" id="{69AAF8BE-89B0-66D3-AFB8-2EEB04A23A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77EA1D-7A1C-B9F0-5BA0-10DF60466D5A}"/>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1636097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857D79-7944-55FF-3123-0BF6BE6308AA}"/>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3" name="Footer Placeholder 2">
            <a:extLst>
              <a:ext uri="{FF2B5EF4-FFF2-40B4-BE49-F238E27FC236}">
                <a16:creationId xmlns:a16="http://schemas.microsoft.com/office/drawing/2014/main" id="{52915A82-676D-C3B3-8C52-91DB95F5E3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35466C-9FC2-88C9-BE72-93A68B1A1E55}"/>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3351829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3F97-FAE3-4DF0-37F0-D565FB5D4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BC512B-5F24-D868-A2B6-9D6803E0A7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A5046A-F5F2-9EE4-FB71-787B7B0B6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273E6D-0BD3-78B9-9D2D-836EE914AB56}"/>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6" name="Footer Placeholder 5">
            <a:extLst>
              <a:ext uri="{FF2B5EF4-FFF2-40B4-BE49-F238E27FC236}">
                <a16:creationId xmlns:a16="http://schemas.microsoft.com/office/drawing/2014/main" id="{2DA1FED2-659E-29C9-2222-C12BADA99F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7E969D-F849-63F0-FE00-26B3A2578C84}"/>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315858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5A1E-22A2-C885-3A88-0324CBDAA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D9C5DE-50DE-1B8C-70D3-0EB337BCE6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DBC45-9630-088D-CA17-828E8C68D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8B10C2-A14C-6864-D5E4-4CBD462B8A59}"/>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6" name="Footer Placeholder 5">
            <a:extLst>
              <a:ext uri="{FF2B5EF4-FFF2-40B4-BE49-F238E27FC236}">
                <a16:creationId xmlns:a16="http://schemas.microsoft.com/office/drawing/2014/main" id="{DB4EE251-FF21-82C1-873C-3B0215B082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4E2BF-8C41-771D-3A41-CF16EADC3891}"/>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116224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9CC0-8A29-CB94-AEB7-1FF49F91AA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F2B118-E6D6-416A-A934-C2C7570382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F9831-D825-D221-ADEA-F16979AA8AB8}"/>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5" name="Footer Placeholder 4">
            <a:extLst>
              <a:ext uri="{FF2B5EF4-FFF2-40B4-BE49-F238E27FC236}">
                <a16:creationId xmlns:a16="http://schemas.microsoft.com/office/drawing/2014/main" id="{3A4F18FB-AA44-BA1F-E16B-26F115794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92D827-ACD4-D1B1-AAEC-6D43783BA037}"/>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835966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2066C9-265A-06F3-BC06-499A4A581F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7C8D3E-7FB8-476A-10C5-A7EB6C51F6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44D99-42C7-78F5-4FFD-54735878A724}"/>
              </a:ext>
            </a:extLst>
          </p:cNvPr>
          <p:cNvSpPr>
            <a:spLocks noGrp="1"/>
          </p:cNvSpPr>
          <p:nvPr>
            <p:ph type="dt" sz="half" idx="10"/>
          </p:nvPr>
        </p:nvSpPr>
        <p:spPr/>
        <p:txBody>
          <a:bodyPr/>
          <a:lstStyle/>
          <a:p>
            <a:fld id="{2ADB2CAF-3C70-4C70-8B6C-4070C3B1A9BA}" type="datetimeFigureOut">
              <a:rPr lang="en-US" smtClean="0"/>
              <a:t>5/5/2025</a:t>
            </a:fld>
            <a:endParaRPr lang="en-US"/>
          </a:p>
        </p:txBody>
      </p:sp>
      <p:sp>
        <p:nvSpPr>
          <p:cNvPr id="5" name="Footer Placeholder 4">
            <a:extLst>
              <a:ext uri="{FF2B5EF4-FFF2-40B4-BE49-F238E27FC236}">
                <a16:creationId xmlns:a16="http://schemas.microsoft.com/office/drawing/2014/main" id="{0DF83565-5581-9580-54E4-3A7675815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A471B-2159-6846-76DA-E67A4271472C}"/>
              </a:ext>
            </a:extLst>
          </p:cNvPr>
          <p:cNvSpPr>
            <a:spLocks noGrp="1"/>
          </p:cNvSpPr>
          <p:nvPr>
            <p:ph type="sldNum" sz="quarter" idx="12"/>
          </p:nvPr>
        </p:nvSpPr>
        <p:spPr/>
        <p:txBody>
          <a:bodyPr/>
          <a:lstStyle/>
          <a:p>
            <a:fld id="{F237D9DC-5D4A-49B7-874E-2729CB2006CF}" type="slidenum">
              <a:rPr lang="en-US" smtClean="0"/>
              <a:t>‹#›</a:t>
            </a:fld>
            <a:endParaRPr lang="en-US"/>
          </a:p>
        </p:txBody>
      </p:sp>
    </p:spTree>
    <p:extLst>
      <p:ext uri="{BB962C8B-B14F-4D97-AF65-F5344CB8AC3E}">
        <p14:creationId xmlns:p14="http://schemas.microsoft.com/office/powerpoint/2010/main" val="2753336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AE74F-607C-275A-6829-853858683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FACEF7-F3DB-DE7A-30BF-B20C9C5619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9B54C-39A6-17F7-2301-2EC3F5B029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DB2CAF-3C70-4C70-8B6C-4070C3B1A9BA}" type="datetimeFigureOut">
              <a:rPr lang="en-US" smtClean="0"/>
              <a:t>5/5/2025</a:t>
            </a:fld>
            <a:endParaRPr lang="en-US"/>
          </a:p>
        </p:txBody>
      </p:sp>
      <p:sp>
        <p:nvSpPr>
          <p:cNvPr id="5" name="Footer Placeholder 4">
            <a:extLst>
              <a:ext uri="{FF2B5EF4-FFF2-40B4-BE49-F238E27FC236}">
                <a16:creationId xmlns:a16="http://schemas.microsoft.com/office/drawing/2014/main" id="{85952889-5E14-40DB-915B-8786FC39F7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F9D00A-FD89-41AE-91B7-2BFCD640DE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37D9DC-5D4A-49B7-874E-2729CB2006CF}" type="slidenum">
              <a:rPr lang="en-US" smtClean="0"/>
              <a:t>‹#›</a:t>
            </a:fld>
            <a:endParaRPr lang="en-US"/>
          </a:p>
        </p:txBody>
      </p:sp>
    </p:spTree>
    <p:extLst>
      <p:ext uri="{BB962C8B-B14F-4D97-AF65-F5344CB8AC3E}">
        <p14:creationId xmlns:p14="http://schemas.microsoft.com/office/powerpoint/2010/main" val="161953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AF30-B25B-F938-39B9-394072FFE848}"/>
              </a:ext>
            </a:extLst>
          </p:cNvPr>
          <p:cNvSpPr>
            <a:spLocks noGrp="1"/>
          </p:cNvSpPr>
          <p:nvPr>
            <p:ph type="ctrTitle"/>
          </p:nvPr>
        </p:nvSpPr>
        <p:spPr/>
        <p:txBody>
          <a:bodyPr/>
          <a:lstStyle/>
          <a:p>
            <a:r>
              <a:rPr lang="en-US" dirty="0"/>
              <a:t>FLS Unit 2</a:t>
            </a:r>
          </a:p>
        </p:txBody>
      </p:sp>
      <p:sp>
        <p:nvSpPr>
          <p:cNvPr id="3" name="Subtitle 2">
            <a:extLst>
              <a:ext uri="{FF2B5EF4-FFF2-40B4-BE49-F238E27FC236}">
                <a16:creationId xmlns:a16="http://schemas.microsoft.com/office/drawing/2014/main" id="{59C0CE71-C287-8EB0-BA1F-843EE015231A}"/>
              </a:ext>
            </a:extLst>
          </p:cNvPr>
          <p:cNvSpPr>
            <a:spLocks noGrp="1"/>
          </p:cNvSpPr>
          <p:nvPr>
            <p:ph type="subTitle" idx="1"/>
          </p:nvPr>
        </p:nvSpPr>
        <p:spPr/>
        <p:txBody>
          <a:bodyPr/>
          <a:lstStyle/>
          <a:p>
            <a:r>
              <a:rPr lang="en-US" dirty="0"/>
              <a:t>Johnny Vogt</a:t>
            </a:r>
          </a:p>
          <a:p>
            <a:r>
              <a:rPr lang="en-US" dirty="0"/>
              <a:t>DS6371</a:t>
            </a:r>
          </a:p>
        </p:txBody>
      </p:sp>
    </p:spTree>
    <p:extLst>
      <p:ext uri="{BB962C8B-B14F-4D97-AF65-F5344CB8AC3E}">
        <p14:creationId xmlns:p14="http://schemas.microsoft.com/office/powerpoint/2010/main" val="2775445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74C4-BF29-ECD4-458C-BF0417D638D8}"/>
              </a:ext>
            </a:extLst>
          </p:cNvPr>
          <p:cNvSpPr>
            <a:spLocks noGrp="1"/>
          </p:cNvSpPr>
          <p:nvPr>
            <p:ph type="title"/>
          </p:nvPr>
        </p:nvSpPr>
        <p:spPr/>
        <p:txBody>
          <a:bodyPr/>
          <a:lstStyle/>
          <a:p>
            <a:r>
              <a:rPr lang="en-US" dirty="0"/>
              <a:t>Quick Quiz Question</a:t>
            </a:r>
          </a:p>
        </p:txBody>
      </p:sp>
      <p:sp>
        <p:nvSpPr>
          <p:cNvPr id="3" name="Content Placeholder 2">
            <a:extLst>
              <a:ext uri="{FF2B5EF4-FFF2-40B4-BE49-F238E27FC236}">
                <a16:creationId xmlns:a16="http://schemas.microsoft.com/office/drawing/2014/main" id="{BF452C07-ED76-661B-46CF-F808AD985EBE}"/>
              </a:ext>
            </a:extLst>
          </p:cNvPr>
          <p:cNvSpPr>
            <a:spLocks noGrp="1"/>
          </p:cNvSpPr>
          <p:nvPr>
            <p:ph idx="1"/>
          </p:nvPr>
        </p:nvSpPr>
        <p:spPr/>
        <p:txBody>
          <a:bodyPr/>
          <a:lstStyle/>
          <a:p>
            <a:pPr marL="0" indent="0">
              <a:buNone/>
            </a:pPr>
            <a:r>
              <a:rPr lang="en-US" dirty="0"/>
              <a:t>1.B</a:t>
            </a:r>
          </a:p>
          <a:p>
            <a:pPr marL="0" indent="0">
              <a:buNone/>
            </a:pPr>
            <a:r>
              <a:rPr lang="en-US" dirty="0"/>
              <a:t>2. C</a:t>
            </a:r>
          </a:p>
          <a:p>
            <a:pPr marL="0" indent="0">
              <a:buNone/>
            </a:pPr>
            <a:r>
              <a:rPr lang="en-US" dirty="0"/>
              <a:t>3. C</a:t>
            </a:r>
          </a:p>
          <a:p>
            <a:pPr marL="0" indent="0">
              <a:buNone/>
            </a:pPr>
            <a:r>
              <a:rPr lang="en-US" dirty="0"/>
              <a:t>4. A statistic that is the probability of obtaining results as extreme or more extreme </a:t>
            </a:r>
            <a:r>
              <a:rPr lang="en-US" dirty="0" err="1"/>
              <a:t>th</a:t>
            </a:r>
            <a:r>
              <a:rPr lang="en-US" dirty="0"/>
              <a:t> was observed in a given study or experiment, assuming that the null hypothesis is true.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577314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C33CC-43BF-061C-1289-4ABD937D1279}"/>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B191488D-8F73-DC89-A06E-CC1B56153AA8}"/>
              </a:ext>
            </a:extLst>
          </p:cNvPr>
          <p:cNvSpPr>
            <a:spLocks noGrp="1"/>
          </p:cNvSpPr>
          <p:nvPr>
            <p:ph idx="1"/>
          </p:nvPr>
        </p:nvSpPr>
        <p:spPr/>
        <p:txBody>
          <a:bodyPr/>
          <a:lstStyle/>
          <a:p>
            <a:r>
              <a:rPr lang="en-US" dirty="0"/>
              <a:t>Yes, the study is statistically significant, given the 95% confidence that the difference in means would lie between $1.23 and $1.63. Its extremely unlikely that the difference in means would equal to $0, meaning that the new marketing strategy would retain a profit per day. The study is not practical after learning that the new strategy would cost $5 per day. The problem lies in the fact that it’s very unlikely that the profit would </a:t>
            </a:r>
            <a:r>
              <a:rPr lang="en-US" dirty="0" err="1"/>
              <a:t>exceen</a:t>
            </a:r>
            <a:r>
              <a:rPr lang="en-US" dirty="0"/>
              <a:t> $5 per day consistently enough to make this decision to start the new marketing </a:t>
            </a:r>
            <a:r>
              <a:rPr lang="en-US" dirty="0" err="1"/>
              <a:t>stregy</a:t>
            </a:r>
            <a:r>
              <a:rPr lang="en-US" dirty="0"/>
              <a:t>. prudent and wise. </a:t>
            </a:r>
          </a:p>
          <a:p>
            <a:endParaRPr lang="en-US" dirty="0"/>
          </a:p>
        </p:txBody>
      </p:sp>
    </p:spTree>
    <p:extLst>
      <p:ext uri="{BB962C8B-B14F-4D97-AF65-F5344CB8AC3E}">
        <p14:creationId xmlns:p14="http://schemas.microsoft.com/office/powerpoint/2010/main" val="3247795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A540B-C206-6807-03D9-CAB2350B89D9}"/>
              </a:ext>
            </a:extLst>
          </p:cNvPr>
          <p:cNvSpPr>
            <a:spLocks noGrp="1"/>
          </p:cNvSpPr>
          <p:nvPr>
            <p:ph type="title"/>
          </p:nvPr>
        </p:nvSpPr>
        <p:spPr/>
        <p:txBody>
          <a:bodyPr/>
          <a:lstStyle/>
          <a:p>
            <a:r>
              <a:rPr lang="en-US" dirty="0"/>
              <a:t>Question 3</a:t>
            </a:r>
            <a:br>
              <a:rPr lang="en-US" dirty="0"/>
            </a:br>
            <a:endParaRPr lang="en-US" dirty="0"/>
          </a:p>
        </p:txBody>
      </p:sp>
      <p:sp>
        <p:nvSpPr>
          <p:cNvPr id="3" name="Content Placeholder 2">
            <a:extLst>
              <a:ext uri="{FF2B5EF4-FFF2-40B4-BE49-F238E27FC236}">
                <a16:creationId xmlns:a16="http://schemas.microsoft.com/office/drawing/2014/main" id="{8DB2AFB4-7A0D-B494-4D53-2C86755AE941}"/>
              </a:ext>
            </a:extLst>
          </p:cNvPr>
          <p:cNvSpPr>
            <a:spLocks noGrp="1"/>
          </p:cNvSpPr>
          <p:nvPr>
            <p:ph idx="1"/>
          </p:nvPr>
        </p:nvSpPr>
        <p:spPr/>
        <p:txBody>
          <a:bodyPr>
            <a:normAutofit fontScale="85000" lnSpcReduction="20000"/>
          </a:bodyPr>
          <a:lstStyle/>
          <a:p>
            <a:r>
              <a:rPr lang="en-US" b="1" dirty="0"/>
              <a:t>8.013 </a:t>
            </a:r>
          </a:p>
          <a:p>
            <a:r>
              <a:rPr lang="en-US" b="1" dirty="0"/>
              <a:t>6 and 10</a:t>
            </a:r>
          </a:p>
          <a:p>
            <a:r>
              <a:rPr lang="en-US" b="1" dirty="0"/>
              <a:t>Standard Deviation of 500 : .696 </a:t>
            </a:r>
          </a:p>
          <a:p>
            <a:r>
              <a:rPr lang="en-US" b="1" dirty="0"/>
              <a:t>The shape show s a normal distribution, which is a bell shape. It’s very narrow as it should be as you gather means of means. </a:t>
            </a:r>
          </a:p>
          <a:p>
            <a:r>
              <a:rPr lang="en-US" b="1" dirty="0"/>
              <a:t>Different Samples </a:t>
            </a:r>
          </a:p>
          <a:p>
            <a:pPr lvl="1"/>
            <a:r>
              <a:rPr lang="en-US" b="1" dirty="0"/>
              <a:t>Mean : 7.998 SD: .475 </a:t>
            </a:r>
          </a:p>
          <a:p>
            <a:pPr lvl="1"/>
            <a:r>
              <a:rPr lang="en-US" b="1" dirty="0"/>
              <a:t>Mean: 8.050 SD: 1.111 </a:t>
            </a:r>
          </a:p>
          <a:p>
            <a:pPr lvl="1"/>
            <a:r>
              <a:rPr lang="en-US" b="1" dirty="0"/>
              <a:t>Mean:7.999 SD .224 </a:t>
            </a:r>
          </a:p>
          <a:p>
            <a:r>
              <a:rPr lang="en-US" b="1" dirty="0"/>
              <a:t>Shape of the distribution relative to the original population </a:t>
            </a:r>
          </a:p>
          <a:p>
            <a:pPr lvl="1"/>
            <a:r>
              <a:rPr lang="en-US" b="1" dirty="0"/>
              <a:t>A lot Skinnier, buts holds a small semblance of the shape </a:t>
            </a:r>
          </a:p>
          <a:p>
            <a:pPr lvl="1"/>
            <a:r>
              <a:rPr lang="en-US" b="1" dirty="0"/>
              <a:t>Still just as skinny, arguably more skinny </a:t>
            </a:r>
          </a:p>
          <a:p>
            <a:pPr lvl="1"/>
            <a:r>
              <a:rPr lang="en-US" b="1" dirty="0"/>
              <a:t>Super </a:t>
            </a:r>
            <a:r>
              <a:rPr lang="en-US" b="1" dirty="0" err="1"/>
              <a:t>Skinnye</a:t>
            </a:r>
            <a:r>
              <a:rPr lang="en-US" b="1" dirty="0"/>
              <a:t> </a:t>
            </a:r>
          </a:p>
          <a:p>
            <a:endParaRPr lang="en-US" dirty="0"/>
          </a:p>
        </p:txBody>
      </p:sp>
    </p:spTree>
    <p:extLst>
      <p:ext uri="{BB962C8B-B14F-4D97-AF65-F5344CB8AC3E}">
        <p14:creationId xmlns:p14="http://schemas.microsoft.com/office/powerpoint/2010/main" val="2206370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5A5B-6918-E6E6-02F5-C4501339A75A}"/>
              </a:ext>
            </a:extLst>
          </p:cNvPr>
          <p:cNvSpPr>
            <a:spLocks noGrp="1"/>
          </p:cNvSpPr>
          <p:nvPr>
            <p:ph type="title"/>
          </p:nvPr>
        </p:nvSpPr>
        <p:spPr/>
        <p:txBody>
          <a:bodyPr/>
          <a:lstStyle/>
          <a:p>
            <a:r>
              <a:rPr lang="en-US" dirty="0"/>
              <a:t>Question 3 Cont.</a:t>
            </a:r>
          </a:p>
        </p:txBody>
      </p:sp>
      <p:sp>
        <p:nvSpPr>
          <p:cNvPr id="3" name="Content Placeholder 2">
            <a:extLst>
              <a:ext uri="{FF2B5EF4-FFF2-40B4-BE49-F238E27FC236}">
                <a16:creationId xmlns:a16="http://schemas.microsoft.com/office/drawing/2014/main" id="{0A6D1442-1BEA-8BC5-D33E-CBA332FDF2C6}"/>
              </a:ext>
            </a:extLst>
          </p:cNvPr>
          <p:cNvSpPr>
            <a:spLocks noGrp="1"/>
          </p:cNvSpPr>
          <p:nvPr>
            <p:ph idx="1"/>
          </p:nvPr>
        </p:nvSpPr>
        <p:spPr/>
        <p:txBody>
          <a:bodyPr>
            <a:normAutofit lnSpcReduction="10000"/>
          </a:bodyPr>
          <a:lstStyle/>
          <a:p>
            <a:r>
              <a:rPr lang="en-US" b="1" dirty="0"/>
              <a:t>Standard Error of Means: .068 </a:t>
            </a:r>
          </a:p>
          <a:p>
            <a:pPr lvl="1"/>
            <a:r>
              <a:rPr lang="en-US" b="1" dirty="0"/>
              <a:t>.475, the SE is much lower </a:t>
            </a:r>
          </a:p>
          <a:p>
            <a:pPr lvl="1"/>
            <a:r>
              <a:rPr lang="en-US" b="1" dirty="0"/>
              <a:t>.343, it’s a bit closer </a:t>
            </a:r>
          </a:p>
          <a:p>
            <a:pPr lvl="1"/>
            <a:r>
              <a:rPr lang="en-US" b="1" dirty="0"/>
              <a:t>.224, a lot closer to it </a:t>
            </a:r>
          </a:p>
          <a:p>
            <a:r>
              <a:rPr lang="en-US" b="1" dirty="0"/>
              <a:t>AS the Sample size grows, the closer to the population Distribution</a:t>
            </a:r>
          </a:p>
          <a:p>
            <a:pPr lvl="1"/>
            <a:r>
              <a:rPr lang="en-US" b="1" dirty="0"/>
              <a:t>I would expect it to narrow even further </a:t>
            </a:r>
          </a:p>
          <a:p>
            <a:r>
              <a:rPr lang="en-US" b="1" dirty="0"/>
              <a:t>Yes, the pattern would continue. As the sample size grows the Sample will </a:t>
            </a:r>
            <a:r>
              <a:rPr lang="en-US" b="1" dirty="0" err="1"/>
              <a:t>resmple</a:t>
            </a:r>
            <a:r>
              <a:rPr lang="en-US" b="1" dirty="0"/>
              <a:t> closer to the population and the collection of sample means would get narrower towards the mean of the population</a:t>
            </a:r>
          </a:p>
          <a:p>
            <a:endParaRPr lang="en-US" dirty="0"/>
          </a:p>
        </p:txBody>
      </p:sp>
    </p:spTree>
    <p:extLst>
      <p:ext uri="{BB962C8B-B14F-4D97-AF65-F5344CB8AC3E}">
        <p14:creationId xmlns:p14="http://schemas.microsoft.com/office/powerpoint/2010/main" val="770997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9CAFD-F185-96D9-EF77-C6A50FDBB980}"/>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5E0889CD-590C-9722-FC8E-45996166E944}"/>
              </a:ext>
            </a:extLst>
          </p:cNvPr>
          <p:cNvSpPr>
            <a:spLocks noGrp="1"/>
          </p:cNvSpPr>
          <p:nvPr>
            <p:ph idx="1"/>
          </p:nvPr>
        </p:nvSpPr>
        <p:spPr/>
        <p:txBody>
          <a:bodyPr>
            <a:normAutofit fontScale="85000" lnSpcReduction="10000"/>
          </a:bodyPr>
          <a:lstStyle/>
          <a:p>
            <a:r>
              <a:rPr lang="en-US" dirty="0"/>
              <a:t>First Example: I probably need some more explanation between what the standard deviation and the Margin of Error for the Confidence Level. I had gotten a bit confused because one was about the spread of the population distribution and the other was the </a:t>
            </a:r>
            <a:r>
              <a:rPr lang="en-US" dirty="0" err="1"/>
              <a:t>liklihood</a:t>
            </a:r>
            <a:r>
              <a:rPr lang="en-US" dirty="0"/>
              <a:t> of where the TRUE mean would fall, but going over a bit would be nice.</a:t>
            </a:r>
          </a:p>
          <a:p>
            <a:pPr lvl="1"/>
            <a:r>
              <a:rPr lang="en-US" dirty="0"/>
              <a:t>Sample Ages: 25, 19, 37, 29, 40, 28, 31</a:t>
            </a:r>
          </a:p>
          <a:p>
            <a:pPr lvl="2"/>
            <a:r>
              <a:rPr lang="en-US" dirty="0"/>
              <a:t>n = 7</a:t>
            </a:r>
          </a:p>
          <a:p>
            <a:pPr lvl="2"/>
            <a:r>
              <a:rPr lang="en-US" dirty="0"/>
              <a:t>Mean 29.86</a:t>
            </a:r>
          </a:p>
          <a:p>
            <a:pPr lvl="1"/>
            <a:r>
              <a:rPr lang="en-US" dirty="0" err="1"/>
              <a:t>Popluation</a:t>
            </a:r>
            <a:r>
              <a:rPr lang="en-US" dirty="0"/>
              <a:t> Standard Deviation: ?</a:t>
            </a:r>
          </a:p>
          <a:p>
            <a:pPr lvl="2"/>
            <a:r>
              <a:rPr lang="en-US" dirty="0"/>
              <a:t>S=7.08</a:t>
            </a:r>
          </a:p>
          <a:p>
            <a:pPr lvl="1"/>
            <a:r>
              <a:rPr lang="en-US" dirty="0"/>
              <a:t>T critical value: 2.447</a:t>
            </a:r>
          </a:p>
          <a:p>
            <a:pPr lvl="1"/>
            <a:endParaRPr lang="en-US" dirty="0"/>
          </a:p>
          <a:p>
            <a:r>
              <a:rPr lang="en-US" dirty="0"/>
              <a:t>When </a:t>
            </a:r>
            <a:r>
              <a:rPr lang="en-US" dirty="0" err="1"/>
              <a:t>th</a:t>
            </a:r>
            <a:r>
              <a:rPr lang="en-US" dirty="0"/>
              <a:t> example changed it up from t to z, the margin of Error, shrunk, since we could confidently </a:t>
            </a:r>
            <a:r>
              <a:rPr lang="en-US" dirty="0" err="1"/>
              <a:t>calulate</a:t>
            </a:r>
            <a:r>
              <a:rPr lang="en-US" dirty="0"/>
              <a:t> values with a true standard deviation. </a:t>
            </a:r>
          </a:p>
        </p:txBody>
      </p:sp>
    </p:spTree>
    <p:extLst>
      <p:ext uri="{BB962C8B-B14F-4D97-AF65-F5344CB8AC3E}">
        <p14:creationId xmlns:p14="http://schemas.microsoft.com/office/powerpoint/2010/main" val="1260249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01F6C-FAE6-41B1-43D7-524C791F0EE7}"/>
              </a:ext>
            </a:extLst>
          </p:cNvPr>
          <p:cNvSpPr>
            <a:spLocks noGrp="1"/>
          </p:cNvSpPr>
          <p:nvPr>
            <p:ph type="title"/>
          </p:nvPr>
        </p:nvSpPr>
        <p:spPr/>
        <p:txBody>
          <a:bodyPr/>
          <a:lstStyle/>
          <a:p>
            <a:r>
              <a:rPr lang="en-US" dirty="0"/>
              <a:t>Question 5: </a:t>
            </a:r>
            <a:r>
              <a:rPr lang="en-US" sz="4000" dirty="0"/>
              <a:t>American Samoa Government Suit</a:t>
            </a:r>
            <a:endParaRPr lang="en-US" dirty="0"/>
          </a:p>
        </p:txBody>
      </p:sp>
      <p:sp>
        <p:nvSpPr>
          <p:cNvPr id="3" name="Content Placeholder 2">
            <a:extLst>
              <a:ext uri="{FF2B5EF4-FFF2-40B4-BE49-F238E27FC236}">
                <a16:creationId xmlns:a16="http://schemas.microsoft.com/office/drawing/2014/main" id="{372D78B7-4495-114C-4048-175CF7403C18}"/>
              </a:ext>
            </a:extLst>
          </p:cNvPr>
          <p:cNvSpPr>
            <a:spLocks noGrp="1"/>
          </p:cNvSpPr>
          <p:nvPr>
            <p:ph idx="1"/>
          </p:nvPr>
        </p:nvSpPr>
        <p:spPr>
          <a:xfrm>
            <a:off x="838200" y="1825625"/>
            <a:ext cx="5848350" cy="4351338"/>
          </a:xfrm>
        </p:spPr>
        <p:txBody>
          <a:bodyPr>
            <a:normAutofit fontScale="70000" lnSpcReduction="20000"/>
          </a:bodyPr>
          <a:lstStyle/>
          <a:p>
            <a:r>
              <a:rPr lang="en-US" dirty="0"/>
              <a:t>Permutation:</a:t>
            </a:r>
          </a:p>
          <a:p>
            <a:pPr lvl="1"/>
            <a:r>
              <a:rPr lang="en-US" dirty="0"/>
              <a:t>Only 257 of 1000 permutations would fit within a 95 % Confidence Level</a:t>
            </a:r>
          </a:p>
          <a:p>
            <a:pPr lvl="1"/>
            <a:r>
              <a:rPr lang="en-US" dirty="0"/>
              <a:t>H0:</a:t>
            </a:r>
            <a:r>
              <a:rPr lang="en-US" dirty="0">
                <a:latin typeface="Aptos Narrow" panose="020B0004020202020204" pitchFamily="34" charset="0"/>
              </a:rPr>
              <a:t>μ1 – μ2 = 0</a:t>
            </a:r>
          </a:p>
          <a:p>
            <a:pPr lvl="1"/>
            <a:r>
              <a:rPr lang="en-US" dirty="0">
                <a:latin typeface="Aptos Narrow" panose="020B0004020202020204" pitchFamily="34" charset="0"/>
              </a:rPr>
              <a:t>Ha: μ1 – μ2 ≠ 0</a:t>
            </a:r>
            <a:endParaRPr lang="en-US" dirty="0"/>
          </a:p>
          <a:p>
            <a:pPr lvl="1"/>
            <a:r>
              <a:rPr lang="en-US" dirty="0" err="1"/>
              <a:t>Pvalue</a:t>
            </a:r>
            <a:r>
              <a:rPr lang="en-US" dirty="0"/>
              <a:t>: .257</a:t>
            </a:r>
          </a:p>
          <a:p>
            <a:pPr lvl="1"/>
            <a:r>
              <a:rPr lang="en-US" dirty="0"/>
              <a:t>Given that this is a random sample of fired/not fired employees of the American Samoa Government. We should be able to generalize this sample to a larger population, if we are to assume that the sample was created in a situation where each individual of the American Samoa Government had an equal chance of being in the sample. </a:t>
            </a:r>
          </a:p>
          <a:p>
            <a:pPr lvl="1"/>
            <a:r>
              <a:rPr lang="en-US" dirty="0"/>
              <a:t>Conclusively, given this sample, we are unable to determine that the null Hypothesis is false. The P-Value of the study is .257, demonstrating that the probability of achieving a statistic that is more extreme than this value is roughly 26%. This value is not low enough for us to assume that the difference in population means is different than 0. </a:t>
            </a:r>
          </a:p>
          <a:p>
            <a:pPr lvl="1"/>
            <a:endParaRPr lang="en-US" dirty="0"/>
          </a:p>
          <a:p>
            <a:pPr lvl="1"/>
            <a:endParaRPr lang="en-US" dirty="0"/>
          </a:p>
          <a:p>
            <a:endParaRPr lang="en-US" dirty="0"/>
          </a:p>
        </p:txBody>
      </p:sp>
      <p:pic>
        <p:nvPicPr>
          <p:cNvPr id="5" name="Picture 4">
            <a:extLst>
              <a:ext uri="{FF2B5EF4-FFF2-40B4-BE49-F238E27FC236}">
                <a16:creationId xmlns:a16="http://schemas.microsoft.com/office/drawing/2014/main" id="{3703C337-47AF-9794-F663-EE5486CD3ABA}"/>
              </a:ext>
            </a:extLst>
          </p:cNvPr>
          <p:cNvPicPr>
            <a:picLocks noChangeAspect="1"/>
          </p:cNvPicPr>
          <p:nvPr/>
        </p:nvPicPr>
        <p:blipFill>
          <a:blip r:embed="rId2"/>
          <a:stretch>
            <a:fillRect/>
          </a:stretch>
        </p:blipFill>
        <p:spPr>
          <a:xfrm>
            <a:off x="7077896" y="1825625"/>
            <a:ext cx="4275904" cy="2588725"/>
          </a:xfrm>
          <a:prstGeom prst="rect">
            <a:avLst/>
          </a:prstGeom>
        </p:spPr>
      </p:pic>
    </p:spTree>
    <p:extLst>
      <p:ext uri="{BB962C8B-B14F-4D97-AF65-F5344CB8AC3E}">
        <p14:creationId xmlns:p14="http://schemas.microsoft.com/office/powerpoint/2010/main" val="3588502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289C3C-BA79-9060-0E14-F7F201C95413}"/>
              </a:ext>
            </a:extLst>
          </p:cNvPr>
          <p:cNvPicPr>
            <a:picLocks noChangeAspect="1"/>
          </p:cNvPicPr>
          <p:nvPr/>
        </p:nvPicPr>
        <p:blipFill>
          <a:blip r:embed="rId2"/>
          <a:stretch>
            <a:fillRect/>
          </a:stretch>
        </p:blipFill>
        <p:spPr>
          <a:xfrm>
            <a:off x="5742792" y="1823430"/>
            <a:ext cx="5611008" cy="4353533"/>
          </a:xfrm>
          <a:prstGeom prst="rect">
            <a:avLst/>
          </a:prstGeom>
        </p:spPr>
      </p:pic>
      <p:sp>
        <p:nvSpPr>
          <p:cNvPr id="2" name="Title 1">
            <a:extLst>
              <a:ext uri="{FF2B5EF4-FFF2-40B4-BE49-F238E27FC236}">
                <a16:creationId xmlns:a16="http://schemas.microsoft.com/office/drawing/2014/main" id="{0CDC2982-576B-4874-7639-E910FCFB0F13}"/>
              </a:ext>
            </a:extLst>
          </p:cNvPr>
          <p:cNvSpPr>
            <a:spLocks noGrp="1"/>
          </p:cNvSpPr>
          <p:nvPr>
            <p:ph type="title"/>
          </p:nvPr>
        </p:nvSpPr>
        <p:spPr/>
        <p:txBody>
          <a:bodyPr/>
          <a:lstStyle/>
          <a:p>
            <a:r>
              <a:rPr lang="en-US" dirty="0"/>
              <a:t>Question 5: 2 Sample Test Hypothesis Test</a:t>
            </a:r>
          </a:p>
        </p:txBody>
      </p:sp>
      <p:sp>
        <p:nvSpPr>
          <p:cNvPr id="3" name="Content Placeholder 2">
            <a:extLst>
              <a:ext uri="{FF2B5EF4-FFF2-40B4-BE49-F238E27FC236}">
                <a16:creationId xmlns:a16="http://schemas.microsoft.com/office/drawing/2014/main" id="{8B13C141-773E-3776-B99B-4638B3BC70AB}"/>
              </a:ext>
            </a:extLst>
          </p:cNvPr>
          <p:cNvSpPr>
            <a:spLocks noGrp="1"/>
          </p:cNvSpPr>
          <p:nvPr>
            <p:ph idx="1"/>
          </p:nvPr>
        </p:nvSpPr>
        <p:spPr>
          <a:xfrm>
            <a:off x="838200" y="1825625"/>
            <a:ext cx="5498592" cy="4351338"/>
          </a:xfrm>
        </p:spPr>
        <p:txBody>
          <a:bodyPr>
            <a:normAutofit fontScale="77500" lnSpcReduction="20000"/>
          </a:bodyPr>
          <a:lstStyle/>
          <a:p>
            <a:pPr marL="514350" indent="-514350">
              <a:buFont typeface="+mj-lt"/>
              <a:buAutoNum type="arabicPeriod"/>
            </a:pPr>
            <a:r>
              <a:rPr lang="en-US" dirty="0"/>
              <a:t>H0:</a:t>
            </a:r>
            <a:r>
              <a:rPr lang="en-US" dirty="0">
                <a:latin typeface="Aptos Narrow" panose="020B0004020202020204" pitchFamily="34" charset="0"/>
              </a:rPr>
              <a:t>μ1 – μ2 = 0and Ha: μ1 – μ2 ≠ 0</a:t>
            </a:r>
            <a:endParaRPr lang="en-US" dirty="0"/>
          </a:p>
          <a:p>
            <a:pPr marL="514350" indent="-514350">
              <a:buFont typeface="+mj-lt"/>
              <a:buAutoNum type="arabicPeriod"/>
            </a:pPr>
            <a:r>
              <a:rPr lang="en-US" dirty="0"/>
              <a:t>Significance Level: .05</a:t>
            </a:r>
          </a:p>
          <a:p>
            <a:pPr marL="971550" lvl="1" indent="-514350">
              <a:buFont typeface="+mj-lt"/>
              <a:buAutoNum type="arabicPeriod"/>
            </a:pPr>
            <a:r>
              <a:rPr lang="en-US" dirty="0"/>
              <a:t>Critical Values: (-5.4413, 1.5936)</a:t>
            </a:r>
          </a:p>
          <a:p>
            <a:pPr marL="514350" indent="-514350">
              <a:buFont typeface="+mj-lt"/>
              <a:buAutoNum type="arabicPeriod"/>
            </a:pPr>
            <a:r>
              <a:rPr lang="en-US" dirty="0"/>
              <a:t>T-Stat: -1.10</a:t>
            </a:r>
          </a:p>
          <a:p>
            <a:pPr marL="514350" indent="-514350">
              <a:buFont typeface="+mj-lt"/>
              <a:buAutoNum type="arabicPeriod"/>
            </a:pPr>
            <a:r>
              <a:rPr lang="en-US" dirty="0"/>
              <a:t>P-Value: .2771</a:t>
            </a:r>
          </a:p>
          <a:p>
            <a:pPr marL="514350" indent="-514350">
              <a:buFont typeface="+mj-lt"/>
              <a:buAutoNum type="arabicPeriod"/>
            </a:pPr>
            <a:r>
              <a:rPr lang="en-US" dirty="0"/>
              <a:t>Fail to Reject H0</a:t>
            </a:r>
          </a:p>
          <a:p>
            <a:pPr marL="514350" indent="-514350">
              <a:buFont typeface="+mj-lt"/>
              <a:buAutoNum type="arabicPeriod"/>
            </a:pPr>
            <a:r>
              <a:rPr lang="en-US" dirty="0"/>
              <a:t>Given the two samples and that the assumption of the null hypothesis is true, we’re 95% confident that difference in sample means would fall within the -5.4413 and 1.5936. This observation does not provide strong enough evidence for us to assume that the difference in mean age of fired and not fired employees are different than 0. </a:t>
            </a:r>
          </a:p>
        </p:txBody>
      </p:sp>
    </p:spTree>
    <p:extLst>
      <p:ext uri="{BB962C8B-B14F-4D97-AF65-F5344CB8AC3E}">
        <p14:creationId xmlns:p14="http://schemas.microsoft.com/office/powerpoint/2010/main" val="3588282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74C7C-10E9-09D8-82F7-DB9A7B1B9247}"/>
              </a:ext>
            </a:extLst>
          </p:cNvPr>
          <p:cNvSpPr>
            <a:spLocks noGrp="1"/>
          </p:cNvSpPr>
          <p:nvPr>
            <p:ph type="title"/>
          </p:nvPr>
        </p:nvSpPr>
        <p:spPr/>
        <p:txBody>
          <a:bodyPr/>
          <a:lstStyle/>
          <a:p>
            <a:r>
              <a:rPr lang="en-US" dirty="0"/>
              <a:t>Q5? More permutations results? I’ve got 257</a:t>
            </a:r>
          </a:p>
        </p:txBody>
      </p:sp>
      <p:pic>
        <p:nvPicPr>
          <p:cNvPr id="5" name="Content Placeholder 4">
            <a:extLst>
              <a:ext uri="{FF2B5EF4-FFF2-40B4-BE49-F238E27FC236}">
                <a16:creationId xmlns:a16="http://schemas.microsoft.com/office/drawing/2014/main" id="{55F0F21A-8C72-A1E2-8171-73C485A2EB75}"/>
              </a:ext>
            </a:extLst>
          </p:cNvPr>
          <p:cNvPicPr>
            <a:picLocks noGrp="1" noChangeAspect="1"/>
          </p:cNvPicPr>
          <p:nvPr>
            <p:ph idx="1"/>
          </p:nvPr>
        </p:nvPicPr>
        <p:blipFill>
          <a:blip r:embed="rId2"/>
          <a:stretch>
            <a:fillRect/>
          </a:stretch>
        </p:blipFill>
        <p:spPr>
          <a:xfrm>
            <a:off x="838200" y="1779905"/>
            <a:ext cx="2081074" cy="4351338"/>
          </a:xfrm>
        </p:spPr>
      </p:pic>
      <p:pic>
        <p:nvPicPr>
          <p:cNvPr id="7" name="Picture 6">
            <a:extLst>
              <a:ext uri="{FF2B5EF4-FFF2-40B4-BE49-F238E27FC236}">
                <a16:creationId xmlns:a16="http://schemas.microsoft.com/office/drawing/2014/main" id="{635BACF7-D146-62C2-59AA-D147F9DF2D79}"/>
              </a:ext>
            </a:extLst>
          </p:cNvPr>
          <p:cNvPicPr>
            <a:picLocks noChangeAspect="1"/>
          </p:cNvPicPr>
          <p:nvPr/>
        </p:nvPicPr>
        <p:blipFill>
          <a:blip r:embed="rId3"/>
          <a:stretch>
            <a:fillRect/>
          </a:stretch>
        </p:blipFill>
        <p:spPr>
          <a:xfrm>
            <a:off x="3090670" y="1779905"/>
            <a:ext cx="1807517" cy="4434359"/>
          </a:xfrm>
          <a:prstGeom prst="rect">
            <a:avLst/>
          </a:prstGeom>
        </p:spPr>
      </p:pic>
      <p:pic>
        <p:nvPicPr>
          <p:cNvPr id="9" name="Picture 8">
            <a:extLst>
              <a:ext uri="{FF2B5EF4-FFF2-40B4-BE49-F238E27FC236}">
                <a16:creationId xmlns:a16="http://schemas.microsoft.com/office/drawing/2014/main" id="{D281DF20-5640-9E97-B51D-E2883F8787F8}"/>
              </a:ext>
            </a:extLst>
          </p:cNvPr>
          <p:cNvPicPr>
            <a:picLocks noChangeAspect="1"/>
          </p:cNvPicPr>
          <p:nvPr/>
        </p:nvPicPr>
        <p:blipFill>
          <a:blip r:embed="rId4"/>
          <a:stretch>
            <a:fillRect/>
          </a:stretch>
        </p:blipFill>
        <p:spPr>
          <a:xfrm>
            <a:off x="5059034" y="1779905"/>
            <a:ext cx="2073931" cy="4920503"/>
          </a:xfrm>
          <a:prstGeom prst="rect">
            <a:avLst/>
          </a:prstGeom>
        </p:spPr>
      </p:pic>
      <p:pic>
        <p:nvPicPr>
          <p:cNvPr id="11" name="Picture 10">
            <a:extLst>
              <a:ext uri="{FF2B5EF4-FFF2-40B4-BE49-F238E27FC236}">
                <a16:creationId xmlns:a16="http://schemas.microsoft.com/office/drawing/2014/main" id="{FD62A827-BEC4-9038-79A2-F46C4F459776}"/>
              </a:ext>
            </a:extLst>
          </p:cNvPr>
          <p:cNvPicPr>
            <a:picLocks noChangeAspect="1"/>
          </p:cNvPicPr>
          <p:nvPr/>
        </p:nvPicPr>
        <p:blipFill>
          <a:blip r:embed="rId5"/>
          <a:stretch>
            <a:fillRect/>
          </a:stretch>
        </p:blipFill>
        <p:spPr>
          <a:xfrm>
            <a:off x="7450611" y="1879124"/>
            <a:ext cx="1797094" cy="4152900"/>
          </a:xfrm>
          <a:prstGeom prst="rect">
            <a:avLst/>
          </a:prstGeom>
        </p:spPr>
      </p:pic>
      <p:sp>
        <p:nvSpPr>
          <p:cNvPr id="12" name="TextBox 11">
            <a:extLst>
              <a:ext uri="{FF2B5EF4-FFF2-40B4-BE49-F238E27FC236}">
                <a16:creationId xmlns:a16="http://schemas.microsoft.com/office/drawing/2014/main" id="{46BEE48C-555E-58F7-0D20-21802778027B}"/>
              </a:ext>
            </a:extLst>
          </p:cNvPr>
          <p:cNvSpPr txBox="1"/>
          <p:nvPr/>
        </p:nvSpPr>
        <p:spPr>
          <a:xfrm>
            <a:off x="9610725" y="1690688"/>
            <a:ext cx="2257425" cy="646331"/>
          </a:xfrm>
          <a:prstGeom prst="rect">
            <a:avLst/>
          </a:prstGeom>
          <a:noFill/>
        </p:spPr>
        <p:txBody>
          <a:bodyPr wrap="square" rtlCol="0">
            <a:spAutoFit/>
          </a:bodyPr>
          <a:lstStyle/>
          <a:p>
            <a:r>
              <a:rPr lang="en-US" dirty="0"/>
              <a:t>95% Confidence Interval: -5.5 – 1.68</a:t>
            </a:r>
          </a:p>
        </p:txBody>
      </p:sp>
    </p:spTree>
    <p:extLst>
      <p:ext uri="{BB962C8B-B14F-4D97-AF65-F5344CB8AC3E}">
        <p14:creationId xmlns:p14="http://schemas.microsoft.com/office/powerpoint/2010/main" val="2729505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E440-BB7D-5645-BAB6-115D02A0B227}"/>
              </a:ext>
            </a:extLst>
          </p:cNvPr>
          <p:cNvSpPr>
            <a:spLocks noGrp="1"/>
          </p:cNvSpPr>
          <p:nvPr>
            <p:ph type="title"/>
          </p:nvPr>
        </p:nvSpPr>
        <p:spPr/>
        <p:txBody>
          <a:bodyPr/>
          <a:lstStyle/>
          <a:p>
            <a:r>
              <a:rPr lang="en-US" dirty="0"/>
              <a:t>Q5: E Calculate by hand</a:t>
            </a:r>
          </a:p>
        </p:txBody>
      </p:sp>
      <p:sp>
        <p:nvSpPr>
          <p:cNvPr id="3" name="Content Placeholder 2">
            <a:extLst>
              <a:ext uri="{FF2B5EF4-FFF2-40B4-BE49-F238E27FC236}">
                <a16:creationId xmlns:a16="http://schemas.microsoft.com/office/drawing/2014/main" id="{429286F1-6A87-DD9D-2D76-C131440E27DC}"/>
              </a:ext>
            </a:extLst>
          </p:cNvPr>
          <p:cNvSpPr>
            <a:spLocks noGrp="1"/>
          </p:cNvSpPr>
          <p:nvPr>
            <p:ph idx="1"/>
          </p:nvPr>
        </p:nvSpPr>
        <p:spPr>
          <a:xfrm>
            <a:off x="838200" y="1825625"/>
            <a:ext cx="5676900" cy="4351338"/>
          </a:xfrm>
        </p:spPr>
        <p:txBody>
          <a:bodyPr/>
          <a:lstStyle/>
          <a:p>
            <a:r>
              <a:rPr lang="en-US" dirty="0"/>
              <a:t>Pooled Standard Deviation</a:t>
            </a:r>
          </a:p>
          <a:p>
            <a:r>
              <a:rPr lang="en-US" dirty="0"/>
              <a:t>Standard Error of Difference in Sample Means</a:t>
            </a:r>
          </a:p>
          <a:p>
            <a:endParaRPr lang="en-US" dirty="0"/>
          </a:p>
        </p:txBody>
      </p:sp>
      <p:pic>
        <p:nvPicPr>
          <p:cNvPr id="5" name="Picture 4" descr="A close-up of a paper with writing&#10;&#10;AI-generated content may be incorrect.">
            <a:extLst>
              <a:ext uri="{FF2B5EF4-FFF2-40B4-BE49-F238E27FC236}">
                <a16:creationId xmlns:a16="http://schemas.microsoft.com/office/drawing/2014/main" id="{7B9243DD-F41C-E194-807C-8D0C56334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2359" y="22956"/>
            <a:ext cx="4284716" cy="3139344"/>
          </a:xfrm>
          <a:prstGeom prst="rect">
            <a:avLst/>
          </a:prstGeom>
        </p:spPr>
      </p:pic>
      <p:pic>
        <p:nvPicPr>
          <p:cNvPr id="7" name="Picture 6" descr="A paper with writing on it&#10;&#10;AI-generated content may be incorrect.">
            <a:extLst>
              <a:ext uri="{FF2B5EF4-FFF2-40B4-BE49-F238E27FC236}">
                <a16:creationId xmlns:a16="http://schemas.microsoft.com/office/drawing/2014/main" id="{ED4DDE3F-F8CD-55BC-0D67-CEF1EAD7C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359" y="3297237"/>
            <a:ext cx="4609324" cy="1277042"/>
          </a:xfrm>
          <a:prstGeom prst="rect">
            <a:avLst/>
          </a:prstGeom>
        </p:spPr>
      </p:pic>
    </p:spTree>
    <p:extLst>
      <p:ext uri="{BB962C8B-B14F-4D97-AF65-F5344CB8AC3E}">
        <p14:creationId xmlns:p14="http://schemas.microsoft.com/office/powerpoint/2010/main" val="2691145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4C3AC-6B93-0EBA-49DA-9A8E6B42E001}"/>
              </a:ext>
            </a:extLst>
          </p:cNvPr>
          <p:cNvSpPr>
            <a:spLocks noGrp="1"/>
          </p:cNvSpPr>
          <p:nvPr>
            <p:ph type="title"/>
          </p:nvPr>
        </p:nvSpPr>
        <p:spPr/>
        <p:txBody>
          <a:bodyPr/>
          <a:lstStyle/>
          <a:p>
            <a:r>
              <a:rPr lang="en-US" dirty="0"/>
              <a:t>R Code Comparison</a:t>
            </a:r>
          </a:p>
        </p:txBody>
      </p:sp>
      <p:pic>
        <p:nvPicPr>
          <p:cNvPr id="8" name="Content Placeholder 4">
            <a:extLst>
              <a:ext uri="{FF2B5EF4-FFF2-40B4-BE49-F238E27FC236}">
                <a16:creationId xmlns:a16="http://schemas.microsoft.com/office/drawing/2014/main" id="{54A10403-0266-FFDD-9DD2-40ED7E162E48}"/>
              </a:ext>
            </a:extLst>
          </p:cNvPr>
          <p:cNvPicPr>
            <a:picLocks noChangeAspect="1"/>
          </p:cNvPicPr>
          <p:nvPr/>
        </p:nvPicPr>
        <p:blipFill>
          <a:blip r:embed="rId2"/>
          <a:stretch>
            <a:fillRect/>
          </a:stretch>
        </p:blipFill>
        <p:spPr>
          <a:xfrm>
            <a:off x="6104675" y="1825625"/>
            <a:ext cx="6087325" cy="1819529"/>
          </a:xfrm>
          <a:prstGeom prst="rect">
            <a:avLst/>
          </a:prstGeom>
        </p:spPr>
      </p:pic>
      <p:pic>
        <p:nvPicPr>
          <p:cNvPr id="9" name="Content Placeholder 8">
            <a:extLst>
              <a:ext uri="{FF2B5EF4-FFF2-40B4-BE49-F238E27FC236}">
                <a16:creationId xmlns:a16="http://schemas.microsoft.com/office/drawing/2014/main" id="{33A9556A-24AA-EE9A-6215-0303651C78CD}"/>
              </a:ext>
            </a:extLst>
          </p:cNvPr>
          <p:cNvPicPr>
            <a:picLocks noGrp="1" noChangeAspect="1"/>
          </p:cNvPicPr>
          <p:nvPr>
            <p:ph idx="1"/>
          </p:nvPr>
        </p:nvPicPr>
        <p:blipFill>
          <a:blip r:embed="rId3"/>
          <a:stretch>
            <a:fillRect/>
          </a:stretch>
        </p:blipFill>
        <p:spPr>
          <a:xfrm>
            <a:off x="838200" y="1690688"/>
            <a:ext cx="5178425" cy="4017895"/>
          </a:xfrm>
          <a:prstGeom prst="rect">
            <a:avLst/>
          </a:prstGeom>
        </p:spPr>
      </p:pic>
    </p:spTree>
    <p:extLst>
      <p:ext uri="{BB962C8B-B14F-4D97-AF65-F5344CB8AC3E}">
        <p14:creationId xmlns:p14="http://schemas.microsoft.com/office/powerpoint/2010/main" val="60160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B91E1-EB48-960D-7937-33978943D03F}"/>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15588B59-F85D-0CF5-E171-4114DA6D0E09}"/>
              </a:ext>
            </a:extLst>
          </p:cNvPr>
          <p:cNvSpPr>
            <a:spLocks noGrp="1"/>
          </p:cNvSpPr>
          <p:nvPr>
            <p:ph idx="1"/>
          </p:nvPr>
        </p:nvSpPr>
        <p:spPr/>
        <p:txBody>
          <a:bodyPr/>
          <a:lstStyle/>
          <a:p>
            <a:r>
              <a:rPr lang="en-US" dirty="0"/>
              <a:t>I spent longer than I should’ve trying to find the difference between Standard Error and Standard Deviation</a:t>
            </a:r>
          </a:p>
          <a:p>
            <a:r>
              <a:rPr lang="en-US" dirty="0"/>
              <a:t>Is there a way to install SAS Locally, it timed out on me and lost my progress.</a:t>
            </a:r>
          </a:p>
          <a:p>
            <a:r>
              <a:rPr lang="en-US" dirty="0"/>
              <a:t>Hammering down on CLT and hypothesis testing, must be important</a:t>
            </a:r>
          </a:p>
          <a:p>
            <a:r>
              <a:rPr lang="en-US" dirty="0"/>
              <a:t>I wasn’t too sure what you wanted with Question 5, the one where the jury wanted more differences shown </a:t>
            </a:r>
            <a:r>
              <a:rPr lang="en-US"/>
              <a:t>to them.</a:t>
            </a:r>
            <a:endParaRPr lang="en-US" dirty="0"/>
          </a:p>
          <a:p>
            <a:endParaRPr lang="en-US" dirty="0"/>
          </a:p>
        </p:txBody>
      </p:sp>
    </p:spTree>
    <p:extLst>
      <p:ext uri="{BB962C8B-B14F-4D97-AF65-F5344CB8AC3E}">
        <p14:creationId xmlns:p14="http://schemas.microsoft.com/office/powerpoint/2010/main" val="3529138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2989</TotalTime>
  <Words>861</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Aptos Narrow</vt:lpstr>
      <vt:lpstr>Arial</vt:lpstr>
      <vt:lpstr>Office Theme</vt:lpstr>
      <vt:lpstr>FLS Unit 2</vt:lpstr>
      <vt:lpstr>Quick Quiz Question</vt:lpstr>
      <vt:lpstr>Question 2</vt:lpstr>
      <vt:lpstr>Question 3 </vt:lpstr>
      <vt:lpstr>Question 3 Cont.</vt:lpstr>
      <vt:lpstr>Question 4</vt:lpstr>
      <vt:lpstr>Question 5: American Samoa Government Suit</vt:lpstr>
      <vt:lpstr>Question 5: 2 Sample Test Hypothesis Test</vt:lpstr>
      <vt:lpstr>Q5? More permutations results? I’ve got 257</vt:lpstr>
      <vt:lpstr>Q5: E Calculate by hand</vt:lpstr>
      <vt:lpstr>R Code Comparison</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Vogt, Johnny</dc:creator>
  <cp:lastModifiedBy>Vogt, Johnny</cp:lastModifiedBy>
  <cp:revision>2</cp:revision>
  <dcterms:created xsi:type="dcterms:W3CDTF">2025-05-06T02:10:16Z</dcterms:created>
  <dcterms:modified xsi:type="dcterms:W3CDTF">2025-05-08T04:00:08Z</dcterms:modified>
</cp:coreProperties>
</file>