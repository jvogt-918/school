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67bf82328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67bf82328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67bf82328c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67bf82328c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67bf82328c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367bf82328c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67bf82328c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367bf82328c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67bf82328c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67bf82328c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67bf82328c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67bf82328c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67bf82328c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67bf82328c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67bf82328c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67bf82328c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67bf82328c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67bf82328c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8.png"/><Relationship Id="rId4" Type="http://schemas.openxmlformats.org/officeDocument/2006/relationships/image" Target="../media/image15.png"/><Relationship Id="rId5" Type="http://schemas.openxmlformats.org/officeDocument/2006/relationships/image" Target="../media/image13.png"/><Relationship Id="rId6"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11.png"/><Relationship Id="rId5"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16.png"/><Relationship Id="rId6"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10.png"/><Relationship Id="rId5" Type="http://schemas.openxmlformats.org/officeDocument/2006/relationships/image" Target="../media/image14.png"/><Relationship Id="rId6"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FLS Unit 7</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Johnny Vogt</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Quick Questions</a:t>
            </a:r>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lang="en"/>
              <a:t>B</a:t>
            </a:r>
            <a:endParaRPr/>
          </a:p>
          <a:p>
            <a:pPr indent="-342900" lvl="0" marL="457200" rtl="0" algn="l">
              <a:spcBef>
                <a:spcPts val="0"/>
              </a:spcBef>
              <a:spcAft>
                <a:spcPts val="0"/>
              </a:spcAft>
              <a:buSzPts val="1800"/>
              <a:buAutoNum type="arabicPeriod"/>
            </a:pPr>
            <a:r>
              <a:rPr lang="en"/>
              <a:t>D</a:t>
            </a:r>
            <a:endParaRPr/>
          </a:p>
          <a:p>
            <a:pPr indent="-342900" lvl="0" marL="457200" rtl="0" algn="l">
              <a:spcBef>
                <a:spcPts val="0"/>
              </a:spcBef>
              <a:spcAft>
                <a:spcPts val="0"/>
              </a:spcAft>
              <a:buSzPts val="1800"/>
              <a:buAutoNum type="arabicPeriod"/>
            </a:pPr>
            <a:r>
              <a:rPr lang="en"/>
              <a:t>C</a:t>
            </a:r>
            <a:endParaRPr/>
          </a:p>
          <a:p>
            <a:pPr indent="-342900" lvl="0" marL="457200" rtl="0" algn="l">
              <a:spcBef>
                <a:spcPts val="0"/>
              </a:spcBef>
              <a:spcAft>
                <a:spcPts val="0"/>
              </a:spcAft>
              <a:buSzPts val="1800"/>
              <a:buAutoNum type="arabicPeriod"/>
            </a:pPr>
            <a:r>
              <a:rPr lang="en"/>
              <a:t>C, I think?</a:t>
            </a:r>
            <a:endParaRPr/>
          </a:p>
          <a:p>
            <a:pPr indent="0" lvl="0" marL="0" rtl="0" algn="l">
              <a:spcBef>
                <a:spcPts val="1200"/>
              </a:spcBef>
              <a:spcAft>
                <a:spcPts val="12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Basketball vs Everyone else (1 by 1)</a:t>
            </a:r>
            <a:endParaRPr/>
          </a:p>
        </p:txBody>
      </p:sp>
      <p:pic>
        <p:nvPicPr>
          <p:cNvPr id="67" name="Google Shape;67;p15"/>
          <p:cNvPicPr preferRelativeResize="0"/>
          <p:nvPr/>
        </p:nvPicPr>
        <p:blipFill>
          <a:blip r:embed="rId3">
            <a:alphaModFix/>
          </a:blip>
          <a:stretch>
            <a:fillRect/>
          </a:stretch>
        </p:blipFill>
        <p:spPr>
          <a:xfrm>
            <a:off x="311701" y="1017725"/>
            <a:ext cx="4502775" cy="2744500"/>
          </a:xfrm>
          <a:prstGeom prst="rect">
            <a:avLst/>
          </a:prstGeom>
          <a:noFill/>
          <a:ln>
            <a:noFill/>
          </a:ln>
        </p:spPr>
      </p:pic>
      <p:pic>
        <p:nvPicPr>
          <p:cNvPr id="68" name="Google Shape;68;p15"/>
          <p:cNvPicPr preferRelativeResize="0"/>
          <p:nvPr/>
        </p:nvPicPr>
        <p:blipFill>
          <a:blip r:embed="rId4">
            <a:alphaModFix/>
          </a:blip>
          <a:stretch>
            <a:fillRect/>
          </a:stretch>
        </p:blipFill>
        <p:spPr>
          <a:xfrm>
            <a:off x="311700" y="3762225"/>
            <a:ext cx="3759861" cy="1076475"/>
          </a:xfrm>
          <a:prstGeom prst="rect">
            <a:avLst/>
          </a:prstGeom>
          <a:noFill/>
          <a:ln>
            <a:noFill/>
          </a:ln>
        </p:spPr>
      </p:pic>
      <p:pic>
        <p:nvPicPr>
          <p:cNvPr id="69" name="Google Shape;69;p15"/>
          <p:cNvPicPr preferRelativeResize="0"/>
          <p:nvPr/>
        </p:nvPicPr>
        <p:blipFill>
          <a:blip r:embed="rId5">
            <a:alphaModFix/>
          </a:blip>
          <a:stretch>
            <a:fillRect/>
          </a:stretch>
        </p:blipFill>
        <p:spPr>
          <a:xfrm>
            <a:off x="5409038" y="1061463"/>
            <a:ext cx="2657475" cy="1457325"/>
          </a:xfrm>
          <a:prstGeom prst="rect">
            <a:avLst/>
          </a:prstGeom>
          <a:noFill/>
          <a:ln>
            <a:noFill/>
          </a:ln>
        </p:spPr>
      </p:pic>
      <p:pic>
        <p:nvPicPr>
          <p:cNvPr id="70" name="Google Shape;70;p15"/>
          <p:cNvPicPr preferRelativeResize="0"/>
          <p:nvPr/>
        </p:nvPicPr>
        <p:blipFill>
          <a:blip r:embed="rId6">
            <a:alphaModFix/>
          </a:blip>
          <a:stretch>
            <a:fillRect/>
          </a:stretch>
        </p:blipFill>
        <p:spPr>
          <a:xfrm>
            <a:off x="5005601" y="2983038"/>
            <a:ext cx="4024724" cy="1198473"/>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6"/>
          <p:cNvSpPr txBox="1"/>
          <p:nvPr>
            <p:ph type="title"/>
          </p:nvPr>
        </p:nvSpPr>
        <p:spPr>
          <a:xfrm>
            <a:off x="311700" y="5154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Basketball vs 1 group</a:t>
            </a:r>
            <a:endParaRPr/>
          </a:p>
        </p:txBody>
      </p:sp>
      <p:pic>
        <p:nvPicPr>
          <p:cNvPr id="76" name="Google Shape;76;p16"/>
          <p:cNvPicPr preferRelativeResize="0"/>
          <p:nvPr/>
        </p:nvPicPr>
        <p:blipFill>
          <a:blip r:embed="rId3">
            <a:alphaModFix/>
          </a:blip>
          <a:stretch>
            <a:fillRect/>
          </a:stretch>
        </p:blipFill>
        <p:spPr>
          <a:xfrm>
            <a:off x="152400" y="1240550"/>
            <a:ext cx="4257675" cy="2085975"/>
          </a:xfrm>
          <a:prstGeom prst="rect">
            <a:avLst/>
          </a:prstGeom>
          <a:noFill/>
          <a:ln>
            <a:noFill/>
          </a:ln>
        </p:spPr>
      </p:pic>
      <p:pic>
        <p:nvPicPr>
          <p:cNvPr id="77" name="Google Shape;77;p16"/>
          <p:cNvPicPr preferRelativeResize="0"/>
          <p:nvPr/>
        </p:nvPicPr>
        <p:blipFill>
          <a:blip r:embed="rId4">
            <a:alphaModFix/>
          </a:blip>
          <a:stretch>
            <a:fillRect/>
          </a:stretch>
        </p:blipFill>
        <p:spPr>
          <a:xfrm>
            <a:off x="4653025" y="1139950"/>
            <a:ext cx="3352800" cy="1181100"/>
          </a:xfrm>
          <a:prstGeom prst="rect">
            <a:avLst/>
          </a:prstGeom>
          <a:noFill/>
          <a:ln>
            <a:noFill/>
          </a:ln>
        </p:spPr>
      </p:pic>
      <p:pic>
        <p:nvPicPr>
          <p:cNvPr id="78" name="Google Shape;78;p16"/>
          <p:cNvPicPr preferRelativeResize="0"/>
          <p:nvPr/>
        </p:nvPicPr>
        <p:blipFill>
          <a:blip r:embed="rId5">
            <a:alphaModFix/>
          </a:blip>
          <a:stretch>
            <a:fillRect/>
          </a:stretch>
        </p:blipFill>
        <p:spPr>
          <a:xfrm>
            <a:off x="4713375" y="2372850"/>
            <a:ext cx="4225766" cy="25176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Basketball vs the world (Average) Conclusion</a:t>
            </a:r>
            <a:endParaRPr/>
          </a:p>
        </p:txBody>
      </p:sp>
      <p:sp>
        <p:nvSpPr>
          <p:cNvPr id="84" name="Google Shape;84;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We are 95% confident that the true </a:t>
            </a:r>
            <a:r>
              <a:rPr lang="en"/>
              <a:t>difference in mean height between basketball players and players from other sports lies between 6.49 and 10.99 Inches. At a p-value of .001, the evidence suggests there the height of basketball players are substantially differ from the average of all the other sports combine.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Let’s perform a Tukey’s</a:t>
            </a:r>
            <a:endParaRPr/>
          </a:p>
          <a:p>
            <a:pPr indent="0" lvl="0" marL="0" rtl="0" algn="l">
              <a:spcBef>
                <a:spcPts val="0"/>
              </a:spcBef>
              <a:spcAft>
                <a:spcPts val="0"/>
              </a:spcAft>
              <a:buNone/>
            </a:pPr>
            <a:r>
              <a:rPr lang="en"/>
              <a:t>Or maybe a Bonferroni</a:t>
            </a:r>
            <a:endParaRPr/>
          </a:p>
        </p:txBody>
      </p:sp>
      <p:sp>
        <p:nvSpPr>
          <p:cNvPr id="90" name="Google Shape;90;p18"/>
          <p:cNvSpPr txBox="1"/>
          <p:nvPr>
            <p:ph idx="1" type="body"/>
          </p:nvPr>
        </p:nvSpPr>
        <p:spPr>
          <a:xfrm>
            <a:off x="311700" y="1317775"/>
            <a:ext cx="4865400" cy="3251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And the same it agrees with the Extra Sum of Squares test . Basketball’s mean height is different from every other sport’s height. Even the Confidence Limits for the Basketball sport is above the range of every other sport’s Confidence limit. </a:t>
            </a:r>
            <a:endParaRPr/>
          </a:p>
        </p:txBody>
      </p:sp>
      <p:pic>
        <p:nvPicPr>
          <p:cNvPr id="91" name="Google Shape;91;p18"/>
          <p:cNvPicPr preferRelativeResize="0"/>
          <p:nvPr/>
        </p:nvPicPr>
        <p:blipFill>
          <a:blip r:embed="rId3">
            <a:alphaModFix/>
          </a:blip>
          <a:stretch>
            <a:fillRect/>
          </a:stretch>
        </p:blipFill>
        <p:spPr>
          <a:xfrm>
            <a:off x="5177075" y="34862"/>
            <a:ext cx="3655232" cy="50737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Bonferroni and the Handicap</a:t>
            </a:r>
            <a:endParaRPr/>
          </a:p>
        </p:txBody>
      </p:sp>
      <p:sp>
        <p:nvSpPr>
          <p:cNvPr id="97" name="Google Shape;97;p19"/>
          <p:cNvSpPr txBox="1"/>
          <p:nvPr>
            <p:ph idx="1" type="body"/>
          </p:nvPr>
        </p:nvSpPr>
        <p:spPr>
          <a:xfrm>
            <a:off x="311700" y="1152475"/>
            <a:ext cx="2635800" cy="14193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Conclusion next page</a:t>
            </a:r>
            <a:endParaRPr/>
          </a:p>
        </p:txBody>
      </p:sp>
      <p:pic>
        <p:nvPicPr>
          <p:cNvPr id="98" name="Google Shape;98;p19"/>
          <p:cNvPicPr preferRelativeResize="0"/>
          <p:nvPr/>
        </p:nvPicPr>
        <p:blipFill>
          <a:blip r:embed="rId3">
            <a:alphaModFix/>
          </a:blip>
          <a:stretch>
            <a:fillRect/>
          </a:stretch>
        </p:blipFill>
        <p:spPr>
          <a:xfrm>
            <a:off x="5748988" y="2979775"/>
            <a:ext cx="2752725" cy="1733550"/>
          </a:xfrm>
          <a:prstGeom prst="rect">
            <a:avLst/>
          </a:prstGeom>
          <a:noFill/>
          <a:ln>
            <a:noFill/>
          </a:ln>
        </p:spPr>
      </p:pic>
      <p:pic>
        <p:nvPicPr>
          <p:cNvPr id="99" name="Google Shape;99;p19"/>
          <p:cNvPicPr preferRelativeResize="0"/>
          <p:nvPr/>
        </p:nvPicPr>
        <p:blipFill>
          <a:blip r:embed="rId4">
            <a:alphaModFix/>
          </a:blip>
          <a:stretch>
            <a:fillRect/>
          </a:stretch>
        </p:blipFill>
        <p:spPr>
          <a:xfrm>
            <a:off x="5749000" y="1017713"/>
            <a:ext cx="2609850" cy="1914525"/>
          </a:xfrm>
          <a:prstGeom prst="rect">
            <a:avLst/>
          </a:prstGeom>
          <a:noFill/>
          <a:ln>
            <a:noFill/>
          </a:ln>
        </p:spPr>
      </p:pic>
      <p:pic>
        <p:nvPicPr>
          <p:cNvPr id="100" name="Google Shape;100;p19"/>
          <p:cNvPicPr preferRelativeResize="0"/>
          <p:nvPr/>
        </p:nvPicPr>
        <p:blipFill>
          <a:blip r:embed="rId5">
            <a:alphaModFix/>
          </a:blip>
          <a:stretch>
            <a:fillRect/>
          </a:stretch>
        </p:blipFill>
        <p:spPr>
          <a:xfrm>
            <a:off x="336100" y="2624275"/>
            <a:ext cx="3454646" cy="1914525"/>
          </a:xfrm>
          <a:prstGeom prst="rect">
            <a:avLst/>
          </a:prstGeom>
          <a:noFill/>
          <a:ln>
            <a:noFill/>
          </a:ln>
        </p:spPr>
      </p:pic>
      <p:pic>
        <p:nvPicPr>
          <p:cNvPr id="101" name="Google Shape;101;p19"/>
          <p:cNvPicPr preferRelativeResize="0"/>
          <p:nvPr/>
        </p:nvPicPr>
        <p:blipFill>
          <a:blip r:embed="rId6">
            <a:alphaModFix/>
          </a:blip>
          <a:stretch>
            <a:fillRect/>
          </a:stretch>
        </p:blipFill>
        <p:spPr>
          <a:xfrm>
            <a:off x="3082225" y="887475"/>
            <a:ext cx="2898375" cy="19911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JK JK, Turns out “order = data” is very important</a:t>
            </a:r>
            <a:endParaRPr/>
          </a:p>
        </p:txBody>
      </p:sp>
      <p:sp>
        <p:nvSpPr>
          <p:cNvPr id="107" name="Google Shape;107;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08" name="Google Shape;108;p20"/>
          <p:cNvPicPr preferRelativeResize="0"/>
          <p:nvPr/>
        </p:nvPicPr>
        <p:blipFill>
          <a:blip r:embed="rId3">
            <a:alphaModFix/>
          </a:blip>
          <a:stretch>
            <a:fillRect/>
          </a:stretch>
        </p:blipFill>
        <p:spPr>
          <a:xfrm>
            <a:off x="311688" y="1152475"/>
            <a:ext cx="3095625" cy="1752600"/>
          </a:xfrm>
          <a:prstGeom prst="rect">
            <a:avLst/>
          </a:prstGeom>
          <a:noFill/>
          <a:ln>
            <a:noFill/>
          </a:ln>
        </p:spPr>
      </p:pic>
      <p:pic>
        <p:nvPicPr>
          <p:cNvPr id="109" name="Google Shape;109;p20"/>
          <p:cNvPicPr preferRelativeResize="0"/>
          <p:nvPr/>
        </p:nvPicPr>
        <p:blipFill>
          <a:blip r:embed="rId4">
            <a:alphaModFix/>
          </a:blip>
          <a:stretch>
            <a:fillRect/>
          </a:stretch>
        </p:blipFill>
        <p:spPr>
          <a:xfrm>
            <a:off x="3091700" y="1276288"/>
            <a:ext cx="3333750" cy="1628775"/>
          </a:xfrm>
          <a:prstGeom prst="rect">
            <a:avLst/>
          </a:prstGeom>
          <a:noFill/>
          <a:ln>
            <a:noFill/>
          </a:ln>
        </p:spPr>
      </p:pic>
      <p:pic>
        <p:nvPicPr>
          <p:cNvPr id="110" name="Google Shape;110;p20"/>
          <p:cNvPicPr preferRelativeResize="0"/>
          <p:nvPr/>
        </p:nvPicPr>
        <p:blipFill>
          <a:blip r:embed="rId5">
            <a:alphaModFix/>
          </a:blip>
          <a:stretch>
            <a:fillRect/>
          </a:stretch>
        </p:blipFill>
        <p:spPr>
          <a:xfrm>
            <a:off x="6149725" y="1200963"/>
            <a:ext cx="2628900" cy="1838325"/>
          </a:xfrm>
          <a:prstGeom prst="rect">
            <a:avLst/>
          </a:prstGeom>
          <a:noFill/>
          <a:ln>
            <a:noFill/>
          </a:ln>
        </p:spPr>
      </p:pic>
      <p:pic>
        <p:nvPicPr>
          <p:cNvPr id="111" name="Google Shape;111;p20"/>
          <p:cNvPicPr preferRelativeResize="0"/>
          <p:nvPr/>
        </p:nvPicPr>
        <p:blipFill>
          <a:blip r:embed="rId6">
            <a:alphaModFix/>
          </a:blip>
          <a:stretch>
            <a:fillRect/>
          </a:stretch>
        </p:blipFill>
        <p:spPr>
          <a:xfrm>
            <a:off x="3483596" y="3205250"/>
            <a:ext cx="2176800" cy="10915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Bonferroni on Mobility type disability</a:t>
            </a:r>
            <a:endParaRPr/>
          </a:p>
        </p:txBody>
      </p:sp>
      <p:sp>
        <p:nvSpPr>
          <p:cNvPr id="117" name="Google Shape;117;p21"/>
          <p:cNvSpPr txBox="1"/>
          <p:nvPr>
            <p:ph idx="1" type="body"/>
          </p:nvPr>
        </p:nvSpPr>
        <p:spPr>
          <a:xfrm>
            <a:off x="292175" y="1181750"/>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 There is not enough evidence to suggest that there are any difference between the means of Mobility groups. Since the difference between the means of Amputees, Crutches, and Wheelchair Scores have 0 within the range of the Confidence limits, none of the differences are </a:t>
            </a:r>
            <a:r>
              <a:rPr lang="en"/>
              <a:t>significant</a:t>
            </a:r>
            <a:r>
              <a:rPr lang="en"/>
              <a:t> enough to claim that there is a difference in means between mobility handicap interviewer.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Takeaways</a:t>
            </a:r>
            <a:endParaRPr/>
          </a:p>
        </p:txBody>
      </p:sp>
      <p:sp>
        <p:nvSpPr>
          <p:cNvPr id="123" name="Google Shape;123;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I’m not sure how to explain most of the data in a conclusion.</a:t>
            </a:r>
            <a:endParaRPr/>
          </a:p>
          <a:p>
            <a:pPr indent="-342900" lvl="0" marL="457200" rtl="0" algn="l">
              <a:spcBef>
                <a:spcPts val="0"/>
              </a:spcBef>
              <a:spcAft>
                <a:spcPts val="0"/>
              </a:spcAft>
              <a:buSzPts val="1800"/>
              <a:buChar char="-"/>
            </a:pPr>
            <a:r>
              <a:rPr lang="en"/>
              <a:t>I feel like some of the questions were vague in asking what it wanted us to do. I’m not sure I picked the right test in the middle one. I think Tukey was the right one, but I guess Bonferri is the more conservative approach? Is this what you mean by all models are wrong, some are just more helpful?</a:t>
            </a:r>
            <a:endParaRPr/>
          </a:p>
          <a:p>
            <a:pPr indent="-342900" lvl="0" marL="457200" rtl="0" algn="l">
              <a:spcBef>
                <a:spcPts val="0"/>
              </a:spcBef>
              <a:spcAft>
                <a:spcPts val="0"/>
              </a:spcAft>
              <a:buSzPts val="1800"/>
              <a:buChar char="-"/>
            </a:pPr>
            <a:r>
              <a:rPr lang="en"/>
              <a:t>This week didn’t feel as difficult as last week, but still seems confusing. </a:t>
            </a:r>
            <a:endParaRPr/>
          </a:p>
          <a:p>
            <a:pPr indent="-342900" lvl="0" marL="457200" rtl="0" algn="l">
              <a:spcBef>
                <a:spcPts val="0"/>
              </a:spcBef>
              <a:spcAft>
                <a:spcPts val="0"/>
              </a:spcAft>
              <a:buSzPts val="1800"/>
              <a:buChar char="-"/>
            </a:pPr>
            <a:r>
              <a:rPr lang="en"/>
              <a:t>Still feels like I”m missing some </a:t>
            </a:r>
            <a:r>
              <a:rPr lang="en"/>
              <a:t>fundamental</a:t>
            </a:r>
            <a:r>
              <a:rPr lang="en"/>
              <a:t> understanding on why we should we run this.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