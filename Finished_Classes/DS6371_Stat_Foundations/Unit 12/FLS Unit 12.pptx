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0524704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0524704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0524704d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70524704d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70524704d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70524704d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70524704de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70524704de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70524704de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70524704de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0524704d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70524704d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0524704de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70524704de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FLS Unit 12</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Johnny Vogt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QQQ</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B </a:t>
            </a:r>
            <a:endParaRPr/>
          </a:p>
          <a:p>
            <a:pPr indent="-342900" lvl="0" marL="457200" rtl="0" algn="l">
              <a:spcBef>
                <a:spcPts val="0"/>
              </a:spcBef>
              <a:spcAft>
                <a:spcPts val="0"/>
              </a:spcAft>
              <a:buSzPts val="1800"/>
              <a:buAutoNum type="arabicPeriod"/>
            </a:pPr>
            <a:r>
              <a:rPr lang="en"/>
              <a:t>D</a:t>
            </a:r>
            <a:endParaRPr/>
          </a:p>
          <a:p>
            <a:pPr indent="-342900" lvl="0" marL="457200" rtl="0" algn="l">
              <a:spcBef>
                <a:spcPts val="0"/>
              </a:spcBef>
              <a:spcAft>
                <a:spcPts val="0"/>
              </a:spcAft>
              <a:buSzPts val="1800"/>
              <a:buAutoNum type="arabicPeriod"/>
            </a:pPr>
            <a:r>
              <a:rPr lang="en"/>
              <a:t>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HSB2</a:t>
            </a:r>
            <a:endParaRPr/>
          </a:p>
        </p:txBody>
      </p:sp>
      <p:sp>
        <p:nvSpPr>
          <p:cNvPr id="67" name="Google Shape;67;p15"/>
          <p:cNvSpPr txBox="1"/>
          <p:nvPr>
            <p:ph idx="1" type="body"/>
          </p:nvPr>
        </p:nvSpPr>
        <p:spPr>
          <a:xfrm>
            <a:off x="364050" y="11106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Regression Model: </a:t>
            </a:r>
            <a:br>
              <a:rPr lang="en" sz="1500"/>
            </a:br>
            <a:r>
              <a:rPr lang="en" sz="1500"/>
              <a:t>Science</a:t>
            </a:r>
            <a:r>
              <a:rPr baseline="-25000" lang="en" sz="1500"/>
              <a:t>i</a:t>
            </a:r>
            <a:r>
              <a:rPr lang="en" sz="1500"/>
              <a:t> = β</a:t>
            </a:r>
            <a:r>
              <a:rPr baseline="-25000" lang="en" sz="1500"/>
              <a:t>0</a:t>
            </a:r>
            <a:r>
              <a:rPr lang="en" sz="1500"/>
              <a:t> + β</a:t>
            </a:r>
            <a:r>
              <a:rPr baseline="-25000" lang="en" sz="1500"/>
              <a:t>1</a:t>
            </a:r>
            <a:r>
              <a:rPr lang="en" sz="1500"/>
              <a:t>(Mathi) + β</a:t>
            </a:r>
            <a:r>
              <a:rPr baseline="-25000" lang="en" sz="1500"/>
              <a:t>2</a:t>
            </a:r>
            <a:r>
              <a:rPr lang="en" sz="1500"/>
              <a:t>(SES1</a:t>
            </a:r>
            <a:r>
              <a:rPr baseline="-25000" lang="en" sz="1500"/>
              <a:t>i</a:t>
            </a:r>
            <a:r>
              <a:rPr lang="en" sz="1500"/>
              <a:t>) +β</a:t>
            </a:r>
            <a:r>
              <a:rPr baseline="-25000" lang="en" sz="1500"/>
              <a:t>3</a:t>
            </a:r>
            <a:r>
              <a:rPr lang="en" sz="1500"/>
              <a:t>(SES2i) + Ɛ</a:t>
            </a:r>
            <a:r>
              <a:rPr baseline="-25000" lang="en" sz="1500"/>
              <a:t>i</a:t>
            </a:r>
            <a:br>
              <a:rPr baseline="-25000" lang="en" sz="1500"/>
            </a:br>
            <a:r>
              <a:rPr lang="en" sz="1500"/>
              <a:t>Science</a:t>
            </a:r>
            <a:r>
              <a:rPr baseline="-25000" lang="en" sz="1500"/>
              <a:t>i</a:t>
            </a:r>
            <a:r>
              <a:rPr lang="en" sz="1500"/>
              <a:t> = 15.21 + 0.63(Math</a:t>
            </a:r>
            <a:r>
              <a:rPr baseline="-25000" lang="en" sz="1500"/>
              <a:t>i</a:t>
            </a:r>
            <a:r>
              <a:rPr lang="en" sz="1500"/>
              <a:t>) - 3.316(SES1</a:t>
            </a:r>
            <a:r>
              <a:rPr baseline="-25000" lang="en" sz="1500"/>
              <a:t>i</a:t>
            </a:r>
            <a:r>
              <a:rPr lang="en" sz="1500"/>
              <a:t>) - 1.24(SES2</a:t>
            </a:r>
            <a:r>
              <a:rPr baseline="-25000" lang="en" sz="1500"/>
              <a:t>i</a:t>
            </a:r>
            <a:r>
              <a:rPr lang="en" sz="1500"/>
              <a:t>) + Ɛ</a:t>
            </a:r>
            <a:r>
              <a:rPr baseline="-25000" lang="en" sz="1500"/>
              <a:t>i</a:t>
            </a:r>
            <a:br>
              <a:rPr baseline="-25000" lang="en" sz="1500"/>
            </a:br>
            <a:endParaRPr baseline="-25000" sz="1500"/>
          </a:p>
          <a:p>
            <a:pPr indent="0" lvl="0" marL="0" rtl="0" algn="l">
              <a:spcBef>
                <a:spcPts val="1200"/>
              </a:spcBef>
              <a:spcAft>
                <a:spcPts val="0"/>
              </a:spcAft>
              <a:buNone/>
            </a:pPr>
            <a:r>
              <a:rPr lang="en" sz="1500"/>
              <a:t>Yes, we can quantify this equation </a:t>
            </a:r>
            <a:br>
              <a:rPr lang="en" sz="1500"/>
            </a:br>
            <a:r>
              <a:rPr lang="en" sz="1500"/>
              <a:t>For SES(1), the score will be 3.32 points lower than a SES score of 3 for every increase in the math score</a:t>
            </a:r>
            <a:endParaRPr sz="1500"/>
          </a:p>
          <a:p>
            <a:pPr indent="0" lvl="0" marL="0" rtl="0" algn="l">
              <a:spcBef>
                <a:spcPts val="1200"/>
              </a:spcBef>
              <a:spcAft>
                <a:spcPts val="1200"/>
              </a:spcAft>
              <a:buNone/>
            </a:pPr>
            <a:r>
              <a:rPr lang="en" sz="1500"/>
              <a:t>For SES(2), the score will be 1.24 points lower than a SES score of 3 for every increase in the math score</a:t>
            </a:r>
            <a:endParaRPr sz="1500"/>
          </a:p>
        </p:txBody>
      </p:sp>
      <p:pic>
        <p:nvPicPr>
          <p:cNvPr id="68" name="Google Shape;68;p15"/>
          <p:cNvPicPr preferRelativeResize="0"/>
          <p:nvPr/>
        </p:nvPicPr>
        <p:blipFill>
          <a:blip r:embed="rId3">
            <a:alphaModFix/>
          </a:blip>
          <a:stretch>
            <a:fillRect/>
          </a:stretch>
        </p:blipFill>
        <p:spPr>
          <a:xfrm>
            <a:off x="5942375" y="630450"/>
            <a:ext cx="2378925" cy="2020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HSB Q1 Assumptions</a:t>
            </a:r>
            <a:endParaRPr/>
          </a:p>
        </p:txBody>
      </p:sp>
      <p:sp>
        <p:nvSpPr>
          <p:cNvPr id="74" name="Google Shape;74;p16"/>
          <p:cNvSpPr txBox="1"/>
          <p:nvPr>
            <p:ph idx="1" type="body"/>
          </p:nvPr>
        </p:nvSpPr>
        <p:spPr>
          <a:xfrm>
            <a:off x="311700" y="1152475"/>
            <a:ext cx="45924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Linearity: The regression lines follow a very straight line</a:t>
            </a:r>
            <a:endParaRPr/>
          </a:p>
          <a:p>
            <a:pPr indent="0" lvl="0" marL="0" rtl="0" algn="l">
              <a:spcBef>
                <a:spcPts val="1200"/>
              </a:spcBef>
              <a:spcAft>
                <a:spcPts val="0"/>
              </a:spcAft>
              <a:buNone/>
            </a:pPr>
            <a:r>
              <a:rPr lang="en"/>
              <a:t>Homeoscedasticity and Normality: As far as we can tell from a visual look, there seems to be equal variances and fairly n </a:t>
            </a:r>
            <a:r>
              <a:rPr lang="en"/>
              <a:t>normal distribution for every subset of X</a:t>
            </a:r>
            <a:endParaRPr/>
          </a:p>
          <a:p>
            <a:pPr indent="0" lvl="0" marL="0" rtl="0" algn="l">
              <a:spcBef>
                <a:spcPts val="1200"/>
              </a:spcBef>
              <a:spcAft>
                <a:spcPts val="0"/>
              </a:spcAft>
              <a:buNone/>
            </a:pPr>
            <a:r>
              <a:rPr lang="en"/>
              <a:t>Independece: every point represents a individual student and their score. As far as we can tell, they are independent, until further information is given. </a:t>
            </a:r>
            <a:endParaRPr/>
          </a:p>
          <a:p>
            <a:pPr indent="0" lvl="0" marL="0" rtl="0" algn="l">
              <a:spcBef>
                <a:spcPts val="1200"/>
              </a:spcBef>
              <a:spcAft>
                <a:spcPts val="1200"/>
              </a:spcAft>
              <a:buNone/>
            </a:pPr>
            <a:r>
              <a:rPr lang="en"/>
              <a:t>Residual Normality: the residual seem to have a random scatter around regression. No pattern to ascertain. </a:t>
            </a:r>
            <a:endParaRPr/>
          </a:p>
        </p:txBody>
      </p:sp>
      <p:pic>
        <p:nvPicPr>
          <p:cNvPr id="75" name="Google Shape;75;p16"/>
          <p:cNvPicPr preferRelativeResize="0"/>
          <p:nvPr/>
        </p:nvPicPr>
        <p:blipFill>
          <a:blip r:embed="rId3">
            <a:alphaModFix/>
          </a:blip>
          <a:stretch>
            <a:fillRect/>
          </a:stretch>
        </p:blipFill>
        <p:spPr>
          <a:xfrm>
            <a:off x="4823646" y="-4"/>
            <a:ext cx="4239874" cy="2998350"/>
          </a:xfrm>
          <a:prstGeom prst="rect">
            <a:avLst/>
          </a:prstGeom>
          <a:noFill/>
          <a:ln>
            <a:noFill/>
          </a:ln>
        </p:spPr>
      </p:pic>
      <p:pic>
        <p:nvPicPr>
          <p:cNvPr id="76" name="Google Shape;76;p16"/>
          <p:cNvPicPr preferRelativeResize="0"/>
          <p:nvPr/>
        </p:nvPicPr>
        <p:blipFill>
          <a:blip r:embed="rId4">
            <a:alphaModFix/>
          </a:blip>
          <a:stretch>
            <a:fillRect/>
          </a:stretch>
        </p:blipFill>
        <p:spPr>
          <a:xfrm>
            <a:off x="5695599" y="2998350"/>
            <a:ext cx="1861775" cy="2047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HSB2 Question</a:t>
            </a:r>
            <a:endParaRPr/>
          </a:p>
        </p:txBody>
      </p:sp>
      <p:sp>
        <p:nvSpPr>
          <p:cNvPr id="82" name="Google Shape;82;p17"/>
          <p:cNvSpPr txBox="1"/>
          <p:nvPr>
            <p:ph idx="1" type="body"/>
          </p:nvPr>
        </p:nvSpPr>
        <p:spPr>
          <a:xfrm>
            <a:off x="311700" y="1152475"/>
            <a:ext cx="40662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Oh.. I think i already did it in sas and r</a:t>
            </a:r>
            <a:endParaRPr/>
          </a:p>
          <a:p>
            <a:pPr indent="0" lvl="0" marL="0" rtl="0" algn="l">
              <a:spcBef>
                <a:spcPts val="1200"/>
              </a:spcBef>
              <a:spcAft>
                <a:spcPts val="0"/>
              </a:spcAft>
              <a:buClr>
                <a:schemeClr val="dk1"/>
              </a:buClr>
              <a:buSzPct val="61111"/>
              <a:buFont typeface="Arial"/>
              <a:buNone/>
            </a:pPr>
            <a:r>
              <a:rPr lang="en"/>
              <a:t>proc glm data=WORK.HSB plots=all;</a:t>
            </a:r>
            <a:endParaRPr/>
          </a:p>
          <a:p>
            <a:pPr indent="0" lvl="0" marL="0" rtl="0" algn="l">
              <a:spcBef>
                <a:spcPts val="1200"/>
              </a:spcBef>
              <a:spcAft>
                <a:spcPts val="0"/>
              </a:spcAft>
              <a:buClr>
                <a:schemeClr val="dk1"/>
              </a:buClr>
              <a:buSzPct val="61111"/>
              <a:buFont typeface="Arial"/>
              <a:buNone/>
            </a:pPr>
            <a:r>
              <a:rPr lang="en"/>
              <a:t>  class SES (ref='3');</a:t>
            </a:r>
            <a:endParaRPr/>
          </a:p>
          <a:p>
            <a:pPr indent="0" lvl="0" marL="0" rtl="0" algn="l">
              <a:spcBef>
                <a:spcPts val="1200"/>
              </a:spcBef>
              <a:spcAft>
                <a:spcPts val="0"/>
              </a:spcAft>
              <a:buClr>
                <a:schemeClr val="dk1"/>
              </a:buClr>
              <a:buSzPct val="61111"/>
              <a:buFont typeface="Arial"/>
              <a:buNone/>
            </a:pPr>
            <a:r>
              <a:rPr lang="en"/>
              <a:t>  model science = math SES;</a:t>
            </a:r>
            <a:endParaRPr/>
          </a:p>
          <a:p>
            <a:pPr indent="0" lvl="0" marL="0" rtl="0" algn="l">
              <a:spcBef>
                <a:spcPts val="1200"/>
              </a:spcBef>
              <a:spcAft>
                <a:spcPts val="0"/>
              </a:spcAft>
              <a:buNone/>
            </a:pPr>
            <a:r>
              <a:rPr lang="en"/>
              <a:t>Run;</a:t>
            </a:r>
            <a:br>
              <a:rPr lang="en"/>
            </a:br>
            <a:br>
              <a:rPr lang="en"/>
            </a:br>
            <a:r>
              <a:rPr lang="en"/>
              <a:t>hsb$ses &lt;- as.factor(hsb$ses)</a:t>
            </a:r>
            <a:endParaRPr/>
          </a:p>
          <a:p>
            <a:pPr indent="0" lvl="0" marL="0" rtl="0" algn="l">
              <a:spcBef>
                <a:spcPts val="1200"/>
              </a:spcBef>
              <a:spcAft>
                <a:spcPts val="0"/>
              </a:spcAft>
              <a:buClr>
                <a:schemeClr val="dk1"/>
              </a:buClr>
              <a:buSzPct val="61111"/>
              <a:buFont typeface="Arial"/>
              <a:buNone/>
            </a:pPr>
            <a:r>
              <a:rPr lang="en"/>
              <a:t>hsb$ses &lt;- relevel(hsb$ses, ref = "3")</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
              <a:t>hsb_model &lt;- lm(science ~ math + ses, data = hsb)</a:t>
            </a:r>
            <a:endParaRPr/>
          </a:p>
          <a:p>
            <a:pPr indent="0" lvl="0" marL="0" rtl="0" algn="l">
              <a:spcBef>
                <a:spcPts val="1200"/>
              </a:spcBef>
              <a:spcAft>
                <a:spcPts val="1200"/>
              </a:spcAft>
              <a:buNone/>
            </a:pPr>
            <a:r>
              <a:rPr lang="en"/>
              <a:t>summary(hsb_model)</a:t>
            </a:r>
            <a:endParaRPr/>
          </a:p>
        </p:txBody>
      </p:sp>
      <p:sp>
        <p:nvSpPr>
          <p:cNvPr id="83" name="Google Shape;83;p17"/>
          <p:cNvSpPr txBox="1"/>
          <p:nvPr/>
        </p:nvSpPr>
        <p:spPr>
          <a:xfrm>
            <a:off x="4673075" y="1073250"/>
            <a:ext cx="3689100" cy="349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And no, there no evidence that suggests the slopes are different. They rise fall at the same rate between each subset of X, but the value changes due to the effect of the SES Value, either raising or lowering the value on the y scale depending on the score</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3 </a:t>
            </a:r>
            <a:endParaRPr/>
          </a:p>
        </p:txBody>
      </p:sp>
      <p:sp>
        <p:nvSpPr>
          <p:cNvPr id="89" name="Google Shape;89;p18"/>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As for assumptions, the data seems very normal, each point is </a:t>
            </a:r>
            <a:r>
              <a:rPr lang="en"/>
              <a:t>independent</a:t>
            </a:r>
            <a:r>
              <a:rPr lang="en"/>
              <a:t>, the residual plot seems to be scattered randomly, although, there might be a difference in variance on the right side of the plot. We will proceed cautiously.</a:t>
            </a:r>
            <a:endParaRPr/>
          </a:p>
          <a:p>
            <a:pPr indent="0" lvl="0" marL="0" rtl="0" algn="l">
              <a:spcBef>
                <a:spcPts val="1200"/>
              </a:spcBef>
              <a:spcAft>
                <a:spcPts val="0"/>
              </a:spcAft>
              <a:buNone/>
            </a:pPr>
            <a:r>
              <a:rPr lang="en"/>
              <a:t>Model Equation: </a:t>
            </a:r>
            <a:r>
              <a:rPr lang="en" sz="1500"/>
              <a:t>Science</a:t>
            </a:r>
            <a:r>
              <a:rPr baseline="-25000" lang="en" sz="1500"/>
              <a:t>i</a:t>
            </a:r>
            <a:r>
              <a:rPr lang="en" sz="1500"/>
              <a:t> = 11.62 + 0.401(Math</a:t>
            </a:r>
            <a:r>
              <a:rPr baseline="-25000" lang="en" sz="1500"/>
              <a:t>i</a:t>
            </a:r>
            <a:r>
              <a:rPr lang="en" sz="1500"/>
              <a:t>) + 0.3654(Reading</a:t>
            </a:r>
            <a:r>
              <a:rPr baseline="-25000" lang="en" sz="1500"/>
              <a:t>i</a:t>
            </a:r>
            <a:r>
              <a:rPr lang="en" sz="1500"/>
              <a:t>) + Ɛ</a:t>
            </a:r>
            <a:r>
              <a:rPr baseline="-25000" lang="en" sz="1500"/>
              <a:t>i</a:t>
            </a:r>
            <a:endParaRPr baseline="-25000" sz="1500"/>
          </a:p>
          <a:p>
            <a:pPr indent="0" lvl="0" marL="0" rtl="0" algn="l">
              <a:spcBef>
                <a:spcPts val="1200"/>
              </a:spcBef>
              <a:spcAft>
                <a:spcPts val="1200"/>
              </a:spcAft>
              <a:buNone/>
            </a:pPr>
            <a:r>
              <a:rPr lang="en" sz="1500"/>
              <a:t>After fitting a model for predicting the science score by holding the reading score constant. For every on point increase in the math score has an associated .4 increase to the Science score. </a:t>
            </a:r>
            <a:endParaRPr sz="1500"/>
          </a:p>
        </p:txBody>
      </p:sp>
      <p:pic>
        <p:nvPicPr>
          <p:cNvPr id="90" name="Google Shape;90;p18"/>
          <p:cNvPicPr preferRelativeResize="0"/>
          <p:nvPr/>
        </p:nvPicPr>
        <p:blipFill>
          <a:blip r:embed="rId3">
            <a:alphaModFix/>
          </a:blip>
          <a:stretch>
            <a:fillRect/>
          </a:stretch>
        </p:blipFill>
        <p:spPr>
          <a:xfrm>
            <a:off x="6958575" y="445025"/>
            <a:ext cx="1990375" cy="1489650"/>
          </a:xfrm>
          <a:prstGeom prst="rect">
            <a:avLst/>
          </a:prstGeom>
          <a:noFill/>
          <a:ln>
            <a:noFill/>
          </a:ln>
        </p:spPr>
      </p:pic>
      <p:pic>
        <p:nvPicPr>
          <p:cNvPr id="91" name="Google Shape;91;p18"/>
          <p:cNvPicPr preferRelativeResize="0"/>
          <p:nvPr/>
        </p:nvPicPr>
        <p:blipFill>
          <a:blip r:embed="rId4">
            <a:alphaModFix/>
          </a:blip>
          <a:stretch>
            <a:fillRect/>
          </a:stretch>
        </p:blipFill>
        <p:spPr>
          <a:xfrm>
            <a:off x="6883500" y="1998925"/>
            <a:ext cx="2140524" cy="1570150"/>
          </a:xfrm>
          <a:prstGeom prst="rect">
            <a:avLst/>
          </a:prstGeom>
          <a:noFill/>
          <a:ln>
            <a:noFill/>
          </a:ln>
        </p:spPr>
      </p:pic>
      <p:pic>
        <p:nvPicPr>
          <p:cNvPr id="92" name="Google Shape;92;p18"/>
          <p:cNvPicPr preferRelativeResize="0"/>
          <p:nvPr/>
        </p:nvPicPr>
        <p:blipFill>
          <a:blip r:embed="rId5">
            <a:alphaModFix/>
          </a:blip>
          <a:stretch>
            <a:fillRect/>
          </a:stretch>
        </p:blipFill>
        <p:spPr>
          <a:xfrm>
            <a:off x="4688225" y="445027"/>
            <a:ext cx="2195274" cy="1652550"/>
          </a:xfrm>
          <a:prstGeom prst="rect">
            <a:avLst/>
          </a:prstGeom>
          <a:noFill/>
          <a:ln>
            <a:noFill/>
          </a:ln>
        </p:spPr>
      </p:pic>
      <p:pic>
        <p:nvPicPr>
          <p:cNvPr id="93" name="Google Shape;93;p18"/>
          <p:cNvPicPr preferRelativeResize="0"/>
          <p:nvPr/>
        </p:nvPicPr>
        <p:blipFill>
          <a:blip r:embed="rId6">
            <a:alphaModFix/>
          </a:blip>
          <a:stretch>
            <a:fillRect/>
          </a:stretch>
        </p:blipFill>
        <p:spPr>
          <a:xfrm>
            <a:off x="6128425" y="3633327"/>
            <a:ext cx="2895600" cy="1000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3</a:t>
            </a:r>
            <a:endParaRPr/>
          </a:p>
        </p:txBody>
      </p:sp>
      <p:sp>
        <p:nvSpPr>
          <p:cNvPr id="99" name="Google Shape;99;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lang="en"/>
              <a:t>proc glm data=WORK.HSB;</a:t>
            </a:r>
            <a:endParaRPr/>
          </a:p>
          <a:p>
            <a:pPr indent="0" lvl="0" marL="0" rtl="0" algn="l">
              <a:spcBef>
                <a:spcPts val="1200"/>
              </a:spcBef>
              <a:spcAft>
                <a:spcPts val="0"/>
              </a:spcAft>
              <a:buClr>
                <a:schemeClr val="dk1"/>
              </a:buClr>
              <a:buSzPct val="61111"/>
              <a:buFont typeface="Arial"/>
              <a:buNone/>
            </a:pPr>
            <a:r>
              <a:rPr lang="en"/>
              <a:t>  model science = math read;</a:t>
            </a:r>
            <a:endParaRPr/>
          </a:p>
          <a:p>
            <a:pPr indent="0" lvl="0" marL="0" rtl="0" algn="l">
              <a:spcBef>
                <a:spcPts val="1200"/>
              </a:spcBef>
              <a:spcAft>
                <a:spcPts val="0"/>
              </a:spcAft>
              <a:buClr>
                <a:schemeClr val="dk1"/>
              </a:buClr>
              <a:buSzPct val="61111"/>
              <a:buFont typeface="Arial"/>
              <a:buNone/>
            </a:pPr>
            <a:r>
              <a:rPr lang="en"/>
              <a:t>run;</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
              <a:t>ods graphics on;</a:t>
            </a:r>
            <a:endParaRPr/>
          </a:p>
          <a:p>
            <a:pPr indent="0" lvl="0" marL="0" rtl="0" algn="l">
              <a:spcBef>
                <a:spcPts val="1200"/>
              </a:spcBef>
              <a:spcAft>
                <a:spcPts val="0"/>
              </a:spcAft>
              <a:buClr>
                <a:schemeClr val="dk1"/>
              </a:buClr>
              <a:buSzPct val="61111"/>
              <a:buFont typeface="Arial"/>
              <a:buNone/>
            </a:pPr>
            <a:r>
              <a:rPr lang="en"/>
              <a:t>proc glm data=WORK.HSB plots=diagnostics(unpack);</a:t>
            </a:r>
            <a:endParaRPr/>
          </a:p>
          <a:p>
            <a:pPr indent="0" lvl="0" marL="0" rtl="0" algn="l">
              <a:spcBef>
                <a:spcPts val="1200"/>
              </a:spcBef>
              <a:spcAft>
                <a:spcPts val="0"/>
              </a:spcAft>
              <a:buClr>
                <a:schemeClr val="dk1"/>
              </a:buClr>
              <a:buSzPct val="61111"/>
              <a:buFont typeface="Arial"/>
              <a:buNone/>
            </a:pPr>
            <a:r>
              <a:rPr lang="en"/>
              <a:t>  model science = math read;</a:t>
            </a:r>
            <a:endParaRPr/>
          </a:p>
          <a:p>
            <a:pPr indent="0" lvl="0" marL="0" rtl="0" algn="l">
              <a:spcBef>
                <a:spcPts val="1200"/>
              </a:spcBef>
              <a:spcAft>
                <a:spcPts val="0"/>
              </a:spcAft>
              <a:buClr>
                <a:schemeClr val="dk1"/>
              </a:buClr>
              <a:buSzPct val="61111"/>
              <a:buFont typeface="Arial"/>
              <a:buNone/>
            </a:pPr>
            <a:r>
              <a:rPr lang="en"/>
              <a:t>run;</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Takeaways</a:t>
            </a:r>
            <a:endParaRPr/>
          </a:p>
        </p:txBody>
      </p:sp>
      <p:sp>
        <p:nvSpPr>
          <p:cNvPr id="105" name="Google Shape;10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Feeling a bit burned out, but it’s probably from work. Been </a:t>
            </a:r>
            <a:r>
              <a:rPr lang="en"/>
              <a:t>working</a:t>
            </a:r>
            <a:r>
              <a:rPr lang="en"/>
              <a:t> late and not getting enough time to work on this. </a:t>
            </a:r>
            <a:endParaRPr/>
          </a:p>
          <a:p>
            <a:pPr indent="-342900" lvl="0" marL="457200" rtl="0" algn="l">
              <a:spcBef>
                <a:spcPts val="0"/>
              </a:spcBef>
              <a:spcAft>
                <a:spcPts val="0"/>
              </a:spcAft>
              <a:buSzPts val="1800"/>
              <a:buChar char="-"/>
            </a:pPr>
            <a:r>
              <a:rPr lang="en"/>
              <a:t>I realized tonight that I don’t know how to read the cook’s D plot, thankfully I dont think outliers played a role in the data</a:t>
            </a:r>
            <a:endParaRPr/>
          </a:p>
          <a:p>
            <a:pPr indent="-342900" lvl="0" marL="457200" rtl="0" algn="l">
              <a:spcBef>
                <a:spcPts val="0"/>
              </a:spcBef>
              <a:spcAft>
                <a:spcPts val="0"/>
              </a:spcAft>
              <a:buSzPts val="1800"/>
              <a:buChar char="-"/>
            </a:pPr>
            <a:r>
              <a:rPr lang="en"/>
              <a:t>Please dont make us log this (no more logs, LOL). I dont know if my brain can handle it. </a:t>
            </a:r>
            <a:endParaRPr/>
          </a:p>
          <a:p>
            <a:pPr indent="-342900" lvl="0" marL="457200" rtl="0" algn="l">
              <a:spcBef>
                <a:spcPts val="0"/>
              </a:spcBef>
              <a:spcAft>
                <a:spcPts val="0"/>
              </a:spcAft>
              <a:buSzPts val="1800"/>
              <a:buChar char="-"/>
            </a:pPr>
            <a:r>
              <a:rPr lang="en"/>
              <a:t>I dont think I fully grasp, how by adding reading to the model, it holds it constant throughout and helps us determine the relationship between math and science. Is that also true for the “Reading” and Science score in the same model?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