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62"/>
  </p:notesMasterIdLst>
  <p:sldIdLst>
    <p:sldId id="270" r:id="rId2"/>
    <p:sldId id="259" r:id="rId3"/>
    <p:sldId id="426" r:id="rId4"/>
    <p:sldId id="427" r:id="rId5"/>
    <p:sldId id="428" r:id="rId6"/>
    <p:sldId id="260" r:id="rId7"/>
    <p:sldId id="444" r:id="rId8"/>
    <p:sldId id="443" r:id="rId9"/>
    <p:sldId id="429" r:id="rId10"/>
    <p:sldId id="343" r:id="rId11"/>
    <p:sldId id="344" r:id="rId12"/>
    <p:sldId id="345" r:id="rId13"/>
    <p:sldId id="346" r:id="rId14"/>
    <p:sldId id="347" r:id="rId15"/>
    <p:sldId id="348" r:id="rId16"/>
    <p:sldId id="349" r:id="rId17"/>
    <p:sldId id="350" r:id="rId18"/>
    <p:sldId id="351" r:id="rId19"/>
    <p:sldId id="352" r:id="rId20"/>
    <p:sldId id="353" r:id="rId21"/>
    <p:sldId id="354" r:id="rId22"/>
    <p:sldId id="355" r:id="rId23"/>
    <p:sldId id="356" r:id="rId24"/>
    <p:sldId id="357" r:id="rId25"/>
    <p:sldId id="358" r:id="rId26"/>
    <p:sldId id="359" r:id="rId27"/>
    <p:sldId id="365" r:id="rId28"/>
    <p:sldId id="367" r:id="rId29"/>
    <p:sldId id="368" r:id="rId30"/>
    <p:sldId id="369" r:id="rId31"/>
    <p:sldId id="370" r:id="rId32"/>
    <p:sldId id="371" r:id="rId33"/>
    <p:sldId id="372" r:id="rId34"/>
    <p:sldId id="373" r:id="rId35"/>
    <p:sldId id="374" r:id="rId36"/>
    <p:sldId id="375" r:id="rId37"/>
    <p:sldId id="376" r:id="rId38"/>
    <p:sldId id="430" r:id="rId39"/>
    <p:sldId id="337" r:id="rId40"/>
    <p:sldId id="435" r:id="rId41"/>
    <p:sldId id="330" r:id="rId42"/>
    <p:sldId id="331" r:id="rId43"/>
    <p:sldId id="377" r:id="rId44"/>
    <p:sldId id="332" r:id="rId45"/>
    <p:sldId id="445" r:id="rId46"/>
    <p:sldId id="438" r:id="rId47"/>
    <p:sldId id="338" r:id="rId48"/>
    <p:sldId id="434" r:id="rId49"/>
    <p:sldId id="437" r:id="rId50"/>
    <p:sldId id="441" r:id="rId51"/>
    <p:sldId id="439" r:id="rId52"/>
    <p:sldId id="442" r:id="rId53"/>
    <p:sldId id="440" r:id="rId54"/>
    <p:sldId id="436" r:id="rId55"/>
    <p:sldId id="335" r:id="rId56"/>
    <p:sldId id="433" r:id="rId57"/>
    <p:sldId id="431" r:id="rId58"/>
    <p:sldId id="334" r:id="rId59"/>
    <p:sldId id="336" r:id="rId60"/>
    <p:sldId id="413" r:id="rId61"/>
  </p:sldIdLst>
  <p:sldSz cx="12192000" cy="6858000"/>
  <p:notesSz cx="6858000" cy="9144000"/>
  <p:custDataLst>
    <p:tags r:id="rId6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52" autoAdjust="0"/>
    <p:restoredTop sz="88435" autoAdjust="0"/>
  </p:normalViewPr>
  <p:slideViewPr>
    <p:cSldViewPr>
      <p:cViewPr>
        <p:scale>
          <a:sx n="81" d="100"/>
          <a:sy n="81" d="100"/>
        </p:scale>
        <p:origin x="784" y="8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11/14/24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A80EA9-F4D0-44C0-9BCF-7541DC615132}" type="slidenum">
              <a:rPr lang="en-US" smtClean="0"/>
              <a:t>27</a:t>
            </a:fld>
            <a:endParaRPr lang="en-US"/>
          </a:p>
        </p:txBody>
      </p:sp>
    </p:spTree>
    <p:extLst>
      <p:ext uri="{BB962C8B-B14F-4D97-AF65-F5344CB8AC3E}">
        <p14:creationId xmlns:p14="http://schemas.microsoft.com/office/powerpoint/2010/main" val="2463466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A80EA9-F4D0-44C0-9BCF-7541DC615132}" type="slidenum">
              <a:rPr lang="en-US" smtClean="0"/>
              <a:t>28</a:t>
            </a:fld>
            <a:endParaRPr lang="en-US"/>
          </a:p>
        </p:txBody>
      </p:sp>
    </p:spTree>
    <p:extLst>
      <p:ext uri="{BB962C8B-B14F-4D97-AF65-F5344CB8AC3E}">
        <p14:creationId xmlns:p14="http://schemas.microsoft.com/office/powerpoint/2010/main" val="3487342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A80EA9-F4D0-44C0-9BCF-7541DC615132}" type="slidenum">
              <a:rPr lang="en-US" smtClean="0"/>
              <a:t>29</a:t>
            </a:fld>
            <a:endParaRPr lang="en-US"/>
          </a:p>
        </p:txBody>
      </p:sp>
    </p:spTree>
    <p:extLst>
      <p:ext uri="{BB962C8B-B14F-4D97-AF65-F5344CB8AC3E}">
        <p14:creationId xmlns:p14="http://schemas.microsoft.com/office/powerpoint/2010/main" val="352114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A80EA9-F4D0-44C0-9BCF-7541DC615132}" type="slidenum">
              <a:rPr lang="en-US" smtClean="0"/>
              <a:t>30</a:t>
            </a:fld>
            <a:endParaRPr lang="en-US"/>
          </a:p>
        </p:txBody>
      </p:sp>
    </p:spTree>
    <p:extLst>
      <p:ext uri="{BB962C8B-B14F-4D97-AF65-F5344CB8AC3E}">
        <p14:creationId xmlns:p14="http://schemas.microsoft.com/office/powerpoint/2010/main" val="113426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DA80EA9-F4D0-44C0-9BCF-7541DC615132}" type="slidenum">
              <a:rPr lang="en-US" smtClean="0"/>
              <a:t>31</a:t>
            </a:fld>
            <a:endParaRPr lang="en-US"/>
          </a:p>
        </p:txBody>
      </p:sp>
    </p:spTree>
    <p:extLst>
      <p:ext uri="{BB962C8B-B14F-4D97-AF65-F5344CB8AC3E}">
        <p14:creationId xmlns:p14="http://schemas.microsoft.com/office/powerpoint/2010/main" val="3526990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39</a:t>
            </a:fld>
            <a:endParaRPr lang="en-US" dirty="0"/>
          </a:p>
        </p:txBody>
      </p:sp>
    </p:spTree>
    <p:extLst>
      <p:ext uri="{BB962C8B-B14F-4D97-AF65-F5344CB8AC3E}">
        <p14:creationId xmlns:p14="http://schemas.microsoft.com/office/powerpoint/2010/main" val="422945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41</a:t>
            </a:fld>
            <a:endParaRPr lang="en-US" dirty="0"/>
          </a:p>
        </p:txBody>
      </p:sp>
    </p:spTree>
    <p:extLst>
      <p:ext uri="{BB962C8B-B14F-4D97-AF65-F5344CB8AC3E}">
        <p14:creationId xmlns:p14="http://schemas.microsoft.com/office/powerpoint/2010/main" val="619830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180.png"/></Relationships>
</file>

<file path=ppt/slides/_rels/slide1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8.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9.png"/></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2.png"/></Relationships>
</file>

<file path=ppt/slides/_rels/slide4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4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4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50.xml.rels><?xml version="1.0" encoding="UTF-8" standalone="yes"?>
<Relationships xmlns="http://schemas.openxmlformats.org/package/2006/relationships"><Relationship Id="rId8" Type="http://schemas.openxmlformats.org/officeDocument/2006/relationships/image" Target="../media/image109.tiff"/><Relationship Id="rId3" Type="http://schemas.openxmlformats.org/officeDocument/2006/relationships/image" Target="../media/image104.png"/><Relationship Id="rId7" Type="http://schemas.openxmlformats.org/officeDocument/2006/relationships/image" Target="../media/image108.tiff"/><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image" Target="../media/image107.tiff"/><Relationship Id="rId5" Type="http://schemas.openxmlformats.org/officeDocument/2006/relationships/image" Target="../media/image106.tiff"/><Relationship Id="rId4" Type="http://schemas.openxmlformats.org/officeDocument/2006/relationships/image" Target="../media/image10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080.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56.xml.rels><?xml version="1.0" encoding="UTF-8" standalone="yes"?>
<Relationships xmlns="http://schemas.openxmlformats.org/package/2006/relationships"><Relationship Id="rId3" Type="http://schemas.openxmlformats.org/officeDocument/2006/relationships/image" Target="../media/image1120.png"/><Relationship Id="rId2" Type="http://schemas.openxmlformats.org/officeDocument/2006/relationships/image" Target="../media/image114.png"/><Relationship Id="rId1" Type="http://schemas.openxmlformats.org/officeDocument/2006/relationships/slideLayout" Target="../slideLayouts/slideLayout2.xml"/><Relationship Id="rId5" Type="http://schemas.openxmlformats.org/officeDocument/2006/relationships/image" Target="../media/image1140.png"/><Relationship Id="rId4" Type="http://schemas.openxmlformats.org/officeDocument/2006/relationships/image" Target="../media/image11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12</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680308"/>
            <a:ext cx="10515600" cy="1325563"/>
          </a:xfrm>
        </p:spPr>
        <p:txBody>
          <a:bodyPr/>
          <a:lstStyle/>
          <a:p>
            <a:pPr algn="ctr"/>
            <a:r>
              <a:rPr lang="en-US" dirty="0"/>
              <a:t>Quick Quiz Questions</a:t>
            </a:r>
          </a:p>
        </p:txBody>
      </p:sp>
    </p:spTree>
    <p:extLst>
      <p:ext uri="{BB962C8B-B14F-4D97-AF65-F5344CB8AC3E}">
        <p14:creationId xmlns:p14="http://schemas.microsoft.com/office/powerpoint/2010/main" val="968806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3" name="Picture 2">
            <a:extLst>
              <a:ext uri="{FF2B5EF4-FFF2-40B4-BE49-F238E27FC236}">
                <a16:creationId xmlns:a16="http://schemas.microsoft.com/office/drawing/2014/main" id="{F0A64938-2A6B-B844-8461-EA02F4E65218}"/>
              </a:ext>
            </a:extLst>
          </p:cNvPr>
          <p:cNvPicPr>
            <a:picLocks noChangeAspect="1"/>
          </p:cNvPicPr>
          <p:nvPr/>
        </p:nvPicPr>
        <p:blipFill>
          <a:blip r:embed="rId2"/>
          <a:stretch>
            <a:fillRect/>
          </a:stretch>
        </p:blipFill>
        <p:spPr>
          <a:xfrm>
            <a:off x="1708150" y="1760166"/>
            <a:ext cx="8775700" cy="4368800"/>
          </a:xfrm>
          <a:prstGeom prst="rect">
            <a:avLst/>
          </a:prstGeom>
        </p:spPr>
      </p:pic>
      <p:sp>
        <p:nvSpPr>
          <p:cNvPr id="4" name="Oval 3">
            <a:extLst>
              <a:ext uri="{FF2B5EF4-FFF2-40B4-BE49-F238E27FC236}">
                <a16:creationId xmlns:a16="http://schemas.microsoft.com/office/drawing/2014/main" id="{A649BE0E-A7FE-3D49-85C4-CA3A623CB68D}"/>
              </a:ext>
            </a:extLst>
          </p:cNvPr>
          <p:cNvSpPr/>
          <p:nvPr/>
        </p:nvSpPr>
        <p:spPr>
          <a:xfrm>
            <a:off x="2362200" y="53340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5507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4" name="Picture 3">
            <a:extLst>
              <a:ext uri="{FF2B5EF4-FFF2-40B4-BE49-F238E27FC236}">
                <a16:creationId xmlns:a16="http://schemas.microsoft.com/office/drawing/2014/main" id="{4D777A80-D149-B64D-A7D7-911C780F43BA}"/>
              </a:ext>
            </a:extLst>
          </p:cNvPr>
          <p:cNvPicPr>
            <a:picLocks noChangeAspect="1"/>
          </p:cNvPicPr>
          <p:nvPr/>
        </p:nvPicPr>
        <p:blipFill>
          <a:blip r:embed="rId2"/>
          <a:stretch>
            <a:fillRect/>
          </a:stretch>
        </p:blipFill>
        <p:spPr>
          <a:xfrm>
            <a:off x="1602902" y="1519947"/>
            <a:ext cx="8636000" cy="5257800"/>
          </a:xfrm>
          <a:prstGeom prst="rect">
            <a:avLst/>
          </a:prstGeom>
        </p:spPr>
      </p:pic>
      <p:sp>
        <p:nvSpPr>
          <p:cNvPr id="5" name="Oval 4">
            <a:extLst>
              <a:ext uri="{FF2B5EF4-FFF2-40B4-BE49-F238E27FC236}">
                <a16:creationId xmlns:a16="http://schemas.microsoft.com/office/drawing/2014/main" id="{0DF0F304-DEDC-E140-BD39-1545093B30DC}"/>
              </a:ext>
            </a:extLst>
          </p:cNvPr>
          <p:cNvSpPr/>
          <p:nvPr/>
        </p:nvSpPr>
        <p:spPr>
          <a:xfrm>
            <a:off x="1995895" y="49530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27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3" name="Picture 2">
            <a:extLst>
              <a:ext uri="{FF2B5EF4-FFF2-40B4-BE49-F238E27FC236}">
                <a16:creationId xmlns:a16="http://schemas.microsoft.com/office/drawing/2014/main" id="{0A8BBCFB-D8E6-B649-BA89-91129F9BF448}"/>
              </a:ext>
            </a:extLst>
          </p:cNvPr>
          <p:cNvPicPr>
            <a:picLocks noChangeAspect="1"/>
          </p:cNvPicPr>
          <p:nvPr/>
        </p:nvPicPr>
        <p:blipFill>
          <a:blip r:embed="rId2"/>
          <a:stretch>
            <a:fillRect/>
          </a:stretch>
        </p:blipFill>
        <p:spPr>
          <a:xfrm>
            <a:off x="1835150" y="1965662"/>
            <a:ext cx="8521700" cy="3568700"/>
          </a:xfrm>
          <a:prstGeom prst="rect">
            <a:avLst/>
          </a:prstGeom>
        </p:spPr>
      </p:pic>
      <p:sp>
        <p:nvSpPr>
          <p:cNvPr id="4" name="Oval 3">
            <a:extLst>
              <a:ext uri="{FF2B5EF4-FFF2-40B4-BE49-F238E27FC236}">
                <a16:creationId xmlns:a16="http://schemas.microsoft.com/office/drawing/2014/main" id="{01CBEF50-C01D-2348-BD0C-28B21FBBE1D0}"/>
              </a:ext>
            </a:extLst>
          </p:cNvPr>
          <p:cNvSpPr/>
          <p:nvPr/>
        </p:nvSpPr>
        <p:spPr>
          <a:xfrm>
            <a:off x="2246244" y="384975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85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466300"/>
            <a:ext cx="10515600" cy="1325563"/>
          </a:xfrm>
        </p:spPr>
        <p:txBody>
          <a:bodyPr/>
          <a:lstStyle/>
          <a:p>
            <a:pPr algn="ctr"/>
            <a:r>
              <a:rPr lang="en-US" dirty="0"/>
              <a:t>End Quick Quiz Questions</a:t>
            </a:r>
          </a:p>
        </p:txBody>
      </p:sp>
    </p:spTree>
    <p:extLst>
      <p:ext uri="{BB962C8B-B14F-4D97-AF65-F5344CB8AC3E}">
        <p14:creationId xmlns:p14="http://schemas.microsoft.com/office/powerpoint/2010/main" val="3555972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0D9D2-CEFD-136C-976A-CFC4A79B96AA}"/>
              </a:ext>
            </a:extLst>
          </p:cNvPr>
          <p:cNvSpPr>
            <a:spLocks noGrp="1"/>
          </p:cNvSpPr>
          <p:nvPr>
            <p:ph type="title"/>
          </p:nvPr>
        </p:nvSpPr>
        <p:spPr/>
        <p:txBody>
          <a:bodyPr/>
          <a:lstStyle/>
          <a:p>
            <a:r>
              <a:rPr lang="en-US" dirty="0"/>
              <a:t>Question from FLS</a:t>
            </a:r>
          </a:p>
        </p:txBody>
      </p:sp>
      <p:pic>
        <p:nvPicPr>
          <p:cNvPr id="5" name="Picture 4">
            <a:extLst>
              <a:ext uri="{FF2B5EF4-FFF2-40B4-BE49-F238E27FC236}">
                <a16:creationId xmlns:a16="http://schemas.microsoft.com/office/drawing/2014/main" id="{364A284E-EB11-9F7E-2766-A0520A02A87A}"/>
              </a:ext>
            </a:extLst>
          </p:cNvPr>
          <p:cNvPicPr>
            <a:picLocks noChangeAspect="1"/>
          </p:cNvPicPr>
          <p:nvPr/>
        </p:nvPicPr>
        <p:blipFill>
          <a:blip r:embed="rId2"/>
          <a:stretch>
            <a:fillRect/>
          </a:stretch>
        </p:blipFill>
        <p:spPr>
          <a:xfrm>
            <a:off x="1676400" y="1447800"/>
            <a:ext cx="8534400" cy="5020886"/>
          </a:xfrm>
          <a:prstGeom prst="rect">
            <a:avLst/>
          </a:prstGeom>
        </p:spPr>
      </p:pic>
    </p:spTree>
    <p:extLst>
      <p:ext uri="{BB962C8B-B14F-4D97-AF65-F5344CB8AC3E}">
        <p14:creationId xmlns:p14="http://schemas.microsoft.com/office/powerpoint/2010/main" val="109647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3066B-A732-4787-D78A-0BFA5107D421}"/>
              </a:ext>
            </a:extLst>
          </p:cNvPr>
          <p:cNvSpPr>
            <a:spLocks noGrp="1"/>
          </p:cNvSpPr>
          <p:nvPr>
            <p:ph type="title"/>
          </p:nvPr>
        </p:nvSpPr>
        <p:spPr/>
        <p:txBody>
          <a:bodyPr/>
          <a:lstStyle/>
          <a:p>
            <a:r>
              <a:rPr lang="en-US" dirty="0"/>
              <a:t>Question from FLS</a:t>
            </a:r>
          </a:p>
        </p:txBody>
      </p:sp>
      <p:pic>
        <p:nvPicPr>
          <p:cNvPr id="4" name="Picture 3">
            <a:extLst>
              <a:ext uri="{FF2B5EF4-FFF2-40B4-BE49-F238E27FC236}">
                <a16:creationId xmlns:a16="http://schemas.microsoft.com/office/drawing/2014/main" id="{B39F6DFC-DFCB-8851-90D1-2BADE129C984}"/>
              </a:ext>
            </a:extLst>
          </p:cNvPr>
          <p:cNvPicPr>
            <a:picLocks noChangeAspect="1"/>
          </p:cNvPicPr>
          <p:nvPr/>
        </p:nvPicPr>
        <p:blipFill>
          <a:blip r:embed="rId2"/>
          <a:stretch>
            <a:fillRect/>
          </a:stretch>
        </p:blipFill>
        <p:spPr>
          <a:xfrm>
            <a:off x="410432" y="1676400"/>
            <a:ext cx="11371136" cy="4648200"/>
          </a:xfrm>
          <a:prstGeom prst="rect">
            <a:avLst/>
          </a:prstGeom>
        </p:spPr>
      </p:pic>
    </p:spTree>
    <p:extLst>
      <p:ext uri="{BB962C8B-B14F-4D97-AF65-F5344CB8AC3E}">
        <p14:creationId xmlns:p14="http://schemas.microsoft.com/office/powerpoint/2010/main" val="3027585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4D5C-7C4C-3248-AC95-BF06D615CB11}"/>
              </a:ext>
            </a:extLst>
          </p:cNvPr>
          <p:cNvSpPr>
            <a:spLocks noGrp="1"/>
          </p:cNvSpPr>
          <p:nvPr>
            <p:ph type="title"/>
          </p:nvPr>
        </p:nvSpPr>
        <p:spPr>
          <a:xfrm>
            <a:off x="609600" y="2297151"/>
            <a:ext cx="10972800" cy="1143000"/>
          </a:xfrm>
        </p:spPr>
        <p:txBody>
          <a:bodyPr/>
          <a:lstStyle/>
          <a:p>
            <a:r>
              <a:rPr lang="en-US" dirty="0"/>
              <a:t>Question 1</a:t>
            </a:r>
          </a:p>
        </p:txBody>
      </p:sp>
    </p:spTree>
    <p:extLst>
      <p:ext uri="{BB962C8B-B14F-4D97-AF65-F5344CB8AC3E}">
        <p14:creationId xmlns:p14="http://schemas.microsoft.com/office/powerpoint/2010/main" val="323207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Comparison of Y-Intercepts</a:t>
            </a:r>
          </a:p>
        </p:txBody>
      </p:sp>
      <p:pic>
        <p:nvPicPr>
          <p:cNvPr id="4" name="Picture 3"/>
          <p:cNvPicPr>
            <a:picLocks noChangeAspect="1"/>
          </p:cNvPicPr>
          <p:nvPr/>
        </p:nvPicPr>
        <p:blipFill>
          <a:blip r:embed="rId2"/>
          <a:stretch>
            <a:fillRect/>
          </a:stretch>
        </p:blipFill>
        <p:spPr>
          <a:xfrm>
            <a:off x="6792516" y="2035814"/>
            <a:ext cx="3875484" cy="3875484"/>
          </a:xfrm>
          <a:prstGeom prst="rect">
            <a:avLst/>
          </a:prstGeom>
        </p:spPr>
      </p:pic>
      <p:pic>
        <p:nvPicPr>
          <p:cNvPr id="5" name="Picture 4"/>
          <p:cNvPicPr>
            <a:picLocks noChangeAspect="1"/>
          </p:cNvPicPr>
          <p:nvPr/>
        </p:nvPicPr>
        <p:blipFill rotWithShape="1">
          <a:blip r:embed="rId3"/>
          <a:srcRect r="1751"/>
          <a:stretch/>
        </p:blipFill>
        <p:spPr>
          <a:xfrm>
            <a:off x="1832917" y="2035815"/>
            <a:ext cx="3847153" cy="3875484"/>
          </a:xfrm>
          <a:prstGeom prst="rect">
            <a:avLst/>
          </a:prstGeom>
        </p:spPr>
      </p:pic>
    </p:spTree>
    <p:extLst>
      <p:ext uri="{BB962C8B-B14F-4D97-AF65-F5344CB8AC3E}">
        <p14:creationId xmlns:p14="http://schemas.microsoft.com/office/powerpoint/2010/main" val="3449237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388" y="228600"/>
            <a:ext cx="8978462" cy="994172"/>
          </a:xfrm>
        </p:spPr>
        <p:txBody>
          <a:bodyPr>
            <a:noAutofit/>
          </a:bodyPr>
          <a:lstStyle/>
          <a:p>
            <a:r>
              <a:rPr lang="en-US" sz="3200" dirty="0"/>
              <a:t>A Comparison of Y-Intercepts </a:t>
            </a:r>
            <a:br>
              <a:rPr lang="en-US" sz="3200" dirty="0"/>
            </a:br>
            <a:r>
              <a:rPr lang="en-US" sz="3200" dirty="0"/>
              <a:t>(Type </a:t>
            </a:r>
            <a:r>
              <a:rPr lang="en-US" sz="3200" dirty="0" err="1"/>
              <a:t>Doesn</a:t>
            </a:r>
            <a:r>
              <a:rPr lang="uk-UA" sz="3200" dirty="0"/>
              <a:t>’</a:t>
            </a:r>
            <a:r>
              <a:rPr lang="en-US" sz="3200" dirty="0"/>
              <a:t>t Matter)</a:t>
            </a:r>
          </a:p>
        </p:txBody>
      </p:sp>
      <p:pic>
        <p:nvPicPr>
          <p:cNvPr id="4" name="Picture 3"/>
          <p:cNvPicPr>
            <a:picLocks noChangeAspect="1"/>
          </p:cNvPicPr>
          <p:nvPr/>
        </p:nvPicPr>
        <p:blipFill>
          <a:blip r:embed="rId2"/>
          <a:stretch>
            <a:fillRect/>
          </a:stretch>
        </p:blipFill>
        <p:spPr>
          <a:xfrm>
            <a:off x="1689539" y="2059568"/>
            <a:ext cx="3936077" cy="3941183"/>
          </a:xfrm>
          <a:prstGeom prst="rect">
            <a:avLst/>
          </a:prstGeom>
        </p:spPr>
      </p:pic>
      <p:pic>
        <p:nvPicPr>
          <p:cNvPr id="5" name="Picture 4"/>
          <p:cNvPicPr>
            <a:picLocks noChangeAspect="1"/>
          </p:cNvPicPr>
          <p:nvPr/>
        </p:nvPicPr>
        <p:blipFill>
          <a:blip r:embed="rId3"/>
          <a:stretch>
            <a:fillRect/>
          </a:stretch>
        </p:blipFill>
        <p:spPr>
          <a:xfrm>
            <a:off x="6556163" y="2059568"/>
            <a:ext cx="3946301" cy="3941183"/>
          </a:xfrm>
          <a:prstGeom prst="rect">
            <a:avLst/>
          </a:prstGeom>
        </p:spPr>
      </p:pic>
    </p:spTree>
    <p:extLst>
      <p:ext uri="{BB962C8B-B14F-4D97-AF65-F5344CB8AC3E}">
        <p14:creationId xmlns:p14="http://schemas.microsoft.com/office/powerpoint/2010/main" val="191128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Comparison of Y-Intercepts</a:t>
            </a:r>
          </a:p>
        </p:txBody>
      </p:sp>
      <p:pic>
        <p:nvPicPr>
          <p:cNvPr id="4" name="Picture 3"/>
          <p:cNvPicPr>
            <a:picLocks noChangeAspect="1"/>
          </p:cNvPicPr>
          <p:nvPr/>
        </p:nvPicPr>
        <p:blipFill>
          <a:blip r:embed="rId2"/>
          <a:stretch>
            <a:fillRect/>
          </a:stretch>
        </p:blipFill>
        <p:spPr>
          <a:xfrm>
            <a:off x="6376898" y="2217027"/>
            <a:ext cx="3662453" cy="3700955"/>
          </a:xfrm>
          <a:prstGeom prst="rect">
            <a:avLst/>
          </a:prstGeom>
        </p:spPr>
      </p:pic>
      <p:pic>
        <p:nvPicPr>
          <p:cNvPr id="5" name="Picture 4"/>
          <p:cNvPicPr>
            <a:picLocks noChangeAspect="1"/>
          </p:cNvPicPr>
          <p:nvPr/>
        </p:nvPicPr>
        <p:blipFill>
          <a:blip r:embed="rId3"/>
          <a:stretch>
            <a:fillRect/>
          </a:stretch>
        </p:blipFill>
        <p:spPr>
          <a:xfrm>
            <a:off x="2152652" y="2217027"/>
            <a:ext cx="3648221" cy="3700955"/>
          </a:xfrm>
          <a:prstGeom prst="rect">
            <a:avLst/>
          </a:prstGeom>
        </p:spPr>
      </p:pic>
    </p:spTree>
    <p:extLst>
      <p:ext uri="{BB962C8B-B14F-4D97-AF65-F5344CB8AC3E}">
        <p14:creationId xmlns:p14="http://schemas.microsoft.com/office/powerpoint/2010/main" val="3152909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GGPLOT2</a:t>
            </a:r>
          </a:p>
        </p:txBody>
      </p:sp>
      <p:pic>
        <p:nvPicPr>
          <p:cNvPr id="4" name="Picture 3"/>
          <p:cNvPicPr>
            <a:picLocks noChangeAspect="1"/>
          </p:cNvPicPr>
          <p:nvPr/>
        </p:nvPicPr>
        <p:blipFill>
          <a:blip r:embed="rId2"/>
          <a:stretch>
            <a:fillRect/>
          </a:stretch>
        </p:blipFill>
        <p:spPr>
          <a:xfrm>
            <a:off x="4572662" y="1692006"/>
            <a:ext cx="3046676" cy="3050627"/>
          </a:xfrm>
          <a:prstGeom prst="rect">
            <a:avLst/>
          </a:prstGeom>
        </p:spPr>
      </p:pic>
      <p:pic>
        <p:nvPicPr>
          <p:cNvPr id="5" name="Picture 4"/>
          <p:cNvPicPr>
            <a:picLocks noChangeAspect="1"/>
          </p:cNvPicPr>
          <p:nvPr/>
        </p:nvPicPr>
        <p:blipFill>
          <a:blip r:embed="rId3"/>
          <a:stretch>
            <a:fillRect/>
          </a:stretch>
        </p:blipFill>
        <p:spPr>
          <a:xfrm>
            <a:off x="2576601" y="4835338"/>
            <a:ext cx="7038801" cy="268999"/>
          </a:xfrm>
          <a:prstGeom prst="rect">
            <a:avLst/>
          </a:prstGeom>
        </p:spPr>
      </p:pic>
      <p:sp>
        <p:nvSpPr>
          <p:cNvPr id="6" name="Up Arrow 5"/>
          <p:cNvSpPr/>
          <p:nvPr/>
        </p:nvSpPr>
        <p:spPr>
          <a:xfrm>
            <a:off x="3557752" y="5104336"/>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p:cNvSpPr txBox="1"/>
          <p:nvPr/>
        </p:nvSpPr>
        <p:spPr>
          <a:xfrm>
            <a:off x="2884759" y="5601383"/>
            <a:ext cx="1535173" cy="300082"/>
          </a:xfrm>
          <a:prstGeom prst="rect">
            <a:avLst/>
          </a:prstGeom>
          <a:noFill/>
        </p:spPr>
        <p:txBody>
          <a:bodyPr wrap="square" rtlCol="0">
            <a:spAutoFit/>
          </a:bodyPr>
          <a:lstStyle/>
          <a:p>
            <a:pPr algn="ctr"/>
            <a:r>
              <a:rPr lang="en-US" sz="1350"/>
              <a:t>Dataset</a:t>
            </a:r>
          </a:p>
        </p:txBody>
      </p:sp>
      <p:sp>
        <p:nvSpPr>
          <p:cNvPr id="8" name="Up Arrow 7"/>
          <p:cNvSpPr/>
          <p:nvPr/>
        </p:nvSpPr>
        <p:spPr>
          <a:xfrm>
            <a:off x="4889938" y="5188171"/>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p:cNvSpPr txBox="1"/>
          <p:nvPr/>
        </p:nvSpPr>
        <p:spPr>
          <a:xfrm>
            <a:off x="4216945" y="5685218"/>
            <a:ext cx="1535173" cy="300082"/>
          </a:xfrm>
          <a:prstGeom prst="rect">
            <a:avLst/>
          </a:prstGeom>
          <a:noFill/>
        </p:spPr>
        <p:txBody>
          <a:bodyPr wrap="square" rtlCol="0">
            <a:spAutoFit/>
          </a:bodyPr>
          <a:lstStyle/>
          <a:p>
            <a:pPr algn="ctr"/>
            <a:r>
              <a:rPr lang="en-US" sz="1350" dirty="0"/>
              <a:t>X and Y</a:t>
            </a:r>
          </a:p>
        </p:txBody>
      </p:sp>
      <p:sp>
        <p:nvSpPr>
          <p:cNvPr id="10" name="Up Arrow 9"/>
          <p:cNvSpPr/>
          <p:nvPr/>
        </p:nvSpPr>
        <p:spPr>
          <a:xfrm>
            <a:off x="6425111" y="5188171"/>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p:cNvSpPr txBox="1"/>
          <p:nvPr/>
        </p:nvSpPr>
        <p:spPr>
          <a:xfrm>
            <a:off x="5695464" y="5685219"/>
            <a:ext cx="1648480" cy="715581"/>
          </a:xfrm>
          <a:prstGeom prst="rect">
            <a:avLst/>
          </a:prstGeom>
          <a:noFill/>
        </p:spPr>
        <p:txBody>
          <a:bodyPr wrap="square" rtlCol="0">
            <a:spAutoFit/>
          </a:bodyPr>
          <a:lstStyle/>
          <a:p>
            <a:pPr algn="ctr"/>
            <a:r>
              <a:rPr lang="en-US" sz="1350" dirty="0"/>
              <a:t>This actually adds the points </a:t>
            </a:r>
            <a:r>
              <a:rPr lang="en-US" sz="1350"/>
              <a:t>to the plot.</a:t>
            </a:r>
            <a:endParaRPr lang="en-US" sz="1350" dirty="0"/>
          </a:p>
        </p:txBody>
      </p:sp>
      <p:sp>
        <p:nvSpPr>
          <p:cNvPr id="12" name="Up Arrow 11"/>
          <p:cNvSpPr/>
          <p:nvPr/>
        </p:nvSpPr>
        <p:spPr>
          <a:xfrm>
            <a:off x="8348985" y="5104336"/>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p:cNvSpPr txBox="1"/>
          <p:nvPr/>
        </p:nvSpPr>
        <p:spPr>
          <a:xfrm>
            <a:off x="7619338" y="5601384"/>
            <a:ext cx="1648480" cy="507831"/>
          </a:xfrm>
          <a:prstGeom prst="rect">
            <a:avLst/>
          </a:prstGeom>
          <a:noFill/>
        </p:spPr>
        <p:txBody>
          <a:bodyPr wrap="square" rtlCol="0">
            <a:spAutoFit/>
          </a:bodyPr>
          <a:lstStyle/>
          <a:p>
            <a:pPr algn="ctr"/>
            <a:r>
              <a:rPr lang="en-US" sz="1350" dirty="0"/>
              <a:t>This fits and plots the regression line. </a:t>
            </a:r>
          </a:p>
        </p:txBody>
      </p:sp>
    </p:spTree>
    <p:extLst>
      <p:ext uri="{BB962C8B-B14F-4D97-AF65-F5344CB8AC3E}">
        <p14:creationId xmlns:p14="http://schemas.microsoft.com/office/powerpoint/2010/main" val="176072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 GGPLOT2</a:t>
            </a:r>
          </a:p>
        </p:txBody>
      </p:sp>
      <p:sp>
        <p:nvSpPr>
          <p:cNvPr id="6" name="Up Arrow 5"/>
          <p:cNvSpPr/>
          <p:nvPr/>
        </p:nvSpPr>
        <p:spPr>
          <a:xfrm>
            <a:off x="3296646" y="5241543"/>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p:cNvSpPr txBox="1"/>
          <p:nvPr/>
        </p:nvSpPr>
        <p:spPr>
          <a:xfrm>
            <a:off x="2623654" y="5738590"/>
            <a:ext cx="1535173" cy="300082"/>
          </a:xfrm>
          <a:prstGeom prst="rect">
            <a:avLst/>
          </a:prstGeom>
          <a:noFill/>
        </p:spPr>
        <p:txBody>
          <a:bodyPr wrap="square" rtlCol="0">
            <a:spAutoFit/>
          </a:bodyPr>
          <a:lstStyle/>
          <a:p>
            <a:pPr algn="ctr"/>
            <a:r>
              <a:rPr lang="en-US" sz="1350"/>
              <a:t>Dataset</a:t>
            </a:r>
          </a:p>
        </p:txBody>
      </p:sp>
      <p:sp>
        <p:nvSpPr>
          <p:cNvPr id="8" name="Up Arrow 7"/>
          <p:cNvSpPr/>
          <p:nvPr/>
        </p:nvSpPr>
        <p:spPr>
          <a:xfrm>
            <a:off x="4284197" y="5282927"/>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p:cNvSpPr txBox="1"/>
          <p:nvPr/>
        </p:nvSpPr>
        <p:spPr>
          <a:xfrm>
            <a:off x="3611205" y="5779973"/>
            <a:ext cx="1535173" cy="300082"/>
          </a:xfrm>
          <a:prstGeom prst="rect">
            <a:avLst/>
          </a:prstGeom>
          <a:noFill/>
        </p:spPr>
        <p:txBody>
          <a:bodyPr wrap="square" rtlCol="0">
            <a:spAutoFit/>
          </a:bodyPr>
          <a:lstStyle/>
          <a:p>
            <a:pPr algn="ctr"/>
            <a:r>
              <a:rPr lang="en-US" sz="1350" dirty="0"/>
              <a:t>X and Y</a:t>
            </a:r>
          </a:p>
        </p:txBody>
      </p:sp>
      <p:sp>
        <p:nvSpPr>
          <p:cNvPr id="10" name="Up Arrow 9"/>
          <p:cNvSpPr/>
          <p:nvPr/>
        </p:nvSpPr>
        <p:spPr>
          <a:xfrm>
            <a:off x="6809150" y="5231652"/>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p:cNvSpPr txBox="1"/>
          <p:nvPr/>
        </p:nvSpPr>
        <p:spPr>
          <a:xfrm>
            <a:off x="6079503" y="5728701"/>
            <a:ext cx="1648480" cy="715581"/>
          </a:xfrm>
          <a:prstGeom prst="rect">
            <a:avLst/>
          </a:prstGeom>
          <a:noFill/>
        </p:spPr>
        <p:txBody>
          <a:bodyPr wrap="square" rtlCol="0">
            <a:spAutoFit/>
          </a:bodyPr>
          <a:lstStyle/>
          <a:p>
            <a:pPr algn="ctr"/>
            <a:r>
              <a:rPr lang="en-US" sz="1350" dirty="0"/>
              <a:t>This actually adds the points to the plot.</a:t>
            </a:r>
          </a:p>
        </p:txBody>
      </p:sp>
      <p:sp>
        <p:nvSpPr>
          <p:cNvPr id="12" name="Up Arrow 11"/>
          <p:cNvSpPr/>
          <p:nvPr/>
        </p:nvSpPr>
        <p:spPr>
          <a:xfrm>
            <a:off x="8715533" y="5273036"/>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p:cNvSpPr txBox="1"/>
          <p:nvPr/>
        </p:nvSpPr>
        <p:spPr>
          <a:xfrm>
            <a:off x="7985886" y="5770084"/>
            <a:ext cx="1648480" cy="507831"/>
          </a:xfrm>
          <a:prstGeom prst="rect">
            <a:avLst/>
          </a:prstGeom>
          <a:noFill/>
        </p:spPr>
        <p:txBody>
          <a:bodyPr wrap="square" rtlCol="0">
            <a:spAutoFit/>
          </a:bodyPr>
          <a:lstStyle/>
          <a:p>
            <a:pPr algn="ctr"/>
            <a:r>
              <a:rPr lang="en-US" sz="1350" dirty="0"/>
              <a:t>This fits and plots the regression line. </a:t>
            </a:r>
          </a:p>
        </p:txBody>
      </p:sp>
      <p:pic>
        <p:nvPicPr>
          <p:cNvPr id="14" name="Picture 13"/>
          <p:cNvPicPr>
            <a:picLocks noChangeAspect="1"/>
          </p:cNvPicPr>
          <p:nvPr/>
        </p:nvPicPr>
        <p:blipFill>
          <a:blip r:embed="rId2"/>
          <a:stretch>
            <a:fillRect/>
          </a:stretch>
        </p:blipFill>
        <p:spPr>
          <a:xfrm>
            <a:off x="4700642" y="1600200"/>
            <a:ext cx="3285245" cy="3319782"/>
          </a:xfrm>
          <a:prstGeom prst="rect">
            <a:avLst/>
          </a:prstGeom>
        </p:spPr>
      </p:pic>
      <p:pic>
        <p:nvPicPr>
          <p:cNvPr id="3" name="Picture 2"/>
          <p:cNvPicPr>
            <a:picLocks noChangeAspect="1"/>
          </p:cNvPicPr>
          <p:nvPr/>
        </p:nvPicPr>
        <p:blipFill>
          <a:blip r:embed="rId3"/>
          <a:stretch>
            <a:fillRect/>
          </a:stretch>
        </p:blipFill>
        <p:spPr>
          <a:xfrm>
            <a:off x="2586830" y="4948045"/>
            <a:ext cx="6858905" cy="208589"/>
          </a:xfrm>
          <a:prstGeom prst="rect">
            <a:avLst/>
          </a:prstGeom>
        </p:spPr>
      </p:pic>
      <p:sp>
        <p:nvSpPr>
          <p:cNvPr id="15" name="Up Arrow 14"/>
          <p:cNvSpPr/>
          <p:nvPr/>
        </p:nvSpPr>
        <p:spPr>
          <a:xfrm>
            <a:off x="5397761" y="5245179"/>
            <a:ext cx="189186" cy="3665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TextBox 15"/>
          <p:cNvSpPr txBox="1"/>
          <p:nvPr/>
        </p:nvSpPr>
        <p:spPr>
          <a:xfrm>
            <a:off x="4724769" y="5742228"/>
            <a:ext cx="1535173" cy="715581"/>
          </a:xfrm>
          <a:prstGeom prst="rect">
            <a:avLst/>
          </a:prstGeom>
          <a:noFill/>
        </p:spPr>
        <p:txBody>
          <a:bodyPr wrap="square" rtlCol="0">
            <a:spAutoFit/>
          </a:bodyPr>
          <a:lstStyle/>
          <a:p>
            <a:pPr algn="ctr"/>
            <a:r>
              <a:rPr lang="en-US" sz="1350" dirty="0"/>
              <a:t>This identifies the two groups to plot a fit.  </a:t>
            </a:r>
          </a:p>
        </p:txBody>
      </p:sp>
    </p:spTree>
    <p:extLst>
      <p:ext uri="{BB962C8B-B14F-4D97-AF65-F5344CB8AC3E}">
        <p14:creationId xmlns:p14="http://schemas.microsoft.com/office/powerpoint/2010/main" val="2797634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P spid="12" grpId="0" animBg="1"/>
      <p:bldP spid="13" grpId="0"/>
      <p:bldP spid="15" grpId="0" animBg="1"/>
      <p:bldP spid="1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But back to the question!</a:t>
            </a:r>
            <a:br>
              <a:rPr lang="en-US" dirty="0"/>
            </a:br>
            <a:r>
              <a:rPr lang="en-US" dirty="0"/>
              <a:t>A Comparison of Y-Intercepts</a:t>
            </a:r>
          </a:p>
        </p:txBody>
      </p:sp>
      <p:pic>
        <p:nvPicPr>
          <p:cNvPr id="4" name="Picture 3"/>
          <p:cNvPicPr>
            <a:picLocks noChangeAspect="1"/>
          </p:cNvPicPr>
          <p:nvPr/>
        </p:nvPicPr>
        <p:blipFill>
          <a:blip r:embed="rId2"/>
          <a:stretch>
            <a:fillRect/>
          </a:stretch>
        </p:blipFill>
        <p:spPr>
          <a:xfrm>
            <a:off x="6205085" y="2217028"/>
            <a:ext cx="2117905" cy="2140169"/>
          </a:xfrm>
          <a:prstGeom prst="rect">
            <a:avLst/>
          </a:prstGeom>
        </p:spPr>
      </p:pic>
      <p:pic>
        <p:nvPicPr>
          <p:cNvPr id="5" name="Picture 4"/>
          <p:cNvPicPr>
            <a:picLocks noChangeAspect="1"/>
          </p:cNvPicPr>
          <p:nvPr/>
        </p:nvPicPr>
        <p:blipFill>
          <a:blip r:embed="rId3"/>
          <a:stretch>
            <a:fillRect/>
          </a:stretch>
        </p:blipFill>
        <p:spPr>
          <a:xfrm>
            <a:off x="1524001" y="2217027"/>
            <a:ext cx="2109674" cy="2140169"/>
          </a:xfrm>
          <a:prstGeom prst="rect">
            <a:avLst/>
          </a:prstGeom>
        </p:spPr>
      </p:pic>
      <p:pic>
        <p:nvPicPr>
          <p:cNvPr id="6" name="Picture 5"/>
          <p:cNvPicPr>
            <a:picLocks noChangeAspect="1"/>
          </p:cNvPicPr>
          <p:nvPr/>
        </p:nvPicPr>
        <p:blipFill>
          <a:blip r:embed="rId4"/>
          <a:stretch>
            <a:fillRect/>
          </a:stretch>
        </p:blipFill>
        <p:spPr>
          <a:xfrm>
            <a:off x="3697768" y="2217027"/>
            <a:ext cx="2137396" cy="2140169"/>
          </a:xfrm>
          <a:prstGeom prst="rect">
            <a:avLst/>
          </a:prstGeom>
        </p:spPr>
      </p:pic>
      <p:pic>
        <p:nvPicPr>
          <p:cNvPr id="7" name="Picture 6"/>
          <p:cNvPicPr>
            <a:picLocks noChangeAspect="1"/>
          </p:cNvPicPr>
          <p:nvPr/>
        </p:nvPicPr>
        <p:blipFill>
          <a:blip r:embed="rId5"/>
          <a:stretch>
            <a:fillRect/>
          </a:stretch>
        </p:blipFill>
        <p:spPr>
          <a:xfrm>
            <a:off x="8317264" y="2217027"/>
            <a:ext cx="2142949" cy="2140169"/>
          </a:xfrm>
          <a:prstGeom prst="rect">
            <a:avLst/>
          </a:prstGeom>
        </p:spPr>
      </p:pic>
      <p:pic>
        <p:nvPicPr>
          <p:cNvPr id="3" name="Picture 2"/>
          <p:cNvPicPr>
            <a:picLocks noChangeAspect="1"/>
          </p:cNvPicPr>
          <p:nvPr/>
        </p:nvPicPr>
        <p:blipFill>
          <a:blip r:embed="rId6"/>
          <a:stretch>
            <a:fillRect/>
          </a:stretch>
        </p:blipFill>
        <p:spPr>
          <a:xfrm>
            <a:off x="3890248" y="4357195"/>
            <a:ext cx="2157640" cy="1440324"/>
          </a:xfrm>
          <a:prstGeom prst="rect">
            <a:avLst/>
          </a:prstGeom>
        </p:spPr>
      </p:pic>
      <p:pic>
        <p:nvPicPr>
          <p:cNvPr id="8" name="Picture 7"/>
          <p:cNvPicPr>
            <a:picLocks noChangeAspect="1"/>
          </p:cNvPicPr>
          <p:nvPr/>
        </p:nvPicPr>
        <p:blipFill>
          <a:blip r:embed="rId7"/>
          <a:stretch>
            <a:fillRect/>
          </a:stretch>
        </p:blipFill>
        <p:spPr>
          <a:xfrm>
            <a:off x="1734217" y="4448955"/>
            <a:ext cx="2028050" cy="1435646"/>
          </a:xfrm>
          <a:prstGeom prst="rect">
            <a:avLst/>
          </a:prstGeom>
        </p:spPr>
      </p:pic>
      <p:pic>
        <p:nvPicPr>
          <p:cNvPr id="9" name="Picture 8"/>
          <p:cNvPicPr>
            <a:picLocks noChangeAspect="1"/>
          </p:cNvPicPr>
          <p:nvPr/>
        </p:nvPicPr>
        <p:blipFill>
          <a:blip r:embed="rId8"/>
          <a:stretch>
            <a:fillRect/>
          </a:stretch>
        </p:blipFill>
        <p:spPr>
          <a:xfrm>
            <a:off x="8455709" y="4451417"/>
            <a:ext cx="2141345" cy="1433184"/>
          </a:xfrm>
          <a:prstGeom prst="rect">
            <a:avLst/>
          </a:prstGeom>
        </p:spPr>
      </p:pic>
      <p:pic>
        <p:nvPicPr>
          <p:cNvPr id="10" name="Picture 9"/>
          <p:cNvPicPr>
            <a:picLocks noChangeAspect="1"/>
          </p:cNvPicPr>
          <p:nvPr/>
        </p:nvPicPr>
        <p:blipFill>
          <a:blip r:embed="rId9"/>
          <a:stretch>
            <a:fillRect/>
          </a:stretch>
        </p:blipFill>
        <p:spPr>
          <a:xfrm>
            <a:off x="6326648" y="4448956"/>
            <a:ext cx="2040974" cy="1435646"/>
          </a:xfrm>
          <a:prstGeom prst="rect">
            <a:avLst/>
          </a:prstGeom>
        </p:spPr>
      </p:pic>
      <p:cxnSp>
        <p:nvCxnSpPr>
          <p:cNvPr id="12" name="Straight Connector 11"/>
          <p:cNvCxnSpPr/>
          <p:nvPr/>
        </p:nvCxnSpPr>
        <p:spPr>
          <a:xfrm>
            <a:off x="6142484" y="2217027"/>
            <a:ext cx="0" cy="36675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6230571" y="2118491"/>
            <a:ext cx="2135909" cy="37661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1722394" y="5356353"/>
            <a:ext cx="1610701" cy="1052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14"/>
          <p:cNvSpPr/>
          <p:nvPr/>
        </p:nvSpPr>
        <p:spPr>
          <a:xfrm>
            <a:off x="6341752" y="5356353"/>
            <a:ext cx="1693337" cy="1052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15"/>
          <p:cNvSpPr/>
          <p:nvPr/>
        </p:nvSpPr>
        <p:spPr>
          <a:xfrm>
            <a:off x="3705648" y="2118492"/>
            <a:ext cx="2350120" cy="37661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83327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nodeType="with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Hypothesis Test of the Categorical Variable</a:t>
            </a:r>
          </a:p>
        </p:txBody>
      </p:sp>
      <p:pic>
        <p:nvPicPr>
          <p:cNvPr id="4" name="Picture 3"/>
          <p:cNvPicPr>
            <a:picLocks noChangeAspect="1"/>
          </p:cNvPicPr>
          <p:nvPr/>
        </p:nvPicPr>
        <p:blipFill>
          <a:blip r:embed="rId2"/>
          <a:stretch>
            <a:fillRect/>
          </a:stretch>
        </p:blipFill>
        <p:spPr>
          <a:xfrm>
            <a:off x="4347712" y="2125266"/>
            <a:ext cx="4791032" cy="3391546"/>
          </a:xfrm>
          <a:prstGeom prst="rect">
            <a:avLst/>
          </a:prstGeom>
        </p:spPr>
      </p:pic>
      <p:sp>
        <p:nvSpPr>
          <p:cNvPr id="6" name="Right Arrow 5"/>
          <p:cNvSpPr/>
          <p:nvPr/>
        </p:nvSpPr>
        <p:spPr>
          <a:xfrm>
            <a:off x="3628698" y="4298075"/>
            <a:ext cx="626679" cy="2128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p:cNvSpPr txBox="1"/>
          <p:nvPr/>
        </p:nvSpPr>
        <p:spPr>
          <a:xfrm>
            <a:off x="1333836" y="4131252"/>
            <a:ext cx="2566821" cy="715581"/>
          </a:xfrm>
          <a:prstGeom prst="rect">
            <a:avLst/>
          </a:prstGeom>
          <a:noFill/>
        </p:spPr>
        <p:txBody>
          <a:bodyPr wrap="square" rtlCol="0">
            <a:spAutoFit/>
          </a:bodyPr>
          <a:lstStyle/>
          <a:p>
            <a:r>
              <a:rPr lang="en-US" sz="1350" dirty="0"/>
              <a:t>This is an estimate of the </a:t>
            </a:r>
            <a:r>
              <a:rPr lang="en-US" sz="1350" b="1" i="1" u="sng" dirty="0"/>
              <a:t>DIFFERENCE</a:t>
            </a:r>
            <a:r>
              <a:rPr lang="en-US" sz="1350" dirty="0"/>
              <a:t> between the Type A and Type B Intercepts. </a:t>
            </a:r>
          </a:p>
        </p:txBody>
      </p:sp>
      <p:sp>
        <p:nvSpPr>
          <p:cNvPr id="8" name="Right Arrow 7"/>
          <p:cNvSpPr/>
          <p:nvPr/>
        </p:nvSpPr>
        <p:spPr>
          <a:xfrm rot="953029">
            <a:off x="3703874" y="3861657"/>
            <a:ext cx="626679" cy="2128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p:cNvSpPr txBox="1"/>
          <p:nvPr/>
        </p:nvSpPr>
        <p:spPr>
          <a:xfrm>
            <a:off x="1962888" y="3442636"/>
            <a:ext cx="2008133" cy="507831"/>
          </a:xfrm>
          <a:prstGeom prst="rect">
            <a:avLst/>
          </a:prstGeom>
          <a:noFill/>
        </p:spPr>
        <p:txBody>
          <a:bodyPr wrap="square" rtlCol="0">
            <a:spAutoFit/>
          </a:bodyPr>
          <a:lstStyle/>
          <a:p>
            <a:r>
              <a:rPr lang="en-US" sz="1350" dirty="0"/>
              <a:t>This is an estimate of the Type A intercept.</a:t>
            </a:r>
          </a:p>
        </p:txBody>
      </p:sp>
      <p:pic>
        <p:nvPicPr>
          <p:cNvPr id="10" name="Picture 9"/>
          <p:cNvPicPr>
            <a:picLocks noChangeAspect="1"/>
          </p:cNvPicPr>
          <p:nvPr/>
        </p:nvPicPr>
        <p:blipFill>
          <a:blip r:embed="rId3"/>
          <a:stretch>
            <a:fillRect/>
          </a:stretch>
        </p:blipFill>
        <p:spPr>
          <a:xfrm>
            <a:off x="8602294" y="2125267"/>
            <a:ext cx="1967012" cy="1995445"/>
          </a:xfrm>
          <a:prstGeom prst="rect">
            <a:avLst/>
          </a:prstGeom>
        </p:spPr>
      </p:pic>
      <p:sp>
        <p:nvSpPr>
          <p:cNvPr id="3" name="Rectangle 2"/>
          <p:cNvSpPr/>
          <p:nvPr/>
        </p:nvSpPr>
        <p:spPr>
          <a:xfrm>
            <a:off x="438430" y="4988722"/>
            <a:ext cx="3617628" cy="507831"/>
          </a:xfrm>
          <a:prstGeom prst="rect">
            <a:avLst/>
          </a:prstGeom>
        </p:spPr>
        <p:txBody>
          <a:bodyPr wrap="square">
            <a:spAutoFit/>
          </a:bodyPr>
          <a:lstStyle/>
          <a:p>
            <a:r>
              <a:rPr lang="en-US" sz="1350" dirty="0"/>
              <a:t>The difference in intercepts  is NOT significantly different from 0. (p-value = .666)</a:t>
            </a:r>
          </a:p>
        </p:txBody>
      </p:sp>
    </p:spTree>
    <p:extLst>
      <p:ext uri="{BB962C8B-B14F-4D97-AF65-F5344CB8AC3E}">
        <p14:creationId xmlns:p14="http://schemas.microsoft.com/office/powerpoint/2010/main" val="867847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81000"/>
            <a:ext cx="12192000" cy="670954"/>
          </a:xfrm>
        </p:spPr>
        <p:txBody>
          <a:bodyPr>
            <a:normAutofit fontScale="90000"/>
          </a:bodyPr>
          <a:lstStyle/>
          <a:p>
            <a:r>
              <a:rPr lang="en-US" dirty="0"/>
              <a:t>Hypothesis Test of the Categorical Variable</a:t>
            </a:r>
          </a:p>
        </p:txBody>
      </p:sp>
      <p:sp>
        <p:nvSpPr>
          <p:cNvPr id="6" name="Right Arrow 5"/>
          <p:cNvSpPr/>
          <p:nvPr/>
        </p:nvSpPr>
        <p:spPr>
          <a:xfrm>
            <a:off x="3628698" y="4394475"/>
            <a:ext cx="626679" cy="2128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TextBox 6"/>
          <p:cNvSpPr txBox="1"/>
          <p:nvPr/>
        </p:nvSpPr>
        <p:spPr>
          <a:xfrm>
            <a:off x="1311637" y="4217111"/>
            <a:ext cx="2345963" cy="923330"/>
          </a:xfrm>
          <a:prstGeom prst="rect">
            <a:avLst/>
          </a:prstGeom>
          <a:noFill/>
        </p:spPr>
        <p:txBody>
          <a:bodyPr wrap="square" rtlCol="0">
            <a:spAutoFit/>
          </a:bodyPr>
          <a:lstStyle/>
          <a:p>
            <a:r>
              <a:rPr lang="en-US" sz="1350" dirty="0"/>
              <a:t>This is an estimate of the </a:t>
            </a:r>
            <a:r>
              <a:rPr lang="en-US" sz="1350" b="1" i="1" u="sng" dirty="0"/>
              <a:t>DIFFERENCE</a:t>
            </a:r>
            <a:r>
              <a:rPr lang="en-US" sz="1350" dirty="0"/>
              <a:t> between the Type A and Type B Intercepts.</a:t>
            </a:r>
          </a:p>
        </p:txBody>
      </p:sp>
      <p:sp>
        <p:nvSpPr>
          <p:cNvPr id="8" name="Right Arrow 7"/>
          <p:cNvSpPr/>
          <p:nvPr/>
        </p:nvSpPr>
        <p:spPr>
          <a:xfrm rot="953029">
            <a:off x="3739347" y="3908955"/>
            <a:ext cx="626679" cy="2128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p:cNvSpPr txBox="1"/>
          <p:nvPr/>
        </p:nvSpPr>
        <p:spPr>
          <a:xfrm>
            <a:off x="2030467" y="3467435"/>
            <a:ext cx="2008133" cy="507831"/>
          </a:xfrm>
          <a:prstGeom prst="rect">
            <a:avLst/>
          </a:prstGeom>
          <a:noFill/>
        </p:spPr>
        <p:txBody>
          <a:bodyPr wrap="square" rtlCol="0">
            <a:spAutoFit/>
          </a:bodyPr>
          <a:lstStyle/>
          <a:p>
            <a:r>
              <a:rPr lang="en-US" sz="1350" dirty="0"/>
              <a:t>This is an estimate of the Type A intercept.</a:t>
            </a:r>
          </a:p>
        </p:txBody>
      </p:sp>
      <p:pic>
        <p:nvPicPr>
          <p:cNvPr id="11" name="Picture 10"/>
          <p:cNvPicPr>
            <a:picLocks noChangeAspect="1"/>
          </p:cNvPicPr>
          <p:nvPr/>
        </p:nvPicPr>
        <p:blipFill>
          <a:blip r:embed="rId2"/>
          <a:stretch>
            <a:fillRect/>
          </a:stretch>
        </p:blipFill>
        <p:spPr>
          <a:xfrm>
            <a:off x="4347715" y="2271673"/>
            <a:ext cx="4643681" cy="3266423"/>
          </a:xfrm>
          <a:prstGeom prst="rect">
            <a:avLst/>
          </a:prstGeom>
        </p:spPr>
      </p:pic>
      <p:pic>
        <p:nvPicPr>
          <p:cNvPr id="12" name="Picture 11"/>
          <p:cNvPicPr>
            <a:picLocks noChangeAspect="1"/>
          </p:cNvPicPr>
          <p:nvPr/>
        </p:nvPicPr>
        <p:blipFill>
          <a:blip r:embed="rId3"/>
          <a:stretch>
            <a:fillRect/>
          </a:stretch>
        </p:blipFill>
        <p:spPr>
          <a:xfrm>
            <a:off x="8307400" y="1910067"/>
            <a:ext cx="2283044" cy="2307045"/>
          </a:xfrm>
          <a:prstGeom prst="rect">
            <a:avLst/>
          </a:prstGeom>
        </p:spPr>
      </p:pic>
      <p:sp>
        <p:nvSpPr>
          <p:cNvPr id="13" name="TextBox 12"/>
          <p:cNvSpPr txBox="1"/>
          <p:nvPr/>
        </p:nvSpPr>
        <p:spPr>
          <a:xfrm>
            <a:off x="1371600" y="5181600"/>
            <a:ext cx="2635471" cy="715581"/>
          </a:xfrm>
          <a:prstGeom prst="rect">
            <a:avLst/>
          </a:prstGeom>
          <a:noFill/>
        </p:spPr>
        <p:txBody>
          <a:bodyPr wrap="square" rtlCol="0">
            <a:spAutoFit/>
          </a:bodyPr>
          <a:lstStyle/>
          <a:p>
            <a:r>
              <a:rPr lang="en-US" sz="1350" dirty="0"/>
              <a:t>Type B’s Intercept is estimated to be 9.93 units bigger than Type A’s intercept.</a:t>
            </a:r>
          </a:p>
        </p:txBody>
      </p:sp>
      <p:sp>
        <p:nvSpPr>
          <p:cNvPr id="3" name="Rectangle 2"/>
          <p:cNvSpPr/>
          <p:nvPr/>
        </p:nvSpPr>
        <p:spPr>
          <a:xfrm>
            <a:off x="1428350" y="6024518"/>
            <a:ext cx="4591450" cy="300082"/>
          </a:xfrm>
          <a:prstGeom prst="rect">
            <a:avLst/>
          </a:prstGeom>
        </p:spPr>
        <p:txBody>
          <a:bodyPr wrap="none">
            <a:spAutoFit/>
          </a:bodyPr>
          <a:lstStyle/>
          <a:p>
            <a:r>
              <a:rPr lang="en-US" sz="1350" dirty="0"/>
              <a:t>Type B’s Estimated Intercept = 50.27 + 9.93 = 60.20 units</a:t>
            </a:r>
          </a:p>
        </p:txBody>
      </p:sp>
      <p:sp>
        <p:nvSpPr>
          <p:cNvPr id="5" name="TextBox 4"/>
          <p:cNvSpPr txBox="1"/>
          <p:nvPr/>
        </p:nvSpPr>
        <p:spPr>
          <a:xfrm>
            <a:off x="9343864" y="2362200"/>
            <a:ext cx="534057" cy="923330"/>
          </a:xfrm>
          <a:prstGeom prst="rect">
            <a:avLst/>
          </a:prstGeom>
          <a:noFill/>
        </p:spPr>
        <p:txBody>
          <a:bodyPr wrap="square" rtlCol="0">
            <a:spAutoFit/>
          </a:bodyPr>
          <a:lstStyle/>
          <a:p>
            <a:r>
              <a:rPr lang="en-US" sz="5400" dirty="0"/>
              <a:t>{</a:t>
            </a:r>
          </a:p>
        </p:txBody>
      </p:sp>
      <p:sp>
        <p:nvSpPr>
          <p:cNvPr id="10" name="TextBox 9"/>
          <p:cNvSpPr txBox="1"/>
          <p:nvPr/>
        </p:nvSpPr>
        <p:spPr>
          <a:xfrm>
            <a:off x="9029332" y="2925088"/>
            <a:ext cx="848589" cy="300082"/>
          </a:xfrm>
          <a:prstGeom prst="rect">
            <a:avLst/>
          </a:prstGeom>
          <a:noFill/>
        </p:spPr>
        <p:txBody>
          <a:bodyPr wrap="square" rtlCol="0">
            <a:spAutoFit/>
          </a:bodyPr>
          <a:lstStyle/>
          <a:p>
            <a:r>
              <a:rPr lang="en-US" sz="1350" b="1" dirty="0"/>
              <a:t>9.93</a:t>
            </a:r>
          </a:p>
        </p:txBody>
      </p:sp>
      <p:sp>
        <p:nvSpPr>
          <p:cNvPr id="14" name="TextBox 13"/>
          <p:cNvSpPr txBox="1"/>
          <p:nvPr/>
        </p:nvSpPr>
        <p:spPr>
          <a:xfrm>
            <a:off x="8265690" y="3058356"/>
            <a:ext cx="534057" cy="923330"/>
          </a:xfrm>
          <a:prstGeom prst="rect">
            <a:avLst/>
          </a:prstGeom>
          <a:noFill/>
        </p:spPr>
        <p:txBody>
          <a:bodyPr wrap="square" rtlCol="0">
            <a:spAutoFit/>
          </a:bodyPr>
          <a:lstStyle/>
          <a:p>
            <a:r>
              <a:rPr lang="en-US" sz="5400" dirty="0"/>
              <a:t>{</a:t>
            </a:r>
          </a:p>
        </p:txBody>
      </p:sp>
      <p:sp>
        <p:nvSpPr>
          <p:cNvPr id="15" name="TextBox 14"/>
          <p:cNvSpPr txBox="1"/>
          <p:nvPr/>
        </p:nvSpPr>
        <p:spPr>
          <a:xfrm>
            <a:off x="7951158" y="3571617"/>
            <a:ext cx="848589" cy="300082"/>
          </a:xfrm>
          <a:prstGeom prst="rect">
            <a:avLst/>
          </a:prstGeom>
          <a:noFill/>
        </p:spPr>
        <p:txBody>
          <a:bodyPr wrap="square" rtlCol="0">
            <a:spAutoFit/>
          </a:bodyPr>
          <a:lstStyle/>
          <a:p>
            <a:r>
              <a:rPr lang="en-US" sz="1350" b="1" dirty="0"/>
              <a:t>9.93</a:t>
            </a:r>
          </a:p>
        </p:txBody>
      </p:sp>
      <p:sp>
        <p:nvSpPr>
          <p:cNvPr id="16" name="TextBox 15"/>
          <p:cNvSpPr txBox="1"/>
          <p:nvPr/>
        </p:nvSpPr>
        <p:spPr>
          <a:xfrm>
            <a:off x="9067800" y="3530769"/>
            <a:ext cx="1447677" cy="507831"/>
          </a:xfrm>
          <a:prstGeom prst="rect">
            <a:avLst/>
          </a:prstGeom>
          <a:noFill/>
        </p:spPr>
        <p:txBody>
          <a:bodyPr wrap="square" rtlCol="0">
            <a:spAutoFit/>
          </a:bodyPr>
          <a:lstStyle/>
          <a:p>
            <a:r>
              <a:rPr lang="en-US" sz="1350" b="1" dirty="0"/>
              <a:t>Since the lines are parallel.</a:t>
            </a:r>
          </a:p>
        </p:txBody>
      </p:sp>
    </p:spTree>
    <p:extLst>
      <p:ext uri="{BB962C8B-B14F-4D97-AF65-F5344CB8AC3E}">
        <p14:creationId xmlns:p14="http://schemas.microsoft.com/office/powerpoint/2010/main" val="55407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fade">
                                      <p:cBhvr>
                                        <p:cTn id="54" dur="5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3" grpId="0"/>
      <p:bldP spid="3" grpId="0"/>
      <p:bldP spid="5" grpId="0"/>
      <p:bldP spid="10" grpId="0"/>
      <p:bldP spid="14" grpId="0"/>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0"/>
            <a:ext cx="11049000" cy="1344848"/>
          </a:xfrm>
        </p:spPr>
        <p:txBody>
          <a:bodyPr>
            <a:normAutofit/>
          </a:bodyPr>
          <a:lstStyle/>
          <a:p>
            <a:r>
              <a:rPr lang="en-US" dirty="0"/>
              <a:t>Hypothesis Test of the Categorical Variable</a:t>
            </a:r>
          </a:p>
        </p:txBody>
      </p:sp>
      <p:pic>
        <p:nvPicPr>
          <p:cNvPr id="11" name="Picture 10"/>
          <p:cNvPicPr>
            <a:picLocks noChangeAspect="1"/>
          </p:cNvPicPr>
          <p:nvPr/>
        </p:nvPicPr>
        <p:blipFill>
          <a:blip r:embed="rId2"/>
          <a:stretch>
            <a:fillRect/>
          </a:stretch>
        </p:blipFill>
        <p:spPr>
          <a:xfrm>
            <a:off x="2573482" y="1802048"/>
            <a:ext cx="4118248" cy="2896826"/>
          </a:xfrm>
          <a:prstGeom prst="rect">
            <a:avLst/>
          </a:prstGeom>
        </p:spPr>
      </p:pic>
      <p:pic>
        <p:nvPicPr>
          <p:cNvPr id="12" name="Picture 11"/>
          <p:cNvPicPr>
            <a:picLocks noChangeAspect="1"/>
          </p:cNvPicPr>
          <p:nvPr/>
        </p:nvPicPr>
        <p:blipFill>
          <a:blip r:embed="rId3"/>
          <a:stretch>
            <a:fillRect/>
          </a:stretch>
        </p:blipFill>
        <p:spPr>
          <a:xfrm>
            <a:off x="7032718" y="1802047"/>
            <a:ext cx="3006632" cy="3038240"/>
          </a:xfrm>
          <a:prstGeom prst="rect">
            <a:avLst/>
          </a:prstGeom>
        </p:spPr>
      </p:pic>
      <mc:AlternateContent xmlns:mc="http://schemas.openxmlformats.org/markup-compatibility/2006" xmlns:a14="http://schemas.microsoft.com/office/drawing/2010/main">
        <mc:Choice Requires="a14">
          <p:sp>
            <p:nvSpPr>
              <p:cNvPr id="18" name="TextBox 17"/>
              <p:cNvSpPr txBox="1"/>
              <p:nvPr/>
            </p:nvSpPr>
            <p:spPr>
              <a:xfrm>
                <a:off x="4034320" y="5010654"/>
                <a:ext cx="2314736"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rgbClr val="FF0000"/>
                          </a:solidFill>
                          <a:latin typeface="Cambria Math" charset="0"/>
                        </a:rPr>
                        <m:t>𝑻𝒚𝒑𝒆</m:t>
                      </m:r>
                      <m:r>
                        <a:rPr lang="en-US" sz="1350" b="1" i="1">
                          <a:solidFill>
                            <a:srgbClr val="FF0000"/>
                          </a:solidFill>
                          <a:latin typeface="Cambria Math" charset="0"/>
                        </a:rPr>
                        <m:t> </m:t>
                      </m:r>
                      <m:r>
                        <a:rPr lang="en-US" sz="1350" b="1" i="1">
                          <a:solidFill>
                            <a:srgbClr val="FF0000"/>
                          </a:solidFill>
                          <a:latin typeface="Cambria Math" charset="0"/>
                        </a:rPr>
                        <m:t>𝑨</m:t>
                      </m:r>
                      <m:r>
                        <a:rPr lang="en-US" sz="1350" b="1" i="1">
                          <a:solidFill>
                            <a:srgbClr val="FF0000"/>
                          </a:solidFill>
                          <a:latin typeface="Cambria Math" charset="0"/>
                        </a:rPr>
                        <m:t>:   </m:t>
                      </m:r>
                      <m:acc>
                        <m:accPr>
                          <m:chr m:val="̂"/>
                          <m:ctrlPr>
                            <a:rPr lang="en-US" sz="1350" b="1" i="1">
                              <a:solidFill>
                                <a:srgbClr val="FF0000"/>
                              </a:solidFill>
                              <a:latin typeface="Cambria Math" panose="02040503050406030204" pitchFamily="18" charset="0"/>
                            </a:rPr>
                          </m:ctrlPr>
                        </m:accPr>
                        <m:e>
                          <m:r>
                            <a:rPr lang="en-US" sz="1350" b="1" i="1">
                              <a:solidFill>
                                <a:srgbClr val="FF0000"/>
                              </a:solidFill>
                              <a:latin typeface="Cambria Math" charset="0"/>
                            </a:rPr>
                            <m:t>𝒀</m:t>
                          </m:r>
                        </m:e>
                      </m:acc>
                      <m:r>
                        <a:rPr lang="en-US" sz="1350" b="1" i="1">
                          <a:solidFill>
                            <a:srgbClr val="FF0000"/>
                          </a:solidFill>
                          <a:latin typeface="Cambria Math" charset="0"/>
                        </a:rPr>
                        <m:t>=</m:t>
                      </m:r>
                      <m:r>
                        <a:rPr lang="en-US" sz="1350" b="1" i="1">
                          <a:solidFill>
                            <a:srgbClr val="FF0000"/>
                          </a:solidFill>
                          <a:latin typeface="Cambria Math" charset="0"/>
                        </a:rPr>
                        <m:t>𝟓𝟎</m:t>
                      </m:r>
                      <m:r>
                        <a:rPr lang="en-US" sz="1350" b="1" i="1">
                          <a:solidFill>
                            <a:srgbClr val="FF0000"/>
                          </a:solidFill>
                          <a:latin typeface="Cambria Math" charset="0"/>
                        </a:rPr>
                        <m:t>.</m:t>
                      </m:r>
                      <m:r>
                        <a:rPr lang="en-US" sz="1350" b="1" i="1">
                          <a:solidFill>
                            <a:srgbClr val="FF0000"/>
                          </a:solidFill>
                          <a:latin typeface="Cambria Math" charset="0"/>
                        </a:rPr>
                        <m:t>𝟐𝟕</m:t>
                      </m:r>
                      <m:r>
                        <a:rPr lang="en-US" sz="1350" b="1" i="1">
                          <a:solidFill>
                            <a:srgbClr val="FF0000"/>
                          </a:solidFill>
                          <a:latin typeface="Cambria Math" charset="0"/>
                        </a:rPr>
                        <m:t>+</m:t>
                      </m:r>
                      <m:r>
                        <a:rPr lang="en-US" sz="1350" b="1" i="1">
                          <a:solidFill>
                            <a:srgbClr val="FF0000"/>
                          </a:solidFill>
                          <a:latin typeface="Cambria Math" charset="0"/>
                        </a:rPr>
                        <m:t>𝟐</m:t>
                      </m:r>
                      <m:r>
                        <a:rPr lang="en-US" sz="1350" b="1" i="1">
                          <a:solidFill>
                            <a:srgbClr val="FF0000"/>
                          </a:solidFill>
                          <a:latin typeface="Cambria Math" charset="0"/>
                        </a:rPr>
                        <m:t>.</m:t>
                      </m:r>
                      <m:r>
                        <a:rPr lang="en-US" sz="1350" b="1" i="1">
                          <a:solidFill>
                            <a:srgbClr val="FF0000"/>
                          </a:solidFill>
                          <a:latin typeface="Cambria Math" charset="0"/>
                        </a:rPr>
                        <m:t>𝟗𝟗</m:t>
                      </m:r>
                      <m:r>
                        <a:rPr lang="en-US" sz="1350" b="1" i="1">
                          <a:solidFill>
                            <a:srgbClr val="FF0000"/>
                          </a:solidFill>
                          <a:latin typeface="Cambria Math" charset="0"/>
                        </a:rPr>
                        <m:t>𝑿</m:t>
                      </m:r>
                    </m:oMath>
                  </m:oMathPara>
                </a14:m>
                <a:endParaRPr lang="en-US" sz="1350" b="1" dirty="0">
                  <a:solidFill>
                    <a:srgbClr val="FF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4034320" y="5010654"/>
                <a:ext cx="2314736" cy="213392"/>
              </a:xfrm>
              <a:prstGeom prst="rect">
                <a:avLst/>
              </a:prstGeom>
              <a:blipFill>
                <a:blip r:embed="rId4"/>
                <a:stretch>
                  <a:fillRect l="-2174" t="-16667" r="-1087"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034321" y="5389796"/>
                <a:ext cx="4463851"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chemeClr val="accent6">
                              <a:lumMod val="75000"/>
                            </a:schemeClr>
                          </a:solidFill>
                          <a:latin typeface="Cambria Math" charset="0"/>
                        </a:rPr>
                        <m:t>𝑻𝒚𝒑𝒆</m:t>
                      </m:r>
                      <m:r>
                        <a:rPr lang="en-US" sz="1350" b="1" i="1">
                          <a:solidFill>
                            <a:schemeClr val="accent6">
                              <a:lumMod val="75000"/>
                            </a:schemeClr>
                          </a:solidFill>
                          <a:latin typeface="Cambria Math" charset="0"/>
                        </a:rPr>
                        <m:t> </m:t>
                      </m:r>
                      <m:r>
                        <a:rPr lang="en-US" sz="1350" b="1" i="1">
                          <a:solidFill>
                            <a:schemeClr val="accent6">
                              <a:lumMod val="75000"/>
                            </a:schemeClr>
                          </a:solidFill>
                          <a:latin typeface="Cambria Math" charset="0"/>
                        </a:rPr>
                        <m:t>𝑩</m:t>
                      </m:r>
                      <m:r>
                        <a:rPr lang="en-US" sz="1350" b="1" i="1">
                          <a:solidFill>
                            <a:schemeClr val="accent6">
                              <a:lumMod val="75000"/>
                            </a:schemeClr>
                          </a:solidFill>
                          <a:latin typeface="Cambria Math" charset="0"/>
                        </a:rPr>
                        <m:t>:   </m:t>
                      </m:r>
                      <m:acc>
                        <m:accPr>
                          <m:chr m:val="̂"/>
                          <m:ctrlPr>
                            <a:rPr lang="en-US" sz="1350" b="1" i="1">
                              <a:solidFill>
                                <a:schemeClr val="accent6">
                                  <a:lumMod val="75000"/>
                                </a:schemeClr>
                              </a:solidFill>
                              <a:latin typeface="Cambria Math" panose="02040503050406030204" pitchFamily="18" charset="0"/>
                            </a:rPr>
                          </m:ctrlPr>
                        </m:accPr>
                        <m:e>
                          <m:r>
                            <a:rPr lang="en-US" sz="1350" b="1" i="1">
                              <a:solidFill>
                                <a:schemeClr val="accent6">
                                  <a:lumMod val="75000"/>
                                </a:schemeClr>
                              </a:solidFill>
                              <a:latin typeface="Cambria Math" charset="0"/>
                            </a:rPr>
                            <m:t>𝒀</m:t>
                          </m:r>
                        </m:e>
                      </m:acc>
                      <m:r>
                        <a:rPr lang="en-US" sz="1350" b="1" i="1">
                          <a:solidFill>
                            <a:schemeClr val="accent6">
                              <a:lumMod val="75000"/>
                            </a:schemeClr>
                          </a:solidFill>
                          <a:latin typeface="Cambria Math" charset="0"/>
                        </a:rPr>
                        <m:t>=</m:t>
                      </m:r>
                      <m:d>
                        <m:dPr>
                          <m:ctrlPr>
                            <a:rPr lang="en-US" sz="1350" b="1" i="1">
                              <a:solidFill>
                                <a:schemeClr val="accent6">
                                  <a:lumMod val="75000"/>
                                </a:schemeClr>
                              </a:solidFill>
                              <a:latin typeface="Cambria Math" panose="02040503050406030204" pitchFamily="18" charset="0"/>
                            </a:rPr>
                          </m:ctrlPr>
                        </m:dPr>
                        <m:e>
                          <m:r>
                            <a:rPr lang="en-US" sz="1350" b="1" i="1">
                              <a:solidFill>
                                <a:schemeClr val="accent6">
                                  <a:lumMod val="75000"/>
                                </a:schemeClr>
                              </a:solidFill>
                              <a:latin typeface="Cambria Math" charset="0"/>
                            </a:rPr>
                            <m:t>𝟓𝟎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𝟐𝟕</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𝟗𝟑</m:t>
                          </m:r>
                        </m:e>
                      </m:d>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𝟗𝟗</m:t>
                      </m:r>
                      <m:r>
                        <a:rPr lang="en-US" sz="1350" b="1" i="1">
                          <a:solidFill>
                            <a:schemeClr val="accent6">
                              <a:lumMod val="75000"/>
                            </a:schemeClr>
                          </a:solidFill>
                          <a:latin typeface="Cambria Math" charset="0"/>
                        </a:rPr>
                        <m:t>𝑿</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𝟔𝟎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𝟗𝟗</m:t>
                      </m:r>
                      <m:r>
                        <a:rPr lang="en-US" sz="1350" b="1" i="1">
                          <a:solidFill>
                            <a:schemeClr val="accent6">
                              <a:lumMod val="75000"/>
                            </a:schemeClr>
                          </a:solidFill>
                          <a:latin typeface="Cambria Math" charset="0"/>
                        </a:rPr>
                        <m:t>𝑿</m:t>
                      </m:r>
                    </m:oMath>
                  </m:oMathPara>
                </a14:m>
                <a:endParaRPr lang="en-US" sz="1350" b="1" dirty="0">
                  <a:solidFill>
                    <a:schemeClr val="accent6">
                      <a:lumMod val="75000"/>
                    </a:schemeClr>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4034321" y="5389796"/>
                <a:ext cx="4463851" cy="213392"/>
              </a:xfrm>
              <a:prstGeom prst="rect">
                <a:avLst/>
              </a:prstGeom>
              <a:blipFill>
                <a:blip r:embed="rId5"/>
                <a:stretch>
                  <a:fillRect l="-850" t="-16667" r="-283" b="-38889"/>
                </a:stretch>
              </a:blipFill>
            </p:spPr>
            <p:txBody>
              <a:bodyPr/>
              <a:lstStyle/>
              <a:p>
                <a:r>
                  <a:rPr lang="en-US">
                    <a:noFill/>
                  </a:rPr>
                  <a:t> </a:t>
                </a:r>
              </a:p>
            </p:txBody>
          </p:sp>
        </mc:Fallback>
      </mc:AlternateContent>
    </p:spTree>
    <p:extLst>
      <p:ext uri="{BB962C8B-B14F-4D97-AF65-F5344CB8AC3E}">
        <p14:creationId xmlns:p14="http://schemas.microsoft.com/office/powerpoint/2010/main" val="238104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2906"/>
            <a:ext cx="12039600" cy="994172"/>
          </a:xfrm>
        </p:spPr>
        <p:txBody>
          <a:bodyPr>
            <a:normAutofit fontScale="90000"/>
          </a:bodyPr>
          <a:lstStyle/>
          <a:p>
            <a:pPr algn="ctr"/>
            <a:r>
              <a:rPr lang="en-US" dirty="0"/>
              <a:t>Categorical Variables in MLR </a:t>
            </a:r>
            <a:r>
              <a:rPr lang="is-IS" dirty="0"/>
              <a:t>… Different Intercepts!</a:t>
            </a:r>
            <a:endParaRPr lang="en-US" dirty="0"/>
          </a:p>
        </p:txBody>
      </p:sp>
      <mc:AlternateContent xmlns:mc="http://schemas.openxmlformats.org/markup-compatibility/2006" xmlns:a14="http://schemas.microsoft.com/office/drawing/2010/main">
        <mc:Choice Requires="a14">
          <p:sp>
            <p:nvSpPr>
              <p:cNvPr id="4" name="TextBox 3"/>
              <p:cNvSpPr txBox="1"/>
              <p:nvPr/>
            </p:nvSpPr>
            <p:spPr>
              <a:xfrm>
                <a:off x="4596923" y="2938989"/>
                <a:ext cx="41197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0} =</m:t>
                      </m:r>
                      <m:sSub>
                        <m:sSubPr>
                          <m:ctrlPr>
                            <a:rPr lang="en-US" sz="2400" i="1" dirty="0">
                              <a:latin typeface="Cambria Math" panose="02040503050406030204" pitchFamily="18" charset="0"/>
                            </a:rPr>
                          </m:ctrlPr>
                        </m:sSubPr>
                        <m:e>
                          <m:r>
                            <a:rPr lang="en-US" sz="2400" i="1" dirty="0">
                              <a:latin typeface="Cambria Math"/>
                            </a:rPr>
                            <m:t> </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4596923" y="2938989"/>
                <a:ext cx="4119718" cy="461665"/>
              </a:xfrm>
              <a:prstGeom prst="rect">
                <a:avLst/>
              </a:prstGeom>
              <a:blipFill>
                <a:blip r:embed="rId2"/>
                <a:stretch>
                  <a:fillRect t="-5405"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563341" y="3853389"/>
                <a:ext cx="481240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1} = </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2</m:t>
                          </m:r>
                        </m:sub>
                      </m:sSub>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4563341" y="3853389"/>
                <a:ext cx="4812408" cy="461665"/>
              </a:xfrm>
              <a:prstGeom prst="rect">
                <a:avLst/>
              </a:prstGeom>
              <a:blipFill>
                <a:blip r:embed="rId3"/>
                <a:stretch>
                  <a:fillRect t="-5405"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63341" y="4367739"/>
                <a:ext cx="49320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1} = </m:t>
                      </m:r>
                      <m:sSub>
                        <m:sSubPr>
                          <m:ctrlPr>
                            <a:rPr lang="en-US" sz="2400" i="1" dirty="0">
                              <a:latin typeface="Cambria Math" panose="02040503050406030204" pitchFamily="18" charset="0"/>
                            </a:rPr>
                          </m:ctrlPr>
                        </m:sSubPr>
                        <m:e>
                          <m:r>
                            <a:rPr lang="en-US" sz="2400" i="1" dirty="0">
                              <a:latin typeface="Cambria Math"/>
                            </a:rPr>
                            <m:t>(</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2</m:t>
                          </m:r>
                        </m:sub>
                      </m:sSub>
                      <m:r>
                        <a:rPr lang="en-US" sz="2400" i="1" dirty="0">
                          <a:latin typeface="Cambria Math"/>
                          <a:ea typeface="Cambria Math"/>
                        </a:rPr>
                        <m:t>)</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563341" y="4367739"/>
                <a:ext cx="4932056" cy="461665"/>
              </a:xfrm>
              <a:prstGeom prst="rect">
                <a:avLst/>
              </a:prstGeom>
              <a:blipFill>
                <a:blip r:embed="rId4"/>
                <a:stretch>
                  <a:fillRect t="-2632"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572430" y="3387438"/>
                <a:ext cx="439383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0} = </m:t>
                      </m:r>
                      <m:sSub>
                        <m:sSubPr>
                          <m:ctrlPr>
                            <a:rPr lang="en-US" sz="2400" i="1" dirty="0">
                              <a:latin typeface="Cambria Math" panose="02040503050406030204" pitchFamily="18" charset="0"/>
                            </a:rPr>
                          </m:ctrlPr>
                        </m:sSubPr>
                        <m:e>
                          <m:r>
                            <a:rPr lang="en-US" sz="2400" i="1" dirty="0">
                              <a:latin typeface="Cambria Math"/>
                            </a:rPr>
                            <m:t>(</m:t>
                          </m:r>
                          <m:r>
                            <a:rPr lang="en-US" sz="2400" i="1" dirty="0">
                              <a:latin typeface="Cambria Math"/>
                              <a:ea typeface="Cambria Math"/>
                            </a:rPr>
                            <m:t>𝛽</m:t>
                          </m:r>
                        </m:e>
                        <m:sub>
                          <m:r>
                            <a:rPr lang="en-US" sz="2400" i="1" dirty="0">
                              <a:latin typeface="Cambria Math"/>
                            </a:rPr>
                            <m:t>0</m:t>
                          </m:r>
                        </m:sub>
                      </m:sSub>
                      <m:r>
                        <a:rPr lang="en-US" sz="2400" i="1" dirty="0">
                          <a:latin typeface="Cambria Math"/>
                          <a:ea typeface="Cambria Math"/>
                        </a:rPr>
                        <m:t>)</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572430" y="3387438"/>
                <a:ext cx="4393832" cy="461665"/>
              </a:xfrm>
              <a:prstGeom prst="rect">
                <a:avLst/>
              </a:prstGeom>
              <a:blipFill>
                <a:blip r:embed="rId5"/>
                <a:stretch>
                  <a:fillRect t="-2703" b="-24324"/>
                </a:stretch>
              </a:blipFill>
            </p:spPr>
            <p:txBody>
              <a:bodyPr/>
              <a:lstStyle/>
              <a:p>
                <a:r>
                  <a:rPr lang="en-US">
                    <a:noFill/>
                  </a:rPr>
                  <a:t> </a:t>
                </a:r>
              </a:p>
            </p:txBody>
          </p:sp>
        </mc:Fallback>
      </mc:AlternateContent>
      <p:sp>
        <p:nvSpPr>
          <p:cNvPr id="8" name="TextBox 7"/>
          <p:cNvSpPr txBox="1"/>
          <p:nvPr/>
        </p:nvSpPr>
        <p:spPr>
          <a:xfrm>
            <a:off x="914400" y="2597249"/>
            <a:ext cx="2117563" cy="415498"/>
          </a:xfrm>
          <a:prstGeom prst="rect">
            <a:avLst/>
          </a:prstGeom>
          <a:noFill/>
        </p:spPr>
        <p:txBody>
          <a:bodyPr wrap="square" rtlCol="0">
            <a:spAutoFit/>
          </a:bodyPr>
          <a:lstStyle/>
          <a:p>
            <a:r>
              <a:rPr lang="en-US" sz="2100" dirty="0"/>
              <a:t>Type  =  0 for A</a:t>
            </a:r>
          </a:p>
        </p:txBody>
      </p:sp>
      <p:sp>
        <p:nvSpPr>
          <p:cNvPr id="9" name="TextBox 8"/>
          <p:cNvSpPr txBox="1"/>
          <p:nvPr/>
        </p:nvSpPr>
        <p:spPr>
          <a:xfrm>
            <a:off x="914400" y="3190140"/>
            <a:ext cx="2367848" cy="415498"/>
          </a:xfrm>
          <a:prstGeom prst="rect">
            <a:avLst/>
          </a:prstGeom>
          <a:noFill/>
        </p:spPr>
        <p:txBody>
          <a:bodyPr wrap="square" rtlCol="0">
            <a:spAutoFit/>
          </a:bodyPr>
          <a:lstStyle/>
          <a:p>
            <a:r>
              <a:rPr lang="en-US" sz="2100" dirty="0"/>
              <a:t>Type  =  1 for B</a:t>
            </a:r>
          </a:p>
        </p:txBody>
      </p:sp>
      <p:sp>
        <p:nvSpPr>
          <p:cNvPr id="10" name="TextBox 9"/>
          <p:cNvSpPr txBox="1"/>
          <p:nvPr/>
        </p:nvSpPr>
        <p:spPr>
          <a:xfrm>
            <a:off x="838200" y="3771369"/>
            <a:ext cx="2812474" cy="738664"/>
          </a:xfrm>
          <a:prstGeom prst="rect">
            <a:avLst/>
          </a:prstGeom>
          <a:noFill/>
        </p:spPr>
        <p:txBody>
          <a:bodyPr wrap="square" rtlCol="0">
            <a:spAutoFit/>
          </a:bodyPr>
          <a:lstStyle/>
          <a:p>
            <a:r>
              <a:rPr lang="en-US" sz="2100" dirty="0"/>
              <a:t>This  makes ’A’ the “Reference.”</a:t>
            </a:r>
          </a:p>
        </p:txBody>
      </p:sp>
      <mc:AlternateContent xmlns:mc="http://schemas.openxmlformats.org/markup-compatibility/2006" xmlns:a14="http://schemas.microsoft.com/office/drawing/2010/main">
        <mc:Choice Requires="a14">
          <p:sp>
            <p:nvSpPr>
              <p:cNvPr id="11" name="TextBox 10"/>
              <p:cNvSpPr txBox="1"/>
              <p:nvPr/>
            </p:nvSpPr>
            <p:spPr>
              <a:xfrm>
                <a:off x="3259282" y="2262361"/>
                <a:ext cx="628601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charset="0"/>
                          <a:ea typeface="Cambria Math"/>
                        </a:rPr>
                        <m:t>𝑀𝑜𝑑𝑒𝑙</m:t>
                      </m:r>
                      <m:r>
                        <a:rPr lang="en-US" sz="2400" i="1">
                          <a:latin typeface="Cambria Math" charset="0"/>
                          <a:ea typeface="Cambria Math"/>
                        </a:rPr>
                        <m:t>: </m:t>
                      </m:r>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m:t>
                      </m:r>
                      <m:sSub>
                        <m:sSubPr>
                          <m:ctrlPr>
                            <a:rPr lang="en-US" sz="2400" i="1" dirty="0">
                              <a:latin typeface="Cambria Math" panose="02040503050406030204" pitchFamily="18" charset="0"/>
                            </a:rPr>
                          </m:ctrlPr>
                        </m:sSubPr>
                        <m:e>
                          <m:r>
                            <a:rPr lang="en-US" sz="2400" i="1" dirty="0">
                              <a:latin typeface="Cambria Math"/>
                            </a:rPr>
                            <m:t> </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r>
                        <a:rPr lang="en-US" sz="2400" i="1" dirty="0">
                          <a:latin typeface="Cambria Math" charset="0"/>
                          <a:ea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charset="0"/>
                              <a:ea typeface="Cambria Math"/>
                            </a:rPr>
                            <m:t>2</m:t>
                          </m:r>
                        </m:sub>
                      </m:sSub>
                      <m:r>
                        <a:rPr lang="en-US" sz="2400" i="1" dirty="0">
                          <a:latin typeface="Cambria Math" charset="0"/>
                          <a:ea typeface="Cambria Math"/>
                        </a:rPr>
                        <m:t>𝑇𝑦𝑝𝑒</m:t>
                      </m:r>
                    </m:oMath>
                  </m:oMathPara>
                </a14:m>
                <a:endParaRPr lang="en-US" sz="2400" dirty="0"/>
              </a:p>
            </p:txBody>
          </p:sp>
        </mc:Choice>
        <mc:Fallback xmlns="">
          <p:sp>
            <p:nvSpPr>
              <p:cNvPr id="11" name="TextBox 10"/>
              <p:cNvSpPr txBox="1">
                <a:spLocks noRot="1" noChangeAspect="1" noMove="1" noResize="1" noEditPoints="1" noAdjustHandles="1" noChangeArrowheads="1" noChangeShapeType="1" noTextEdit="1"/>
              </p:cNvSpPr>
              <p:nvPr/>
            </p:nvSpPr>
            <p:spPr>
              <a:xfrm>
                <a:off x="3259282" y="2262361"/>
                <a:ext cx="6286016" cy="461665"/>
              </a:xfrm>
              <a:prstGeom prst="rect">
                <a:avLst/>
              </a:prstGeom>
              <a:blipFill>
                <a:blip r:embed="rId6"/>
                <a:stretch>
                  <a:fillRect t="-5405"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447800" y="5073676"/>
                <a:ext cx="9095509" cy="415498"/>
              </a:xfrm>
              <a:prstGeom prst="rect">
                <a:avLst/>
              </a:prstGeom>
              <a:noFill/>
            </p:spPr>
            <p:txBody>
              <a:bodyPr wrap="square" rtlCol="0">
                <a:spAutoFit/>
              </a:bodyPr>
              <a:lstStyle/>
              <a:p>
                <a:r>
                  <a:rPr lang="en-US" sz="2100" dirty="0"/>
                  <a:t>Note 1:  </a:t>
                </a:r>
                <a14:m>
                  <m:oMath xmlns:m="http://schemas.openxmlformats.org/officeDocument/2006/math">
                    <m:sSub>
                      <m:sSubPr>
                        <m:ctrlPr>
                          <a:rPr lang="en-US" sz="2100" i="1" dirty="0">
                            <a:latin typeface="Cambria Math" panose="02040503050406030204" pitchFamily="18" charset="0"/>
                          </a:rPr>
                        </m:ctrlPr>
                      </m:sSubPr>
                      <m:e>
                        <m:r>
                          <a:rPr lang="en-US" sz="2100" i="1" dirty="0">
                            <a:latin typeface="Cambria Math"/>
                            <a:ea typeface="Cambria Math"/>
                          </a:rPr>
                          <m:t>𝛽</m:t>
                        </m:r>
                      </m:e>
                      <m:sub>
                        <m:r>
                          <a:rPr lang="en-US" sz="2100" i="1" dirty="0">
                            <a:latin typeface="Cambria Math" charset="0"/>
                            <a:ea typeface="Cambria Math"/>
                          </a:rPr>
                          <m:t>2</m:t>
                        </m:r>
                      </m:sub>
                    </m:sSub>
                  </m:oMath>
                </a14:m>
                <a:r>
                  <a:rPr lang="en-US" sz="2100" dirty="0"/>
                  <a:t> is the adjustment to Type A’s intercept to get Type B’s Intercept.  </a:t>
                </a:r>
              </a:p>
            </p:txBody>
          </p:sp>
        </mc:Choice>
        <mc:Fallback xmlns="">
          <p:sp>
            <p:nvSpPr>
              <p:cNvPr id="12" name="TextBox 11"/>
              <p:cNvSpPr txBox="1">
                <a:spLocks noRot="1" noChangeAspect="1" noMove="1" noResize="1" noEditPoints="1" noAdjustHandles="1" noChangeArrowheads="1" noChangeShapeType="1" noTextEdit="1"/>
              </p:cNvSpPr>
              <p:nvPr/>
            </p:nvSpPr>
            <p:spPr>
              <a:xfrm>
                <a:off x="1447800" y="5073676"/>
                <a:ext cx="9095509" cy="415498"/>
              </a:xfrm>
              <a:prstGeom prst="rect">
                <a:avLst/>
              </a:prstGeom>
              <a:blipFill>
                <a:blip r:embed="rId7"/>
                <a:stretch>
                  <a:fillRect l="-837" t="-8824" r="-1395" b="-235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447799" y="5624017"/>
                <a:ext cx="9095509" cy="415498"/>
              </a:xfrm>
              <a:prstGeom prst="rect">
                <a:avLst/>
              </a:prstGeom>
              <a:noFill/>
            </p:spPr>
            <p:txBody>
              <a:bodyPr wrap="square" rtlCol="0">
                <a:spAutoFit/>
              </a:bodyPr>
              <a:lstStyle/>
              <a:p>
                <a:r>
                  <a:rPr lang="en-US" sz="2100" dirty="0"/>
                  <a:t>Note 2:  </a:t>
                </a:r>
                <a14:m>
                  <m:oMath xmlns:m="http://schemas.openxmlformats.org/officeDocument/2006/math">
                    <m:sSub>
                      <m:sSubPr>
                        <m:ctrlPr>
                          <a:rPr lang="en-US" sz="2100" i="1" dirty="0">
                            <a:latin typeface="Cambria Math" panose="02040503050406030204" pitchFamily="18" charset="0"/>
                          </a:rPr>
                        </m:ctrlPr>
                      </m:sSubPr>
                      <m:e>
                        <m:r>
                          <a:rPr lang="en-US" sz="2100" i="1" dirty="0">
                            <a:latin typeface="Cambria Math"/>
                            <a:ea typeface="Cambria Math"/>
                          </a:rPr>
                          <m:t>𝛽</m:t>
                        </m:r>
                      </m:e>
                      <m:sub>
                        <m:r>
                          <a:rPr lang="en-US" sz="2100" i="1" dirty="0">
                            <a:latin typeface="Cambria Math" charset="0"/>
                            <a:ea typeface="Cambria Math"/>
                          </a:rPr>
                          <m:t>1</m:t>
                        </m:r>
                      </m:sub>
                    </m:sSub>
                  </m:oMath>
                </a14:m>
                <a:r>
                  <a:rPr lang="en-US" sz="2100" dirty="0"/>
                  <a:t> is the slope for both lines.  They are parallel.</a:t>
                </a:r>
              </a:p>
            </p:txBody>
          </p:sp>
        </mc:Choice>
        <mc:Fallback xmlns="">
          <p:sp>
            <p:nvSpPr>
              <p:cNvPr id="13" name="TextBox 12"/>
              <p:cNvSpPr txBox="1">
                <a:spLocks noRot="1" noChangeAspect="1" noMove="1" noResize="1" noEditPoints="1" noAdjustHandles="1" noChangeArrowheads="1" noChangeShapeType="1" noTextEdit="1"/>
              </p:cNvSpPr>
              <p:nvPr/>
            </p:nvSpPr>
            <p:spPr>
              <a:xfrm>
                <a:off x="1447799" y="5624017"/>
                <a:ext cx="9095509" cy="415498"/>
              </a:xfrm>
              <a:prstGeom prst="rect">
                <a:avLst/>
              </a:prstGeom>
              <a:blipFill>
                <a:blip r:embed="rId8"/>
                <a:stretch>
                  <a:fillRect l="-696" t="-9091" b="-27273"/>
                </a:stretch>
              </a:blipFill>
            </p:spPr>
            <p:txBody>
              <a:bodyPr/>
              <a:lstStyle/>
              <a:p>
                <a:r>
                  <a:rPr lang="en-US">
                    <a:noFill/>
                  </a:rPr>
                  <a:t> </a:t>
                </a:r>
              </a:p>
            </p:txBody>
          </p:sp>
        </mc:Fallback>
      </mc:AlternateContent>
    </p:spTree>
    <p:extLst>
      <p:ext uri="{BB962C8B-B14F-4D97-AF65-F5344CB8AC3E}">
        <p14:creationId xmlns:p14="http://schemas.microsoft.com/office/powerpoint/2010/main" val="233340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3">
                                            <p:txEl>
                                              <p:pRg st="0" end="0"/>
                                            </p:txEl>
                                          </p:spTgt>
                                        </p:tgtEl>
                                        <p:attrNameLst>
                                          <p:attrName>style.visibility</p:attrName>
                                        </p:attrNameLst>
                                      </p:cBhvr>
                                      <p:to>
                                        <p:strVal val="visible"/>
                                      </p:to>
                                    </p:set>
                                    <p:animEffect transition="in" filter="fade">
                                      <p:cBhvr>
                                        <p:cTn id="48"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58428"/>
            <a:ext cx="12192000" cy="994172"/>
          </a:xfrm>
        </p:spPr>
        <p:txBody>
          <a:bodyPr>
            <a:normAutofit fontScale="90000"/>
          </a:bodyPr>
          <a:lstStyle/>
          <a:p>
            <a:pPr algn="ctr"/>
            <a:r>
              <a:rPr lang="en-US" dirty="0"/>
              <a:t>Categorical </a:t>
            </a:r>
            <a:r>
              <a:rPr lang="en-US" sz="3600" dirty="0"/>
              <a:t>Variables</a:t>
            </a:r>
            <a:r>
              <a:rPr lang="en-US" dirty="0"/>
              <a:t> in MLR </a:t>
            </a:r>
            <a:r>
              <a:rPr lang="is-IS" dirty="0"/>
              <a:t>… Different </a:t>
            </a:r>
            <a:r>
              <a:rPr lang="is-IS" sz="3600" dirty="0"/>
              <a:t>Slopes!</a:t>
            </a:r>
            <a:br>
              <a:rPr lang="is-IS" sz="3600" dirty="0"/>
            </a:br>
            <a:r>
              <a:rPr lang="is-IS" sz="3600" dirty="0"/>
              <a:t>Think </a:t>
            </a:r>
            <a:r>
              <a:rPr lang="is-IS" sz="3600" b="1" i="1" dirty="0"/>
              <a:t>INTERACTION</a:t>
            </a:r>
            <a:endParaRPr lang="en-US" sz="3600" b="1" i="1" dirty="0"/>
          </a:p>
        </p:txBody>
      </p:sp>
      <mc:AlternateContent xmlns:mc="http://schemas.openxmlformats.org/markup-compatibility/2006" xmlns:a14="http://schemas.microsoft.com/office/drawing/2010/main">
        <mc:Choice Requires="a14">
          <p:sp>
            <p:nvSpPr>
              <p:cNvPr id="4" name="TextBox 3"/>
              <p:cNvSpPr txBox="1"/>
              <p:nvPr/>
            </p:nvSpPr>
            <p:spPr>
              <a:xfrm>
                <a:off x="4596923" y="2512948"/>
                <a:ext cx="411971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0} =</m:t>
                      </m:r>
                      <m:sSub>
                        <m:sSubPr>
                          <m:ctrlPr>
                            <a:rPr lang="en-US" sz="2400" i="1" dirty="0">
                              <a:latin typeface="Cambria Math" panose="02040503050406030204" pitchFamily="18" charset="0"/>
                            </a:rPr>
                          </m:ctrlPr>
                        </m:sSubPr>
                        <m:e>
                          <m:r>
                            <a:rPr lang="en-US" sz="2400" i="1" dirty="0">
                              <a:latin typeface="Cambria Math"/>
                            </a:rPr>
                            <m:t> </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oMath>
                  </m:oMathPara>
                </a14:m>
                <a:endParaRPr 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4596923" y="2512948"/>
                <a:ext cx="4119718" cy="461665"/>
              </a:xfrm>
              <a:prstGeom prst="rect">
                <a:avLst/>
              </a:prstGeom>
              <a:blipFill>
                <a:blip r:embed="rId2"/>
                <a:stretch>
                  <a:fillRect t="-2632" b="-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521887" y="3416764"/>
                <a:ext cx="569373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1} = </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2</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charset="0"/>
                              <a:ea typeface="Cambria Math"/>
                            </a:rPr>
                            <m:t>3</m:t>
                          </m:r>
                        </m:sub>
                      </m:sSub>
                      <m:r>
                        <a:rPr lang="en-US" sz="2400" i="1" dirty="0">
                          <a:latin typeface="Cambria Math" charset="0"/>
                          <a:ea typeface="Cambria Math"/>
                        </a:rPr>
                        <m:t>𝑋</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4521887" y="3416764"/>
                <a:ext cx="5693738" cy="461665"/>
              </a:xfrm>
              <a:prstGeom prst="rect">
                <a:avLst/>
              </a:prstGeom>
              <a:blipFill>
                <a:blip r:embed="rId3"/>
                <a:stretch>
                  <a:fillRect t="-2632"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63342" y="3941698"/>
                <a:ext cx="581248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m:t>
                      </m:r>
                      <m:d>
                        <m:dPr>
                          <m:begChr m:val="|"/>
                          <m:ctrlPr>
                            <a:rPr lang="en-US" sz="2400" i="1" dirty="0">
                              <a:latin typeface="Cambria Math" panose="02040503050406030204" pitchFamily="18" charset="0"/>
                            </a:rPr>
                          </m:ctrlPr>
                        </m:dPr>
                        <m:e>
                          <m:r>
                            <a:rPr lang="en-US" sz="2400" i="1" dirty="0">
                              <a:latin typeface="Cambria Math" charset="0"/>
                            </a:rPr>
                            <m:t> </m:t>
                          </m:r>
                          <m:r>
                            <m:rPr>
                              <m:nor/>
                            </m:rPr>
                            <a:rPr lang="en-US" sz="2400" dirty="0">
                              <a:latin typeface="Cambria Math" charset="0"/>
                            </a:rPr>
                            <m:t>X</m:t>
                          </m:r>
                          <m:r>
                            <m:rPr>
                              <m:nor/>
                            </m:rPr>
                            <a:rPr lang="en-US" sz="2400" dirty="0"/>
                            <m:t>, </m:t>
                          </m:r>
                          <m:r>
                            <m:rPr>
                              <m:nor/>
                            </m:rPr>
                            <a:rPr lang="en-US" sz="2400" dirty="0"/>
                            <m:t>Type</m:t>
                          </m:r>
                          <m:r>
                            <m:rPr>
                              <m:nor/>
                            </m:rPr>
                            <a:rPr lang="en-US" sz="2400" dirty="0"/>
                            <m:t> = 1} = </m:t>
                          </m:r>
                          <m:sSub>
                            <m:sSubPr>
                              <m:ctrlPr>
                                <a:rPr lang="en-US" sz="2400" i="1" dirty="0">
                                  <a:latin typeface="Cambria Math" panose="02040503050406030204" pitchFamily="18" charset="0"/>
                                </a:rPr>
                              </m:ctrlPr>
                            </m:sSubPr>
                            <m:e>
                              <m:r>
                                <a:rPr lang="en-US" sz="2400" i="1" dirty="0">
                                  <a:latin typeface="Cambria Math"/>
                                </a:rPr>
                                <m:t>(</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2</m:t>
                              </m:r>
                            </m:sub>
                          </m:sSub>
                        </m:e>
                      </m:d>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charset="0"/>
                              <a:ea typeface="Cambria Math"/>
                            </a:rPr>
                            <m:t>3</m:t>
                          </m:r>
                        </m:sub>
                      </m:sSub>
                      <m:r>
                        <a:rPr lang="en-US" sz="2400" i="1" dirty="0">
                          <a:latin typeface="Cambria Math" charset="0"/>
                          <a:ea typeface="Cambria Math"/>
                        </a:rPr>
                        <m:t>𝑋</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563342" y="3941698"/>
                <a:ext cx="5812489" cy="461665"/>
              </a:xfrm>
              <a:prstGeom prst="rect">
                <a:avLst/>
              </a:prstGeom>
              <a:blipFill>
                <a:blip r:embed="rId4"/>
                <a:stretch>
                  <a:fillRect t="-2703"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572430" y="2961397"/>
                <a:ext cx="439383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0} = </m:t>
                      </m:r>
                      <m:sSub>
                        <m:sSubPr>
                          <m:ctrlPr>
                            <a:rPr lang="en-US" sz="2400" i="1" dirty="0">
                              <a:latin typeface="Cambria Math" panose="02040503050406030204" pitchFamily="18" charset="0"/>
                            </a:rPr>
                          </m:ctrlPr>
                        </m:sSubPr>
                        <m:e>
                          <m:r>
                            <a:rPr lang="en-US" sz="2400" i="1" dirty="0">
                              <a:latin typeface="Cambria Math"/>
                            </a:rPr>
                            <m:t>(</m:t>
                          </m:r>
                          <m:r>
                            <a:rPr lang="en-US" sz="2400" i="1" dirty="0">
                              <a:latin typeface="Cambria Math"/>
                              <a:ea typeface="Cambria Math"/>
                            </a:rPr>
                            <m:t>𝛽</m:t>
                          </m:r>
                        </m:e>
                        <m:sub>
                          <m:r>
                            <a:rPr lang="en-US" sz="2400" i="1" dirty="0">
                              <a:latin typeface="Cambria Math"/>
                            </a:rPr>
                            <m:t>0</m:t>
                          </m:r>
                        </m:sub>
                      </m:sSub>
                      <m:r>
                        <a:rPr lang="en-US" sz="2400" i="1" dirty="0">
                          <a:latin typeface="Cambria Math"/>
                          <a:ea typeface="Cambria Math"/>
                        </a:rPr>
                        <m:t>)</m:t>
                      </m:r>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oMath>
                  </m:oMathPara>
                </a14:m>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4572430" y="2961397"/>
                <a:ext cx="4393832" cy="461665"/>
              </a:xfrm>
              <a:prstGeom prst="rect">
                <a:avLst/>
              </a:prstGeom>
              <a:blipFill>
                <a:blip r:embed="rId5"/>
                <a:stretch>
                  <a:fillRect t="-5405" b="-21622"/>
                </a:stretch>
              </a:blipFill>
            </p:spPr>
            <p:txBody>
              <a:bodyPr/>
              <a:lstStyle/>
              <a:p>
                <a:r>
                  <a:rPr lang="en-US">
                    <a:noFill/>
                  </a:rPr>
                  <a:t> </a:t>
                </a:r>
              </a:p>
            </p:txBody>
          </p:sp>
        </mc:Fallback>
      </mc:AlternateContent>
      <p:sp>
        <p:nvSpPr>
          <p:cNvPr id="8" name="TextBox 7"/>
          <p:cNvSpPr txBox="1"/>
          <p:nvPr/>
        </p:nvSpPr>
        <p:spPr>
          <a:xfrm>
            <a:off x="1143000" y="2755321"/>
            <a:ext cx="2448793" cy="415498"/>
          </a:xfrm>
          <a:prstGeom prst="rect">
            <a:avLst/>
          </a:prstGeom>
          <a:noFill/>
        </p:spPr>
        <p:txBody>
          <a:bodyPr wrap="square" rtlCol="0">
            <a:spAutoFit/>
          </a:bodyPr>
          <a:lstStyle/>
          <a:p>
            <a:r>
              <a:rPr lang="en-US" sz="2100" dirty="0"/>
              <a:t>Type  =  0 for A</a:t>
            </a:r>
          </a:p>
        </p:txBody>
      </p:sp>
      <p:sp>
        <p:nvSpPr>
          <p:cNvPr id="9" name="TextBox 8"/>
          <p:cNvSpPr txBox="1"/>
          <p:nvPr/>
        </p:nvSpPr>
        <p:spPr>
          <a:xfrm>
            <a:off x="1143001" y="3173431"/>
            <a:ext cx="2448792" cy="415498"/>
          </a:xfrm>
          <a:prstGeom prst="rect">
            <a:avLst/>
          </a:prstGeom>
          <a:noFill/>
        </p:spPr>
        <p:txBody>
          <a:bodyPr wrap="square" rtlCol="0">
            <a:spAutoFit/>
          </a:bodyPr>
          <a:lstStyle/>
          <a:p>
            <a:r>
              <a:rPr lang="en-US" sz="2100" dirty="0"/>
              <a:t>Type  =  1 for B</a:t>
            </a:r>
          </a:p>
        </p:txBody>
      </p:sp>
      <p:sp>
        <p:nvSpPr>
          <p:cNvPr id="10" name="TextBox 9"/>
          <p:cNvSpPr txBox="1"/>
          <p:nvPr/>
        </p:nvSpPr>
        <p:spPr>
          <a:xfrm>
            <a:off x="1143001" y="3628157"/>
            <a:ext cx="2583874" cy="738664"/>
          </a:xfrm>
          <a:prstGeom prst="rect">
            <a:avLst/>
          </a:prstGeom>
          <a:noFill/>
        </p:spPr>
        <p:txBody>
          <a:bodyPr wrap="square" rtlCol="0">
            <a:spAutoFit/>
          </a:bodyPr>
          <a:lstStyle/>
          <a:p>
            <a:r>
              <a:rPr lang="en-US" sz="2100" dirty="0"/>
              <a:t>This  makes ’A’ the “Reference.”</a:t>
            </a:r>
          </a:p>
        </p:txBody>
      </p:sp>
      <mc:AlternateContent xmlns:mc="http://schemas.openxmlformats.org/markup-compatibility/2006" xmlns:a14="http://schemas.microsoft.com/office/drawing/2010/main">
        <mc:Choice Requires="a14">
          <p:sp>
            <p:nvSpPr>
              <p:cNvPr id="11" name="TextBox 10"/>
              <p:cNvSpPr txBox="1"/>
              <p:nvPr/>
            </p:nvSpPr>
            <p:spPr>
              <a:xfrm>
                <a:off x="2028244" y="1944598"/>
                <a:ext cx="8582892" cy="461665"/>
              </a:xfrm>
              <a:prstGeom prst="rect">
                <a:avLst/>
              </a:prstGeom>
              <a:noFill/>
            </p:spPr>
            <p:txBody>
              <a:bodyPr wrap="square" rtlCol="0">
                <a:spAutoFit/>
              </a:bodyPr>
              <a:lstStyle/>
              <a:p>
                <a14:m>
                  <m:oMath xmlns:m="http://schemas.openxmlformats.org/officeDocument/2006/math">
                    <m:r>
                      <a:rPr lang="en-US" sz="2400" i="1">
                        <a:latin typeface="Cambria Math" charset="0"/>
                        <a:ea typeface="Cambria Math"/>
                      </a:rPr>
                      <m:t>𝑀𝑜𝑑𝑒𝑙</m:t>
                    </m:r>
                    <m:r>
                      <a:rPr lang="en-US" sz="2400" i="1">
                        <a:latin typeface="Cambria Math" charset="0"/>
                        <a:ea typeface="Cambria Math"/>
                      </a:rPr>
                      <m:t>: </m:t>
                    </m:r>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 </m:t>
                    </m:r>
                    <m:r>
                      <m:rPr>
                        <m:nor/>
                      </m:rPr>
                      <a:rPr lang="en-US" sz="2400" dirty="0">
                        <a:latin typeface="Cambria Math" charset="0"/>
                      </a:rPr>
                      <m:t>X</m:t>
                    </m:r>
                    <m:r>
                      <m:rPr>
                        <m:nor/>
                      </m:rPr>
                      <a:rPr lang="en-US" sz="2400" dirty="0"/>
                      <m:t>, </m:t>
                    </m:r>
                    <m:r>
                      <m:rPr>
                        <m:nor/>
                      </m:rPr>
                      <a:rPr lang="en-US" sz="2400" dirty="0"/>
                      <m:t>Type</m:t>
                    </m:r>
                    <m:r>
                      <m:rPr>
                        <m:nor/>
                      </m:rPr>
                      <a:rPr lang="en-US" sz="2400" dirty="0"/>
                      <m:t> = 0} =</m:t>
                    </m:r>
                    <m:sSub>
                      <m:sSubPr>
                        <m:ctrlPr>
                          <a:rPr lang="en-US" sz="2400" i="1" dirty="0">
                            <a:latin typeface="Cambria Math" panose="02040503050406030204" pitchFamily="18" charset="0"/>
                          </a:rPr>
                        </m:ctrlPr>
                      </m:sSubPr>
                      <m:e>
                        <m:r>
                          <a:rPr lang="en-US" sz="2400" i="1" dirty="0">
                            <a:latin typeface="Cambria Math"/>
                          </a:rPr>
                          <m:t> </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charset="0"/>
                        <a:ea typeface="Cambria Math"/>
                      </a:rPr>
                      <m:t>𝑋</m:t>
                    </m:r>
                    <m:r>
                      <a:rPr lang="en-US" sz="2400" i="1" dirty="0">
                        <a:latin typeface="Cambria Math" charset="0"/>
                        <a:ea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charset="0"/>
                            <a:ea typeface="Cambria Math"/>
                          </a:rPr>
                          <m:t>2</m:t>
                        </m:r>
                      </m:sub>
                    </m:sSub>
                    <m:r>
                      <a:rPr lang="en-US" sz="2400" i="1" dirty="0">
                        <a:latin typeface="Cambria Math" charset="0"/>
                        <a:ea typeface="Cambria Math"/>
                      </a:rPr>
                      <m:t>𝑇𝑦𝑝𝑒</m:t>
                    </m:r>
                  </m:oMath>
                </a14:m>
                <a:r>
                  <a:rPr lang="en-US" sz="2400" dirty="0">
                    <a:ea typeface="Cambria Math"/>
                  </a:rPr>
                  <a:t> </a:t>
                </a:r>
                <a14:m>
                  <m:oMath xmlns:m="http://schemas.openxmlformats.org/officeDocument/2006/math">
                    <m:r>
                      <a:rPr lang="en-US" sz="2400" b="1" i="1" dirty="0">
                        <a:latin typeface="Cambria Math" charset="0"/>
                        <a:ea typeface="Cambria Math"/>
                      </a:rPr>
                      <m:t>+</m:t>
                    </m:r>
                    <m:sSub>
                      <m:sSubPr>
                        <m:ctrlPr>
                          <a:rPr lang="en-US" sz="2400" b="1" i="1" dirty="0">
                            <a:latin typeface="Cambria Math" panose="02040503050406030204" pitchFamily="18" charset="0"/>
                          </a:rPr>
                        </m:ctrlPr>
                      </m:sSubPr>
                      <m:e>
                        <m:r>
                          <a:rPr lang="en-US" sz="2400" b="1" i="1" dirty="0">
                            <a:latin typeface="Cambria Math"/>
                            <a:ea typeface="Cambria Math"/>
                          </a:rPr>
                          <m:t>𝜷</m:t>
                        </m:r>
                      </m:e>
                      <m:sub>
                        <m:r>
                          <a:rPr lang="en-US" sz="2400" b="1" i="1" dirty="0">
                            <a:latin typeface="Cambria Math" charset="0"/>
                            <a:ea typeface="Cambria Math"/>
                          </a:rPr>
                          <m:t>𝟑</m:t>
                        </m:r>
                      </m:sub>
                    </m:sSub>
                    <m:r>
                      <a:rPr lang="en-US" sz="2400" b="1" i="1" dirty="0">
                        <a:latin typeface="Cambria Math" charset="0"/>
                        <a:ea typeface="Cambria Math"/>
                      </a:rPr>
                      <m:t>𝑻𝒚𝒑𝒆</m:t>
                    </m:r>
                    <m:r>
                      <a:rPr lang="en-US" sz="2400" b="1" i="1" dirty="0">
                        <a:latin typeface="Cambria Math" charset="0"/>
                        <a:ea typeface="Cambria Math"/>
                      </a:rPr>
                      <m:t>∗</m:t>
                    </m:r>
                    <m:r>
                      <a:rPr lang="en-US" sz="2400" b="1" i="1" dirty="0">
                        <a:latin typeface="Cambria Math" charset="0"/>
                        <a:ea typeface="Cambria Math"/>
                      </a:rPr>
                      <m:t>𝑿</m:t>
                    </m:r>
                  </m:oMath>
                </a14:m>
                <a:endParaRPr lang="en-US" sz="2400"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2028244" y="1944598"/>
                <a:ext cx="8582892" cy="461665"/>
              </a:xfrm>
              <a:prstGeom prst="rect">
                <a:avLst/>
              </a:prstGeom>
              <a:blipFill>
                <a:blip r:embed="rId6"/>
                <a:stretch>
                  <a:fillRect l="-148" t="-5405"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143000" y="4876437"/>
                <a:ext cx="9393812" cy="415498"/>
              </a:xfrm>
              <a:prstGeom prst="rect">
                <a:avLst/>
              </a:prstGeom>
              <a:noFill/>
            </p:spPr>
            <p:txBody>
              <a:bodyPr wrap="square" rtlCol="0">
                <a:spAutoFit/>
              </a:bodyPr>
              <a:lstStyle/>
              <a:p>
                <a:r>
                  <a:rPr lang="en-US" sz="2100" dirty="0"/>
                  <a:t>Note 1:  </a:t>
                </a:r>
                <a14:m>
                  <m:oMath xmlns:m="http://schemas.openxmlformats.org/officeDocument/2006/math">
                    <m:sSub>
                      <m:sSubPr>
                        <m:ctrlPr>
                          <a:rPr lang="en-US" sz="2100" i="1" dirty="0">
                            <a:latin typeface="Cambria Math" panose="02040503050406030204" pitchFamily="18" charset="0"/>
                          </a:rPr>
                        </m:ctrlPr>
                      </m:sSubPr>
                      <m:e>
                        <m:r>
                          <a:rPr lang="en-US" sz="2100" i="1" dirty="0">
                            <a:latin typeface="Cambria Math"/>
                            <a:ea typeface="Cambria Math"/>
                          </a:rPr>
                          <m:t>𝛽</m:t>
                        </m:r>
                      </m:e>
                      <m:sub>
                        <m:r>
                          <a:rPr lang="en-US" sz="2100" i="1" dirty="0">
                            <a:latin typeface="Cambria Math" charset="0"/>
                            <a:ea typeface="Cambria Math"/>
                          </a:rPr>
                          <m:t>2</m:t>
                        </m:r>
                      </m:sub>
                    </m:sSub>
                  </m:oMath>
                </a14:m>
                <a:r>
                  <a:rPr lang="en-US" sz="2100" dirty="0"/>
                  <a:t> is the adjustment to Type A’s intercept to get Type B’s Intercept.  </a:t>
                </a:r>
              </a:p>
            </p:txBody>
          </p:sp>
        </mc:Choice>
        <mc:Fallback xmlns="">
          <p:sp>
            <p:nvSpPr>
              <p:cNvPr id="12" name="TextBox 11"/>
              <p:cNvSpPr txBox="1">
                <a:spLocks noRot="1" noChangeAspect="1" noMove="1" noResize="1" noEditPoints="1" noAdjustHandles="1" noChangeArrowheads="1" noChangeShapeType="1" noTextEdit="1"/>
              </p:cNvSpPr>
              <p:nvPr/>
            </p:nvSpPr>
            <p:spPr>
              <a:xfrm>
                <a:off x="1143000" y="4876437"/>
                <a:ext cx="9393812" cy="415498"/>
              </a:xfrm>
              <a:prstGeom prst="rect">
                <a:avLst/>
              </a:prstGeom>
              <a:blipFill>
                <a:blip r:embed="rId7"/>
                <a:stretch>
                  <a:fillRect l="-811" t="-9091"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4521889" y="4437857"/>
                <a:ext cx="572586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ea typeface="Cambria Math"/>
                        </a:rPr>
                        <m:t>𝜇</m:t>
                      </m:r>
                      <m:r>
                        <m:rPr>
                          <m:nor/>
                        </m:rPr>
                        <a:rPr lang="en-US" sz="2400" dirty="0"/>
                        <m:t>{</m:t>
                      </m:r>
                      <m:r>
                        <a:rPr lang="en-US" sz="2400" i="1" dirty="0">
                          <a:latin typeface="Cambria Math" charset="0"/>
                        </a:rPr>
                        <m:t>𝑌</m:t>
                      </m:r>
                      <m:r>
                        <a:rPr lang="en-US" sz="2400" i="1" dirty="0">
                          <a:latin typeface="Cambria Math" charset="0"/>
                        </a:rPr>
                        <m:t> </m:t>
                      </m:r>
                      <m:d>
                        <m:dPr>
                          <m:begChr m:val="|"/>
                          <m:ctrlPr>
                            <a:rPr lang="en-US" sz="2400" i="1" dirty="0">
                              <a:latin typeface="Cambria Math" panose="02040503050406030204" pitchFamily="18" charset="0"/>
                            </a:rPr>
                          </m:ctrlPr>
                        </m:dPr>
                        <m:e>
                          <m:r>
                            <a:rPr lang="en-US" sz="2400" i="1" dirty="0">
                              <a:latin typeface="Cambria Math" charset="0"/>
                            </a:rPr>
                            <m:t> </m:t>
                          </m:r>
                          <m:r>
                            <m:rPr>
                              <m:nor/>
                            </m:rPr>
                            <a:rPr lang="en-US" sz="2400" dirty="0">
                              <a:latin typeface="Cambria Math" charset="0"/>
                            </a:rPr>
                            <m:t>X</m:t>
                          </m:r>
                          <m:r>
                            <m:rPr>
                              <m:nor/>
                            </m:rPr>
                            <a:rPr lang="en-US" sz="2400" dirty="0"/>
                            <m:t>, </m:t>
                          </m:r>
                          <m:r>
                            <m:rPr>
                              <m:nor/>
                            </m:rPr>
                            <a:rPr lang="en-US" sz="2400" dirty="0"/>
                            <m:t>Type</m:t>
                          </m:r>
                          <m:r>
                            <m:rPr>
                              <m:nor/>
                            </m:rPr>
                            <a:rPr lang="en-US" sz="2400" dirty="0"/>
                            <m:t> = 1} = </m:t>
                          </m:r>
                          <m:sSub>
                            <m:sSubPr>
                              <m:ctrlPr>
                                <a:rPr lang="en-US" sz="2400" i="1" dirty="0">
                                  <a:latin typeface="Cambria Math" panose="02040503050406030204" pitchFamily="18" charset="0"/>
                                </a:rPr>
                              </m:ctrlPr>
                            </m:sSubPr>
                            <m:e>
                              <m:r>
                                <a:rPr lang="en-US" sz="2400" i="1" dirty="0">
                                  <a:latin typeface="Cambria Math"/>
                                </a:rPr>
                                <m:t>(</m:t>
                              </m:r>
                              <m:r>
                                <a:rPr lang="en-US" sz="2400" i="1" dirty="0">
                                  <a:latin typeface="Cambria Math"/>
                                  <a:ea typeface="Cambria Math"/>
                                </a:rPr>
                                <m:t>𝛽</m:t>
                              </m:r>
                            </m:e>
                            <m:sub>
                              <m:r>
                                <a:rPr lang="en-US" sz="2400" i="1" dirty="0">
                                  <a:latin typeface="Cambria Math"/>
                                </a:rPr>
                                <m:t>0</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a:ea typeface="Cambria Math"/>
                                </a:rPr>
                                <m:t>2</m:t>
                              </m:r>
                            </m:sub>
                          </m:sSub>
                        </m:e>
                      </m:d>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charset="0"/>
                            </a:rPr>
                            <m:t>(</m:t>
                          </m:r>
                          <m:r>
                            <a:rPr lang="en-US" sz="2400" i="1" dirty="0">
                              <a:latin typeface="Cambria Math"/>
                              <a:ea typeface="Cambria Math"/>
                            </a:rPr>
                            <m:t>𝛽</m:t>
                          </m:r>
                        </m:e>
                        <m:sub>
                          <m:r>
                            <a:rPr lang="en-US" sz="2400" i="1" dirty="0">
                              <a:latin typeface="Cambria Math"/>
                              <a:ea typeface="Cambria Math"/>
                            </a:rPr>
                            <m:t>1</m:t>
                          </m:r>
                        </m:sub>
                      </m:sSub>
                      <m:r>
                        <a:rPr lang="en-US" sz="2400" i="1" dirty="0">
                          <a:latin typeface="Cambria Math"/>
                        </a:rPr>
                        <m:t>+</m:t>
                      </m:r>
                      <m:sSub>
                        <m:sSubPr>
                          <m:ctrlPr>
                            <a:rPr lang="en-US" sz="2400" i="1" dirty="0">
                              <a:latin typeface="Cambria Math" panose="02040503050406030204" pitchFamily="18" charset="0"/>
                            </a:rPr>
                          </m:ctrlPr>
                        </m:sSubPr>
                        <m:e>
                          <m:r>
                            <a:rPr lang="en-US" sz="2400" i="1" dirty="0">
                              <a:latin typeface="Cambria Math"/>
                              <a:ea typeface="Cambria Math"/>
                            </a:rPr>
                            <m:t>𝛽</m:t>
                          </m:r>
                        </m:e>
                        <m:sub>
                          <m:r>
                            <a:rPr lang="en-US" sz="2400" i="1" dirty="0">
                              <a:latin typeface="Cambria Math" charset="0"/>
                              <a:ea typeface="Cambria Math"/>
                            </a:rPr>
                            <m:t>3</m:t>
                          </m:r>
                        </m:sub>
                      </m:sSub>
                      <m:r>
                        <a:rPr lang="en-US" sz="2400" i="1" dirty="0">
                          <a:latin typeface="Cambria Math" charset="0"/>
                          <a:ea typeface="Cambria Math"/>
                        </a:rPr>
                        <m:t>)</m:t>
                      </m:r>
                      <m:r>
                        <a:rPr lang="en-US" sz="2400" i="1" dirty="0">
                          <a:latin typeface="Cambria Math" charset="0"/>
                          <a:ea typeface="Cambria Math"/>
                        </a:rPr>
                        <m:t>𝑋</m:t>
                      </m:r>
                    </m:oMath>
                  </m:oMathPara>
                </a14:m>
                <a:endParaRPr lang="en-US" sz="2400" dirty="0"/>
              </a:p>
            </p:txBody>
          </p:sp>
        </mc:Choice>
        <mc:Fallback xmlns="">
          <p:sp>
            <p:nvSpPr>
              <p:cNvPr id="14" name="TextBox 13"/>
              <p:cNvSpPr txBox="1">
                <a:spLocks noRot="1" noChangeAspect="1" noMove="1" noResize="1" noEditPoints="1" noAdjustHandles="1" noChangeArrowheads="1" noChangeShapeType="1" noTextEdit="1"/>
              </p:cNvSpPr>
              <p:nvPr/>
            </p:nvSpPr>
            <p:spPr>
              <a:xfrm>
                <a:off x="4521889" y="4437857"/>
                <a:ext cx="5725863" cy="461665"/>
              </a:xfrm>
              <a:prstGeom prst="rect">
                <a:avLst/>
              </a:prstGeom>
              <a:blipFill>
                <a:blip r:embed="rId8"/>
                <a:stretch>
                  <a:fillRect t="-2703" b="-2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1143000" y="5235511"/>
                <a:ext cx="9393812" cy="738664"/>
              </a:xfrm>
              <a:prstGeom prst="rect">
                <a:avLst/>
              </a:prstGeom>
              <a:noFill/>
            </p:spPr>
            <p:txBody>
              <a:bodyPr wrap="square" rtlCol="0">
                <a:spAutoFit/>
              </a:bodyPr>
              <a:lstStyle/>
              <a:p>
                <a:r>
                  <a:rPr lang="en-US" sz="2100" dirty="0"/>
                  <a:t>Note 2:  </a:t>
                </a:r>
                <a14:m>
                  <m:oMath xmlns:m="http://schemas.openxmlformats.org/officeDocument/2006/math">
                    <m:sSub>
                      <m:sSubPr>
                        <m:ctrlPr>
                          <a:rPr lang="en-US" sz="2100" i="1" dirty="0">
                            <a:latin typeface="Cambria Math" panose="02040503050406030204" pitchFamily="18" charset="0"/>
                          </a:rPr>
                        </m:ctrlPr>
                      </m:sSubPr>
                      <m:e>
                        <m:r>
                          <a:rPr lang="en-US" sz="2100" i="1" dirty="0">
                            <a:latin typeface="Cambria Math"/>
                            <a:ea typeface="Cambria Math"/>
                          </a:rPr>
                          <m:t>𝛽</m:t>
                        </m:r>
                      </m:e>
                      <m:sub>
                        <m:r>
                          <a:rPr lang="en-US" sz="2100" i="1" dirty="0">
                            <a:latin typeface="Cambria Math" charset="0"/>
                            <a:ea typeface="Cambria Math"/>
                          </a:rPr>
                          <m:t>3</m:t>
                        </m:r>
                      </m:sub>
                    </m:sSub>
                  </m:oMath>
                </a14:m>
                <a:r>
                  <a:rPr lang="en-US" sz="2100" dirty="0"/>
                  <a:t> is the adjustment to Type A’s slope to get Type B’s Slope!   </a:t>
                </a:r>
              </a:p>
              <a:p>
                <a:r>
                  <a:rPr lang="en-US" sz="2100" dirty="0"/>
                  <a:t>		They are not forced to be parallel! </a:t>
                </a:r>
              </a:p>
            </p:txBody>
          </p:sp>
        </mc:Choice>
        <mc:Fallback xmlns="">
          <p:sp>
            <p:nvSpPr>
              <p:cNvPr id="15" name="TextBox 14"/>
              <p:cNvSpPr txBox="1">
                <a:spLocks noRot="1" noChangeAspect="1" noMove="1" noResize="1" noEditPoints="1" noAdjustHandles="1" noChangeArrowheads="1" noChangeShapeType="1" noTextEdit="1"/>
              </p:cNvSpPr>
              <p:nvPr/>
            </p:nvSpPr>
            <p:spPr>
              <a:xfrm>
                <a:off x="1143000" y="5235511"/>
                <a:ext cx="9393812" cy="738664"/>
              </a:xfrm>
              <a:prstGeom prst="rect">
                <a:avLst/>
              </a:prstGeom>
              <a:blipFill>
                <a:blip r:embed="rId9"/>
                <a:stretch>
                  <a:fillRect l="-811" t="-5085" b="-15254"/>
                </a:stretch>
              </a:blipFill>
            </p:spPr>
            <p:txBody>
              <a:bodyPr/>
              <a:lstStyle/>
              <a:p>
                <a:r>
                  <a:rPr lang="en-US">
                    <a:noFill/>
                  </a:rPr>
                  <a:t> </a:t>
                </a:r>
              </a:p>
            </p:txBody>
          </p:sp>
        </mc:Fallback>
      </mc:AlternateContent>
    </p:spTree>
    <p:extLst>
      <p:ext uri="{BB962C8B-B14F-4D97-AF65-F5344CB8AC3E}">
        <p14:creationId xmlns:p14="http://schemas.microsoft.com/office/powerpoint/2010/main" val="423490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fade">
                                      <p:cBhvr>
                                        <p:cTn id="5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Comparison of Slopes!</a:t>
            </a:r>
          </a:p>
        </p:txBody>
      </p:sp>
      <p:pic>
        <p:nvPicPr>
          <p:cNvPr id="4" name="Picture 3"/>
          <p:cNvPicPr>
            <a:picLocks noChangeAspect="1"/>
          </p:cNvPicPr>
          <p:nvPr/>
        </p:nvPicPr>
        <p:blipFill>
          <a:blip r:embed="rId2"/>
          <a:stretch>
            <a:fillRect/>
          </a:stretch>
        </p:blipFill>
        <p:spPr>
          <a:xfrm>
            <a:off x="2355662" y="1980746"/>
            <a:ext cx="3721114" cy="3760232"/>
          </a:xfrm>
          <a:prstGeom prst="rect">
            <a:avLst/>
          </a:prstGeom>
        </p:spPr>
      </p:pic>
      <p:sp>
        <p:nvSpPr>
          <p:cNvPr id="5" name="TextBox 4"/>
          <p:cNvSpPr txBox="1"/>
          <p:nvPr/>
        </p:nvSpPr>
        <p:spPr>
          <a:xfrm>
            <a:off x="6636329" y="2768941"/>
            <a:ext cx="3491345" cy="1708160"/>
          </a:xfrm>
          <a:prstGeom prst="rect">
            <a:avLst/>
          </a:prstGeom>
          <a:noFill/>
        </p:spPr>
        <p:txBody>
          <a:bodyPr wrap="square" rtlCol="0">
            <a:spAutoFit/>
          </a:bodyPr>
          <a:lstStyle/>
          <a:p>
            <a:pPr algn="ctr"/>
            <a:r>
              <a:rPr lang="en-US" sz="2100" dirty="0"/>
              <a:t>There is clear visual evidence of different slopes and different y-intercepts.  Let’s fit a model that allows the flexibility to reflect this.  </a:t>
            </a:r>
          </a:p>
        </p:txBody>
      </p:sp>
      <p:pic>
        <p:nvPicPr>
          <p:cNvPr id="6" name="Picture 5"/>
          <p:cNvPicPr>
            <a:picLocks noChangeAspect="1"/>
          </p:cNvPicPr>
          <p:nvPr/>
        </p:nvPicPr>
        <p:blipFill>
          <a:blip r:embed="rId3"/>
          <a:stretch>
            <a:fillRect/>
          </a:stretch>
        </p:blipFill>
        <p:spPr>
          <a:xfrm>
            <a:off x="2378478" y="5753964"/>
            <a:ext cx="3667125" cy="142875"/>
          </a:xfrm>
          <a:prstGeom prst="rect">
            <a:avLst/>
          </a:prstGeom>
        </p:spPr>
      </p:pic>
    </p:spTree>
    <p:extLst>
      <p:ext uri="{BB962C8B-B14F-4D97-AF65-F5344CB8AC3E}">
        <p14:creationId xmlns:p14="http://schemas.microsoft.com/office/powerpoint/2010/main" val="3838746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Comparison of Slopes!</a:t>
            </a:r>
          </a:p>
        </p:txBody>
      </p:sp>
      <p:pic>
        <p:nvPicPr>
          <p:cNvPr id="4" name="Picture 3"/>
          <p:cNvPicPr>
            <a:picLocks noChangeAspect="1"/>
          </p:cNvPicPr>
          <p:nvPr/>
        </p:nvPicPr>
        <p:blipFill>
          <a:blip r:embed="rId2"/>
          <a:stretch>
            <a:fillRect/>
          </a:stretch>
        </p:blipFill>
        <p:spPr>
          <a:xfrm>
            <a:off x="2397225" y="1928792"/>
            <a:ext cx="3681743" cy="3720447"/>
          </a:xfrm>
          <a:prstGeom prst="rect">
            <a:avLst/>
          </a:prstGeom>
        </p:spPr>
      </p:pic>
      <p:pic>
        <p:nvPicPr>
          <p:cNvPr id="3" name="Picture 2"/>
          <p:cNvPicPr>
            <a:picLocks noChangeAspect="1"/>
          </p:cNvPicPr>
          <p:nvPr/>
        </p:nvPicPr>
        <p:blipFill>
          <a:blip r:embed="rId3"/>
          <a:stretch>
            <a:fillRect/>
          </a:stretch>
        </p:blipFill>
        <p:spPr>
          <a:xfrm>
            <a:off x="2357899" y="1928792"/>
            <a:ext cx="3755875" cy="3770623"/>
          </a:xfrm>
          <a:prstGeom prst="rect">
            <a:avLst/>
          </a:prstGeom>
        </p:spPr>
      </p:pic>
      <p:pic>
        <p:nvPicPr>
          <p:cNvPr id="6" name="Picture 5"/>
          <p:cNvPicPr>
            <a:picLocks noChangeAspect="1"/>
          </p:cNvPicPr>
          <p:nvPr/>
        </p:nvPicPr>
        <p:blipFill>
          <a:blip r:embed="rId4"/>
          <a:stretch>
            <a:fillRect/>
          </a:stretch>
        </p:blipFill>
        <p:spPr>
          <a:xfrm>
            <a:off x="6402531" y="1928792"/>
            <a:ext cx="4163752" cy="3049813"/>
          </a:xfrm>
          <a:prstGeom prst="rect">
            <a:avLst/>
          </a:prstGeom>
        </p:spPr>
      </p:pic>
      <p:pic>
        <p:nvPicPr>
          <p:cNvPr id="7" name="Picture 6"/>
          <p:cNvPicPr>
            <a:picLocks noChangeAspect="1"/>
          </p:cNvPicPr>
          <p:nvPr/>
        </p:nvPicPr>
        <p:blipFill>
          <a:blip r:embed="rId5"/>
          <a:stretch>
            <a:fillRect/>
          </a:stretch>
        </p:blipFill>
        <p:spPr>
          <a:xfrm>
            <a:off x="1775788" y="5749279"/>
            <a:ext cx="4933277" cy="150297"/>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7184936" y="5000362"/>
                <a:ext cx="2418932"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rgbClr val="FF0000"/>
                          </a:solidFill>
                          <a:latin typeface="Cambria Math" charset="0"/>
                        </a:rPr>
                        <m:t>𝑻𝒚𝒑𝒆</m:t>
                      </m:r>
                      <m:r>
                        <a:rPr lang="en-US" sz="1350" b="1" i="1">
                          <a:solidFill>
                            <a:srgbClr val="FF0000"/>
                          </a:solidFill>
                          <a:latin typeface="Cambria Math" charset="0"/>
                        </a:rPr>
                        <m:t> </m:t>
                      </m:r>
                      <m:r>
                        <a:rPr lang="en-US" sz="1350" b="1" i="1">
                          <a:solidFill>
                            <a:srgbClr val="FF0000"/>
                          </a:solidFill>
                          <a:latin typeface="Cambria Math" charset="0"/>
                        </a:rPr>
                        <m:t>𝑨</m:t>
                      </m:r>
                      <m:r>
                        <a:rPr lang="en-US" sz="1350" b="1" i="1">
                          <a:solidFill>
                            <a:srgbClr val="FF0000"/>
                          </a:solidFill>
                          <a:latin typeface="Cambria Math" charset="0"/>
                        </a:rPr>
                        <m:t>:   </m:t>
                      </m:r>
                      <m:acc>
                        <m:accPr>
                          <m:chr m:val="̂"/>
                          <m:ctrlPr>
                            <a:rPr lang="en-US" sz="1350" b="1" i="1">
                              <a:solidFill>
                                <a:srgbClr val="FF0000"/>
                              </a:solidFill>
                              <a:latin typeface="Cambria Math" panose="02040503050406030204" pitchFamily="18" charset="0"/>
                            </a:rPr>
                          </m:ctrlPr>
                        </m:accPr>
                        <m:e>
                          <m:r>
                            <a:rPr lang="en-US" sz="1350" b="1" i="1">
                              <a:solidFill>
                                <a:srgbClr val="FF0000"/>
                              </a:solidFill>
                              <a:latin typeface="Cambria Math" charset="0"/>
                            </a:rPr>
                            <m:t>𝒀</m:t>
                          </m:r>
                        </m:e>
                      </m:acc>
                      <m:r>
                        <a:rPr lang="en-US" sz="1350" b="1" i="1">
                          <a:solidFill>
                            <a:srgbClr val="FF0000"/>
                          </a:solidFill>
                          <a:latin typeface="Cambria Math" charset="0"/>
                        </a:rPr>
                        <m:t>=</m:t>
                      </m:r>
                      <m:r>
                        <a:rPr lang="en-US" sz="1350" b="1" i="1">
                          <a:solidFill>
                            <a:srgbClr val="FF0000"/>
                          </a:solidFill>
                          <a:latin typeface="Cambria Math" charset="0"/>
                        </a:rPr>
                        <m:t>𝟓</m:t>
                      </m:r>
                      <m:r>
                        <a:rPr lang="en-US" sz="1350" b="1" i="1">
                          <a:solidFill>
                            <a:srgbClr val="FF0000"/>
                          </a:solidFill>
                          <a:latin typeface="Cambria Math" charset="0"/>
                        </a:rPr>
                        <m:t>.</m:t>
                      </m:r>
                      <m:r>
                        <a:rPr lang="en-US" sz="1350" b="1" i="1">
                          <a:solidFill>
                            <a:srgbClr val="FF0000"/>
                          </a:solidFill>
                          <a:latin typeface="Cambria Math" charset="0"/>
                        </a:rPr>
                        <m:t>𝟖𝟏𝟒𝟎</m:t>
                      </m:r>
                      <m:r>
                        <a:rPr lang="en-US" sz="1350" b="1" i="1">
                          <a:solidFill>
                            <a:srgbClr val="FF0000"/>
                          </a:solidFill>
                          <a:latin typeface="Cambria Math" charset="0"/>
                        </a:rPr>
                        <m:t>+</m:t>
                      </m:r>
                      <m:r>
                        <a:rPr lang="en-US" sz="1350" b="1" i="1">
                          <a:solidFill>
                            <a:srgbClr val="FF0000"/>
                          </a:solidFill>
                          <a:latin typeface="Cambria Math" charset="0"/>
                        </a:rPr>
                        <m:t>𝟒</m:t>
                      </m:r>
                      <m:r>
                        <a:rPr lang="en-US" sz="1350" b="1" i="1">
                          <a:solidFill>
                            <a:srgbClr val="FF0000"/>
                          </a:solidFill>
                          <a:latin typeface="Cambria Math" charset="0"/>
                        </a:rPr>
                        <m:t>.</m:t>
                      </m:r>
                      <m:r>
                        <a:rPr lang="en-US" sz="1350" b="1" i="1">
                          <a:solidFill>
                            <a:srgbClr val="FF0000"/>
                          </a:solidFill>
                          <a:latin typeface="Cambria Math" charset="0"/>
                        </a:rPr>
                        <m:t>𝟎𝟑</m:t>
                      </m:r>
                      <m:r>
                        <a:rPr lang="en-US" sz="1350" b="1" i="1">
                          <a:solidFill>
                            <a:srgbClr val="FF0000"/>
                          </a:solidFill>
                          <a:latin typeface="Cambria Math" charset="0"/>
                        </a:rPr>
                        <m:t>𝑿</m:t>
                      </m:r>
                    </m:oMath>
                  </m:oMathPara>
                </a14:m>
                <a:endParaRPr lang="en-US" sz="1350"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184936" y="5000362"/>
                <a:ext cx="2418932" cy="213392"/>
              </a:xfrm>
              <a:prstGeom prst="rect">
                <a:avLst/>
              </a:prstGeom>
              <a:blipFill>
                <a:blip r:embed="rId6"/>
                <a:stretch>
                  <a:fillRect l="-1571" t="-16667" r="-1571"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457285" y="5273945"/>
                <a:ext cx="4055597"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chemeClr val="accent6">
                              <a:lumMod val="75000"/>
                            </a:schemeClr>
                          </a:solidFill>
                          <a:latin typeface="Cambria Math" charset="0"/>
                        </a:rPr>
                        <m:t>𝑻𝒚𝒑𝒆</m:t>
                      </m:r>
                      <m:r>
                        <a:rPr lang="en-US" sz="1350" b="1" i="1">
                          <a:solidFill>
                            <a:schemeClr val="accent6">
                              <a:lumMod val="75000"/>
                            </a:schemeClr>
                          </a:solidFill>
                          <a:latin typeface="Cambria Math" charset="0"/>
                        </a:rPr>
                        <m:t> </m:t>
                      </m:r>
                      <m:r>
                        <a:rPr lang="en-US" sz="1350" b="1" i="1">
                          <a:solidFill>
                            <a:schemeClr val="accent6">
                              <a:lumMod val="75000"/>
                            </a:schemeClr>
                          </a:solidFill>
                          <a:latin typeface="Cambria Math" charset="0"/>
                        </a:rPr>
                        <m:t>𝑩</m:t>
                      </m:r>
                      <m:r>
                        <a:rPr lang="en-US" sz="1350" b="1" i="1">
                          <a:solidFill>
                            <a:schemeClr val="accent6">
                              <a:lumMod val="75000"/>
                            </a:schemeClr>
                          </a:solidFill>
                          <a:latin typeface="Cambria Math" charset="0"/>
                        </a:rPr>
                        <m:t>:   </m:t>
                      </m:r>
                      <m:acc>
                        <m:accPr>
                          <m:chr m:val="̂"/>
                          <m:ctrlPr>
                            <a:rPr lang="en-US" sz="1350" b="1" i="1">
                              <a:solidFill>
                                <a:schemeClr val="accent6">
                                  <a:lumMod val="75000"/>
                                </a:schemeClr>
                              </a:solidFill>
                              <a:latin typeface="Cambria Math" panose="02040503050406030204" pitchFamily="18" charset="0"/>
                            </a:rPr>
                          </m:ctrlPr>
                        </m:accPr>
                        <m:e>
                          <m:r>
                            <a:rPr lang="en-US" sz="1350" b="1" i="1">
                              <a:solidFill>
                                <a:schemeClr val="accent6">
                                  <a:lumMod val="75000"/>
                                </a:schemeClr>
                              </a:solidFill>
                              <a:latin typeface="Cambria Math" charset="0"/>
                            </a:rPr>
                            <m:t>𝒀</m:t>
                          </m:r>
                        </m:e>
                      </m:acc>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𝟓</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𝟖𝟏</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𝟏𝟒</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𝟕𝟖</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𝟒</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𝟎𝟑</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𝟕</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𝟏𝟗</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𝑿</m:t>
                      </m:r>
                    </m:oMath>
                  </m:oMathPara>
                </a14:m>
                <a:endParaRPr lang="en-US" sz="1350" b="1" dirty="0">
                  <a:solidFill>
                    <a:schemeClr val="accent6">
                      <a:lumMod val="75000"/>
                    </a:schemeClr>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6457285" y="5273945"/>
                <a:ext cx="4055597" cy="213392"/>
              </a:xfrm>
              <a:prstGeom prst="rect">
                <a:avLst/>
              </a:prstGeom>
              <a:blipFill>
                <a:blip r:embed="rId7"/>
                <a:stretch>
                  <a:fillRect l="-935" t="-16667" r="-312"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287151" y="5562973"/>
                <a:ext cx="2325958"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chemeClr val="accent6">
                              <a:lumMod val="75000"/>
                            </a:schemeClr>
                          </a:solidFill>
                          <a:latin typeface="Cambria Math" charset="0"/>
                        </a:rPr>
                        <m:t>𝑻𝒚𝒑𝒆</m:t>
                      </m:r>
                      <m:r>
                        <a:rPr lang="en-US" sz="1350" b="1" i="1">
                          <a:solidFill>
                            <a:schemeClr val="accent6">
                              <a:lumMod val="75000"/>
                            </a:schemeClr>
                          </a:solidFill>
                          <a:latin typeface="Cambria Math" charset="0"/>
                        </a:rPr>
                        <m:t> </m:t>
                      </m:r>
                      <m:r>
                        <a:rPr lang="en-US" sz="1350" b="1" i="1">
                          <a:solidFill>
                            <a:schemeClr val="accent6">
                              <a:lumMod val="75000"/>
                            </a:schemeClr>
                          </a:solidFill>
                          <a:latin typeface="Cambria Math" charset="0"/>
                        </a:rPr>
                        <m:t>𝑩</m:t>
                      </m:r>
                      <m:r>
                        <a:rPr lang="en-US" sz="1350" b="1" i="1">
                          <a:solidFill>
                            <a:schemeClr val="accent6">
                              <a:lumMod val="75000"/>
                            </a:schemeClr>
                          </a:solidFill>
                          <a:latin typeface="Cambria Math" charset="0"/>
                        </a:rPr>
                        <m:t>:   </m:t>
                      </m:r>
                      <m:acc>
                        <m:accPr>
                          <m:chr m:val="̂"/>
                          <m:ctrlPr>
                            <a:rPr lang="en-US" sz="1350" b="1" i="1">
                              <a:solidFill>
                                <a:schemeClr val="accent6">
                                  <a:lumMod val="75000"/>
                                </a:schemeClr>
                              </a:solidFill>
                              <a:latin typeface="Cambria Math" panose="02040503050406030204" pitchFamily="18" charset="0"/>
                            </a:rPr>
                          </m:ctrlPr>
                        </m:accPr>
                        <m:e>
                          <m:r>
                            <a:rPr lang="en-US" sz="1350" b="1" i="1">
                              <a:solidFill>
                                <a:schemeClr val="accent6">
                                  <a:lumMod val="75000"/>
                                </a:schemeClr>
                              </a:solidFill>
                              <a:latin typeface="Cambria Math" charset="0"/>
                            </a:rPr>
                            <m:t>𝒀</m:t>
                          </m:r>
                        </m:e>
                      </m:acc>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𝟓𝟗</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𝟑</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𝟏𝟔</m:t>
                      </m:r>
                      <m:r>
                        <a:rPr lang="en-US" sz="1350" b="1" i="1">
                          <a:solidFill>
                            <a:schemeClr val="accent6">
                              <a:lumMod val="75000"/>
                            </a:schemeClr>
                          </a:solidFill>
                          <a:latin typeface="Cambria Math" charset="0"/>
                        </a:rPr>
                        <m:t>𝑿</m:t>
                      </m:r>
                    </m:oMath>
                  </m:oMathPara>
                </a14:m>
                <a:endParaRPr lang="en-US" sz="1350" b="1" dirty="0">
                  <a:solidFill>
                    <a:schemeClr val="accent6">
                      <a:lumMod val="75000"/>
                    </a:schemeClr>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7287151" y="5562973"/>
                <a:ext cx="2325958" cy="213392"/>
              </a:xfrm>
              <a:prstGeom prst="rect">
                <a:avLst/>
              </a:prstGeom>
              <a:blipFill>
                <a:blip r:embed="rId8"/>
                <a:stretch>
                  <a:fillRect l="-2174" t="-16667" r="-1630" b="-38889"/>
                </a:stretch>
              </a:blipFill>
            </p:spPr>
            <p:txBody>
              <a:bodyPr/>
              <a:lstStyle/>
              <a:p>
                <a:r>
                  <a:rPr lang="en-US">
                    <a:noFill/>
                  </a:rPr>
                  <a:t> </a:t>
                </a:r>
              </a:p>
            </p:txBody>
          </p:sp>
        </mc:Fallback>
      </mc:AlternateContent>
    </p:spTree>
    <p:extLst>
      <p:ext uri="{BB962C8B-B14F-4D97-AF65-F5344CB8AC3E}">
        <p14:creationId xmlns:p14="http://schemas.microsoft.com/office/powerpoint/2010/main" val="4087229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11125200" cy="1371600"/>
          </a:xfrm>
        </p:spPr>
        <p:txBody>
          <a:bodyPr>
            <a:normAutofit/>
          </a:bodyPr>
          <a:lstStyle/>
          <a:p>
            <a:r>
              <a:rPr lang="en-US" sz="3200" dirty="0"/>
              <a:t>What do we think about these from before?</a:t>
            </a:r>
            <a:br>
              <a:rPr lang="en-US" sz="3200" dirty="0"/>
            </a:br>
            <a:r>
              <a:rPr lang="en-US" sz="3200" dirty="0"/>
              <a:t>Different Slopes?</a:t>
            </a:r>
          </a:p>
        </p:txBody>
      </p:sp>
      <p:pic>
        <p:nvPicPr>
          <p:cNvPr id="4" name="Picture 3"/>
          <p:cNvPicPr>
            <a:picLocks noChangeAspect="1"/>
          </p:cNvPicPr>
          <p:nvPr/>
        </p:nvPicPr>
        <p:blipFill>
          <a:blip r:embed="rId2"/>
          <a:stretch>
            <a:fillRect/>
          </a:stretch>
        </p:blipFill>
        <p:spPr>
          <a:xfrm>
            <a:off x="6792516" y="2035815"/>
            <a:ext cx="3875484" cy="3875484"/>
          </a:xfrm>
          <a:prstGeom prst="rect">
            <a:avLst/>
          </a:prstGeom>
        </p:spPr>
      </p:pic>
      <p:pic>
        <p:nvPicPr>
          <p:cNvPr id="5" name="Picture 4"/>
          <p:cNvPicPr>
            <a:picLocks noChangeAspect="1"/>
          </p:cNvPicPr>
          <p:nvPr/>
        </p:nvPicPr>
        <p:blipFill rotWithShape="1">
          <a:blip r:embed="rId3"/>
          <a:srcRect r="1751"/>
          <a:stretch/>
        </p:blipFill>
        <p:spPr>
          <a:xfrm>
            <a:off x="1832917" y="2035815"/>
            <a:ext cx="3847153" cy="3875484"/>
          </a:xfrm>
          <a:prstGeom prst="rect">
            <a:avLst/>
          </a:prstGeom>
        </p:spPr>
      </p:pic>
    </p:spTree>
    <p:extLst>
      <p:ext uri="{BB962C8B-B14F-4D97-AF65-F5344CB8AC3E}">
        <p14:creationId xmlns:p14="http://schemas.microsoft.com/office/powerpoint/2010/main" val="114063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28595"/>
            <a:ext cx="12268200" cy="1508414"/>
          </a:xfrm>
        </p:spPr>
        <p:txBody>
          <a:bodyPr>
            <a:normAutofit/>
          </a:bodyPr>
          <a:lstStyle/>
          <a:p>
            <a:r>
              <a:rPr lang="en-US" sz="3300" dirty="0"/>
              <a:t>What do we think about these from before? Different Slopes?</a:t>
            </a:r>
          </a:p>
        </p:txBody>
      </p:sp>
      <p:pic>
        <p:nvPicPr>
          <p:cNvPr id="5" name="Picture 4"/>
          <p:cNvPicPr>
            <a:picLocks noChangeAspect="1"/>
          </p:cNvPicPr>
          <p:nvPr/>
        </p:nvPicPr>
        <p:blipFill rotWithShape="1">
          <a:blip r:embed="rId2"/>
          <a:srcRect r="1751"/>
          <a:stretch/>
        </p:blipFill>
        <p:spPr>
          <a:xfrm>
            <a:off x="1832917" y="2035815"/>
            <a:ext cx="3847153" cy="3875484"/>
          </a:xfrm>
          <a:prstGeom prst="rect">
            <a:avLst/>
          </a:prstGeom>
        </p:spPr>
      </p:pic>
      <p:pic>
        <p:nvPicPr>
          <p:cNvPr id="3" name="Picture 2"/>
          <p:cNvPicPr>
            <a:picLocks noChangeAspect="1"/>
          </p:cNvPicPr>
          <p:nvPr/>
        </p:nvPicPr>
        <p:blipFill>
          <a:blip r:embed="rId3"/>
          <a:stretch>
            <a:fillRect/>
          </a:stretch>
        </p:blipFill>
        <p:spPr>
          <a:xfrm>
            <a:off x="6022398" y="2035816"/>
            <a:ext cx="4172816" cy="3102302"/>
          </a:xfrm>
          <a:prstGeom prst="rect">
            <a:avLst/>
          </a:prstGeom>
        </p:spPr>
      </p:pic>
      <p:sp>
        <p:nvSpPr>
          <p:cNvPr id="6" name="Rectangle 5"/>
          <p:cNvSpPr/>
          <p:nvPr/>
        </p:nvSpPr>
        <p:spPr>
          <a:xfrm>
            <a:off x="6022399" y="3900820"/>
            <a:ext cx="3606511" cy="3126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4"/>
          <a:stretch>
            <a:fillRect/>
          </a:stretch>
        </p:blipFill>
        <p:spPr>
          <a:xfrm>
            <a:off x="1932382" y="2035815"/>
            <a:ext cx="3747687" cy="3875484"/>
          </a:xfrm>
          <a:prstGeom prst="rect">
            <a:avLst/>
          </a:prstGeom>
        </p:spPr>
      </p:pic>
    </p:spTree>
    <p:extLst>
      <p:ext uri="{BB962C8B-B14F-4D97-AF65-F5344CB8AC3E}">
        <p14:creationId xmlns:p14="http://schemas.microsoft.com/office/powerpoint/2010/main" val="558839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0" y="450074"/>
            <a:ext cx="12192000" cy="682120"/>
          </a:xfrm>
        </p:spPr>
        <p:txBody>
          <a:bodyPr>
            <a:noAutofit/>
          </a:bodyPr>
          <a:lstStyle/>
          <a:p>
            <a:r>
              <a:rPr lang="en-US" sz="3200" dirty="0"/>
              <a:t>What do we think about these from before? Different Slopes?</a:t>
            </a:r>
          </a:p>
        </p:txBody>
      </p:sp>
      <p:pic>
        <p:nvPicPr>
          <p:cNvPr id="5" name="Picture 4"/>
          <p:cNvPicPr>
            <a:picLocks noChangeAspect="1"/>
          </p:cNvPicPr>
          <p:nvPr/>
        </p:nvPicPr>
        <p:blipFill rotWithShape="1">
          <a:blip r:embed="rId2"/>
          <a:srcRect r="1751"/>
          <a:stretch/>
        </p:blipFill>
        <p:spPr>
          <a:xfrm>
            <a:off x="1832917" y="2035815"/>
            <a:ext cx="3847153" cy="3875484"/>
          </a:xfrm>
          <a:prstGeom prst="rect">
            <a:avLst/>
          </a:prstGeom>
        </p:spPr>
      </p:pic>
      <p:pic>
        <p:nvPicPr>
          <p:cNvPr id="7" name="Picture 6"/>
          <p:cNvPicPr>
            <a:picLocks noChangeAspect="1"/>
          </p:cNvPicPr>
          <p:nvPr/>
        </p:nvPicPr>
        <p:blipFill>
          <a:blip r:embed="rId3"/>
          <a:stretch>
            <a:fillRect/>
          </a:stretch>
        </p:blipFill>
        <p:spPr>
          <a:xfrm>
            <a:off x="1932382" y="2035815"/>
            <a:ext cx="3747687" cy="3875484"/>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7029072" y="5212450"/>
                <a:ext cx="2236190"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rgbClr val="FF0000"/>
                          </a:solidFill>
                          <a:latin typeface="Cambria Math" charset="0"/>
                        </a:rPr>
                        <m:t>𝑻𝒚𝒑𝒆</m:t>
                      </m:r>
                      <m:r>
                        <a:rPr lang="en-US" sz="1350" b="1" i="1">
                          <a:solidFill>
                            <a:srgbClr val="FF0000"/>
                          </a:solidFill>
                          <a:latin typeface="Cambria Math" charset="0"/>
                        </a:rPr>
                        <m:t> </m:t>
                      </m:r>
                      <m:r>
                        <a:rPr lang="en-US" sz="1350" b="1" i="1">
                          <a:solidFill>
                            <a:srgbClr val="FF0000"/>
                          </a:solidFill>
                          <a:latin typeface="Cambria Math" charset="0"/>
                        </a:rPr>
                        <m:t>𝑨</m:t>
                      </m:r>
                      <m:r>
                        <a:rPr lang="en-US" sz="1350" b="1" i="1">
                          <a:solidFill>
                            <a:srgbClr val="FF0000"/>
                          </a:solidFill>
                          <a:latin typeface="Cambria Math" charset="0"/>
                        </a:rPr>
                        <m:t>:   </m:t>
                      </m:r>
                      <m:acc>
                        <m:accPr>
                          <m:chr m:val="̂"/>
                          <m:ctrlPr>
                            <a:rPr lang="en-US" sz="1350" b="1" i="1">
                              <a:solidFill>
                                <a:srgbClr val="FF0000"/>
                              </a:solidFill>
                              <a:latin typeface="Cambria Math" panose="02040503050406030204" pitchFamily="18" charset="0"/>
                            </a:rPr>
                          </m:ctrlPr>
                        </m:accPr>
                        <m:e>
                          <m:r>
                            <a:rPr lang="en-US" sz="1350" b="1" i="1">
                              <a:solidFill>
                                <a:srgbClr val="FF0000"/>
                              </a:solidFill>
                              <a:latin typeface="Cambria Math" charset="0"/>
                            </a:rPr>
                            <m:t>𝒀</m:t>
                          </m:r>
                        </m:e>
                      </m:acc>
                      <m:r>
                        <a:rPr lang="en-US" sz="1350" b="1" i="1">
                          <a:solidFill>
                            <a:srgbClr val="FF0000"/>
                          </a:solidFill>
                          <a:latin typeface="Cambria Math" charset="0"/>
                        </a:rPr>
                        <m:t>=−.</m:t>
                      </m:r>
                      <m:r>
                        <a:rPr lang="en-US" sz="1350" b="1" i="1">
                          <a:solidFill>
                            <a:srgbClr val="FF0000"/>
                          </a:solidFill>
                          <a:latin typeface="Cambria Math" charset="0"/>
                        </a:rPr>
                        <m:t>𝟏𝟖</m:t>
                      </m:r>
                      <m:r>
                        <a:rPr lang="en-US" sz="1350" b="1" i="1">
                          <a:solidFill>
                            <a:srgbClr val="FF0000"/>
                          </a:solidFill>
                          <a:latin typeface="Cambria Math" charset="0"/>
                        </a:rPr>
                        <m:t>+</m:t>
                      </m:r>
                      <m:r>
                        <a:rPr lang="en-US" sz="1350" b="1" i="1">
                          <a:solidFill>
                            <a:srgbClr val="FF0000"/>
                          </a:solidFill>
                          <a:latin typeface="Cambria Math" charset="0"/>
                        </a:rPr>
                        <m:t>𝟑</m:t>
                      </m:r>
                      <m:r>
                        <a:rPr lang="en-US" sz="1350" b="1" i="1">
                          <a:solidFill>
                            <a:srgbClr val="FF0000"/>
                          </a:solidFill>
                          <a:latin typeface="Cambria Math" charset="0"/>
                        </a:rPr>
                        <m:t>.</m:t>
                      </m:r>
                      <m:r>
                        <a:rPr lang="en-US" sz="1350" b="1" i="1">
                          <a:solidFill>
                            <a:srgbClr val="FF0000"/>
                          </a:solidFill>
                          <a:latin typeface="Cambria Math" charset="0"/>
                        </a:rPr>
                        <m:t>𝟎𝟔</m:t>
                      </m:r>
                      <m:r>
                        <a:rPr lang="en-US" sz="1350" b="1" i="1">
                          <a:solidFill>
                            <a:srgbClr val="FF0000"/>
                          </a:solidFill>
                          <a:latin typeface="Cambria Math" charset="0"/>
                        </a:rPr>
                        <m:t>𝑿</m:t>
                      </m:r>
                    </m:oMath>
                  </m:oMathPara>
                </a14:m>
                <a:endParaRPr lang="en-US" sz="1350" b="1" dirty="0">
                  <a:solidFill>
                    <a:srgbClr val="FF0000"/>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7029072" y="5212450"/>
                <a:ext cx="2236190" cy="213392"/>
              </a:xfrm>
              <a:prstGeom prst="rect">
                <a:avLst/>
              </a:prstGeom>
              <a:blipFill>
                <a:blip r:embed="rId4"/>
                <a:stretch>
                  <a:fillRect l="-2260" t="-16667" r="-1130"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029072" y="5500110"/>
                <a:ext cx="2247410"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chemeClr val="accent6">
                              <a:lumMod val="75000"/>
                            </a:schemeClr>
                          </a:solidFill>
                          <a:latin typeface="Cambria Math" charset="0"/>
                        </a:rPr>
                        <m:t>𝑻𝒚𝒑𝒆</m:t>
                      </m:r>
                      <m:r>
                        <a:rPr lang="en-US" sz="1350" b="1" i="1">
                          <a:solidFill>
                            <a:schemeClr val="accent6">
                              <a:lumMod val="75000"/>
                            </a:schemeClr>
                          </a:solidFill>
                          <a:latin typeface="Cambria Math" charset="0"/>
                        </a:rPr>
                        <m:t> </m:t>
                      </m:r>
                      <m:r>
                        <a:rPr lang="en-US" sz="1350" b="1" i="1">
                          <a:solidFill>
                            <a:schemeClr val="accent6">
                              <a:lumMod val="75000"/>
                            </a:schemeClr>
                          </a:solidFill>
                          <a:latin typeface="Cambria Math" charset="0"/>
                        </a:rPr>
                        <m:t>𝑩</m:t>
                      </m:r>
                      <m:r>
                        <a:rPr lang="en-US" sz="1350" b="1" i="1">
                          <a:solidFill>
                            <a:schemeClr val="accent6">
                              <a:lumMod val="75000"/>
                            </a:schemeClr>
                          </a:solidFill>
                          <a:latin typeface="Cambria Math" charset="0"/>
                        </a:rPr>
                        <m:t>:   </m:t>
                      </m:r>
                      <m:acc>
                        <m:accPr>
                          <m:chr m:val="̂"/>
                          <m:ctrlPr>
                            <a:rPr lang="en-US" sz="1350" b="1" i="1">
                              <a:solidFill>
                                <a:schemeClr val="accent6">
                                  <a:lumMod val="75000"/>
                                </a:schemeClr>
                              </a:solidFill>
                              <a:latin typeface="Cambria Math" panose="02040503050406030204" pitchFamily="18" charset="0"/>
                            </a:rPr>
                          </m:ctrlPr>
                        </m:accPr>
                        <m:e>
                          <m:r>
                            <a:rPr lang="en-US" sz="1350" b="1" i="1">
                              <a:solidFill>
                                <a:schemeClr val="accent6">
                                  <a:lumMod val="75000"/>
                                </a:schemeClr>
                              </a:solidFill>
                              <a:latin typeface="Cambria Math" charset="0"/>
                            </a:rPr>
                            <m:t>𝒀</m:t>
                          </m:r>
                        </m:e>
                      </m:acc>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𝟏𝟖</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𝟑</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𝟎𝟔</m:t>
                      </m:r>
                      <m:r>
                        <a:rPr lang="en-US" sz="1350" b="1" i="1">
                          <a:solidFill>
                            <a:schemeClr val="accent6">
                              <a:lumMod val="75000"/>
                            </a:schemeClr>
                          </a:solidFill>
                          <a:latin typeface="Cambria Math" charset="0"/>
                        </a:rPr>
                        <m:t>𝑿</m:t>
                      </m:r>
                    </m:oMath>
                  </m:oMathPara>
                </a14:m>
                <a:endParaRPr lang="en-US" sz="1350" b="1" dirty="0">
                  <a:solidFill>
                    <a:schemeClr val="accent6">
                      <a:lumMod val="75000"/>
                    </a:schemeClr>
                  </a:solidFill>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7029072" y="5500110"/>
                <a:ext cx="2247410" cy="213392"/>
              </a:xfrm>
              <a:prstGeom prst="rect">
                <a:avLst/>
              </a:prstGeom>
              <a:blipFill>
                <a:blip r:embed="rId5"/>
                <a:stretch>
                  <a:fillRect l="-2247" t="-11111" r="-1124" b="-44444"/>
                </a:stretch>
              </a:blipFill>
            </p:spPr>
            <p:txBody>
              <a:bodyPr/>
              <a:lstStyle/>
              <a:p>
                <a:r>
                  <a:rPr lang="en-US">
                    <a:noFill/>
                  </a:rPr>
                  <a:t> </a:t>
                </a:r>
              </a:p>
            </p:txBody>
          </p:sp>
        </mc:Fallback>
      </mc:AlternateContent>
      <p:pic>
        <p:nvPicPr>
          <p:cNvPr id="4" name="Picture 3"/>
          <p:cNvPicPr>
            <a:picLocks noChangeAspect="1"/>
          </p:cNvPicPr>
          <p:nvPr/>
        </p:nvPicPr>
        <p:blipFill>
          <a:blip r:embed="rId6"/>
          <a:stretch>
            <a:fillRect/>
          </a:stretch>
        </p:blipFill>
        <p:spPr>
          <a:xfrm>
            <a:off x="5966570" y="2035816"/>
            <a:ext cx="4375566" cy="2936235"/>
          </a:xfrm>
          <a:prstGeom prst="rect">
            <a:avLst/>
          </a:prstGeom>
        </p:spPr>
      </p:pic>
    </p:spTree>
    <p:extLst>
      <p:ext uri="{BB962C8B-B14F-4D97-AF65-F5344CB8AC3E}">
        <p14:creationId xmlns:p14="http://schemas.microsoft.com/office/powerpoint/2010/main" val="120305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48986"/>
            <a:ext cx="12115800" cy="1432214"/>
          </a:xfrm>
        </p:spPr>
        <p:txBody>
          <a:bodyPr>
            <a:normAutofit fontScale="90000"/>
          </a:bodyPr>
          <a:lstStyle/>
          <a:p>
            <a:r>
              <a:rPr lang="en-US" dirty="0"/>
              <a:t>What do we think about these from before?</a:t>
            </a:r>
            <a:br>
              <a:rPr lang="en-US" dirty="0"/>
            </a:br>
            <a:r>
              <a:rPr lang="en-US" dirty="0"/>
              <a:t>Different Slopes?</a:t>
            </a:r>
          </a:p>
        </p:txBody>
      </p:sp>
      <p:pic>
        <p:nvPicPr>
          <p:cNvPr id="7" name="Picture 6"/>
          <p:cNvPicPr>
            <a:picLocks noChangeAspect="1"/>
          </p:cNvPicPr>
          <p:nvPr/>
        </p:nvPicPr>
        <p:blipFill>
          <a:blip r:embed="rId2"/>
          <a:stretch>
            <a:fillRect/>
          </a:stretch>
        </p:blipFill>
        <p:spPr>
          <a:xfrm>
            <a:off x="1919180" y="1963076"/>
            <a:ext cx="3875484" cy="3875484"/>
          </a:xfrm>
          <a:prstGeom prst="rect">
            <a:avLst/>
          </a:prstGeom>
        </p:spPr>
      </p:pic>
      <p:pic>
        <p:nvPicPr>
          <p:cNvPr id="8" name="Picture 7"/>
          <p:cNvPicPr>
            <a:picLocks noChangeAspect="1"/>
          </p:cNvPicPr>
          <p:nvPr/>
        </p:nvPicPr>
        <p:blipFill>
          <a:blip r:embed="rId3"/>
          <a:stretch>
            <a:fillRect/>
          </a:stretch>
        </p:blipFill>
        <p:spPr>
          <a:xfrm>
            <a:off x="1919179" y="1963077"/>
            <a:ext cx="3802748" cy="3842725"/>
          </a:xfrm>
          <a:prstGeom prst="rect">
            <a:avLst/>
          </a:prstGeom>
        </p:spPr>
      </p:pic>
      <p:pic>
        <p:nvPicPr>
          <p:cNvPr id="9" name="Picture 8"/>
          <p:cNvPicPr>
            <a:picLocks noChangeAspect="1"/>
          </p:cNvPicPr>
          <p:nvPr/>
        </p:nvPicPr>
        <p:blipFill>
          <a:blip r:embed="rId4"/>
          <a:stretch>
            <a:fillRect/>
          </a:stretch>
        </p:blipFill>
        <p:spPr>
          <a:xfrm>
            <a:off x="5964813" y="1963075"/>
            <a:ext cx="4175086" cy="2925848"/>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6691033" y="5111524"/>
                <a:ext cx="2314736"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rgbClr val="FF0000"/>
                          </a:solidFill>
                          <a:latin typeface="Cambria Math" charset="0"/>
                        </a:rPr>
                        <m:t>𝑻𝒚𝒑𝒆</m:t>
                      </m:r>
                      <m:r>
                        <a:rPr lang="en-US" sz="1350" b="1" i="1">
                          <a:solidFill>
                            <a:srgbClr val="FF0000"/>
                          </a:solidFill>
                          <a:latin typeface="Cambria Math" charset="0"/>
                        </a:rPr>
                        <m:t> </m:t>
                      </m:r>
                      <m:r>
                        <a:rPr lang="en-US" sz="1350" b="1" i="1">
                          <a:solidFill>
                            <a:srgbClr val="FF0000"/>
                          </a:solidFill>
                          <a:latin typeface="Cambria Math" charset="0"/>
                        </a:rPr>
                        <m:t>𝑨</m:t>
                      </m:r>
                      <m:r>
                        <a:rPr lang="en-US" sz="1350" b="1" i="1">
                          <a:solidFill>
                            <a:srgbClr val="FF0000"/>
                          </a:solidFill>
                          <a:latin typeface="Cambria Math" charset="0"/>
                        </a:rPr>
                        <m:t>:   </m:t>
                      </m:r>
                      <m:acc>
                        <m:accPr>
                          <m:chr m:val="̂"/>
                          <m:ctrlPr>
                            <a:rPr lang="en-US" sz="1350" b="1" i="1">
                              <a:solidFill>
                                <a:srgbClr val="FF0000"/>
                              </a:solidFill>
                              <a:latin typeface="Cambria Math" panose="02040503050406030204" pitchFamily="18" charset="0"/>
                            </a:rPr>
                          </m:ctrlPr>
                        </m:accPr>
                        <m:e>
                          <m:r>
                            <a:rPr lang="en-US" sz="1350" b="1" i="1">
                              <a:solidFill>
                                <a:srgbClr val="FF0000"/>
                              </a:solidFill>
                              <a:latin typeface="Cambria Math" charset="0"/>
                            </a:rPr>
                            <m:t>𝒀</m:t>
                          </m:r>
                        </m:e>
                      </m:acc>
                      <m:r>
                        <a:rPr lang="en-US" sz="1350" b="1" i="1">
                          <a:solidFill>
                            <a:srgbClr val="FF0000"/>
                          </a:solidFill>
                          <a:latin typeface="Cambria Math" charset="0"/>
                        </a:rPr>
                        <m:t>=</m:t>
                      </m:r>
                      <m:r>
                        <a:rPr lang="en-US" sz="1350" b="1" i="1">
                          <a:solidFill>
                            <a:srgbClr val="FF0000"/>
                          </a:solidFill>
                          <a:latin typeface="Cambria Math" charset="0"/>
                        </a:rPr>
                        <m:t>𝟓𝟎</m:t>
                      </m:r>
                      <m:r>
                        <a:rPr lang="en-US" sz="1350" b="1" i="1">
                          <a:solidFill>
                            <a:srgbClr val="FF0000"/>
                          </a:solidFill>
                          <a:latin typeface="Cambria Math" charset="0"/>
                        </a:rPr>
                        <m:t>.</m:t>
                      </m:r>
                      <m:r>
                        <a:rPr lang="en-US" sz="1350" b="1" i="1">
                          <a:solidFill>
                            <a:srgbClr val="FF0000"/>
                          </a:solidFill>
                          <a:latin typeface="Cambria Math" charset="0"/>
                        </a:rPr>
                        <m:t>𝟐𝟕</m:t>
                      </m:r>
                      <m:r>
                        <a:rPr lang="en-US" sz="1350" b="1" i="1">
                          <a:solidFill>
                            <a:srgbClr val="FF0000"/>
                          </a:solidFill>
                          <a:latin typeface="Cambria Math" charset="0"/>
                        </a:rPr>
                        <m:t>+</m:t>
                      </m:r>
                      <m:r>
                        <a:rPr lang="en-US" sz="1350" b="1" i="1">
                          <a:solidFill>
                            <a:srgbClr val="FF0000"/>
                          </a:solidFill>
                          <a:latin typeface="Cambria Math" charset="0"/>
                        </a:rPr>
                        <m:t>𝟐</m:t>
                      </m:r>
                      <m:r>
                        <a:rPr lang="en-US" sz="1350" b="1" i="1">
                          <a:solidFill>
                            <a:srgbClr val="FF0000"/>
                          </a:solidFill>
                          <a:latin typeface="Cambria Math" charset="0"/>
                        </a:rPr>
                        <m:t>.</m:t>
                      </m:r>
                      <m:r>
                        <a:rPr lang="en-US" sz="1350" b="1" i="1">
                          <a:solidFill>
                            <a:srgbClr val="FF0000"/>
                          </a:solidFill>
                          <a:latin typeface="Cambria Math" charset="0"/>
                        </a:rPr>
                        <m:t>𝟗𝟗</m:t>
                      </m:r>
                      <m:r>
                        <a:rPr lang="en-US" sz="1350" b="1" i="1">
                          <a:solidFill>
                            <a:srgbClr val="FF0000"/>
                          </a:solidFill>
                          <a:latin typeface="Cambria Math" charset="0"/>
                        </a:rPr>
                        <m:t>𝑿</m:t>
                      </m:r>
                    </m:oMath>
                  </m:oMathPara>
                </a14:m>
                <a:endParaRPr lang="en-US" sz="1350" b="1" dirty="0">
                  <a:solidFill>
                    <a:srgbClr val="FF000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691033" y="5111524"/>
                <a:ext cx="2314736" cy="213392"/>
              </a:xfrm>
              <a:prstGeom prst="rect">
                <a:avLst/>
              </a:prstGeom>
              <a:blipFill>
                <a:blip r:embed="rId5"/>
                <a:stretch>
                  <a:fillRect l="-2198" t="-16667" r="-1648"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5964815" y="5442461"/>
                <a:ext cx="4463851" cy="213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350" b="1" i="1">
                          <a:solidFill>
                            <a:schemeClr val="accent6">
                              <a:lumMod val="75000"/>
                            </a:schemeClr>
                          </a:solidFill>
                          <a:latin typeface="Cambria Math" charset="0"/>
                        </a:rPr>
                        <m:t>𝑻𝒚𝒑𝒆</m:t>
                      </m:r>
                      <m:r>
                        <a:rPr lang="en-US" sz="1350" b="1" i="1">
                          <a:solidFill>
                            <a:schemeClr val="accent6">
                              <a:lumMod val="75000"/>
                            </a:schemeClr>
                          </a:solidFill>
                          <a:latin typeface="Cambria Math" charset="0"/>
                        </a:rPr>
                        <m:t> </m:t>
                      </m:r>
                      <m:r>
                        <a:rPr lang="en-US" sz="1350" b="1" i="1">
                          <a:solidFill>
                            <a:schemeClr val="accent6">
                              <a:lumMod val="75000"/>
                            </a:schemeClr>
                          </a:solidFill>
                          <a:latin typeface="Cambria Math" charset="0"/>
                        </a:rPr>
                        <m:t>𝑩</m:t>
                      </m:r>
                      <m:r>
                        <a:rPr lang="en-US" sz="1350" b="1" i="1">
                          <a:solidFill>
                            <a:schemeClr val="accent6">
                              <a:lumMod val="75000"/>
                            </a:schemeClr>
                          </a:solidFill>
                          <a:latin typeface="Cambria Math" charset="0"/>
                        </a:rPr>
                        <m:t>:   </m:t>
                      </m:r>
                      <m:acc>
                        <m:accPr>
                          <m:chr m:val="̂"/>
                          <m:ctrlPr>
                            <a:rPr lang="en-US" sz="1350" b="1" i="1">
                              <a:solidFill>
                                <a:schemeClr val="accent6">
                                  <a:lumMod val="75000"/>
                                </a:schemeClr>
                              </a:solidFill>
                              <a:latin typeface="Cambria Math" panose="02040503050406030204" pitchFamily="18" charset="0"/>
                            </a:rPr>
                          </m:ctrlPr>
                        </m:accPr>
                        <m:e>
                          <m:r>
                            <a:rPr lang="en-US" sz="1350" b="1" i="1">
                              <a:solidFill>
                                <a:schemeClr val="accent6">
                                  <a:lumMod val="75000"/>
                                </a:schemeClr>
                              </a:solidFill>
                              <a:latin typeface="Cambria Math" charset="0"/>
                            </a:rPr>
                            <m:t>𝒀</m:t>
                          </m:r>
                        </m:e>
                      </m:acc>
                      <m:r>
                        <a:rPr lang="en-US" sz="1350" b="1" i="1">
                          <a:solidFill>
                            <a:schemeClr val="accent6">
                              <a:lumMod val="75000"/>
                            </a:schemeClr>
                          </a:solidFill>
                          <a:latin typeface="Cambria Math" charset="0"/>
                        </a:rPr>
                        <m:t>=</m:t>
                      </m:r>
                      <m:d>
                        <m:dPr>
                          <m:ctrlPr>
                            <a:rPr lang="en-US" sz="1350" b="1" i="1">
                              <a:solidFill>
                                <a:schemeClr val="accent6">
                                  <a:lumMod val="75000"/>
                                </a:schemeClr>
                              </a:solidFill>
                              <a:latin typeface="Cambria Math" panose="02040503050406030204" pitchFamily="18" charset="0"/>
                            </a:rPr>
                          </m:ctrlPr>
                        </m:dPr>
                        <m:e>
                          <m:r>
                            <a:rPr lang="en-US" sz="1350" b="1" i="1">
                              <a:solidFill>
                                <a:schemeClr val="accent6">
                                  <a:lumMod val="75000"/>
                                </a:schemeClr>
                              </a:solidFill>
                              <a:latin typeface="Cambria Math" charset="0"/>
                            </a:rPr>
                            <m:t>𝟓𝟎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𝟐𝟕</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𝟗𝟑</m:t>
                          </m:r>
                        </m:e>
                      </m:d>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𝟗𝟗</m:t>
                      </m:r>
                      <m:r>
                        <a:rPr lang="en-US" sz="1350" b="1" i="1">
                          <a:solidFill>
                            <a:schemeClr val="accent6">
                              <a:lumMod val="75000"/>
                            </a:schemeClr>
                          </a:solidFill>
                          <a:latin typeface="Cambria Math" charset="0"/>
                        </a:rPr>
                        <m:t>𝑿</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𝟔𝟎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𝟐𝟎</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𝟐</m:t>
                      </m:r>
                      <m:r>
                        <a:rPr lang="en-US" sz="1350" b="1" i="1">
                          <a:solidFill>
                            <a:schemeClr val="accent6">
                              <a:lumMod val="75000"/>
                            </a:schemeClr>
                          </a:solidFill>
                          <a:latin typeface="Cambria Math" charset="0"/>
                        </a:rPr>
                        <m:t>.</m:t>
                      </m:r>
                      <m:r>
                        <a:rPr lang="en-US" sz="1350" b="1" i="1">
                          <a:solidFill>
                            <a:schemeClr val="accent6">
                              <a:lumMod val="75000"/>
                            </a:schemeClr>
                          </a:solidFill>
                          <a:latin typeface="Cambria Math" charset="0"/>
                        </a:rPr>
                        <m:t>𝟗𝟗</m:t>
                      </m:r>
                      <m:r>
                        <a:rPr lang="en-US" sz="1350" b="1" i="1">
                          <a:solidFill>
                            <a:schemeClr val="accent6">
                              <a:lumMod val="75000"/>
                            </a:schemeClr>
                          </a:solidFill>
                          <a:latin typeface="Cambria Math" charset="0"/>
                        </a:rPr>
                        <m:t>𝑿</m:t>
                      </m:r>
                    </m:oMath>
                  </m:oMathPara>
                </a14:m>
                <a:endParaRPr lang="en-US" sz="1350" b="1" dirty="0">
                  <a:solidFill>
                    <a:schemeClr val="accent6">
                      <a:lumMod val="75000"/>
                    </a:schemeClr>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964815" y="5442461"/>
                <a:ext cx="4463851" cy="213392"/>
              </a:xfrm>
              <a:prstGeom prst="rect">
                <a:avLst/>
              </a:prstGeom>
              <a:blipFill>
                <a:blip r:embed="rId6"/>
                <a:stretch>
                  <a:fillRect l="-850" t="-16667" r="-283" b="-44444"/>
                </a:stretch>
              </a:blipFill>
            </p:spPr>
            <p:txBody>
              <a:bodyPr/>
              <a:lstStyle/>
              <a:p>
                <a:r>
                  <a:rPr lang="en-US">
                    <a:noFill/>
                  </a:rPr>
                  <a:t> </a:t>
                </a:r>
              </a:p>
            </p:txBody>
          </p:sp>
        </mc:Fallback>
      </mc:AlternateContent>
    </p:spTree>
    <p:extLst>
      <p:ext uri="{BB962C8B-B14F-4D97-AF65-F5344CB8AC3E}">
        <p14:creationId xmlns:p14="http://schemas.microsoft.com/office/powerpoint/2010/main" val="1339280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80869"/>
            <a:ext cx="7200900" cy="479822"/>
          </a:xfrm>
        </p:spPr>
        <p:txBody>
          <a:bodyPr>
            <a:normAutofit fontScale="90000"/>
          </a:bodyPr>
          <a:lstStyle/>
          <a:p>
            <a:r>
              <a:rPr lang="en-US" dirty="0" err="1"/>
              <a:t>Meadowfoam</a:t>
            </a:r>
            <a:r>
              <a:rPr lang="en-US" dirty="0"/>
              <a:t>: Intensity Only</a:t>
            </a:r>
          </a:p>
        </p:txBody>
      </p:sp>
      <mc:AlternateContent xmlns:mc="http://schemas.openxmlformats.org/markup-compatibility/2006" xmlns:a14="http://schemas.microsoft.com/office/drawing/2010/main">
        <mc:Choice Requires="a14">
          <p:sp>
            <p:nvSpPr>
              <p:cNvPr id="8" name="TextBox 7"/>
              <p:cNvSpPr txBox="1"/>
              <p:nvPr/>
            </p:nvSpPr>
            <p:spPr>
              <a:xfrm>
                <a:off x="2892107" y="1620610"/>
                <a:ext cx="3170291"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sty m:val="p"/>
                        </m:rPr>
                        <a:rPr lang="en-US" sz="1350" i="1" dirty="0">
                          <a:latin typeface="Cambria Math" panose="02040503050406030204" pitchFamily="18" charset="0"/>
                        </a:rPr>
                        <m:t>Intensity</m:t>
                      </m:r>
                      <m:r>
                        <m:rPr>
                          <m:nor/>
                        </m:rPr>
                        <a:rPr lang="en-US" sz="1350" dirty="0"/>
                        <m:t>} = </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rPr>
                            <m:t>0</m:t>
                          </m:r>
                        </m:sub>
                      </m:sSub>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1</m:t>
                          </m:r>
                        </m:sub>
                      </m:sSub>
                      <m:r>
                        <a:rPr lang="en-US" sz="1350" i="1" dirty="0">
                          <a:latin typeface="Cambria Math" charset="0"/>
                          <a:ea typeface="Cambria Math"/>
                        </a:rPr>
                        <m:t>𝐼𝑛𝑡𝑒𝑛𝑠𝑖𝑡𝑦</m:t>
                      </m:r>
                    </m:oMath>
                  </m:oMathPara>
                </a14:m>
                <a:endParaRPr lang="en-US" sz="1350" dirty="0"/>
              </a:p>
            </p:txBody>
          </p:sp>
        </mc:Choice>
        <mc:Fallback xmlns="">
          <p:sp>
            <p:nvSpPr>
              <p:cNvPr id="8" name="TextBox 7"/>
              <p:cNvSpPr txBox="1">
                <a:spLocks noRot="1" noChangeAspect="1" noMove="1" noResize="1" noEditPoints="1" noAdjustHandles="1" noChangeArrowheads="1" noChangeShapeType="1" noTextEdit="1"/>
              </p:cNvSpPr>
              <p:nvPr/>
            </p:nvSpPr>
            <p:spPr>
              <a:xfrm>
                <a:off x="2892107" y="1620610"/>
                <a:ext cx="3170291" cy="300082"/>
              </a:xfrm>
              <a:prstGeom prst="rect">
                <a:avLst/>
              </a:prstGeom>
              <a:blipFill>
                <a:blip r:embed="rId3"/>
                <a:stretch>
                  <a:fillRect b="-12000"/>
                </a:stretch>
              </a:blipFill>
            </p:spPr>
            <p:txBody>
              <a:bodyPr/>
              <a:lstStyle/>
              <a:p>
                <a:r>
                  <a:rPr lang="en-US">
                    <a:noFill/>
                  </a:rPr>
                  <a:t> </a:t>
                </a:r>
              </a:p>
            </p:txBody>
          </p:sp>
        </mc:Fallback>
      </mc:AlternateContent>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397" y="1470313"/>
            <a:ext cx="3128963" cy="1548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p:cNvPicPr>
          <p:nvPr/>
        </p:nvPicPr>
        <p:blipFill>
          <a:blip r:embed="rId5"/>
          <a:stretch>
            <a:fillRect/>
          </a:stretch>
        </p:blipFill>
        <p:spPr>
          <a:xfrm>
            <a:off x="1887682" y="2280000"/>
            <a:ext cx="4534334" cy="3022889"/>
          </a:xfrm>
          <a:prstGeom prst="rect">
            <a:avLst/>
          </a:prstGeom>
        </p:spPr>
      </p:pic>
      <p:pic>
        <p:nvPicPr>
          <p:cNvPr id="4" name="Picture 3"/>
          <p:cNvPicPr>
            <a:picLocks noChangeAspect="1"/>
          </p:cNvPicPr>
          <p:nvPr/>
        </p:nvPicPr>
        <p:blipFill>
          <a:blip r:embed="rId6"/>
          <a:stretch>
            <a:fillRect/>
          </a:stretch>
        </p:blipFill>
        <p:spPr>
          <a:xfrm>
            <a:off x="7009686" y="3111948"/>
            <a:ext cx="2452385" cy="2452385"/>
          </a:xfrm>
          <a:prstGeom prst="rect">
            <a:avLst/>
          </a:prstGeom>
        </p:spPr>
      </p:pic>
      <p:pic>
        <p:nvPicPr>
          <p:cNvPr id="5" name="Picture 4"/>
          <p:cNvPicPr>
            <a:picLocks noChangeAspect="1"/>
          </p:cNvPicPr>
          <p:nvPr/>
        </p:nvPicPr>
        <p:blipFill>
          <a:blip r:embed="rId7"/>
          <a:stretch>
            <a:fillRect/>
          </a:stretch>
        </p:blipFill>
        <p:spPr>
          <a:xfrm>
            <a:off x="3992707" y="5657448"/>
            <a:ext cx="6534150" cy="161925"/>
          </a:xfrm>
          <a:prstGeom prst="rect">
            <a:avLst/>
          </a:prstGeom>
        </p:spPr>
      </p:pic>
    </p:spTree>
    <p:extLst>
      <p:ext uri="{BB962C8B-B14F-4D97-AF65-F5344CB8AC3E}">
        <p14:creationId xmlns:p14="http://schemas.microsoft.com/office/powerpoint/2010/main" val="1942250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533400"/>
            <a:ext cx="11887200" cy="332021"/>
          </a:xfrm>
        </p:spPr>
        <p:txBody>
          <a:bodyPr>
            <a:normAutofit fontScale="90000"/>
          </a:bodyPr>
          <a:lstStyle/>
          <a:p>
            <a:r>
              <a:rPr lang="en-US" dirty="0" err="1"/>
              <a:t>Meadowfoam</a:t>
            </a:r>
            <a:r>
              <a:rPr lang="en-US" dirty="0"/>
              <a:t>: Light Intensity and Time</a:t>
            </a:r>
          </a:p>
        </p:txBody>
      </p:sp>
      <mc:AlternateContent xmlns:mc="http://schemas.openxmlformats.org/markup-compatibility/2006" xmlns:a14="http://schemas.microsoft.com/office/drawing/2010/main">
        <mc:Choice Requires="a14">
          <p:sp>
            <p:nvSpPr>
              <p:cNvPr id="8" name="TextBox 7"/>
              <p:cNvSpPr txBox="1"/>
              <p:nvPr/>
            </p:nvSpPr>
            <p:spPr>
              <a:xfrm>
                <a:off x="1524001" y="1628965"/>
                <a:ext cx="5443093" cy="507831"/>
              </a:xfrm>
              <a:prstGeom prst="rect">
                <a:avLst/>
              </a:prstGeom>
              <a:noFill/>
            </p:spPr>
            <p:txBody>
              <a:bodyPr wrap="none" rtlCol="0">
                <a:spAutoFit/>
              </a:bodyPr>
              <a:lstStyle/>
              <a:p>
                <a14:m>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nor/>
                      </m:rPr>
                      <a:rPr lang="en-US" sz="1350" dirty="0"/>
                      <m:t>Intensity</m:t>
                    </m:r>
                    <m:r>
                      <m:rPr>
                        <m:nor/>
                      </m:rPr>
                      <a:rPr lang="en-US" sz="1350" dirty="0"/>
                      <m:t>} = </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rPr>
                          <m:t>0</m:t>
                        </m:r>
                      </m:sub>
                    </m:sSub>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1</m:t>
                        </m:r>
                      </m:sub>
                    </m:sSub>
                    <m:r>
                      <a:rPr lang="en-US" sz="1350" i="1" dirty="0">
                        <a:latin typeface="Cambria Math" charset="0"/>
                        <a:ea typeface="Cambria Math"/>
                      </a:rPr>
                      <m:t>𝐼𝑛𝑡𝑒𝑛𝑠𝑖𝑡𝑦</m:t>
                    </m:r>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2</m:t>
                        </m:r>
                      </m:sub>
                    </m:sSub>
                    <m:r>
                      <a:rPr lang="en-US" sz="1350" i="1" dirty="0">
                        <a:latin typeface="Cambria Math"/>
                        <a:ea typeface="Cambria Math"/>
                      </a:rPr>
                      <m:t>𝑡𝑖𝑚𝑒</m:t>
                    </m:r>
                  </m:oMath>
                </a14:m>
                <a:r>
                  <a:rPr lang="en-US" sz="1350" dirty="0"/>
                  <a:t> </a:t>
                </a:r>
                <a14:m>
                  <m:oMath xmlns:m="http://schemas.openxmlformats.org/officeDocument/2006/math">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charset="0"/>
                            <a:ea typeface="Cambria Math"/>
                          </a:rPr>
                          <m:t>3</m:t>
                        </m:r>
                      </m:sub>
                    </m:sSub>
                    <m:r>
                      <a:rPr lang="en-US" sz="1350" i="1" dirty="0">
                        <a:latin typeface="Cambria Math" charset="0"/>
                        <a:ea typeface="Cambria Math"/>
                      </a:rPr>
                      <m:t>𝐼𝑛𝑡𝑒𝑛𝑠𝑖𝑡𝑦</m:t>
                    </m:r>
                    <m:r>
                      <a:rPr lang="en-US" sz="1350" i="1" dirty="0">
                        <a:latin typeface="Cambria Math" charset="0"/>
                        <a:ea typeface="Cambria Math"/>
                      </a:rPr>
                      <m:t>∗</m:t>
                    </m:r>
                    <m:r>
                      <a:rPr lang="en-US" sz="1350" i="1" dirty="0">
                        <a:latin typeface="Cambria Math" charset="0"/>
                        <a:ea typeface="Cambria Math"/>
                      </a:rPr>
                      <m:t>𝑡𝑖𝑚𝑒</m:t>
                    </m:r>
                  </m:oMath>
                </a14:m>
                <a:endParaRPr lang="en-US" sz="1350" dirty="0"/>
              </a:p>
              <a:p>
                <a:endParaRPr lang="en-US" sz="1350" dirty="0"/>
              </a:p>
            </p:txBody>
          </p:sp>
        </mc:Choice>
        <mc:Fallback xmlns="">
          <p:sp>
            <p:nvSpPr>
              <p:cNvPr id="8" name="TextBox 7"/>
              <p:cNvSpPr txBox="1">
                <a:spLocks noRot="1" noChangeAspect="1" noMove="1" noResize="1" noEditPoints="1" noAdjustHandles="1" noChangeArrowheads="1" noChangeShapeType="1" noTextEdit="1"/>
              </p:cNvSpPr>
              <p:nvPr/>
            </p:nvSpPr>
            <p:spPr>
              <a:xfrm>
                <a:off x="1524001" y="1628965"/>
                <a:ext cx="5443093" cy="507831"/>
              </a:xfrm>
              <a:prstGeom prst="rect">
                <a:avLst/>
              </a:prstGeom>
              <a:blipFill>
                <a:blip r:embed="rId3"/>
                <a:stretch>
                  <a:fillRect t="-2439"/>
                </a:stretch>
              </a:blipFill>
            </p:spPr>
            <p:txBody>
              <a:bodyPr/>
              <a:lstStyle/>
              <a:p>
                <a:r>
                  <a:rPr lang="en-US">
                    <a:noFill/>
                  </a:rPr>
                  <a:t> </a:t>
                </a:r>
              </a:p>
            </p:txBody>
          </p:sp>
        </mc:Fallback>
      </mc:AlternateContent>
      <p:pic>
        <p:nvPicPr>
          <p:cNvPr id="9" name="Picture 8"/>
          <p:cNvPicPr>
            <a:picLocks noChangeAspect="1"/>
          </p:cNvPicPr>
          <p:nvPr/>
        </p:nvPicPr>
        <p:blipFill>
          <a:blip r:embed="rId4"/>
          <a:stretch>
            <a:fillRect/>
          </a:stretch>
        </p:blipFill>
        <p:spPr>
          <a:xfrm>
            <a:off x="6761696" y="1459925"/>
            <a:ext cx="3788198" cy="3803073"/>
          </a:xfrm>
          <a:prstGeom prst="rect">
            <a:avLst/>
          </a:prstGeom>
        </p:spPr>
      </p:pic>
      <p:pic>
        <p:nvPicPr>
          <p:cNvPr id="10" name="Picture 9"/>
          <p:cNvPicPr>
            <a:picLocks noChangeAspect="1"/>
          </p:cNvPicPr>
          <p:nvPr/>
        </p:nvPicPr>
        <p:blipFill>
          <a:blip r:embed="rId5"/>
          <a:stretch>
            <a:fillRect/>
          </a:stretch>
        </p:blipFill>
        <p:spPr>
          <a:xfrm>
            <a:off x="4758694" y="5543253"/>
            <a:ext cx="5791200" cy="142875"/>
          </a:xfrm>
          <a:prstGeom prst="rect">
            <a:avLst/>
          </a:prstGeom>
        </p:spPr>
      </p:pic>
      <p:pic>
        <p:nvPicPr>
          <p:cNvPr id="11" name="Picture 10"/>
          <p:cNvPicPr>
            <a:picLocks noChangeAspect="1"/>
          </p:cNvPicPr>
          <p:nvPr/>
        </p:nvPicPr>
        <p:blipFill>
          <a:blip r:embed="rId6"/>
          <a:stretch>
            <a:fillRect/>
          </a:stretch>
        </p:blipFill>
        <p:spPr>
          <a:xfrm>
            <a:off x="1978968" y="2113711"/>
            <a:ext cx="4418734" cy="3066734"/>
          </a:xfrm>
          <a:prstGeom prst="rect">
            <a:avLst/>
          </a:prstGeom>
        </p:spPr>
      </p:pic>
    </p:spTree>
    <p:extLst>
      <p:ext uri="{BB962C8B-B14F-4D97-AF65-F5344CB8AC3E}">
        <p14:creationId xmlns:p14="http://schemas.microsoft.com/office/powerpoint/2010/main" val="1551089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437288" y="2533177"/>
            <a:ext cx="3066761" cy="3090815"/>
          </a:xfrm>
          <a:prstGeom prst="rect">
            <a:avLst/>
          </a:prstGeom>
        </p:spPr>
      </p:pic>
      <p:sp>
        <p:nvSpPr>
          <p:cNvPr id="2" name="Title 1"/>
          <p:cNvSpPr>
            <a:spLocks noGrp="1"/>
          </p:cNvSpPr>
          <p:nvPr>
            <p:ph type="title"/>
          </p:nvPr>
        </p:nvSpPr>
        <p:spPr>
          <a:xfrm>
            <a:off x="1860566" y="587748"/>
            <a:ext cx="9342982" cy="332021"/>
          </a:xfrm>
        </p:spPr>
        <p:txBody>
          <a:bodyPr>
            <a:normAutofit fontScale="90000"/>
          </a:bodyPr>
          <a:lstStyle/>
          <a:p>
            <a:r>
              <a:rPr lang="en-US" dirty="0" err="1"/>
              <a:t>Meadowfoam</a:t>
            </a:r>
            <a:r>
              <a:rPr lang="en-US" dirty="0"/>
              <a:t>: Light Intensity and Time</a:t>
            </a:r>
          </a:p>
        </p:txBody>
      </p:sp>
      <mc:AlternateContent xmlns:mc="http://schemas.openxmlformats.org/markup-compatibility/2006" xmlns:a14="http://schemas.microsoft.com/office/drawing/2010/main">
        <mc:Choice Requires="a14">
          <p:sp>
            <p:nvSpPr>
              <p:cNvPr id="8" name="TextBox 7"/>
              <p:cNvSpPr txBox="1"/>
              <p:nvPr/>
            </p:nvSpPr>
            <p:spPr>
              <a:xfrm>
                <a:off x="1934618" y="1857563"/>
                <a:ext cx="3896451"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nor/>
                        </m:rPr>
                        <a:rPr lang="en-US" sz="1350" dirty="0"/>
                        <m:t>Intensity</m:t>
                      </m:r>
                      <m:r>
                        <m:rPr>
                          <m:nor/>
                        </m:rPr>
                        <a:rPr lang="en-US" sz="1350" dirty="0"/>
                        <m:t>} = </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rPr>
                            <m:t>0</m:t>
                          </m:r>
                        </m:sub>
                      </m:sSub>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1</m:t>
                          </m:r>
                        </m:sub>
                      </m:sSub>
                      <m:r>
                        <a:rPr lang="en-US" sz="1350" i="1" dirty="0">
                          <a:latin typeface="Cambria Math" charset="0"/>
                          <a:ea typeface="Cambria Math"/>
                        </a:rPr>
                        <m:t>𝐼𝑛𝑡𝑒𝑛𝑠𝑖𝑡𝑦</m:t>
                      </m:r>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2</m:t>
                          </m:r>
                        </m:sub>
                      </m:sSub>
                      <m:r>
                        <a:rPr lang="en-US" sz="1350" i="1" dirty="0">
                          <a:latin typeface="Cambria Math"/>
                          <a:ea typeface="Cambria Math"/>
                        </a:rPr>
                        <m:t>𝑡𝑖𝑚𝑒</m:t>
                      </m:r>
                    </m:oMath>
                  </m:oMathPara>
                </a14:m>
                <a:endParaRPr lang="en-US" sz="1350" dirty="0"/>
              </a:p>
            </p:txBody>
          </p:sp>
        </mc:Choice>
        <mc:Fallback xmlns="">
          <p:sp>
            <p:nvSpPr>
              <p:cNvPr id="8" name="TextBox 7"/>
              <p:cNvSpPr txBox="1">
                <a:spLocks noRot="1" noChangeAspect="1" noMove="1" noResize="1" noEditPoints="1" noAdjustHandles="1" noChangeArrowheads="1" noChangeShapeType="1" noTextEdit="1"/>
              </p:cNvSpPr>
              <p:nvPr/>
            </p:nvSpPr>
            <p:spPr>
              <a:xfrm>
                <a:off x="1934618" y="1857563"/>
                <a:ext cx="3896451" cy="300082"/>
              </a:xfrm>
              <a:prstGeom prst="rect">
                <a:avLst/>
              </a:prstGeom>
              <a:blipFill>
                <a:blip r:embed="rId4"/>
                <a:stretch>
                  <a:fillRect t="-4167" b="-16667"/>
                </a:stretch>
              </a:blipFill>
            </p:spPr>
            <p:txBody>
              <a:bodyPr/>
              <a:lstStyle/>
              <a:p>
                <a:r>
                  <a:rPr lang="en-US">
                    <a:noFill/>
                  </a:rPr>
                  <a:t> </a:t>
                </a:r>
              </a:p>
            </p:txBody>
          </p:sp>
        </mc:Fallback>
      </mc:AlternateContent>
      <p:sp>
        <p:nvSpPr>
          <p:cNvPr id="3" name="TextBox 2"/>
          <p:cNvSpPr txBox="1"/>
          <p:nvPr/>
        </p:nvSpPr>
        <p:spPr>
          <a:xfrm>
            <a:off x="7181849" y="2438400"/>
            <a:ext cx="1799503" cy="300082"/>
          </a:xfrm>
          <a:prstGeom prst="rect">
            <a:avLst/>
          </a:prstGeom>
          <a:noFill/>
        </p:spPr>
        <p:txBody>
          <a:bodyPr wrap="square" rtlCol="0">
            <a:spAutoFit/>
          </a:bodyPr>
          <a:lstStyle/>
          <a:p>
            <a:r>
              <a:rPr lang="en-US" sz="1350" dirty="0"/>
              <a:t>Slopes = -.04047</a:t>
            </a:r>
          </a:p>
        </p:txBody>
      </p:sp>
      <p:cxnSp>
        <p:nvCxnSpPr>
          <p:cNvPr id="7" name="Straight Arrow Connector 6"/>
          <p:cNvCxnSpPr/>
          <p:nvPr/>
        </p:nvCxnSpPr>
        <p:spPr>
          <a:xfrm>
            <a:off x="7696200" y="2707048"/>
            <a:ext cx="0" cy="8088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7970668" y="2662405"/>
            <a:ext cx="11283" cy="16230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238154" y="1549569"/>
            <a:ext cx="4582246" cy="507831"/>
          </a:xfrm>
          <a:prstGeom prst="rect">
            <a:avLst/>
          </a:prstGeom>
          <a:noFill/>
        </p:spPr>
        <p:txBody>
          <a:bodyPr wrap="square" rtlCol="0">
            <a:spAutoFit/>
          </a:bodyPr>
          <a:lstStyle/>
          <a:p>
            <a:r>
              <a:rPr lang="en-US" sz="1350" dirty="0"/>
              <a:t>Intercept = 83.46  </a:t>
            </a:r>
          </a:p>
          <a:p>
            <a:r>
              <a:rPr lang="en-US" sz="1350" dirty="0"/>
              <a:t>(Note that chart y-</a:t>
            </a:r>
            <a:r>
              <a:rPr lang="en-US" sz="1350" dirty="0" err="1"/>
              <a:t>int</a:t>
            </a:r>
            <a:r>
              <a:rPr lang="en-US" sz="1350" dirty="0"/>
              <a:t> is off the left end of the chart.   </a:t>
            </a:r>
          </a:p>
        </p:txBody>
      </p:sp>
      <p:sp>
        <p:nvSpPr>
          <p:cNvPr id="17" name="TextBox 16"/>
          <p:cNvSpPr txBox="1"/>
          <p:nvPr/>
        </p:nvSpPr>
        <p:spPr>
          <a:xfrm>
            <a:off x="6238152" y="2006769"/>
            <a:ext cx="4429845" cy="507831"/>
          </a:xfrm>
          <a:prstGeom prst="rect">
            <a:avLst/>
          </a:prstGeom>
          <a:noFill/>
        </p:spPr>
        <p:txBody>
          <a:bodyPr wrap="square" rtlCol="0">
            <a:spAutoFit/>
          </a:bodyPr>
          <a:lstStyle/>
          <a:p>
            <a:r>
              <a:rPr lang="en-US" sz="1350" dirty="0"/>
              <a:t>Intercept = 83.45417 + (- 12.15833)</a:t>
            </a:r>
          </a:p>
          <a:p>
            <a:r>
              <a:rPr lang="en-US" sz="1350" dirty="0"/>
              <a:t>	= 71.3</a:t>
            </a:r>
          </a:p>
        </p:txBody>
      </p:sp>
      <p:sp>
        <p:nvSpPr>
          <p:cNvPr id="13" name="5-Point Star 12"/>
          <p:cNvSpPr/>
          <p:nvPr/>
        </p:nvSpPr>
        <p:spPr>
          <a:xfrm>
            <a:off x="6365084" y="2816466"/>
            <a:ext cx="166973" cy="17145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5-Point Star 20"/>
          <p:cNvSpPr/>
          <p:nvPr/>
        </p:nvSpPr>
        <p:spPr>
          <a:xfrm>
            <a:off x="6043328" y="1505566"/>
            <a:ext cx="166973" cy="17145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2" name="5-Point Star 21"/>
          <p:cNvSpPr/>
          <p:nvPr/>
        </p:nvSpPr>
        <p:spPr>
          <a:xfrm>
            <a:off x="6365084" y="3452394"/>
            <a:ext cx="166973" cy="17145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3" name="5-Point Star 22"/>
          <p:cNvSpPr/>
          <p:nvPr/>
        </p:nvSpPr>
        <p:spPr>
          <a:xfrm>
            <a:off x="6071903" y="2028518"/>
            <a:ext cx="166973" cy="171450"/>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mc:AlternateContent xmlns:mc="http://schemas.openxmlformats.org/markup-compatibility/2006" xmlns:a14="http://schemas.microsoft.com/office/drawing/2010/main">
        <mc:Choice Requires="a14">
          <p:sp>
            <p:nvSpPr>
              <p:cNvPr id="16" name="TextBox 15"/>
              <p:cNvSpPr txBox="1"/>
              <p:nvPr/>
            </p:nvSpPr>
            <p:spPr>
              <a:xfrm>
                <a:off x="5829760" y="5640083"/>
                <a:ext cx="4990640" cy="5078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nor/>
                        </m:rPr>
                        <a:rPr lang="en-US" sz="1350" dirty="0"/>
                        <m:t>light</m:t>
                      </m:r>
                      <m:r>
                        <m:rPr>
                          <m:nor/>
                        </m:rPr>
                        <a:rPr lang="en-US" sz="1350" dirty="0"/>
                        <m:t>,</m:t>
                      </m:r>
                      <m:r>
                        <m:rPr>
                          <m:nor/>
                        </m:rPr>
                        <a:rPr lang="en-US" sz="1350" dirty="0"/>
                        <m:t>time</m:t>
                      </m:r>
                      <m:r>
                        <m:rPr>
                          <m:nor/>
                        </m:rPr>
                        <a:rPr lang="en-US" sz="1350" dirty="0"/>
                        <m:t> = </m:t>
                      </m:r>
                      <m:r>
                        <m:rPr>
                          <m:nor/>
                        </m:rPr>
                        <a:rPr lang="en-US" sz="1350" dirty="0"/>
                        <m:t>Late</m:t>
                      </m:r>
                      <m:r>
                        <m:rPr>
                          <m:nor/>
                        </m:rPr>
                        <a:rPr lang="en-US" sz="1350" dirty="0"/>
                        <m:t>} = </m:t>
                      </m:r>
                      <m:r>
                        <a:rPr lang="en-US" sz="1350" i="1" dirty="0">
                          <a:latin typeface="Cambria Math" panose="02040503050406030204" pitchFamily="18" charset="0"/>
                        </a:rPr>
                        <m:t>71.3+</m:t>
                      </m:r>
                      <m:d>
                        <m:dPr>
                          <m:ctrlPr>
                            <a:rPr lang="en-US" sz="1350" i="1" dirty="0">
                              <a:latin typeface="Cambria Math" panose="02040503050406030204" pitchFamily="18" charset="0"/>
                            </a:rPr>
                          </m:ctrlPr>
                        </m:dPr>
                        <m:e>
                          <m:r>
                            <a:rPr lang="en-US" sz="1350" i="1" dirty="0">
                              <a:latin typeface="Cambria Math" panose="02040503050406030204" pitchFamily="18" charset="0"/>
                            </a:rPr>
                            <m:t>−.0405</m:t>
                          </m:r>
                        </m:e>
                      </m:d>
                      <m:r>
                        <a:rPr lang="en-US" sz="1350" i="1" dirty="0">
                          <a:latin typeface="Cambria Math" charset="0"/>
                        </a:rPr>
                        <m:t>𝐼𝑛𝑡𝑒𝑛𝑠𝑖𝑡𝑦</m:t>
                      </m:r>
                    </m:oMath>
                  </m:oMathPara>
                </a14:m>
                <a:endParaRPr lang="en-US" sz="1350" dirty="0">
                  <a:ea typeface="Cambria Math"/>
                </a:endParaRPr>
              </a:p>
              <a:p>
                <a:endParaRPr lang="en-US" sz="1350" dirty="0"/>
              </a:p>
            </p:txBody>
          </p:sp>
        </mc:Choice>
        <mc:Fallback xmlns="">
          <p:sp>
            <p:nvSpPr>
              <p:cNvPr id="16" name="TextBox 15"/>
              <p:cNvSpPr txBox="1">
                <a:spLocks noRot="1" noChangeAspect="1" noMove="1" noResize="1" noEditPoints="1" noAdjustHandles="1" noChangeArrowheads="1" noChangeShapeType="1" noTextEdit="1"/>
              </p:cNvSpPr>
              <p:nvPr/>
            </p:nvSpPr>
            <p:spPr>
              <a:xfrm>
                <a:off x="5829760" y="5640083"/>
                <a:ext cx="4990640" cy="507831"/>
              </a:xfrm>
              <a:prstGeom prst="rect">
                <a:avLst/>
              </a:prstGeom>
              <a:blipFill>
                <a:blip r:embed="rId5"/>
                <a:stretch>
                  <a:fillRect t="-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715460" y="5892969"/>
                <a:ext cx="4800140" cy="5078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nor/>
                        </m:rPr>
                        <a:rPr lang="en-US" sz="1350" dirty="0"/>
                        <m:t>light</m:t>
                      </m:r>
                      <m:r>
                        <m:rPr>
                          <m:nor/>
                        </m:rPr>
                        <a:rPr lang="en-US" sz="1350" dirty="0"/>
                        <m:t>,</m:t>
                      </m:r>
                      <m:r>
                        <m:rPr>
                          <m:nor/>
                        </m:rPr>
                        <a:rPr lang="en-US" sz="1350" dirty="0"/>
                        <m:t>time</m:t>
                      </m:r>
                      <m:r>
                        <m:rPr>
                          <m:nor/>
                        </m:rPr>
                        <a:rPr lang="en-US" sz="1350" dirty="0"/>
                        <m:t> = </m:t>
                      </m:r>
                      <m:r>
                        <m:rPr>
                          <m:nor/>
                        </m:rPr>
                        <a:rPr lang="en-US" sz="1350" dirty="0"/>
                        <m:t>Early</m:t>
                      </m:r>
                      <m:r>
                        <m:rPr>
                          <m:nor/>
                        </m:rPr>
                        <a:rPr lang="en-US" sz="1350" dirty="0"/>
                        <m:t>} = </m:t>
                      </m:r>
                      <m:r>
                        <a:rPr lang="en-US" sz="1350" i="1" dirty="0">
                          <a:latin typeface="Cambria Math" panose="02040503050406030204" pitchFamily="18" charset="0"/>
                        </a:rPr>
                        <m:t>83.46+</m:t>
                      </m:r>
                      <m:d>
                        <m:dPr>
                          <m:ctrlPr>
                            <a:rPr lang="en-US" sz="1350" i="1" dirty="0">
                              <a:latin typeface="Cambria Math" panose="02040503050406030204" pitchFamily="18" charset="0"/>
                            </a:rPr>
                          </m:ctrlPr>
                        </m:dPr>
                        <m:e>
                          <m:r>
                            <a:rPr lang="en-US" sz="1350" i="1" dirty="0">
                              <a:latin typeface="Cambria Math" panose="02040503050406030204" pitchFamily="18" charset="0"/>
                            </a:rPr>
                            <m:t>−.0405</m:t>
                          </m:r>
                        </m:e>
                      </m:d>
                      <m:r>
                        <a:rPr lang="en-US" sz="1350" i="1" dirty="0">
                          <a:latin typeface="Cambria Math" charset="0"/>
                        </a:rPr>
                        <m:t>𝐼𝑛𝑡𝑒𝑛𝑠𝑖𝑡𝑦</m:t>
                      </m:r>
                    </m:oMath>
                  </m:oMathPara>
                </a14:m>
                <a:endParaRPr lang="en-US" sz="1350" dirty="0">
                  <a:ea typeface="Cambria Math"/>
                </a:endParaRPr>
              </a:p>
              <a:p>
                <a:endParaRPr lang="en-US" sz="1350" dirty="0"/>
              </a:p>
            </p:txBody>
          </p:sp>
        </mc:Choice>
        <mc:Fallback xmlns="">
          <p:sp>
            <p:nvSpPr>
              <p:cNvPr id="18" name="TextBox 17"/>
              <p:cNvSpPr txBox="1">
                <a:spLocks noRot="1" noChangeAspect="1" noMove="1" noResize="1" noEditPoints="1" noAdjustHandles="1" noChangeArrowheads="1" noChangeShapeType="1" noTextEdit="1"/>
              </p:cNvSpPr>
              <p:nvPr/>
            </p:nvSpPr>
            <p:spPr>
              <a:xfrm>
                <a:off x="5715460" y="5892969"/>
                <a:ext cx="4800140" cy="507831"/>
              </a:xfrm>
              <a:prstGeom prst="rect">
                <a:avLst/>
              </a:prstGeom>
              <a:blipFill>
                <a:blip r:embed="rId6"/>
                <a:stretch>
                  <a:fillRect t="-2439"/>
                </a:stretch>
              </a:blipFill>
            </p:spPr>
            <p:txBody>
              <a:bodyPr/>
              <a:lstStyle/>
              <a:p>
                <a:r>
                  <a:rPr lang="en-US">
                    <a:noFill/>
                  </a:rPr>
                  <a:t> </a:t>
                </a:r>
              </a:p>
            </p:txBody>
          </p:sp>
        </mc:Fallback>
      </mc:AlternateContent>
      <p:pic>
        <p:nvPicPr>
          <p:cNvPr id="6" name="Picture 5"/>
          <p:cNvPicPr>
            <a:picLocks noChangeAspect="1"/>
          </p:cNvPicPr>
          <p:nvPr/>
        </p:nvPicPr>
        <p:blipFill>
          <a:blip r:embed="rId7"/>
          <a:stretch>
            <a:fillRect/>
          </a:stretch>
        </p:blipFill>
        <p:spPr>
          <a:xfrm>
            <a:off x="2006382" y="2370904"/>
            <a:ext cx="3637312" cy="2677599"/>
          </a:xfrm>
          <a:prstGeom prst="rect">
            <a:avLst/>
          </a:prstGeom>
        </p:spPr>
      </p:pic>
    </p:spTree>
    <p:extLst>
      <p:ext uri="{BB962C8B-B14F-4D97-AF65-F5344CB8AC3E}">
        <p14:creationId xmlns:p14="http://schemas.microsoft.com/office/powerpoint/2010/main" val="388658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7" grpId="0"/>
      <p:bldP spid="13" grpId="0" animBg="1"/>
      <p:bldP spid="21" grpId="0" animBg="1"/>
      <p:bldP spid="22" grpId="0" animBg="1"/>
      <p:bldP spid="23" grpId="0" animBg="1"/>
      <p:bldP spid="16" grpId="0"/>
      <p:bldP spid="1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80506" y="616484"/>
            <a:ext cx="9372600" cy="479822"/>
          </a:xfrm>
        </p:spPr>
        <p:txBody>
          <a:bodyPr>
            <a:normAutofit fontScale="90000"/>
          </a:bodyPr>
          <a:lstStyle/>
          <a:p>
            <a:r>
              <a:rPr lang="en-US" dirty="0" err="1"/>
              <a:t>Meadowfoam</a:t>
            </a:r>
            <a:r>
              <a:rPr lang="en-US" dirty="0"/>
              <a:t>: Intensity and Timing</a:t>
            </a:r>
          </a:p>
        </p:txBody>
      </p:sp>
      <mc:AlternateContent xmlns:mc="http://schemas.openxmlformats.org/markup-compatibility/2006" xmlns:a14="http://schemas.microsoft.com/office/drawing/2010/main">
        <mc:Choice Requires="a14">
          <p:sp>
            <p:nvSpPr>
              <p:cNvPr id="8" name="TextBox 7"/>
              <p:cNvSpPr txBox="1"/>
              <p:nvPr/>
            </p:nvSpPr>
            <p:spPr>
              <a:xfrm>
                <a:off x="3906186" y="1542664"/>
                <a:ext cx="4044697"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sz="1350" i="1">
                              <a:latin typeface="Cambria Math" panose="02040503050406030204" pitchFamily="18" charset="0"/>
                              <a:ea typeface="Cambria Math"/>
                            </a:rPr>
                          </m:ctrlPr>
                        </m:accPr>
                        <m:e>
                          <m:r>
                            <a:rPr lang="en-US" sz="1350" i="1">
                              <a:latin typeface="Cambria Math"/>
                              <a:ea typeface="Cambria Math"/>
                            </a:rPr>
                            <m:t>𝜇</m:t>
                          </m:r>
                        </m:e>
                      </m:acc>
                      <m:r>
                        <m:rPr>
                          <m:nor/>
                        </m:rPr>
                        <a:rPr lang="en-US" sz="1350" dirty="0"/>
                        <m:t>{</m:t>
                      </m:r>
                      <m:r>
                        <m:rPr>
                          <m:nor/>
                        </m:rPr>
                        <a:rPr lang="en-US" sz="1350" dirty="0"/>
                        <m:t>flowers</m:t>
                      </m:r>
                      <m:r>
                        <m:rPr>
                          <m:nor/>
                        </m:rPr>
                        <a:rPr lang="en-US" sz="1350" dirty="0"/>
                        <m:t>|</m:t>
                      </m:r>
                      <m:r>
                        <m:rPr>
                          <m:sty m:val="p"/>
                        </m:rPr>
                        <a:rPr lang="en-US" sz="1350" i="1" dirty="0">
                          <a:latin typeface="Cambria Math" panose="02040503050406030204" pitchFamily="18" charset="0"/>
                        </a:rPr>
                        <m:t>Intensity</m:t>
                      </m:r>
                      <m:r>
                        <m:rPr>
                          <m:nor/>
                        </m:rPr>
                        <a:rPr lang="en-US" sz="1350" dirty="0"/>
                        <m:t>} = </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rPr>
                            <m:t>0</m:t>
                          </m:r>
                        </m:sub>
                      </m:sSub>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1</m:t>
                          </m:r>
                        </m:sub>
                      </m:sSub>
                      <m:r>
                        <a:rPr lang="en-US" sz="1350" i="1" dirty="0">
                          <a:latin typeface="Cambria Math" charset="0"/>
                          <a:ea typeface="Cambria Math"/>
                        </a:rPr>
                        <m:t>𝐼𝑛𝑡𝑒𝑛𝑠𝑖𝑡𝑦</m:t>
                      </m:r>
                      <m:r>
                        <a:rPr lang="en-US" sz="1350" i="1" dirty="0">
                          <a:latin typeface="Cambria Math"/>
                        </a:rPr>
                        <m:t>+</m:t>
                      </m:r>
                      <m:sSub>
                        <m:sSubPr>
                          <m:ctrlPr>
                            <a:rPr lang="en-US" sz="1350" i="1" dirty="0">
                              <a:latin typeface="Cambria Math" panose="02040503050406030204" pitchFamily="18" charset="0"/>
                            </a:rPr>
                          </m:ctrlPr>
                        </m:sSubPr>
                        <m:e>
                          <m:r>
                            <a:rPr lang="en-US" sz="1350" i="1" dirty="0">
                              <a:latin typeface="Cambria Math"/>
                              <a:ea typeface="Cambria Math"/>
                            </a:rPr>
                            <m:t>𝛽</m:t>
                          </m:r>
                        </m:e>
                        <m:sub>
                          <m:r>
                            <a:rPr lang="en-US" sz="1350" i="1" dirty="0">
                              <a:latin typeface="Cambria Math"/>
                              <a:ea typeface="Cambria Math"/>
                            </a:rPr>
                            <m:t>2</m:t>
                          </m:r>
                        </m:sub>
                      </m:sSub>
                      <m:r>
                        <a:rPr lang="en-US" sz="1350" i="1" dirty="0">
                          <a:latin typeface="Cambria Math"/>
                          <a:ea typeface="Cambria Math"/>
                        </a:rPr>
                        <m:t>𝑡𝑖𝑚</m:t>
                      </m:r>
                      <m:r>
                        <a:rPr lang="en-US" sz="1350" i="1" dirty="0">
                          <a:latin typeface="Cambria Math" charset="0"/>
                          <a:ea typeface="Cambria Math"/>
                        </a:rPr>
                        <m:t>𝑖𝑛𝑔</m:t>
                      </m:r>
                    </m:oMath>
                  </m:oMathPara>
                </a14:m>
                <a:endParaRPr lang="en-US" sz="1350" dirty="0"/>
              </a:p>
            </p:txBody>
          </p:sp>
        </mc:Choice>
        <mc:Fallback xmlns="">
          <p:sp>
            <p:nvSpPr>
              <p:cNvPr id="8" name="TextBox 7"/>
              <p:cNvSpPr txBox="1">
                <a:spLocks noRot="1" noChangeAspect="1" noMove="1" noResize="1" noEditPoints="1" noAdjustHandles="1" noChangeArrowheads="1" noChangeShapeType="1" noTextEdit="1"/>
              </p:cNvSpPr>
              <p:nvPr/>
            </p:nvSpPr>
            <p:spPr>
              <a:xfrm>
                <a:off x="3906186" y="1542664"/>
                <a:ext cx="4044697" cy="300082"/>
              </a:xfrm>
              <a:prstGeom prst="rect">
                <a:avLst/>
              </a:prstGeom>
              <a:blipFill>
                <a:blip r:embed="rId3"/>
                <a:stretch>
                  <a:fillRect t="-4167" b="-16667"/>
                </a:stretch>
              </a:blipFill>
            </p:spPr>
            <p:txBody>
              <a:bodyPr/>
              <a:lstStyle/>
              <a:p>
                <a:r>
                  <a:rPr lang="en-US">
                    <a:noFill/>
                  </a:rPr>
                  <a:t> </a:t>
                </a:r>
              </a:p>
            </p:txBody>
          </p:sp>
        </mc:Fallback>
      </mc:AlternateContent>
      <p:sp>
        <p:nvSpPr>
          <p:cNvPr id="18" name="TextBox 17"/>
          <p:cNvSpPr txBox="1"/>
          <p:nvPr/>
        </p:nvSpPr>
        <p:spPr>
          <a:xfrm>
            <a:off x="1705841" y="5432993"/>
            <a:ext cx="8780318" cy="715581"/>
          </a:xfrm>
          <a:prstGeom prst="rect">
            <a:avLst/>
          </a:prstGeom>
          <a:noFill/>
        </p:spPr>
        <p:txBody>
          <a:bodyPr wrap="square" rtlCol="0">
            <a:spAutoFit/>
          </a:bodyPr>
          <a:lstStyle/>
          <a:p>
            <a:pPr algn="ctr"/>
            <a:r>
              <a:rPr lang="en-US" sz="1350" dirty="0"/>
              <a:t>There do not appear to be any extremely influential points. Judging from the scatter plot, </a:t>
            </a:r>
            <a:r>
              <a:rPr lang="en-US" sz="1350" dirty="0" err="1"/>
              <a:t>qq</a:t>
            </a:r>
            <a:r>
              <a:rPr lang="en-US" sz="1350" dirty="0"/>
              <a:t> plot and histogram of the residuals, there is no evidence that the residuals do not follow a normal distribution with constant variance.</a:t>
            </a:r>
          </a:p>
          <a:p>
            <a:pPr algn="ctr"/>
            <a:r>
              <a:rPr lang="en-US" sz="1350" dirty="0"/>
              <a:t> </a:t>
            </a:r>
          </a:p>
        </p:txBody>
      </p:sp>
      <p:pic>
        <p:nvPicPr>
          <p:cNvPr id="3" name="Picture 2"/>
          <p:cNvPicPr>
            <a:picLocks noChangeAspect="1"/>
          </p:cNvPicPr>
          <p:nvPr/>
        </p:nvPicPr>
        <p:blipFill>
          <a:blip r:embed="rId4"/>
          <a:stretch>
            <a:fillRect/>
          </a:stretch>
        </p:blipFill>
        <p:spPr>
          <a:xfrm>
            <a:off x="2579689" y="1910956"/>
            <a:ext cx="3139534" cy="3156391"/>
          </a:xfrm>
          <a:prstGeom prst="rect">
            <a:avLst/>
          </a:prstGeom>
        </p:spPr>
      </p:pic>
      <p:pic>
        <p:nvPicPr>
          <p:cNvPr id="4" name="Picture 3"/>
          <p:cNvPicPr>
            <a:picLocks noChangeAspect="1"/>
          </p:cNvPicPr>
          <p:nvPr/>
        </p:nvPicPr>
        <p:blipFill>
          <a:blip r:embed="rId5"/>
          <a:stretch>
            <a:fillRect/>
          </a:stretch>
        </p:blipFill>
        <p:spPr>
          <a:xfrm>
            <a:off x="6466806" y="1836787"/>
            <a:ext cx="3193937" cy="3227915"/>
          </a:xfrm>
          <a:prstGeom prst="rect">
            <a:avLst/>
          </a:prstGeom>
        </p:spPr>
      </p:pic>
      <p:pic>
        <p:nvPicPr>
          <p:cNvPr id="5" name="Picture 4"/>
          <p:cNvPicPr>
            <a:picLocks noChangeAspect="1"/>
          </p:cNvPicPr>
          <p:nvPr/>
        </p:nvPicPr>
        <p:blipFill>
          <a:blip r:embed="rId6"/>
          <a:stretch>
            <a:fillRect/>
          </a:stretch>
        </p:blipFill>
        <p:spPr>
          <a:xfrm>
            <a:off x="4657725" y="5171324"/>
            <a:ext cx="2876550" cy="152400"/>
          </a:xfrm>
          <a:prstGeom prst="rect">
            <a:avLst/>
          </a:prstGeom>
        </p:spPr>
      </p:pic>
    </p:spTree>
    <p:extLst>
      <p:ext uri="{BB962C8B-B14F-4D97-AF65-F5344CB8AC3E}">
        <p14:creationId xmlns:p14="http://schemas.microsoft.com/office/powerpoint/2010/main" val="3285632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Meadowfoam</a:t>
            </a:r>
            <a:r>
              <a:rPr lang="en-US" dirty="0"/>
              <a:t>: Conclusion</a:t>
            </a:r>
          </a:p>
        </p:txBody>
      </p:sp>
      <p:sp>
        <p:nvSpPr>
          <p:cNvPr id="6" name="TextBox 5"/>
          <p:cNvSpPr txBox="1"/>
          <p:nvPr/>
        </p:nvSpPr>
        <p:spPr>
          <a:xfrm>
            <a:off x="6108742" y="1948945"/>
            <a:ext cx="4036868" cy="3785652"/>
          </a:xfrm>
          <a:prstGeom prst="rect">
            <a:avLst/>
          </a:prstGeom>
          <a:noFill/>
        </p:spPr>
        <p:txBody>
          <a:bodyPr wrap="square" rtlCol="0">
            <a:spAutoFit/>
          </a:bodyPr>
          <a:lstStyle/>
          <a:p>
            <a:r>
              <a:rPr lang="en-US" sz="1500" dirty="0"/>
              <a:t>Increasing Intensity decreased the mean number of flowers per plant by an estimated 4.0 flowers per plant per 100 </a:t>
            </a:r>
            <a:r>
              <a:rPr lang="en-US" sz="1500" dirty="0" err="1"/>
              <a:t>nano</a:t>
            </a:r>
            <a:r>
              <a:rPr lang="en-US" sz="1500" dirty="0"/>
              <a:t> </a:t>
            </a:r>
            <a:r>
              <a:rPr lang="en-US" sz="1500" dirty="0" err="1"/>
              <a:t>mol</a:t>
            </a:r>
            <a:r>
              <a:rPr lang="en-US" sz="1500" dirty="0"/>
              <a:t> / m2 / sec.  (95% confidence interval from 3.0 to 5.1)  Beginning the light treatment 24 days before PFI (timing = Early) increased the mean number of flowers per plant by an estimated 12.2 flowers (95% confidence interval from 6.7 to 17.6)  We can draw the above causal relationship since the seeds were randomly assigned to each treatment group.  Since we have assumed equal slope we can assume this difference is consistent across all intensities (not just at the intensity = 0 (the y-</a:t>
            </a:r>
            <a:r>
              <a:rPr lang="en-US" sz="1500" dirty="0" err="1"/>
              <a:t>int</a:t>
            </a:r>
            <a:r>
              <a:rPr lang="en-US" sz="1500" dirty="0"/>
              <a:t>)).  </a:t>
            </a:r>
          </a:p>
          <a:p>
            <a:endParaRPr lang="en-US" sz="1500" dirty="0"/>
          </a:p>
        </p:txBody>
      </p:sp>
      <p:pic>
        <p:nvPicPr>
          <p:cNvPr id="5" name="Picture 4"/>
          <p:cNvPicPr>
            <a:picLocks noChangeAspect="1"/>
          </p:cNvPicPr>
          <p:nvPr/>
        </p:nvPicPr>
        <p:blipFill>
          <a:blip r:embed="rId3"/>
          <a:stretch>
            <a:fillRect/>
          </a:stretch>
        </p:blipFill>
        <p:spPr>
          <a:xfrm>
            <a:off x="2152650" y="2125267"/>
            <a:ext cx="3637312" cy="2677599"/>
          </a:xfrm>
          <a:prstGeom prst="rect">
            <a:avLst/>
          </a:prstGeom>
        </p:spPr>
      </p:pic>
      <p:pic>
        <p:nvPicPr>
          <p:cNvPr id="3" name="Picture 2"/>
          <p:cNvPicPr>
            <a:picLocks noChangeAspect="1"/>
          </p:cNvPicPr>
          <p:nvPr/>
        </p:nvPicPr>
        <p:blipFill>
          <a:blip r:embed="rId4"/>
          <a:stretch>
            <a:fillRect/>
          </a:stretch>
        </p:blipFill>
        <p:spPr>
          <a:xfrm>
            <a:off x="2442544" y="4940288"/>
            <a:ext cx="3057525" cy="619125"/>
          </a:xfrm>
          <a:prstGeom prst="rect">
            <a:avLst/>
          </a:prstGeom>
        </p:spPr>
      </p:pic>
    </p:spTree>
    <p:extLst>
      <p:ext uri="{BB962C8B-B14F-4D97-AF65-F5344CB8AC3E}">
        <p14:creationId xmlns:p14="http://schemas.microsoft.com/office/powerpoint/2010/main" val="8266644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025" y="428619"/>
            <a:ext cx="8919949" cy="594122"/>
          </a:xfrm>
        </p:spPr>
        <p:txBody>
          <a:bodyPr>
            <a:normAutofit fontScale="90000"/>
          </a:bodyPr>
          <a:lstStyle/>
          <a:p>
            <a:r>
              <a:rPr lang="en-US" dirty="0"/>
              <a:t>Example Where Interaction Matters</a:t>
            </a:r>
          </a:p>
        </p:txBody>
      </p:sp>
      <p:sp>
        <p:nvSpPr>
          <p:cNvPr id="3" name="Content Placeholder 2"/>
          <p:cNvSpPr>
            <a:spLocks noGrp="1"/>
          </p:cNvSpPr>
          <p:nvPr>
            <p:ph idx="1"/>
          </p:nvPr>
        </p:nvSpPr>
        <p:spPr>
          <a:xfrm>
            <a:off x="7844051" y="2088575"/>
            <a:ext cx="2676098" cy="3205595"/>
          </a:xfrm>
        </p:spPr>
        <p:txBody>
          <a:bodyPr>
            <a:normAutofit fontScale="47500" lnSpcReduction="20000"/>
          </a:bodyPr>
          <a:lstStyle/>
          <a:p>
            <a:pPr marL="0" indent="0" algn="ctr">
              <a:buNone/>
            </a:pPr>
            <a:r>
              <a:rPr lang="en-US" dirty="0"/>
              <a:t>This is a data set that records the amount of cash some one makes (Cash) and the amount of money they give to Charity (Charity) based on the Importance (Importance) each subject attributes to the charity.  Wealth is a variable that indicates if the person makes over $45,000 (Rich) or $45,000 or less (Medium).  </a:t>
            </a:r>
          </a:p>
        </p:txBody>
      </p:sp>
      <p:pic>
        <p:nvPicPr>
          <p:cNvPr id="4" name="Picture 3"/>
          <p:cNvPicPr>
            <a:picLocks noChangeAspect="1"/>
          </p:cNvPicPr>
          <p:nvPr/>
        </p:nvPicPr>
        <p:blipFill rotWithShape="1">
          <a:blip r:embed="rId2"/>
          <a:srcRect l="2487"/>
          <a:stretch/>
        </p:blipFill>
        <p:spPr>
          <a:xfrm>
            <a:off x="1970810" y="1644363"/>
            <a:ext cx="1531940" cy="4239491"/>
          </a:xfrm>
          <a:prstGeom prst="rect">
            <a:avLst/>
          </a:prstGeom>
        </p:spPr>
      </p:pic>
      <p:pic>
        <p:nvPicPr>
          <p:cNvPr id="5" name="Picture 4"/>
          <p:cNvPicPr>
            <a:picLocks noChangeAspect="1"/>
          </p:cNvPicPr>
          <p:nvPr/>
        </p:nvPicPr>
        <p:blipFill>
          <a:blip r:embed="rId3"/>
          <a:stretch>
            <a:fillRect/>
          </a:stretch>
        </p:blipFill>
        <p:spPr>
          <a:xfrm>
            <a:off x="3622965" y="1731164"/>
            <a:ext cx="3812307" cy="3837289"/>
          </a:xfrm>
          <a:prstGeom prst="rect">
            <a:avLst/>
          </a:prstGeom>
        </p:spPr>
      </p:pic>
    </p:spTree>
    <p:extLst>
      <p:ext uri="{BB962C8B-B14F-4D97-AF65-F5344CB8AC3E}">
        <p14:creationId xmlns:p14="http://schemas.microsoft.com/office/powerpoint/2010/main" val="995543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452022"/>
            <a:ext cx="8458200" cy="594122"/>
          </a:xfrm>
        </p:spPr>
        <p:txBody>
          <a:bodyPr>
            <a:normAutofit fontScale="90000"/>
          </a:bodyPr>
          <a:lstStyle/>
          <a:p>
            <a:r>
              <a:rPr lang="en-US" dirty="0"/>
              <a:t>Example Where Interaction Matters</a:t>
            </a:r>
          </a:p>
        </p:txBody>
      </p:sp>
      <p:sp>
        <p:nvSpPr>
          <p:cNvPr id="3" name="Content Placeholder 2"/>
          <p:cNvSpPr>
            <a:spLocks noGrp="1"/>
          </p:cNvSpPr>
          <p:nvPr>
            <p:ph idx="1"/>
          </p:nvPr>
        </p:nvSpPr>
        <p:spPr>
          <a:xfrm>
            <a:off x="7207827" y="1911107"/>
            <a:ext cx="3293918" cy="3371850"/>
          </a:xfrm>
        </p:spPr>
        <p:txBody>
          <a:bodyPr>
            <a:normAutofit fontScale="70000" lnSpcReduction="20000"/>
          </a:bodyPr>
          <a:lstStyle/>
          <a:p>
            <a:pPr marL="0" indent="0" algn="ctr">
              <a:buNone/>
            </a:pPr>
            <a:r>
              <a:rPr lang="en-US" dirty="0"/>
              <a:t>Construct a multiple linear regression model in which the mean charitable donation depends on (linearly) the importance of the charity and both income groups.  Allow for possible different slopes and intercepts.</a:t>
            </a:r>
          </a:p>
        </p:txBody>
      </p:sp>
      <mc:AlternateContent xmlns:mc="http://schemas.openxmlformats.org/markup-compatibility/2006" xmlns:a14="http://schemas.microsoft.com/office/drawing/2010/main">
        <mc:Choice Requires="a14">
          <p:sp>
            <p:nvSpPr>
              <p:cNvPr id="4" name="TextBox 3"/>
              <p:cNvSpPr txBox="1"/>
              <p:nvPr/>
            </p:nvSpPr>
            <p:spPr>
              <a:xfrm>
                <a:off x="3887210" y="5536714"/>
                <a:ext cx="56128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a:rPr>
                        <m:t>𝐶h𝑎𝑟𝑖𝑡𝑦</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0</m:t>
                          </m:r>
                        </m:sub>
                      </m:sSub>
                      <m:r>
                        <a:rPr lang="en-US" sz="1350" i="1">
                          <a:latin typeface="Cambria Math"/>
                        </a:rPr>
                        <m:t>+</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1</m:t>
                          </m:r>
                        </m:sub>
                      </m:sSub>
                      <m:r>
                        <a:rPr lang="en-US" sz="1350" i="1">
                          <a:latin typeface="Cambria Math"/>
                        </a:rPr>
                        <m:t>𝐼𝑚𝑝𝑜𝑟𝑡𝑎𝑛𝑐𝑒</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2</m:t>
                          </m:r>
                        </m:sub>
                      </m:sSub>
                      <m:r>
                        <a:rPr lang="en-US" sz="1350" i="1">
                          <a:latin typeface="Cambria Math" charset="0"/>
                        </a:rPr>
                        <m:t>𝑊𝑒𝑎𝑙𝑡h</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3</m:t>
                          </m:r>
                        </m:sub>
                      </m:sSub>
                      <m:r>
                        <a:rPr lang="en-US" sz="1350" i="1">
                          <a:latin typeface="Cambria Math"/>
                        </a:rPr>
                        <m:t>𝐼𝑚𝑝</m:t>
                      </m:r>
                      <m:r>
                        <a:rPr lang="en-US" sz="1350" i="1">
                          <a:latin typeface="Cambria Math" charset="0"/>
                        </a:rPr>
                        <m:t>𝑜𝑟</m:t>
                      </m:r>
                      <m:r>
                        <a:rPr lang="en-US" sz="1350" i="1">
                          <a:latin typeface="Cambria Math" panose="02040503050406030204" pitchFamily="18" charset="0"/>
                        </a:rPr>
                        <m:t>𝑡</m:t>
                      </m:r>
                      <m:r>
                        <a:rPr lang="en-US" sz="1350" i="1">
                          <a:latin typeface="Cambria Math" charset="0"/>
                        </a:rPr>
                        <m:t>𝑎𝑛𝑐𝑒</m:t>
                      </m:r>
                      <m:r>
                        <a:rPr lang="en-US" sz="1350" i="1">
                          <a:latin typeface="Cambria Math"/>
                        </a:rPr>
                        <m:t>∗</m:t>
                      </m:r>
                      <m:r>
                        <a:rPr lang="en-US" sz="1350" i="1">
                          <a:latin typeface="Cambria Math" charset="0"/>
                        </a:rPr>
                        <m:t>𝑊𝑒𝑎𝑙𝑡h</m:t>
                      </m:r>
                    </m:oMath>
                  </m:oMathPara>
                </a14:m>
                <a:endParaRPr lang="en-US" sz="1350" dirty="0"/>
              </a:p>
            </p:txBody>
          </p:sp>
        </mc:Choice>
        <mc:Fallback xmlns="">
          <p:sp>
            <p:nvSpPr>
              <p:cNvPr id="4" name="TextBox 3"/>
              <p:cNvSpPr txBox="1">
                <a:spLocks noRot="1" noChangeAspect="1" noMove="1" noResize="1" noEditPoints="1" noAdjustHandles="1" noChangeArrowheads="1" noChangeShapeType="1" noTextEdit="1"/>
              </p:cNvSpPr>
              <p:nvPr/>
            </p:nvSpPr>
            <p:spPr>
              <a:xfrm>
                <a:off x="3887210" y="5536714"/>
                <a:ext cx="5612883" cy="300082"/>
              </a:xfrm>
              <a:prstGeom prst="rect">
                <a:avLst/>
              </a:prstGeom>
              <a:blipFill>
                <a:blip r:embed="rId2"/>
                <a:stretch>
                  <a:fillRect b="-12000"/>
                </a:stretch>
              </a:blipFill>
            </p:spPr>
            <p:txBody>
              <a:bodyPr/>
              <a:lstStyle/>
              <a:p>
                <a:r>
                  <a:rPr lang="en-US">
                    <a:noFill/>
                  </a:rPr>
                  <a:t> </a:t>
                </a:r>
              </a:p>
            </p:txBody>
          </p:sp>
        </mc:Fallback>
      </mc:AlternateContent>
      <p:pic>
        <p:nvPicPr>
          <p:cNvPr id="6" name="Picture 5"/>
          <p:cNvPicPr>
            <a:picLocks noChangeAspect="1"/>
          </p:cNvPicPr>
          <p:nvPr/>
        </p:nvPicPr>
        <p:blipFill rotWithShape="1">
          <a:blip r:embed="rId3"/>
          <a:srcRect l="2487"/>
          <a:stretch/>
        </p:blipFill>
        <p:spPr>
          <a:xfrm>
            <a:off x="1762988" y="1574224"/>
            <a:ext cx="1531940" cy="4239491"/>
          </a:xfrm>
          <a:prstGeom prst="rect">
            <a:avLst/>
          </a:prstGeom>
        </p:spPr>
      </p:pic>
      <p:pic>
        <p:nvPicPr>
          <p:cNvPr id="5" name="Picture 4"/>
          <p:cNvPicPr>
            <a:picLocks noChangeAspect="1"/>
          </p:cNvPicPr>
          <p:nvPr/>
        </p:nvPicPr>
        <p:blipFill>
          <a:blip r:embed="rId4"/>
          <a:stretch>
            <a:fillRect/>
          </a:stretch>
        </p:blipFill>
        <p:spPr>
          <a:xfrm>
            <a:off x="3584363" y="1762628"/>
            <a:ext cx="3623465" cy="3647209"/>
          </a:xfrm>
          <a:prstGeom prst="rect">
            <a:avLst/>
          </a:prstGeom>
        </p:spPr>
      </p:pic>
    </p:spTree>
    <p:extLst>
      <p:ext uri="{BB962C8B-B14F-4D97-AF65-F5344CB8AC3E}">
        <p14:creationId xmlns:p14="http://schemas.microsoft.com/office/powerpoint/2010/main" val="901069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575647"/>
            <a:ext cx="9376063" cy="365522"/>
          </a:xfrm>
        </p:spPr>
        <p:txBody>
          <a:bodyPr>
            <a:noAutofit/>
          </a:bodyPr>
          <a:lstStyle/>
          <a:p>
            <a:r>
              <a:rPr lang="en-US" sz="3200" dirty="0"/>
              <a:t>Charity and Perceived Importance: Fit the Model</a:t>
            </a:r>
          </a:p>
        </p:txBody>
      </p:sp>
      <mc:AlternateContent xmlns:mc="http://schemas.openxmlformats.org/markup-compatibility/2006" xmlns:a14="http://schemas.microsoft.com/office/drawing/2010/main">
        <mc:Choice Requires="a14">
          <p:sp>
            <p:nvSpPr>
              <p:cNvPr id="6" name="TextBox 5"/>
              <p:cNvSpPr txBox="1"/>
              <p:nvPr/>
            </p:nvSpPr>
            <p:spPr>
              <a:xfrm>
                <a:off x="3638335" y="1536491"/>
                <a:ext cx="5987986" cy="300082"/>
              </a:xfrm>
              <a:prstGeom prst="rect">
                <a:avLst/>
              </a:prstGeom>
              <a:noFill/>
            </p:spPr>
            <p:txBody>
              <a:bodyPr wrap="none" rtlCol="0">
                <a:spAutoFit/>
              </a:bodyPr>
              <a:lstStyle/>
              <a:p>
                <a:r>
                  <a:rPr lang="en-US" sz="1350" dirty="0" err="1"/>
                  <a:t>Pred</a:t>
                </a:r>
                <a:r>
                  <a:rPr lang="en-US" sz="1350" dirty="0"/>
                  <a:t> </a:t>
                </a:r>
                <a14:m>
                  <m:oMath xmlns:m="http://schemas.openxmlformats.org/officeDocument/2006/math">
                    <m:r>
                      <a:rPr lang="en-US" sz="1350" i="1">
                        <a:latin typeface="Cambria Math"/>
                      </a:rPr>
                      <m:t>𝐶h𝑎𝑟𝑖𝑡𝑦</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0</m:t>
                        </m:r>
                      </m:sub>
                    </m:sSub>
                    <m:r>
                      <a:rPr lang="en-US" sz="1350" i="1">
                        <a:latin typeface="Cambria Math"/>
                      </a:rPr>
                      <m:t>+</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1</m:t>
                        </m:r>
                      </m:sub>
                    </m:sSub>
                    <m:r>
                      <a:rPr lang="en-US" sz="1350" i="1">
                        <a:latin typeface="Cambria Math"/>
                      </a:rPr>
                      <m:t>𝐼𝑚𝑝𝑜𝑟𝑡𝑎𝑛𝑐𝑒</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2</m:t>
                        </m:r>
                      </m:sub>
                    </m:sSub>
                    <m:r>
                      <a:rPr lang="en-US" sz="1350" i="1">
                        <a:latin typeface="Cambria Math" charset="0"/>
                      </a:rPr>
                      <m:t>𝑊𝑒𝑎𝑡𝑙h</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3</m:t>
                        </m:r>
                      </m:sub>
                    </m:sSub>
                    <m:r>
                      <a:rPr lang="en-US" sz="1350" i="1">
                        <a:latin typeface="Cambria Math"/>
                      </a:rPr>
                      <m:t>𝐼𝑚</m:t>
                    </m:r>
                    <m:r>
                      <a:rPr lang="en-US" sz="1350" i="1">
                        <a:latin typeface="Cambria Math" charset="0"/>
                      </a:rPr>
                      <m:t>𝑝𝑜𝑟𝑡𝑎𝑛𝑐𝑒</m:t>
                    </m:r>
                    <m:r>
                      <a:rPr lang="en-US" sz="1350" i="1">
                        <a:latin typeface="Cambria Math" charset="0"/>
                      </a:rPr>
                      <m:t>∗</m:t>
                    </m:r>
                    <m:r>
                      <a:rPr lang="en-US" sz="1350" i="1">
                        <a:latin typeface="Cambria Math" charset="0"/>
                      </a:rPr>
                      <m:t>𝑊𝑒𝑎𝑙𝑡h</m:t>
                    </m:r>
                  </m:oMath>
                </a14:m>
                <a:endParaRPr lang="en-US" sz="1350" dirty="0"/>
              </a:p>
            </p:txBody>
          </p:sp>
        </mc:Choice>
        <mc:Fallback xmlns="">
          <p:sp>
            <p:nvSpPr>
              <p:cNvPr id="6" name="TextBox 5"/>
              <p:cNvSpPr txBox="1">
                <a:spLocks noRot="1" noChangeAspect="1" noMove="1" noResize="1" noEditPoints="1" noAdjustHandles="1" noChangeArrowheads="1" noChangeShapeType="1" noTextEdit="1"/>
              </p:cNvSpPr>
              <p:nvPr/>
            </p:nvSpPr>
            <p:spPr>
              <a:xfrm>
                <a:off x="3638335" y="1536491"/>
                <a:ext cx="5987986" cy="300082"/>
              </a:xfrm>
              <a:prstGeom prst="rect">
                <a:avLst/>
              </a:prstGeom>
              <a:blipFill>
                <a:blip r:embed="rId2"/>
                <a:stretch>
                  <a:fillRect l="-212" b="-16000"/>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6651766" y="1962588"/>
            <a:ext cx="3871223" cy="3896591"/>
          </a:xfrm>
          <a:prstGeom prst="rect">
            <a:avLst/>
          </a:prstGeom>
        </p:spPr>
      </p:pic>
      <p:pic>
        <p:nvPicPr>
          <p:cNvPr id="4" name="Picture 3"/>
          <p:cNvPicPr>
            <a:picLocks noChangeAspect="1"/>
          </p:cNvPicPr>
          <p:nvPr/>
        </p:nvPicPr>
        <p:blipFill>
          <a:blip r:embed="rId4"/>
          <a:stretch>
            <a:fillRect/>
          </a:stretch>
        </p:blipFill>
        <p:spPr>
          <a:xfrm>
            <a:off x="1773577" y="2214990"/>
            <a:ext cx="4878188" cy="3048867"/>
          </a:xfrm>
          <a:prstGeom prst="rect">
            <a:avLst/>
          </a:prstGeom>
        </p:spPr>
      </p:pic>
    </p:spTree>
    <p:extLst>
      <p:ext uri="{BB962C8B-B14F-4D97-AF65-F5344CB8AC3E}">
        <p14:creationId xmlns:p14="http://schemas.microsoft.com/office/powerpoint/2010/main" val="227447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1" y="469762"/>
            <a:ext cx="7886700" cy="515863"/>
          </a:xfrm>
        </p:spPr>
        <p:txBody>
          <a:bodyPr>
            <a:normAutofit fontScale="90000"/>
          </a:bodyPr>
          <a:lstStyle/>
          <a:p>
            <a:r>
              <a:rPr lang="en-US" dirty="0"/>
              <a:t>Check the Residuals</a:t>
            </a:r>
          </a:p>
        </p:txBody>
      </p:sp>
      <p:pic>
        <p:nvPicPr>
          <p:cNvPr id="4" name="Picture 3"/>
          <p:cNvPicPr>
            <a:picLocks noChangeAspect="1"/>
          </p:cNvPicPr>
          <p:nvPr/>
        </p:nvPicPr>
        <p:blipFill>
          <a:blip r:embed="rId2"/>
          <a:stretch>
            <a:fillRect/>
          </a:stretch>
        </p:blipFill>
        <p:spPr>
          <a:xfrm>
            <a:off x="2152651" y="1646958"/>
            <a:ext cx="3665510" cy="3709555"/>
          </a:xfrm>
          <a:prstGeom prst="rect">
            <a:avLst/>
          </a:prstGeom>
        </p:spPr>
      </p:pic>
      <p:pic>
        <p:nvPicPr>
          <p:cNvPr id="5" name="Picture 4"/>
          <p:cNvPicPr>
            <a:picLocks noChangeAspect="1"/>
          </p:cNvPicPr>
          <p:nvPr/>
        </p:nvPicPr>
        <p:blipFill>
          <a:blip r:embed="rId3"/>
          <a:stretch>
            <a:fillRect/>
          </a:stretch>
        </p:blipFill>
        <p:spPr>
          <a:xfrm>
            <a:off x="6311534" y="1711886"/>
            <a:ext cx="3618712" cy="3579696"/>
          </a:xfrm>
          <a:prstGeom prst="rect">
            <a:avLst/>
          </a:prstGeom>
        </p:spPr>
      </p:pic>
      <p:pic>
        <p:nvPicPr>
          <p:cNvPr id="6" name="Picture 5"/>
          <p:cNvPicPr>
            <a:picLocks noChangeAspect="1"/>
          </p:cNvPicPr>
          <p:nvPr/>
        </p:nvPicPr>
        <p:blipFill>
          <a:blip r:embed="rId4"/>
          <a:stretch>
            <a:fillRect/>
          </a:stretch>
        </p:blipFill>
        <p:spPr>
          <a:xfrm>
            <a:off x="2840783" y="5591162"/>
            <a:ext cx="6601091" cy="281213"/>
          </a:xfrm>
          <a:prstGeom prst="rect">
            <a:avLst/>
          </a:prstGeom>
        </p:spPr>
      </p:pic>
    </p:spTree>
    <p:extLst>
      <p:ext uri="{BB962C8B-B14F-4D97-AF65-F5344CB8AC3E}">
        <p14:creationId xmlns:p14="http://schemas.microsoft.com/office/powerpoint/2010/main" val="23489854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F33EAA-2FCB-1D4A-88C7-C4A267D534F1}"/>
              </a:ext>
            </a:extLst>
          </p:cNvPr>
          <p:cNvPicPr>
            <a:picLocks noChangeAspect="1"/>
          </p:cNvPicPr>
          <p:nvPr/>
        </p:nvPicPr>
        <p:blipFill>
          <a:blip r:embed="rId2"/>
          <a:stretch>
            <a:fillRect/>
          </a:stretch>
        </p:blipFill>
        <p:spPr>
          <a:xfrm>
            <a:off x="552450" y="951974"/>
            <a:ext cx="11258550" cy="660400"/>
          </a:xfrm>
          <a:prstGeom prst="rect">
            <a:avLst/>
          </a:prstGeom>
        </p:spPr>
      </p:pic>
      <p:sp>
        <p:nvSpPr>
          <p:cNvPr id="2" name="Title 1"/>
          <p:cNvSpPr>
            <a:spLocks noGrp="1"/>
          </p:cNvSpPr>
          <p:nvPr>
            <p:ph type="title"/>
          </p:nvPr>
        </p:nvSpPr>
        <p:spPr>
          <a:xfrm>
            <a:off x="33454" y="622366"/>
            <a:ext cx="6172200" cy="536972"/>
          </a:xfrm>
        </p:spPr>
        <p:txBody>
          <a:bodyPr>
            <a:normAutofit fontScale="90000"/>
          </a:bodyPr>
          <a:lstStyle/>
          <a:p>
            <a:r>
              <a:rPr lang="en-US" dirty="0"/>
              <a:t>Fit the Model</a:t>
            </a:r>
          </a:p>
        </p:txBody>
      </p:sp>
      <p:sp>
        <p:nvSpPr>
          <p:cNvPr id="3" name="TextBox 2"/>
          <p:cNvSpPr txBox="1"/>
          <p:nvPr/>
        </p:nvSpPr>
        <p:spPr>
          <a:xfrm>
            <a:off x="5695949" y="4584788"/>
            <a:ext cx="5505449" cy="300082"/>
          </a:xfrm>
          <a:prstGeom prst="rect">
            <a:avLst/>
          </a:prstGeom>
          <a:noFill/>
        </p:spPr>
        <p:txBody>
          <a:bodyPr wrap="square" rtlCol="0">
            <a:spAutoFit/>
          </a:bodyPr>
          <a:lstStyle/>
          <a:p>
            <a:pPr algn="ctr"/>
            <a:r>
              <a:rPr lang="en-US" sz="1350" dirty="0" err="1"/>
              <a:t>Pred</a:t>
            </a:r>
            <a:r>
              <a:rPr lang="en-US" sz="1350" dirty="0"/>
              <a:t> Charity = 48.10 - 27.68 Cash -.8803 Imp + 4.15 Cash *Imp</a:t>
            </a:r>
          </a:p>
        </p:txBody>
      </p:sp>
      <p:sp>
        <p:nvSpPr>
          <p:cNvPr id="6" name="TextBox 5"/>
          <p:cNvSpPr txBox="1"/>
          <p:nvPr/>
        </p:nvSpPr>
        <p:spPr>
          <a:xfrm>
            <a:off x="5695950" y="4899119"/>
            <a:ext cx="5353050" cy="300082"/>
          </a:xfrm>
          <a:prstGeom prst="rect">
            <a:avLst/>
          </a:prstGeom>
          <a:noFill/>
        </p:spPr>
        <p:txBody>
          <a:bodyPr wrap="square" rtlCol="0">
            <a:spAutoFit/>
          </a:bodyPr>
          <a:lstStyle/>
          <a:p>
            <a:pPr algn="ctr"/>
            <a:r>
              <a:rPr lang="en-US" sz="1350" dirty="0" err="1"/>
              <a:t>Pred</a:t>
            </a:r>
            <a:r>
              <a:rPr lang="en-US" sz="1350" dirty="0"/>
              <a:t> Charity = (48.10 - 27.68 Cash) + (-.8803 + 4.15 Cash) Imp </a:t>
            </a:r>
          </a:p>
        </p:txBody>
      </p:sp>
      <p:pic>
        <p:nvPicPr>
          <p:cNvPr id="13" name="Picture 12"/>
          <p:cNvPicPr>
            <a:picLocks noChangeAspect="1"/>
          </p:cNvPicPr>
          <p:nvPr/>
        </p:nvPicPr>
        <p:blipFill>
          <a:blip r:embed="rId3"/>
          <a:stretch>
            <a:fillRect/>
          </a:stretch>
        </p:blipFill>
        <p:spPr>
          <a:xfrm>
            <a:off x="1371600" y="1682948"/>
            <a:ext cx="3756464" cy="3781079"/>
          </a:xfrm>
          <a:prstGeom prst="rect">
            <a:avLst/>
          </a:prstGeom>
        </p:spPr>
      </p:pic>
      <p:sp>
        <p:nvSpPr>
          <p:cNvPr id="4" name="TextBox 3"/>
          <p:cNvSpPr txBox="1"/>
          <p:nvPr/>
        </p:nvSpPr>
        <p:spPr>
          <a:xfrm>
            <a:off x="5695951" y="3857085"/>
            <a:ext cx="5505449" cy="300082"/>
          </a:xfrm>
          <a:prstGeom prst="rect">
            <a:avLst/>
          </a:prstGeom>
          <a:noFill/>
        </p:spPr>
        <p:txBody>
          <a:bodyPr wrap="square" rtlCol="0">
            <a:spAutoFit/>
          </a:bodyPr>
          <a:lstStyle/>
          <a:p>
            <a:pPr algn="ctr"/>
            <a:r>
              <a:rPr lang="en-US" sz="1350" dirty="0"/>
              <a:t>Remember to Include All Terms that are included in an interaction!</a:t>
            </a:r>
          </a:p>
        </p:txBody>
      </p:sp>
      <mc:AlternateContent xmlns:mc="http://schemas.openxmlformats.org/markup-compatibility/2006" xmlns:a14="http://schemas.microsoft.com/office/drawing/2010/main">
        <mc:Choice Requires="a14">
          <p:sp>
            <p:nvSpPr>
              <p:cNvPr id="12" name="TextBox 11"/>
              <p:cNvSpPr txBox="1"/>
              <p:nvPr/>
            </p:nvSpPr>
            <p:spPr>
              <a:xfrm>
                <a:off x="4724400" y="4162462"/>
                <a:ext cx="5978368"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350" i="1">
                          <a:latin typeface="Cambria Math" panose="02040503050406030204" pitchFamily="18" charset="0"/>
                        </a:rPr>
                        <m:t>𝑝𝑟𝑒𝑑</m:t>
                      </m:r>
                      <m:r>
                        <a:rPr lang="en-US" sz="1350" i="1">
                          <a:latin typeface="Cambria Math" panose="02040503050406030204" pitchFamily="18" charset="0"/>
                        </a:rPr>
                        <m:t> </m:t>
                      </m:r>
                      <m:r>
                        <a:rPr lang="en-US" sz="1350" i="1">
                          <a:latin typeface="Cambria Math"/>
                        </a:rPr>
                        <m:t>𝐶h𝑎𝑟𝑖𝑡𝑦</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0</m:t>
                          </m:r>
                        </m:sub>
                      </m:sSub>
                      <m:r>
                        <a:rPr lang="en-US" sz="1350" i="1">
                          <a:latin typeface="Cambria Math"/>
                        </a:rPr>
                        <m:t>+</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1</m:t>
                          </m:r>
                        </m:sub>
                      </m:sSub>
                      <m:r>
                        <a:rPr lang="en-US" sz="1350" i="1">
                          <a:latin typeface="Cambria Math"/>
                        </a:rPr>
                        <m:t>𝐼𝑚𝑝𝑜𝑟𝑡𝑎𝑛𝑐𝑒</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2</m:t>
                          </m:r>
                        </m:sub>
                      </m:sSub>
                      <m:r>
                        <a:rPr lang="en-US" sz="1350" i="1">
                          <a:latin typeface="Cambria Math" charset="0"/>
                        </a:rPr>
                        <m:t>𝑊𝑒𝑎𝑙𝑡h</m:t>
                      </m:r>
                      <m:r>
                        <a:rPr lang="en-US" sz="1350" i="1">
                          <a:latin typeface="Cambria Math"/>
                        </a:rPr>
                        <m:t>+ </m:t>
                      </m:r>
                      <m:sSub>
                        <m:sSubPr>
                          <m:ctrlPr>
                            <a:rPr lang="en-US" sz="1350" i="1">
                              <a:latin typeface="Cambria Math" panose="02040503050406030204" pitchFamily="18" charset="0"/>
                            </a:rPr>
                          </m:ctrlPr>
                        </m:sSubPr>
                        <m:e>
                          <m:r>
                            <a:rPr lang="en-US" sz="1350" i="1">
                              <a:latin typeface="Cambria Math"/>
                              <a:ea typeface="Cambria Math"/>
                            </a:rPr>
                            <m:t>𝛽</m:t>
                          </m:r>
                        </m:e>
                        <m:sub>
                          <m:r>
                            <a:rPr lang="en-US" sz="1350" i="1">
                              <a:latin typeface="Cambria Math"/>
                            </a:rPr>
                            <m:t>3</m:t>
                          </m:r>
                        </m:sub>
                      </m:sSub>
                      <m:r>
                        <a:rPr lang="en-US" sz="1350" i="1">
                          <a:latin typeface="Cambria Math"/>
                        </a:rPr>
                        <m:t>𝐼𝑚</m:t>
                      </m:r>
                      <m:r>
                        <a:rPr lang="en-US" sz="1350" i="1">
                          <a:latin typeface="Cambria Math" charset="0"/>
                        </a:rPr>
                        <m:t>𝑝𝑜𝑟𝑡𝑎𝑛𝑐𝑒</m:t>
                      </m:r>
                      <m:r>
                        <a:rPr lang="en-US" sz="1350" i="1">
                          <a:latin typeface="Cambria Math"/>
                        </a:rPr>
                        <m:t>∗</m:t>
                      </m:r>
                      <m:r>
                        <a:rPr lang="en-US" sz="1350" i="1">
                          <a:latin typeface="Cambria Math" charset="0"/>
                        </a:rPr>
                        <m:t>𝑊𝑒𝑎𝑙𝑡h</m:t>
                      </m:r>
                    </m:oMath>
                  </m:oMathPara>
                </a14:m>
                <a:endParaRPr lang="en-US" sz="1350" dirty="0"/>
              </a:p>
            </p:txBody>
          </p:sp>
        </mc:Choice>
        <mc:Fallback xmlns="">
          <p:sp>
            <p:nvSpPr>
              <p:cNvPr id="12" name="TextBox 11"/>
              <p:cNvSpPr txBox="1">
                <a:spLocks noRot="1" noChangeAspect="1" noMove="1" noResize="1" noEditPoints="1" noAdjustHandles="1" noChangeArrowheads="1" noChangeShapeType="1" noTextEdit="1"/>
              </p:cNvSpPr>
              <p:nvPr/>
            </p:nvSpPr>
            <p:spPr>
              <a:xfrm>
                <a:off x="4724400" y="4162462"/>
                <a:ext cx="5978368" cy="300082"/>
              </a:xfrm>
              <a:prstGeom prst="rect">
                <a:avLst/>
              </a:prstGeom>
              <a:blipFill>
                <a:blip r:embed="rId4"/>
                <a:stretch>
                  <a:fillRect b="-12000"/>
                </a:stretch>
              </a:blipFill>
            </p:spPr>
            <p:txBody>
              <a:bodyPr/>
              <a:lstStyle/>
              <a:p>
                <a:r>
                  <a:rPr lang="en-US">
                    <a:noFill/>
                  </a:rPr>
                  <a:t> </a:t>
                </a:r>
              </a:p>
            </p:txBody>
          </p:sp>
        </mc:Fallback>
      </mc:AlternateContent>
      <p:pic>
        <p:nvPicPr>
          <p:cNvPr id="14" name="Picture 13"/>
          <p:cNvPicPr>
            <a:picLocks noChangeAspect="1"/>
          </p:cNvPicPr>
          <p:nvPr/>
        </p:nvPicPr>
        <p:blipFill>
          <a:blip r:embed="rId5"/>
          <a:stretch>
            <a:fillRect/>
          </a:stretch>
        </p:blipFill>
        <p:spPr>
          <a:xfrm>
            <a:off x="5695950" y="951974"/>
            <a:ext cx="4577196" cy="2860747"/>
          </a:xfrm>
          <a:prstGeom prst="rect">
            <a:avLst/>
          </a:prstGeom>
        </p:spPr>
      </p:pic>
      <p:sp>
        <p:nvSpPr>
          <p:cNvPr id="15" name="TextBox 14"/>
          <p:cNvSpPr txBox="1"/>
          <p:nvPr/>
        </p:nvSpPr>
        <p:spPr>
          <a:xfrm>
            <a:off x="5358247" y="5280917"/>
            <a:ext cx="2057401" cy="715581"/>
          </a:xfrm>
          <a:prstGeom prst="rect">
            <a:avLst/>
          </a:prstGeom>
          <a:noFill/>
        </p:spPr>
        <p:txBody>
          <a:bodyPr wrap="square" rtlCol="0">
            <a:spAutoFit/>
          </a:bodyPr>
          <a:lstStyle/>
          <a:p>
            <a:pPr algn="ctr"/>
            <a:r>
              <a:rPr lang="en-US" sz="1350" dirty="0">
                <a:solidFill>
                  <a:srgbClr val="FF0000"/>
                </a:solidFill>
              </a:rPr>
              <a:t>Medium: &lt;= $45,000</a:t>
            </a:r>
          </a:p>
          <a:p>
            <a:pPr algn="ctr"/>
            <a:endParaRPr lang="en-US" sz="1350" dirty="0">
              <a:solidFill>
                <a:srgbClr val="00B0F0"/>
              </a:solidFill>
            </a:endParaRPr>
          </a:p>
          <a:p>
            <a:pPr algn="ctr"/>
            <a:r>
              <a:rPr lang="en-US" sz="1350" dirty="0">
                <a:solidFill>
                  <a:srgbClr val="00B0F0"/>
                </a:solidFill>
              </a:rPr>
              <a:t>Rich:  &gt; $45,000 </a:t>
            </a:r>
          </a:p>
        </p:txBody>
      </p:sp>
      <p:sp>
        <p:nvSpPr>
          <p:cNvPr id="16" name="TextBox 15"/>
          <p:cNvSpPr txBox="1"/>
          <p:nvPr/>
        </p:nvSpPr>
        <p:spPr>
          <a:xfrm>
            <a:off x="6934200" y="5627164"/>
            <a:ext cx="4267198" cy="323165"/>
          </a:xfrm>
          <a:prstGeom prst="rect">
            <a:avLst/>
          </a:prstGeom>
          <a:noFill/>
        </p:spPr>
        <p:txBody>
          <a:bodyPr wrap="square" rtlCol="0">
            <a:spAutoFit/>
          </a:bodyPr>
          <a:lstStyle/>
          <a:p>
            <a:pPr algn="ctr"/>
            <a:r>
              <a:rPr lang="en-US" sz="1500" b="1" dirty="0" err="1">
                <a:solidFill>
                  <a:srgbClr val="00B0F0"/>
                </a:solidFill>
              </a:rPr>
              <a:t>Pred</a:t>
            </a:r>
            <a:r>
              <a:rPr lang="en-US" sz="1500" b="1" dirty="0">
                <a:solidFill>
                  <a:srgbClr val="00B0F0"/>
                </a:solidFill>
              </a:rPr>
              <a:t> Charity = 20.41 + 3.27Importance</a:t>
            </a:r>
          </a:p>
        </p:txBody>
      </p:sp>
      <p:sp>
        <p:nvSpPr>
          <p:cNvPr id="17" name="TextBox 16"/>
          <p:cNvSpPr txBox="1"/>
          <p:nvPr/>
        </p:nvSpPr>
        <p:spPr>
          <a:xfrm>
            <a:off x="7010400" y="5315635"/>
            <a:ext cx="4495800" cy="323165"/>
          </a:xfrm>
          <a:prstGeom prst="rect">
            <a:avLst/>
          </a:prstGeom>
          <a:noFill/>
        </p:spPr>
        <p:txBody>
          <a:bodyPr wrap="square" rtlCol="0">
            <a:spAutoFit/>
          </a:bodyPr>
          <a:lstStyle/>
          <a:p>
            <a:pPr algn="ctr"/>
            <a:r>
              <a:rPr lang="en-US" sz="1500" b="1" dirty="0" err="1">
                <a:solidFill>
                  <a:srgbClr val="FF0000"/>
                </a:solidFill>
              </a:rPr>
              <a:t>Pred</a:t>
            </a:r>
            <a:r>
              <a:rPr lang="en-US" sz="1500" b="1" dirty="0">
                <a:solidFill>
                  <a:srgbClr val="FF0000"/>
                </a:solidFill>
              </a:rPr>
              <a:t> Charity = 48.09 + (- 0.88) Importance</a:t>
            </a:r>
          </a:p>
        </p:txBody>
      </p:sp>
    </p:spTree>
    <p:extLst>
      <p:ext uri="{BB962C8B-B14F-4D97-AF65-F5344CB8AC3E}">
        <p14:creationId xmlns:p14="http://schemas.microsoft.com/office/powerpoint/2010/main" val="372182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2" grpId="0"/>
      <p:bldP spid="15" grpId="0"/>
      <p:bldP spid="16" grpId="0"/>
      <p:bldP spid="1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58834"/>
            <a:ext cx="6172200" cy="536972"/>
          </a:xfrm>
        </p:spPr>
        <p:txBody>
          <a:bodyPr>
            <a:normAutofit fontScale="90000"/>
          </a:bodyPr>
          <a:lstStyle/>
          <a:p>
            <a:r>
              <a:rPr lang="en-US" dirty="0"/>
              <a:t>Conclusion</a:t>
            </a:r>
          </a:p>
        </p:txBody>
      </p:sp>
      <p:sp>
        <p:nvSpPr>
          <p:cNvPr id="7" name="TextBox 6"/>
          <p:cNvSpPr txBox="1"/>
          <p:nvPr/>
        </p:nvSpPr>
        <p:spPr>
          <a:xfrm>
            <a:off x="5212774" y="1397169"/>
            <a:ext cx="2057401" cy="507831"/>
          </a:xfrm>
          <a:prstGeom prst="rect">
            <a:avLst/>
          </a:prstGeom>
          <a:noFill/>
        </p:spPr>
        <p:txBody>
          <a:bodyPr wrap="square" rtlCol="0">
            <a:spAutoFit/>
          </a:bodyPr>
          <a:lstStyle/>
          <a:p>
            <a:pPr algn="ctr"/>
            <a:r>
              <a:rPr lang="en-US" sz="1350" dirty="0">
                <a:solidFill>
                  <a:srgbClr val="FF0000"/>
                </a:solidFill>
              </a:rPr>
              <a:t>Medium: &lt;= $45,000</a:t>
            </a:r>
          </a:p>
          <a:p>
            <a:pPr algn="ctr"/>
            <a:r>
              <a:rPr lang="en-US" sz="1350" dirty="0">
                <a:solidFill>
                  <a:srgbClr val="00B0F0"/>
                </a:solidFill>
              </a:rPr>
              <a:t>Rich:  &gt; $45,000 </a:t>
            </a:r>
          </a:p>
        </p:txBody>
      </p:sp>
      <p:sp>
        <p:nvSpPr>
          <p:cNvPr id="10" name="TextBox 9"/>
          <p:cNvSpPr txBox="1"/>
          <p:nvPr/>
        </p:nvSpPr>
        <p:spPr>
          <a:xfrm>
            <a:off x="6934201" y="1758751"/>
            <a:ext cx="4197400" cy="323165"/>
          </a:xfrm>
          <a:prstGeom prst="rect">
            <a:avLst/>
          </a:prstGeom>
          <a:noFill/>
        </p:spPr>
        <p:txBody>
          <a:bodyPr wrap="square" rtlCol="0">
            <a:spAutoFit/>
          </a:bodyPr>
          <a:lstStyle/>
          <a:p>
            <a:pPr algn="ctr"/>
            <a:r>
              <a:rPr lang="en-US" sz="1500" b="1" dirty="0" err="1">
                <a:solidFill>
                  <a:srgbClr val="00B0F0"/>
                </a:solidFill>
              </a:rPr>
              <a:t>Pred</a:t>
            </a:r>
            <a:r>
              <a:rPr lang="en-US" sz="1500" b="1" dirty="0">
                <a:solidFill>
                  <a:srgbClr val="00B0F0"/>
                </a:solidFill>
              </a:rPr>
              <a:t> Charity = 20.41 + 3.27 Importance</a:t>
            </a:r>
          </a:p>
        </p:txBody>
      </p:sp>
      <p:sp>
        <p:nvSpPr>
          <p:cNvPr id="11" name="TextBox 10"/>
          <p:cNvSpPr txBox="1"/>
          <p:nvPr/>
        </p:nvSpPr>
        <p:spPr>
          <a:xfrm>
            <a:off x="6934200" y="1312894"/>
            <a:ext cx="4409736" cy="323165"/>
          </a:xfrm>
          <a:prstGeom prst="rect">
            <a:avLst/>
          </a:prstGeom>
          <a:noFill/>
        </p:spPr>
        <p:txBody>
          <a:bodyPr wrap="square" rtlCol="0">
            <a:spAutoFit/>
          </a:bodyPr>
          <a:lstStyle/>
          <a:p>
            <a:pPr algn="ctr"/>
            <a:r>
              <a:rPr lang="en-US" sz="1500" b="1" dirty="0" err="1">
                <a:solidFill>
                  <a:srgbClr val="FF0000"/>
                </a:solidFill>
              </a:rPr>
              <a:t>Pred</a:t>
            </a:r>
            <a:r>
              <a:rPr lang="en-US" sz="1500" b="1" dirty="0">
                <a:solidFill>
                  <a:srgbClr val="FF0000"/>
                </a:solidFill>
              </a:rPr>
              <a:t> Charity = 48.09 + (- 0.88) Importance</a:t>
            </a:r>
          </a:p>
        </p:txBody>
      </p:sp>
      <p:pic>
        <p:nvPicPr>
          <p:cNvPr id="13" name="Picture 12"/>
          <p:cNvPicPr>
            <a:picLocks noChangeAspect="1"/>
          </p:cNvPicPr>
          <p:nvPr/>
        </p:nvPicPr>
        <p:blipFill>
          <a:blip r:embed="rId2"/>
          <a:stretch>
            <a:fillRect/>
          </a:stretch>
        </p:blipFill>
        <p:spPr>
          <a:xfrm>
            <a:off x="1904474" y="2081917"/>
            <a:ext cx="3871223" cy="3896591"/>
          </a:xfrm>
          <a:prstGeom prst="rect">
            <a:avLst/>
          </a:prstGeom>
        </p:spPr>
      </p:pic>
      <p:sp>
        <p:nvSpPr>
          <p:cNvPr id="5" name="TextBox 4"/>
          <p:cNvSpPr txBox="1"/>
          <p:nvPr/>
        </p:nvSpPr>
        <p:spPr>
          <a:xfrm>
            <a:off x="5618018" y="4909572"/>
            <a:ext cx="4759038" cy="1338828"/>
          </a:xfrm>
          <a:prstGeom prst="rect">
            <a:avLst/>
          </a:prstGeom>
          <a:noFill/>
        </p:spPr>
        <p:txBody>
          <a:bodyPr wrap="square" rtlCol="0">
            <a:spAutoFit/>
          </a:bodyPr>
          <a:lstStyle/>
          <a:p>
            <a:r>
              <a:rPr lang="en-US" sz="1350" dirty="0"/>
              <a:t>For Wealthy donors, it is estimated that for every 1 additional point increase in importance, the amount they will donate to charity increases $3.27. For donors of Medium wealth, there is not significant evidence to suggest that the level of importance is a factor in the amount they will donate (p-value = .3569 ).  </a:t>
            </a:r>
          </a:p>
        </p:txBody>
      </p:sp>
      <p:pic>
        <p:nvPicPr>
          <p:cNvPr id="16" name="Picture 15"/>
          <p:cNvPicPr>
            <a:picLocks noChangeAspect="1"/>
          </p:cNvPicPr>
          <p:nvPr/>
        </p:nvPicPr>
        <p:blipFill rotWithShape="1">
          <a:blip r:embed="rId3"/>
          <a:srcRect b="25702"/>
          <a:stretch/>
        </p:blipFill>
        <p:spPr>
          <a:xfrm>
            <a:off x="5877793" y="2238124"/>
            <a:ext cx="3835451" cy="1781022"/>
          </a:xfrm>
          <a:prstGeom prst="rect">
            <a:avLst/>
          </a:prstGeom>
        </p:spPr>
      </p:pic>
      <p:pic>
        <p:nvPicPr>
          <p:cNvPr id="8" name="Picture 7"/>
          <p:cNvPicPr>
            <a:picLocks noChangeAspect="1"/>
          </p:cNvPicPr>
          <p:nvPr/>
        </p:nvPicPr>
        <p:blipFill>
          <a:blip r:embed="rId4"/>
          <a:stretch>
            <a:fillRect/>
          </a:stretch>
        </p:blipFill>
        <p:spPr>
          <a:xfrm>
            <a:off x="5877792" y="4102516"/>
            <a:ext cx="4197400" cy="723689"/>
          </a:xfrm>
          <a:prstGeom prst="rect">
            <a:avLst/>
          </a:prstGeom>
        </p:spPr>
      </p:pic>
    </p:spTree>
    <p:extLst>
      <p:ext uri="{BB962C8B-B14F-4D97-AF65-F5344CB8AC3E}">
        <p14:creationId xmlns:p14="http://schemas.microsoft.com/office/powerpoint/2010/main" val="71702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E5CB-B188-714F-A73B-55196567D966}"/>
              </a:ext>
            </a:extLst>
          </p:cNvPr>
          <p:cNvSpPr>
            <a:spLocks noGrp="1"/>
          </p:cNvSpPr>
          <p:nvPr>
            <p:ph type="title"/>
          </p:nvPr>
        </p:nvSpPr>
        <p:spPr>
          <a:xfrm>
            <a:off x="609600" y="2590800"/>
            <a:ext cx="10972800" cy="1143000"/>
          </a:xfrm>
        </p:spPr>
        <p:txBody>
          <a:bodyPr/>
          <a:lstStyle/>
          <a:p>
            <a:r>
              <a:rPr lang="en-US" dirty="0"/>
              <a:t>Question 1</a:t>
            </a:r>
          </a:p>
        </p:txBody>
      </p:sp>
    </p:spTree>
    <p:extLst>
      <p:ext uri="{BB962C8B-B14F-4D97-AF65-F5344CB8AC3E}">
        <p14:creationId xmlns:p14="http://schemas.microsoft.com/office/powerpoint/2010/main" val="3093350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21888"/>
            <a:ext cx="8229600" cy="715962"/>
          </a:xfrm>
        </p:spPr>
        <p:txBody>
          <a:bodyPr>
            <a:normAutofit fontScale="90000"/>
          </a:bodyPr>
          <a:lstStyle/>
          <a:p>
            <a:r>
              <a:rPr lang="en-US" dirty="0"/>
              <a:t>HSB2 Example</a:t>
            </a:r>
          </a:p>
        </p:txBody>
      </p:sp>
      <p:sp>
        <p:nvSpPr>
          <p:cNvPr id="3" name="Content Placeholder 2"/>
          <p:cNvSpPr>
            <a:spLocks noGrp="1"/>
          </p:cNvSpPr>
          <p:nvPr>
            <p:ph idx="1"/>
          </p:nvPr>
        </p:nvSpPr>
        <p:spPr>
          <a:xfrm>
            <a:off x="228600" y="1493837"/>
            <a:ext cx="11734800" cy="4906963"/>
          </a:xfrm>
        </p:spPr>
        <p:txBody>
          <a:bodyPr>
            <a:normAutofit fontScale="77500" lnSpcReduction="20000"/>
          </a:bodyPr>
          <a:lstStyle/>
          <a:p>
            <a:pPr marL="514350" indent="-514350">
              <a:buAutoNum type="arabicParenR"/>
            </a:pPr>
            <a:r>
              <a:rPr lang="en-US" dirty="0"/>
              <a:t>We would like to create a model with a categorical variable for socioeconomic status (SES) in order to test if there is a difference in mean science score for changes between SES = 3 to SES = 1 and SES = 3 to SES =2, taking the math score into account. (Assume math is associated with the science score in the same way for each SES. ) Can we quantify these amounts? That is, by how much can we expect the science score to increase or decrease with respect to SES = 3 (</a:t>
            </a:r>
            <a:r>
              <a:rPr lang="en-US" dirty="0">
                <a:solidFill>
                  <a:srgbClr val="0070C0"/>
                </a:solidFill>
              </a:rPr>
              <a:t>make SES = 3 the reference level</a:t>
            </a:r>
            <a:r>
              <a:rPr lang="en-US" dirty="0"/>
              <a:t>).  </a:t>
            </a:r>
            <a:r>
              <a:rPr lang="en-US" b="1" i="1" dirty="0"/>
              <a:t>Be sure and write out the model statement and check assumptions!</a:t>
            </a:r>
          </a:p>
          <a:p>
            <a:pPr marL="514350" indent="-514350">
              <a:buAutoNum type="arabicParenR"/>
            </a:pPr>
            <a:r>
              <a:rPr lang="en-US" b="1" i="1" dirty="0"/>
              <a:t>Now fit a model with flexible slopes and check the assumption above.  Is there reason / evidence to believe that the slopes are different between any two SES levels?</a:t>
            </a:r>
          </a:p>
          <a:p>
            <a:pPr marL="514350" indent="-514350">
              <a:buFont typeface="Arial" panose="020B0604020202020204" pitchFamily="34" charset="0"/>
              <a:buAutoNum type="arabicParenR"/>
            </a:pPr>
            <a:r>
              <a:rPr lang="en-US" dirty="0"/>
              <a:t>Finally, we want to know if and how much the math score is related to the science score </a:t>
            </a:r>
            <a:r>
              <a:rPr lang="en-US" u="sng" dirty="0"/>
              <a:t>after controlling for the reading score.</a:t>
            </a:r>
            <a:r>
              <a:rPr lang="en-US" dirty="0"/>
              <a:t> </a:t>
            </a:r>
            <a:r>
              <a:rPr lang="en-US" b="1" i="1" dirty="0"/>
              <a:t>Be sure and write out the model statement and check assumptions!</a:t>
            </a:r>
          </a:p>
          <a:p>
            <a:pPr marL="514350" indent="-514350">
              <a:buAutoNum type="arabicParenR"/>
            </a:pPr>
            <a:endParaRPr lang="en-US" u="sng" dirty="0"/>
          </a:p>
        </p:txBody>
      </p:sp>
    </p:spTree>
    <p:extLst>
      <p:ext uri="{BB962C8B-B14F-4D97-AF65-F5344CB8AC3E}">
        <p14:creationId xmlns:p14="http://schemas.microsoft.com/office/powerpoint/2010/main" val="75577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21888"/>
            <a:ext cx="8229600" cy="715962"/>
          </a:xfrm>
        </p:spPr>
        <p:txBody>
          <a:bodyPr>
            <a:normAutofit fontScale="90000"/>
          </a:bodyPr>
          <a:lstStyle/>
          <a:p>
            <a:r>
              <a:rPr lang="en-US" dirty="0"/>
              <a:t>HSB2 Example</a:t>
            </a:r>
          </a:p>
        </p:txBody>
      </p:sp>
      <p:sp>
        <p:nvSpPr>
          <p:cNvPr id="3" name="Content Placeholder 2"/>
          <p:cNvSpPr>
            <a:spLocks noGrp="1"/>
          </p:cNvSpPr>
          <p:nvPr>
            <p:ph idx="1"/>
          </p:nvPr>
        </p:nvSpPr>
        <p:spPr>
          <a:xfrm>
            <a:off x="228600" y="1493837"/>
            <a:ext cx="11734800" cy="4906963"/>
          </a:xfrm>
        </p:spPr>
        <p:txBody>
          <a:bodyPr>
            <a:normAutofit fontScale="92500"/>
          </a:bodyPr>
          <a:lstStyle/>
          <a:p>
            <a:pPr marL="514350" indent="-514350">
              <a:buAutoNum type="arabicParenR"/>
            </a:pPr>
            <a:r>
              <a:rPr lang="en-US" dirty="0"/>
              <a:t>We would like to create a model with a categorical variable for socioeconomic status (SES) in order to test if there is a difference in mean science score for changes between SES = 3 to SES = 1 and SES = 3 to SES =2, taking the math score into account. (Assume math is associated with the science score in the same way for each SES. ) Can we quantify these amounts? That is, by how much can we expect the science score to increase or decrease with respect to SES = 3 (</a:t>
            </a:r>
            <a:r>
              <a:rPr lang="en-US" dirty="0">
                <a:solidFill>
                  <a:srgbClr val="0070C0"/>
                </a:solidFill>
              </a:rPr>
              <a:t>make SES = 3 the reference level</a:t>
            </a:r>
            <a:r>
              <a:rPr lang="en-US" dirty="0"/>
              <a:t>).  </a:t>
            </a:r>
            <a:r>
              <a:rPr lang="en-US" b="1" i="1" dirty="0"/>
              <a:t>Be sure and write out the model statement and check assumptions!</a:t>
            </a:r>
          </a:p>
          <a:p>
            <a:pPr marL="0" indent="0">
              <a:buNone/>
            </a:pPr>
            <a:endParaRPr lang="en-US" u="sng" dirty="0"/>
          </a:p>
        </p:txBody>
      </p:sp>
    </p:spTree>
    <p:extLst>
      <p:ext uri="{BB962C8B-B14F-4D97-AF65-F5344CB8AC3E}">
        <p14:creationId xmlns:p14="http://schemas.microsoft.com/office/powerpoint/2010/main" val="204147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10591800" cy="639762"/>
          </a:xfrm>
        </p:spPr>
        <p:txBody>
          <a:bodyPr>
            <a:normAutofit fontScale="90000"/>
          </a:bodyPr>
          <a:lstStyle/>
          <a:p>
            <a:r>
              <a:rPr lang="en-US" dirty="0"/>
              <a:t>Influential Points and Assumptions!!!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357602"/>
            <a:ext cx="4399327"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4800600" y="1416232"/>
            <a:ext cx="7391400" cy="5355312"/>
          </a:xfrm>
          <a:prstGeom prst="rect">
            <a:avLst/>
          </a:prstGeom>
          <a:noFill/>
        </p:spPr>
        <p:txBody>
          <a:bodyPr wrap="square" rtlCol="0">
            <a:spAutoFit/>
          </a:bodyPr>
          <a:lstStyle/>
          <a:p>
            <a:r>
              <a:rPr lang="en-US" dirty="0"/>
              <a:t>There do not appear to be any extremely influential points. </a:t>
            </a:r>
          </a:p>
          <a:p>
            <a:endParaRPr lang="en-US" dirty="0"/>
          </a:p>
          <a:p>
            <a:r>
              <a:rPr lang="en-US" dirty="0"/>
              <a:t>Judging from the scatter plot, q-q plot, and histogram of the residuals, there is not sufficient evidence that the residuals do not follow a normal distribution with constant variance.</a:t>
            </a:r>
          </a:p>
          <a:p>
            <a:endParaRPr lang="en-US" dirty="0"/>
          </a:p>
          <a:p>
            <a:r>
              <a:rPr lang="en-US" dirty="0"/>
              <a:t>Linearity – There is no trend in the residuals which is consistent with a linear relationship between the mean of y and x. </a:t>
            </a:r>
          </a:p>
          <a:p>
            <a:endParaRPr lang="en-US" dirty="0"/>
          </a:p>
          <a:p>
            <a:r>
              <a:rPr lang="en-US" dirty="0"/>
              <a:t>Normality – the random cloud around zero in the residual plot is consistent with the normality assumption being met.  We don’t see any extreme outlying observations in one direction more that than the other. </a:t>
            </a:r>
          </a:p>
          <a:p>
            <a:endParaRPr lang="en-US" dirty="0"/>
          </a:p>
          <a:p>
            <a:r>
              <a:rPr lang="en-US" dirty="0"/>
              <a:t>Constant Standard Deviation – there is not a fanning pattern in the residuals that would be consistent with non equal standard deviation.  The residuals are consistent with equal standard deviation. </a:t>
            </a:r>
          </a:p>
          <a:p>
            <a:endParaRPr lang="en-US" dirty="0"/>
          </a:p>
          <a:p>
            <a:r>
              <a:rPr lang="en-US" dirty="0"/>
              <a:t>We assume here that the observations are independent, although we do this with caution as they are known to be clustered by school.  </a:t>
            </a:r>
          </a:p>
        </p:txBody>
      </p:sp>
      <mc:AlternateContent xmlns:mc="http://schemas.openxmlformats.org/markup-compatibility/2006" xmlns:a14="http://schemas.microsoft.com/office/drawing/2010/main">
        <mc:Choice Requires="a14">
          <p:sp>
            <p:nvSpPr>
              <p:cNvPr id="6" name="TextBox 5"/>
              <p:cNvSpPr txBox="1"/>
              <p:nvPr/>
            </p:nvSpPr>
            <p:spPr>
              <a:xfrm>
                <a:off x="2895601" y="969220"/>
                <a:ext cx="67669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m:t>
                      </m:r>
                      <m:r>
                        <m:rPr>
                          <m:nor/>
                        </m:rPr>
                        <a:rPr lang="en-US" dirty="0"/>
                        <m:t>Math</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𝑆𝐸𝑆</m:t>
                      </m:r>
                      <m:r>
                        <a:rPr lang="en-US" i="1" dirty="0">
                          <a:latin typeface="Cambria Math"/>
                          <a:ea typeface="Cambria Math"/>
                        </a:rPr>
                        <m:t>1+</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2</m:t>
                          </m:r>
                        </m:sub>
                      </m:sSub>
                      <m:r>
                        <a:rPr lang="en-US" i="1" dirty="0">
                          <a:latin typeface="Cambria Math"/>
                          <a:ea typeface="Cambria Math"/>
                        </a:rPr>
                        <m:t>𝑆𝐸𝑆</m:t>
                      </m:r>
                      <m:r>
                        <a:rPr lang="en-US" i="1" dirty="0">
                          <a:latin typeface="Cambria Math"/>
                          <a:ea typeface="Cambria Math"/>
                        </a:rPr>
                        <m:t>2+</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3</m:t>
                          </m:r>
                        </m:sub>
                      </m:sSub>
                      <m:r>
                        <a:rPr lang="en-US" i="1" dirty="0">
                          <a:latin typeface="Cambria Math"/>
                          <a:ea typeface="Cambria Math"/>
                        </a:rPr>
                        <m:t>𝑀𝑎𝑡h</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895601" y="969220"/>
                <a:ext cx="6766981" cy="369332"/>
              </a:xfrm>
              <a:prstGeom prst="rect">
                <a:avLst/>
              </a:prstGeom>
              <a:blipFill>
                <a:blip r:embed="rId4"/>
                <a:stretch>
                  <a:fillRect b="-20000"/>
                </a:stretch>
              </a:blipFill>
            </p:spPr>
            <p:txBody>
              <a:bodyPr/>
              <a:lstStyle/>
              <a:p>
                <a:r>
                  <a:rPr lang="en-US">
                    <a:noFill/>
                  </a:rPr>
                  <a:t> </a:t>
                </a:r>
              </a:p>
            </p:txBody>
          </p:sp>
        </mc:Fallback>
      </mc:AlternateContent>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275" y="5853402"/>
            <a:ext cx="3762375" cy="71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9348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5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500"/>
                                        <p:tgtEl>
                                          <p:spTgt spid="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10" end="10"/>
                                            </p:txEl>
                                          </p:spTgt>
                                        </p:tgtEl>
                                        <p:attrNameLst>
                                          <p:attrName>style.visibility</p:attrName>
                                        </p:attrNameLst>
                                      </p:cBhvr>
                                      <p:to>
                                        <p:strVal val="visible"/>
                                      </p:to>
                                    </p:set>
                                    <p:animEffect transition="in" filter="fade">
                                      <p:cBhvr>
                                        <p:cTn id="3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dirty="0"/>
              <a:t>Question 1 </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9376" y="1393982"/>
            <a:ext cx="4497371" cy="2023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2961953" y="990600"/>
                <a:ext cx="67669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m:t>
                      </m:r>
                      <m:r>
                        <m:rPr>
                          <m:nor/>
                        </m:rPr>
                        <a:rPr lang="en-US" dirty="0"/>
                        <m:t>Math</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𝑆𝐸𝑆</m:t>
                      </m:r>
                      <m:r>
                        <a:rPr lang="en-US" i="1" dirty="0">
                          <a:latin typeface="Cambria Math"/>
                          <a:ea typeface="Cambria Math"/>
                        </a:rPr>
                        <m:t>1+</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2</m:t>
                          </m:r>
                        </m:sub>
                      </m:sSub>
                      <m:r>
                        <a:rPr lang="en-US" i="1" dirty="0">
                          <a:latin typeface="Cambria Math"/>
                          <a:ea typeface="Cambria Math"/>
                        </a:rPr>
                        <m:t>𝑆𝐸𝑆</m:t>
                      </m:r>
                      <m:r>
                        <a:rPr lang="en-US" i="1" dirty="0">
                          <a:latin typeface="Cambria Math"/>
                          <a:ea typeface="Cambria Math"/>
                        </a:rPr>
                        <m:t>2+</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3</m:t>
                          </m:r>
                        </m:sub>
                      </m:sSub>
                      <m:r>
                        <a:rPr lang="en-US" i="1" dirty="0">
                          <a:latin typeface="Cambria Math"/>
                          <a:ea typeface="Cambria Math"/>
                        </a:rPr>
                        <m:t>𝑀𝑎𝑡h</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961953" y="990600"/>
                <a:ext cx="6766981" cy="369332"/>
              </a:xfrm>
              <a:prstGeom prst="rect">
                <a:avLst/>
              </a:prstGeom>
              <a:blipFill>
                <a:blip r:embed="rId3"/>
                <a:stretch>
                  <a:fillRect b="-1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1685024" y="3611530"/>
                <a:ext cx="8783390"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 </m:t>
                      </m:r>
                      <m:r>
                        <m:rPr>
                          <m:nor/>
                        </m:rPr>
                        <a:rPr lang="en-US" dirty="0"/>
                        <m:t>Math</m:t>
                      </m:r>
                      <m:r>
                        <m:rPr>
                          <m:nor/>
                        </m:rPr>
                        <a:rPr lang="en-US" dirty="0"/>
                        <m:t>}</m:t>
                      </m:r>
                      <m:r>
                        <a:rPr lang="en-US" i="1">
                          <a:latin typeface="Cambria Math" panose="02040503050406030204" pitchFamily="18" charset="0"/>
                        </a:rPr>
                        <m:t>=19.91−3.316∗</m:t>
                      </m:r>
                      <m:r>
                        <a:rPr lang="en-US" i="1">
                          <a:latin typeface="Cambria Math" panose="02040503050406030204" pitchFamily="18" charset="0"/>
                        </a:rPr>
                        <m:t>𝑆𝐸𝑆</m:t>
                      </m:r>
                      <m:r>
                        <a:rPr lang="en-US" i="1">
                          <a:latin typeface="Cambria Math" panose="02040503050406030204" pitchFamily="18" charset="0"/>
                        </a:rPr>
                        <m:t>1 −1.236 </m:t>
                      </m:r>
                      <m:r>
                        <a:rPr lang="en-US" i="1">
                          <a:latin typeface="Cambria Math" panose="02040503050406030204" pitchFamily="18" charset="0"/>
                        </a:rPr>
                        <m:t>𝑆𝐸𝑆</m:t>
                      </m:r>
                      <m:r>
                        <a:rPr lang="en-US" i="1">
                          <a:latin typeface="Cambria Math" panose="02040503050406030204" pitchFamily="18" charset="0"/>
                        </a:rPr>
                        <m:t>2+ .633 </m:t>
                      </m:r>
                      <m:r>
                        <a:rPr lang="en-US" i="1">
                          <a:latin typeface="Cambria Math" panose="02040503050406030204" pitchFamily="18" charset="0"/>
                        </a:rPr>
                        <m:t>𝑀𝑎𝑡h</m:t>
                      </m:r>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1685024" y="3611530"/>
                <a:ext cx="8783390" cy="276999"/>
              </a:xfrm>
              <a:prstGeom prst="rect">
                <a:avLst/>
              </a:prstGeom>
              <a:blipFill>
                <a:blip r:embed="rId4"/>
                <a:stretch>
                  <a:fillRect t="-13043" b="-39130"/>
                </a:stretch>
              </a:blipFill>
            </p:spPr>
            <p:txBody>
              <a:bodyPr/>
              <a:lstStyle/>
              <a:p>
                <a:r>
                  <a:rPr lang="en-US">
                    <a:noFill/>
                  </a:rPr>
                  <a:t> </a:t>
                </a:r>
              </a:p>
            </p:txBody>
          </p:sp>
        </mc:Fallback>
      </mc:AlternateContent>
      <p:graphicFrame>
        <p:nvGraphicFramePr>
          <p:cNvPr id="6" name="Table 5"/>
          <p:cNvGraphicFramePr>
            <a:graphicFrameLocks noGrp="1"/>
          </p:cNvGraphicFramePr>
          <p:nvPr/>
        </p:nvGraphicFramePr>
        <p:xfrm>
          <a:off x="1790700" y="1706562"/>
          <a:ext cx="1828800" cy="916305"/>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787129974"/>
                    </a:ext>
                  </a:extLst>
                </a:gridCol>
                <a:gridCol w="609600">
                  <a:extLst>
                    <a:ext uri="{9D8B030D-6E8A-4147-A177-3AD203B41FA5}">
                      <a16:colId xmlns:a16="http://schemas.microsoft.com/office/drawing/2014/main" val="1944200546"/>
                    </a:ext>
                  </a:extLst>
                </a:gridCol>
                <a:gridCol w="609600">
                  <a:extLst>
                    <a:ext uri="{9D8B030D-6E8A-4147-A177-3AD203B41FA5}">
                      <a16:colId xmlns:a16="http://schemas.microsoft.com/office/drawing/2014/main" val="3321159168"/>
                    </a:ext>
                  </a:extLst>
                </a:gridCol>
              </a:tblGrid>
              <a:tr h="190500">
                <a:tc>
                  <a:txBody>
                    <a:bodyPr/>
                    <a:lstStyle/>
                    <a:p>
                      <a:pPr algn="ctr" fontAlgn="b"/>
                      <a:r>
                        <a:rPr lang="en-US" sz="1100" u="none" strike="noStrike">
                          <a:effectLst/>
                        </a:rPr>
                        <a:t>SES value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SES1</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SES2</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66028649"/>
                  </a:ext>
                </a:extLst>
              </a:tr>
              <a:tr h="190500">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7031394"/>
                  </a:ext>
                </a:extLst>
              </a:tr>
              <a:tr h="190500">
                <a:tc>
                  <a:txBody>
                    <a:bodyPr/>
                    <a:lstStyle/>
                    <a:p>
                      <a:pPr algn="ct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280841"/>
                  </a:ext>
                </a:extLst>
              </a:tr>
              <a:tr h="190500">
                <a:tc>
                  <a:txBody>
                    <a:bodyPr/>
                    <a:lstStyle/>
                    <a:p>
                      <a:pPr algn="ct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0753900"/>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019821C-8D62-4DE9-B2D3-14C2D5E39004}"/>
                  </a:ext>
                </a:extLst>
              </p:cNvPr>
              <p:cNvSpPr txBox="1"/>
              <p:nvPr/>
            </p:nvSpPr>
            <p:spPr>
              <a:xfrm>
                <a:off x="1524000" y="4124196"/>
                <a:ext cx="8783390" cy="276999"/>
              </a:xfrm>
              <a:prstGeom prst="rect">
                <a:avLst/>
              </a:prstGeom>
              <a:noFill/>
            </p:spPr>
            <p:txBody>
              <a:bodyPr wrap="square" lIns="0" tIns="0" rIns="0" bIns="0" rtlCol="0">
                <a:spAutoFit/>
              </a:bodyPr>
              <a:lstStyle/>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3</m:t>
                    </m:r>
                    <m:r>
                      <m:rPr>
                        <m:nor/>
                      </m:rPr>
                      <a:rPr lang="en-US" dirty="0"/>
                      <m:t>, </m:t>
                    </m:r>
                    <m:r>
                      <m:rPr>
                        <m:nor/>
                      </m:rPr>
                      <a:rPr lang="en-US" dirty="0"/>
                      <m:t>Math</m:t>
                    </m:r>
                    <m:r>
                      <m:rPr>
                        <m:nor/>
                      </m:rPr>
                      <a:rPr lang="en-US" dirty="0"/>
                      <m:t>} </m:t>
                    </m:r>
                  </m:oMath>
                </a14:m>
                <a:r>
                  <a:rPr lang="en-US" dirty="0"/>
                  <a:t>= 19.91 – 3.316*0- 1.236*0+ .633 * Math</a:t>
                </a:r>
              </a:p>
            </p:txBody>
          </p:sp>
        </mc:Choice>
        <mc:Fallback xmlns="">
          <p:sp>
            <p:nvSpPr>
              <p:cNvPr id="8" name="TextBox 7">
                <a:extLst>
                  <a:ext uri="{FF2B5EF4-FFF2-40B4-BE49-F238E27FC236}">
                    <a16:creationId xmlns:a16="http://schemas.microsoft.com/office/drawing/2014/main" id="{B019821C-8D62-4DE9-B2D3-14C2D5E39004}"/>
                  </a:ext>
                </a:extLst>
              </p:cNvPr>
              <p:cNvSpPr txBox="1">
                <a:spLocks noRot="1" noChangeAspect="1" noMove="1" noResize="1" noEditPoints="1" noAdjustHandles="1" noChangeArrowheads="1" noChangeShapeType="1" noTextEdit="1"/>
              </p:cNvSpPr>
              <p:nvPr/>
            </p:nvSpPr>
            <p:spPr>
              <a:xfrm>
                <a:off x="1524000" y="4124196"/>
                <a:ext cx="8783390" cy="276999"/>
              </a:xfrm>
              <a:prstGeom prst="rect">
                <a:avLst/>
              </a:prstGeom>
              <a:blipFill>
                <a:blip r:embed="rId5"/>
                <a:stretch>
                  <a:fillRect t="-21739" b="-5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2DAD92D-08E1-474B-BECA-E6F920BF11DF}"/>
                  </a:ext>
                </a:extLst>
              </p:cNvPr>
              <p:cNvSpPr txBox="1"/>
              <p:nvPr/>
            </p:nvSpPr>
            <p:spPr>
              <a:xfrm>
                <a:off x="1981200" y="5635211"/>
                <a:ext cx="8783390"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1</m:t>
                      </m:r>
                      <m:r>
                        <m:rPr>
                          <m:nor/>
                        </m:rPr>
                        <a:rPr lang="en-US" dirty="0"/>
                        <m:t>, </m:t>
                      </m:r>
                      <m:r>
                        <m:rPr>
                          <m:nor/>
                        </m:rPr>
                        <a:rPr lang="en-US" dirty="0"/>
                        <m:t>Math</m:t>
                      </m:r>
                      <m:r>
                        <m:rPr>
                          <m:nor/>
                        </m:rPr>
                        <a:rPr lang="en-US" dirty="0"/>
                        <m:t>}= 19.91 – 3.316∗1− 1.236∗0+ .633 ∗ </m:t>
                      </m:r>
                      <m:r>
                        <m:rPr>
                          <m:nor/>
                        </m:rPr>
                        <a:rPr lang="en-US" dirty="0"/>
                        <m:t>Math</m:t>
                      </m:r>
                    </m:oMath>
                  </m:oMathPara>
                </a14:m>
                <a:endParaRPr lang="en-US" dirty="0"/>
              </a:p>
            </p:txBody>
          </p:sp>
        </mc:Choice>
        <mc:Fallback xmlns="">
          <p:sp>
            <p:nvSpPr>
              <p:cNvPr id="9" name="TextBox 8">
                <a:extLst>
                  <a:ext uri="{FF2B5EF4-FFF2-40B4-BE49-F238E27FC236}">
                    <a16:creationId xmlns:a16="http://schemas.microsoft.com/office/drawing/2014/main" id="{22DAD92D-08E1-474B-BECA-E6F920BF11DF}"/>
                  </a:ext>
                </a:extLst>
              </p:cNvPr>
              <p:cNvSpPr txBox="1">
                <a:spLocks noRot="1" noChangeAspect="1" noMove="1" noResize="1" noEditPoints="1" noAdjustHandles="1" noChangeArrowheads="1" noChangeShapeType="1" noTextEdit="1"/>
              </p:cNvSpPr>
              <p:nvPr/>
            </p:nvSpPr>
            <p:spPr>
              <a:xfrm>
                <a:off x="1981200" y="5635211"/>
                <a:ext cx="8783390" cy="276999"/>
              </a:xfrm>
              <a:prstGeom prst="rect">
                <a:avLst/>
              </a:prstGeom>
              <a:blipFill>
                <a:blip r:embed="rId6"/>
                <a:stretch>
                  <a:fillRect t="-13043" b="-391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98E0B9-403B-46F9-8299-E1715958C648}"/>
                  </a:ext>
                </a:extLst>
              </p:cNvPr>
              <p:cNvSpPr txBox="1"/>
              <p:nvPr/>
            </p:nvSpPr>
            <p:spPr>
              <a:xfrm>
                <a:off x="1524000" y="4772936"/>
                <a:ext cx="8783390" cy="276999"/>
              </a:xfrm>
              <a:prstGeom prst="rect">
                <a:avLst/>
              </a:prstGeom>
              <a:noFill/>
            </p:spPr>
            <p:txBody>
              <a:bodyPr wrap="square" lIns="0" tIns="0" rIns="0" bIns="0" rtlCol="0">
                <a:spAutoFit/>
              </a:bodyPr>
              <a:lstStyle/>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2</m:t>
                    </m:r>
                    <m:r>
                      <m:rPr>
                        <m:nor/>
                      </m:rPr>
                      <a:rPr lang="en-US" dirty="0"/>
                      <m:t>, </m:t>
                    </m:r>
                    <m:r>
                      <m:rPr>
                        <m:nor/>
                      </m:rPr>
                      <a:rPr lang="en-US" dirty="0"/>
                      <m:t>Math</m:t>
                    </m:r>
                    <m:r>
                      <m:rPr>
                        <m:nor/>
                      </m:rPr>
                      <a:rPr lang="en-US" dirty="0"/>
                      <m:t>} </m:t>
                    </m:r>
                  </m:oMath>
                </a14:m>
                <a:r>
                  <a:rPr lang="en-US" dirty="0"/>
                  <a:t>= 19.91 –3.316*0 - 1.236*1 + .633*Math</a:t>
                </a:r>
              </a:p>
            </p:txBody>
          </p:sp>
        </mc:Choice>
        <mc:Fallback xmlns="">
          <p:sp>
            <p:nvSpPr>
              <p:cNvPr id="10" name="TextBox 9">
                <a:extLst>
                  <a:ext uri="{FF2B5EF4-FFF2-40B4-BE49-F238E27FC236}">
                    <a16:creationId xmlns:a16="http://schemas.microsoft.com/office/drawing/2014/main" id="{E498E0B9-403B-46F9-8299-E1715958C648}"/>
                  </a:ext>
                </a:extLst>
              </p:cNvPr>
              <p:cNvSpPr txBox="1">
                <a:spLocks noRot="1" noChangeAspect="1" noMove="1" noResize="1" noEditPoints="1" noAdjustHandles="1" noChangeArrowheads="1" noChangeShapeType="1" noTextEdit="1"/>
              </p:cNvSpPr>
              <p:nvPr/>
            </p:nvSpPr>
            <p:spPr>
              <a:xfrm>
                <a:off x="1524000" y="4772936"/>
                <a:ext cx="8783390" cy="276999"/>
              </a:xfrm>
              <a:prstGeom prst="rect">
                <a:avLst/>
              </a:prstGeom>
              <a:blipFill>
                <a:blip r:embed="rId7"/>
                <a:stretch>
                  <a:fillRect t="-21739" b="-47826"/>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1D2A5742-AA9A-440D-A854-25AFC77169ED}"/>
              </a:ext>
            </a:extLst>
          </p:cNvPr>
          <p:cNvSpPr/>
          <p:nvPr/>
        </p:nvSpPr>
        <p:spPr>
          <a:xfrm>
            <a:off x="7634118" y="3057469"/>
            <a:ext cx="612629" cy="2770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9CDD53-2526-48AA-A712-526F87A5444D}"/>
              </a:ext>
            </a:extLst>
          </p:cNvPr>
          <p:cNvSpPr/>
          <p:nvPr/>
        </p:nvSpPr>
        <p:spPr>
          <a:xfrm>
            <a:off x="4702578" y="1873336"/>
            <a:ext cx="914400" cy="21319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FC4AE218-7E07-4D91-9475-1519ED8D14E6}"/>
              </a:ext>
            </a:extLst>
          </p:cNvPr>
          <p:cNvCxnSpPr>
            <a:cxnSpLocks/>
          </p:cNvCxnSpPr>
          <p:nvPr/>
        </p:nvCxnSpPr>
        <p:spPr>
          <a:xfrm>
            <a:off x="5159778" y="2086527"/>
            <a:ext cx="0" cy="156088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E073400-0FF2-434D-9F6B-75061D9FEA36}"/>
              </a:ext>
            </a:extLst>
          </p:cNvPr>
          <p:cNvSpPr/>
          <p:nvPr/>
        </p:nvSpPr>
        <p:spPr>
          <a:xfrm>
            <a:off x="4702578" y="2471752"/>
            <a:ext cx="914400" cy="22437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2DE1C0E7-9670-4D11-9B2E-AEAB380B5175}"/>
              </a:ext>
            </a:extLst>
          </p:cNvPr>
          <p:cNvCxnSpPr>
            <a:cxnSpLocks/>
            <a:stCxn id="14" idx="2"/>
          </p:cNvCxnSpPr>
          <p:nvPr/>
        </p:nvCxnSpPr>
        <p:spPr>
          <a:xfrm>
            <a:off x="5159778" y="2696127"/>
            <a:ext cx="2496344" cy="91540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3540B9D-665B-45F4-983C-5AFB737E6FE3}"/>
              </a:ext>
            </a:extLst>
          </p:cNvPr>
          <p:cNvSpPr/>
          <p:nvPr/>
        </p:nvSpPr>
        <p:spPr>
          <a:xfrm>
            <a:off x="4702578" y="2145154"/>
            <a:ext cx="914400" cy="24617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9596567-8233-4300-B5C6-DDE5C7232D82}"/>
              </a:ext>
            </a:extLst>
          </p:cNvPr>
          <p:cNvSpPr/>
          <p:nvPr/>
        </p:nvSpPr>
        <p:spPr>
          <a:xfrm>
            <a:off x="4724400" y="3066940"/>
            <a:ext cx="914400" cy="20966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E5AE5483-9E51-467F-98D0-09CF45A02187}"/>
              </a:ext>
            </a:extLst>
          </p:cNvPr>
          <p:cNvCxnSpPr>
            <a:cxnSpLocks/>
            <a:stCxn id="17" idx="2"/>
          </p:cNvCxnSpPr>
          <p:nvPr/>
        </p:nvCxnSpPr>
        <p:spPr>
          <a:xfrm>
            <a:off x="5181600" y="3276601"/>
            <a:ext cx="3886200" cy="37081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C3FB4759-863A-4694-A144-BD17035AEE3A}"/>
              </a:ext>
            </a:extLst>
          </p:cNvPr>
          <p:cNvCxnSpPr>
            <a:cxnSpLocks/>
            <a:stCxn id="16" idx="2"/>
            <a:endCxn id="3" idx="0"/>
          </p:cNvCxnSpPr>
          <p:nvPr/>
        </p:nvCxnSpPr>
        <p:spPr>
          <a:xfrm>
            <a:off x="5159779" y="2391327"/>
            <a:ext cx="916941" cy="122020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D4E58708-1687-4C4B-AD98-88AB842875A0}"/>
              </a:ext>
            </a:extLst>
          </p:cNvPr>
          <p:cNvSpPr/>
          <p:nvPr/>
        </p:nvSpPr>
        <p:spPr>
          <a:xfrm>
            <a:off x="7627929" y="2151945"/>
            <a:ext cx="612629" cy="27706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44AA769-D27C-4498-AE3C-EAF2A112F7CD}"/>
              </a:ext>
            </a:extLst>
          </p:cNvPr>
          <p:cNvSpPr txBox="1"/>
          <p:nvPr/>
        </p:nvSpPr>
        <p:spPr>
          <a:xfrm>
            <a:off x="765944" y="2686282"/>
            <a:ext cx="2853554" cy="646331"/>
          </a:xfrm>
          <a:prstGeom prst="rect">
            <a:avLst/>
          </a:prstGeom>
          <a:noFill/>
          <a:ln>
            <a:solidFill>
              <a:srgbClr val="0070C0"/>
            </a:solidFill>
          </a:ln>
        </p:spPr>
        <p:txBody>
          <a:bodyPr wrap="square" rtlCol="0">
            <a:spAutoFit/>
          </a:bodyPr>
          <a:lstStyle/>
          <a:p>
            <a:r>
              <a:rPr lang="en-US" dirty="0">
                <a:solidFill>
                  <a:srgbClr val="0070C0"/>
                </a:solidFill>
              </a:rPr>
              <a:t>SES = 3 precisely when SES1 = 0 and SES2 = 0</a:t>
            </a:r>
          </a:p>
        </p:txBody>
      </p:sp>
      <p:cxnSp>
        <p:nvCxnSpPr>
          <p:cNvPr id="30" name="Straight Arrow Connector 29">
            <a:extLst>
              <a:ext uri="{FF2B5EF4-FFF2-40B4-BE49-F238E27FC236}">
                <a16:creationId xmlns:a16="http://schemas.microsoft.com/office/drawing/2014/main" id="{892997ED-D18C-4163-B831-B8CA0E2440B8}"/>
              </a:ext>
            </a:extLst>
          </p:cNvPr>
          <p:cNvCxnSpPr>
            <a:cxnSpLocks/>
            <a:stCxn id="27" idx="3"/>
          </p:cNvCxnSpPr>
          <p:nvPr/>
        </p:nvCxnSpPr>
        <p:spPr>
          <a:xfrm>
            <a:off x="3619498" y="3009448"/>
            <a:ext cx="921464" cy="116903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1182581A-1302-4EDE-B518-19321841683C}"/>
              </a:ext>
            </a:extLst>
          </p:cNvPr>
          <p:cNvGrpSpPr/>
          <p:nvPr/>
        </p:nvGrpSpPr>
        <p:grpSpPr>
          <a:xfrm>
            <a:off x="7350809" y="3900987"/>
            <a:ext cx="610627" cy="464680"/>
            <a:chOff x="685631" y="2907441"/>
            <a:chExt cx="610627" cy="464680"/>
          </a:xfrm>
        </p:grpSpPr>
        <p:cxnSp>
          <p:nvCxnSpPr>
            <p:cNvPr id="34" name="Straight Arrow Connector 33">
              <a:extLst>
                <a:ext uri="{FF2B5EF4-FFF2-40B4-BE49-F238E27FC236}">
                  <a16:creationId xmlns:a16="http://schemas.microsoft.com/office/drawing/2014/main" id="{6B696E05-209A-471C-929E-3CAC53EB330F}"/>
                </a:ext>
              </a:extLst>
            </p:cNvPr>
            <p:cNvCxnSpPr>
              <a:cxnSpLocks/>
            </p:cNvCxnSpPr>
            <p:nvPr/>
          </p:nvCxnSpPr>
          <p:spPr>
            <a:xfrm flipV="1">
              <a:off x="685631" y="3163909"/>
              <a:ext cx="457369" cy="2082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B2DD942F-516D-4771-8D71-4A297B0E35E0}"/>
                </a:ext>
              </a:extLst>
            </p:cNvPr>
            <p:cNvSpPr txBox="1"/>
            <p:nvPr/>
          </p:nvSpPr>
          <p:spPr>
            <a:xfrm>
              <a:off x="1071990" y="2907441"/>
              <a:ext cx="224268" cy="369332"/>
            </a:xfrm>
            <a:prstGeom prst="rect">
              <a:avLst/>
            </a:prstGeom>
            <a:noFill/>
          </p:spPr>
          <p:txBody>
            <a:bodyPr wrap="square" rtlCol="0">
              <a:spAutoFit/>
            </a:bodyPr>
            <a:lstStyle/>
            <a:p>
              <a:r>
                <a:rPr lang="en-US" b="1" dirty="0">
                  <a:solidFill>
                    <a:srgbClr val="FF0000"/>
                  </a:solidFill>
                </a:rPr>
                <a:t>0</a:t>
              </a:r>
            </a:p>
          </p:txBody>
        </p:sp>
      </p:grpSp>
      <p:grpSp>
        <p:nvGrpSpPr>
          <p:cNvPr id="36" name="Group 35">
            <a:extLst>
              <a:ext uri="{FF2B5EF4-FFF2-40B4-BE49-F238E27FC236}">
                <a16:creationId xmlns:a16="http://schemas.microsoft.com/office/drawing/2014/main" id="{7FFA949D-2ADD-437C-8F3F-82E1C3A97908}"/>
              </a:ext>
            </a:extLst>
          </p:cNvPr>
          <p:cNvGrpSpPr/>
          <p:nvPr/>
        </p:nvGrpSpPr>
        <p:grpSpPr>
          <a:xfrm>
            <a:off x="6500559" y="3889447"/>
            <a:ext cx="610627" cy="464680"/>
            <a:chOff x="685631" y="2907441"/>
            <a:chExt cx="610627" cy="464680"/>
          </a:xfrm>
        </p:grpSpPr>
        <p:cxnSp>
          <p:nvCxnSpPr>
            <p:cNvPr id="37" name="Straight Arrow Connector 36">
              <a:extLst>
                <a:ext uri="{FF2B5EF4-FFF2-40B4-BE49-F238E27FC236}">
                  <a16:creationId xmlns:a16="http://schemas.microsoft.com/office/drawing/2014/main" id="{DDFB5358-FFB2-485A-BFB6-E56F7FA41886}"/>
                </a:ext>
              </a:extLst>
            </p:cNvPr>
            <p:cNvCxnSpPr>
              <a:cxnSpLocks/>
            </p:cNvCxnSpPr>
            <p:nvPr/>
          </p:nvCxnSpPr>
          <p:spPr>
            <a:xfrm flipV="1">
              <a:off x="685631" y="3163909"/>
              <a:ext cx="457369" cy="2082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4CA356E-B9EC-4C45-A9DD-D2C0FE4423B0}"/>
                </a:ext>
              </a:extLst>
            </p:cNvPr>
            <p:cNvSpPr txBox="1"/>
            <p:nvPr/>
          </p:nvSpPr>
          <p:spPr>
            <a:xfrm>
              <a:off x="1071990" y="2907441"/>
              <a:ext cx="224268" cy="369332"/>
            </a:xfrm>
            <a:prstGeom prst="rect">
              <a:avLst/>
            </a:prstGeom>
            <a:noFill/>
          </p:spPr>
          <p:txBody>
            <a:bodyPr wrap="square" rtlCol="0">
              <a:spAutoFit/>
            </a:bodyPr>
            <a:lstStyle/>
            <a:p>
              <a:r>
                <a:rPr lang="en-US" b="1" dirty="0">
                  <a:solidFill>
                    <a:srgbClr val="FF0000"/>
                  </a:solidFill>
                </a:rPr>
                <a:t>0</a:t>
              </a:r>
            </a:p>
          </p:txBody>
        </p: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C72A75F-9881-49A7-9520-24F05A34BF38}"/>
                  </a:ext>
                </a:extLst>
              </p:cNvPr>
              <p:cNvSpPr txBox="1"/>
              <p:nvPr/>
            </p:nvSpPr>
            <p:spPr>
              <a:xfrm>
                <a:off x="1676400" y="4419601"/>
                <a:ext cx="8783390" cy="276999"/>
              </a:xfrm>
              <a:prstGeom prst="rect">
                <a:avLst/>
              </a:prstGeom>
              <a:noFill/>
            </p:spPr>
            <p:txBody>
              <a:bodyPr wrap="square" lIns="0" tIns="0" rIns="0" bIns="0" rtlCol="0">
                <a:spAutoFit/>
              </a:bodyPr>
              <a:lstStyle/>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3</m:t>
                    </m:r>
                    <m:r>
                      <m:rPr>
                        <m:nor/>
                      </m:rPr>
                      <a:rPr lang="en-US" dirty="0"/>
                      <m:t>, </m:t>
                    </m:r>
                    <m:r>
                      <m:rPr>
                        <m:nor/>
                      </m:rPr>
                      <a:rPr lang="en-US" dirty="0"/>
                      <m:t>Math</m:t>
                    </m:r>
                    <m:r>
                      <m:rPr>
                        <m:nor/>
                      </m:rPr>
                      <a:rPr lang="en-US" dirty="0"/>
                      <m:t>} </m:t>
                    </m:r>
                  </m:oMath>
                </a14:m>
                <a:r>
                  <a:rPr lang="en-US" dirty="0"/>
                  <a:t>= 19.91 + .633 * Math</a:t>
                </a:r>
              </a:p>
            </p:txBody>
          </p:sp>
        </mc:Choice>
        <mc:Fallback xmlns="">
          <p:sp>
            <p:nvSpPr>
              <p:cNvPr id="39" name="TextBox 38">
                <a:extLst>
                  <a:ext uri="{FF2B5EF4-FFF2-40B4-BE49-F238E27FC236}">
                    <a16:creationId xmlns:a16="http://schemas.microsoft.com/office/drawing/2014/main" id="{3C72A75F-9881-49A7-9520-24F05A34BF38}"/>
                  </a:ext>
                </a:extLst>
              </p:cNvPr>
              <p:cNvSpPr txBox="1">
                <a:spLocks noRot="1" noChangeAspect="1" noMove="1" noResize="1" noEditPoints="1" noAdjustHandles="1" noChangeArrowheads="1" noChangeShapeType="1" noTextEdit="1"/>
              </p:cNvSpPr>
              <p:nvPr/>
            </p:nvSpPr>
            <p:spPr>
              <a:xfrm>
                <a:off x="1676400" y="4419601"/>
                <a:ext cx="8783390" cy="276999"/>
              </a:xfrm>
              <a:prstGeom prst="rect">
                <a:avLst/>
              </a:prstGeom>
              <a:blipFill>
                <a:blip r:embed="rId8"/>
                <a:stretch>
                  <a:fillRect t="-27273" b="-54545"/>
                </a:stretch>
              </a:blipFill>
            </p:spPr>
            <p:txBody>
              <a:bodyPr/>
              <a:lstStyle/>
              <a:p>
                <a:r>
                  <a:rPr lang="en-US">
                    <a:noFill/>
                  </a:rPr>
                  <a:t> </a:t>
                </a:r>
              </a:p>
            </p:txBody>
          </p:sp>
        </mc:Fallback>
      </mc:AlternateContent>
      <p:grpSp>
        <p:nvGrpSpPr>
          <p:cNvPr id="40" name="Group 39">
            <a:extLst>
              <a:ext uri="{FF2B5EF4-FFF2-40B4-BE49-F238E27FC236}">
                <a16:creationId xmlns:a16="http://schemas.microsoft.com/office/drawing/2014/main" id="{42E13275-7A9C-4AB3-96D1-EC8AB3C4136B}"/>
              </a:ext>
            </a:extLst>
          </p:cNvPr>
          <p:cNvGrpSpPr/>
          <p:nvPr/>
        </p:nvGrpSpPr>
        <p:grpSpPr>
          <a:xfrm>
            <a:off x="6629401" y="4495800"/>
            <a:ext cx="610627" cy="464680"/>
            <a:chOff x="685631" y="2907441"/>
            <a:chExt cx="610627" cy="464680"/>
          </a:xfrm>
        </p:grpSpPr>
        <p:cxnSp>
          <p:nvCxnSpPr>
            <p:cNvPr id="41" name="Straight Arrow Connector 40">
              <a:extLst>
                <a:ext uri="{FF2B5EF4-FFF2-40B4-BE49-F238E27FC236}">
                  <a16:creationId xmlns:a16="http://schemas.microsoft.com/office/drawing/2014/main" id="{BE6DF4B8-17AC-44F7-8969-FB5F22FC2F52}"/>
                </a:ext>
              </a:extLst>
            </p:cNvPr>
            <p:cNvCxnSpPr>
              <a:cxnSpLocks/>
            </p:cNvCxnSpPr>
            <p:nvPr/>
          </p:nvCxnSpPr>
          <p:spPr>
            <a:xfrm flipV="1">
              <a:off x="685631" y="3163909"/>
              <a:ext cx="457369" cy="2082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95E165C-5932-4964-ADDA-69C8970B9293}"/>
                </a:ext>
              </a:extLst>
            </p:cNvPr>
            <p:cNvSpPr txBox="1"/>
            <p:nvPr/>
          </p:nvSpPr>
          <p:spPr>
            <a:xfrm>
              <a:off x="1071990" y="2907441"/>
              <a:ext cx="224268" cy="369332"/>
            </a:xfrm>
            <a:prstGeom prst="rect">
              <a:avLst/>
            </a:prstGeom>
            <a:noFill/>
          </p:spPr>
          <p:txBody>
            <a:bodyPr wrap="square" rtlCol="0">
              <a:spAutoFit/>
            </a:bodyPr>
            <a:lstStyle/>
            <a:p>
              <a:r>
                <a:rPr lang="en-US" b="1" dirty="0">
                  <a:solidFill>
                    <a:srgbClr val="FF0000"/>
                  </a:solidFill>
                </a:rPr>
                <a:t>0</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7581965-8EB3-45EC-9E76-AB38C3EB45B3}"/>
                  </a:ext>
                </a:extLst>
              </p:cNvPr>
              <p:cNvSpPr txBox="1"/>
              <p:nvPr/>
            </p:nvSpPr>
            <p:spPr>
              <a:xfrm>
                <a:off x="1676400" y="5057002"/>
                <a:ext cx="8783390" cy="276999"/>
              </a:xfrm>
              <a:prstGeom prst="rect">
                <a:avLst/>
              </a:prstGeom>
              <a:noFill/>
            </p:spPr>
            <p:txBody>
              <a:bodyPr wrap="square" lIns="0" tIns="0" rIns="0" bIns="0" rtlCol="0">
                <a:spAutoFit/>
              </a:bodyPr>
              <a:lstStyle/>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2</m:t>
                    </m:r>
                    <m:r>
                      <m:rPr>
                        <m:nor/>
                      </m:rPr>
                      <a:rPr lang="en-US" dirty="0"/>
                      <m:t>, </m:t>
                    </m:r>
                    <m:r>
                      <m:rPr>
                        <m:nor/>
                      </m:rPr>
                      <a:rPr lang="en-US" dirty="0"/>
                      <m:t>Math</m:t>
                    </m:r>
                    <m:r>
                      <m:rPr>
                        <m:nor/>
                      </m:rPr>
                      <a:rPr lang="en-US" dirty="0"/>
                      <m:t>} </m:t>
                    </m:r>
                  </m:oMath>
                </a14:m>
                <a:r>
                  <a:rPr lang="en-US" dirty="0"/>
                  <a:t>= (19.91 –1.236) + .633*Math</a:t>
                </a:r>
              </a:p>
            </p:txBody>
          </p:sp>
        </mc:Choice>
        <mc:Fallback xmlns="">
          <p:sp>
            <p:nvSpPr>
              <p:cNvPr id="43" name="TextBox 42">
                <a:extLst>
                  <a:ext uri="{FF2B5EF4-FFF2-40B4-BE49-F238E27FC236}">
                    <a16:creationId xmlns:a16="http://schemas.microsoft.com/office/drawing/2014/main" id="{07581965-8EB3-45EC-9E76-AB38C3EB45B3}"/>
                  </a:ext>
                </a:extLst>
              </p:cNvPr>
              <p:cNvSpPr txBox="1">
                <a:spLocks noRot="1" noChangeAspect="1" noMove="1" noResize="1" noEditPoints="1" noAdjustHandles="1" noChangeArrowheads="1" noChangeShapeType="1" noTextEdit="1"/>
              </p:cNvSpPr>
              <p:nvPr/>
            </p:nvSpPr>
            <p:spPr>
              <a:xfrm>
                <a:off x="1676400" y="5057002"/>
                <a:ext cx="8783390" cy="276999"/>
              </a:xfrm>
              <a:prstGeom prst="rect">
                <a:avLst/>
              </a:prstGeom>
              <a:blipFill>
                <a:blip r:embed="rId9"/>
                <a:stretch>
                  <a:fillRect t="-26087" b="-478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09A9BA2-AD9E-4CBB-BE12-B061BEB78B3D}"/>
                  </a:ext>
                </a:extLst>
              </p:cNvPr>
              <p:cNvSpPr txBox="1"/>
              <p:nvPr/>
            </p:nvSpPr>
            <p:spPr>
              <a:xfrm>
                <a:off x="1818922" y="5333856"/>
                <a:ext cx="8783390" cy="276999"/>
              </a:xfrm>
              <a:prstGeom prst="rect">
                <a:avLst/>
              </a:prstGeom>
              <a:noFill/>
            </p:spPr>
            <p:txBody>
              <a:bodyPr wrap="square" lIns="0" tIns="0" rIns="0" bIns="0" rtlCol="0">
                <a:spAutoFit/>
              </a:bodyPr>
              <a:lstStyle/>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2</m:t>
                    </m:r>
                    <m:r>
                      <m:rPr>
                        <m:nor/>
                      </m:rPr>
                      <a:rPr lang="en-US" dirty="0"/>
                      <m:t>, </m:t>
                    </m:r>
                    <m:r>
                      <m:rPr>
                        <m:nor/>
                      </m:rPr>
                      <a:rPr lang="en-US" dirty="0"/>
                      <m:t>Math</m:t>
                    </m:r>
                    <m:r>
                      <m:rPr>
                        <m:nor/>
                      </m:rPr>
                      <a:rPr lang="en-US" dirty="0"/>
                      <m:t>} </m:t>
                    </m:r>
                  </m:oMath>
                </a14:m>
                <a:r>
                  <a:rPr lang="en-US" dirty="0"/>
                  <a:t>= 18.67 + .633*Math</a:t>
                </a:r>
              </a:p>
            </p:txBody>
          </p:sp>
        </mc:Choice>
        <mc:Fallback xmlns="">
          <p:sp>
            <p:nvSpPr>
              <p:cNvPr id="44" name="TextBox 43">
                <a:extLst>
                  <a:ext uri="{FF2B5EF4-FFF2-40B4-BE49-F238E27FC236}">
                    <a16:creationId xmlns:a16="http://schemas.microsoft.com/office/drawing/2014/main" id="{409A9BA2-AD9E-4CBB-BE12-B061BEB78B3D}"/>
                  </a:ext>
                </a:extLst>
              </p:cNvPr>
              <p:cNvSpPr txBox="1">
                <a:spLocks noRot="1" noChangeAspect="1" noMove="1" noResize="1" noEditPoints="1" noAdjustHandles="1" noChangeArrowheads="1" noChangeShapeType="1" noTextEdit="1"/>
              </p:cNvSpPr>
              <p:nvPr/>
            </p:nvSpPr>
            <p:spPr>
              <a:xfrm>
                <a:off x="1818922" y="5333856"/>
                <a:ext cx="8783390" cy="276999"/>
              </a:xfrm>
              <a:prstGeom prst="rect">
                <a:avLst/>
              </a:prstGeom>
              <a:blipFill>
                <a:blip r:embed="rId10"/>
                <a:stretch>
                  <a:fillRect t="-27273" b="-5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5A5AE65-2A7A-4962-85A0-FAFCABBCDC4B}"/>
                  </a:ext>
                </a:extLst>
              </p:cNvPr>
              <p:cNvSpPr txBox="1"/>
              <p:nvPr/>
            </p:nvSpPr>
            <p:spPr>
              <a:xfrm>
                <a:off x="1884610" y="5979511"/>
                <a:ext cx="8783390"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1</m:t>
                      </m:r>
                      <m:r>
                        <m:rPr>
                          <m:nor/>
                        </m:rPr>
                        <a:rPr lang="en-US" dirty="0"/>
                        <m:t>, </m:t>
                      </m:r>
                      <m:r>
                        <m:rPr>
                          <m:nor/>
                        </m:rPr>
                        <a:rPr lang="en-US" dirty="0"/>
                        <m:t>Math</m:t>
                      </m:r>
                      <m:r>
                        <m:rPr>
                          <m:nor/>
                        </m:rPr>
                        <a:rPr lang="en-US" dirty="0"/>
                        <m:t>}= (19.91 – 3.316)+ .633 ∗ </m:t>
                      </m:r>
                      <m:r>
                        <m:rPr>
                          <m:nor/>
                        </m:rPr>
                        <a:rPr lang="en-US" dirty="0"/>
                        <m:t>Math</m:t>
                      </m:r>
                    </m:oMath>
                  </m:oMathPara>
                </a14:m>
                <a:endParaRPr lang="en-US" dirty="0"/>
              </a:p>
            </p:txBody>
          </p:sp>
        </mc:Choice>
        <mc:Fallback xmlns="">
          <p:sp>
            <p:nvSpPr>
              <p:cNvPr id="45" name="TextBox 44">
                <a:extLst>
                  <a:ext uri="{FF2B5EF4-FFF2-40B4-BE49-F238E27FC236}">
                    <a16:creationId xmlns:a16="http://schemas.microsoft.com/office/drawing/2014/main" id="{95A5AE65-2A7A-4962-85A0-FAFCABBCDC4B}"/>
                  </a:ext>
                </a:extLst>
              </p:cNvPr>
              <p:cNvSpPr txBox="1">
                <a:spLocks noRot="1" noChangeAspect="1" noMove="1" noResize="1" noEditPoints="1" noAdjustHandles="1" noChangeArrowheads="1" noChangeShapeType="1" noTextEdit="1"/>
              </p:cNvSpPr>
              <p:nvPr/>
            </p:nvSpPr>
            <p:spPr>
              <a:xfrm>
                <a:off x="1884610" y="5979511"/>
                <a:ext cx="8783390" cy="276999"/>
              </a:xfrm>
              <a:prstGeom prst="rect">
                <a:avLst/>
              </a:prstGeom>
              <a:blipFill>
                <a:blip r:embed="rId11"/>
                <a:stretch>
                  <a:fillRect t="-8696" b="-43478"/>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641F20EA-DD5F-40CF-BE0F-D91222FF4E1E}"/>
              </a:ext>
            </a:extLst>
          </p:cNvPr>
          <p:cNvGrpSpPr/>
          <p:nvPr/>
        </p:nvGrpSpPr>
        <p:grpSpPr>
          <a:xfrm>
            <a:off x="7923774" y="5402720"/>
            <a:ext cx="610627" cy="464680"/>
            <a:chOff x="685631" y="2907441"/>
            <a:chExt cx="610627" cy="464680"/>
          </a:xfrm>
        </p:grpSpPr>
        <p:cxnSp>
          <p:nvCxnSpPr>
            <p:cNvPr id="47" name="Straight Arrow Connector 46">
              <a:extLst>
                <a:ext uri="{FF2B5EF4-FFF2-40B4-BE49-F238E27FC236}">
                  <a16:creationId xmlns:a16="http://schemas.microsoft.com/office/drawing/2014/main" id="{924D30F1-1070-4F5D-895F-FD60273930FF}"/>
                </a:ext>
              </a:extLst>
            </p:cNvPr>
            <p:cNvCxnSpPr>
              <a:cxnSpLocks/>
            </p:cNvCxnSpPr>
            <p:nvPr/>
          </p:nvCxnSpPr>
          <p:spPr>
            <a:xfrm flipV="1">
              <a:off x="685631" y="3163909"/>
              <a:ext cx="457369" cy="20821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D42D849C-3E01-45E0-A68C-0D686103CD07}"/>
                </a:ext>
              </a:extLst>
            </p:cNvPr>
            <p:cNvSpPr txBox="1"/>
            <p:nvPr/>
          </p:nvSpPr>
          <p:spPr>
            <a:xfrm>
              <a:off x="1071990" y="2907441"/>
              <a:ext cx="224268" cy="369332"/>
            </a:xfrm>
            <a:prstGeom prst="rect">
              <a:avLst/>
            </a:prstGeom>
            <a:noFill/>
          </p:spPr>
          <p:txBody>
            <a:bodyPr wrap="square" rtlCol="0">
              <a:spAutoFit/>
            </a:bodyPr>
            <a:lstStyle/>
            <a:p>
              <a:r>
                <a:rPr lang="en-US" b="1" dirty="0">
                  <a:solidFill>
                    <a:srgbClr val="FF0000"/>
                  </a:solidFill>
                </a:rPr>
                <a:t>0</a:t>
              </a:r>
            </a:p>
          </p:txBody>
        </p:sp>
      </p:gr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8576F081-2CAD-4C28-9D78-6F474F44D2D8}"/>
                  </a:ext>
                </a:extLst>
              </p:cNvPr>
              <p:cNvSpPr txBox="1"/>
              <p:nvPr/>
            </p:nvSpPr>
            <p:spPr>
              <a:xfrm>
                <a:off x="1828800" y="6352402"/>
                <a:ext cx="8783390" cy="276999"/>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1</m:t>
                      </m:r>
                      <m:r>
                        <m:rPr>
                          <m:nor/>
                        </m:rPr>
                        <a:rPr lang="en-US" dirty="0"/>
                        <m:t>, </m:t>
                      </m:r>
                      <m:r>
                        <m:rPr>
                          <m:nor/>
                        </m:rPr>
                        <a:rPr lang="en-US" dirty="0"/>
                        <m:t>Math</m:t>
                      </m:r>
                      <m:r>
                        <m:rPr>
                          <m:nor/>
                        </m:rPr>
                        <a:rPr lang="en-US" dirty="0"/>
                        <m:t>}= 16.59+ .633 ∗ </m:t>
                      </m:r>
                      <m:r>
                        <m:rPr>
                          <m:nor/>
                        </m:rPr>
                        <a:rPr lang="en-US" dirty="0"/>
                        <m:t>Math</m:t>
                      </m:r>
                    </m:oMath>
                  </m:oMathPara>
                </a14:m>
                <a:endParaRPr lang="en-US" dirty="0"/>
              </a:p>
            </p:txBody>
          </p:sp>
        </mc:Choice>
        <mc:Fallback xmlns="">
          <p:sp>
            <p:nvSpPr>
              <p:cNvPr id="49" name="TextBox 48">
                <a:extLst>
                  <a:ext uri="{FF2B5EF4-FFF2-40B4-BE49-F238E27FC236}">
                    <a16:creationId xmlns:a16="http://schemas.microsoft.com/office/drawing/2014/main" id="{8576F081-2CAD-4C28-9D78-6F474F44D2D8}"/>
                  </a:ext>
                </a:extLst>
              </p:cNvPr>
              <p:cNvSpPr txBox="1">
                <a:spLocks noRot="1" noChangeAspect="1" noMove="1" noResize="1" noEditPoints="1" noAdjustHandles="1" noChangeArrowheads="1" noChangeShapeType="1" noTextEdit="1"/>
              </p:cNvSpPr>
              <p:nvPr/>
            </p:nvSpPr>
            <p:spPr>
              <a:xfrm>
                <a:off x="1828800" y="6352402"/>
                <a:ext cx="8783390" cy="276999"/>
              </a:xfrm>
              <a:prstGeom prst="rect">
                <a:avLst/>
              </a:prstGeom>
              <a:blipFill>
                <a:blip r:embed="rId12"/>
                <a:stretch>
                  <a:fillRect t="-13043" b="-39130"/>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6CBCDDB7-D80B-4A47-B42F-31C3917925DA}"/>
              </a:ext>
            </a:extLst>
          </p:cNvPr>
          <p:cNvSpPr txBox="1"/>
          <p:nvPr/>
        </p:nvSpPr>
        <p:spPr>
          <a:xfrm>
            <a:off x="755015" y="2704688"/>
            <a:ext cx="2853554" cy="646331"/>
          </a:xfrm>
          <a:prstGeom prst="rect">
            <a:avLst/>
          </a:prstGeom>
          <a:noFill/>
          <a:ln>
            <a:solidFill>
              <a:srgbClr val="0070C0"/>
            </a:solidFill>
          </a:ln>
        </p:spPr>
        <p:txBody>
          <a:bodyPr wrap="square" rtlCol="0">
            <a:spAutoFit/>
          </a:bodyPr>
          <a:lstStyle/>
          <a:p>
            <a:r>
              <a:rPr lang="en-US" dirty="0">
                <a:solidFill>
                  <a:srgbClr val="0070C0"/>
                </a:solidFill>
              </a:rPr>
              <a:t>SES = 2 precisely when SES1 = 0 and SES2 = 1</a:t>
            </a:r>
          </a:p>
        </p:txBody>
      </p:sp>
      <p:cxnSp>
        <p:nvCxnSpPr>
          <p:cNvPr id="51" name="Straight Arrow Connector 50">
            <a:extLst>
              <a:ext uri="{FF2B5EF4-FFF2-40B4-BE49-F238E27FC236}">
                <a16:creationId xmlns:a16="http://schemas.microsoft.com/office/drawing/2014/main" id="{7F5A0232-C5E1-4933-B097-E007CB8BFB83}"/>
              </a:ext>
            </a:extLst>
          </p:cNvPr>
          <p:cNvCxnSpPr>
            <a:cxnSpLocks/>
            <a:stCxn id="50" idx="3"/>
          </p:cNvCxnSpPr>
          <p:nvPr/>
        </p:nvCxnSpPr>
        <p:spPr>
          <a:xfrm>
            <a:off x="3608569" y="3027854"/>
            <a:ext cx="985954" cy="17703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6FD4F2E-E728-4BF3-8FF0-D0312873A94C}"/>
              </a:ext>
            </a:extLst>
          </p:cNvPr>
          <p:cNvSpPr txBox="1"/>
          <p:nvPr/>
        </p:nvSpPr>
        <p:spPr>
          <a:xfrm>
            <a:off x="762004" y="2710638"/>
            <a:ext cx="2853554" cy="646331"/>
          </a:xfrm>
          <a:prstGeom prst="rect">
            <a:avLst/>
          </a:prstGeom>
          <a:noFill/>
          <a:ln>
            <a:solidFill>
              <a:srgbClr val="0070C0"/>
            </a:solidFill>
          </a:ln>
        </p:spPr>
        <p:txBody>
          <a:bodyPr wrap="square" rtlCol="0">
            <a:spAutoFit/>
          </a:bodyPr>
          <a:lstStyle/>
          <a:p>
            <a:r>
              <a:rPr lang="en-US" dirty="0">
                <a:solidFill>
                  <a:srgbClr val="0070C0"/>
                </a:solidFill>
              </a:rPr>
              <a:t>SES = 1 precisely when SES1 = 1 and SES2 = 0</a:t>
            </a:r>
          </a:p>
        </p:txBody>
      </p:sp>
      <p:cxnSp>
        <p:nvCxnSpPr>
          <p:cNvPr id="53" name="Straight Arrow Connector 52">
            <a:extLst>
              <a:ext uri="{FF2B5EF4-FFF2-40B4-BE49-F238E27FC236}">
                <a16:creationId xmlns:a16="http://schemas.microsoft.com/office/drawing/2014/main" id="{A728F5E2-8CC2-4948-B0C7-0E801D99C747}"/>
              </a:ext>
            </a:extLst>
          </p:cNvPr>
          <p:cNvCxnSpPr>
            <a:cxnSpLocks/>
            <a:stCxn id="52" idx="3"/>
          </p:cNvCxnSpPr>
          <p:nvPr/>
        </p:nvCxnSpPr>
        <p:spPr>
          <a:xfrm>
            <a:off x="3615558" y="3033804"/>
            <a:ext cx="1310652" cy="265338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28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12"/>
                                        </p:tgtEl>
                                        <p:attrNameLst>
                                          <p:attrName>style.visibility</p:attrName>
                                        </p:attrNameLst>
                                      </p:cBhvr>
                                      <p:to>
                                        <p:strVal val="hidden"/>
                                      </p:to>
                                    </p:set>
                                  </p:childTnLst>
                                </p:cTn>
                              </p:par>
                              <p:par>
                                <p:cTn id="26" presetID="1" presetClass="exit" presetSubtype="0" fill="hold" nodeType="withEffect">
                                  <p:stCondLst>
                                    <p:cond delay="0"/>
                                  </p:stCondLst>
                                  <p:childTnLst>
                                    <p:set>
                                      <p:cBhvr>
                                        <p:cTn id="27" dur="1" fill="hold">
                                          <p:stCondLst>
                                            <p:cond delay="0"/>
                                          </p:stCondLst>
                                        </p:cTn>
                                        <p:tgtEl>
                                          <p:spTgt spid="13"/>
                                        </p:tgtEl>
                                        <p:attrNameLst>
                                          <p:attrName>style.visibility</p:attrName>
                                        </p:attrNameLst>
                                      </p:cBhvr>
                                      <p:to>
                                        <p:strVal val="hidden"/>
                                      </p:to>
                                    </p:set>
                                  </p:childTnLst>
                                </p:cTn>
                              </p:par>
                              <p:par>
                                <p:cTn id="28" presetID="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nodeType="clickEffect">
                                  <p:stCondLst>
                                    <p:cond delay="0"/>
                                  </p:stCondLst>
                                  <p:childTnLst>
                                    <p:set>
                                      <p:cBhvr>
                                        <p:cTn id="35" dur="1" fill="hold">
                                          <p:stCondLst>
                                            <p:cond delay="0"/>
                                          </p:stCondLst>
                                        </p:cTn>
                                        <p:tgtEl>
                                          <p:spTgt spid="19"/>
                                        </p:tgtEl>
                                        <p:attrNameLst>
                                          <p:attrName>style.visibility</p:attrName>
                                        </p:attrNameLst>
                                      </p:cBhvr>
                                      <p:to>
                                        <p:strVal val="hidden"/>
                                      </p:to>
                                    </p:set>
                                  </p:childTnLst>
                                </p:cTn>
                              </p:par>
                              <p:par>
                                <p:cTn id="36" presetID="1" presetClass="exit" presetSubtype="0" fill="hold" grpId="1" nodeType="withEffect">
                                  <p:stCondLst>
                                    <p:cond delay="0"/>
                                  </p:stCondLst>
                                  <p:childTnLst>
                                    <p:set>
                                      <p:cBhvr>
                                        <p:cTn id="37" dur="1" fill="hold">
                                          <p:stCondLst>
                                            <p:cond delay="0"/>
                                          </p:stCondLst>
                                        </p:cTn>
                                        <p:tgtEl>
                                          <p:spTgt spid="16"/>
                                        </p:tgtEl>
                                        <p:attrNameLst>
                                          <p:attrName>style.visibility</p:attrName>
                                        </p:attrNameLst>
                                      </p:cBhvr>
                                      <p:to>
                                        <p:strVal val="hidden"/>
                                      </p:to>
                                    </p:set>
                                  </p:childTnLst>
                                </p:cTn>
                              </p:par>
                              <p:par>
                                <p:cTn id="38" presetID="1"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15"/>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14"/>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500"/>
                                        <p:tgtEl>
                                          <p:spTgt spid="8"/>
                                        </p:tgtEl>
                                      </p:cBhvr>
                                    </p:animEffect>
                                  </p:childTnLst>
                                </p:cTn>
                              </p:par>
                              <p:par>
                                <p:cTn id="57" presetID="1" presetClass="exit" presetSubtype="0" fill="hold"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7"/>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fade">
                                      <p:cBhvr>
                                        <p:cTn id="77" dur="500"/>
                                        <p:tgtEl>
                                          <p:spTgt spid="39"/>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500"/>
                                        <p:tgtEl>
                                          <p:spTgt spid="10"/>
                                        </p:tgtEl>
                                      </p:cBhvr>
                                    </p:animEffect>
                                  </p:childTnLst>
                                </p:cTn>
                              </p:par>
                              <p:par>
                                <p:cTn id="83" presetID="1"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1"/>
                                        </p:tgtEl>
                                        <p:attrNameLst>
                                          <p:attrName>style.visibility</p:attrName>
                                        </p:attrNameLst>
                                      </p:cBhvr>
                                      <p:to>
                                        <p:strVal val="visible"/>
                                      </p:to>
                                    </p:set>
                                  </p:childTnLst>
                                </p:cTn>
                              </p:par>
                              <p:par>
                                <p:cTn id="87" presetID="1" presetClass="exit" presetSubtype="0" fill="hold" grpId="1" nodeType="withEffect">
                                  <p:stCondLst>
                                    <p:cond delay="0"/>
                                  </p:stCondLst>
                                  <p:childTnLst>
                                    <p:set>
                                      <p:cBhvr>
                                        <p:cTn id="88" dur="1" fill="hold">
                                          <p:stCondLst>
                                            <p:cond delay="0"/>
                                          </p:stCondLst>
                                        </p:cTn>
                                        <p:tgtEl>
                                          <p:spTgt spid="27"/>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30"/>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4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500"/>
                                        <p:tgtEl>
                                          <p:spTgt spid="43"/>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44"/>
                                        </p:tgtEl>
                                        <p:attrNameLst>
                                          <p:attrName>style.visibility</p:attrName>
                                        </p:attrNameLst>
                                      </p:cBhvr>
                                      <p:to>
                                        <p:strVal val="visible"/>
                                      </p:to>
                                    </p:set>
                                    <p:animEffect transition="in" filter="fade">
                                      <p:cBhvr>
                                        <p:cTn id="104" dur="500"/>
                                        <p:tgtEl>
                                          <p:spTgt spid="44"/>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9"/>
                                        </p:tgtEl>
                                        <p:attrNameLst>
                                          <p:attrName>style.visibility</p:attrName>
                                        </p:attrNameLst>
                                      </p:cBhvr>
                                      <p:to>
                                        <p:strVal val="visible"/>
                                      </p:to>
                                    </p:set>
                                    <p:animEffect transition="in" filter="fade">
                                      <p:cBhvr>
                                        <p:cTn id="109" dur="500"/>
                                        <p:tgtEl>
                                          <p:spTgt spid="9"/>
                                        </p:tgtEl>
                                      </p:cBhvr>
                                    </p:animEffect>
                                  </p:childTnLst>
                                </p:cTn>
                              </p:par>
                              <p:par>
                                <p:cTn id="110" presetID="1" presetClass="entr" presetSubtype="0" fill="hold" grpId="0" nodeType="withEffect">
                                  <p:stCondLst>
                                    <p:cond delay="0"/>
                                  </p:stCondLst>
                                  <p:childTnLst>
                                    <p:set>
                                      <p:cBhvr>
                                        <p:cTn id="111" dur="1" fill="hold">
                                          <p:stCondLst>
                                            <p:cond delay="0"/>
                                          </p:stCondLst>
                                        </p:cTn>
                                        <p:tgtEl>
                                          <p:spTgt spid="52"/>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53"/>
                                        </p:tgtEl>
                                        <p:attrNameLst>
                                          <p:attrName>style.visibility</p:attrName>
                                        </p:attrNameLst>
                                      </p:cBhvr>
                                      <p:to>
                                        <p:strVal val="visible"/>
                                      </p:to>
                                    </p:set>
                                  </p:childTnLst>
                                </p:cTn>
                              </p:par>
                              <p:par>
                                <p:cTn id="114" presetID="1" presetClass="exit" presetSubtype="0" fill="hold" grpId="1" nodeType="withEffect">
                                  <p:stCondLst>
                                    <p:cond delay="0"/>
                                  </p:stCondLst>
                                  <p:childTnLst>
                                    <p:set>
                                      <p:cBhvr>
                                        <p:cTn id="115" dur="1" fill="hold">
                                          <p:stCondLst>
                                            <p:cond delay="0"/>
                                          </p:stCondLst>
                                        </p:cTn>
                                        <p:tgtEl>
                                          <p:spTgt spid="50"/>
                                        </p:tgtEl>
                                        <p:attrNameLst>
                                          <p:attrName>style.visibility</p:attrName>
                                        </p:attrNameLst>
                                      </p:cBhvr>
                                      <p:to>
                                        <p:strVal val="hidden"/>
                                      </p:to>
                                    </p:set>
                                  </p:childTnLst>
                                </p:cTn>
                              </p:par>
                              <p:par>
                                <p:cTn id="116" presetID="1" presetClass="exit" presetSubtype="0" fill="hold" nodeType="withEffect">
                                  <p:stCondLst>
                                    <p:cond delay="0"/>
                                  </p:stCondLst>
                                  <p:childTnLst>
                                    <p:set>
                                      <p:cBhvr>
                                        <p:cTn id="117" dur="1" fill="hold">
                                          <p:stCondLst>
                                            <p:cond delay="0"/>
                                          </p:stCondLst>
                                        </p:cTn>
                                        <p:tgtEl>
                                          <p:spTgt spid="51"/>
                                        </p:tgtEl>
                                        <p:attrNameLst>
                                          <p:attrName>style.visibility</p:attrName>
                                        </p:attrNameLst>
                                      </p:cBhvr>
                                      <p:to>
                                        <p:strVal val="hidden"/>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46"/>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fade">
                                      <p:cBhvr>
                                        <p:cTn id="126" dur="500"/>
                                        <p:tgtEl>
                                          <p:spTgt spid="45"/>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grpId="0" nodeType="clickEffect">
                                  <p:stCondLst>
                                    <p:cond delay="0"/>
                                  </p:stCondLst>
                                  <p:childTnLst>
                                    <p:set>
                                      <p:cBhvr>
                                        <p:cTn id="130" dur="1" fill="hold">
                                          <p:stCondLst>
                                            <p:cond delay="0"/>
                                          </p:stCondLst>
                                        </p:cTn>
                                        <p:tgtEl>
                                          <p:spTgt spid="49"/>
                                        </p:tgtEl>
                                        <p:attrNameLst>
                                          <p:attrName>style.visibility</p:attrName>
                                        </p:attrNameLst>
                                      </p:cBhvr>
                                      <p:to>
                                        <p:strVal val="visible"/>
                                      </p:to>
                                    </p:set>
                                    <p:animEffect transition="in" filter="fade">
                                      <p:cBhvr>
                                        <p:cTn id="1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10" grpId="0"/>
      <p:bldP spid="11" grpId="0" animBg="1"/>
      <p:bldP spid="12" grpId="0" animBg="1"/>
      <p:bldP spid="12" grpId="1" animBg="1"/>
      <p:bldP spid="14" grpId="0" animBg="1"/>
      <p:bldP spid="14" grpId="1" animBg="1"/>
      <p:bldP spid="16" grpId="0" animBg="1"/>
      <p:bldP spid="16" grpId="1" animBg="1"/>
      <p:bldP spid="17" grpId="0" animBg="1"/>
      <p:bldP spid="17" grpId="1" animBg="1"/>
      <p:bldP spid="28" grpId="0" animBg="1"/>
      <p:bldP spid="27" grpId="0" animBg="1"/>
      <p:bldP spid="27" grpId="1" animBg="1"/>
      <p:bldP spid="39" grpId="0"/>
      <p:bldP spid="43" grpId="0"/>
      <p:bldP spid="44" grpId="0"/>
      <p:bldP spid="45" grpId="0"/>
      <p:bldP spid="49" grpId="0"/>
      <p:bldP spid="50" grpId="0" animBg="1"/>
      <p:bldP spid="50" grpId="1" animBg="1"/>
      <p:bldP spid="5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fontScale="90000"/>
          </a:bodyPr>
          <a:lstStyle/>
          <a:p>
            <a:r>
              <a:rPr lang="en-US" dirty="0"/>
              <a:t>Question 1 </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3174" y="1407878"/>
            <a:ext cx="4497371" cy="20238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2961953" y="990600"/>
                <a:ext cx="67669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m:t>
                      </m:r>
                      <m:r>
                        <m:rPr>
                          <m:nor/>
                        </m:rPr>
                        <a:rPr lang="en-US" dirty="0"/>
                        <m:t>Math</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𝑆𝐸𝑆</m:t>
                      </m:r>
                      <m:r>
                        <a:rPr lang="en-US" i="1" dirty="0">
                          <a:latin typeface="Cambria Math"/>
                          <a:ea typeface="Cambria Math"/>
                        </a:rPr>
                        <m:t>1+</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2</m:t>
                          </m:r>
                        </m:sub>
                      </m:sSub>
                      <m:r>
                        <a:rPr lang="en-US" i="1" dirty="0">
                          <a:latin typeface="Cambria Math"/>
                          <a:ea typeface="Cambria Math"/>
                        </a:rPr>
                        <m:t>𝑆𝐸𝑆</m:t>
                      </m:r>
                      <m:r>
                        <a:rPr lang="en-US" i="1" dirty="0">
                          <a:latin typeface="Cambria Math"/>
                          <a:ea typeface="Cambria Math"/>
                        </a:rPr>
                        <m:t>2+</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3</m:t>
                          </m:r>
                        </m:sub>
                      </m:sSub>
                      <m:r>
                        <a:rPr lang="en-US" i="1" dirty="0">
                          <a:latin typeface="Cambria Math"/>
                          <a:ea typeface="Cambria Math"/>
                        </a:rPr>
                        <m:t>𝑀𝑎𝑡h</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2961953" y="990600"/>
                <a:ext cx="6766981" cy="369332"/>
              </a:xfrm>
              <a:prstGeom prst="rect">
                <a:avLst/>
              </a:prstGeom>
              <a:blipFill>
                <a:blip r:embed="rId3"/>
                <a:stretch>
                  <a:fillRect b="-16667"/>
                </a:stretch>
              </a:blipFill>
            </p:spPr>
            <p:txBody>
              <a:bodyPr/>
              <a:lstStyle/>
              <a:p>
                <a:r>
                  <a:rPr lang="en-US">
                    <a:noFill/>
                  </a:rPr>
                  <a:t> </a:t>
                </a:r>
              </a:p>
            </p:txBody>
          </p:sp>
        </mc:Fallback>
      </mc:AlternateContent>
      <p:sp>
        <p:nvSpPr>
          <p:cNvPr id="4" name="TextBox 3"/>
          <p:cNvSpPr txBox="1"/>
          <p:nvPr/>
        </p:nvSpPr>
        <p:spPr>
          <a:xfrm>
            <a:off x="533400" y="4976632"/>
            <a:ext cx="11353800" cy="1569660"/>
          </a:xfrm>
          <a:prstGeom prst="rect">
            <a:avLst/>
          </a:prstGeom>
          <a:noFill/>
        </p:spPr>
        <p:txBody>
          <a:bodyPr wrap="square" rtlCol="0">
            <a:spAutoFit/>
          </a:bodyPr>
          <a:lstStyle/>
          <a:p>
            <a:r>
              <a:rPr lang="en-US" sz="1600" dirty="0"/>
              <a:t>A change from SES = 3 to SES =2 does not appear to significantly influence the mean science score although a change from SES = 1 to SES = 3 appears to be significant in estimating the mean science score for a given math score.  The best estimate is that a change from SES = 3 to SES = 1 is associated with a 3.316 point decrease in the mean science score. A 95% confidence interval for this decrease is </a:t>
            </a:r>
            <a:r>
              <a:rPr lang="en-US" sz="1600" b="1" dirty="0">
                <a:solidFill>
                  <a:srgbClr val="0070C0"/>
                </a:solidFill>
              </a:rPr>
              <a:t>(.24, 6.4)</a:t>
            </a:r>
            <a:r>
              <a:rPr lang="en-US" sz="1600" dirty="0"/>
              <a:t> points.  In addition, since the slopes are assumed to be identical, this change is assumed to be constant across all math scores.  This is an observational study thus only associations can be made.  The data could be rerun by grouping SES=3 and SES=2 together, but we will leave it as is here.</a:t>
            </a:r>
          </a:p>
        </p:txBody>
      </p:sp>
      <mc:AlternateContent xmlns:mc="http://schemas.openxmlformats.org/markup-compatibility/2006" xmlns:a14="http://schemas.microsoft.com/office/drawing/2010/main">
        <mc:Choice Requires="a14">
          <p:sp>
            <p:nvSpPr>
              <p:cNvPr id="3" name="TextBox 2"/>
              <p:cNvSpPr txBox="1"/>
              <p:nvPr/>
            </p:nvSpPr>
            <p:spPr>
              <a:xfrm>
                <a:off x="2133600" y="3443407"/>
                <a:ext cx="8783390" cy="1661993"/>
              </a:xfrm>
              <a:prstGeom prst="rect">
                <a:avLst/>
              </a:prstGeom>
              <a:noFill/>
            </p:spPr>
            <p:txBody>
              <a:bodyPr wrap="square" lIns="0" tIns="0" rIns="0" bIns="0" rtlCol="0">
                <a:spAutoFit/>
              </a:bodyPr>
              <a:lstStyle/>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 </m:t>
                      </m:r>
                      <m:r>
                        <m:rPr>
                          <m:nor/>
                        </m:rPr>
                        <a:rPr lang="en-US" dirty="0"/>
                        <m:t>Math</m:t>
                      </m:r>
                      <m:r>
                        <m:rPr>
                          <m:nor/>
                        </m:rPr>
                        <a:rPr lang="en-US" dirty="0"/>
                        <m:t>}</m:t>
                      </m:r>
                      <m:r>
                        <a:rPr lang="en-US" i="1">
                          <a:latin typeface="Cambria Math" panose="02040503050406030204" pitchFamily="18" charset="0"/>
                        </a:rPr>
                        <m:t>=19.91−3.316∗</m:t>
                      </m:r>
                      <m:r>
                        <a:rPr lang="en-US" i="1">
                          <a:latin typeface="Cambria Math" panose="02040503050406030204" pitchFamily="18" charset="0"/>
                        </a:rPr>
                        <m:t>𝑆𝐸𝑆</m:t>
                      </m:r>
                      <m:r>
                        <a:rPr lang="en-US" i="1">
                          <a:latin typeface="Cambria Math" panose="02040503050406030204" pitchFamily="18" charset="0"/>
                        </a:rPr>
                        <m:t>1 −1.236 </m:t>
                      </m:r>
                      <m:r>
                        <a:rPr lang="en-US" i="1">
                          <a:latin typeface="Cambria Math" panose="02040503050406030204" pitchFamily="18" charset="0"/>
                        </a:rPr>
                        <m:t>𝑆𝐸𝑆</m:t>
                      </m:r>
                      <m:r>
                        <a:rPr lang="en-US" i="1">
                          <a:latin typeface="Cambria Math" panose="02040503050406030204" pitchFamily="18" charset="0"/>
                        </a:rPr>
                        <m:t>2+ .633 </m:t>
                      </m:r>
                      <m:r>
                        <a:rPr lang="en-US" i="1">
                          <a:latin typeface="Cambria Math" panose="02040503050406030204" pitchFamily="18" charset="0"/>
                        </a:rPr>
                        <m:t>𝑀𝑎𝑡h</m:t>
                      </m:r>
                    </m:oMath>
                  </m:oMathPara>
                </a14:m>
                <a:endParaRPr lang="en-US" dirty="0"/>
              </a:p>
              <a:p>
                <a:pPr algn="ctr"/>
                <a:endParaRPr lang="en-US" i="1" dirty="0">
                  <a:latin typeface="Cambria Math" panose="02040503050406030204" pitchFamily="18" charset="0"/>
                  <a:ea typeface="Cambria Math"/>
                </a:endParaRPr>
              </a:p>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b="1" dirty="0"/>
                      <m:t>SES</m:t>
                    </m:r>
                    <m:r>
                      <m:rPr>
                        <m:nor/>
                      </m:rPr>
                      <a:rPr lang="en-US" b="1" dirty="0"/>
                      <m:t> = 3</m:t>
                    </m:r>
                    <m:r>
                      <m:rPr>
                        <m:nor/>
                      </m:rPr>
                      <a:rPr lang="en-US" dirty="0"/>
                      <m:t>, </m:t>
                    </m:r>
                    <m:r>
                      <m:rPr>
                        <m:nor/>
                      </m:rPr>
                      <a:rPr lang="en-US" dirty="0"/>
                      <m:t>Math</m:t>
                    </m:r>
                    <m:r>
                      <m:rPr>
                        <m:nor/>
                      </m:rPr>
                      <a:rPr lang="en-US" dirty="0"/>
                      <m:t>} </m:t>
                    </m:r>
                  </m:oMath>
                </a14:m>
                <a:r>
                  <a:rPr lang="en-US" dirty="0"/>
                  <a:t>= 19.91 + .633 * Math</a:t>
                </a:r>
              </a:p>
              <a:p>
                <a:pPr algn="ctr"/>
                <a14:m>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 2, </m:t>
                    </m:r>
                    <m:r>
                      <m:rPr>
                        <m:nor/>
                      </m:rPr>
                      <a:rPr lang="en-US" dirty="0"/>
                      <m:t>Math</m:t>
                    </m:r>
                    <m:r>
                      <m:rPr>
                        <m:nor/>
                      </m:rPr>
                      <a:rPr lang="en-US" dirty="0"/>
                      <m:t>} </m:t>
                    </m:r>
                  </m:oMath>
                </a14:m>
                <a:r>
                  <a:rPr lang="en-US" dirty="0"/>
                  <a:t>= 18.67 + .633*Math</a:t>
                </a:r>
              </a:p>
              <a:p>
                <a:pPr algn="ct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SES</m:t>
                      </m:r>
                      <m:r>
                        <m:rPr>
                          <m:nor/>
                        </m:rPr>
                        <a:rPr lang="en-US" dirty="0"/>
                        <m:t> = 1, </m:t>
                      </m:r>
                      <m:r>
                        <m:rPr>
                          <m:nor/>
                        </m:rPr>
                        <a:rPr lang="en-US" dirty="0"/>
                        <m:t>Math</m:t>
                      </m:r>
                      <m:r>
                        <m:rPr>
                          <m:nor/>
                        </m:rPr>
                        <a:rPr lang="en-US" dirty="0"/>
                        <m:t>}= 16.59 + .633∗</m:t>
                      </m:r>
                      <m:r>
                        <m:rPr>
                          <m:nor/>
                        </m:rPr>
                        <a:rPr lang="en-US" dirty="0"/>
                        <m:t>Math</m:t>
                      </m:r>
                    </m:oMath>
                  </m:oMathPara>
                </a14:m>
                <a:endParaRPr lang="en-US" dirty="0"/>
              </a:p>
              <a:p>
                <a:pPr algn="ctr"/>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133600" y="3443407"/>
                <a:ext cx="8783390" cy="1661993"/>
              </a:xfrm>
              <a:prstGeom prst="rect">
                <a:avLst/>
              </a:prstGeom>
              <a:blipFill>
                <a:blip r:embed="rId4"/>
                <a:stretch>
                  <a:fillRect t="-2273"/>
                </a:stretch>
              </a:blipFill>
            </p:spPr>
            <p:txBody>
              <a:bodyPr/>
              <a:lstStyle/>
              <a:p>
                <a:r>
                  <a:rPr lang="en-US">
                    <a:noFill/>
                  </a:rPr>
                  <a:t> </a:t>
                </a:r>
              </a:p>
            </p:txBody>
          </p:sp>
        </mc:Fallback>
      </mc:AlternateContent>
      <p:graphicFrame>
        <p:nvGraphicFramePr>
          <p:cNvPr id="6" name="Table 5"/>
          <p:cNvGraphicFramePr>
            <a:graphicFrameLocks noGrp="1"/>
          </p:cNvGraphicFramePr>
          <p:nvPr/>
        </p:nvGraphicFramePr>
        <p:xfrm>
          <a:off x="1790700" y="1706562"/>
          <a:ext cx="1828800" cy="916305"/>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3787129974"/>
                    </a:ext>
                  </a:extLst>
                </a:gridCol>
                <a:gridCol w="609600">
                  <a:extLst>
                    <a:ext uri="{9D8B030D-6E8A-4147-A177-3AD203B41FA5}">
                      <a16:colId xmlns:a16="http://schemas.microsoft.com/office/drawing/2014/main" val="1944200546"/>
                    </a:ext>
                  </a:extLst>
                </a:gridCol>
                <a:gridCol w="609600">
                  <a:extLst>
                    <a:ext uri="{9D8B030D-6E8A-4147-A177-3AD203B41FA5}">
                      <a16:colId xmlns:a16="http://schemas.microsoft.com/office/drawing/2014/main" val="3321159168"/>
                    </a:ext>
                  </a:extLst>
                </a:gridCol>
              </a:tblGrid>
              <a:tr h="190500">
                <a:tc>
                  <a:txBody>
                    <a:bodyPr/>
                    <a:lstStyle/>
                    <a:p>
                      <a:pPr algn="ctr" fontAlgn="b"/>
                      <a:r>
                        <a:rPr lang="en-US" sz="1100" u="none" strike="noStrike">
                          <a:effectLst/>
                        </a:rPr>
                        <a:t>SES value</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SES1</a:t>
                      </a:r>
                      <a:endParaRPr lang="en-US"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SES2</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66028649"/>
                  </a:ext>
                </a:extLst>
              </a:tr>
              <a:tr h="190500">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7031394"/>
                  </a:ext>
                </a:extLst>
              </a:tr>
              <a:tr h="190500">
                <a:tc>
                  <a:txBody>
                    <a:bodyPr/>
                    <a:lstStyle/>
                    <a:p>
                      <a:pPr algn="ct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280841"/>
                  </a:ext>
                </a:extLst>
              </a:tr>
              <a:tr h="190500">
                <a:tc>
                  <a:txBody>
                    <a:bodyPr/>
                    <a:lstStyle/>
                    <a:p>
                      <a:pPr algn="ct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100" u="none" strike="noStrike" dirty="0">
                          <a:effectLst/>
                        </a:rPr>
                        <a:t>0</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70753900"/>
                  </a:ext>
                </a:extLst>
              </a:tr>
            </a:tbl>
          </a:graphicData>
        </a:graphic>
      </p:graphicFrame>
      <p:sp>
        <p:nvSpPr>
          <p:cNvPr id="7" name="TextBox 6">
            <a:extLst>
              <a:ext uri="{FF2B5EF4-FFF2-40B4-BE49-F238E27FC236}">
                <a16:creationId xmlns:a16="http://schemas.microsoft.com/office/drawing/2014/main" id="{0BA53397-D5DC-41F0-BC54-EC14671E8B50}"/>
              </a:ext>
            </a:extLst>
          </p:cNvPr>
          <p:cNvSpPr txBox="1"/>
          <p:nvPr/>
        </p:nvSpPr>
        <p:spPr>
          <a:xfrm>
            <a:off x="1790700" y="3733800"/>
            <a:ext cx="1828800" cy="369332"/>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FA60BE69-D99F-41CF-B96D-9B3E0901F3D2}"/>
              </a:ext>
            </a:extLst>
          </p:cNvPr>
          <p:cNvSpPr txBox="1"/>
          <p:nvPr/>
        </p:nvSpPr>
        <p:spPr>
          <a:xfrm>
            <a:off x="990600" y="3733800"/>
            <a:ext cx="3086100" cy="1200329"/>
          </a:xfrm>
          <a:prstGeom prst="rect">
            <a:avLst/>
          </a:prstGeom>
          <a:noFill/>
        </p:spPr>
        <p:txBody>
          <a:bodyPr wrap="square" rtlCol="0">
            <a:spAutoFit/>
          </a:bodyPr>
          <a:lstStyle/>
          <a:p>
            <a:r>
              <a:rPr lang="en-US" dirty="0">
                <a:solidFill>
                  <a:srgbClr val="0070C0"/>
                </a:solidFill>
              </a:rPr>
              <a:t>95% CI: t</a:t>
            </a:r>
            <a:r>
              <a:rPr lang="en-US" baseline="-25000" dirty="0">
                <a:solidFill>
                  <a:srgbClr val="0070C0"/>
                </a:solidFill>
              </a:rPr>
              <a:t>.975, 200-4</a:t>
            </a:r>
            <a:r>
              <a:rPr lang="en-US" dirty="0">
                <a:solidFill>
                  <a:srgbClr val="0070C0"/>
                </a:solidFill>
              </a:rPr>
              <a:t>=1.97 </a:t>
            </a:r>
          </a:p>
          <a:p>
            <a:r>
              <a:rPr lang="en-US" dirty="0">
                <a:solidFill>
                  <a:srgbClr val="0070C0"/>
                </a:solidFill>
              </a:rPr>
              <a:t>3.316+- 1.97*1.56</a:t>
            </a:r>
          </a:p>
          <a:p>
            <a:r>
              <a:rPr lang="en-US" dirty="0">
                <a:solidFill>
                  <a:srgbClr val="0070C0"/>
                </a:solidFill>
              </a:rPr>
              <a:t>=3.316+-3.07</a:t>
            </a:r>
          </a:p>
          <a:p>
            <a:r>
              <a:rPr lang="en-US" dirty="0">
                <a:solidFill>
                  <a:srgbClr val="0070C0"/>
                </a:solidFill>
              </a:rPr>
              <a:t>=(.24, 6.4)</a:t>
            </a:r>
          </a:p>
        </p:txBody>
      </p:sp>
    </p:spTree>
    <p:extLst>
      <p:ext uri="{BB962C8B-B14F-4D97-AF65-F5344CB8AC3E}">
        <p14:creationId xmlns:p14="http://schemas.microsoft.com/office/powerpoint/2010/main" val="385044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12192000" cy="1143000"/>
          </a:xfrm>
        </p:spPr>
        <p:txBody>
          <a:bodyPr>
            <a:noAutofit/>
          </a:bodyPr>
          <a:lstStyle/>
          <a:p>
            <a:r>
              <a:rPr lang="en-US" sz="2400" dirty="0"/>
              <a:t>Question 1: That is, by how much can we expect the science score to increase or decrease with respect to SES = 3 (make SES = 3 the reference level). </a:t>
            </a: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1" y="1752600"/>
            <a:ext cx="6391021" cy="4514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0305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5AA2-52AF-2341-A314-3B9CEA08E914}"/>
              </a:ext>
            </a:extLst>
          </p:cNvPr>
          <p:cNvSpPr>
            <a:spLocks noGrp="1"/>
          </p:cNvSpPr>
          <p:nvPr>
            <p:ph type="title"/>
          </p:nvPr>
        </p:nvSpPr>
        <p:spPr/>
        <p:txBody>
          <a:bodyPr/>
          <a:lstStyle/>
          <a:p>
            <a:r>
              <a:rPr lang="en-US" dirty="0"/>
              <a:t>R Solution: Changing the Reference Level</a:t>
            </a:r>
          </a:p>
        </p:txBody>
      </p:sp>
      <p:pic>
        <p:nvPicPr>
          <p:cNvPr id="4" name="Picture 3">
            <a:extLst>
              <a:ext uri="{FF2B5EF4-FFF2-40B4-BE49-F238E27FC236}">
                <a16:creationId xmlns:a16="http://schemas.microsoft.com/office/drawing/2014/main" id="{A6A6BC25-C74E-D14D-A851-9A0BE7FAABD5}"/>
              </a:ext>
            </a:extLst>
          </p:cNvPr>
          <p:cNvPicPr>
            <a:picLocks noChangeAspect="1"/>
          </p:cNvPicPr>
          <p:nvPr/>
        </p:nvPicPr>
        <p:blipFill>
          <a:blip r:embed="rId2"/>
          <a:stretch>
            <a:fillRect/>
          </a:stretch>
        </p:blipFill>
        <p:spPr>
          <a:xfrm>
            <a:off x="76200" y="2209800"/>
            <a:ext cx="4033838" cy="3352800"/>
          </a:xfrm>
          <a:prstGeom prst="rect">
            <a:avLst/>
          </a:prstGeom>
        </p:spPr>
      </p:pic>
      <p:pic>
        <p:nvPicPr>
          <p:cNvPr id="3" name="Picture 2">
            <a:extLst>
              <a:ext uri="{FF2B5EF4-FFF2-40B4-BE49-F238E27FC236}">
                <a16:creationId xmlns:a16="http://schemas.microsoft.com/office/drawing/2014/main" id="{E0A0461A-EBF3-0FE0-0192-852D911F3449}"/>
              </a:ext>
            </a:extLst>
          </p:cNvPr>
          <p:cNvPicPr>
            <a:picLocks noChangeAspect="1"/>
          </p:cNvPicPr>
          <p:nvPr/>
        </p:nvPicPr>
        <p:blipFill>
          <a:blip r:embed="rId3"/>
          <a:stretch>
            <a:fillRect/>
          </a:stretch>
        </p:blipFill>
        <p:spPr>
          <a:xfrm>
            <a:off x="8032831" y="2209800"/>
            <a:ext cx="4159169" cy="3352800"/>
          </a:xfrm>
          <a:prstGeom prst="rect">
            <a:avLst/>
          </a:prstGeom>
        </p:spPr>
      </p:pic>
      <p:pic>
        <p:nvPicPr>
          <p:cNvPr id="7" name="Picture 6">
            <a:extLst>
              <a:ext uri="{FF2B5EF4-FFF2-40B4-BE49-F238E27FC236}">
                <a16:creationId xmlns:a16="http://schemas.microsoft.com/office/drawing/2014/main" id="{C2D43730-3EDB-EE5F-AEA2-AA2E4B465E7C}"/>
              </a:ext>
            </a:extLst>
          </p:cNvPr>
          <p:cNvPicPr>
            <a:picLocks noChangeAspect="1"/>
          </p:cNvPicPr>
          <p:nvPr/>
        </p:nvPicPr>
        <p:blipFill>
          <a:blip r:embed="rId4"/>
          <a:stretch>
            <a:fillRect/>
          </a:stretch>
        </p:blipFill>
        <p:spPr>
          <a:xfrm>
            <a:off x="3786298" y="2209800"/>
            <a:ext cx="4214702" cy="3352800"/>
          </a:xfrm>
          <a:prstGeom prst="rect">
            <a:avLst/>
          </a:prstGeom>
        </p:spPr>
      </p:pic>
      <p:sp>
        <p:nvSpPr>
          <p:cNvPr id="8" name="TextBox 7">
            <a:extLst>
              <a:ext uri="{FF2B5EF4-FFF2-40B4-BE49-F238E27FC236}">
                <a16:creationId xmlns:a16="http://schemas.microsoft.com/office/drawing/2014/main" id="{2E191F77-76D3-58DF-E78B-02533A4C1351}"/>
              </a:ext>
            </a:extLst>
          </p:cNvPr>
          <p:cNvSpPr txBox="1"/>
          <p:nvPr/>
        </p:nvSpPr>
        <p:spPr>
          <a:xfrm>
            <a:off x="914400" y="1752600"/>
            <a:ext cx="1752600" cy="369332"/>
          </a:xfrm>
          <a:prstGeom prst="rect">
            <a:avLst/>
          </a:prstGeom>
          <a:noFill/>
        </p:spPr>
        <p:txBody>
          <a:bodyPr wrap="square" rtlCol="0">
            <a:spAutoFit/>
          </a:bodyPr>
          <a:lstStyle/>
          <a:p>
            <a:pPr algn="ctr"/>
            <a:r>
              <a:rPr lang="en-US" dirty="0"/>
              <a:t>Ref = 1</a:t>
            </a:r>
          </a:p>
        </p:txBody>
      </p:sp>
      <p:sp>
        <p:nvSpPr>
          <p:cNvPr id="15" name="TextBox 14">
            <a:extLst>
              <a:ext uri="{FF2B5EF4-FFF2-40B4-BE49-F238E27FC236}">
                <a16:creationId xmlns:a16="http://schemas.microsoft.com/office/drawing/2014/main" id="{D537AB50-CEA3-38D5-E1D5-C239E505B87F}"/>
              </a:ext>
            </a:extLst>
          </p:cNvPr>
          <p:cNvSpPr txBox="1"/>
          <p:nvPr/>
        </p:nvSpPr>
        <p:spPr>
          <a:xfrm>
            <a:off x="5045115" y="1752600"/>
            <a:ext cx="1752600" cy="369332"/>
          </a:xfrm>
          <a:prstGeom prst="rect">
            <a:avLst/>
          </a:prstGeom>
          <a:noFill/>
        </p:spPr>
        <p:txBody>
          <a:bodyPr wrap="square" rtlCol="0">
            <a:spAutoFit/>
          </a:bodyPr>
          <a:lstStyle/>
          <a:p>
            <a:pPr algn="ctr"/>
            <a:r>
              <a:rPr lang="en-US" dirty="0"/>
              <a:t>Ref = 2</a:t>
            </a:r>
          </a:p>
        </p:txBody>
      </p:sp>
      <p:sp>
        <p:nvSpPr>
          <p:cNvPr id="16" name="TextBox 15">
            <a:extLst>
              <a:ext uri="{FF2B5EF4-FFF2-40B4-BE49-F238E27FC236}">
                <a16:creationId xmlns:a16="http://schemas.microsoft.com/office/drawing/2014/main" id="{9F661BC9-CD7C-64BD-DCD5-8FF0391F649E}"/>
              </a:ext>
            </a:extLst>
          </p:cNvPr>
          <p:cNvSpPr txBox="1"/>
          <p:nvPr/>
        </p:nvSpPr>
        <p:spPr>
          <a:xfrm>
            <a:off x="8915400" y="1752600"/>
            <a:ext cx="1752600" cy="369332"/>
          </a:xfrm>
          <a:prstGeom prst="rect">
            <a:avLst/>
          </a:prstGeom>
          <a:noFill/>
        </p:spPr>
        <p:txBody>
          <a:bodyPr wrap="square" rtlCol="0">
            <a:spAutoFit/>
          </a:bodyPr>
          <a:lstStyle/>
          <a:p>
            <a:pPr algn="ctr"/>
            <a:r>
              <a:rPr lang="en-US" dirty="0"/>
              <a:t>Ref = 3</a:t>
            </a:r>
          </a:p>
        </p:txBody>
      </p:sp>
    </p:spTree>
    <p:extLst>
      <p:ext uri="{BB962C8B-B14F-4D97-AF65-F5344CB8AC3E}">
        <p14:creationId xmlns:p14="http://schemas.microsoft.com/office/powerpoint/2010/main" val="223089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ACD4-7B1B-4931-97E5-9F8B3139BD32}"/>
              </a:ext>
            </a:extLst>
          </p:cNvPr>
          <p:cNvSpPr>
            <a:spLocks noGrp="1"/>
          </p:cNvSpPr>
          <p:nvPr>
            <p:ph type="title"/>
          </p:nvPr>
        </p:nvSpPr>
        <p:spPr>
          <a:xfrm>
            <a:off x="609600" y="2514600"/>
            <a:ext cx="10972800" cy="1143000"/>
          </a:xfrm>
        </p:spPr>
        <p:txBody>
          <a:bodyPr/>
          <a:lstStyle/>
          <a:p>
            <a:r>
              <a:rPr lang="en-US" dirty="0"/>
              <a:t>End Question 1</a:t>
            </a:r>
          </a:p>
        </p:txBody>
      </p:sp>
    </p:spTree>
    <p:extLst>
      <p:ext uri="{BB962C8B-B14F-4D97-AF65-F5344CB8AC3E}">
        <p14:creationId xmlns:p14="http://schemas.microsoft.com/office/powerpoint/2010/main" val="1653647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ACD4-7B1B-4931-97E5-9F8B3139BD32}"/>
              </a:ext>
            </a:extLst>
          </p:cNvPr>
          <p:cNvSpPr>
            <a:spLocks noGrp="1"/>
          </p:cNvSpPr>
          <p:nvPr>
            <p:ph type="title"/>
          </p:nvPr>
        </p:nvSpPr>
        <p:spPr>
          <a:xfrm>
            <a:off x="609600" y="2514600"/>
            <a:ext cx="10972800" cy="1143000"/>
          </a:xfrm>
        </p:spPr>
        <p:txBody>
          <a:bodyPr/>
          <a:lstStyle/>
          <a:p>
            <a:r>
              <a:rPr lang="en-US" dirty="0"/>
              <a:t>Question 2</a:t>
            </a:r>
          </a:p>
        </p:txBody>
      </p:sp>
    </p:spTree>
    <p:extLst>
      <p:ext uri="{BB962C8B-B14F-4D97-AF65-F5344CB8AC3E}">
        <p14:creationId xmlns:p14="http://schemas.microsoft.com/office/powerpoint/2010/main" val="3316782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21888"/>
            <a:ext cx="8229600" cy="715962"/>
          </a:xfrm>
        </p:spPr>
        <p:txBody>
          <a:bodyPr>
            <a:normAutofit fontScale="90000"/>
          </a:bodyPr>
          <a:lstStyle/>
          <a:p>
            <a:r>
              <a:rPr lang="en-US" dirty="0"/>
              <a:t>HSB2 Example</a:t>
            </a:r>
          </a:p>
        </p:txBody>
      </p:sp>
      <p:sp>
        <p:nvSpPr>
          <p:cNvPr id="3" name="Content Placeholder 2"/>
          <p:cNvSpPr>
            <a:spLocks noGrp="1"/>
          </p:cNvSpPr>
          <p:nvPr>
            <p:ph idx="1"/>
          </p:nvPr>
        </p:nvSpPr>
        <p:spPr>
          <a:xfrm>
            <a:off x="228600" y="1493837"/>
            <a:ext cx="11734800" cy="4906963"/>
          </a:xfrm>
        </p:spPr>
        <p:txBody>
          <a:bodyPr>
            <a:normAutofit fontScale="85000" lnSpcReduction="10000"/>
          </a:bodyPr>
          <a:lstStyle/>
          <a:p>
            <a:pPr marL="514350" indent="-514350">
              <a:buAutoNum type="arabicParenR"/>
            </a:pPr>
            <a:r>
              <a:rPr lang="en-US" dirty="0">
                <a:solidFill>
                  <a:schemeClr val="accent4"/>
                </a:solidFill>
              </a:rPr>
              <a:t>We would like to create a model with a categorical variable for socioeconomic status (SES) in order to test if there is a difference in mean science score for changes between SES = 3 to SES = 1 and SES = 3 to SES =2, taking the math score into account. (Assume math is associated with the science score in the same way for each SES. ) Can we quantify these amounts? That is, by how much can we expect the science score to increase or decrease with respect to SES = 3 (make SES = 3 the reference level).  </a:t>
            </a:r>
            <a:r>
              <a:rPr lang="en-US" b="1" i="1" dirty="0">
                <a:solidFill>
                  <a:schemeClr val="accent4"/>
                </a:solidFill>
              </a:rPr>
              <a:t>Be sure and write out the model statement and check assumptions!</a:t>
            </a:r>
          </a:p>
          <a:p>
            <a:pPr marL="514350" indent="-514350">
              <a:buAutoNum type="arabicParenR"/>
            </a:pPr>
            <a:r>
              <a:rPr lang="en-US" b="1" i="1" dirty="0"/>
              <a:t>Now fit a model with flexible slopes and check the assumption above.  Is there reason / evidence to believe that the slopes are different between any two SES levels?</a:t>
            </a:r>
          </a:p>
          <a:p>
            <a:pPr marL="0" indent="0">
              <a:buNone/>
            </a:pPr>
            <a:endParaRPr lang="en-US" u="sng" dirty="0"/>
          </a:p>
        </p:txBody>
      </p:sp>
    </p:spTree>
    <p:extLst>
      <p:ext uri="{BB962C8B-B14F-4D97-AF65-F5344CB8AC3E}">
        <p14:creationId xmlns:p14="http://schemas.microsoft.com/office/powerpoint/2010/main" val="15670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0F94-83F1-9D4C-9B85-844B5349AD41}"/>
              </a:ext>
            </a:extLst>
          </p:cNvPr>
          <p:cNvSpPr>
            <a:spLocks noGrp="1"/>
          </p:cNvSpPr>
          <p:nvPr>
            <p:ph type="title"/>
          </p:nvPr>
        </p:nvSpPr>
        <p:spPr/>
        <p:txBody>
          <a:bodyPr/>
          <a:lstStyle/>
          <a:p>
            <a:r>
              <a:rPr lang="en-US" dirty="0"/>
              <a:t>Comparing Slopes Between SES Levels</a:t>
            </a:r>
          </a:p>
        </p:txBody>
      </p:sp>
      <p:pic>
        <p:nvPicPr>
          <p:cNvPr id="4" name="Picture 3">
            <a:extLst>
              <a:ext uri="{FF2B5EF4-FFF2-40B4-BE49-F238E27FC236}">
                <a16:creationId xmlns:a16="http://schemas.microsoft.com/office/drawing/2014/main" id="{D7B38BA5-A595-2E4F-96CD-8EF5E70BE88C}"/>
              </a:ext>
            </a:extLst>
          </p:cNvPr>
          <p:cNvPicPr>
            <a:picLocks noChangeAspect="1"/>
          </p:cNvPicPr>
          <p:nvPr/>
        </p:nvPicPr>
        <p:blipFill>
          <a:blip r:embed="rId2"/>
          <a:stretch>
            <a:fillRect/>
          </a:stretch>
        </p:blipFill>
        <p:spPr>
          <a:xfrm>
            <a:off x="116730" y="4679098"/>
            <a:ext cx="3188744" cy="1950302"/>
          </a:xfrm>
          <a:prstGeom prst="rect">
            <a:avLst/>
          </a:prstGeom>
        </p:spPr>
      </p:pic>
      <p:pic>
        <p:nvPicPr>
          <p:cNvPr id="5" name="Picture 4">
            <a:extLst>
              <a:ext uri="{FF2B5EF4-FFF2-40B4-BE49-F238E27FC236}">
                <a16:creationId xmlns:a16="http://schemas.microsoft.com/office/drawing/2014/main" id="{6BA21F58-9FAE-E542-A9FB-994D41CECD6F}"/>
              </a:ext>
            </a:extLst>
          </p:cNvPr>
          <p:cNvPicPr>
            <a:picLocks noChangeAspect="1"/>
          </p:cNvPicPr>
          <p:nvPr/>
        </p:nvPicPr>
        <p:blipFill>
          <a:blip r:embed="rId3"/>
          <a:stretch>
            <a:fillRect/>
          </a:stretch>
        </p:blipFill>
        <p:spPr>
          <a:xfrm>
            <a:off x="245327" y="2278797"/>
            <a:ext cx="2931550" cy="2209801"/>
          </a:xfrm>
          <a:prstGeom prst="rect">
            <a:avLst/>
          </a:prstGeom>
        </p:spPr>
      </p:pic>
      <p:sp>
        <p:nvSpPr>
          <p:cNvPr id="6" name="Rectangle 5">
            <a:extLst>
              <a:ext uri="{FF2B5EF4-FFF2-40B4-BE49-F238E27FC236}">
                <a16:creationId xmlns:a16="http://schemas.microsoft.com/office/drawing/2014/main" id="{B9DA71E4-D2B4-3244-8005-634761F54F72}"/>
              </a:ext>
            </a:extLst>
          </p:cNvPr>
          <p:cNvSpPr/>
          <p:nvPr/>
        </p:nvSpPr>
        <p:spPr>
          <a:xfrm>
            <a:off x="271938" y="1447800"/>
            <a:ext cx="4191000" cy="830997"/>
          </a:xfrm>
          <a:prstGeom prst="rect">
            <a:avLst/>
          </a:prstGeom>
        </p:spPr>
        <p:txBody>
          <a:bodyPr wrap="square">
            <a:spAutoFit/>
          </a:bodyPr>
          <a:lstStyle/>
          <a:p>
            <a:r>
              <a:rPr lang="en-US" sz="1200" dirty="0"/>
              <a:t>proc </a:t>
            </a:r>
            <a:r>
              <a:rPr lang="en-US" sz="1200" dirty="0" err="1"/>
              <a:t>glm</a:t>
            </a:r>
            <a:r>
              <a:rPr lang="en-US" sz="1200" dirty="0"/>
              <a:t> data = HSB2;</a:t>
            </a:r>
          </a:p>
          <a:p>
            <a:r>
              <a:rPr lang="en-US" sz="1200" dirty="0"/>
              <a:t>class SES;</a:t>
            </a:r>
          </a:p>
          <a:p>
            <a:r>
              <a:rPr lang="en-US" sz="1200" dirty="0"/>
              <a:t>model science = math | SES / solution;</a:t>
            </a:r>
          </a:p>
          <a:p>
            <a:r>
              <a:rPr lang="en-US" sz="1200" dirty="0"/>
              <a:t>run;</a:t>
            </a:r>
          </a:p>
        </p:txBody>
      </p:sp>
      <p:sp>
        <p:nvSpPr>
          <p:cNvPr id="7" name="TextBox 6">
            <a:extLst>
              <a:ext uri="{FF2B5EF4-FFF2-40B4-BE49-F238E27FC236}">
                <a16:creationId xmlns:a16="http://schemas.microsoft.com/office/drawing/2014/main" id="{7510302F-3614-EC4C-951D-2FEAFDCE79ED}"/>
              </a:ext>
            </a:extLst>
          </p:cNvPr>
          <p:cNvSpPr txBox="1"/>
          <p:nvPr/>
        </p:nvSpPr>
        <p:spPr>
          <a:xfrm>
            <a:off x="7467600" y="2783532"/>
            <a:ext cx="4326673" cy="1200329"/>
          </a:xfrm>
          <a:prstGeom prst="rect">
            <a:avLst/>
          </a:prstGeom>
          <a:noFill/>
        </p:spPr>
        <p:txBody>
          <a:bodyPr wrap="square" rtlCol="0">
            <a:spAutoFit/>
          </a:bodyPr>
          <a:lstStyle/>
          <a:p>
            <a:r>
              <a:rPr lang="en-US" dirty="0"/>
              <a:t>There is not enough evidence to suggest that the relationship between science and math is different between any of the SES levels.  </a:t>
            </a:r>
          </a:p>
        </p:txBody>
      </p:sp>
      <p:pic>
        <p:nvPicPr>
          <p:cNvPr id="8" name="Picture 7">
            <a:extLst>
              <a:ext uri="{FF2B5EF4-FFF2-40B4-BE49-F238E27FC236}">
                <a16:creationId xmlns:a16="http://schemas.microsoft.com/office/drawing/2014/main" id="{04029F01-04F7-0E40-B257-7B735384E60B}"/>
              </a:ext>
            </a:extLst>
          </p:cNvPr>
          <p:cNvPicPr>
            <a:picLocks noChangeAspect="1"/>
          </p:cNvPicPr>
          <p:nvPr/>
        </p:nvPicPr>
        <p:blipFill>
          <a:blip r:embed="rId4"/>
          <a:stretch>
            <a:fillRect/>
          </a:stretch>
        </p:blipFill>
        <p:spPr>
          <a:xfrm>
            <a:off x="3886200" y="4698329"/>
            <a:ext cx="3188744" cy="1931071"/>
          </a:xfrm>
          <a:prstGeom prst="rect">
            <a:avLst/>
          </a:prstGeom>
        </p:spPr>
      </p:pic>
      <p:pic>
        <p:nvPicPr>
          <p:cNvPr id="9" name="Picture 8">
            <a:extLst>
              <a:ext uri="{FF2B5EF4-FFF2-40B4-BE49-F238E27FC236}">
                <a16:creationId xmlns:a16="http://schemas.microsoft.com/office/drawing/2014/main" id="{23164E13-9648-2C49-9CD5-BA191583E685}"/>
              </a:ext>
            </a:extLst>
          </p:cNvPr>
          <p:cNvPicPr>
            <a:picLocks noChangeAspect="1"/>
          </p:cNvPicPr>
          <p:nvPr/>
        </p:nvPicPr>
        <p:blipFill>
          <a:blip r:embed="rId5"/>
          <a:stretch>
            <a:fillRect/>
          </a:stretch>
        </p:blipFill>
        <p:spPr>
          <a:xfrm>
            <a:off x="3915680" y="2290362"/>
            <a:ext cx="3129783" cy="2372655"/>
          </a:xfrm>
          <a:prstGeom prst="rect">
            <a:avLst/>
          </a:prstGeom>
        </p:spPr>
      </p:pic>
      <p:sp>
        <p:nvSpPr>
          <p:cNvPr id="11" name="Rectangle 10">
            <a:extLst>
              <a:ext uri="{FF2B5EF4-FFF2-40B4-BE49-F238E27FC236}">
                <a16:creationId xmlns:a16="http://schemas.microsoft.com/office/drawing/2014/main" id="{057543C2-CE64-A441-96E9-96551EF85D26}"/>
              </a:ext>
            </a:extLst>
          </p:cNvPr>
          <p:cNvSpPr/>
          <p:nvPr/>
        </p:nvSpPr>
        <p:spPr>
          <a:xfrm>
            <a:off x="3911963" y="1415482"/>
            <a:ext cx="3122349" cy="830997"/>
          </a:xfrm>
          <a:prstGeom prst="rect">
            <a:avLst/>
          </a:prstGeom>
        </p:spPr>
        <p:txBody>
          <a:bodyPr wrap="square">
            <a:spAutoFit/>
          </a:bodyPr>
          <a:lstStyle/>
          <a:p>
            <a:r>
              <a:rPr lang="en-US" sz="1200" dirty="0"/>
              <a:t>proc </a:t>
            </a:r>
            <a:r>
              <a:rPr lang="en-US" sz="1200" dirty="0" err="1"/>
              <a:t>glm</a:t>
            </a:r>
            <a:r>
              <a:rPr lang="en-US" sz="1200" dirty="0"/>
              <a:t> data = HSB2;</a:t>
            </a:r>
          </a:p>
          <a:p>
            <a:r>
              <a:rPr lang="en-US" sz="1200" dirty="0"/>
              <a:t>class SES (ref = "1");</a:t>
            </a:r>
          </a:p>
          <a:p>
            <a:r>
              <a:rPr lang="en-US" sz="1200" dirty="0"/>
              <a:t>model science = math | SES / solution;</a:t>
            </a:r>
          </a:p>
          <a:p>
            <a:r>
              <a:rPr lang="en-US" sz="1200" dirty="0"/>
              <a:t>run;</a:t>
            </a:r>
          </a:p>
        </p:txBody>
      </p:sp>
    </p:spTree>
    <p:extLst>
      <p:ext uri="{BB962C8B-B14F-4D97-AF65-F5344CB8AC3E}">
        <p14:creationId xmlns:p14="http://schemas.microsoft.com/office/powerpoint/2010/main" val="2512639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5AA2-52AF-2341-A314-3B9CEA08E914}"/>
              </a:ext>
            </a:extLst>
          </p:cNvPr>
          <p:cNvSpPr>
            <a:spLocks noGrp="1"/>
          </p:cNvSpPr>
          <p:nvPr>
            <p:ph type="title"/>
          </p:nvPr>
        </p:nvSpPr>
        <p:spPr>
          <a:xfrm>
            <a:off x="0" y="228600"/>
            <a:ext cx="12192000" cy="1143000"/>
          </a:xfrm>
        </p:spPr>
        <p:txBody>
          <a:bodyPr/>
          <a:lstStyle/>
          <a:p>
            <a:r>
              <a:rPr lang="en-US" sz="3600" dirty="0"/>
              <a:t>R Solution: Testing for Significant Interaction </a:t>
            </a:r>
            <a:br>
              <a:rPr lang="en-US" sz="3600" dirty="0"/>
            </a:br>
            <a:r>
              <a:rPr lang="en-US" sz="3600" dirty="0"/>
              <a:t>(Different Slopes)</a:t>
            </a:r>
          </a:p>
        </p:txBody>
      </p:sp>
      <p:pic>
        <p:nvPicPr>
          <p:cNvPr id="4" name="Picture 3">
            <a:extLst>
              <a:ext uri="{FF2B5EF4-FFF2-40B4-BE49-F238E27FC236}">
                <a16:creationId xmlns:a16="http://schemas.microsoft.com/office/drawing/2014/main" id="{A6A6BC25-C74E-D14D-A851-9A0BE7FAABD5}"/>
              </a:ext>
            </a:extLst>
          </p:cNvPr>
          <p:cNvPicPr>
            <a:picLocks noChangeAspect="1"/>
          </p:cNvPicPr>
          <p:nvPr/>
        </p:nvPicPr>
        <p:blipFill>
          <a:blip r:embed="rId2"/>
          <a:stretch>
            <a:fillRect/>
          </a:stretch>
        </p:blipFill>
        <p:spPr>
          <a:xfrm>
            <a:off x="304800" y="1524000"/>
            <a:ext cx="4033838" cy="3352800"/>
          </a:xfrm>
          <a:prstGeom prst="rect">
            <a:avLst/>
          </a:prstGeom>
        </p:spPr>
      </p:pic>
      <p:pic>
        <p:nvPicPr>
          <p:cNvPr id="5" name="Picture 4">
            <a:extLst>
              <a:ext uri="{FF2B5EF4-FFF2-40B4-BE49-F238E27FC236}">
                <a16:creationId xmlns:a16="http://schemas.microsoft.com/office/drawing/2014/main" id="{A9E23FB2-E230-7040-8494-AE236BFC641C}"/>
              </a:ext>
            </a:extLst>
          </p:cNvPr>
          <p:cNvPicPr>
            <a:picLocks noChangeAspect="1"/>
          </p:cNvPicPr>
          <p:nvPr/>
        </p:nvPicPr>
        <p:blipFill>
          <a:blip r:embed="rId3"/>
          <a:stretch>
            <a:fillRect/>
          </a:stretch>
        </p:blipFill>
        <p:spPr>
          <a:xfrm>
            <a:off x="4252226" y="1524000"/>
            <a:ext cx="3687548" cy="3352800"/>
          </a:xfrm>
          <a:prstGeom prst="rect">
            <a:avLst/>
          </a:prstGeom>
        </p:spPr>
      </p:pic>
      <p:pic>
        <p:nvPicPr>
          <p:cNvPr id="6" name="Picture 5">
            <a:extLst>
              <a:ext uri="{FF2B5EF4-FFF2-40B4-BE49-F238E27FC236}">
                <a16:creationId xmlns:a16="http://schemas.microsoft.com/office/drawing/2014/main" id="{2165AAD0-01C4-4745-8C04-11B263DFFE13}"/>
              </a:ext>
            </a:extLst>
          </p:cNvPr>
          <p:cNvPicPr>
            <a:picLocks noChangeAspect="1"/>
          </p:cNvPicPr>
          <p:nvPr/>
        </p:nvPicPr>
        <p:blipFill>
          <a:blip r:embed="rId4"/>
          <a:stretch>
            <a:fillRect/>
          </a:stretch>
        </p:blipFill>
        <p:spPr>
          <a:xfrm>
            <a:off x="7927707" y="1524000"/>
            <a:ext cx="4264293" cy="3352800"/>
          </a:xfrm>
          <a:prstGeom prst="rect">
            <a:avLst/>
          </a:prstGeom>
        </p:spPr>
      </p:pic>
      <p:pic>
        <p:nvPicPr>
          <p:cNvPr id="9" name="Picture 8">
            <a:extLst>
              <a:ext uri="{FF2B5EF4-FFF2-40B4-BE49-F238E27FC236}">
                <a16:creationId xmlns:a16="http://schemas.microsoft.com/office/drawing/2014/main" id="{BC79F965-E126-7146-83DA-6A69FE991D0B}"/>
              </a:ext>
            </a:extLst>
          </p:cNvPr>
          <p:cNvPicPr>
            <a:picLocks noChangeAspect="1"/>
          </p:cNvPicPr>
          <p:nvPr/>
        </p:nvPicPr>
        <p:blipFill>
          <a:blip r:embed="rId5"/>
          <a:stretch>
            <a:fillRect/>
          </a:stretch>
        </p:blipFill>
        <p:spPr>
          <a:xfrm>
            <a:off x="304800" y="4913243"/>
            <a:ext cx="1798729" cy="1613452"/>
          </a:xfrm>
          <a:prstGeom prst="rect">
            <a:avLst/>
          </a:prstGeom>
        </p:spPr>
      </p:pic>
      <p:pic>
        <p:nvPicPr>
          <p:cNvPr id="10" name="Picture 9">
            <a:extLst>
              <a:ext uri="{FF2B5EF4-FFF2-40B4-BE49-F238E27FC236}">
                <a16:creationId xmlns:a16="http://schemas.microsoft.com/office/drawing/2014/main" id="{3DCAF56D-14CE-7744-B76C-9997F2937BE1}"/>
              </a:ext>
            </a:extLst>
          </p:cNvPr>
          <p:cNvPicPr>
            <a:picLocks noChangeAspect="1"/>
          </p:cNvPicPr>
          <p:nvPr/>
        </p:nvPicPr>
        <p:blipFill>
          <a:blip r:embed="rId6"/>
          <a:stretch>
            <a:fillRect/>
          </a:stretch>
        </p:blipFill>
        <p:spPr>
          <a:xfrm>
            <a:off x="2286000" y="4913243"/>
            <a:ext cx="1798729" cy="1613452"/>
          </a:xfrm>
          <a:prstGeom prst="rect">
            <a:avLst/>
          </a:prstGeom>
        </p:spPr>
      </p:pic>
      <p:pic>
        <p:nvPicPr>
          <p:cNvPr id="11" name="Picture 10">
            <a:extLst>
              <a:ext uri="{FF2B5EF4-FFF2-40B4-BE49-F238E27FC236}">
                <a16:creationId xmlns:a16="http://schemas.microsoft.com/office/drawing/2014/main" id="{2F807D7F-152E-F047-A84A-8BA4A880747A}"/>
              </a:ext>
            </a:extLst>
          </p:cNvPr>
          <p:cNvPicPr>
            <a:picLocks noChangeAspect="1"/>
          </p:cNvPicPr>
          <p:nvPr/>
        </p:nvPicPr>
        <p:blipFill>
          <a:blip r:embed="rId7"/>
          <a:stretch>
            <a:fillRect/>
          </a:stretch>
        </p:blipFill>
        <p:spPr>
          <a:xfrm>
            <a:off x="4191000" y="4913242"/>
            <a:ext cx="1798729" cy="1613453"/>
          </a:xfrm>
          <a:prstGeom prst="rect">
            <a:avLst/>
          </a:prstGeom>
        </p:spPr>
      </p:pic>
      <p:pic>
        <p:nvPicPr>
          <p:cNvPr id="12" name="Picture 11">
            <a:extLst>
              <a:ext uri="{FF2B5EF4-FFF2-40B4-BE49-F238E27FC236}">
                <a16:creationId xmlns:a16="http://schemas.microsoft.com/office/drawing/2014/main" id="{B724B696-6929-F34A-9690-0E844B8BA9BD}"/>
              </a:ext>
            </a:extLst>
          </p:cNvPr>
          <p:cNvPicPr>
            <a:picLocks noChangeAspect="1"/>
          </p:cNvPicPr>
          <p:nvPr/>
        </p:nvPicPr>
        <p:blipFill>
          <a:blip r:embed="rId8"/>
          <a:stretch>
            <a:fillRect/>
          </a:stretch>
        </p:blipFill>
        <p:spPr>
          <a:xfrm>
            <a:off x="6056501" y="4913242"/>
            <a:ext cx="1798730" cy="1613453"/>
          </a:xfrm>
          <a:prstGeom prst="rect">
            <a:avLst/>
          </a:prstGeom>
        </p:spPr>
      </p:pic>
      <p:pic>
        <p:nvPicPr>
          <p:cNvPr id="13" name="Picture 12">
            <a:extLst>
              <a:ext uri="{FF2B5EF4-FFF2-40B4-BE49-F238E27FC236}">
                <a16:creationId xmlns:a16="http://schemas.microsoft.com/office/drawing/2014/main" id="{17A1C274-C0A7-8248-95B9-B8B64A1337C0}"/>
              </a:ext>
            </a:extLst>
          </p:cNvPr>
          <p:cNvPicPr>
            <a:picLocks noChangeAspect="1"/>
          </p:cNvPicPr>
          <p:nvPr/>
        </p:nvPicPr>
        <p:blipFill>
          <a:blip r:embed="rId7"/>
          <a:stretch>
            <a:fillRect/>
          </a:stretch>
        </p:blipFill>
        <p:spPr>
          <a:xfrm>
            <a:off x="7905438" y="4913242"/>
            <a:ext cx="1798730" cy="1613453"/>
          </a:xfrm>
          <a:prstGeom prst="rect">
            <a:avLst/>
          </a:prstGeom>
        </p:spPr>
      </p:pic>
      <p:pic>
        <p:nvPicPr>
          <p:cNvPr id="14" name="Picture 13">
            <a:extLst>
              <a:ext uri="{FF2B5EF4-FFF2-40B4-BE49-F238E27FC236}">
                <a16:creationId xmlns:a16="http://schemas.microsoft.com/office/drawing/2014/main" id="{07D5149C-F3E4-D14A-9005-408F744DC281}"/>
              </a:ext>
            </a:extLst>
          </p:cNvPr>
          <p:cNvPicPr>
            <a:picLocks noChangeAspect="1"/>
          </p:cNvPicPr>
          <p:nvPr/>
        </p:nvPicPr>
        <p:blipFill>
          <a:blip r:embed="rId8"/>
          <a:stretch>
            <a:fillRect/>
          </a:stretch>
        </p:blipFill>
        <p:spPr>
          <a:xfrm>
            <a:off x="9730114" y="4896677"/>
            <a:ext cx="1798729" cy="1613452"/>
          </a:xfrm>
          <a:prstGeom prst="rect">
            <a:avLst/>
          </a:prstGeom>
        </p:spPr>
      </p:pic>
    </p:spTree>
    <p:extLst>
      <p:ext uri="{BB962C8B-B14F-4D97-AF65-F5344CB8AC3E}">
        <p14:creationId xmlns:p14="http://schemas.microsoft.com/office/powerpoint/2010/main" val="20266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ACD4-7B1B-4931-97E5-9F8B3139BD32}"/>
              </a:ext>
            </a:extLst>
          </p:cNvPr>
          <p:cNvSpPr>
            <a:spLocks noGrp="1"/>
          </p:cNvSpPr>
          <p:nvPr>
            <p:ph type="title"/>
          </p:nvPr>
        </p:nvSpPr>
        <p:spPr>
          <a:xfrm>
            <a:off x="609600" y="2514600"/>
            <a:ext cx="10972800" cy="1143000"/>
          </a:xfrm>
        </p:spPr>
        <p:txBody>
          <a:bodyPr/>
          <a:lstStyle/>
          <a:p>
            <a:r>
              <a:rPr lang="en-US" dirty="0"/>
              <a:t>End Question 2</a:t>
            </a:r>
          </a:p>
        </p:txBody>
      </p:sp>
    </p:spTree>
    <p:extLst>
      <p:ext uri="{BB962C8B-B14F-4D97-AF65-F5344CB8AC3E}">
        <p14:creationId xmlns:p14="http://schemas.microsoft.com/office/powerpoint/2010/main" val="35283297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DCCC-5125-DB5F-DD5C-835A3420669B}"/>
              </a:ext>
            </a:extLst>
          </p:cNvPr>
          <p:cNvSpPr>
            <a:spLocks noGrp="1"/>
          </p:cNvSpPr>
          <p:nvPr>
            <p:ph type="title"/>
          </p:nvPr>
        </p:nvSpPr>
        <p:spPr/>
        <p:txBody>
          <a:bodyPr/>
          <a:lstStyle/>
          <a:p>
            <a:endParaRPr lang="en-US"/>
          </a:p>
        </p:txBody>
      </p:sp>
      <p:pic>
        <p:nvPicPr>
          <p:cNvPr id="3" name="Picture 2">
            <a:extLst>
              <a:ext uri="{FF2B5EF4-FFF2-40B4-BE49-F238E27FC236}">
                <a16:creationId xmlns:a16="http://schemas.microsoft.com/office/drawing/2014/main" id="{5E9FFABB-FA7B-309D-21DD-303335957539}"/>
              </a:ext>
            </a:extLst>
          </p:cNvPr>
          <p:cNvPicPr>
            <a:picLocks noChangeAspect="1"/>
          </p:cNvPicPr>
          <p:nvPr/>
        </p:nvPicPr>
        <p:blipFill>
          <a:blip r:embed="rId2"/>
          <a:stretch>
            <a:fillRect/>
          </a:stretch>
        </p:blipFill>
        <p:spPr>
          <a:xfrm>
            <a:off x="4114800" y="2286000"/>
            <a:ext cx="7772400" cy="3278221"/>
          </a:xfrm>
          <a:prstGeom prst="rect">
            <a:avLst/>
          </a:prstGeom>
        </p:spPr>
      </p:pic>
      <p:pic>
        <p:nvPicPr>
          <p:cNvPr id="4" name="Picture 3">
            <a:extLst>
              <a:ext uri="{FF2B5EF4-FFF2-40B4-BE49-F238E27FC236}">
                <a16:creationId xmlns:a16="http://schemas.microsoft.com/office/drawing/2014/main" id="{57CBD511-43E1-6C68-D572-86B8A7A5D9F1}"/>
              </a:ext>
            </a:extLst>
          </p:cNvPr>
          <p:cNvPicPr>
            <a:picLocks noChangeAspect="1"/>
          </p:cNvPicPr>
          <p:nvPr/>
        </p:nvPicPr>
        <p:blipFill>
          <a:blip r:embed="rId3"/>
          <a:stretch>
            <a:fillRect/>
          </a:stretch>
        </p:blipFill>
        <p:spPr>
          <a:xfrm>
            <a:off x="304800" y="2057400"/>
            <a:ext cx="3733800" cy="3595169"/>
          </a:xfrm>
          <a:prstGeom prst="rect">
            <a:avLst/>
          </a:prstGeom>
        </p:spPr>
      </p:pic>
      <p:sp>
        <p:nvSpPr>
          <p:cNvPr id="5" name="TextBox 4">
            <a:extLst>
              <a:ext uri="{FF2B5EF4-FFF2-40B4-BE49-F238E27FC236}">
                <a16:creationId xmlns:a16="http://schemas.microsoft.com/office/drawing/2014/main" id="{9DFD7746-E1EF-C02C-FBD2-D56D894F7EE0}"/>
              </a:ext>
            </a:extLst>
          </p:cNvPr>
          <p:cNvSpPr txBox="1"/>
          <p:nvPr/>
        </p:nvSpPr>
        <p:spPr>
          <a:xfrm>
            <a:off x="838200" y="2667000"/>
            <a:ext cx="762000" cy="261610"/>
          </a:xfrm>
          <a:prstGeom prst="rect">
            <a:avLst/>
          </a:prstGeom>
          <a:solidFill>
            <a:schemeClr val="bg1"/>
          </a:solidFill>
        </p:spPr>
        <p:txBody>
          <a:bodyPr wrap="square" rtlCol="0">
            <a:spAutoFit/>
          </a:bodyPr>
          <a:lstStyle/>
          <a:p>
            <a:r>
              <a:rPr lang="en-US" sz="1100" dirty="0" err="1"/>
              <a:t>logmass</a:t>
            </a:r>
            <a:endParaRPr lang="en-US" sz="1100" dirty="0"/>
          </a:p>
        </p:txBody>
      </p:sp>
      <p:sp>
        <p:nvSpPr>
          <p:cNvPr id="6" name="TextBox 5">
            <a:extLst>
              <a:ext uri="{FF2B5EF4-FFF2-40B4-BE49-F238E27FC236}">
                <a16:creationId xmlns:a16="http://schemas.microsoft.com/office/drawing/2014/main" id="{A4EB99A0-3E25-A68C-D5EC-1035E8EBCCFB}"/>
              </a:ext>
            </a:extLst>
          </p:cNvPr>
          <p:cNvSpPr txBox="1"/>
          <p:nvPr/>
        </p:nvSpPr>
        <p:spPr>
          <a:xfrm>
            <a:off x="1790700" y="3663500"/>
            <a:ext cx="762000" cy="261610"/>
          </a:xfrm>
          <a:prstGeom prst="rect">
            <a:avLst/>
          </a:prstGeom>
          <a:solidFill>
            <a:schemeClr val="bg1"/>
          </a:solidFill>
        </p:spPr>
        <p:txBody>
          <a:bodyPr wrap="square" rtlCol="0">
            <a:spAutoFit/>
          </a:bodyPr>
          <a:lstStyle/>
          <a:p>
            <a:r>
              <a:rPr lang="en-US" sz="1100" dirty="0" err="1"/>
              <a:t>logmetab</a:t>
            </a:r>
            <a:endParaRPr lang="en-US" sz="1100" dirty="0"/>
          </a:p>
        </p:txBody>
      </p:sp>
      <p:sp>
        <p:nvSpPr>
          <p:cNvPr id="7" name="TextBox 6">
            <a:extLst>
              <a:ext uri="{FF2B5EF4-FFF2-40B4-BE49-F238E27FC236}">
                <a16:creationId xmlns:a16="http://schemas.microsoft.com/office/drawing/2014/main" id="{FDAC3219-67E0-EA9B-7604-6B5A08818A25}"/>
              </a:ext>
            </a:extLst>
          </p:cNvPr>
          <p:cNvSpPr txBox="1"/>
          <p:nvPr/>
        </p:nvSpPr>
        <p:spPr>
          <a:xfrm>
            <a:off x="2819400" y="4724400"/>
            <a:ext cx="762000" cy="261610"/>
          </a:xfrm>
          <a:prstGeom prst="rect">
            <a:avLst/>
          </a:prstGeom>
          <a:solidFill>
            <a:schemeClr val="bg1"/>
          </a:solidFill>
        </p:spPr>
        <p:txBody>
          <a:bodyPr wrap="square" rtlCol="0">
            <a:spAutoFit/>
          </a:bodyPr>
          <a:lstStyle/>
          <a:p>
            <a:r>
              <a:rPr lang="en-US" sz="1100" dirty="0" err="1"/>
              <a:t>Loglife</a:t>
            </a:r>
            <a:endParaRPr lang="en-US" sz="1100" dirty="0"/>
          </a:p>
        </p:txBody>
      </p:sp>
    </p:spTree>
    <p:extLst>
      <p:ext uri="{BB962C8B-B14F-4D97-AF65-F5344CB8AC3E}">
        <p14:creationId xmlns:p14="http://schemas.microsoft.com/office/powerpoint/2010/main" val="23570126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EACD4-7B1B-4931-97E5-9F8B3139BD32}"/>
              </a:ext>
            </a:extLst>
          </p:cNvPr>
          <p:cNvSpPr>
            <a:spLocks noGrp="1"/>
          </p:cNvSpPr>
          <p:nvPr>
            <p:ph type="title"/>
          </p:nvPr>
        </p:nvSpPr>
        <p:spPr>
          <a:xfrm>
            <a:off x="609600" y="2514600"/>
            <a:ext cx="10972800" cy="1143000"/>
          </a:xfrm>
        </p:spPr>
        <p:txBody>
          <a:bodyPr/>
          <a:lstStyle/>
          <a:p>
            <a:r>
              <a:rPr lang="en-US" dirty="0"/>
              <a:t>Question 3</a:t>
            </a:r>
          </a:p>
        </p:txBody>
      </p:sp>
    </p:spTree>
    <p:extLst>
      <p:ext uri="{BB962C8B-B14F-4D97-AF65-F5344CB8AC3E}">
        <p14:creationId xmlns:p14="http://schemas.microsoft.com/office/powerpoint/2010/main" val="41643776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21888"/>
            <a:ext cx="8229600" cy="715962"/>
          </a:xfrm>
        </p:spPr>
        <p:txBody>
          <a:bodyPr>
            <a:normAutofit fontScale="90000"/>
          </a:bodyPr>
          <a:lstStyle/>
          <a:p>
            <a:r>
              <a:rPr lang="en-US" dirty="0"/>
              <a:t>HSB2 Example</a:t>
            </a:r>
          </a:p>
        </p:txBody>
      </p:sp>
      <p:sp>
        <p:nvSpPr>
          <p:cNvPr id="3" name="Content Placeholder 2"/>
          <p:cNvSpPr>
            <a:spLocks noGrp="1"/>
          </p:cNvSpPr>
          <p:nvPr>
            <p:ph idx="1"/>
          </p:nvPr>
        </p:nvSpPr>
        <p:spPr>
          <a:xfrm>
            <a:off x="228600" y="1493837"/>
            <a:ext cx="11734800" cy="4906963"/>
          </a:xfrm>
        </p:spPr>
        <p:txBody>
          <a:bodyPr>
            <a:normAutofit fontScale="77500" lnSpcReduction="20000"/>
          </a:bodyPr>
          <a:lstStyle/>
          <a:p>
            <a:pPr marL="514350" indent="-514350">
              <a:buAutoNum type="arabicParenR"/>
            </a:pPr>
            <a:r>
              <a:rPr lang="en-US" dirty="0">
                <a:solidFill>
                  <a:schemeClr val="accent4"/>
                </a:solidFill>
              </a:rPr>
              <a:t>We would like to create a model with a categorical variable for socioeconomic status (SES) in order to test if there is a difference in mean science score for changes between SES = 3 to SES = 1 and SES = 3 to SES =2, taking the math score into account. (Assume math is associated with the science score in the same way for each SES. ) Can we quantify these amounts? That is, by how much can we expect the science score to increase or decrease with respect to SES = 3 (make SES = 3 the reference level).  </a:t>
            </a:r>
            <a:r>
              <a:rPr lang="en-US" b="1" i="1" dirty="0">
                <a:solidFill>
                  <a:schemeClr val="accent4"/>
                </a:solidFill>
              </a:rPr>
              <a:t>Be sure and write out the model statement and check assumptions!</a:t>
            </a:r>
          </a:p>
          <a:p>
            <a:pPr marL="514350" indent="-514350">
              <a:buAutoNum type="arabicParenR"/>
            </a:pPr>
            <a:r>
              <a:rPr lang="en-US" b="1" i="1" dirty="0">
                <a:solidFill>
                  <a:schemeClr val="accent4"/>
                </a:solidFill>
              </a:rPr>
              <a:t>Now fit a model with flexible slopes and check the assumption above.  Is there reason / evidence to believe that the slopes are different between any two SES levels?</a:t>
            </a:r>
          </a:p>
          <a:p>
            <a:pPr marL="514350" indent="-514350">
              <a:buFont typeface="Arial" panose="020B0604020202020204" pitchFamily="34" charset="0"/>
              <a:buAutoNum type="arabicParenR"/>
            </a:pPr>
            <a:r>
              <a:rPr lang="en-US" dirty="0"/>
              <a:t>Finally, we want to know if and how much the math score is related to the science score </a:t>
            </a:r>
            <a:r>
              <a:rPr lang="en-US" u="sng" dirty="0"/>
              <a:t>after controlling for the reading score.</a:t>
            </a:r>
            <a:r>
              <a:rPr lang="en-US" dirty="0"/>
              <a:t> </a:t>
            </a:r>
            <a:r>
              <a:rPr lang="en-US" b="1" i="1" dirty="0"/>
              <a:t>Be sure and write out the model statement and check assumptions!</a:t>
            </a:r>
          </a:p>
          <a:p>
            <a:pPr marL="514350" indent="-514350">
              <a:buAutoNum type="arabicParenR"/>
            </a:pPr>
            <a:endParaRPr lang="en-US" u="sng" dirty="0"/>
          </a:p>
        </p:txBody>
      </p:sp>
    </p:spTree>
    <p:extLst>
      <p:ext uri="{BB962C8B-B14F-4D97-AF65-F5344CB8AC3E}">
        <p14:creationId xmlns:p14="http://schemas.microsoft.com/office/powerpoint/2010/main" val="1809375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3421"/>
            <a:ext cx="12192000" cy="639762"/>
          </a:xfrm>
        </p:spPr>
        <p:txBody>
          <a:bodyPr>
            <a:normAutofit fontScale="90000"/>
          </a:bodyPr>
          <a:lstStyle/>
          <a:p>
            <a:r>
              <a:rPr lang="en-US" dirty="0"/>
              <a:t>Question 3: Influential Points and Assumptions!!!</a:t>
            </a:r>
          </a:p>
        </p:txBody>
      </p:sp>
      <p:sp>
        <p:nvSpPr>
          <p:cNvPr id="4" name="TextBox 3"/>
          <p:cNvSpPr txBox="1"/>
          <p:nvPr/>
        </p:nvSpPr>
        <p:spPr>
          <a:xfrm>
            <a:off x="8549268" y="1607426"/>
            <a:ext cx="3505200" cy="4801314"/>
          </a:xfrm>
          <a:prstGeom prst="rect">
            <a:avLst/>
          </a:prstGeom>
          <a:noFill/>
        </p:spPr>
        <p:txBody>
          <a:bodyPr wrap="square" rtlCol="0">
            <a:spAutoFit/>
          </a:bodyPr>
          <a:lstStyle/>
          <a:p>
            <a:r>
              <a:rPr lang="en-US" dirty="0"/>
              <a:t>There does appear to be one potential influential point.  We should take a closer look at this observation.</a:t>
            </a:r>
          </a:p>
          <a:p>
            <a:endParaRPr lang="en-US" dirty="0"/>
          </a:p>
          <a:p>
            <a:r>
              <a:rPr lang="en-US" dirty="0"/>
              <a:t>Judging from the scatter plot, q-q plot and histogram of the residuals, there is no evidence that the residuals do not follow a normal distribution with constant variance.</a:t>
            </a:r>
          </a:p>
          <a:p>
            <a:endParaRPr lang="en-US" dirty="0"/>
          </a:p>
          <a:p>
            <a:r>
              <a:rPr lang="en-US" dirty="0"/>
              <a:t>We assume here that the observations are independent although we do this with caution as they are known to be clustered by school.  </a:t>
            </a:r>
          </a:p>
        </p:txBody>
      </p:sp>
      <mc:AlternateContent xmlns:mc="http://schemas.openxmlformats.org/markup-compatibility/2006" xmlns:a14="http://schemas.microsoft.com/office/drawing/2010/main">
        <mc:Choice Requires="a14">
          <p:sp>
            <p:nvSpPr>
              <p:cNvPr id="7" name="TextBox 6"/>
              <p:cNvSpPr txBox="1"/>
              <p:nvPr/>
            </p:nvSpPr>
            <p:spPr>
              <a:xfrm>
                <a:off x="3200400" y="1307068"/>
                <a:ext cx="58464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Math</m:t>
                      </m:r>
                      <m:r>
                        <m:rPr>
                          <m:nor/>
                        </m:rPr>
                        <a:rPr lang="en-US" dirty="0"/>
                        <m:t>, </m:t>
                      </m:r>
                      <m:r>
                        <m:rPr>
                          <m:nor/>
                        </m:rPr>
                        <a:rPr lang="en-US" dirty="0"/>
                        <m:t>Read</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𝑀𝑎𝑡h</m:t>
                      </m:r>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2</m:t>
                          </m:r>
                        </m:sub>
                      </m:sSub>
                      <m:r>
                        <a:rPr lang="en-US" i="1" dirty="0">
                          <a:latin typeface="Cambria Math"/>
                          <a:ea typeface="Cambria Math"/>
                        </a:rPr>
                        <m:t>𝑅𝑒𝑎𝑑</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200400" y="1307068"/>
                <a:ext cx="5846472" cy="369332"/>
              </a:xfrm>
              <a:prstGeom prst="rect">
                <a:avLst/>
              </a:prstGeom>
              <a:blipFill>
                <a:blip r:embed="rId2"/>
                <a:stretch>
                  <a:fillRect b="-20000"/>
                </a:stretch>
              </a:blipFill>
            </p:spPr>
            <p:txBody>
              <a:bodyPr/>
              <a:lstStyle/>
              <a:p>
                <a:r>
                  <a:rPr lang="en-US">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8047" y="1800113"/>
            <a:ext cx="4471178" cy="44849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320064"/>
            <a:ext cx="3660833" cy="693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0507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2051"/>
                                        </p:tgtEl>
                                        <p:attrNameLst>
                                          <p:attrName>style.visibility</p:attrName>
                                        </p:attrNameLst>
                                      </p:cBhvr>
                                      <p:to>
                                        <p:strVal val="visible"/>
                                      </p:to>
                                    </p:set>
                                    <p:animEffect transition="in" filter="fade">
                                      <p:cBhvr>
                                        <p:cTn id="18"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8234"/>
            <a:ext cx="8229600" cy="1143000"/>
          </a:xfrm>
        </p:spPr>
        <p:txBody>
          <a:bodyPr/>
          <a:lstStyle/>
          <a:p>
            <a:r>
              <a:rPr lang="en-US" dirty="0"/>
              <a:t>Question 3:</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613667"/>
            <a:ext cx="3429000" cy="1114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3378225" y="3124200"/>
                <a:ext cx="58464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Math</m:t>
                      </m:r>
                      <m:r>
                        <m:rPr>
                          <m:nor/>
                        </m:rPr>
                        <a:rPr lang="en-US" dirty="0"/>
                        <m:t>, </m:t>
                      </m:r>
                      <m:r>
                        <m:rPr>
                          <m:nor/>
                        </m:rPr>
                        <a:rPr lang="en-US" dirty="0"/>
                        <m:t>Read</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𝑀𝑎𝑡h</m:t>
                      </m:r>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2</m:t>
                          </m:r>
                        </m:sub>
                      </m:sSub>
                      <m:r>
                        <a:rPr lang="en-US" i="1" dirty="0">
                          <a:latin typeface="Cambria Math"/>
                          <a:ea typeface="Cambria Math"/>
                        </a:rPr>
                        <m:t>𝑅𝑒𝑎𝑑</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3378225" y="3124200"/>
                <a:ext cx="5846472" cy="369332"/>
              </a:xfrm>
              <a:prstGeom prst="rect">
                <a:avLst/>
              </a:prstGeom>
              <a:blipFill>
                <a:blip r:embed="rId3"/>
                <a:stretch>
                  <a:fillRect b="-16667"/>
                </a:stretch>
              </a:blipFill>
            </p:spPr>
            <p:txBody>
              <a:bodyPr/>
              <a:lstStyle/>
              <a:p>
                <a:r>
                  <a:rPr lang="en-US">
                    <a:noFill/>
                  </a:rPr>
                  <a:t> </a:t>
                </a:r>
              </a:p>
            </p:txBody>
          </p:sp>
        </mc:Fallback>
      </mc:AlternateContent>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2475" y="1981200"/>
            <a:ext cx="3438525" cy="857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8" name="TextBox 7"/>
              <p:cNvSpPr txBox="1"/>
              <p:nvPr/>
            </p:nvSpPr>
            <p:spPr>
              <a:xfrm>
                <a:off x="3897087" y="1459468"/>
                <a:ext cx="41290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ea typeface="Cambria Math"/>
                            </a:rPr>
                          </m:ctrlPr>
                        </m:accPr>
                        <m:e>
                          <m:r>
                            <a:rPr lang="en-US" i="1">
                              <a:latin typeface="Cambria Math"/>
                              <a:ea typeface="Cambria Math"/>
                            </a:rPr>
                            <m:t>𝜇</m:t>
                          </m:r>
                        </m:e>
                      </m:acc>
                      <m:r>
                        <m:rPr>
                          <m:nor/>
                        </m:rPr>
                        <a:rPr lang="en-US" dirty="0"/>
                        <m:t>{</m:t>
                      </m:r>
                      <m:r>
                        <m:rPr>
                          <m:nor/>
                        </m:rPr>
                        <a:rPr lang="en-US" dirty="0"/>
                        <m:t>Science</m:t>
                      </m:r>
                      <m:r>
                        <m:rPr>
                          <m:nor/>
                        </m:rPr>
                        <a:rPr lang="en-US" dirty="0"/>
                        <m:t> </m:t>
                      </m:r>
                      <m:r>
                        <m:rPr>
                          <m:nor/>
                        </m:rPr>
                        <a:rPr lang="en-US" dirty="0"/>
                        <m:t>Score</m:t>
                      </m:r>
                      <m:r>
                        <m:rPr>
                          <m:nor/>
                        </m:rPr>
                        <a:rPr lang="en-US" dirty="0"/>
                        <m:t>|</m:t>
                      </m:r>
                      <m:r>
                        <m:rPr>
                          <m:nor/>
                        </m:rPr>
                        <a:rPr lang="en-US" dirty="0"/>
                        <m:t>Math</m:t>
                      </m:r>
                      <m:r>
                        <m:rPr>
                          <m:nor/>
                        </m:rPr>
                        <a:rPr lang="en-US" dirty="0"/>
                        <m:t>} =</m:t>
                      </m:r>
                      <m:sSub>
                        <m:sSubPr>
                          <m:ctrlPr>
                            <a:rPr lang="en-US" i="1" dirty="0">
                              <a:latin typeface="Cambria Math" panose="02040503050406030204" pitchFamily="18" charset="0"/>
                            </a:rPr>
                          </m:ctrlPr>
                        </m:sSubPr>
                        <m:e>
                          <m:r>
                            <a:rPr lang="en-US" i="1" dirty="0">
                              <a:latin typeface="Cambria Math"/>
                            </a:rPr>
                            <m:t> </m:t>
                          </m:r>
                          <m:r>
                            <a:rPr lang="en-US" i="1" dirty="0">
                              <a:latin typeface="Cambria Math"/>
                              <a:ea typeface="Cambria Math"/>
                            </a:rPr>
                            <m:t>𝛽</m:t>
                          </m:r>
                        </m:e>
                        <m:sub>
                          <m:r>
                            <a:rPr lang="en-US" i="1" dirty="0">
                              <a:latin typeface="Cambria Math"/>
                            </a:rPr>
                            <m:t>0</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ea typeface="Cambria Math"/>
                            </a:rPr>
                            <m:t>𝛽</m:t>
                          </m:r>
                        </m:e>
                        <m:sub>
                          <m:r>
                            <a:rPr lang="en-US" i="1" dirty="0">
                              <a:latin typeface="Cambria Math"/>
                              <a:ea typeface="Cambria Math"/>
                            </a:rPr>
                            <m:t>1</m:t>
                          </m:r>
                        </m:sub>
                      </m:sSub>
                      <m:r>
                        <a:rPr lang="en-US" i="1" dirty="0">
                          <a:latin typeface="Cambria Math"/>
                          <a:ea typeface="Cambria Math"/>
                        </a:rPr>
                        <m:t>𝑀𝑎𝑡h</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3897087" y="1459468"/>
                <a:ext cx="4129079" cy="369332"/>
              </a:xfrm>
              <a:prstGeom prst="rect">
                <a:avLst/>
              </a:prstGeom>
              <a:blipFill>
                <a:blip r:embed="rId5"/>
                <a:stretch>
                  <a:fillRect b="-20000"/>
                </a:stretch>
              </a:blipFill>
            </p:spPr>
            <p:txBody>
              <a:bodyPr/>
              <a:lstStyle/>
              <a:p>
                <a:r>
                  <a:rPr lang="en-US">
                    <a:noFill/>
                  </a:rPr>
                  <a:t> </a:t>
                </a:r>
              </a:p>
            </p:txBody>
          </p:sp>
        </mc:Fallback>
      </mc:AlternateContent>
      <p:sp>
        <p:nvSpPr>
          <p:cNvPr id="4" name="TextBox 3"/>
          <p:cNvSpPr txBox="1"/>
          <p:nvPr/>
        </p:nvSpPr>
        <p:spPr>
          <a:xfrm>
            <a:off x="990600" y="4895671"/>
            <a:ext cx="10820400" cy="1200329"/>
          </a:xfrm>
          <a:prstGeom prst="rect">
            <a:avLst/>
          </a:prstGeom>
          <a:noFill/>
        </p:spPr>
        <p:txBody>
          <a:bodyPr wrap="square" rtlCol="0">
            <a:spAutoFit/>
          </a:bodyPr>
          <a:lstStyle/>
          <a:p>
            <a:r>
              <a:rPr lang="en-US" dirty="0"/>
              <a:t>There is overwhelming evidence to suggest that the math score is associated with the mean science score even after the reading score has been accounted for.  It is estimated, holding the reading score constant, a 1 point increase in the math score is associated with a .4 point increase in the mean science score. This is an observational study thus only associations can be made.  </a:t>
            </a:r>
          </a:p>
        </p:txBody>
      </p:sp>
    </p:spTree>
    <p:extLst>
      <p:ext uri="{BB962C8B-B14F-4D97-AF65-F5344CB8AC3E}">
        <p14:creationId xmlns:p14="http://schemas.microsoft.com/office/powerpoint/2010/main" val="3266405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10"/>
                                        </p:tgtEl>
                                        <p:attrNameLst>
                                          <p:attrName>style.visibility</p:attrName>
                                        </p:attrNameLst>
                                      </p:cBhvr>
                                      <p:to>
                                        <p:strVal val="visible"/>
                                      </p:to>
                                    </p:set>
                                    <p:animEffect transition="in" filter="fade">
                                      <p:cBhvr>
                                        <p:cTn id="12" dur="500"/>
                                        <p:tgtEl>
                                          <p:spTgt spid="174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E5CB-B188-714F-A73B-55196567D966}"/>
              </a:ext>
            </a:extLst>
          </p:cNvPr>
          <p:cNvSpPr>
            <a:spLocks noGrp="1"/>
          </p:cNvSpPr>
          <p:nvPr>
            <p:ph type="title"/>
          </p:nvPr>
        </p:nvSpPr>
        <p:spPr>
          <a:xfrm>
            <a:off x="609600" y="2590800"/>
            <a:ext cx="10972800" cy="1143000"/>
          </a:xfrm>
        </p:spPr>
        <p:txBody>
          <a:bodyPr/>
          <a:lstStyle/>
          <a:p>
            <a:r>
              <a:rPr lang="en-US" dirty="0"/>
              <a:t>End Question 3</a:t>
            </a:r>
          </a:p>
        </p:txBody>
      </p:sp>
    </p:spTree>
    <p:extLst>
      <p:ext uri="{BB962C8B-B14F-4D97-AF65-F5344CB8AC3E}">
        <p14:creationId xmlns:p14="http://schemas.microsoft.com/office/powerpoint/2010/main" val="42629758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4: Takeaways!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a:t>
            </a:r>
            <a:r>
              <a:rPr lang="en-US" sz="2000" i="1"/>
              <a:t>the async </a:t>
            </a:r>
            <a:r>
              <a:rPr lang="en-US" sz="2000" i="1" dirty="0"/>
              <a:t>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27514183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5: 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19600399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C948-A4A3-5946-B047-076635D43652}"/>
              </a:ext>
            </a:extLst>
          </p:cNvPr>
          <p:cNvSpPr>
            <a:spLocks noGrp="1"/>
          </p:cNvSpPr>
          <p:nvPr>
            <p:ph type="title"/>
          </p:nvPr>
        </p:nvSpPr>
        <p:spPr>
          <a:xfrm>
            <a:off x="1695450" y="2819400"/>
            <a:ext cx="8801100" cy="1450757"/>
          </a:xfrm>
        </p:spPr>
        <p:txBody>
          <a:bodyPr/>
          <a:lstStyle/>
          <a:p>
            <a:pPr algn="ctr"/>
            <a:r>
              <a:rPr lang="en-US" dirty="0"/>
              <a:t>End For Live Session Assignment </a:t>
            </a:r>
            <a:r>
              <a:rPr lang="en-US"/>
              <a:t>Unit 12!</a:t>
            </a:r>
            <a:endParaRPr lang="en-US" dirty="0"/>
          </a:p>
        </p:txBody>
      </p:sp>
      <p:sp>
        <p:nvSpPr>
          <p:cNvPr id="4" name="Slide Number Placeholder 3">
            <a:extLst>
              <a:ext uri="{FF2B5EF4-FFF2-40B4-BE49-F238E27FC236}">
                <a16:creationId xmlns:a16="http://schemas.microsoft.com/office/drawing/2014/main" id="{C89C5DF8-9726-8A40-B8E3-D578C82B8DDF}"/>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60</a:t>
            </a:fld>
            <a:endParaRPr lang="en-US" altLang="en-US" dirty="0"/>
          </a:p>
        </p:txBody>
      </p:sp>
    </p:spTree>
    <p:extLst>
      <p:ext uri="{BB962C8B-B14F-4D97-AF65-F5344CB8AC3E}">
        <p14:creationId xmlns:p14="http://schemas.microsoft.com/office/powerpoint/2010/main" val="29353905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30291</TotalTime>
  <Words>3502</Words>
  <Application>Microsoft Macintosh PowerPoint</Application>
  <PresentationFormat>Widescreen</PresentationFormat>
  <Paragraphs>256</Paragraphs>
  <Slides>60</Slides>
  <Notes>7</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Cambria Math</vt:lpstr>
      <vt:lpstr>Wingdings</vt:lpstr>
      <vt:lpstr>1_Body Slides</vt:lpstr>
      <vt:lpstr>For Live Session Assignment (FLS) </vt:lpstr>
      <vt:lpstr>Quick Quiz Questions</vt:lpstr>
      <vt:lpstr>Quick Quiz Questions</vt:lpstr>
      <vt:lpstr>Quick Quiz Questions</vt:lpstr>
      <vt:lpstr>Quick Quiz Questions</vt:lpstr>
      <vt:lpstr>End Quick Quiz Questions</vt:lpstr>
      <vt:lpstr>Question from FLS</vt:lpstr>
      <vt:lpstr>Question from FLS</vt:lpstr>
      <vt:lpstr>Question 1</vt:lpstr>
      <vt:lpstr>A Comparison of Y-Intercepts</vt:lpstr>
      <vt:lpstr>A Comparison of Y-Intercepts  (Type Doesn’t Matter)</vt:lpstr>
      <vt:lpstr>A Comparison of Y-Intercepts</vt:lpstr>
      <vt:lpstr>R GGPLOT2</vt:lpstr>
      <vt:lpstr>R GGPLOT2</vt:lpstr>
      <vt:lpstr>But back to the question! A Comparison of Y-Intercepts</vt:lpstr>
      <vt:lpstr>Hypothesis Test of the Categorical Variable</vt:lpstr>
      <vt:lpstr>Hypothesis Test of the Categorical Variable</vt:lpstr>
      <vt:lpstr>Hypothesis Test of the Categorical Variable</vt:lpstr>
      <vt:lpstr>Categorical Variables in MLR … Different Intercepts!</vt:lpstr>
      <vt:lpstr>Categorical Variables in MLR … Different Slopes! Think INTERACTION</vt:lpstr>
      <vt:lpstr>A Comparison of Slopes!</vt:lpstr>
      <vt:lpstr>A Comparison of Slopes!</vt:lpstr>
      <vt:lpstr>What do we think about these from before? Different Slopes?</vt:lpstr>
      <vt:lpstr>What do we think about these from before? Different Slopes?</vt:lpstr>
      <vt:lpstr>What do we think about these from before? Different Slopes?</vt:lpstr>
      <vt:lpstr>What do we think about these from before? Different Slopes?</vt:lpstr>
      <vt:lpstr>Meadowfoam: Intensity Only</vt:lpstr>
      <vt:lpstr>Meadowfoam: Light Intensity and Time</vt:lpstr>
      <vt:lpstr>Meadowfoam: Light Intensity and Time</vt:lpstr>
      <vt:lpstr>Meadowfoam: Intensity and Timing</vt:lpstr>
      <vt:lpstr>Meadowfoam: Conclusion</vt:lpstr>
      <vt:lpstr>Example Where Interaction Matters</vt:lpstr>
      <vt:lpstr>Example Where Interaction Matters</vt:lpstr>
      <vt:lpstr>Charity and Perceived Importance: Fit the Model</vt:lpstr>
      <vt:lpstr>Check the Residuals</vt:lpstr>
      <vt:lpstr>Fit the Model</vt:lpstr>
      <vt:lpstr>Conclusion</vt:lpstr>
      <vt:lpstr>Question 1</vt:lpstr>
      <vt:lpstr>HSB2 Example</vt:lpstr>
      <vt:lpstr>HSB2 Example</vt:lpstr>
      <vt:lpstr>Influential Points and Assumptions!!!</vt:lpstr>
      <vt:lpstr>Question 1 </vt:lpstr>
      <vt:lpstr>Question 1 </vt:lpstr>
      <vt:lpstr>Question 1: That is, by how much can we expect the science score to increase or decrease with respect to SES = 3 (make SES = 3 the reference level). </vt:lpstr>
      <vt:lpstr>R Solution: Changing the Reference Level</vt:lpstr>
      <vt:lpstr>End Question 1</vt:lpstr>
      <vt:lpstr>Question 2</vt:lpstr>
      <vt:lpstr>HSB2 Example</vt:lpstr>
      <vt:lpstr>Comparing Slopes Between SES Levels</vt:lpstr>
      <vt:lpstr>R Solution: Testing for Significant Interaction  (Different Slopes)</vt:lpstr>
      <vt:lpstr>End Question 2</vt:lpstr>
      <vt:lpstr>PowerPoint Presentation</vt:lpstr>
      <vt:lpstr>Question 3</vt:lpstr>
      <vt:lpstr>HSB2 Example</vt:lpstr>
      <vt:lpstr>Question 3: Influential Points and Assumptions!!!</vt:lpstr>
      <vt:lpstr>Question 3:</vt:lpstr>
      <vt:lpstr>End Question 3</vt:lpstr>
      <vt:lpstr>Question 4: Takeaways!</vt:lpstr>
      <vt:lpstr>Question 5: Questions!</vt:lpstr>
      <vt:lpstr>End For Live Session Assignment Unit 12!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320</cp:revision>
  <cp:lastPrinted>2020-09-21T07:53:02Z</cp:lastPrinted>
  <dcterms:created xsi:type="dcterms:W3CDTF">2016-03-21T14:12:59Z</dcterms:created>
  <dcterms:modified xsi:type="dcterms:W3CDTF">2024-11-15T16:03:43Z</dcterms:modified>
  <cp:category/>
</cp:coreProperties>
</file>