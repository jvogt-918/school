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32"/>
  </p:notesMasterIdLst>
  <p:sldIdLst>
    <p:sldId id="270" r:id="rId2"/>
    <p:sldId id="436" r:id="rId3"/>
    <p:sldId id="437" r:id="rId4"/>
    <p:sldId id="259" r:id="rId5"/>
    <p:sldId id="424" r:id="rId6"/>
    <p:sldId id="425" r:id="rId7"/>
    <p:sldId id="260" r:id="rId8"/>
    <p:sldId id="332" r:id="rId9"/>
    <p:sldId id="433" r:id="rId10"/>
    <p:sldId id="434" r:id="rId11"/>
    <p:sldId id="314" r:id="rId12"/>
    <p:sldId id="420" r:id="rId13"/>
    <p:sldId id="422" r:id="rId14"/>
    <p:sldId id="423" r:id="rId15"/>
    <p:sldId id="435" r:id="rId16"/>
    <p:sldId id="426" r:id="rId17"/>
    <p:sldId id="427" r:id="rId18"/>
    <p:sldId id="428" r:id="rId19"/>
    <p:sldId id="429" r:id="rId20"/>
    <p:sldId id="432" r:id="rId21"/>
    <p:sldId id="430" r:id="rId22"/>
    <p:sldId id="431" r:id="rId23"/>
    <p:sldId id="421" r:id="rId24"/>
    <p:sldId id="418" r:id="rId25"/>
    <p:sldId id="264" r:id="rId26"/>
    <p:sldId id="363" r:id="rId27"/>
    <p:sldId id="419" r:id="rId28"/>
    <p:sldId id="334" r:id="rId29"/>
    <p:sldId id="336" r:id="rId30"/>
    <p:sldId id="413"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 id="2" name="Premnath Nair" initials="PN" lastIdx="1" clrIdx="1">
    <p:extLst>
      <p:ext uri="{19B8F6BF-5375-455C-9EA6-DF929625EA0E}">
        <p15:presenceInfo xmlns:p15="http://schemas.microsoft.com/office/powerpoint/2012/main" userId="12e1bb14d75d1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autoAdjust="0"/>
    <p:restoredTop sz="88571" autoAdjust="0"/>
  </p:normalViewPr>
  <p:slideViewPr>
    <p:cSldViewPr>
      <p:cViewPr varScale="1">
        <p:scale>
          <a:sx n="113" d="100"/>
          <a:sy n="113" d="100"/>
        </p:scale>
        <p:origin x="752" y="16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slide" Target="slides/slide9.xml"/><Relationship Id="rId1" Type="http://schemas.openxmlformats.org/officeDocument/2006/relationships/slide" Target="slides/slide8.xml"/><Relationship Id="rId4"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9-02T01:19:18.382" idx="1">
    <p:pos x="10" y="10"/>
    <p:text>In the equations in the middle check and if needed adjust spacing on both sides of equals sign</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11/16/24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6BD03C6-8072-4C6E-AC30-C9DD480A8214}" type="slidenum">
              <a:rPr lang="en-US" altLang="en-US" smtClean="0"/>
              <a:pPr>
                <a:defRPr/>
              </a:pPr>
              <a:t>8</a:t>
            </a:fld>
            <a:endParaRPr lang="en-US" altLang="en-US" dirty="0"/>
          </a:p>
        </p:txBody>
      </p:sp>
    </p:spTree>
    <p:extLst>
      <p:ext uri="{BB962C8B-B14F-4D97-AF65-F5344CB8AC3E}">
        <p14:creationId xmlns:p14="http://schemas.microsoft.com/office/powerpoint/2010/main" val="476933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6BD03C6-8072-4C6E-AC30-C9DD480A8214}" type="slidenum">
              <a:rPr lang="en-US" altLang="en-US" smtClean="0"/>
              <a:pPr>
                <a:defRPr/>
              </a:pPr>
              <a:t>9</a:t>
            </a:fld>
            <a:endParaRPr lang="en-US" altLang="en-US" dirty="0"/>
          </a:p>
        </p:txBody>
      </p:sp>
    </p:spTree>
    <p:extLst>
      <p:ext uri="{BB962C8B-B14F-4D97-AF65-F5344CB8AC3E}">
        <p14:creationId xmlns:p14="http://schemas.microsoft.com/office/powerpoint/2010/main" val="105813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13</a:t>
            </a:fld>
            <a:endParaRPr lang="en-US" dirty="0"/>
          </a:p>
        </p:txBody>
      </p:sp>
    </p:spTree>
    <p:extLst>
      <p:ext uri="{BB962C8B-B14F-4D97-AF65-F5344CB8AC3E}">
        <p14:creationId xmlns:p14="http://schemas.microsoft.com/office/powerpoint/2010/main" val="712269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20</a:t>
            </a:fld>
            <a:endParaRPr lang="en-US" dirty="0"/>
          </a:p>
        </p:txBody>
      </p:sp>
    </p:spTree>
    <p:extLst>
      <p:ext uri="{BB962C8B-B14F-4D97-AF65-F5344CB8AC3E}">
        <p14:creationId xmlns:p14="http://schemas.microsoft.com/office/powerpoint/2010/main" val="21058243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721.png"/><Relationship Id="rId7" Type="http://schemas.openxmlformats.org/officeDocument/2006/relationships/image" Target="../media/image7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1.png"/></Relationships>
</file>

<file path=ppt/slides/_rels/slide9.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1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60.png"/><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11.xml.rels><?xml version="1.0" encoding="UTF-8" standalone="yes"?>
<Relationships xmlns="http://schemas.openxmlformats.org/package/2006/relationships"><Relationship Id="rId2" Type="http://schemas.openxmlformats.org/officeDocument/2006/relationships/image" Target="../media/image8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tiff"/><Relationship Id="rId1" Type="http://schemas.openxmlformats.org/officeDocument/2006/relationships/slideLayout" Target="../slideLayouts/slideLayout2.xml"/><Relationship Id="rId4" Type="http://schemas.openxmlformats.org/officeDocument/2006/relationships/image" Target="../media/image12.tiff"/></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tiff"/></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tiff"/><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11</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59561-0186-EE86-EBB8-DA877391897C}"/>
              </a:ext>
            </a:extLst>
          </p:cNvPr>
          <p:cNvSpPr>
            <a:spLocks noGrp="1"/>
          </p:cNvSpPr>
          <p:nvPr>
            <p:ph type="title"/>
          </p:nvPr>
        </p:nvSpPr>
        <p:spPr>
          <a:xfrm>
            <a:off x="0" y="228600"/>
            <a:ext cx="12192000" cy="1143000"/>
          </a:xfrm>
        </p:spPr>
        <p:txBody>
          <a:bodyPr/>
          <a:lstStyle/>
          <a:p>
            <a:r>
              <a:rPr lang="en-US" sz="2800" b="1" dirty="0"/>
              <a:t>Break out! Right off the bat … read this from a client point of view…</a:t>
            </a:r>
          </a:p>
        </p:txBody>
      </p:sp>
      <p:sp>
        <p:nvSpPr>
          <p:cNvPr id="3" name="Content Placeholder 2">
            <a:extLst>
              <a:ext uri="{FF2B5EF4-FFF2-40B4-BE49-F238E27FC236}">
                <a16:creationId xmlns:a16="http://schemas.microsoft.com/office/drawing/2014/main" id="{16A0175B-9F70-2217-83ED-B0EFD3B454EE}"/>
              </a:ext>
            </a:extLst>
          </p:cNvPr>
          <p:cNvSpPr>
            <a:spLocks noGrp="1"/>
          </p:cNvSpPr>
          <p:nvPr>
            <p:ph idx="1"/>
          </p:nvPr>
        </p:nvSpPr>
        <p:spPr>
          <a:xfrm>
            <a:off x="228600" y="1600203"/>
            <a:ext cx="11811000" cy="761997"/>
          </a:xfrm>
        </p:spPr>
        <p:txBody>
          <a:bodyPr/>
          <a:lstStyle/>
          <a:p>
            <a:r>
              <a:rPr lang="en-US" sz="2400" dirty="0"/>
              <a:t>A company hired you to estimate the relationship between their profit and their advertising expenditures.  They give you a few years of the profit and advertising budget for that year with a plot of the data below along with the regression line.  Read the interpretation of the slope from the client point of view.  Is this correct?  What could be the possible take away from the client?</a:t>
            </a:r>
          </a:p>
        </p:txBody>
      </p:sp>
      <p:pic>
        <p:nvPicPr>
          <p:cNvPr id="4" name="Picture 3">
            <a:extLst>
              <a:ext uri="{FF2B5EF4-FFF2-40B4-BE49-F238E27FC236}">
                <a16:creationId xmlns:a16="http://schemas.microsoft.com/office/drawing/2014/main" id="{4162718A-4AE4-E507-4879-AFD40ECD71F5}"/>
              </a:ext>
            </a:extLst>
          </p:cNvPr>
          <p:cNvPicPr>
            <a:picLocks noChangeAspect="1"/>
          </p:cNvPicPr>
          <p:nvPr/>
        </p:nvPicPr>
        <p:blipFill>
          <a:blip r:embed="rId2"/>
          <a:srcRect t="22959"/>
          <a:stretch/>
        </p:blipFill>
        <p:spPr>
          <a:xfrm>
            <a:off x="304800" y="4310633"/>
            <a:ext cx="3276600" cy="2173408"/>
          </a:xfrm>
          <a:prstGeom prst="rect">
            <a:avLst/>
          </a:prstGeom>
        </p:spPr>
      </p:pic>
      <p:pic>
        <p:nvPicPr>
          <p:cNvPr id="5" name="Picture 4">
            <a:extLst>
              <a:ext uri="{FF2B5EF4-FFF2-40B4-BE49-F238E27FC236}">
                <a16:creationId xmlns:a16="http://schemas.microsoft.com/office/drawing/2014/main" id="{0A4595D5-6AFE-E24F-B08D-0ABFDB867D9D}"/>
              </a:ext>
            </a:extLst>
          </p:cNvPr>
          <p:cNvPicPr>
            <a:picLocks noChangeAspect="1"/>
          </p:cNvPicPr>
          <p:nvPr/>
        </p:nvPicPr>
        <p:blipFill>
          <a:blip r:embed="rId3"/>
          <a:stretch>
            <a:fillRect/>
          </a:stretch>
        </p:blipFill>
        <p:spPr>
          <a:xfrm>
            <a:off x="3872948" y="3482132"/>
            <a:ext cx="3124200" cy="2822742"/>
          </a:xfrm>
          <a:prstGeom prst="rect">
            <a:avLst/>
          </a:prstGeom>
        </p:spPr>
      </p:pic>
      <p:sp>
        <p:nvSpPr>
          <p:cNvPr id="7" name="TextBox 6">
            <a:extLst>
              <a:ext uri="{FF2B5EF4-FFF2-40B4-BE49-F238E27FC236}">
                <a16:creationId xmlns:a16="http://schemas.microsoft.com/office/drawing/2014/main" id="{34452C66-2C26-483A-FAE3-F3BAA5026E3E}"/>
              </a:ext>
            </a:extLst>
          </p:cNvPr>
          <p:cNvSpPr txBox="1"/>
          <p:nvPr/>
        </p:nvSpPr>
        <p:spPr>
          <a:xfrm>
            <a:off x="3886200" y="6304874"/>
            <a:ext cx="6324600" cy="246221"/>
          </a:xfrm>
          <a:prstGeom prst="rect">
            <a:avLst/>
          </a:prstGeom>
          <a:noFill/>
        </p:spPr>
        <p:txBody>
          <a:bodyPr wrap="square">
            <a:spAutoFit/>
          </a:bodyPr>
          <a:lstStyle/>
          <a:p>
            <a:r>
              <a:rPr lang="en-US" sz="1000" dirty="0"/>
              <a:t>plot(</a:t>
            </a:r>
            <a:r>
              <a:rPr lang="en-US" sz="1000" dirty="0" err="1"/>
              <a:t>Ad_Budget,Profit</a:t>
            </a:r>
            <a:r>
              <a:rPr lang="en-US" sz="1000" dirty="0"/>
              <a:t>, </a:t>
            </a:r>
            <a:r>
              <a:rPr lang="en-US" sz="1000" dirty="0" err="1"/>
              <a:t>pch</a:t>
            </a:r>
            <a:r>
              <a:rPr lang="en-US" sz="1000" dirty="0"/>
              <a:t> = 15, </a:t>
            </a:r>
            <a:r>
              <a:rPr lang="en-US" sz="1000" dirty="0" err="1"/>
              <a:t>ylab</a:t>
            </a:r>
            <a:r>
              <a:rPr lang="en-US" sz="1000" dirty="0"/>
              <a:t> = "Profit", </a:t>
            </a:r>
            <a:r>
              <a:rPr lang="en-US" sz="1000" dirty="0" err="1"/>
              <a:t>xlab</a:t>
            </a:r>
            <a:r>
              <a:rPr lang="en-US" sz="1000" dirty="0"/>
              <a:t> = "</a:t>
            </a:r>
            <a:r>
              <a:rPr lang="en-US" sz="1000" dirty="0" err="1"/>
              <a:t>Advertsing</a:t>
            </a:r>
            <a:r>
              <a:rPr lang="en-US" sz="1000" dirty="0"/>
              <a:t> Budget", main = "Profit v. Advertising")</a:t>
            </a:r>
          </a:p>
        </p:txBody>
      </p:sp>
      <p:sp>
        <p:nvSpPr>
          <p:cNvPr id="9" name="TextBox 8">
            <a:extLst>
              <a:ext uri="{FF2B5EF4-FFF2-40B4-BE49-F238E27FC236}">
                <a16:creationId xmlns:a16="http://schemas.microsoft.com/office/drawing/2014/main" id="{445C15DB-9403-22A6-8F4B-699ECC290C01}"/>
              </a:ext>
            </a:extLst>
          </p:cNvPr>
          <p:cNvSpPr txBox="1"/>
          <p:nvPr/>
        </p:nvSpPr>
        <p:spPr>
          <a:xfrm>
            <a:off x="228600" y="3573053"/>
            <a:ext cx="3124200" cy="707886"/>
          </a:xfrm>
          <a:prstGeom prst="rect">
            <a:avLst/>
          </a:prstGeom>
          <a:noFill/>
        </p:spPr>
        <p:txBody>
          <a:bodyPr wrap="square">
            <a:spAutoFit/>
          </a:bodyPr>
          <a:lstStyle/>
          <a:p>
            <a:r>
              <a:rPr lang="en-US" sz="1000" dirty="0" err="1"/>
              <a:t>Ad_Budget</a:t>
            </a:r>
            <a:r>
              <a:rPr lang="en-US" sz="1000" dirty="0"/>
              <a:t> = c(101,110,140, 140, 150, 175)</a:t>
            </a:r>
          </a:p>
          <a:p>
            <a:r>
              <a:rPr lang="en-US" sz="1000" dirty="0"/>
              <a:t>Profit = c(450, 500, 600, 620, 610, 700)</a:t>
            </a:r>
          </a:p>
          <a:p>
            <a:r>
              <a:rPr lang="en-US" sz="1000" dirty="0"/>
              <a:t>fit = </a:t>
            </a:r>
            <a:r>
              <a:rPr lang="en-US" sz="1000" dirty="0" err="1"/>
              <a:t>lm</a:t>
            </a:r>
            <a:r>
              <a:rPr lang="en-US" sz="1000" dirty="0"/>
              <a:t>(</a:t>
            </a:r>
            <a:r>
              <a:rPr lang="en-US" sz="1000" dirty="0" err="1"/>
              <a:t>Profit~Ad_Budget</a:t>
            </a:r>
            <a:r>
              <a:rPr lang="en-US" sz="1000" dirty="0"/>
              <a:t>)</a:t>
            </a:r>
          </a:p>
          <a:p>
            <a:r>
              <a:rPr lang="en-US" sz="1000" dirty="0"/>
              <a:t>summary(fit)</a:t>
            </a:r>
          </a:p>
        </p:txBody>
      </p:sp>
      <p:sp>
        <p:nvSpPr>
          <p:cNvPr id="10" name="TextBox 9">
            <a:extLst>
              <a:ext uri="{FF2B5EF4-FFF2-40B4-BE49-F238E27FC236}">
                <a16:creationId xmlns:a16="http://schemas.microsoft.com/office/drawing/2014/main" id="{0D68AB47-1389-7E56-18EB-1B96EC5258D2}"/>
              </a:ext>
            </a:extLst>
          </p:cNvPr>
          <p:cNvSpPr txBox="1"/>
          <p:nvPr/>
        </p:nvSpPr>
        <p:spPr>
          <a:xfrm>
            <a:off x="7517296" y="4047530"/>
            <a:ext cx="4038600" cy="923330"/>
          </a:xfrm>
          <a:prstGeom prst="rect">
            <a:avLst/>
          </a:prstGeom>
          <a:noFill/>
        </p:spPr>
        <p:txBody>
          <a:bodyPr wrap="square" rtlCol="0">
            <a:spAutoFit/>
          </a:bodyPr>
          <a:lstStyle/>
          <a:p>
            <a:r>
              <a:rPr lang="en-US" i="1" dirty="0"/>
              <a:t>For each $1000 increase in the advertising budget, the Profit will increase by $3,279.50.  </a:t>
            </a:r>
          </a:p>
        </p:txBody>
      </p:sp>
      <p:sp>
        <p:nvSpPr>
          <p:cNvPr id="11" name="Down Arrow 10">
            <a:extLst>
              <a:ext uri="{FF2B5EF4-FFF2-40B4-BE49-F238E27FC236}">
                <a16:creationId xmlns:a16="http://schemas.microsoft.com/office/drawing/2014/main" id="{5A351274-C354-79C5-A11D-9310C8DD43AC}"/>
              </a:ext>
            </a:extLst>
          </p:cNvPr>
          <p:cNvSpPr/>
          <p:nvPr/>
        </p:nvSpPr>
        <p:spPr>
          <a:xfrm>
            <a:off x="9448800" y="3124200"/>
            <a:ext cx="304800" cy="923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208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89CCE-747E-748D-F19B-D58C10EC6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4BDB0-9A01-E462-29CB-EF5840637B1E}"/>
              </a:ext>
            </a:extLst>
          </p:cNvPr>
          <p:cNvSpPr>
            <a:spLocks noGrp="1"/>
          </p:cNvSpPr>
          <p:nvPr>
            <p:ph type="title"/>
          </p:nvPr>
        </p:nvSpPr>
        <p:spPr>
          <a:xfrm>
            <a:off x="0" y="228600"/>
            <a:ext cx="12192000" cy="1143000"/>
          </a:xfrm>
        </p:spPr>
        <p:txBody>
          <a:bodyPr/>
          <a:lstStyle/>
          <a:p>
            <a:r>
              <a:rPr lang="en-US" sz="2800" b="1" dirty="0"/>
              <a:t>Break out! Right off the bat … read this from a client point of view…</a:t>
            </a:r>
          </a:p>
        </p:txBody>
      </p:sp>
      <p:sp>
        <p:nvSpPr>
          <p:cNvPr id="3" name="Content Placeholder 2">
            <a:extLst>
              <a:ext uri="{FF2B5EF4-FFF2-40B4-BE49-F238E27FC236}">
                <a16:creationId xmlns:a16="http://schemas.microsoft.com/office/drawing/2014/main" id="{0E153992-2FDE-8742-5F13-4B071193E8F6}"/>
              </a:ext>
            </a:extLst>
          </p:cNvPr>
          <p:cNvSpPr>
            <a:spLocks noGrp="1"/>
          </p:cNvSpPr>
          <p:nvPr>
            <p:ph idx="1"/>
          </p:nvPr>
        </p:nvSpPr>
        <p:spPr>
          <a:xfrm>
            <a:off x="228600" y="1600203"/>
            <a:ext cx="11811000" cy="761997"/>
          </a:xfrm>
        </p:spPr>
        <p:txBody>
          <a:bodyPr/>
          <a:lstStyle/>
          <a:p>
            <a:r>
              <a:rPr lang="en-US" sz="2400" dirty="0"/>
              <a:t>A company hired you to estimate the relationship between their profit and their advertising expenditures.  They give you a few years of the profit and advertising budget for that year with a plot of the data below along with the regression line.  Read the interpretation of the slope from the client point of view.  Is this correct?  What could be the possible take away from the client?</a:t>
            </a:r>
          </a:p>
        </p:txBody>
      </p:sp>
      <p:pic>
        <p:nvPicPr>
          <p:cNvPr id="4" name="Picture 3">
            <a:extLst>
              <a:ext uri="{FF2B5EF4-FFF2-40B4-BE49-F238E27FC236}">
                <a16:creationId xmlns:a16="http://schemas.microsoft.com/office/drawing/2014/main" id="{6BA4AB7A-F988-8343-70EE-40565DCB73EB}"/>
              </a:ext>
            </a:extLst>
          </p:cNvPr>
          <p:cNvPicPr>
            <a:picLocks noChangeAspect="1"/>
          </p:cNvPicPr>
          <p:nvPr/>
        </p:nvPicPr>
        <p:blipFill>
          <a:blip r:embed="rId2"/>
          <a:srcRect t="22959"/>
          <a:stretch/>
        </p:blipFill>
        <p:spPr>
          <a:xfrm>
            <a:off x="304800" y="4310633"/>
            <a:ext cx="3276600" cy="2173408"/>
          </a:xfrm>
          <a:prstGeom prst="rect">
            <a:avLst/>
          </a:prstGeom>
        </p:spPr>
      </p:pic>
      <p:pic>
        <p:nvPicPr>
          <p:cNvPr id="5" name="Picture 4">
            <a:extLst>
              <a:ext uri="{FF2B5EF4-FFF2-40B4-BE49-F238E27FC236}">
                <a16:creationId xmlns:a16="http://schemas.microsoft.com/office/drawing/2014/main" id="{D4BF48A9-49A9-6519-F22A-A21D46713C8D}"/>
              </a:ext>
            </a:extLst>
          </p:cNvPr>
          <p:cNvPicPr>
            <a:picLocks noChangeAspect="1"/>
          </p:cNvPicPr>
          <p:nvPr/>
        </p:nvPicPr>
        <p:blipFill>
          <a:blip r:embed="rId3"/>
          <a:stretch>
            <a:fillRect/>
          </a:stretch>
        </p:blipFill>
        <p:spPr>
          <a:xfrm>
            <a:off x="3872948" y="3482132"/>
            <a:ext cx="3124200" cy="2822742"/>
          </a:xfrm>
          <a:prstGeom prst="rect">
            <a:avLst/>
          </a:prstGeom>
        </p:spPr>
      </p:pic>
      <p:sp>
        <p:nvSpPr>
          <p:cNvPr id="7" name="TextBox 6">
            <a:extLst>
              <a:ext uri="{FF2B5EF4-FFF2-40B4-BE49-F238E27FC236}">
                <a16:creationId xmlns:a16="http://schemas.microsoft.com/office/drawing/2014/main" id="{73A124A7-0788-B629-8546-534184E68367}"/>
              </a:ext>
            </a:extLst>
          </p:cNvPr>
          <p:cNvSpPr txBox="1"/>
          <p:nvPr/>
        </p:nvSpPr>
        <p:spPr>
          <a:xfrm>
            <a:off x="3886200" y="6304874"/>
            <a:ext cx="6324600" cy="246221"/>
          </a:xfrm>
          <a:prstGeom prst="rect">
            <a:avLst/>
          </a:prstGeom>
          <a:noFill/>
        </p:spPr>
        <p:txBody>
          <a:bodyPr wrap="square">
            <a:spAutoFit/>
          </a:bodyPr>
          <a:lstStyle/>
          <a:p>
            <a:r>
              <a:rPr lang="en-US" sz="1000" dirty="0"/>
              <a:t>plot(</a:t>
            </a:r>
            <a:r>
              <a:rPr lang="en-US" sz="1000" dirty="0" err="1"/>
              <a:t>Ad_Budget,Profit</a:t>
            </a:r>
            <a:r>
              <a:rPr lang="en-US" sz="1000" dirty="0"/>
              <a:t>, </a:t>
            </a:r>
            <a:r>
              <a:rPr lang="en-US" sz="1000" dirty="0" err="1"/>
              <a:t>pch</a:t>
            </a:r>
            <a:r>
              <a:rPr lang="en-US" sz="1000" dirty="0"/>
              <a:t> = 15, </a:t>
            </a:r>
            <a:r>
              <a:rPr lang="en-US" sz="1000" dirty="0" err="1"/>
              <a:t>ylab</a:t>
            </a:r>
            <a:r>
              <a:rPr lang="en-US" sz="1000" dirty="0"/>
              <a:t> = "Profit", </a:t>
            </a:r>
            <a:r>
              <a:rPr lang="en-US" sz="1000" dirty="0" err="1"/>
              <a:t>xlab</a:t>
            </a:r>
            <a:r>
              <a:rPr lang="en-US" sz="1000" dirty="0"/>
              <a:t> = "</a:t>
            </a:r>
            <a:r>
              <a:rPr lang="en-US" sz="1000" dirty="0" err="1"/>
              <a:t>Advertsing</a:t>
            </a:r>
            <a:r>
              <a:rPr lang="en-US" sz="1000" dirty="0"/>
              <a:t> Budget", main = "Profit v. Advertising")</a:t>
            </a:r>
          </a:p>
        </p:txBody>
      </p:sp>
      <p:sp>
        <p:nvSpPr>
          <p:cNvPr id="9" name="TextBox 8">
            <a:extLst>
              <a:ext uri="{FF2B5EF4-FFF2-40B4-BE49-F238E27FC236}">
                <a16:creationId xmlns:a16="http://schemas.microsoft.com/office/drawing/2014/main" id="{C724DAA5-995C-B77F-66C0-E903C5AF03F5}"/>
              </a:ext>
            </a:extLst>
          </p:cNvPr>
          <p:cNvSpPr txBox="1"/>
          <p:nvPr/>
        </p:nvSpPr>
        <p:spPr>
          <a:xfrm>
            <a:off x="228600" y="3573053"/>
            <a:ext cx="3124200" cy="707886"/>
          </a:xfrm>
          <a:prstGeom prst="rect">
            <a:avLst/>
          </a:prstGeom>
          <a:noFill/>
        </p:spPr>
        <p:txBody>
          <a:bodyPr wrap="square">
            <a:spAutoFit/>
          </a:bodyPr>
          <a:lstStyle/>
          <a:p>
            <a:r>
              <a:rPr lang="en-US" sz="1000" dirty="0" err="1"/>
              <a:t>Ad_Budget</a:t>
            </a:r>
            <a:r>
              <a:rPr lang="en-US" sz="1000" dirty="0"/>
              <a:t> = c(101,110,140, 140, 150, 175)</a:t>
            </a:r>
          </a:p>
          <a:p>
            <a:r>
              <a:rPr lang="en-US" sz="1000" dirty="0"/>
              <a:t>Profit = c(450, 500, 600, 620, 610, 700)</a:t>
            </a:r>
          </a:p>
          <a:p>
            <a:r>
              <a:rPr lang="en-US" sz="1000" dirty="0"/>
              <a:t>fit = </a:t>
            </a:r>
            <a:r>
              <a:rPr lang="en-US" sz="1000" dirty="0" err="1"/>
              <a:t>lm</a:t>
            </a:r>
            <a:r>
              <a:rPr lang="en-US" sz="1000" dirty="0"/>
              <a:t>(</a:t>
            </a:r>
            <a:r>
              <a:rPr lang="en-US" sz="1000" dirty="0" err="1"/>
              <a:t>Profit~Ad_Budget</a:t>
            </a:r>
            <a:r>
              <a:rPr lang="en-US" sz="1000" dirty="0"/>
              <a:t>)</a:t>
            </a:r>
          </a:p>
          <a:p>
            <a:r>
              <a:rPr lang="en-US" sz="1000" dirty="0"/>
              <a:t>summary(fit)</a:t>
            </a:r>
          </a:p>
        </p:txBody>
      </p:sp>
      <p:sp>
        <p:nvSpPr>
          <p:cNvPr id="10" name="TextBox 9">
            <a:extLst>
              <a:ext uri="{FF2B5EF4-FFF2-40B4-BE49-F238E27FC236}">
                <a16:creationId xmlns:a16="http://schemas.microsoft.com/office/drawing/2014/main" id="{B978A8B8-CE75-BA0C-1D6E-9695F8788771}"/>
              </a:ext>
            </a:extLst>
          </p:cNvPr>
          <p:cNvSpPr txBox="1"/>
          <p:nvPr/>
        </p:nvSpPr>
        <p:spPr>
          <a:xfrm>
            <a:off x="7517296" y="4037729"/>
            <a:ext cx="4038600" cy="923330"/>
          </a:xfrm>
          <a:prstGeom prst="rect">
            <a:avLst/>
          </a:prstGeom>
          <a:noFill/>
        </p:spPr>
        <p:txBody>
          <a:bodyPr wrap="square" rtlCol="0">
            <a:spAutoFit/>
          </a:bodyPr>
          <a:lstStyle/>
          <a:p>
            <a:r>
              <a:rPr lang="en-US" i="1" strike="sngStrike" dirty="0"/>
              <a:t>For each $1000 increase in the advertising budget, the Profit will increase by $3,279.50.  </a:t>
            </a:r>
          </a:p>
        </p:txBody>
      </p:sp>
      <p:sp>
        <p:nvSpPr>
          <p:cNvPr id="11" name="Down Arrow 10">
            <a:extLst>
              <a:ext uri="{FF2B5EF4-FFF2-40B4-BE49-F238E27FC236}">
                <a16:creationId xmlns:a16="http://schemas.microsoft.com/office/drawing/2014/main" id="{69266100-87BD-AED6-0111-DC2B3F0D7C2C}"/>
              </a:ext>
            </a:extLst>
          </p:cNvPr>
          <p:cNvSpPr/>
          <p:nvPr/>
        </p:nvSpPr>
        <p:spPr>
          <a:xfrm>
            <a:off x="9448800" y="3124200"/>
            <a:ext cx="304800" cy="923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54DA074-26B9-1F63-E5A6-CB3B29B7BD0C}"/>
              </a:ext>
            </a:extLst>
          </p:cNvPr>
          <p:cNvSpPr txBox="1"/>
          <p:nvPr/>
        </p:nvSpPr>
        <p:spPr>
          <a:xfrm>
            <a:off x="7239000" y="4893503"/>
            <a:ext cx="4595191" cy="1200329"/>
          </a:xfrm>
          <a:prstGeom prst="rect">
            <a:avLst/>
          </a:prstGeom>
          <a:noFill/>
        </p:spPr>
        <p:txBody>
          <a:bodyPr wrap="square" rtlCol="0">
            <a:spAutoFit/>
          </a:bodyPr>
          <a:lstStyle/>
          <a:p>
            <a:r>
              <a:rPr lang="en-US" i="1" dirty="0"/>
              <a:t>The evidence suggests that each $1000 increase in the advertising budget is associated with a $3279.50 increase in the mean (or “predicted” or “expected”) Profit. </a:t>
            </a:r>
          </a:p>
        </p:txBody>
      </p:sp>
    </p:spTree>
    <p:extLst>
      <p:ext uri="{BB962C8B-B14F-4D97-AF65-F5344CB8AC3E}">
        <p14:creationId xmlns:p14="http://schemas.microsoft.com/office/powerpoint/2010/main" val="160099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CB44-D49E-8B46-A0E0-78F6306384A6}"/>
              </a:ext>
            </a:extLst>
          </p:cNvPr>
          <p:cNvSpPr>
            <a:spLocks noGrp="1"/>
          </p:cNvSpPr>
          <p:nvPr>
            <p:ph type="title"/>
          </p:nvPr>
        </p:nvSpPr>
        <p:spPr>
          <a:xfrm>
            <a:off x="838200" y="2680308"/>
            <a:ext cx="10515600" cy="1325563"/>
          </a:xfrm>
        </p:spPr>
        <p:txBody>
          <a:bodyPr/>
          <a:lstStyle/>
          <a:p>
            <a:pPr algn="ctr"/>
            <a:r>
              <a:rPr lang="en-US" dirty="0"/>
              <a:t>Quick Quiz Questions</a:t>
            </a:r>
          </a:p>
        </p:txBody>
      </p:sp>
    </p:spTree>
    <p:extLst>
      <p:ext uri="{BB962C8B-B14F-4D97-AF65-F5344CB8AC3E}">
        <p14:creationId xmlns:p14="http://schemas.microsoft.com/office/powerpoint/2010/main" val="968806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Part 1: Quick Quiz Questions</a:t>
            </a:r>
          </a:p>
        </p:txBody>
      </p:sp>
      <p:pic>
        <p:nvPicPr>
          <p:cNvPr id="4" name="Picture 3">
            <a:extLst>
              <a:ext uri="{FF2B5EF4-FFF2-40B4-BE49-F238E27FC236}">
                <a16:creationId xmlns:a16="http://schemas.microsoft.com/office/drawing/2014/main" id="{C8286A70-A498-7542-8688-EDCBA6439C27}"/>
              </a:ext>
            </a:extLst>
          </p:cNvPr>
          <p:cNvPicPr>
            <a:picLocks noChangeAspect="1"/>
          </p:cNvPicPr>
          <p:nvPr/>
        </p:nvPicPr>
        <p:blipFill rotWithShape="1">
          <a:blip r:embed="rId2"/>
          <a:srcRect r="17662"/>
          <a:stretch/>
        </p:blipFill>
        <p:spPr>
          <a:xfrm>
            <a:off x="6188888" y="2438400"/>
            <a:ext cx="5266320" cy="2492259"/>
          </a:xfrm>
          <a:prstGeom prst="rect">
            <a:avLst/>
          </a:prstGeom>
        </p:spPr>
      </p:pic>
      <p:pic>
        <p:nvPicPr>
          <p:cNvPr id="1026" name="Picture 2" descr="Solved In Galileo&amp;#39;s data on the motion of falling bodies | Chegg.com">
            <a:extLst>
              <a:ext uri="{FF2B5EF4-FFF2-40B4-BE49-F238E27FC236}">
                <a16:creationId xmlns:a16="http://schemas.microsoft.com/office/drawing/2014/main" id="{FC6CE7A4-E8B7-8642-834F-3154546EBC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730" y="1371600"/>
            <a:ext cx="5418967" cy="54102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9491B368-BFD4-0346-B872-B7DBBC518946}"/>
              </a:ext>
            </a:extLst>
          </p:cNvPr>
          <p:cNvSpPr/>
          <p:nvPr/>
        </p:nvSpPr>
        <p:spPr>
          <a:xfrm>
            <a:off x="6477000" y="3886200"/>
            <a:ext cx="2286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687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Part 1: Quick Quiz Questions</a:t>
            </a:r>
          </a:p>
        </p:txBody>
      </p:sp>
      <p:pic>
        <p:nvPicPr>
          <p:cNvPr id="3" name="Picture 2">
            <a:extLst>
              <a:ext uri="{FF2B5EF4-FFF2-40B4-BE49-F238E27FC236}">
                <a16:creationId xmlns:a16="http://schemas.microsoft.com/office/drawing/2014/main" id="{A56667AF-DE38-8C4F-BB2C-517132496D22}"/>
              </a:ext>
            </a:extLst>
          </p:cNvPr>
          <p:cNvPicPr>
            <a:picLocks noChangeAspect="1"/>
          </p:cNvPicPr>
          <p:nvPr/>
        </p:nvPicPr>
        <p:blipFill>
          <a:blip r:embed="rId2"/>
          <a:stretch>
            <a:fillRect/>
          </a:stretch>
        </p:blipFill>
        <p:spPr>
          <a:xfrm>
            <a:off x="1521365" y="1545574"/>
            <a:ext cx="9149269" cy="4591768"/>
          </a:xfrm>
          <a:prstGeom prst="rect">
            <a:avLst/>
          </a:prstGeom>
        </p:spPr>
      </p:pic>
      <p:sp>
        <p:nvSpPr>
          <p:cNvPr id="4" name="TextBox 3">
            <a:extLst>
              <a:ext uri="{FF2B5EF4-FFF2-40B4-BE49-F238E27FC236}">
                <a16:creationId xmlns:a16="http://schemas.microsoft.com/office/drawing/2014/main" id="{75FA6574-F85F-6D4F-BE5A-4B5DD3C170B7}"/>
              </a:ext>
            </a:extLst>
          </p:cNvPr>
          <p:cNvSpPr txBox="1"/>
          <p:nvPr/>
        </p:nvSpPr>
        <p:spPr>
          <a:xfrm>
            <a:off x="2438400" y="1905000"/>
            <a:ext cx="5105400" cy="369332"/>
          </a:xfrm>
          <a:prstGeom prst="rect">
            <a:avLst/>
          </a:prstGeom>
          <a:noFill/>
        </p:spPr>
        <p:txBody>
          <a:bodyPr wrap="square" rtlCol="0">
            <a:spAutoFit/>
          </a:bodyPr>
          <a:lstStyle/>
          <a:p>
            <a:r>
              <a:rPr lang="en-US" dirty="0"/>
              <a:t>Review: Blast from the past!</a:t>
            </a:r>
          </a:p>
        </p:txBody>
      </p:sp>
      <p:sp>
        <p:nvSpPr>
          <p:cNvPr id="5" name="Oval 4">
            <a:extLst>
              <a:ext uri="{FF2B5EF4-FFF2-40B4-BE49-F238E27FC236}">
                <a16:creationId xmlns:a16="http://schemas.microsoft.com/office/drawing/2014/main" id="{260B6DC0-36C6-8347-8D94-DA2DD5F6F7BC}"/>
              </a:ext>
            </a:extLst>
          </p:cNvPr>
          <p:cNvSpPr/>
          <p:nvPr/>
        </p:nvSpPr>
        <p:spPr>
          <a:xfrm>
            <a:off x="1981200" y="3689058"/>
            <a:ext cx="2286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633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CB44-D49E-8B46-A0E0-78F6306384A6}"/>
              </a:ext>
            </a:extLst>
          </p:cNvPr>
          <p:cNvSpPr>
            <a:spLocks noGrp="1"/>
          </p:cNvSpPr>
          <p:nvPr>
            <p:ph type="title"/>
          </p:nvPr>
        </p:nvSpPr>
        <p:spPr>
          <a:xfrm>
            <a:off x="838200" y="2466300"/>
            <a:ext cx="10515600" cy="1325563"/>
          </a:xfrm>
        </p:spPr>
        <p:txBody>
          <a:bodyPr/>
          <a:lstStyle/>
          <a:p>
            <a:pPr algn="ctr"/>
            <a:r>
              <a:rPr lang="en-US" dirty="0"/>
              <a:t>End Quick Quiz Questions</a:t>
            </a:r>
          </a:p>
        </p:txBody>
      </p:sp>
    </p:spTree>
    <p:extLst>
      <p:ext uri="{BB962C8B-B14F-4D97-AF65-F5344CB8AC3E}">
        <p14:creationId xmlns:p14="http://schemas.microsoft.com/office/powerpoint/2010/main" val="3555972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 Transforms: Log-Linear</a:t>
            </a:r>
          </a:p>
        </p:txBody>
      </p:sp>
      <mc:AlternateContent xmlns:mc="http://schemas.openxmlformats.org/markup-compatibility/2006" xmlns:a14="http://schemas.microsoft.com/office/drawing/2010/main">
        <mc:Choice Requires="a14">
          <p:sp>
            <p:nvSpPr>
              <p:cNvPr id="20" name="Rectangle 19"/>
              <p:cNvSpPr/>
              <p:nvPr/>
            </p:nvSpPr>
            <p:spPr>
              <a:xfrm>
                <a:off x="609600" y="3514614"/>
                <a:ext cx="10972800" cy="844783"/>
              </a:xfrm>
              <a:prstGeom prst="rect">
                <a:avLst/>
              </a:prstGeom>
            </p:spPr>
            <p:txBody>
              <a:bodyPr wrap="square">
                <a:noAutofit/>
              </a:bodyPr>
              <a:lstStyle/>
              <a:p>
                <a:pPr algn="ctr"/>
                <a:r>
                  <a:rPr lang="en-US" sz="3200" b="1" dirty="0"/>
                  <a:t>Interpretation: A one unit increase in X is associated with a multiplicative change of </a:t>
                </a:r>
                <a14:m>
                  <m:oMath xmlns:m="http://schemas.openxmlformats.org/officeDocument/2006/math">
                    <m:sSup>
                      <m:sSupPr>
                        <m:ctrlPr>
                          <a:rPr lang="en-US" sz="3200" b="1" i="1">
                            <a:latin typeface="Cambria Math" panose="02040503050406030204" pitchFamily="18" charset="0"/>
                            <a:ea typeface="Cambria Math"/>
                          </a:rPr>
                        </m:ctrlPr>
                      </m:sSupPr>
                      <m:e>
                        <m:r>
                          <a:rPr lang="en-US" sz="3200" b="1" i="1">
                            <a:latin typeface="Cambria Math"/>
                            <a:ea typeface="Cambria Math"/>
                          </a:rPr>
                          <m:t>𝒆</m:t>
                        </m:r>
                      </m:e>
                      <m:sup>
                        <m:sSub>
                          <m:sSubPr>
                            <m:ctrlPr>
                              <a:rPr lang="en-US" sz="3200" b="1" i="1">
                                <a:latin typeface="Cambria Math" panose="02040503050406030204" pitchFamily="18" charset="0"/>
                                <a:ea typeface="Cambria Math"/>
                              </a:rPr>
                            </m:ctrlPr>
                          </m:sSubPr>
                          <m:e>
                            <m:r>
                              <a:rPr lang="en-US" sz="3200" b="1" i="1">
                                <a:latin typeface="Cambria Math"/>
                                <a:ea typeface="Cambria Math"/>
                              </a:rPr>
                              <m:t>𝜷</m:t>
                            </m:r>
                          </m:e>
                          <m:sub>
                            <m:r>
                              <a:rPr lang="en-US" sz="3200" b="1" i="1">
                                <a:latin typeface="Cambria Math"/>
                                <a:ea typeface="Cambria Math"/>
                              </a:rPr>
                              <m:t>𝟏</m:t>
                            </m:r>
                          </m:sub>
                        </m:sSub>
                      </m:sup>
                    </m:sSup>
                  </m:oMath>
                </a14:m>
                <a:r>
                  <a:rPr lang="en-US" sz="3200" b="1" dirty="0"/>
                  <a:t> in Median(Y|X). </a:t>
                </a:r>
              </a:p>
            </p:txBody>
          </p:sp>
        </mc:Choice>
        <mc:Fallback xmlns="">
          <p:sp>
            <p:nvSpPr>
              <p:cNvPr id="20" name="Rectangle 19"/>
              <p:cNvSpPr>
                <a:spLocks noRot="1" noChangeAspect="1" noMove="1" noResize="1" noEditPoints="1" noAdjustHandles="1" noChangeArrowheads="1" noChangeShapeType="1" noTextEdit="1"/>
              </p:cNvSpPr>
              <p:nvPr/>
            </p:nvSpPr>
            <p:spPr>
              <a:xfrm>
                <a:off x="609600" y="3514614"/>
                <a:ext cx="10972800" cy="844783"/>
              </a:xfrm>
              <a:prstGeom prst="rect">
                <a:avLst/>
              </a:prstGeom>
              <a:blipFill>
                <a:blip r:embed="rId3"/>
                <a:stretch>
                  <a:fillRect t="-8824"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609600" y="6435356"/>
                <a:ext cx="9067800" cy="295873"/>
              </a:xfrm>
              <a:prstGeom prst="rect">
                <a:avLst/>
              </a:prstGeom>
            </p:spPr>
            <p:txBody>
              <a:bodyPr wrap="square" anchor="b">
                <a:noAutofit/>
              </a:bodyPr>
              <a:lstStyle/>
              <a:p>
                <a:r>
                  <a:rPr lang="en-US" sz="1200" dirty="0">
                    <a:solidFill>
                      <a:srgbClr val="6C6C6C"/>
                    </a:solidFill>
                    <a:ea typeface="Cambria Math"/>
                  </a:rPr>
                  <a:t>** Note: We use a base of e for </a:t>
                </a:r>
                <a14:m>
                  <m:oMath xmlns:m="http://schemas.openxmlformats.org/officeDocument/2006/math">
                    <m:sSup>
                      <m:sSupPr>
                        <m:ctrlPr>
                          <a:rPr lang="en-US" sz="1200" i="1">
                            <a:solidFill>
                              <a:srgbClr val="6C6C6C"/>
                            </a:solidFill>
                            <a:latin typeface="Cambria Math" panose="02040503050406030204" pitchFamily="18" charset="0"/>
                            <a:ea typeface="Cambria Math"/>
                          </a:rPr>
                        </m:ctrlPr>
                      </m:sSupPr>
                      <m:e>
                        <m:r>
                          <a:rPr lang="en-US" sz="1200" i="1">
                            <a:solidFill>
                              <a:srgbClr val="6C6C6C"/>
                            </a:solidFill>
                            <a:latin typeface="Cambria Math"/>
                            <a:ea typeface="Cambria Math"/>
                          </a:rPr>
                          <m:t>𝑒</m:t>
                        </m:r>
                      </m:e>
                      <m:sup>
                        <m:sSub>
                          <m:sSubPr>
                            <m:ctrlPr>
                              <a:rPr lang="en-US" sz="1200" i="1">
                                <a:solidFill>
                                  <a:srgbClr val="6C6C6C"/>
                                </a:solidFill>
                                <a:latin typeface="Cambria Math" panose="02040503050406030204" pitchFamily="18" charset="0"/>
                                <a:ea typeface="Cambria Math"/>
                              </a:rPr>
                            </m:ctrlPr>
                          </m:sSubPr>
                          <m:e>
                            <m:r>
                              <a:rPr lang="en-US" sz="1200" i="1">
                                <a:solidFill>
                                  <a:srgbClr val="6C6C6C"/>
                                </a:solidFill>
                                <a:latin typeface="Cambria Math"/>
                                <a:ea typeface="Cambria Math"/>
                              </a:rPr>
                              <m:t>𝛽</m:t>
                            </m:r>
                          </m:e>
                          <m:sub>
                            <m:r>
                              <a:rPr lang="en-US" sz="1200" i="1">
                                <a:solidFill>
                                  <a:srgbClr val="6C6C6C"/>
                                </a:solidFill>
                                <a:latin typeface="Cambria Math"/>
                                <a:ea typeface="Cambria Math"/>
                              </a:rPr>
                              <m:t>1</m:t>
                            </m:r>
                          </m:sub>
                        </m:sSub>
                      </m:sup>
                    </m:sSup>
                  </m:oMath>
                </a14:m>
                <a:r>
                  <a:rPr lang="en-US" sz="1200" dirty="0">
                    <a:solidFill>
                      <a:srgbClr val="6C6C6C"/>
                    </a:solidFill>
                  </a:rPr>
                  <a:t> because the base on the log function was implied to be e. (Other bases could be interchanged.)</a:t>
                </a:r>
              </a:p>
            </p:txBody>
          </p:sp>
        </mc:Choice>
        <mc:Fallback xmlns="">
          <p:sp>
            <p:nvSpPr>
              <p:cNvPr id="34" name="Rectangle 33"/>
              <p:cNvSpPr>
                <a:spLocks noRot="1" noChangeAspect="1" noMove="1" noResize="1" noEditPoints="1" noAdjustHandles="1" noChangeArrowheads="1" noChangeShapeType="1" noTextEdit="1"/>
              </p:cNvSpPr>
              <p:nvPr/>
            </p:nvSpPr>
            <p:spPr>
              <a:xfrm>
                <a:off x="609600" y="6435356"/>
                <a:ext cx="9067800" cy="295873"/>
              </a:xfrm>
              <a:prstGeom prst="rect">
                <a:avLst/>
              </a:prstGeom>
              <a:blipFill>
                <a:blip r:embed="rId6"/>
                <a:stretch>
                  <a:fillRect b="-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2590800" y="2590800"/>
                <a:ext cx="3811979" cy="422693"/>
              </a:xfrm>
              <a:prstGeom prst="rect">
                <a:avLst/>
              </a:prstGeom>
              <a:noFill/>
            </p:spPr>
            <p:txBody>
              <a:bodyPr wrap="none" rtlCol="0">
                <a:noAutofit/>
              </a:bodyPr>
              <a:lstStyle/>
              <a:p>
                <a:pPr/>
                <a14:m>
                  <m:oMathPara xmlns:m="http://schemas.openxmlformats.org/officeDocument/2006/math">
                    <m:oMathParaPr>
                      <m:jc m:val="left"/>
                    </m:oMathParaPr>
                    <m:oMath xmlns:m="http://schemas.openxmlformats.org/officeDocument/2006/math">
                      <m:r>
                        <a:rPr lang="en-US" sz="2800" i="1">
                          <a:latin typeface="Cambria Math"/>
                          <a:ea typeface="Cambria Math"/>
                        </a:rPr>
                        <m:t>𝑀𝑒𝑑𝑖𝑎𝑛</m:t>
                      </m:r>
                      <m:d>
                        <m:dPr>
                          <m:ctrlPr>
                            <a:rPr lang="en-US" sz="2800" i="1">
                              <a:latin typeface="Cambria Math" panose="02040503050406030204" pitchFamily="18" charset="0"/>
                              <a:ea typeface="Cambria Math"/>
                            </a:rPr>
                          </m:ctrlPr>
                        </m:dPr>
                        <m:e>
                          <m:r>
                            <a:rPr lang="en-US" sz="2800" i="1">
                              <a:latin typeface="Cambria Math"/>
                              <a:ea typeface="Cambria Math"/>
                            </a:rPr>
                            <m:t>𝑌</m:t>
                          </m:r>
                        </m:e>
                        <m:e>
                          <m:r>
                            <a:rPr lang="en-US" sz="2800" i="1">
                              <a:latin typeface="Cambria Math"/>
                              <a:ea typeface="Cambria Math"/>
                            </a:rPr>
                            <m:t>𝑋</m:t>
                          </m:r>
                          <m:r>
                            <a:rPr lang="en-US" sz="2800" i="1">
                              <a:latin typeface="Cambria Math"/>
                              <a:ea typeface="Cambria Math"/>
                            </a:rPr>
                            <m:t>+1</m:t>
                          </m:r>
                        </m:e>
                      </m:d>
                      <m:r>
                        <a:rPr lang="en-US" sz="2800" i="1">
                          <a:latin typeface="Cambria Math"/>
                          <a:ea typeface="Cambria Math"/>
                        </a:rPr>
                        <m:t>/ </m:t>
                      </m:r>
                      <m:r>
                        <a:rPr lang="en-US" sz="2800" i="1">
                          <a:latin typeface="Cambria Math"/>
                          <a:ea typeface="Cambria Math"/>
                        </a:rPr>
                        <m:t>𝑀𝑒𝑑𝑖𝑎𝑛</m:t>
                      </m:r>
                      <m:d>
                        <m:dPr>
                          <m:ctrlPr>
                            <a:rPr lang="en-US" sz="2800" i="1">
                              <a:latin typeface="Cambria Math" panose="02040503050406030204" pitchFamily="18" charset="0"/>
                              <a:ea typeface="Cambria Math"/>
                            </a:rPr>
                          </m:ctrlPr>
                        </m:dPr>
                        <m:e>
                          <m:r>
                            <a:rPr lang="en-US" sz="2800" i="1">
                              <a:latin typeface="Cambria Math"/>
                              <a:ea typeface="Cambria Math"/>
                            </a:rPr>
                            <m:t>𝑌</m:t>
                          </m:r>
                        </m:e>
                        <m:e>
                          <m:r>
                            <a:rPr lang="en-US" sz="2800" i="1">
                              <a:latin typeface="Cambria Math"/>
                              <a:ea typeface="Cambria Math"/>
                            </a:rPr>
                            <m:t>𝑋</m:t>
                          </m:r>
                        </m:e>
                      </m:d>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2590800" y="2590800"/>
                <a:ext cx="3811979" cy="422693"/>
              </a:xfrm>
              <a:prstGeom prst="rect">
                <a:avLst/>
              </a:prstGeom>
              <a:blipFill>
                <a:blip r:embed="rId7"/>
                <a:stretch>
                  <a:fillRect l="-997" r="-3322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FB2DAE5-3B31-9D4D-A5EF-BC9B49EBACBD}"/>
                  </a:ext>
                </a:extLst>
              </p:cNvPr>
              <p:cNvSpPr/>
              <p:nvPr/>
            </p:nvSpPr>
            <p:spPr>
              <a:xfrm>
                <a:off x="7647864" y="2551176"/>
                <a:ext cx="1170000" cy="5434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a:latin typeface="Cambria Math" panose="02040503050406030204" pitchFamily="18" charset="0"/>
                              <a:ea typeface="Cambria Math"/>
                            </a:rPr>
                          </m:ctrlPr>
                        </m:sSupPr>
                        <m:e>
                          <m:r>
                            <a:rPr lang="en-US" sz="2800" i="1">
                              <a:latin typeface="Cambria Math"/>
                              <a:ea typeface="Cambria Math"/>
                            </a:rPr>
                            <m:t>=</m:t>
                          </m:r>
                          <m:r>
                            <a:rPr lang="en-US" sz="2800" i="1">
                              <a:latin typeface="Cambria Math"/>
                              <a:ea typeface="Cambria Math"/>
                            </a:rPr>
                            <m:t>𝑒</m:t>
                          </m:r>
                        </m:e>
                        <m:sup>
                          <m:sSub>
                            <m:sSubPr>
                              <m:ctrlPr>
                                <a:rPr lang="en-US" sz="2800" i="1">
                                  <a:latin typeface="Cambria Math" panose="02040503050406030204" pitchFamily="18" charset="0"/>
                                  <a:ea typeface="Cambria Math"/>
                                </a:rPr>
                              </m:ctrlPr>
                            </m:sSubPr>
                            <m:e>
                              <m:r>
                                <a:rPr lang="en-US" sz="2800" i="1">
                                  <a:latin typeface="Cambria Math"/>
                                  <a:ea typeface="Cambria Math"/>
                                </a:rPr>
                                <m:t>𝛽</m:t>
                              </m:r>
                            </m:e>
                            <m:sub>
                              <m:r>
                                <a:rPr lang="en-US" sz="2800" i="1">
                                  <a:latin typeface="Cambria Math"/>
                                  <a:ea typeface="Cambria Math"/>
                                </a:rPr>
                                <m:t>1</m:t>
                              </m:r>
                            </m:sub>
                          </m:sSub>
                        </m:sup>
                      </m:sSup>
                    </m:oMath>
                  </m:oMathPara>
                </a14:m>
                <a:endParaRPr lang="en-US" sz="2800" dirty="0"/>
              </a:p>
            </p:txBody>
          </p:sp>
        </mc:Choice>
        <mc:Fallback xmlns="">
          <p:sp>
            <p:nvSpPr>
              <p:cNvPr id="4" name="Rectangle 3">
                <a:extLst>
                  <a:ext uri="{FF2B5EF4-FFF2-40B4-BE49-F238E27FC236}">
                    <a16:creationId xmlns:a16="http://schemas.microsoft.com/office/drawing/2014/main" id="{BFB2DAE5-3B31-9D4D-A5EF-BC9B49EBACBD}"/>
                  </a:ext>
                </a:extLst>
              </p:cNvPr>
              <p:cNvSpPr>
                <a:spLocks noRot="1" noChangeAspect="1" noMove="1" noResize="1" noEditPoints="1" noAdjustHandles="1" noChangeArrowheads="1" noChangeShapeType="1" noTextEdit="1"/>
              </p:cNvSpPr>
              <p:nvPr/>
            </p:nvSpPr>
            <p:spPr>
              <a:xfrm>
                <a:off x="7647864" y="2551176"/>
                <a:ext cx="1170000" cy="54341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82682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 Transforms: Linear-Log (cont.)</a:t>
            </a:r>
          </a:p>
        </p:txBody>
      </p:sp>
      <mc:AlternateContent xmlns:mc="http://schemas.openxmlformats.org/markup-compatibility/2006" xmlns:a14="http://schemas.microsoft.com/office/drawing/2010/main">
        <mc:Choice Requires="a14">
          <p:sp>
            <p:nvSpPr>
              <p:cNvPr id="6" name="TextBox 5"/>
              <p:cNvSpPr txBox="1"/>
              <p:nvPr/>
            </p:nvSpPr>
            <p:spPr>
              <a:xfrm>
                <a:off x="2895600" y="2398426"/>
                <a:ext cx="4417491" cy="369332"/>
              </a:xfrm>
              <a:prstGeom prst="rect">
                <a:avLst/>
              </a:prstGeom>
              <a:noFill/>
            </p:spPr>
            <p:txBody>
              <a:bodyPr wrap="none" rtlCol="0">
                <a:noAutofit/>
              </a:bodyPr>
              <a:lstStyle/>
              <a:p>
                <a:pPr/>
                <a14:m>
                  <m:oMathPara xmlns:m="http://schemas.openxmlformats.org/officeDocument/2006/math">
                    <m:oMathParaPr>
                      <m:jc m:val="centerGroup"/>
                    </m:oMathParaPr>
                    <m:oMath xmlns:m="http://schemas.openxmlformats.org/officeDocument/2006/math">
                      <m:r>
                        <a:rPr lang="en-US" sz="2800" i="1">
                          <a:latin typeface="Cambria Math"/>
                          <a:ea typeface="Cambria Math"/>
                        </a:rPr>
                        <m:t>𝜇</m:t>
                      </m:r>
                      <m:d>
                        <m:dPr>
                          <m:begChr m:val="{"/>
                          <m:endChr m:val="}"/>
                          <m:ctrlPr>
                            <a:rPr lang="en-US" sz="2800" i="1">
                              <a:latin typeface="Cambria Math" panose="02040503050406030204" pitchFamily="18" charset="0"/>
                              <a:ea typeface="Cambria Math"/>
                            </a:rPr>
                          </m:ctrlPr>
                        </m:dPr>
                        <m:e>
                          <m:r>
                            <a:rPr lang="en-US" sz="2800" i="1">
                              <a:latin typeface="Cambria Math" panose="02040503050406030204" pitchFamily="18" charset="0"/>
                              <a:ea typeface="Cambria Math"/>
                            </a:rPr>
                            <m:t>𝑌</m:t>
                          </m:r>
                        </m:e>
                        <m:e>
                          <m:func>
                            <m:funcPr>
                              <m:ctrlPr>
                                <a:rPr lang="en-US" sz="2800" i="1">
                                  <a:latin typeface="Cambria Math" panose="02040503050406030204" pitchFamily="18" charset="0"/>
                                  <a:ea typeface="Cambria Math"/>
                                </a:rPr>
                              </m:ctrlPr>
                            </m:funcPr>
                            <m:fName>
                              <m:r>
                                <m:rPr>
                                  <m:sty m:val="p"/>
                                </m:rPr>
                                <a:rPr lang="en-US" sz="2800">
                                  <a:latin typeface="Cambria Math" panose="02040503050406030204" pitchFamily="18" charset="0"/>
                                  <a:ea typeface="Cambria Math"/>
                                </a:rPr>
                                <m:t>log</m:t>
                              </m:r>
                            </m:fName>
                            <m:e>
                              <m:d>
                                <m:dPr>
                                  <m:ctrlPr>
                                    <a:rPr lang="en-US" sz="2800" i="1">
                                      <a:latin typeface="Cambria Math" panose="02040503050406030204" pitchFamily="18" charset="0"/>
                                      <a:ea typeface="Cambria Math"/>
                                    </a:rPr>
                                  </m:ctrlPr>
                                </m:dPr>
                                <m:e>
                                  <m:r>
                                    <a:rPr lang="en-US" sz="2800" i="1">
                                      <a:latin typeface="Cambria Math" panose="02040503050406030204" pitchFamily="18" charset="0"/>
                                      <a:ea typeface="Cambria Math"/>
                                    </a:rPr>
                                    <m:t>2</m:t>
                                  </m:r>
                                  <m:r>
                                    <a:rPr lang="en-US" sz="2800" i="1">
                                      <a:latin typeface="Cambria Math" panose="02040503050406030204" pitchFamily="18" charset="0"/>
                                      <a:ea typeface="Cambria Math"/>
                                    </a:rPr>
                                    <m:t>𝑋</m:t>
                                  </m:r>
                                </m:e>
                              </m:d>
                            </m:e>
                          </m:func>
                        </m:e>
                      </m:d>
                      <m:r>
                        <a:rPr lang="en-US" sz="2800" i="1">
                          <a:latin typeface="Cambria Math" panose="02040503050406030204" pitchFamily="18" charset="0"/>
                        </a:rPr>
                        <m:t>−</m:t>
                      </m:r>
                      <m:r>
                        <a:rPr lang="en-US" sz="2800" i="1">
                          <a:latin typeface="Cambria Math"/>
                          <a:ea typeface="Cambria Math"/>
                        </a:rPr>
                        <m:t>𝜇</m:t>
                      </m:r>
                      <m:d>
                        <m:dPr>
                          <m:begChr m:val="{"/>
                          <m:endChr m:val="}"/>
                          <m:ctrlPr>
                            <a:rPr lang="en-US" sz="2800" i="1">
                              <a:latin typeface="Cambria Math" panose="02040503050406030204" pitchFamily="18" charset="0"/>
                              <a:ea typeface="Cambria Math"/>
                            </a:rPr>
                          </m:ctrlPr>
                        </m:dPr>
                        <m:e>
                          <m:r>
                            <a:rPr lang="en-US" sz="2800" i="1">
                              <a:latin typeface="Cambria Math" panose="02040503050406030204" pitchFamily="18" charset="0"/>
                              <a:ea typeface="Cambria Math"/>
                            </a:rPr>
                            <m:t>𝑌</m:t>
                          </m:r>
                        </m:e>
                        <m:e>
                          <m:func>
                            <m:funcPr>
                              <m:ctrlPr>
                                <a:rPr lang="en-US" sz="2800" i="1">
                                  <a:latin typeface="Cambria Math" panose="02040503050406030204" pitchFamily="18" charset="0"/>
                                  <a:ea typeface="Cambria Math"/>
                                </a:rPr>
                              </m:ctrlPr>
                            </m:funcPr>
                            <m:fName>
                              <m:r>
                                <m:rPr>
                                  <m:sty m:val="p"/>
                                </m:rPr>
                                <a:rPr lang="en-US" sz="2800">
                                  <a:latin typeface="Cambria Math" panose="02040503050406030204" pitchFamily="18" charset="0"/>
                                  <a:ea typeface="Cambria Math"/>
                                </a:rPr>
                                <m:t>log</m:t>
                              </m:r>
                            </m:fName>
                            <m:e>
                              <m:d>
                                <m:dPr>
                                  <m:ctrlPr>
                                    <a:rPr lang="en-US" sz="2800" i="1">
                                      <a:latin typeface="Cambria Math" panose="02040503050406030204" pitchFamily="18" charset="0"/>
                                      <a:ea typeface="Cambria Math"/>
                                    </a:rPr>
                                  </m:ctrlPr>
                                </m:dPr>
                                <m:e>
                                  <m:r>
                                    <a:rPr lang="en-US" sz="2800" i="1">
                                      <a:latin typeface="Cambria Math" panose="02040503050406030204" pitchFamily="18" charset="0"/>
                                      <a:ea typeface="Cambria Math"/>
                                    </a:rPr>
                                    <m:t>𝑋</m:t>
                                  </m:r>
                                </m:e>
                              </m:d>
                            </m:e>
                          </m:func>
                        </m:e>
                      </m:d>
                      <m:r>
                        <a:rPr lang="en-US" sz="2800" i="1">
                          <a:latin typeface="Cambria Math"/>
                          <a:ea typeface="Cambria Math"/>
                        </a:rPr>
                        <m:t>=</m:t>
                      </m:r>
                      <m:sSub>
                        <m:sSubPr>
                          <m:ctrlPr>
                            <a:rPr lang="en-US" sz="2800" i="1">
                              <a:latin typeface="Cambria Math" panose="02040503050406030204" pitchFamily="18" charset="0"/>
                              <a:ea typeface="Cambria Math"/>
                            </a:rPr>
                          </m:ctrlPr>
                        </m:sSubPr>
                        <m:e>
                          <m:r>
                            <a:rPr lang="en-US" sz="2800" i="1">
                              <a:latin typeface="Cambria Math"/>
                              <a:ea typeface="Cambria Math"/>
                            </a:rPr>
                            <m:t>𝛽</m:t>
                          </m:r>
                        </m:e>
                        <m:sub>
                          <m:r>
                            <a:rPr lang="en-US" sz="2800" i="1">
                              <a:latin typeface="Cambria Math"/>
                              <a:ea typeface="Cambria Math"/>
                            </a:rPr>
                            <m:t>1</m:t>
                          </m:r>
                        </m:sub>
                      </m:sSub>
                      <m:func>
                        <m:funcPr>
                          <m:ctrlPr>
                            <a:rPr lang="en-US" sz="2800" i="1">
                              <a:latin typeface="Cambria Math" panose="02040503050406030204" pitchFamily="18" charset="0"/>
                              <a:ea typeface="Cambria Math"/>
                            </a:rPr>
                          </m:ctrlPr>
                        </m:funcPr>
                        <m:fName>
                          <m:r>
                            <m:rPr>
                              <m:sty m:val="p"/>
                            </m:rPr>
                            <a:rPr lang="en-US" sz="2800">
                              <a:latin typeface="Cambria Math" panose="02040503050406030204" pitchFamily="18" charset="0"/>
                              <a:ea typeface="Cambria Math"/>
                            </a:rPr>
                            <m:t>log</m:t>
                          </m:r>
                        </m:fName>
                        <m:e>
                          <m:d>
                            <m:dPr>
                              <m:ctrlPr>
                                <a:rPr lang="en-US" sz="2800" i="1">
                                  <a:latin typeface="Cambria Math" panose="02040503050406030204" pitchFamily="18" charset="0"/>
                                  <a:ea typeface="Cambria Math"/>
                                </a:rPr>
                              </m:ctrlPr>
                            </m:dPr>
                            <m:e>
                              <m:r>
                                <a:rPr lang="en-US" sz="2800" i="1">
                                  <a:latin typeface="Cambria Math" panose="02040503050406030204" pitchFamily="18" charset="0"/>
                                  <a:ea typeface="Cambria Math"/>
                                </a:rPr>
                                <m:t>2</m:t>
                              </m:r>
                            </m:e>
                          </m:d>
                        </m:e>
                      </m:func>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895600" y="2398426"/>
                <a:ext cx="4417491" cy="369332"/>
              </a:xfrm>
              <a:prstGeom prst="rect">
                <a:avLst/>
              </a:prstGeom>
              <a:blipFill>
                <a:blip r:embed="rId3"/>
                <a:stretch>
                  <a:fillRect l="-575" r="-41667" b="-7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19100" y="3281599"/>
                <a:ext cx="11353800" cy="707886"/>
              </a:xfrm>
              <a:prstGeom prst="rect">
                <a:avLst/>
              </a:prstGeom>
              <a:noFill/>
            </p:spPr>
            <p:txBody>
              <a:bodyPr wrap="square" rtlCol="0">
                <a:noAutofit/>
              </a:bodyPr>
              <a:lstStyle/>
              <a:p>
                <a:pPr algn="ctr"/>
                <a:r>
                  <a:rPr lang="en-US" sz="3200" b="1" dirty="0"/>
                  <a:t>Interpretation: A doubling of X is associated with a </a:t>
                </a:r>
                <a14:m>
                  <m:oMath xmlns:m="http://schemas.openxmlformats.org/officeDocument/2006/math">
                    <m:sSub>
                      <m:sSubPr>
                        <m:ctrlPr>
                          <a:rPr lang="en-US" sz="3200" b="1" i="1">
                            <a:latin typeface="Cambria Math" panose="02040503050406030204" pitchFamily="18" charset="0"/>
                            <a:ea typeface="Cambria Math"/>
                          </a:rPr>
                        </m:ctrlPr>
                      </m:sSubPr>
                      <m:e>
                        <m:r>
                          <a:rPr lang="en-US" sz="3200" b="1" i="1">
                            <a:latin typeface="Cambria Math"/>
                            <a:ea typeface="Cambria Math"/>
                          </a:rPr>
                          <m:t>𝜷</m:t>
                        </m:r>
                      </m:e>
                      <m:sub>
                        <m:r>
                          <a:rPr lang="en-US" sz="3200" b="1" i="1">
                            <a:latin typeface="Cambria Math"/>
                            <a:ea typeface="Cambria Math"/>
                          </a:rPr>
                          <m:t>𝟏</m:t>
                        </m:r>
                      </m:sub>
                    </m:sSub>
                    <m:r>
                      <a:rPr lang="en-US" sz="3200" b="1">
                        <a:latin typeface="Cambria Math" panose="02040503050406030204" pitchFamily="18" charset="0"/>
                        <a:ea typeface="Cambria Math"/>
                      </a:rPr>
                      <m:t>𝐥</m:t>
                    </m:r>
                  </m:oMath>
                </a14:m>
                <a:r>
                  <a:rPr lang="en-US" sz="3200" b="1" dirty="0"/>
                  <a:t>og(2) unit change in the </a:t>
                </a:r>
                <a:r>
                  <a:rPr lang="en-US" sz="3200" b="1" i="1" dirty="0"/>
                  <a:t>mean</a:t>
                </a:r>
                <a:r>
                  <a:rPr lang="en-US" sz="3200" b="1" dirty="0"/>
                  <a:t> of Y. </a:t>
                </a:r>
              </a:p>
            </p:txBody>
          </p:sp>
        </mc:Choice>
        <mc:Fallback xmlns="">
          <p:sp>
            <p:nvSpPr>
              <p:cNvPr id="12" name="TextBox 11"/>
              <p:cNvSpPr txBox="1">
                <a:spLocks noRot="1" noChangeAspect="1" noMove="1" noResize="1" noEditPoints="1" noAdjustHandles="1" noChangeArrowheads="1" noChangeShapeType="1" noTextEdit="1"/>
              </p:cNvSpPr>
              <p:nvPr/>
            </p:nvSpPr>
            <p:spPr>
              <a:xfrm>
                <a:off x="419100" y="3281599"/>
                <a:ext cx="11353800" cy="707886"/>
              </a:xfrm>
              <a:prstGeom prst="rect">
                <a:avLst/>
              </a:prstGeom>
              <a:blipFill>
                <a:blip r:embed="rId4"/>
                <a:stretch>
                  <a:fillRect t="-10714" b="-80357"/>
                </a:stretch>
              </a:blipFill>
            </p:spPr>
            <p:txBody>
              <a:bodyPr/>
              <a:lstStyle/>
              <a:p>
                <a:r>
                  <a:rPr lang="en-US">
                    <a:noFill/>
                  </a:rPr>
                  <a:t> </a:t>
                </a:r>
              </a:p>
            </p:txBody>
          </p:sp>
        </mc:Fallback>
      </mc:AlternateContent>
    </p:spTree>
    <p:extLst>
      <p:ext uri="{BB962C8B-B14F-4D97-AF65-F5344CB8AC3E}">
        <p14:creationId xmlns:p14="http://schemas.microsoft.com/office/powerpoint/2010/main" val="2258960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Content Placeholder 3"/>
              <p:cNvSpPr txBox="1">
                <a:spLocks/>
              </p:cNvSpPr>
              <p:nvPr/>
            </p:nvSpPr>
            <p:spPr>
              <a:xfrm>
                <a:off x="576072" y="2272230"/>
                <a:ext cx="10972800" cy="3330137"/>
              </a:xfrm>
              <a:prstGeom prst="rect">
                <a:avLst/>
              </a:prstGeom>
            </p:spPr>
            <p:txBody>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charset="0"/>
                  <a:buNone/>
                </a:pPr>
                <a14:m>
                  <m:oMathPara xmlns:m="http://schemas.openxmlformats.org/officeDocument/2006/math">
                    <m:oMathParaPr>
                      <m:jc m:val="center"/>
                    </m:oMathParaPr>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𝑀𝑒𝑑𝑖𝑎𝑛</m:t>
                          </m:r>
                          <m:d>
                            <m:dPr>
                              <m:ctrlPr>
                                <a:rPr lang="en-US" sz="2400" i="1">
                                  <a:latin typeface="Cambria Math" panose="02040503050406030204" pitchFamily="18" charset="0"/>
                                </a:rPr>
                              </m:ctrlPr>
                            </m:dPr>
                            <m:e>
                              <m:r>
                                <a:rPr lang="en-US" sz="2400">
                                  <a:latin typeface="Cambria Math" panose="02040503050406030204" pitchFamily="18" charset="0"/>
                                </a:rPr>
                                <m:t>𝑌</m:t>
                              </m:r>
                            </m:e>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log</m:t>
                                  </m:r>
                                </m:fName>
                                <m:e>
                                  <m:d>
                                    <m:dPr>
                                      <m:ctrlPr>
                                        <a:rPr lang="en-US" sz="2400" i="1">
                                          <a:latin typeface="Cambria Math" panose="02040503050406030204" pitchFamily="18" charset="0"/>
                                        </a:rPr>
                                      </m:ctrlPr>
                                    </m:dPr>
                                    <m:e>
                                      <m:r>
                                        <a:rPr lang="en-US" sz="2400">
                                          <a:latin typeface="Cambria Math" panose="02040503050406030204" pitchFamily="18" charset="0"/>
                                        </a:rPr>
                                        <m:t>2</m:t>
                                      </m:r>
                                      <m:r>
                                        <a:rPr lang="en-US" sz="2400">
                                          <a:latin typeface="Cambria Math" panose="02040503050406030204" pitchFamily="18" charset="0"/>
                                        </a:rPr>
                                        <m:t>𝑋</m:t>
                                      </m:r>
                                    </m:e>
                                  </m:d>
                                </m:e>
                              </m:func>
                            </m:e>
                          </m:d>
                        </m:num>
                        <m:den>
                          <m:r>
                            <a:rPr lang="en-US" sz="2400">
                              <a:latin typeface="Cambria Math" panose="02040503050406030204" pitchFamily="18" charset="0"/>
                            </a:rPr>
                            <m:t>𝑀𝑒𝑑𝑖𝑎𝑛</m:t>
                          </m:r>
                          <m:d>
                            <m:dPr>
                              <m:ctrlPr>
                                <a:rPr lang="en-US" sz="2400" i="1">
                                  <a:latin typeface="Cambria Math" panose="02040503050406030204" pitchFamily="18" charset="0"/>
                                </a:rPr>
                              </m:ctrlPr>
                            </m:dPr>
                            <m:e>
                              <m:r>
                                <a:rPr lang="en-US" sz="2400">
                                  <a:latin typeface="Cambria Math" panose="02040503050406030204" pitchFamily="18" charset="0"/>
                                </a:rPr>
                                <m:t>𝑌</m:t>
                              </m:r>
                            </m:e>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log</m:t>
                                  </m:r>
                                </m:fName>
                                <m:e>
                                  <m:d>
                                    <m:dPr>
                                      <m:ctrlPr>
                                        <a:rPr lang="en-US" sz="2400" i="1">
                                          <a:latin typeface="Cambria Math" panose="02040503050406030204" pitchFamily="18" charset="0"/>
                                        </a:rPr>
                                      </m:ctrlPr>
                                    </m:dPr>
                                    <m:e>
                                      <m:r>
                                        <a:rPr lang="en-US" sz="2400">
                                          <a:latin typeface="Cambria Math" panose="02040503050406030204" pitchFamily="18" charset="0"/>
                                        </a:rPr>
                                        <m:t>𝑋</m:t>
                                      </m:r>
                                    </m:e>
                                  </m:d>
                                </m:e>
                              </m:func>
                            </m:e>
                          </m:d>
                        </m:den>
                      </m:f>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a:latin typeface="Cambria Math" panose="02040503050406030204" pitchFamily="18" charset="0"/>
                            </a:rPr>
                            <m:t>2</m:t>
                          </m:r>
                        </m:e>
                        <m:sup>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a:latin typeface="Cambria Math" panose="02040503050406030204" pitchFamily="18" charset="0"/>
                                </a:rPr>
                                <m:t>1</m:t>
                              </m:r>
                            </m:sub>
                          </m:sSub>
                        </m:sup>
                      </m:sSup>
                    </m:oMath>
                  </m:oMathPara>
                </a14:m>
                <a:endParaRPr lang="en-US" sz="2400" dirty="0"/>
              </a:p>
              <a:p>
                <a:pPr marL="0" indent="0" algn="ctr">
                  <a:buFont typeface="Arial" charset="0"/>
                  <a:buNone/>
                </a:pPr>
                <a:endParaRPr lang="en-US" sz="2400" dirty="0"/>
              </a:p>
              <a:p>
                <a:pPr marL="0" indent="0" algn="ctr">
                  <a:buNone/>
                </a:pPr>
                <a:r>
                  <a:rPr lang="en-US" b="1" dirty="0"/>
                  <a:t>I</a:t>
                </a:r>
                <a:r>
                  <a:rPr lang="en-US" sz="2800" b="1" dirty="0"/>
                  <a:t>nterpretation: A doubling of X is associated with a </a:t>
                </a:r>
                <a14:m>
                  <m:oMath xmlns:m="http://schemas.openxmlformats.org/officeDocument/2006/math">
                    <m:sSup>
                      <m:sSupPr>
                        <m:ctrlPr>
                          <a:rPr lang="en-US" sz="2800" b="1" i="1">
                            <a:latin typeface="Cambria Math" panose="02040503050406030204" pitchFamily="18" charset="0"/>
                            <a:ea typeface="Cambria Math"/>
                          </a:rPr>
                        </m:ctrlPr>
                      </m:sSupPr>
                      <m:e>
                        <m:r>
                          <a:rPr lang="en-US" sz="2800" b="1" i="1">
                            <a:latin typeface="Cambria Math" charset="0"/>
                            <a:ea typeface="Cambria Math"/>
                          </a:rPr>
                          <m:t>𝟐</m:t>
                        </m:r>
                      </m:e>
                      <m:sup>
                        <m:sSub>
                          <m:sSubPr>
                            <m:ctrlPr>
                              <a:rPr lang="en-US" sz="2800" b="1" i="1">
                                <a:latin typeface="Cambria Math" panose="02040503050406030204" pitchFamily="18" charset="0"/>
                                <a:ea typeface="Cambria Math"/>
                              </a:rPr>
                            </m:ctrlPr>
                          </m:sSubPr>
                          <m:e>
                            <m:r>
                              <a:rPr lang="en-US" sz="2800" b="1" i="1">
                                <a:latin typeface="Cambria Math"/>
                                <a:ea typeface="Cambria Math"/>
                              </a:rPr>
                              <m:t>𝜷</m:t>
                            </m:r>
                          </m:e>
                          <m:sub>
                            <m:r>
                              <a:rPr lang="en-US" sz="2800" b="1" i="1">
                                <a:latin typeface="Cambria Math"/>
                                <a:ea typeface="Cambria Math"/>
                              </a:rPr>
                              <m:t>𝟏</m:t>
                            </m:r>
                          </m:sub>
                        </m:sSub>
                      </m:sup>
                    </m:sSup>
                  </m:oMath>
                </a14:m>
                <a:r>
                  <a:rPr lang="en-US" sz="2800" b="1" dirty="0"/>
                  <a:t> multiplicative increase in the median of Y. (This will be the case regardless of the base on the log function.)</a:t>
                </a:r>
                <a:endParaRPr lang="en-US" sz="2400" b="1" dirty="0"/>
              </a:p>
            </p:txBody>
          </p:sp>
        </mc:Choice>
        <mc:Fallback xmlns="">
          <p:sp>
            <p:nvSpPr>
              <p:cNvPr id="26" name="Content Placeholder 3"/>
              <p:cNvSpPr txBox="1">
                <a:spLocks noRot="1" noChangeAspect="1" noMove="1" noResize="1" noEditPoints="1" noAdjustHandles="1" noChangeArrowheads="1" noChangeShapeType="1" noTextEdit="1"/>
              </p:cNvSpPr>
              <p:nvPr/>
            </p:nvSpPr>
            <p:spPr>
              <a:xfrm>
                <a:off x="576072" y="2272230"/>
                <a:ext cx="10972800" cy="3330137"/>
              </a:xfrm>
              <a:prstGeom prst="rect">
                <a:avLst/>
              </a:prstGeom>
              <a:blipFill>
                <a:blip r:embed="rId2"/>
                <a:stretch>
                  <a:fillRect l="-809" r="-1618"/>
                </a:stretch>
              </a:blipFill>
            </p:spPr>
            <p:txBody>
              <a:bodyPr/>
              <a:lstStyle/>
              <a:p>
                <a:r>
                  <a:rPr lang="en-US">
                    <a:noFill/>
                  </a:rPr>
                  <a:t> </a:t>
                </a:r>
              </a:p>
            </p:txBody>
          </p:sp>
        </mc:Fallback>
      </mc:AlternateContent>
      <p:sp>
        <p:nvSpPr>
          <p:cNvPr id="28674" name="Title 1"/>
          <p:cNvSpPr>
            <a:spLocks noGrp="1"/>
          </p:cNvSpPr>
          <p:nvPr>
            <p:ph type="title"/>
          </p:nvPr>
        </p:nvSpPr>
        <p:spPr/>
        <p:txBody>
          <a:bodyPr/>
          <a:lstStyle/>
          <a:p>
            <a:r>
              <a:rPr lang="en-US" altLang="en-US" dirty="0"/>
              <a:t>Interpretation Log-Log Model</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455AB29-E482-D27A-8BFE-E797EB9BC37C}"/>
                  </a:ext>
                </a:extLst>
              </p:cNvPr>
              <p:cNvSpPr txBox="1"/>
              <p:nvPr/>
            </p:nvSpPr>
            <p:spPr>
              <a:xfrm>
                <a:off x="3606575" y="1447800"/>
                <a:ext cx="4911794" cy="49244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𝑙𝑜𝑔𝑦</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𝑙𝑜𝑔𝑥</m:t>
                      </m:r>
                      <m:r>
                        <a:rPr lang="en-US" sz="3200" b="0" i="1" smtClean="0">
                          <a:latin typeface="Cambria Math" panose="02040503050406030204" pitchFamily="18" charset="0"/>
                        </a:rPr>
                        <m:t>+</m:t>
                      </m:r>
                      <m:r>
                        <a:rPr lang="en-US" sz="3200" b="0" i="1" smtClean="0">
                          <a:latin typeface="Cambria Math" panose="02040503050406030204" pitchFamily="18" charset="0"/>
                        </a:rPr>
                        <m:t>𝑙𝑜𝑔𝑧</m:t>
                      </m:r>
                    </m:oMath>
                  </m:oMathPara>
                </a14:m>
                <a:endParaRPr lang="en-US" sz="3200" dirty="0"/>
              </a:p>
            </p:txBody>
          </p:sp>
        </mc:Choice>
        <mc:Fallback>
          <p:sp>
            <p:nvSpPr>
              <p:cNvPr id="2" name="TextBox 1">
                <a:extLst>
                  <a:ext uri="{FF2B5EF4-FFF2-40B4-BE49-F238E27FC236}">
                    <a16:creationId xmlns:a16="http://schemas.microsoft.com/office/drawing/2014/main" id="{7455AB29-E482-D27A-8BFE-E797EB9BC37C}"/>
                  </a:ext>
                </a:extLst>
              </p:cNvPr>
              <p:cNvSpPr txBox="1">
                <a:spLocks noRot="1" noChangeAspect="1" noMove="1" noResize="1" noEditPoints="1" noAdjustHandles="1" noChangeArrowheads="1" noChangeShapeType="1" noTextEdit="1"/>
              </p:cNvSpPr>
              <p:nvPr/>
            </p:nvSpPr>
            <p:spPr>
              <a:xfrm>
                <a:off x="3606575" y="1447800"/>
                <a:ext cx="4911794" cy="492443"/>
              </a:xfrm>
              <a:prstGeom prst="rect">
                <a:avLst/>
              </a:prstGeom>
              <a:blipFill>
                <a:blip r:embed="rId3"/>
                <a:stretch>
                  <a:fillRect l="-2326" r="-2067" b="-35897"/>
                </a:stretch>
              </a:blipFill>
            </p:spPr>
            <p:txBody>
              <a:bodyPr/>
              <a:lstStyle/>
              <a:p>
                <a:r>
                  <a:rPr lang="en-US">
                    <a:noFill/>
                  </a:rPr>
                  <a:t> </a:t>
                </a:r>
              </a:p>
            </p:txBody>
          </p:sp>
        </mc:Fallback>
      </mc:AlternateContent>
    </p:spTree>
    <p:extLst>
      <p:ext uri="{BB962C8B-B14F-4D97-AF65-F5344CB8AC3E}">
        <p14:creationId xmlns:p14="http://schemas.microsoft.com/office/powerpoint/2010/main" val="154488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p:txBody>
              <a:bodyPr/>
              <a:lstStyle/>
              <a:p>
                <a:r>
                  <a:rPr lang="en-US" dirty="0"/>
                  <a:t>Log-linear model</a:t>
                </a:r>
              </a:p>
              <a:p>
                <a:pPr lvl="1"/>
                <a:r>
                  <a:rPr lang="en-US" dirty="0"/>
                  <a:t>Interpretation: A one unit increase in X is associated with a multiplicative change of </a:t>
                </a:r>
                <a14:m>
                  <m:oMath xmlns:m="http://schemas.openxmlformats.org/officeDocument/2006/math">
                    <m:sSup>
                      <m:sSupPr>
                        <m:ctrlPr>
                          <a:rPr lang="en-US" i="1">
                            <a:latin typeface="Cambria Math" panose="02040503050406030204" pitchFamily="18" charset="0"/>
                          </a:rPr>
                        </m:ctrlPr>
                      </m:sSupPr>
                      <m:e>
                        <m:r>
                          <a:rPr lang="en-US">
                            <a:latin typeface="Cambria Math" panose="02040503050406030204" pitchFamily="18" charset="0"/>
                          </a:rPr>
                          <m:t>𝒆</m:t>
                        </m:r>
                      </m:e>
                      <m:sup>
                        <m:sSub>
                          <m:sSubPr>
                            <m:ctrlPr>
                              <a:rPr lang="en-US" i="1">
                                <a:latin typeface="Cambria Math" panose="02040503050406030204" pitchFamily="18" charset="0"/>
                              </a:rPr>
                            </m:ctrlPr>
                          </m:sSubPr>
                          <m:e>
                            <m:r>
                              <a:rPr lang="en-US">
                                <a:latin typeface="Cambria Math" panose="02040503050406030204" pitchFamily="18" charset="0"/>
                              </a:rPr>
                              <m:t>𝜷</m:t>
                            </m:r>
                          </m:e>
                          <m:sub>
                            <m:r>
                              <a:rPr lang="en-US">
                                <a:latin typeface="Cambria Math" panose="02040503050406030204" pitchFamily="18" charset="0"/>
                              </a:rPr>
                              <m:t>𝟏</m:t>
                            </m:r>
                          </m:sub>
                        </m:sSub>
                      </m:sup>
                    </m:sSup>
                  </m:oMath>
                </a14:m>
                <a:r>
                  <a:rPr lang="en-US" dirty="0"/>
                  <a:t> in median of Y|X.</a:t>
                </a:r>
              </a:p>
              <a:p>
                <a:r>
                  <a:rPr lang="en-US" dirty="0"/>
                  <a:t>Linear-log model</a:t>
                </a:r>
              </a:p>
              <a:p>
                <a:pPr lvl="1"/>
                <a:r>
                  <a:rPr lang="en-US" dirty="0"/>
                  <a:t>Interpretation: A doubling of X is associated with a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𝜷</m:t>
                        </m:r>
                      </m:e>
                      <m:sub>
                        <m:r>
                          <a:rPr lang="en-US">
                            <a:latin typeface="Cambria Math" panose="02040503050406030204" pitchFamily="18" charset="0"/>
                          </a:rPr>
                          <m:t>𝟏</m:t>
                        </m:r>
                      </m:sub>
                    </m:sSub>
                  </m:oMath>
                </a14:m>
                <a:r>
                  <a:rPr lang="en-US" dirty="0"/>
                  <a:t>Log(2) unit change in the mean of Y|X.</a:t>
                </a:r>
              </a:p>
              <a:p>
                <a:r>
                  <a:rPr lang="en-US" dirty="0"/>
                  <a:t>Log-log model</a:t>
                </a:r>
              </a:p>
              <a:p>
                <a:pPr lvl="1"/>
                <a:r>
                  <a:rPr lang="en-US" dirty="0"/>
                  <a:t>Interpretation: A doubling of X is associated with a </a:t>
                </a:r>
                <a14:m>
                  <m:oMath xmlns:m="http://schemas.openxmlformats.org/officeDocument/2006/math">
                    <m:sSup>
                      <m:sSupPr>
                        <m:ctrlPr>
                          <a:rPr lang="en-US" i="1">
                            <a:latin typeface="Cambria Math" panose="02040503050406030204" pitchFamily="18" charset="0"/>
                          </a:rPr>
                        </m:ctrlPr>
                      </m:sSupPr>
                      <m:e>
                        <m:r>
                          <a:rPr lang="en-US">
                            <a:latin typeface="Cambria Math" panose="02040503050406030204" pitchFamily="18" charset="0"/>
                          </a:rPr>
                          <m:t>𝟐</m:t>
                        </m:r>
                      </m:e>
                      <m:sup>
                        <m:sSub>
                          <m:sSubPr>
                            <m:ctrlPr>
                              <a:rPr lang="en-US" i="1">
                                <a:latin typeface="Cambria Math" panose="02040503050406030204" pitchFamily="18" charset="0"/>
                              </a:rPr>
                            </m:ctrlPr>
                          </m:sSubPr>
                          <m:e>
                            <m:r>
                              <a:rPr lang="en-US">
                                <a:latin typeface="Cambria Math" panose="02040503050406030204" pitchFamily="18" charset="0"/>
                              </a:rPr>
                              <m:t>𝜷</m:t>
                            </m:r>
                          </m:e>
                          <m:sub>
                            <m:r>
                              <a:rPr lang="en-US">
                                <a:latin typeface="Cambria Math" panose="02040503050406030204" pitchFamily="18" charset="0"/>
                              </a:rPr>
                              <m:t>𝟏</m:t>
                            </m:r>
                          </m:sub>
                        </m:sSub>
                      </m:sup>
                    </m:sSup>
                  </m:oMath>
                </a14:m>
                <a:r>
                  <a:rPr lang="en-US" dirty="0"/>
                  <a:t> multiplicative change in the median of Y|X.</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blipFill>
                <a:blip r:embed="rId2"/>
                <a:stretch>
                  <a:fillRect l="-1389" t="-1685" b="-3652"/>
                </a:stretch>
              </a:blipFill>
            </p:spPr>
            <p:txBody>
              <a:bodyPr/>
              <a:lstStyle/>
              <a:p>
                <a:r>
                  <a:rPr lang="en-US">
                    <a:noFill/>
                  </a:rPr>
                  <a:t> </a:t>
                </a:r>
              </a:p>
            </p:txBody>
          </p:sp>
        </mc:Fallback>
      </mc:AlternateContent>
    </p:spTree>
    <p:extLst>
      <p:ext uri="{BB962C8B-B14F-4D97-AF65-F5344CB8AC3E}">
        <p14:creationId xmlns:p14="http://schemas.microsoft.com/office/powerpoint/2010/main" val="146800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1CA3-E6C0-334A-B7F9-38C1DD8918B0}"/>
              </a:ext>
            </a:extLst>
          </p:cNvPr>
          <p:cNvSpPr>
            <a:spLocks noGrp="1"/>
          </p:cNvSpPr>
          <p:nvPr>
            <p:ph type="title"/>
          </p:nvPr>
        </p:nvSpPr>
        <p:spPr>
          <a:xfrm>
            <a:off x="609600" y="2438400"/>
            <a:ext cx="10972800" cy="1143000"/>
          </a:xfrm>
        </p:spPr>
        <p:txBody>
          <a:bodyPr/>
          <a:lstStyle/>
          <a:p>
            <a:r>
              <a:rPr lang="en-US" dirty="0"/>
              <a:t>Question 1</a:t>
            </a:r>
          </a:p>
        </p:txBody>
      </p:sp>
    </p:spTree>
    <p:extLst>
      <p:ext uri="{BB962C8B-B14F-4D97-AF65-F5344CB8AC3E}">
        <p14:creationId xmlns:p14="http://schemas.microsoft.com/office/powerpoint/2010/main" val="1224007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CE5EA-0003-BE46-90D2-363AD1412DC1}"/>
              </a:ext>
            </a:extLst>
          </p:cNvPr>
          <p:cNvSpPr>
            <a:spLocks noGrp="1"/>
          </p:cNvSpPr>
          <p:nvPr>
            <p:ph type="title"/>
          </p:nvPr>
        </p:nvSpPr>
        <p:spPr/>
        <p:txBody>
          <a:bodyPr/>
          <a:lstStyle/>
          <a:p>
            <a:r>
              <a:rPr lang="en-US" dirty="0"/>
              <a:t>Infant Mortality versus GDP</a:t>
            </a:r>
          </a:p>
        </p:txBody>
      </p:sp>
      <p:sp>
        <p:nvSpPr>
          <p:cNvPr id="3" name="Content Placeholder 2">
            <a:extLst>
              <a:ext uri="{FF2B5EF4-FFF2-40B4-BE49-F238E27FC236}">
                <a16:creationId xmlns:a16="http://schemas.microsoft.com/office/drawing/2014/main" id="{B4F7D138-F0BB-6543-A66B-D7A8FA051F23}"/>
              </a:ext>
            </a:extLst>
          </p:cNvPr>
          <p:cNvSpPr>
            <a:spLocks noGrp="1"/>
          </p:cNvSpPr>
          <p:nvPr>
            <p:ph idx="1"/>
          </p:nvPr>
        </p:nvSpPr>
        <p:spPr>
          <a:xfrm>
            <a:off x="609600" y="1371603"/>
            <a:ext cx="10972800" cy="4876797"/>
          </a:xfrm>
        </p:spPr>
        <p:txBody>
          <a:bodyPr/>
          <a:lstStyle/>
          <a:p>
            <a:r>
              <a:rPr lang="en-US" sz="1600" dirty="0"/>
              <a:t>A hugely impactful issue around the world is that of the infant mortality rate.</a:t>
            </a:r>
          </a:p>
          <a:p>
            <a:r>
              <a:rPr lang="en-US" sz="1600" dirty="0"/>
              <a:t>We would like to conduct a study of infant mortality versus GDP.  </a:t>
            </a:r>
          </a:p>
          <a:p>
            <a:r>
              <a:rPr lang="en-US" sz="1600" dirty="0"/>
              <a:t>Turns out the World Bank keeps this data … and … as you know (or will know after DDS)… they have an API available through R!  (package WDI).</a:t>
            </a:r>
          </a:p>
          <a:p>
            <a:r>
              <a:rPr lang="en-US" sz="1600" dirty="0"/>
              <a:t>I have provided the code (on the next slide), but please dissect the code to pick up and/or polish a data ingestion and wrangling skill!</a:t>
            </a:r>
          </a:p>
          <a:p>
            <a:r>
              <a:rPr lang="en-US" sz="1600" dirty="0"/>
              <a:t>Use the resulting dataset to plot Infant mortality rate (Y) versus GDP (X).  </a:t>
            </a:r>
          </a:p>
          <a:p>
            <a:pPr lvl="1"/>
            <a:r>
              <a:rPr lang="en-US" sz="1200" dirty="0"/>
              <a:t>Does it look like there is a linear relationship?  </a:t>
            </a:r>
          </a:p>
          <a:p>
            <a:r>
              <a:rPr lang="en-US" sz="1600" dirty="0"/>
              <a:t>If there does not appear to be a linear relationship, research if a log transform of one or both variables will be helpful in conducting a linear regression.  </a:t>
            </a:r>
          </a:p>
          <a:p>
            <a:r>
              <a:rPr lang="en-US" sz="1600" dirty="0"/>
              <a:t>If you were able to find a reasonable transformation, fit a simple linear regression line to the data and show the plot.  </a:t>
            </a:r>
          </a:p>
          <a:p>
            <a:r>
              <a:rPr lang="en-US" sz="1600" dirty="0"/>
              <a:t>Find the GDP of the United States of America and report if the actual infant mortality rate is above or below the amount expected by the regression line.  This line can be interpreted as the average Infant mortality rate after adjusting for GDP (you might hear it in the news reported in this fashion.)</a:t>
            </a:r>
          </a:p>
          <a:p>
            <a:r>
              <a:rPr lang="en-US" sz="1600" dirty="0"/>
              <a:t>Finally, we would like to try and quantify the relationship between Infant Mortality and GDP.  Interpret the slope of the regression line on the original scale (not on the log scale).</a:t>
            </a:r>
          </a:p>
          <a:p>
            <a:r>
              <a:rPr lang="en-US" sz="1600" dirty="0"/>
              <a:t>Be sure to quantify the uncertainty by including a confidence interval.  </a:t>
            </a:r>
          </a:p>
          <a:p>
            <a:r>
              <a:rPr lang="en-US" sz="1600" dirty="0"/>
              <a:t>The code is on the next slide! Have fun!</a:t>
            </a:r>
          </a:p>
          <a:p>
            <a:endParaRPr lang="en-US" dirty="0"/>
          </a:p>
        </p:txBody>
      </p:sp>
    </p:spTree>
    <p:extLst>
      <p:ext uri="{BB962C8B-B14F-4D97-AF65-F5344CB8AC3E}">
        <p14:creationId xmlns:p14="http://schemas.microsoft.com/office/powerpoint/2010/main" val="1274053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8CE7-BE94-104A-8CED-E54C7BB0563E}"/>
              </a:ext>
            </a:extLst>
          </p:cNvPr>
          <p:cNvSpPr>
            <a:spLocks noGrp="1"/>
          </p:cNvSpPr>
          <p:nvPr>
            <p:ph type="title"/>
          </p:nvPr>
        </p:nvSpPr>
        <p:spPr/>
        <p:txBody>
          <a:bodyPr/>
          <a:lstStyle/>
          <a:p>
            <a:r>
              <a:rPr lang="en-US" dirty="0"/>
              <a:t>OLD: Infant Mortality versus GDP: R Code</a:t>
            </a:r>
          </a:p>
        </p:txBody>
      </p:sp>
      <p:sp>
        <p:nvSpPr>
          <p:cNvPr id="4" name="Rectangle 3">
            <a:extLst>
              <a:ext uri="{FF2B5EF4-FFF2-40B4-BE49-F238E27FC236}">
                <a16:creationId xmlns:a16="http://schemas.microsoft.com/office/drawing/2014/main" id="{03044D5F-C60E-584C-956A-5C6B78A8B54A}"/>
              </a:ext>
            </a:extLst>
          </p:cNvPr>
          <p:cNvSpPr/>
          <p:nvPr/>
        </p:nvSpPr>
        <p:spPr>
          <a:xfrm>
            <a:off x="1752600" y="2286000"/>
            <a:ext cx="8686800" cy="3139321"/>
          </a:xfrm>
          <a:prstGeom prst="rect">
            <a:avLst/>
          </a:prstGeom>
        </p:spPr>
        <p:txBody>
          <a:bodyPr wrap="square">
            <a:spAutoFit/>
          </a:bodyPr>
          <a:lstStyle/>
          <a:p>
            <a:r>
              <a:rPr lang="en-US" dirty="0" err="1"/>
              <a:t>install.packages</a:t>
            </a:r>
            <a:r>
              <a:rPr lang="en-US" dirty="0"/>
              <a:t>(“WDI”)</a:t>
            </a:r>
          </a:p>
          <a:p>
            <a:r>
              <a:rPr lang="en-US" dirty="0"/>
              <a:t>library(</a:t>
            </a:r>
            <a:r>
              <a:rPr lang="en-US" dirty="0" err="1"/>
              <a:t>tidyverse</a:t>
            </a:r>
            <a:r>
              <a:rPr lang="en-US" dirty="0"/>
              <a:t>)</a:t>
            </a:r>
          </a:p>
          <a:p>
            <a:r>
              <a:rPr lang="en-US" dirty="0"/>
              <a:t>library(WDI)</a:t>
            </a:r>
          </a:p>
          <a:p>
            <a:r>
              <a:rPr lang="en-US" dirty="0" err="1"/>
              <a:t>WDIsearch</a:t>
            </a:r>
            <a:r>
              <a:rPr lang="en-US" dirty="0"/>
              <a:t>("infant") # yields the indicator: SP.DYN.IMRT.IN</a:t>
            </a:r>
          </a:p>
          <a:p>
            <a:r>
              <a:rPr lang="en-US" dirty="0" err="1"/>
              <a:t>WDIsearch</a:t>
            </a:r>
            <a:r>
              <a:rPr lang="en-US" dirty="0"/>
              <a:t>("GDP") # yields the indicator: NY.GDP.PCAP.CD</a:t>
            </a:r>
          </a:p>
          <a:p>
            <a:r>
              <a:rPr lang="en-US" dirty="0" err="1"/>
              <a:t>InfantMort</a:t>
            </a:r>
            <a:r>
              <a:rPr lang="en-US" dirty="0"/>
              <a:t> = WDI(,"</a:t>
            </a:r>
            <a:r>
              <a:rPr lang="en-US" dirty="0" err="1"/>
              <a:t>SP.DYN.IMRT.IN",start</a:t>
            </a:r>
            <a:r>
              <a:rPr lang="en-US" dirty="0"/>
              <a:t> = 2019, end = 2019)</a:t>
            </a:r>
          </a:p>
          <a:p>
            <a:r>
              <a:rPr lang="en-US" dirty="0"/>
              <a:t>GDPs = WDI(,"</a:t>
            </a:r>
            <a:r>
              <a:rPr lang="en-US" dirty="0" err="1"/>
              <a:t>NY.GDP.PCAP.CD",start</a:t>
            </a:r>
            <a:r>
              <a:rPr lang="en-US" dirty="0"/>
              <a:t> = 2019, end = 2019)</a:t>
            </a:r>
          </a:p>
          <a:p>
            <a:r>
              <a:rPr lang="en-US" dirty="0" err="1"/>
              <a:t>InfantVGDP</a:t>
            </a:r>
            <a:r>
              <a:rPr lang="en-US" dirty="0"/>
              <a:t> = </a:t>
            </a:r>
            <a:r>
              <a:rPr lang="en-US" dirty="0" err="1"/>
              <a:t>inner_join</a:t>
            </a:r>
            <a:r>
              <a:rPr lang="en-US" dirty="0"/>
              <a:t>(GDPs,</a:t>
            </a:r>
            <a:r>
              <a:rPr lang="en-US" dirty="0" err="1"/>
              <a:t>InfantMort</a:t>
            </a:r>
            <a:r>
              <a:rPr lang="en-US" dirty="0"/>
              <a:t>,"country")</a:t>
            </a:r>
          </a:p>
          <a:p>
            <a:r>
              <a:rPr lang="en-US" dirty="0" err="1"/>
              <a:t>InfantVGDP</a:t>
            </a:r>
            <a:r>
              <a:rPr lang="en-US" dirty="0"/>
              <a:t> = </a:t>
            </a:r>
            <a:r>
              <a:rPr lang="en-US" dirty="0" err="1"/>
              <a:t>InfantVGDP</a:t>
            </a:r>
            <a:r>
              <a:rPr lang="en-US" dirty="0"/>
              <a:t>[,c(1,2,3,4,6)]</a:t>
            </a:r>
          </a:p>
          <a:p>
            <a:r>
              <a:rPr lang="en-US" dirty="0" err="1"/>
              <a:t>colnames</a:t>
            </a:r>
            <a:r>
              <a:rPr lang="en-US" dirty="0"/>
              <a:t>(</a:t>
            </a:r>
            <a:r>
              <a:rPr lang="en-US" dirty="0" err="1"/>
              <a:t>InfantVGDP</a:t>
            </a:r>
            <a:r>
              <a:rPr lang="en-US" dirty="0"/>
              <a:t>) = c("iso2C","country","GDP","year","InfantMort")</a:t>
            </a:r>
          </a:p>
          <a:p>
            <a:r>
              <a:rPr lang="en-US" dirty="0" err="1"/>
              <a:t>InfantVGDP</a:t>
            </a:r>
            <a:endParaRPr lang="en-US" dirty="0"/>
          </a:p>
        </p:txBody>
      </p:sp>
      <p:sp>
        <p:nvSpPr>
          <p:cNvPr id="3" name="TextBox 2">
            <a:extLst>
              <a:ext uri="{FF2B5EF4-FFF2-40B4-BE49-F238E27FC236}">
                <a16:creationId xmlns:a16="http://schemas.microsoft.com/office/drawing/2014/main" id="{80AF3D4C-4238-577E-2B6A-6C79D2C0C4F0}"/>
              </a:ext>
            </a:extLst>
          </p:cNvPr>
          <p:cNvSpPr txBox="1"/>
          <p:nvPr/>
        </p:nvSpPr>
        <p:spPr>
          <a:xfrm>
            <a:off x="3619500" y="1452163"/>
            <a:ext cx="4953000" cy="584775"/>
          </a:xfrm>
          <a:prstGeom prst="rect">
            <a:avLst/>
          </a:prstGeom>
          <a:noFill/>
        </p:spPr>
        <p:txBody>
          <a:bodyPr wrap="square" rtlCol="0">
            <a:spAutoFit/>
          </a:bodyPr>
          <a:lstStyle/>
          <a:p>
            <a:pPr algn="ctr"/>
            <a:r>
              <a:rPr lang="en-US" sz="3200" dirty="0"/>
              <a:t>What is the problem?</a:t>
            </a:r>
          </a:p>
        </p:txBody>
      </p:sp>
    </p:spTree>
    <p:extLst>
      <p:ext uri="{BB962C8B-B14F-4D97-AF65-F5344CB8AC3E}">
        <p14:creationId xmlns:p14="http://schemas.microsoft.com/office/powerpoint/2010/main" val="329233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94F9-029A-7971-FE31-BB4A66B27393}"/>
              </a:ext>
            </a:extLst>
          </p:cNvPr>
          <p:cNvSpPr>
            <a:spLocks noGrp="1"/>
          </p:cNvSpPr>
          <p:nvPr>
            <p:ph type="title"/>
          </p:nvPr>
        </p:nvSpPr>
        <p:spPr/>
        <p:txBody>
          <a:bodyPr/>
          <a:lstStyle/>
          <a:p>
            <a:r>
              <a:rPr lang="en-US" dirty="0"/>
              <a:t>New: Infant Mortality versus GDP: R Code</a:t>
            </a:r>
          </a:p>
        </p:txBody>
      </p:sp>
      <p:sp>
        <p:nvSpPr>
          <p:cNvPr id="5" name="TextBox 4">
            <a:extLst>
              <a:ext uri="{FF2B5EF4-FFF2-40B4-BE49-F238E27FC236}">
                <a16:creationId xmlns:a16="http://schemas.microsoft.com/office/drawing/2014/main" id="{9D66352F-6351-D2B0-3B4D-4E81B7EDB49C}"/>
              </a:ext>
            </a:extLst>
          </p:cNvPr>
          <p:cNvSpPr txBox="1"/>
          <p:nvPr/>
        </p:nvSpPr>
        <p:spPr>
          <a:xfrm>
            <a:off x="1676400" y="2362200"/>
            <a:ext cx="9601200" cy="2862322"/>
          </a:xfrm>
          <a:prstGeom prst="rect">
            <a:avLst/>
          </a:prstGeom>
          <a:noFill/>
        </p:spPr>
        <p:txBody>
          <a:bodyPr wrap="square">
            <a:spAutoFit/>
          </a:bodyPr>
          <a:lstStyle/>
          <a:p>
            <a:r>
              <a:rPr lang="en-US" dirty="0" err="1"/>
              <a:t>install.packages</a:t>
            </a:r>
            <a:r>
              <a:rPr lang="en-US" dirty="0"/>
              <a:t>("WDI")</a:t>
            </a:r>
          </a:p>
          <a:p>
            <a:r>
              <a:rPr lang="en-US" dirty="0"/>
              <a:t>library(WDI)</a:t>
            </a:r>
          </a:p>
          <a:p>
            <a:r>
              <a:rPr lang="en-US" dirty="0" err="1"/>
              <a:t>WDIsearch</a:t>
            </a:r>
            <a:r>
              <a:rPr lang="en-US" dirty="0"/>
              <a:t>("infant") # yields the indicator: SP.DYN.IMRT.IN</a:t>
            </a:r>
          </a:p>
          <a:p>
            <a:r>
              <a:rPr lang="en-US" dirty="0" err="1"/>
              <a:t>WDIsearch</a:t>
            </a:r>
            <a:r>
              <a:rPr lang="en-US" dirty="0"/>
              <a:t>("GDP") # yields the indicator: NY.GDP.PCAP.CD</a:t>
            </a:r>
          </a:p>
          <a:p>
            <a:r>
              <a:rPr lang="en-US" dirty="0" err="1"/>
              <a:t>InfantMort</a:t>
            </a:r>
            <a:r>
              <a:rPr lang="en-US" dirty="0"/>
              <a:t> = WDI(,"</a:t>
            </a:r>
            <a:r>
              <a:rPr lang="en-US" dirty="0" err="1"/>
              <a:t>SP.DYN.IMRT.IN",start</a:t>
            </a:r>
            <a:r>
              <a:rPr lang="en-US" dirty="0"/>
              <a:t> = 2019, end = 2019)</a:t>
            </a:r>
          </a:p>
          <a:p>
            <a:r>
              <a:rPr lang="en-US" dirty="0"/>
              <a:t>GDPs = WDI(,"</a:t>
            </a:r>
            <a:r>
              <a:rPr lang="en-US" dirty="0" err="1"/>
              <a:t>NY.GDP.PCAP.CD",start</a:t>
            </a:r>
            <a:r>
              <a:rPr lang="en-US" dirty="0"/>
              <a:t> = 2019, end = 2019)</a:t>
            </a:r>
          </a:p>
          <a:p>
            <a:r>
              <a:rPr lang="en-US" dirty="0" err="1"/>
              <a:t>InfantVGDP</a:t>
            </a:r>
            <a:r>
              <a:rPr lang="en-US" dirty="0"/>
              <a:t> = </a:t>
            </a:r>
            <a:r>
              <a:rPr lang="en-US" dirty="0" err="1"/>
              <a:t>inner_join</a:t>
            </a:r>
            <a:r>
              <a:rPr lang="en-US" dirty="0"/>
              <a:t>(</a:t>
            </a:r>
            <a:r>
              <a:rPr lang="en-US" dirty="0" err="1"/>
              <a:t>GDPs,InfantMort</a:t>
            </a:r>
            <a:r>
              <a:rPr lang="en-US" dirty="0"/>
              <a:t>, "country")</a:t>
            </a:r>
          </a:p>
          <a:p>
            <a:r>
              <a:rPr lang="en-US" dirty="0" err="1"/>
              <a:t>InfantVGDP</a:t>
            </a:r>
            <a:r>
              <a:rPr lang="en-US" dirty="0"/>
              <a:t> = </a:t>
            </a:r>
            <a:r>
              <a:rPr lang="en-US" dirty="0" err="1"/>
              <a:t>InfantVGDP</a:t>
            </a:r>
            <a:r>
              <a:rPr lang="en-US" dirty="0"/>
              <a:t> %&gt;% select("</a:t>
            </a:r>
            <a:r>
              <a:rPr lang="en-US" dirty="0" err="1"/>
              <a:t>country","NY.GDP.PCAP.CD","SP.DYN.IMRT.IN</a:t>
            </a:r>
            <a:r>
              <a:rPr lang="en-US" dirty="0"/>
              <a:t>")</a:t>
            </a:r>
          </a:p>
          <a:p>
            <a:r>
              <a:rPr lang="en-US" dirty="0" err="1"/>
              <a:t>colnames</a:t>
            </a:r>
            <a:r>
              <a:rPr lang="en-US" dirty="0"/>
              <a:t>(</a:t>
            </a:r>
            <a:r>
              <a:rPr lang="en-US" dirty="0" err="1"/>
              <a:t>InfantVGDP</a:t>
            </a:r>
            <a:r>
              <a:rPr lang="en-US" dirty="0"/>
              <a:t>) = c("country","GDP","</a:t>
            </a:r>
            <a:r>
              <a:rPr lang="en-US" dirty="0" err="1"/>
              <a:t>InfantMort</a:t>
            </a:r>
            <a:r>
              <a:rPr lang="en-US" dirty="0"/>
              <a:t>")</a:t>
            </a:r>
          </a:p>
          <a:p>
            <a:r>
              <a:rPr lang="en-US" dirty="0" err="1"/>
              <a:t>InfantVGDP</a:t>
            </a:r>
            <a:endParaRPr lang="en-US" dirty="0"/>
          </a:p>
        </p:txBody>
      </p:sp>
      <p:sp>
        <p:nvSpPr>
          <p:cNvPr id="6" name="TextBox 5">
            <a:extLst>
              <a:ext uri="{FF2B5EF4-FFF2-40B4-BE49-F238E27FC236}">
                <a16:creationId xmlns:a16="http://schemas.microsoft.com/office/drawing/2014/main" id="{DB818B49-FADA-FB15-3922-978682A5897C}"/>
              </a:ext>
            </a:extLst>
          </p:cNvPr>
          <p:cNvSpPr txBox="1"/>
          <p:nvPr/>
        </p:nvSpPr>
        <p:spPr>
          <a:xfrm>
            <a:off x="3619500" y="1452163"/>
            <a:ext cx="4953000" cy="584775"/>
          </a:xfrm>
          <a:prstGeom prst="rect">
            <a:avLst/>
          </a:prstGeom>
          <a:noFill/>
        </p:spPr>
        <p:txBody>
          <a:bodyPr wrap="square" rtlCol="0">
            <a:spAutoFit/>
          </a:bodyPr>
          <a:lstStyle/>
          <a:p>
            <a:pPr algn="ctr"/>
            <a:r>
              <a:rPr lang="en-US" sz="3200" dirty="0"/>
              <a:t>What is the fix?</a:t>
            </a:r>
          </a:p>
        </p:txBody>
      </p:sp>
    </p:spTree>
    <p:extLst>
      <p:ext uri="{BB962C8B-B14F-4D97-AF65-F5344CB8AC3E}">
        <p14:creationId xmlns:p14="http://schemas.microsoft.com/office/powerpoint/2010/main" val="1641965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21D4C-829D-784A-AE7E-D9D9C8E9DB73}"/>
              </a:ext>
            </a:extLst>
          </p:cNvPr>
          <p:cNvSpPr>
            <a:spLocks noGrp="1"/>
          </p:cNvSpPr>
          <p:nvPr>
            <p:ph type="title"/>
          </p:nvPr>
        </p:nvSpPr>
        <p:spPr/>
        <p:txBody>
          <a:bodyPr/>
          <a:lstStyle/>
          <a:p>
            <a:r>
              <a:rPr lang="en-US" dirty="0"/>
              <a:t>Infant Mortality versus GDP</a:t>
            </a:r>
          </a:p>
        </p:txBody>
      </p:sp>
      <p:sp>
        <p:nvSpPr>
          <p:cNvPr id="4" name="Rectangle 3">
            <a:extLst>
              <a:ext uri="{FF2B5EF4-FFF2-40B4-BE49-F238E27FC236}">
                <a16:creationId xmlns:a16="http://schemas.microsoft.com/office/drawing/2014/main" id="{149D425B-C218-144F-8B6C-DF97C25BD498}"/>
              </a:ext>
            </a:extLst>
          </p:cNvPr>
          <p:cNvSpPr/>
          <p:nvPr/>
        </p:nvSpPr>
        <p:spPr>
          <a:xfrm>
            <a:off x="609600" y="1676400"/>
            <a:ext cx="7239000" cy="523220"/>
          </a:xfrm>
          <a:prstGeom prst="rect">
            <a:avLst/>
          </a:prstGeom>
        </p:spPr>
        <p:txBody>
          <a:bodyPr wrap="square">
            <a:spAutoFit/>
          </a:bodyPr>
          <a:lstStyle/>
          <a:p>
            <a:r>
              <a:rPr lang="en-US" sz="1600" dirty="0"/>
              <a:t>Use the resulting dataset to plot Infant mortality rate (Y) versus GDP (X).  </a:t>
            </a:r>
          </a:p>
          <a:p>
            <a:pPr lvl="1"/>
            <a:r>
              <a:rPr lang="en-US" sz="1200" dirty="0"/>
              <a:t>Does it look like there is a linear relationship?  </a:t>
            </a:r>
          </a:p>
        </p:txBody>
      </p:sp>
      <p:sp>
        <p:nvSpPr>
          <p:cNvPr id="5" name="Rectangle 4">
            <a:extLst>
              <a:ext uri="{FF2B5EF4-FFF2-40B4-BE49-F238E27FC236}">
                <a16:creationId xmlns:a16="http://schemas.microsoft.com/office/drawing/2014/main" id="{57E321E4-7795-0540-9FDE-79233A150001}"/>
              </a:ext>
            </a:extLst>
          </p:cNvPr>
          <p:cNvSpPr/>
          <p:nvPr/>
        </p:nvSpPr>
        <p:spPr>
          <a:xfrm>
            <a:off x="266700" y="6222897"/>
            <a:ext cx="11658600" cy="369332"/>
          </a:xfrm>
          <a:prstGeom prst="rect">
            <a:avLst/>
          </a:prstGeom>
        </p:spPr>
        <p:txBody>
          <a:bodyPr wrap="square">
            <a:spAutoFit/>
          </a:bodyPr>
          <a:lstStyle/>
          <a:p>
            <a:r>
              <a:rPr lang="en-US" dirty="0"/>
              <a:t> </a:t>
            </a:r>
            <a:r>
              <a:rPr lang="en-US" dirty="0" err="1"/>
              <a:t>InfantVGDP</a:t>
            </a:r>
            <a:r>
              <a:rPr lang="en-US" dirty="0"/>
              <a:t> %&gt;% </a:t>
            </a:r>
            <a:r>
              <a:rPr lang="en-US" dirty="0" err="1"/>
              <a:t>ggplot</a:t>
            </a:r>
            <a:r>
              <a:rPr lang="en-US" dirty="0"/>
              <a:t>(</a:t>
            </a:r>
            <a:r>
              <a:rPr lang="en-US" dirty="0" err="1"/>
              <a:t>aes</a:t>
            </a:r>
            <a:r>
              <a:rPr lang="en-US" dirty="0"/>
              <a:t>(x = GDP, y = </a:t>
            </a:r>
            <a:r>
              <a:rPr lang="en-US" dirty="0" err="1"/>
              <a:t>InfantMort</a:t>
            </a:r>
            <a:r>
              <a:rPr lang="en-US" dirty="0"/>
              <a:t>)) + </a:t>
            </a:r>
            <a:r>
              <a:rPr lang="en-US" dirty="0" err="1"/>
              <a:t>geom_point</a:t>
            </a:r>
            <a:r>
              <a:rPr lang="en-US" dirty="0"/>
              <a:t>() + </a:t>
            </a:r>
            <a:r>
              <a:rPr lang="en-US" dirty="0" err="1"/>
              <a:t>ggtitle</a:t>
            </a:r>
            <a:r>
              <a:rPr lang="en-US" dirty="0"/>
              <a:t>("Infant Mortality versus GDP")</a:t>
            </a:r>
          </a:p>
        </p:txBody>
      </p:sp>
      <p:pic>
        <p:nvPicPr>
          <p:cNvPr id="7" name="Picture 6">
            <a:extLst>
              <a:ext uri="{FF2B5EF4-FFF2-40B4-BE49-F238E27FC236}">
                <a16:creationId xmlns:a16="http://schemas.microsoft.com/office/drawing/2014/main" id="{7F8B2AFE-F39D-3740-9F04-1A0EBCE36DEC}"/>
              </a:ext>
            </a:extLst>
          </p:cNvPr>
          <p:cNvPicPr>
            <a:picLocks noChangeAspect="1"/>
          </p:cNvPicPr>
          <p:nvPr/>
        </p:nvPicPr>
        <p:blipFill>
          <a:blip r:embed="rId2"/>
          <a:stretch>
            <a:fillRect/>
          </a:stretch>
        </p:blipFill>
        <p:spPr>
          <a:xfrm>
            <a:off x="1238250" y="2317559"/>
            <a:ext cx="9715500" cy="3787398"/>
          </a:xfrm>
          <a:prstGeom prst="rect">
            <a:avLst/>
          </a:prstGeom>
        </p:spPr>
      </p:pic>
    </p:spTree>
    <p:extLst>
      <p:ext uri="{BB962C8B-B14F-4D97-AF65-F5344CB8AC3E}">
        <p14:creationId xmlns:p14="http://schemas.microsoft.com/office/powerpoint/2010/main" val="3951577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A237-AEAC-FE46-B912-15C924E9E42A}"/>
              </a:ext>
            </a:extLst>
          </p:cNvPr>
          <p:cNvSpPr>
            <a:spLocks noGrp="1"/>
          </p:cNvSpPr>
          <p:nvPr>
            <p:ph type="title"/>
          </p:nvPr>
        </p:nvSpPr>
        <p:spPr/>
        <p:txBody>
          <a:bodyPr/>
          <a:lstStyle/>
          <a:p>
            <a:r>
              <a:rPr lang="en-US" dirty="0"/>
              <a:t>Infant Mortality versus GDP</a:t>
            </a:r>
          </a:p>
        </p:txBody>
      </p:sp>
      <p:sp>
        <p:nvSpPr>
          <p:cNvPr id="4" name="Rectangle 3">
            <a:extLst>
              <a:ext uri="{FF2B5EF4-FFF2-40B4-BE49-F238E27FC236}">
                <a16:creationId xmlns:a16="http://schemas.microsoft.com/office/drawing/2014/main" id="{8883FD75-D9E1-7642-8D9D-D757EA4EF7B9}"/>
              </a:ext>
            </a:extLst>
          </p:cNvPr>
          <p:cNvSpPr/>
          <p:nvPr/>
        </p:nvSpPr>
        <p:spPr>
          <a:xfrm>
            <a:off x="228600" y="1311148"/>
            <a:ext cx="11734800" cy="646331"/>
          </a:xfrm>
          <a:prstGeom prst="rect">
            <a:avLst/>
          </a:prstGeom>
        </p:spPr>
        <p:txBody>
          <a:bodyPr wrap="square">
            <a:spAutoFit/>
          </a:bodyPr>
          <a:lstStyle/>
          <a:p>
            <a:r>
              <a:rPr lang="en-US" dirty="0"/>
              <a:t>If there does not appear to be a linear relationship, research if a log transform of one or both variables will be helpful in conducting a linear regression.  </a:t>
            </a:r>
          </a:p>
        </p:txBody>
      </p:sp>
      <p:sp>
        <p:nvSpPr>
          <p:cNvPr id="5" name="Rectangle 4">
            <a:extLst>
              <a:ext uri="{FF2B5EF4-FFF2-40B4-BE49-F238E27FC236}">
                <a16:creationId xmlns:a16="http://schemas.microsoft.com/office/drawing/2014/main" id="{60CE0C9E-C9B6-8742-A76A-454848610800}"/>
              </a:ext>
            </a:extLst>
          </p:cNvPr>
          <p:cNvSpPr/>
          <p:nvPr/>
        </p:nvSpPr>
        <p:spPr>
          <a:xfrm>
            <a:off x="3676650" y="5068899"/>
            <a:ext cx="4838700" cy="830997"/>
          </a:xfrm>
          <a:prstGeom prst="rect">
            <a:avLst/>
          </a:prstGeom>
        </p:spPr>
        <p:txBody>
          <a:bodyPr wrap="square">
            <a:spAutoFit/>
          </a:bodyPr>
          <a:lstStyle/>
          <a:p>
            <a:r>
              <a:rPr lang="en-US" sz="1200" dirty="0" err="1"/>
              <a:t>InfantVGDP</a:t>
            </a:r>
            <a:r>
              <a:rPr lang="en-US" sz="1200" dirty="0"/>
              <a:t> %&gt;% </a:t>
            </a:r>
          </a:p>
          <a:p>
            <a:r>
              <a:rPr lang="en-US" sz="1200" dirty="0"/>
              <a:t>	</a:t>
            </a:r>
            <a:r>
              <a:rPr lang="en-US" sz="1200" dirty="0" err="1"/>
              <a:t>ggplot</a:t>
            </a:r>
            <a:r>
              <a:rPr lang="en-US" sz="1200" dirty="0"/>
              <a:t>(</a:t>
            </a:r>
            <a:r>
              <a:rPr lang="en-US" sz="1200" dirty="0" err="1"/>
              <a:t>aes</a:t>
            </a:r>
            <a:r>
              <a:rPr lang="en-US" sz="1200" dirty="0"/>
              <a:t>(x = GDP, y = log(</a:t>
            </a:r>
            <a:r>
              <a:rPr lang="en-US" sz="1200" dirty="0" err="1"/>
              <a:t>InfantMort</a:t>
            </a:r>
            <a:r>
              <a:rPr lang="en-US" sz="1200" dirty="0"/>
              <a:t>))) + </a:t>
            </a:r>
          </a:p>
          <a:p>
            <a:r>
              <a:rPr lang="en-US" sz="1200" dirty="0"/>
              <a:t>		</a:t>
            </a:r>
            <a:r>
              <a:rPr lang="en-US" sz="1200" dirty="0" err="1"/>
              <a:t>geom_point</a:t>
            </a:r>
            <a:r>
              <a:rPr lang="en-US" sz="1200" dirty="0"/>
              <a:t>() + </a:t>
            </a:r>
          </a:p>
          <a:p>
            <a:r>
              <a:rPr lang="en-US" sz="1200" dirty="0"/>
              <a:t>		</a:t>
            </a:r>
            <a:r>
              <a:rPr lang="en-US" sz="1200" dirty="0" err="1"/>
              <a:t>ggtitle</a:t>
            </a:r>
            <a:r>
              <a:rPr lang="en-US" sz="1200" dirty="0"/>
              <a:t>(”log(Infant Mortality) versus GDP")</a:t>
            </a:r>
          </a:p>
        </p:txBody>
      </p:sp>
      <p:sp>
        <p:nvSpPr>
          <p:cNvPr id="6" name="Rectangle 5">
            <a:extLst>
              <a:ext uri="{FF2B5EF4-FFF2-40B4-BE49-F238E27FC236}">
                <a16:creationId xmlns:a16="http://schemas.microsoft.com/office/drawing/2014/main" id="{5C2E52CA-C955-F542-978E-F74749F264E1}"/>
              </a:ext>
            </a:extLst>
          </p:cNvPr>
          <p:cNvSpPr/>
          <p:nvPr/>
        </p:nvSpPr>
        <p:spPr>
          <a:xfrm>
            <a:off x="76200" y="4198203"/>
            <a:ext cx="4838700" cy="830997"/>
          </a:xfrm>
          <a:prstGeom prst="rect">
            <a:avLst/>
          </a:prstGeom>
        </p:spPr>
        <p:txBody>
          <a:bodyPr wrap="square">
            <a:spAutoFit/>
          </a:bodyPr>
          <a:lstStyle/>
          <a:p>
            <a:r>
              <a:rPr lang="en-US" sz="1200" dirty="0" err="1"/>
              <a:t>InfantVGDP</a:t>
            </a:r>
            <a:r>
              <a:rPr lang="en-US" sz="1200" dirty="0"/>
              <a:t> %&gt;% </a:t>
            </a:r>
          </a:p>
          <a:p>
            <a:r>
              <a:rPr lang="en-US" sz="1200" dirty="0"/>
              <a:t>	</a:t>
            </a:r>
            <a:r>
              <a:rPr lang="en-US" sz="1200" dirty="0" err="1"/>
              <a:t>ggplot</a:t>
            </a:r>
            <a:r>
              <a:rPr lang="en-US" sz="1200" dirty="0"/>
              <a:t>(</a:t>
            </a:r>
            <a:r>
              <a:rPr lang="en-US" sz="1200" dirty="0" err="1"/>
              <a:t>aes</a:t>
            </a:r>
            <a:r>
              <a:rPr lang="en-US" sz="1200" dirty="0"/>
              <a:t>(x = log(GDP), y = </a:t>
            </a:r>
            <a:r>
              <a:rPr lang="en-US" sz="1200" dirty="0" err="1"/>
              <a:t>InfantMort</a:t>
            </a:r>
            <a:r>
              <a:rPr lang="en-US" sz="1200" dirty="0"/>
              <a:t>) + </a:t>
            </a:r>
          </a:p>
          <a:p>
            <a:r>
              <a:rPr lang="en-US" sz="1200" dirty="0"/>
              <a:t>		</a:t>
            </a:r>
            <a:r>
              <a:rPr lang="en-US" sz="1200" dirty="0" err="1"/>
              <a:t>geom_point</a:t>
            </a:r>
            <a:r>
              <a:rPr lang="en-US" sz="1200" dirty="0"/>
              <a:t>() + </a:t>
            </a:r>
          </a:p>
          <a:p>
            <a:r>
              <a:rPr lang="en-US" sz="1200" dirty="0"/>
              <a:t>		</a:t>
            </a:r>
            <a:r>
              <a:rPr lang="en-US" sz="1200" dirty="0" err="1"/>
              <a:t>ggtitle</a:t>
            </a:r>
            <a:r>
              <a:rPr lang="en-US" sz="1200" dirty="0"/>
              <a:t>("Infant Mortality versus log(GDP"))</a:t>
            </a:r>
          </a:p>
        </p:txBody>
      </p:sp>
      <p:sp>
        <p:nvSpPr>
          <p:cNvPr id="7" name="Rectangle 6">
            <a:extLst>
              <a:ext uri="{FF2B5EF4-FFF2-40B4-BE49-F238E27FC236}">
                <a16:creationId xmlns:a16="http://schemas.microsoft.com/office/drawing/2014/main" id="{B7159DFF-F9F3-D442-824E-AB16FC7B6369}"/>
              </a:ext>
            </a:extLst>
          </p:cNvPr>
          <p:cNvSpPr/>
          <p:nvPr/>
        </p:nvSpPr>
        <p:spPr>
          <a:xfrm>
            <a:off x="7162800" y="5943369"/>
            <a:ext cx="5105400" cy="830997"/>
          </a:xfrm>
          <a:prstGeom prst="rect">
            <a:avLst/>
          </a:prstGeom>
        </p:spPr>
        <p:txBody>
          <a:bodyPr wrap="square">
            <a:spAutoFit/>
          </a:bodyPr>
          <a:lstStyle/>
          <a:p>
            <a:r>
              <a:rPr lang="en-US" sz="1200" dirty="0" err="1"/>
              <a:t>InfantVGDP</a:t>
            </a:r>
            <a:r>
              <a:rPr lang="en-US" sz="1200" dirty="0"/>
              <a:t> %&gt;% </a:t>
            </a:r>
          </a:p>
          <a:p>
            <a:r>
              <a:rPr lang="en-US" sz="1200" dirty="0"/>
              <a:t>	</a:t>
            </a:r>
            <a:r>
              <a:rPr lang="en-US" sz="1200" dirty="0" err="1"/>
              <a:t>ggplot</a:t>
            </a:r>
            <a:r>
              <a:rPr lang="en-US" sz="1200" dirty="0"/>
              <a:t>(</a:t>
            </a:r>
            <a:r>
              <a:rPr lang="en-US" sz="1200" dirty="0" err="1"/>
              <a:t>aes</a:t>
            </a:r>
            <a:r>
              <a:rPr lang="en-US" sz="1200" dirty="0"/>
              <a:t>(x = log(GDP), y = log(</a:t>
            </a:r>
            <a:r>
              <a:rPr lang="en-US" sz="1200" dirty="0" err="1"/>
              <a:t>InfantMort</a:t>
            </a:r>
            <a:r>
              <a:rPr lang="en-US" sz="1200" dirty="0"/>
              <a:t>))) + </a:t>
            </a:r>
          </a:p>
          <a:p>
            <a:r>
              <a:rPr lang="en-US" sz="1200" dirty="0"/>
              <a:t>		</a:t>
            </a:r>
            <a:r>
              <a:rPr lang="en-US" sz="1200" dirty="0" err="1"/>
              <a:t>geom_point</a:t>
            </a:r>
            <a:r>
              <a:rPr lang="en-US" sz="1200" dirty="0"/>
              <a:t>() + </a:t>
            </a:r>
          </a:p>
          <a:p>
            <a:r>
              <a:rPr lang="en-US" sz="1200" dirty="0"/>
              <a:t>		</a:t>
            </a:r>
            <a:r>
              <a:rPr lang="en-US" sz="1200" dirty="0" err="1"/>
              <a:t>ggtitle</a:t>
            </a:r>
            <a:r>
              <a:rPr lang="en-US" sz="1200" dirty="0"/>
              <a:t>(”log(Infant Mortality) versus log(GDP"))</a:t>
            </a:r>
          </a:p>
        </p:txBody>
      </p:sp>
      <p:pic>
        <p:nvPicPr>
          <p:cNvPr id="8" name="Picture 7">
            <a:extLst>
              <a:ext uri="{FF2B5EF4-FFF2-40B4-BE49-F238E27FC236}">
                <a16:creationId xmlns:a16="http://schemas.microsoft.com/office/drawing/2014/main" id="{C3BD7EC9-55F3-7641-8241-FC0C476FC000}"/>
              </a:ext>
            </a:extLst>
          </p:cNvPr>
          <p:cNvPicPr>
            <a:picLocks noChangeAspect="1"/>
          </p:cNvPicPr>
          <p:nvPr/>
        </p:nvPicPr>
        <p:blipFill>
          <a:blip r:embed="rId2"/>
          <a:stretch>
            <a:fillRect/>
          </a:stretch>
        </p:blipFill>
        <p:spPr>
          <a:xfrm>
            <a:off x="8928100" y="3505200"/>
            <a:ext cx="2654300" cy="2628900"/>
          </a:xfrm>
          <a:prstGeom prst="rect">
            <a:avLst/>
          </a:prstGeom>
        </p:spPr>
      </p:pic>
      <p:pic>
        <p:nvPicPr>
          <p:cNvPr id="9" name="Picture 8">
            <a:extLst>
              <a:ext uri="{FF2B5EF4-FFF2-40B4-BE49-F238E27FC236}">
                <a16:creationId xmlns:a16="http://schemas.microsoft.com/office/drawing/2014/main" id="{3DC0ACBE-6C16-FE4C-B87E-4F026CC46A09}"/>
              </a:ext>
            </a:extLst>
          </p:cNvPr>
          <p:cNvPicPr>
            <a:picLocks noChangeAspect="1"/>
          </p:cNvPicPr>
          <p:nvPr/>
        </p:nvPicPr>
        <p:blipFill>
          <a:blip r:embed="rId3"/>
          <a:stretch>
            <a:fillRect/>
          </a:stretch>
        </p:blipFill>
        <p:spPr>
          <a:xfrm>
            <a:off x="4974373" y="2743200"/>
            <a:ext cx="3011297" cy="2513462"/>
          </a:xfrm>
          <a:prstGeom prst="rect">
            <a:avLst/>
          </a:prstGeom>
        </p:spPr>
      </p:pic>
      <p:pic>
        <p:nvPicPr>
          <p:cNvPr id="10" name="Picture 9">
            <a:extLst>
              <a:ext uri="{FF2B5EF4-FFF2-40B4-BE49-F238E27FC236}">
                <a16:creationId xmlns:a16="http://schemas.microsoft.com/office/drawing/2014/main" id="{4408C9AC-394C-B048-91E7-DA993C8C195F}"/>
              </a:ext>
            </a:extLst>
          </p:cNvPr>
          <p:cNvPicPr>
            <a:picLocks noChangeAspect="1"/>
          </p:cNvPicPr>
          <p:nvPr/>
        </p:nvPicPr>
        <p:blipFill>
          <a:blip r:embed="rId4"/>
          <a:stretch>
            <a:fillRect/>
          </a:stretch>
        </p:blipFill>
        <p:spPr>
          <a:xfrm>
            <a:off x="1413870" y="1957479"/>
            <a:ext cx="2911641" cy="2430281"/>
          </a:xfrm>
          <a:prstGeom prst="rect">
            <a:avLst/>
          </a:prstGeom>
        </p:spPr>
      </p:pic>
    </p:spTree>
    <p:extLst>
      <p:ext uri="{BB962C8B-B14F-4D97-AF65-F5344CB8AC3E}">
        <p14:creationId xmlns:p14="http://schemas.microsoft.com/office/powerpoint/2010/main" val="3924955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A237-AEAC-FE46-B912-15C924E9E42A}"/>
              </a:ext>
            </a:extLst>
          </p:cNvPr>
          <p:cNvSpPr>
            <a:spLocks noGrp="1"/>
          </p:cNvSpPr>
          <p:nvPr>
            <p:ph type="title"/>
          </p:nvPr>
        </p:nvSpPr>
        <p:spPr/>
        <p:txBody>
          <a:bodyPr/>
          <a:lstStyle/>
          <a:p>
            <a:r>
              <a:rPr lang="en-US" dirty="0"/>
              <a:t>Infant Mortality versus GDP</a:t>
            </a:r>
          </a:p>
        </p:txBody>
      </p:sp>
      <p:sp>
        <p:nvSpPr>
          <p:cNvPr id="4" name="Rectangle 3">
            <a:extLst>
              <a:ext uri="{FF2B5EF4-FFF2-40B4-BE49-F238E27FC236}">
                <a16:creationId xmlns:a16="http://schemas.microsoft.com/office/drawing/2014/main" id="{8883FD75-D9E1-7642-8D9D-D757EA4EF7B9}"/>
              </a:ext>
            </a:extLst>
          </p:cNvPr>
          <p:cNvSpPr/>
          <p:nvPr/>
        </p:nvSpPr>
        <p:spPr>
          <a:xfrm>
            <a:off x="228600" y="1311148"/>
            <a:ext cx="11734800" cy="646331"/>
          </a:xfrm>
          <a:prstGeom prst="rect">
            <a:avLst/>
          </a:prstGeom>
        </p:spPr>
        <p:txBody>
          <a:bodyPr wrap="square">
            <a:spAutoFit/>
          </a:bodyPr>
          <a:lstStyle/>
          <a:p>
            <a:r>
              <a:rPr lang="en-US" dirty="0"/>
              <a:t>If there does not appear to be a linear relationship, research if a log transform of one or both variables will be helpful in conducting a linear regression.  </a:t>
            </a:r>
          </a:p>
        </p:txBody>
      </p:sp>
      <p:pic>
        <p:nvPicPr>
          <p:cNvPr id="8" name="Picture 7">
            <a:extLst>
              <a:ext uri="{FF2B5EF4-FFF2-40B4-BE49-F238E27FC236}">
                <a16:creationId xmlns:a16="http://schemas.microsoft.com/office/drawing/2014/main" id="{C3BD7EC9-55F3-7641-8241-FC0C476FC000}"/>
              </a:ext>
            </a:extLst>
          </p:cNvPr>
          <p:cNvPicPr>
            <a:picLocks noChangeAspect="1"/>
          </p:cNvPicPr>
          <p:nvPr/>
        </p:nvPicPr>
        <p:blipFill>
          <a:blip r:embed="rId2"/>
          <a:stretch>
            <a:fillRect/>
          </a:stretch>
        </p:blipFill>
        <p:spPr>
          <a:xfrm>
            <a:off x="6248400" y="1784399"/>
            <a:ext cx="4876800" cy="4830132"/>
          </a:xfrm>
          <a:prstGeom prst="rect">
            <a:avLst/>
          </a:prstGeom>
        </p:spPr>
      </p:pic>
      <p:pic>
        <p:nvPicPr>
          <p:cNvPr id="11" name="Picture 10">
            <a:extLst>
              <a:ext uri="{FF2B5EF4-FFF2-40B4-BE49-F238E27FC236}">
                <a16:creationId xmlns:a16="http://schemas.microsoft.com/office/drawing/2014/main" id="{3FD6E495-B7C4-3748-8E27-CBF2CDF6435F}"/>
              </a:ext>
            </a:extLst>
          </p:cNvPr>
          <p:cNvPicPr>
            <a:picLocks noChangeAspect="1"/>
          </p:cNvPicPr>
          <p:nvPr/>
        </p:nvPicPr>
        <p:blipFill>
          <a:blip r:embed="rId3"/>
          <a:stretch>
            <a:fillRect/>
          </a:stretch>
        </p:blipFill>
        <p:spPr>
          <a:xfrm>
            <a:off x="426188" y="2715399"/>
            <a:ext cx="5331558" cy="2349500"/>
          </a:xfrm>
          <a:prstGeom prst="rect">
            <a:avLst/>
          </a:prstGeom>
        </p:spPr>
      </p:pic>
      <p:sp>
        <p:nvSpPr>
          <p:cNvPr id="12" name="Rectangle 11">
            <a:extLst>
              <a:ext uri="{FF2B5EF4-FFF2-40B4-BE49-F238E27FC236}">
                <a16:creationId xmlns:a16="http://schemas.microsoft.com/office/drawing/2014/main" id="{CE3F5EB1-133A-064C-A985-A449997DB0D2}"/>
              </a:ext>
            </a:extLst>
          </p:cNvPr>
          <p:cNvSpPr/>
          <p:nvPr/>
        </p:nvSpPr>
        <p:spPr>
          <a:xfrm>
            <a:off x="426188" y="2438400"/>
            <a:ext cx="4495800" cy="276999"/>
          </a:xfrm>
          <a:prstGeom prst="rect">
            <a:avLst/>
          </a:prstGeom>
        </p:spPr>
        <p:txBody>
          <a:bodyPr wrap="square">
            <a:spAutoFit/>
          </a:bodyPr>
          <a:lstStyle/>
          <a:p>
            <a:r>
              <a:rPr lang="en-US" sz="1200" dirty="0" err="1"/>
              <a:t>cor.test</a:t>
            </a:r>
            <a:r>
              <a:rPr lang="en-US" sz="1200" dirty="0"/>
              <a:t>(log(</a:t>
            </a:r>
            <a:r>
              <a:rPr lang="en-US" sz="1200" dirty="0" err="1"/>
              <a:t>InfantVGDP$InfantMort</a:t>
            </a:r>
            <a:r>
              <a:rPr lang="en-US" sz="1200" dirty="0"/>
              <a:t>),log(</a:t>
            </a:r>
            <a:r>
              <a:rPr lang="en-US" sz="1200" dirty="0" err="1"/>
              <a:t>InfantVGDP$GDP</a:t>
            </a:r>
            <a:r>
              <a:rPr lang="en-US" sz="1200" dirty="0"/>
              <a:t>))</a:t>
            </a:r>
          </a:p>
        </p:txBody>
      </p:sp>
      <p:sp>
        <p:nvSpPr>
          <p:cNvPr id="13" name="Rectangle 12">
            <a:extLst>
              <a:ext uri="{FF2B5EF4-FFF2-40B4-BE49-F238E27FC236}">
                <a16:creationId xmlns:a16="http://schemas.microsoft.com/office/drawing/2014/main" id="{8C1ED4E1-E246-DD46-AB65-799E3AB1AA28}"/>
              </a:ext>
            </a:extLst>
          </p:cNvPr>
          <p:cNvSpPr/>
          <p:nvPr/>
        </p:nvSpPr>
        <p:spPr>
          <a:xfrm>
            <a:off x="906966" y="6019800"/>
            <a:ext cx="4495800" cy="461665"/>
          </a:xfrm>
          <a:prstGeom prst="rect">
            <a:avLst/>
          </a:prstGeom>
        </p:spPr>
        <p:txBody>
          <a:bodyPr wrap="square">
            <a:spAutoFit/>
          </a:bodyPr>
          <a:lstStyle/>
          <a:p>
            <a:pPr algn="ctr"/>
            <a:r>
              <a:rPr lang="en-US" sz="1200" dirty="0"/>
              <a:t>For Fun!  What do you notice about this result?  </a:t>
            </a:r>
            <a:r>
              <a:rPr lang="en-US" sz="1200" dirty="0" err="1"/>
              <a:t>cor.test</a:t>
            </a:r>
            <a:r>
              <a:rPr lang="en-US" sz="1200" dirty="0"/>
              <a:t>(</a:t>
            </a:r>
            <a:r>
              <a:rPr lang="en-US" sz="1200" dirty="0" err="1"/>
              <a:t>InfantVGDP$InfantMort,InfantVGDP$GDP</a:t>
            </a:r>
            <a:r>
              <a:rPr lang="en-US" sz="1200" dirty="0"/>
              <a:t>)</a:t>
            </a:r>
          </a:p>
        </p:txBody>
      </p:sp>
    </p:spTree>
    <p:extLst>
      <p:ext uri="{BB962C8B-B14F-4D97-AF65-F5344CB8AC3E}">
        <p14:creationId xmlns:p14="http://schemas.microsoft.com/office/powerpoint/2010/main" val="752530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A237-AEAC-FE46-B912-15C924E9E42A}"/>
              </a:ext>
            </a:extLst>
          </p:cNvPr>
          <p:cNvSpPr>
            <a:spLocks noGrp="1"/>
          </p:cNvSpPr>
          <p:nvPr>
            <p:ph type="title"/>
          </p:nvPr>
        </p:nvSpPr>
        <p:spPr/>
        <p:txBody>
          <a:bodyPr/>
          <a:lstStyle/>
          <a:p>
            <a:r>
              <a:rPr lang="en-US" dirty="0"/>
              <a:t>Infant Mortality versus GDP</a:t>
            </a:r>
          </a:p>
        </p:txBody>
      </p:sp>
      <p:sp>
        <p:nvSpPr>
          <p:cNvPr id="4" name="Rectangle 3">
            <a:extLst>
              <a:ext uri="{FF2B5EF4-FFF2-40B4-BE49-F238E27FC236}">
                <a16:creationId xmlns:a16="http://schemas.microsoft.com/office/drawing/2014/main" id="{8883FD75-D9E1-7642-8D9D-D757EA4EF7B9}"/>
              </a:ext>
            </a:extLst>
          </p:cNvPr>
          <p:cNvSpPr/>
          <p:nvPr/>
        </p:nvSpPr>
        <p:spPr>
          <a:xfrm>
            <a:off x="0" y="1311148"/>
            <a:ext cx="12192000" cy="369332"/>
          </a:xfrm>
          <a:prstGeom prst="rect">
            <a:avLst/>
          </a:prstGeom>
        </p:spPr>
        <p:txBody>
          <a:bodyPr wrap="square">
            <a:spAutoFit/>
          </a:bodyPr>
          <a:lstStyle/>
          <a:p>
            <a:r>
              <a:rPr lang="en-US" dirty="0"/>
              <a:t>If you were able to find a reasonable transformation, fit a simple linear regression line to the data and show the plot.</a:t>
            </a:r>
          </a:p>
        </p:txBody>
      </p:sp>
      <p:sp>
        <p:nvSpPr>
          <p:cNvPr id="13" name="Rectangle 12">
            <a:extLst>
              <a:ext uri="{FF2B5EF4-FFF2-40B4-BE49-F238E27FC236}">
                <a16:creationId xmlns:a16="http://schemas.microsoft.com/office/drawing/2014/main" id="{8C1ED4E1-E246-DD46-AB65-799E3AB1AA28}"/>
              </a:ext>
            </a:extLst>
          </p:cNvPr>
          <p:cNvSpPr/>
          <p:nvPr/>
        </p:nvSpPr>
        <p:spPr>
          <a:xfrm>
            <a:off x="76200" y="6098533"/>
            <a:ext cx="6705599" cy="600164"/>
          </a:xfrm>
          <a:prstGeom prst="rect">
            <a:avLst/>
          </a:prstGeom>
        </p:spPr>
        <p:txBody>
          <a:bodyPr wrap="square">
            <a:spAutoFit/>
          </a:bodyPr>
          <a:lstStyle/>
          <a:p>
            <a:r>
              <a:rPr lang="en-US" sz="1100" dirty="0"/>
              <a:t>For Fun!  What do you notice about this result? fit = </a:t>
            </a:r>
            <a:r>
              <a:rPr lang="en-US" sz="1100" dirty="0" err="1"/>
              <a:t>lm</a:t>
            </a:r>
            <a:r>
              <a:rPr lang="en-US" sz="1100" dirty="0"/>
              <a:t>(</a:t>
            </a:r>
            <a:r>
              <a:rPr lang="en-US" sz="1100" dirty="0" err="1"/>
              <a:t>InfantMort~GDP</a:t>
            </a:r>
            <a:r>
              <a:rPr lang="en-US" sz="1100" dirty="0"/>
              <a:t>, data = </a:t>
            </a:r>
            <a:r>
              <a:rPr lang="en-US" sz="1100" dirty="0" err="1"/>
              <a:t>InfantVGDP</a:t>
            </a:r>
            <a:r>
              <a:rPr lang="en-US" sz="1100" dirty="0"/>
              <a:t>)</a:t>
            </a:r>
          </a:p>
          <a:p>
            <a:r>
              <a:rPr lang="en-US" sz="1100" dirty="0"/>
              <a:t>summary(fit)</a:t>
            </a:r>
          </a:p>
          <a:p>
            <a:pPr algn="ctr"/>
            <a:endParaRPr lang="en-US" sz="1100" dirty="0"/>
          </a:p>
        </p:txBody>
      </p:sp>
      <p:sp>
        <p:nvSpPr>
          <p:cNvPr id="5" name="Rectangle 4">
            <a:extLst>
              <a:ext uri="{FF2B5EF4-FFF2-40B4-BE49-F238E27FC236}">
                <a16:creationId xmlns:a16="http://schemas.microsoft.com/office/drawing/2014/main" id="{ADA36709-8AFD-2649-A8D8-2E458FCA788E}"/>
              </a:ext>
            </a:extLst>
          </p:cNvPr>
          <p:cNvSpPr/>
          <p:nvPr/>
        </p:nvSpPr>
        <p:spPr>
          <a:xfrm>
            <a:off x="609600" y="2133600"/>
            <a:ext cx="4021873" cy="461665"/>
          </a:xfrm>
          <a:prstGeom prst="rect">
            <a:avLst/>
          </a:prstGeom>
        </p:spPr>
        <p:txBody>
          <a:bodyPr wrap="square">
            <a:spAutoFit/>
          </a:bodyPr>
          <a:lstStyle/>
          <a:p>
            <a:r>
              <a:rPr lang="en-US" sz="1200" dirty="0"/>
              <a:t>fit = </a:t>
            </a:r>
            <a:r>
              <a:rPr lang="en-US" sz="1200" dirty="0" err="1"/>
              <a:t>lm</a:t>
            </a:r>
            <a:r>
              <a:rPr lang="en-US" sz="1200" dirty="0"/>
              <a:t>(log(</a:t>
            </a:r>
            <a:r>
              <a:rPr lang="en-US" sz="1200" dirty="0" err="1"/>
              <a:t>InfantMort</a:t>
            </a:r>
            <a:r>
              <a:rPr lang="en-US" sz="1200" dirty="0"/>
              <a:t>)~log(GDP), data = </a:t>
            </a:r>
            <a:r>
              <a:rPr lang="en-US" sz="1200" dirty="0" err="1"/>
              <a:t>InfantVGDP</a:t>
            </a:r>
            <a:r>
              <a:rPr lang="en-US" sz="1200" dirty="0"/>
              <a:t>)</a:t>
            </a:r>
          </a:p>
          <a:p>
            <a:r>
              <a:rPr lang="en-US" sz="1200" dirty="0"/>
              <a:t>summary(fit)</a:t>
            </a:r>
          </a:p>
        </p:txBody>
      </p:sp>
      <p:pic>
        <p:nvPicPr>
          <p:cNvPr id="6" name="Picture 5">
            <a:extLst>
              <a:ext uri="{FF2B5EF4-FFF2-40B4-BE49-F238E27FC236}">
                <a16:creationId xmlns:a16="http://schemas.microsoft.com/office/drawing/2014/main" id="{B70DB757-F7E6-4543-9B70-85245BAB3522}"/>
              </a:ext>
            </a:extLst>
          </p:cNvPr>
          <p:cNvPicPr>
            <a:picLocks noChangeAspect="1"/>
          </p:cNvPicPr>
          <p:nvPr/>
        </p:nvPicPr>
        <p:blipFill>
          <a:blip r:embed="rId2"/>
          <a:stretch>
            <a:fillRect/>
          </a:stretch>
        </p:blipFill>
        <p:spPr>
          <a:xfrm>
            <a:off x="609600" y="2667000"/>
            <a:ext cx="4572000" cy="3142836"/>
          </a:xfrm>
          <a:prstGeom prst="rect">
            <a:avLst/>
          </a:prstGeom>
        </p:spPr>
      </p:pic>
      <p:pic>
        <p:nvPicPr>
          <p:cNvPr id="7" name="Picture 6">
            <a:extLst>
              <a:ext uri="{FF2B5EF4-FFF2-40B4-BE49-F238E27FC236}">
                <a16:creationId xmlns:a16="http://schemas.microsoft.com/office/drawing/2014/main" id="{A5B57A79-4C62-064D-B013-4A2FB1C4831A}"/>
              </a:ext>
            </a:extLst>
          </p:cNvPr>
          <p:cNvPicPr>
            <a:picLocks noChangeAspect="1"/>
          </p:cNvPicPr>
          <p:nvPr/>
        </p:nvPicPr>
        <p:blipFill>
          <a:blip r:embed="rId3"/>
          <a:stretch>
            <a:fillRect/>
          </a:stretch>
        </p:blipFill>
        <p:spPr>
          <a:xfrm>
            <a:off x="6133171" y="1725128"/>
            <a:ext cx="5272668" cy="4904272"/>
          </a:xfrm>
          <a:prstGeom prst="rect">
            <a:avLst/>
          </a:prstGeom>
        </p:spPr>
      </p:pic>
    </p:spTree>
    <p:extLst>
      <p:ext uri="{BB962C8B-B14F-4D97-AF65-F5344CB8AC3E}">
        <p14:creationId xmlns:p14="http://schemas.microsoft.com/office/powerpoint/2010/main" val="1426078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EC04D-320B-AA45-9FD4-2F5246E4AA31}"/>
              </a:ext>
            </a:extLst>
          </p:cNvPr>
          <p:cNvSpPr>
            <a:spLocks noGrp="1"/>
          </p:cNvSpPr>
          <p:nvPr>
            <p:ph type="title"/>
          </p:nvPr>
        </p:nvSpPr>
        <p:spPr/>
        <p:txBody>
          <a:bodyPr/>
          <a:lstStyle/>
          <a:p>
            <a:r>
              <a:rPr lang="en-US" dirty="0"/>
              <a:t>Infant Mortality versus GDP</a:t>
            </a:r>
          </a:p>
        </p:txBody>
      </p:sp>
      <p:pic>
        <p:nvPicPr>
          <p:cNvPr id="4" name="Picture 3">
            <a:extLst>
              <a:ext uri="{FF2B5EF4-FFF2-40B4-BE49-F238E27FC236}">
                <a16:creationId xmlns:a16="http://schemas.microsoft.com/office/drawing/2014/main" id="{11F7AFA8-9FB2-A44F-A4B2-59F6EFC0A6B7}"/>
              </a:ext>
            </a:extLst>
          </p:cNvPr>
          <p:cNvPicPr>
            <a:picLocks noChangeAspect="1"/>
          </p:cNvPicPr>
          <p:nvPr/>
        </p:nvPicPr>
        <p:blipFill>
          <a:blip r:embed="rId3"/>
          <a:stretch>
            <a:fillRect/>
          </a:stretch>
        </p:blipFill>
        <p:spPr>
          <a:xfrm>
            <a:off x="152400" y="1874774"/>
            <a:ext cx="2857500" cy="2705100"/>
          </a:xfrm>
          <a:prstGeom prst="rect">
            <a:avLst/>
          </a:prstGeom>
        </p:spPr>
      </p:pic>
      <p:pic>
        <p:nvPicPr>
          <p:cNvPr id="6" name="Picture 5">
            <a:extLst>
              <a:ext uri="{FF2B5EF4-FFF2-40B4-BE49-F238E27FC236}">
                <a16:creationId xmlns:a16="http://schemas.microsoft.com/office/drawing/2014/main" id="{0FE9BD45-822D-214F-ADF5-E3AB2D1308AB}"/>
              </a:ext>
            </a:extLst>
          </p:cNvPr>
          <p:cNvPicPr>
            <a:picLocks noChangeAspect="1"/>
          </p:cNvPicPr>
          <p:nvPr/>
        </p:nvPicPr>
        <p:blipFill>
          <a:blip r:embed="rId4"/>
          <a:stretch>
            <a:fillRect/>
          </a:stretch>
        </p:blipFill>
        <p:spPr>
          <a:xfrm>
            <a:off x="5981700" y="1866900"/>
            <a:ext cx="2857500" cy="2705100"/>
          </a:xfrm>
          <a:prstGeom prst="rect">
            <a:avLst/>
          </a:prstGeom>
        </p:spPr>
      </p:pic>
      <p:pic>
        <p:nvPicPr>
          <p:cNvPr id="8" name="Picture 7">
            <a:extLst>
              <a:ext uri="{FF2B5EF4-FFF2-40B4-BE49-F238E27FC236}">
                <a16:creationId xmlns:a16="http://schemas.microsoft.com/office/drawing/2014/main" id="{E7F64FB3-F071-B344-A882-959CC417A598}"/>
              </a:ext>
            </a:extLst>
          </p:cNvPr>
          <p:cNvPicPr>
            <a:picLocks noChangeAspect="1"/>
          </p:cNvPicPr>
          <p:nvPr/>
        </p:nvPicPr>
        <p:blipFill>
          <a:blip r:embed="rId5"/>
          <a:stretch>
            <a:fillRect/>
          </a:stretch>
        </p:blipFill>
        <p:spPr>
          <a:xfrm>
            <a:off x="9067800" y="1874774"/>
            <a:ext cx="2857500" cy="2705100"/>
          </a:xfrm>
          <a:prstGeom prst="rect">
            <a:avLst/>
          </a:prstGeom>
        </p:spPr>
      </p:pic>
      <p:pic>
        <p:nvPicPr>
          <p:cNvPr id="9" name="Picture 8">
            <a:extLst>
              <a:ext uri="{FF2B5EF4-FFF2-40B4-BE49-F238E27FC236}">
                <a16:creationId xmlns:a16="http://schemas.microsoft.com/office/drawing/2014/main" id="{852233EC-4AEA-D848-B1B6-3A953478C5C3}"/>
              </a:ext>
            </a:extLst>
          </p:cNvPr>
          <p:cNvPicPr>
            <a:picLocks noChangeAspect="1"/>
          </p:cNvPicPr>
          <p:nvPr/>
        </p:nvPicPr>
        <p:blipFill>
          <a:blip r:embed="rId6"/>
          <a:stretch>
            <a:fillRect/>
          </a:stretch>
        </p:blipFill>
        <p:spPr>
          <a:xfrm>
            <a:off x="3046606" y="1874774"/>
            <a:ext cx="2857500" cy="2705100"/>
          </a:xfrm>
          <a:prstGeom prst="rect">
            <a:avLst/>
          </a:prstGeom>
        </p:spPr>
      </p:pic>
      <p:sp>
        <p:nvSpPr>
          <p:cNvPr id="10" name="Rectangle 9">
            <a:extLst>
              <a:ext uri="{FF2B5EF4-FFF2-40B4-BE49-F238E27FC236}">
                <a16:creationId xmlns:a16="http://schemas.microsoft.com/office/drawing/2014/main" id="{C71D1AA0-0D06-CE49-8A84-0A33253DA42C}"/>
              </a:ext>
            </a:extLst>
          </p:cNvPr>
          <p:cNvSpPr/>
          <p:nvPr/>
        </p:nvSpPr>
        <p:spPr>
          <a:xfrm>
            <a:off x="5151336" y="5409430"/>
            <a:ext cx="1505540" cy="369332"/>
          </a:xfrm>
          <a:prstGeom prst="rect">
            <a:avLst/>
          </a:prstGeom>
        </p:spPr>
        <p:txBody>
          <a:bodyPr wrap="none">
            <a:spAutoFit/>
          </a:bodyPr>
          <a:lstStyle/>
          <a:p>
            <a:r>
              <a:rPr lang="en-US" dirty="0"/>
              <a:t>plot(</a:t>
            </a:r>
            <a:r>
              <a:rPr lang="en-US" dirty="0" err="1"/>
              <a:t>fitloglog</a:t>
            </a:r>
            <a:r>
              <a:rPr lang="en-US" dirty="0"/>
              <a:t>)</a:t>
            </a:r>
          </a:p>
        </p:txBody>
      </p:sp>
      <p:sp>
        <p:nvSpPr>
          <p:cNvPr id="11" name="Rectangle 10">
            <a:extLst>
              <a:ext uri="{FF2B5EF4-FFF2-40B4-BE49-F238E27FC236}">
                <a16:creationId xmlns:a16="http://schemas.microsoft.com/office/drawing/2014/main" id="{A27C92F8-4F88-EE42-9AA0-8BC4A08FE26A}"/>
              </a:ext>
            </a:extLst>
          </p:cNvPr>
          <p:cNvSpPr/>
          <p:nvPr/>
        </p:nvSpPr>
        <p:spPr>
          <a:xfrm>
            <a:off x="3009900" y="5040098"/>
            <a:ext cx="6705600" cy="369332"/>
          </a:xfrm>
          <a:prstGeom prst="rect">
            <a:avLst/>
          </a:prstGeom>
        </p:spPr>
        <p:txBody>
          <a:bodyPr wrap="square">
            <a:spAutoFit/>
          </a:bodyPr>
          <a:lstStyle/>
          <a:p>
            <a:r>
              <a:rPr lang="en-US" dirty="0" err="1"/>
              <a:t>fitloglog</a:t>
            </a:r>
            <a:r>
              <a:rPr lang="en-US" dirty="0"/>
              <a:t> = </a:t>
            </a:r>
            <a:r>
              <a:rPr lang="en-US" dirty="0" err="1"/>
              <a:t>lm</a:t>
            </a:r>
            <a:r>
              <a:rPr lang="en-US" dirty="0"/>
              <a:t>(log(</a:t>
            </a:r>
            <a:r>
              <a:rPr lang="en-US" dirty="0" err="1"/>
              <a:t>InfantMort</a:t>
            </a:r>
            <a:r>
              <a:rPr lang="en-US" dirty="0"/>
              <a:t>)~log(GDP), data = </a:t>
            </a:r>
            <a:r>
              <a:rPr lang="en-US" dirty="0" err="1"/>
              <a:t>InfantVGDP</a:t>
            </a:r>
            <a:r>
              <a:rPr lang="en-US" dirty="0"/>
              <a:t>)</a:t>
            </a:r>
          </a:p>
        </p:txBody>
      </p:sp>
      <p:cxnSp>
        <p:nvCxnSpPr>
          <p:cNvPr id="5" name="Straight Connector 4">
            <a:extLst>
              <a:ext uri="{FF2B5EF4-FFF2-40B4-BE49-F238E27FC236}">
                <a16:creationId xmlns:a16="http://schemas.microsoft.com/office/drawing/2014/main" id="{99CE0715-9238-AC20-492C-6439E2A433FF}"/>
              </a:ext>
            </a:extLst>
          </p:cNvPr>
          <p:cNvCxnSpPr/>
          <p:nvPr/>
        </p:nvCxnSpPr>
        <p:spPr>
          <a:xfrm>
            <a:off x="6362700" y="2514600"/>
            <a:ext cx="232410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616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A237-AEAC-FE46-B912-15C924E9E42A}"/>
              </a:ext>
            </a:extLst>
          </p:cNvPr>
          <p:cNvSpPr>
            <a:spLocks noGrp="1"/>
          </p:cNvSpPr>
          <p:nvPr>
            <p:ph type="title"/>
          </p:nvPr>
        </p:nvSpPr>
        <p:spPr/>
        <p:txBody>
          <a:bodyPr/>
          <a:lstStyle/>
          <a:p>
            <a:r>
              <a:rPr lang="en-US" dirty="0"/>
              <a:t>Infant Mortality versus GDP</a:t>
            </a:r>
          </a:p>
        </p:txBody>
      </p:sp>
      <p:sp>
        <p:nvSpPr>
          <p:cNvPr id="4" name="Rectangle 3">
            <a:extLst>
              <a:ext uri="{FF2B5EF4-FFF2-40B4-BE49-F238E27FC236}">
                <a16:creationId xmlns:a16="http://schemas.microsoft.com/office/drawing/2014/main" id="{8883FD75-D9E1-7642-8D9D-D757EA4EF7B9}"/>
              </a:ext>
            </a:extLst>
          </p:cNvPr>
          <p:cNvSpPr/>
          <p:nvPr/>
        </p:nvSpPr>
        <p:spPr>
          <a:xfrm>
            <a:off x="228600" y="1311148"/>
            <a:ext cx="11734800" cy="923330"/>
          </a:xfrm>
          <a:prstGeom prst="rect">
            <a:avLst/>
          </a:prstGeom>
        </p:spPr>
        <p:txBody>
          <a:bodyPr wrap="square">
            <a:spAutoFit/>
          </a:bodyPr>
          <a:lstStyle/>
          <a:p>
            <a:r>
              <a:rPr lang="en-US" dirty="0"/>
              <a:t>Find the GDP of the United States of America and report if the actual infant mortality rate is above or below the amount expected by the regression line.  This line can be interpreted as the median Infant mortality rate after adjusting for GDP (you might here it in the news reported in this fashion.)</a:t>
            </a:r>
          </a:p>
        </p:txBody>
      </p:sp>
      <p:sp>
        <p:nvSpPr>
          <p:cNvPr id="3" name="Rectangle 2">
            <a:extLst>
              <a:ext uri="{FF2B5EF4-FFF2-40B4-BE49-F238E27FC236}">
                <a16:creationId xmlns:a16="http://schemas.microsoft.com/office/drawing/2014/main" id="{A48B6E86-C3D3-4046-A51A-63D9C1D6163D}"/>
              </a:ext>
            </a:extLst>
          </p:cNvPr>
          <p:cNvSpPr/>
          <p:nvPr/>
        </p:nvSpPr>
        <p:spPr>
          <a:xfrm>
            <a:off x="185166" y="2362200"/>
            <a:ext cx="5377434" cy="369332"/>
          </a:xfrm>
          <a:prstGeom prst="rect">
            <a:avLst/>
          </a:prstGeom>
        </p:spPr>
        <p:txBody>
          <a:bodyPr wrap="none">
            <a:spAutoFit/>
          </a:bodyPr>
          <a:lstStyle/>
          <a:p>
            <a:r>
              <a:rPr lang="en-US" dirty="0" err="1"/>
              <a:t>InfantVGDP</a:t>
            </a:r>
            <a:r>
              <a:rPr lang="en-US" dirty="0"/>
              <a:t> %&gt;% filter(country == "United States")</a:t>
            </a:r>
          </a:p>
        </p:txBody>
      </p:sp>
      <p:pic>
        <p:nvPicPr>
          <p:cNvPr id="8" name="Picture 7">
            <a:extLst>
              <a:ext uri="{FF2B5EF4-FFF2-40B4-BE49-F238E27FC236}">
                <a16:creationId xmlns:a16="http://schemas.microsoft.com/office/drawing/2014/main" id="{262E670B-F686-ED4A-BE1A-9D536287FB23}"/>
              </a:ext>
            </a:extLst>
          </p:cNvPr>
          <p:cNvPicPr>
            <a:picLocks noChangeAspect="1"/>
          </p:cNvPicPr>
          <p:nvPr/>
        </p:nvPicPr>
        <p:blipFill>
          <a:blip r:embed="rId2"/>
          <a:stretch>
            <a:fillRect/>
          </a:stretch>
        </p:blipFill>
        <p:spPr>
          <a:xfrm>
            <a:off x="222337" y="2842336"/>
            <a:ext cx="5196811" cy="694126"/>
          </a:xfrm>
          <a:prstGeom prst="rect">
            <a:avLst/>
          </a:prstGeom>
        </p:spPr>
      </p:pic>
      <p:pic>
        <p:nvPicPr>
          <p:cNvPr id="9" name="Picture 8">
            <a:extLst>
              <a:ext uri="{FF2B5EF4-FFF2-40B4-BE49-F238E27FC236}">
                <a16:creationId xmlns:a16="http://schemas.microsoft.com/office/drawing/2014/main" id="{D67225F4-FA83-4B4D-B58B-2C861D67C012}"/>
              </a:ext>
            </a:extLst>
          </p:cNvPr>
          <p:cNvPicPr>
            <a:picLocks noChangeAspect="1"/>
          </p:cNvPicPr>
          <p:nvPr/>
        </p:nvPicPr>
        <p:blipFill>
          <a:blip r:embed="rId3"/>
          <a:stretch>
            <a:fillRect/>
          </a:stretch>
        </p:blipFill>
        <p:spPr>
          <a:xfrm>
            <a:off x="222337" y="3647266"/>
            <a:ext cx="1500512" cy="924734"/>
          </a:xfrm>
          <a:prstGeom prst="rect">
            <a:avLst/>
          </a:prstGeom>
        </p:spPr>
      </p:pic>
      <p:pic>
        <p:nvPicPr>
          <p:cNvPr id="10" name="Picture 9">
            <a:extLst>
              <a:ext uri="{FF2B5EF4-FFF2-40B4-BE49-F238E27FC236}">
                <a16:creationId xmlns:a16="http://schemas.microsoft.com/office/drawing/2014/main" id="{AD36E9DF-E111-8A48-849A-A56BDA0870AC}"/>
              </a:ext>
            </a:extLst>
          </p:cNvPr>
          <p:cNvPicPr>
            <a:picLocks noChangeAspect="1"/>
          </p:cNvPicPr>
          <p:nvPr/>
        </p:nvPicPr>
        <p:blipFill>
          <a:blip r:embed="rId4"/>
          <a:stretch>
            <a:fillRect/>
          </a:stretch>
        </p:blipFill>
        <p:spPr>
          <a:xfrm>
            <a:off x="6324600" y="2234478"/>
            <a:ext cx="4748865" cy="4013922"/>
          </a:xfrm>
          <a:prstGeom prst="rect">
            <a:avLst/>
          </a:prstGeom>
        </p:spPr>
      </p:pic>
      <p:cxnSp>
        <p:nvCxnSpPr>
          <p:cNvPr id="14" name="Straight Arrow Connector 13">
            <a:extLst>
              <a:ext uri="{FF2B5EF4-FFF2-40B4-BE49-F238E27FC236}">
                <a16:creationId xmlns:a16="http://schemas.microsoft.com/office/drawing/2014/main" id="{E89778E7-41D6-3843-96A5-59AE89F2E91A}"/>
              </a:ext>
            </a:extLst>
          </p:cNvPr>
          <p:cNvCxnSpPr>
            <a:cxnSpLocks/>
          </p:cNvCxnSpPr>
          <p:nvPr/>
        </p:nvCxnSpPr>
        <p:spPr>
          <a:xfrm>
            <a:off x="1722849" y="4038600"/>
            <a:ext cx="7802151"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5D212543-5769-4F4F-9EAB-217B0AB9B542}"/>
              </a:ext>
            </a:extLst>
          </p:cNvPr>
          <p:cNvPicPr>
            <a:picLocks noChangeAspect="1"/>
          </p:cNvPicPr>
          <p:nvPr/>
        </p:nvPicPr>
        <p:blipFill>
          <a:blip r:embed="rId5"/>
          <a:stretch>
            <a:fillRect/>
          </a:stretch>
        </p:blipFill>
        <p:spPr>
          <a:xfrm>
            <a:off x="185854" y="5401539"/>
            <a:ext cx="3037536" cy="467313"/>
          </a:xfrm>
          <a:prstGeom prst="rect">
            <a:avLst/>
          </a:prstGeom>
        </p:spPr>
      </p:pic>
      <p:sp>
        <p:nvSpPr>
          <p:cNvPr id="16" name="Rectangle 15">
            <a:extLst>
              <a:ext uri="{FF2B5EF4-FFF2-40B4-BE49-F238E27FC236}">
                <a16:creationId xmlns:a16="http://schemas.microsoft.com/office/drawing/2014/main" id="{14A27DE9-7262-5A48-99F6-E1645417C5AE}"/>
              </a:ext>
            </a:extLst>
          </p:cNvPr>
          <p:cNvSpPr/>
          <p:nvPr/>
        </p:nvSpPr>
        <p:spPr>
          <a:xfrm>
            <a:off x="152400" y="4572000"/>
            <a:ext cx="6096000" cy="954107"/>
          </a:xfrm>
          <a:prstGeom prst="rect">
            <a:avLst/>
          </a:prstGeom>
        </p:spPr>
        <p:txBody>
          <a:bodyPr>
            <a:spAutoFit/>
          </a:bodyPr>
          <a:lstStyle/>
          <a:p>
            <a:r>
              <a:rPr lang="en-US" sz="1400" dirty="0"/>
              <a:t>fit = </a:t>
            </a:r>
            <a:r>
              <a:rPr lang="en-US" sz="1400" dirty="0" err="1"/>
              <a:t>lm</a:t>
            </a:r>
            <a:r>
              <a:rPr lang="en-US" sz="1400" dirty="0"/>
              <a:t>(log(</a:t>
            </a:r>
            <a:r>
              <a:rPr lang="en-US" sz="1400" dirty="0" err="1"/>
              <a:t>InfantMort</a:t>
            </a:r>
            <a:r>
              <a:rPr lang="en-US" sz="1400" dirty="0"/>
              <a:t>)~log(GDP), data = </a:t>
            </a:r>
            <a:r>
              <a:rPr lang="en-US" sz="1400" dirty="0" err="1"/>
              <a:t>InfantVGDP</a:t>
            </a:r>
            <a:r>
              <a:rPr lang="en-US" sz="1400" dirty="0"/>
              <a:t>)</a:t>
            </a:r>
          </a:p>
          <a:p>
            <a:r>
              <a:rPr lang="en-US" sz="1400" dirty="0" err="1"/>
              <a:t>newdata</a:t>
            </a:r>
            <a:r>
              <a:rPr lang="en-US" sz="1400" dirty="0"/>
              <a:t> = </a:t>
            </a:r>
            <a:r>
              <a:rPr lang="en-US" sz="1400" dirty="0" err="1"/>
              <a:t>data.frame</a:t>
            </a:r>
            <a:r>
              <a:rPr lang="en-US" sz="1400" dirty="0"/>
              <a:t>(GDP = 65297.52)</a:t>
            </a:r>
          </a:p>
          <a:p>
            <a:r>
              <a:rPr lang="en-US" sz="1400" dirty="0" err="1"/>
              <a:t>pred</a:t>
            </a:r>
            <a:r>
              <a:rPr lang="en-US" sz="1400" dirty="0"/>
              <a:t> = predict(</a:t>
            </a:r>
            <a:r>
              <a:rPr lang="en-US" sz="1400" dirty="0" err="1"/>
              <a:t>fit,newdata</a:t>
            </a:r>
            <a:r>
              <a:rPr lang="en-US" sz="1400" dirty="0"/>
              <a:t> = </a:t>
            </a:r>
            <a:r>
              <a:rPr lang="en-US" sz="1400" dirty="0" err="1"/>
              <a:t>newdata</a:t>
            </a:r>
            <a:r>
              <a:rPr lang="en-US" sz="1400" dirty="0"/>
              <a:t>, interval = "prediction")</a:t>
            </a:r>
          </a:p>
          <a:p>
            <a:r>
              <a:rPr lang="en-US" sz="1400" dirty="0" err="1"/>
              <a:t>pred</a:t>
            </a:r>
            <a:endParaRPr lang="en-US" sz="1400" dirty="0"/>
          </a:p>
        </p:txBody>
      </p:sp>
      <p:sp>
        <p:nvSpPr>
          <p:cNvPr id="17" name="TextBox 16">
            <a:extLst>
              <a:ext uri="{FF2B5EF4-FFF2-40B4-BE49-F238E27FC236}">
                <a16:creationId xmlns:a16="http://schemas.microsoft.com/office/drawing/2014/main" id="{2DA2DE52-7076-8546-ADE5-1CB70CDE9240}"/>
              </a:ext>
            </a:extLst>
          </p:cNvPr>
          <p:cNvSpPr txBox="1"/>
          <p:nvPr/>
        </p:nvSpPr>
        <p:spPr>
          <a:xfrm>
            <a:off x="3567703" y="6166247"/>
            <a:ext cx="8929097" cy="615553"/>
          </a:xfrm>
          <a:prstGeom prst="rect">
            <a:avLst/>
          </a:prstGeom>
          <a:noFill/>
        </p:spPr>
        <p:txBody>
          <a:bodyPr wrap="square" rtlCol="0">
            <a:spAutoFit/>
          </a:bodyPr>
          <a:lstStyle/>
          <a:p>
            <a:r>
              <a:rPr lang="en-US" sz="1700" dirty="0"/>
              <a:t>The expected infant mortality rate for a country with a GDP similar to that of the US is 2.95% while the actual infant mortality rate in the US is 5.6%.  </a:t>
            </a:r>
          </a:p>
        </p:txBody>
      </p:sp>
      <p:pic>
        <p:nvPicPr>
          <p:cNvPr id="19" name="Picture 18">
            <a:extLst>
              <a:ext uri="{FF2B5EF4-FFF2-40B4-BE49-F238E27FC236}">
                <a16:creationId xmlns:a16="http://schemas.microsoft.com/office/drawing/2014/main" id="{EF31F5B1-8BC8-2C4E-B6BA-661BE85891BD}"/>
              </a:ext>
            </a:extLst>
          </p:cNvPr>
          <p:cNvPicPr>
            <a:picLocks noChangeAspect="1"/>
          </p:cNvPicPr>
          <p:nvPr/>
        </p:nvPicPr>
        <p:blipFill>
          <a:blip r:embed="rId6"/>
          <a:stretch>
            <a:fillRect/>
          </a:stretch>
        </p:blipFill>
        <p:spPr>
          <a:xfrm>
            <a:off x="214903" y="5995805"/>
            <a:ext cx="2565468" cy="594537"/>
          </a:xfrm>
          <a:prstGeom prst="rect">
            <a:avLst/>
          </a:prstGeom>
        </p:spPr>
      </p:pic>
    </p:spTree>
    <p:extLst>
      <p:ext uri="{BB962C8B-B14F-4D97-AF65-F5344CB8AC3E}">
        <p14:creationId xmlns:p14="http://schemas.microsoft.com/office/powerpoint/2010/main" val="1373653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6FA8E-C871-6640-BB86-D0B4CAB0FA61}"/>
              </a:ext>
            </a:extLst>
          </p:cNvPr>
          <p:cNvSpPr>
            <a:spLocks noGrp="1"/>
          </p:cNvSpPr>
          <p:nvPr>
            <p:ph type="title"/>
          </p:nvPr>
        </p:nvSpPr>
        <p:spPr/>
        <p:txBody>
          <a:bodyPr/>
          <a:lstStyle/>
          <a:p>
            <a:r>
              <a:rPr lang="en-US" dirty="0"/>
              <a:t>Infant Mortality versus GDP</a:t>
            </a:r>
          </a:p>
        </p:txBody>
      </p:sp>
      <p:sp>
        <p:nvSpPr>
          <p:cNvPr id="4" name="Rectangle 3">
            <a:extLst>
              <a:ext uri="{FF2B5EF4-FFF2-40B4-BE49-F238E27FC236}">
                <a16:creationId xmlns:a16="http://schemas.microsoft.com/office/drawing/2014/main" id="{534DBCF1-6579-C54F-A6CA-2E8E5FE67B73}"/>
              </a:ext>
            </a:extLst>
          </p:cNvPr>
          <p:cNvSpPr/>
          <p:nvPr/>
        </p:nvSpPr>
        <p:spPr>
          <a:xfrm>
            <a:off x="266700" y="1524000"/>
            <a:ext cx="11658600" cy="646331"/>
          </a:xfrm>
          <a:prstGeom prst="rect">
            <a:avLst/>
          </a:prstGeom>
        </p:spPr>
        <p:txBody>
          <a:bodyPr wrap="square">
            <a:spAutoFit/>
          </a:bodyPr>
          <a:lstStyle/>
          <a:p>
            <a:r>
              <a:rPr lang="en-US" dirty="0"/>
              <a:t>Finally, we would like to try and quantify the relationship between Infant Mortality and GDP.  Interpret the slope of the regression line on the original scale (not on the log scale).</a:t>
            </a:r>
          </a:p>
        </p:txBody>
      </p:sp>
      <p:pic>
        <p:nvPicPr>
          <p:cNvPr id="5" name="Picture 4">
            <a:extLst>
              <a:ext uri="{FF2B5EF4-FFF2-40B4-BE49-F238E27FC236}">
                <a16:creationId xmlns:a16="http://schemas.microsoft.com/office/drawing/2014/main" id="{A4B240CC-47D5-6A46-9B81-A26B98D0CA7C}"/>
              </a:ext>
            </a:extLst>
          </p:cNvPr>
          <p:cNvPicPr>
            <a:picLocks noChangeAspect="1"/>
          </p:cNvPicPr>
          <p:nvPr/>
        </p:nvPicPr>
        <p:blipFill>
          <a:blip r:embed="rId2"/>
          <a:stretch>
            <a:fillRect/>
          </a:stretch>
        </p:blipFill>
        <p:spPr>
          <a:xfrm>
            <a:off x="6833535" y="2234478"/>
            <a:ext cx="4748865" cy="4013922"/>
          </a:xfrm>
          <a:prstGeom prst="rect">
            <a:avLst/>
          </a:prstGeom>
        </p:spPr>
      </p:pic>
      <p:pic>
        <p:nvPicPr>
          <p:cNvPr id="6" name="Picture 5">
            <a:extLst>
              <a:ext uri="{FF2B5EF4-FFF2-40B4-BE49-F238E27FC236}">
                <a16:creationId xmlns:a16="http://schemas.microsoft.com/office/drawing/2014/main" id="{9A3DD429-3F45-BB47-B12D-7C08F3A011B0}"/>
              </a:ext>
            </a:extLst>
          </p:cNvPr>
          <p:cNvPicPr>
            <a:picLocks noChangeAspect="1"/>
          </p:cNvPicPr>
          <p:nvPr/>
        </p:nvPicPr>
        <p:blipFill rotWithShape="1">
          <a:blip r:embed="rId3"/>
          <a:srcRect t="36368" b="27263"/>
          <a:stretch/>
        </p:blipFill>
        <p:spPr>
          <a:xfrm>
            <a:off x="914400" y="2286000"/>
            <a:ext cx="4572000" cy="1143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6A55CB-8916-8B40-A22A-241C444174C7}"/>
                  </a:ext>
                </a:extLst>
              </p:cNvPr>
              <p:cNvSpPr txBox="1"/>
              <p:nvPr/>
            </p:nvSpPr>
            <p:spPr>
              <a:xfrm>
                <a:off x="361111" y="3581400"/>
                <a:ext cx="56843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𝐼𝑛𝑓𝑎𝑛𝑡</m:t>
                      </m:r>
                      <m:r>
                        <a:rPr lang="en-US" b="0" i="1" smtClean="0">
                          <a:latin typeface="Cambria Math" panose="02040503050406030204" pitchFamily="18" charset="0"/>
                        </a:rPr>
                        <m:t> </m:t>
                      </m:r>
                      <m:r>
                        <a:rPr lang="en-US" b="0" i="1" smtClean="0">
                          <a:latin typeface="Cambria Math" panose="02040503050406030204" pitchFamily="18" charset="0"/>
                        </a:rPr>
                        <m:t>𝑀𝑜𝑟𝑡𝑎𝑙𝑖𝑡𝑦</m:t>
                      </m:r>
                      <m:r>
                        <a:rPr lang="en-US" b="0" i="1" smtClean="0">
                          <a:latin typeface="Cambria Math" panose="02040503050406030204" pitchFamily="18" charset="0"/>
                        </a:rPr>
                        <m:t>)=8.25860 − .64747∗</m:t>
                      </m:r>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𝐺𝐷𝑃</m:t>
                      </m:r>
                      <m:r>
                        <a:rPr lang="en-US"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226A55CB-8916-8B40-A22A-241C444174C7}"/>
                  </a:ext>
                </a:extLst>
              </p:cNvPr>
              <p:cNvSpPr txBox="1">
                <a:spLocks noRot="1" noChangeAspect="1" noMove="1" noResize="1" noEditPoints="1" noAdjustHandles="1" noChangeArrowheads="1" noChangeShapeType="1" noTextEdit="1"/>
              </p:cNvSpPr>
              <p:nvPr/>
            </p:nvSpPr>
            <p:spPr>
              <a:xfrm>
                <a:off x="361111" y="3581400"/>
                <a:ext cx="5684313" cy="276999"/>
              </a:xfrm>
              <a:prstGeom prst="rect">
                <a:avLst/>
              </a:prstGeom>
              <a:blipFill>
                <a:blip r:embed="rId4"/>
                <a:stretch>
                  <a:fillRect l="-891" t="-4545" r="-891" b="-454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E9376F6-F11F-A649-88EA-DFA56F30BB66}"/>
              </a:ext>
            </a:extLst>
          </p:cNvPr>
          <p:cNvSpPr txBox="1"/>
          <p:nvPr/>
        </p:nvSpPr>
        <p:spPr>
          <a:xfrm>
            <a:off x="266700" y="5706070"/>
            <a:ext cx="6743700" cy="923330"/>
          </a:xfrm>
          <a:prstGeom prst="rect">
            <a:avLst/>
          </a:prstGeom>
          <a:noFill/>
        </p:spPr>
        <p:txBody>
          <a:bodyPr wrap="square" rtlCol="0">
            <a:spAutoFit/>
          </a:bodyPr>
          <a:lstStyle/>
          <a:p>
            <a:r>
              <a:rPr lang="en-US" dirty="0"/>
              <a:t>We are 95% confident that for each doubling of the GDP the median infant mortality rate will decrease between approximately 33.8% and 38.5%.  Our best estimate is a decrease of 36.2%.</a:t>
            </a:r>
          </a:p>
        </p:txBody>
      </p:sp>
      <p:pic>
        <p:nvPicPr>
          <p:cNvPr id="10" name="Picture 9">
            <a:extLst>
              <a:ext uri="{FF2B5EF4-FFF2-40B4-BE49-F238E27FC236}">
                <a16:creationId xmlns:a16="http://schemas.microsoft.com/office/drawing/2014/main" id="{3D0B2D1B-41D7-9A4B-865C-4FA2F9B9ECEE}"/>
              </a:ext>
            </a:extLst>
          </p:cNvPr>
          <p:cNvPicPr>
            <a:picLocks noChangeAspect="1"/>
          </p:cNvPicPr>
          <p:nvPr/>
        </p:nvPicPr>
        <p:blipFill>
          <a:blip r:embed="rId5"/>
          <a:stretch>
            <a:fillRect/>
          </a:stretch>
        </p:blipFill>
        <p:spPr>
          <a:xfrm>
            <a:off x="2756308" y="3948079"/>
            <a:ext cx="3632260" cy="1644650"/>
          </a:xfrm>
          <a:prstGeom prst="rect">
            <a:avLst/>
          </a:prstGeom>
        </p:spPr>
      </p:pic>
      <p:pic>
        <p:nvPicPr>
          <p:cNvPr id="11" name="Picture 10">
            <a:extLst>
              <a:ext uri="{FF2B5EF4-FFF2-40B4-BE49-F238E27FC236}">
                <a16:creationId xmlns:a16="http://schemas.microsoft.com/office/drawing/2014/main" id="{91B8B63C-BAF2-8F44-AF87-651F2821070E}"/>
              </a:ext>
            </a:extLst>
          </p:cNvPr>
          <p:cNvPicPr>
            <a:picLocks noChangeAspect="1"/>
          </p:cNvPicPr>
          <p:nvPr/>
        </p:nvPicPr>
        <p:blipFill>
          <a:blip r:embed="rId6"/>
          <a:stretch>
            <a:fillRect/>
          </a:stretch>
        </p:blipFill>
        <p:spPr>
          <a:xfrm>
            <a:off x="747489" y="4495800"/>
            <a:ext cx="1563852" cy="538545"/>
          </a:xfrm>
          <a:prstGeom prst="rect">
            <a:avLst/>
          </a:prstGeom>
        </p:spPr>
      </p:pic>
      <p:sp>
        <p:nvSpPr>
          <p:cNvPr id="3" name="TextBox 2">
            <a:extLst>
              <a:ext uri="{FF2B5EF4-FFF2-40B4-BE49-F238E27FC236}">
                <a16:creationId xmlns:a16="http://schemas.microsoft.com/office/drawing/2014/main" id="{3A06BF29-137F-944F-875D-EF23CD30BAE7}"/>
              </a:ext>
            </a:extLst>
          </p:cNvPr>
          <p:cNvSpPr txBox="1"/>
          <p:nvPr/>
        </p:nvSpPr>
        <p:spPr>
          <a:xfrm>
            <a:off x="241359" y="5100760"/>
            <a:ext cx="2044641" cy="381000"/>
          </a:xfrm>
          <a:prstGeom prst="rect">
            <a:avLst/>
          </a:prstGeom>
          <a:noFill/>
        </p:spPr>
        <p:txBody>
          <a:bodyPr wrap="square" rtlCol="0">
            <a:spAutoFit/>
          </a:bodyPr>
          <a:lstStyle/>
          <a:p>
            <a:r>
              <a:rPr lang="en-US" i="1" dirty="0"/>
              <a:t>(1 - .638) * 100%</a:t>
            </a:r>
          </a:p>
        </p:txBody>
      </p:sp>
      <p:cxnSp>
        <p:nvCxnSpPr>
          <p:cNvPr id="12" name="Straight Arrow Connector 11">
            <a:extLst>
              <a:ext uri="{FF2B5EF4-FFF2-40B4-BE49-F238E27FC236}">
                <a16:creationId xmlns:a16="http://schemas.microsoft.com/office/drawing/2014/main" id="{23B09489-B20A-3A45-A244-F991D3A26CBF}"/>
              </a:ext>
            </a:extLst>
          </p:cNvPr>
          <p:cNvCxnSpPr>
            <a:stCxn id="3" idx="3"/>
          </p:cNvCxnSpPr>
          <p:nvPr/>
        </p:nvCxnSpPr>
        <p:spPr>
          <a:xfrm>
            <a:off x="2286000" y="5291260"/>
            <a:ext cx="3537848" cy="1033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73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1CA3-E6C0-334A-B7F9-38C1DD8918B0}"/>
              </a:ext>
            </a:extLst>
          </p:cNvPr>
          <p:cNvSpPr>
            <a:spLocks noGrp="1"/>
          </p:cNvSpPr>
          <p:nvPr>
            <p:ph type="title"/>
          </p:nvPr>
        </p:nvSpPr>
        <p:spPr>
          <a:xfrm>
            <a:off x="609600" y="2438400"/>
            <a:ext cx="10972800" cy="1143000"/>
          </a:xfrm>
        </p:spPr>
        <p:txBody>
          <a:bodyPr/>
          <a:lstStyle/>
          <a:p>
            <a:r>
              <a:rPr lang="en-US" dirty="0"/>
              <a:t>End Question 1</a:t>
            </a:r>
          </a:p>
        </p:txBody>
      </p:sp>
    </p:spTree>
    <p:extLst>
      <p:ext uri="{BB962C8B-B14F-4D97-AF65-F5344CB8AC3E}">
        <p14:creationId xmlns:p14="http://schemas.microsoft.com/office/powerpoint/2010/main" val="3159243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1CA3-E6C0-334A-B7F9-38C1DD8918B0}"/>
              </a:ext>
            </a:extLst>
          </p:cNvPr>
          <p:cNvSpPr>
            <a:spLocks noGrp="1"/>
          </p:cNvSpPr>
          <p:nvPr>
            <p:ph type="title"/>
          </p:nvPr>
        </p:nvSpPr>
        <p:spPr>
          <a:xfrm>
            <a:off x="609600" y="2438400"/>
            <a:ext cx="10972800" cy="1143000"/>
          </a:xfrm>
        </p:spPr>
        <p:txBody>
          <a:bodyPr/>
          <a:lstStyle/>
          <a:p>
            <a:r>
              <a:rPr lang="en-US" dirty="0"/>
              <a:t>Question 2</a:t>
            </a:r>
          </a:p>
        </p:txBody>
      </p:sp>
    </p:spTree>
    <p:extLst>
      <p:ext uri="{BB962C8B-B14F-4D97-AF65-F5344CB8AC3E}">
        <p14:creationId xmlns:p14="http://schemas.microsoft.com/office/powerpoint/2010/main" val="2175734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4A9C8-4CF4-4CAD-B6D9-FC18E9F250AB}"/>
              </a:ext>
            </a:extLst>
          </p:cNvPr>
          <p:cNvSpPr>
            <a:spLocks noGrp="1"/>
          </p:cNvSpPr>
          <p:nvPr>
            <p:ph type="title"/>
          </p:nvPr>
        </p:nvSpPr>
        <p:spPr/>
        <p:txBody>
          <a:bodyPr/>
          <a:lstStyle/>
          <a:p>
            <a:r>
              <a:rPr lang="en-US" dirty="0"/>
              <a:t>Lack of Fit Test</a:t>
            </a:r>
          </a:p>
        </p:txBody>
      </p:sp>
      <p:graphicFrame>
        <p:nvGraphicFramePr>
          <p:cNvPr id="3" name="Table 2">
            <a:extLst>
              <a:ext uri="{FF2B5EF4-FFF2-40B4-BE49-F238E27FC236}">
                <a16:creationId xmlns:a16="http://schemas.microsoft.com/office/drawing/2014/main" id="{8DE12D40-A723-4766-AB7E-2CAF6083247D}"/>
              </a:ext>
            </a:extLst>
          </p:cNvPr>
          <p:cNvGraphicFramePr>
            <a:graphicFrameLocks noGrp="1"/>
          </p:cNvGraphicFramePr>
          <p:nvPr>
            <p:extLst>
              <p:ext uri="{D42A27DB-BD31-4B8C-83A1-F6EECF244321}">
                <p14:modId xmlns:p14="http://schemas.microsoft.com/office/powerpoint/2010/main" val="3645897975"/>
              </p:ext>
            </p:extLst>
          </p:nvPr>
        </p:nvGraphicFramePr>
        <p:xfrm>
          <a:off x="304800" y="2057400"/>
          <a:ext cx="1759470" cy="3040384"/>
        </p:xfrm>
        <a:graphic>
          <a:graphicData uri="http://schemas.openxmlformats.org/drawingml/2006/table">
            <a:tbl>
              <a:tblPr>
                <a:tableStyleId>{5C22544A-7EE6-4342-B048-85BDC9FD1C3A}</a:tableStyleId>
              </a:tblPr>
              <a:tblGrid>
                <a:gridCol w="879735">
                  <a:extLst>
                    <a:ext uri="{9D8B030D-6E8A-4147-A177-3AD203B41FA5}">
                      <a16:colId xmlns:a16="http://schemas.microsoft.com/office/drawing/2014/main" val="1237034389"/>
                    </a:ext>
                  </a:extLst>
                </a:gridCol>
                <a:gridCol w="879735">
                  <a:extLst>
                    <a:ext uri="{9D8B030D-6E8A-4147-A177-3AD203B41FA5}">
                      <a16:colId xmlns:a16="http://schemas.microsoft.com/office/drawing/2014/main" val="2470506882"/>
                    </a:ext>
                  </a:extLst>
                </a:gridCol>
              </a:tblGrid>
              <a:tr h="118952">
                <a:tc>
                  <a:txBody>
                    <a:bodyPr/>
                    <a:lstStyle/>
                    <a:p>
                      <a:pPr algn="l" fontAlgn="b"/>
                      <a:r>
                        <a:rPr lang="en-US" sz="1200" u="none" strike="noStrike" dirty="0">
                          <a:effectLst/>
                        </a:rPr>
                        <a:t>Month</a:t>
                      </a:r>
                      <a:endParaRPr lang="en-US" sz="1200" b="0" i="0" u="none" strike="noStrike" dirty="0">
                        <a:solidFill>
                          <a:srgbClr val="000000"/>
                        </a:solidFill>
                        <a:effectLst/>
                        <a:latin typeface="Calibri" panose="020F0502020204030204" pitchFamily="34" charset="0"/>
                      </a:endParaRPr>
                    </a:p>
                  </a:txBody>
                  <a:tcPr marL="7144" marR="7144" marT="7144" marB="0" anchor="b"/>
                </a:tc>
                <a:tc>
                  <a:txBody>
                    <a:bodyPr/>
                    <a:lstStyle/>
                    <a:p>
                      <a:pPr algn="l" fontAlgn="b"/>
                      <a:r>
                        <a:rPr lang="en-US" sz="1200" u="none" strike="noStrike">
                          <a:effectLst/>
                        </a:rPr>
                        <a:t>Sales</a:t>
                      </a:r>
                      <a:endParaRPr lang="en-US" sz="1200" b="0" i="0" u="none" strike="noStrike">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634003359"/>
                  </a:ext>
                </a:extLst>
              </a:tr>
              <a:tr h="142875">
                <a:tc>
                  <a:txBody>
                    <a:bodyPr/>
                    <a:lstStyle/>
                    <a:p>
                      <a:pPr algn="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a:effectLst/>
                        </a:rPr>
                        <a:t>2.678969</a:t>
                      </a:r>
                      <a:endParaRPr lang="en-US" sz="1200" b="0" i="0" u="none" strike="noStrike">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666373392"/>
                  </a:ext>
                </a:extLst>
              </a:tr>
              <a:tr h="142875">
                <a:tc>
                  <a:txBody>
                    <a:bodyPr/>
                    <a:lstStyle/>
                    <a:p>
                      <a:pPr algn="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a:effectLst/>
                        </a:rPr>
                        <a:t>6.452194</a:t>
                      </a:r>
                      <a:endParaRPr lang="en-US" sz="1200" b="0" i="0" u="none" strike="noStrike">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4031291152"/>
                  </a:ext>
                </a:extLst>
              </a:tr>
              <a:tr h="150019">
                <a:tc>
                  <a:txBody>
                    <a:bodyPr/>
                    <a:lstStyle/>
                    <a:p>
                      <a:pPr algn="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1.837394</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090633083"/>
                  </a:ext>
                </a:extLst>
              </a:tr>
              <a:tr h="142875">
                <a:tc>
                  <a:txBody>
                    <a:bodyPr/>
                    <a:lstStyle/>
                    <a:p>
                      <a:pPr algn="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a:effectLst/>
                        </a:rPr>
                        <a:t>6.108601</a:t>
                      </a:r>
                      <a:endParaRPr lang="en-US" sz="1200" b="0" i="0" u="none" strike="noStrike">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295241088"/>
                  </a:ext>
                </a:extLst>
              </a:tr>
              <a:tr h="142875">
                <a:tc>
                  <a:txBody>
                    <a:bodyPr/>
                    <a:lstStyle/>
                    <a:p>
                      <a:pPr algn="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5.369281</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119397452"/>
                  </a:ext>
                </a:extLst>
              </a:tr>
              <a:tr h="142875">
                <a:tc>
                  <a:txBody>
                    <a:bodyPr/>
                    <a:lstStyle/>
                    <a:p>
                      <a:pPr algn="r" fontAlgn="b"/>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1.766862</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731119660"/>
                  </a:ext>
                </a:extLst>
              </a:tr>
              <a:tr h="150019">
                <a:tc>
                  <a:txBody>
                    <a:bodyPr/>
                    <a:lstStyle/>
                    <a:p>
                      <a:pPr algn="r" fontAlgn="b"/>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6.898837</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933609468"/>
                  </a:ext>
                </a:extLst>
              </a:tr>
              <a:tr h="142875">
                <a:tc>
                  <a:txBody>
                    <a:bodyPr/>
                    <a:lstStyle/>
                    <a:p>
                      <a:pPr algn="r" fontAlgn="b"/>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1.579677</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883625990"/>
                  </a:ext>
                </a:extLst>
              </a:tr>
              <a:tr h="142875">
                <a:tc>
                  <a:txBody>
                    <a:bodyPr/>
                    <a:lstStyle/>
                    <a:p>
                      <a:pPr algn="r" fontAlgn="b"/>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3.726494</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25761969"/>
                  </a:ext>
                </a:extLst>
              </a:tr>
              <a:tr h="150019">
                <a:tc>
                  <a:txBody>
                    <a:bodyPr/>
                    <a:lstStyle/>
                    <a:p>
                      <a:pPr algn="r" fontAlgn="b"/>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8.953184</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641565993"/>
                  </a:ext>
                </a:extLst>
              </a:tr>
              <a:tr h="142875">
                <a:tc>
                  <a:txBody>
                    <a:bodyPr/>
                    <a:lstStyle/>
                    <a:p>
                      <a:pPr algn="r" fontAlgn="b"/>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8.680436</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261936585"/>
                  </a:ext>
                </a:extLst>
              </a:tr>
              <a:tr h="142875">
                <a:tc>
                  <a:txBody>
                    <a:bodyPr/>
                    <a:lstStyle/>
                    <a:p>
                      <a:pPr algn="r" fontAlgn="b"/>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9.931636</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4027627879"/>
                  </a:ext>
                </a:extLst>
              </a:tr>
              <a:tr h="142875">
                <a:tc>
                  <a:txBody>
                    <a:bodyPr/>
                    <a:lstStyle/>
                    <a:p>
                      <a:pPr algn="r" fontAlgn="b"/>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6.691443</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299572030"/>
                  </a:ext>
                </a:extLst>
              </a:tr>
              <a:tr h="142875">
                <a:tc>
                  <a:txBody>
                    <a:bodyPr/>
                    <a:lstStyle/>
                    <a:p>
                      <a:pPr algn="r" fontAlgn="b"/>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11.39723</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129164729"/>
                  </a:ext>
                </a:extLst>
              </a:tr>
              <a:tr h="150019">
                <a:tc>
                  <a:txBody>
                    <a:bodyPr/>
                    <a:lstStyle/>
                    <a:p>
                      <a:pPr algn="r" fontAlgn="b"/>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144" marR="7144" marT="7144" marB="0" anchor="b"/>
                </a:tc>
                <a:tc>
                  <a:txBody>
                    <a:bodyPr/>
                    <a:lstStyle/>
                    <a:p>
                      <a:pPr algn="r" fontAlgn="b"/>
                      <a:r>
                        <a:rPr lang="en-US" sz="1200" u="none" strike="noStrike" dirty="0">
                          <a:effectLst/>
                        </a:rPr>
                        <a:t>14.93447</a:t>
                      </a:r>
                      <a:endParaRPr lang="en-US" sz="12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251068552"/>
                  </a:ext>
                </a:extLst>
              </a:tr>
            </a:tbl>
          </a:graphicData>
        </a:graphic>
      </p:graphicFrame>
      <p:sp>
        <p:nvSpPr>
          <p:cNvPr id="4" name="TextBox 3">
            <a:extLst>
              <a:ext uri="{FF2B5EF4-FFF2-40B4-BE49-F238E27FC236}">
                <a16:creationId xmlns:a16="http://schemas.microsoft.com/office/drawing/2014/main" id="{E91D2ED2-B2CC-4854-9E72-6D1CC31910CD}"/>
              </a:ext>
            </a:extLst>
          </p:cNvPr>
          <p:cNvSpPr txBox="1"/>
          <p:nvPr/>
        </p:nvSpPr>
        <p:spPr>
          <a:xfrm>
            <a:off x="2494145" y="1828800"/>
            <a:ext cx="2562379" cy="3762568"/>
          </a:xfrm>
          <a:prstGeom prst="rect">
            <a:avLst/>
          </a:prstGeom>
          <a:noFill/>
        </p:spPr>
        <p:txBody>
          <a:bodyPr wrap="square" rtlCol="0">
            <a:spAutoFit/>
          </a:bodyPr>
          <a:lstStyle/>
          <a:p>
            <a:r>
              <a:rPr lang="en-US" sz="1350" dirty="0"/>
              <a:t>A company wants to look at sales volume (in $M) for various stores for three different months. Perform a lack of fit test (at significance level 0.05) to determine if the separate means model (using three parameters) is significantly better than the linear regression model (using two parameters).</a:t>
            </a:r>
          </a:p>
          <a:p>
            <a:endParaRPr lang="en-US" sz="1350" dirty="0"/>
          </a:p>
          <a:p>
            <a:r>
              <a:rPr lang="en-US" sz="1350" dirty="0"/>
              <a:t>You may want to copy the blank ANOVA table on paper. </a:t>
            </a:r>
          </a:p>
          <a:p>
            <a:endParaRPr lang="en-US" sz="1350" dirty="0"/>
          </a:p>
          <a:p>
            <a:r>
              <a:rPr lang="en-US" dirty="0"/>
              <a:t>DO NOT plug the data into any software.  </a:t>
            </a:r>
            <a:r>
              <a:rPr lang="en-US" dirty="0">
                <a:sym typeface="Wingdings" pitchFamily="2" charset="2"/>
              </a:rPr>
              <a:t></a:t>
            </a:r>
            <a:endParaRPr lang="en-US" dirty="0"/>
          </a:p>
        </p:txBody>
      </p:sp>
      <p:pic>
        <p:nvPicPr>
          <p:cNvPr id="6" name="Picture 5">
            <a:extLst>
              <a:ext uri="{FF2B5EF4-FFF2-40B4-BE49-F238E27FC236}">
                <a16:creationId xmlns:a16="http://schemas.microsoft.com/office/drawing/2014/main" id="{2BB7A84A-F426-4CA1-80F0-6F3585A30DA6}"/>
              </a:ext>
            </a:extLst>
          </p:cNvPr>
          <p:cNvPicPr>
            <a:picLocks noChangeAspect="1"/>
          </p:cNvPicPr>
          <p:nvPr/>
        </p:nvPicPr>
        <p:blipFill>
          <a:blip r:embed="rId2"/>
          <a:stretch>
            <a:fillRect/>
          </a:stretch>
        </p:blipFill>
        <p:spPr>
          <a:xfrm>
            <a:off x="5486400" y="2050158"/>
            <a:ext cx="5630982" cy="1047968"/>
          </a:xfrm>
          <a:prstGeom prst="rect">
            <a:avLst/>
          </a:prstGeom>
        </p:spPr>
      </p:pic>
      <p:pic>
        <p:nvPicPr>
          <p:cNvPr id="7" name="Picture 6">
            <a:extLst>
              <a:ext uri="{FF2B5EF4-FFF2-40B4-BE49-F238E27FC236}">
                <a16:creationId xmlns:a16="http://schemas.microsoft.com/office/drawing/2014/main" id="{65AF5027-C9FF-42F2-8B7A-53A1CB983723}"/>
              </a:ext>
            </a:extLst>
          </p:cNvPr>
          <p:cNvPicPr>
            <a:picLocks noChangeAspect="1"/>
          </p:cNvPicPr>
          <p:nvPr/>
        </p:nvPicPr>
        <p:blipFill>
          <a:blip r:embed="rId3"/>
          <a:stretch>
            <a:fillRect/>
          </a:stretch>
        </p:blipFill>
        <p:spPr>
          <a:xfrm>
            <a:off x="5486400" y="3141537"/>
            <a:ext cx="5630982" cy="972229"/>
          </a:xfrm>
          <a:prstGeom prst="rect">
            <a:avLst/>
          </a:prstGeom>
        </p:spPr>
      </p:pic>
      <p:graphicFrame>
        <p:nvGraphicFramePr>
          <p:cNvPr id="8" name="Table 7">
            <a:extLst>
              <a:ext uri="{FF2B5EF4-FFF2-40B4-BE49-F238E27FC236}">
                <a16:creationId xmlns:a16="http://schemas.microsoft.com/office/drawing/2014/main" id="{17306419-3EF7-4688-842C-33912EE3B1DD}"/>
              </a:ext>
            </a:extLst>
          </p:cNvPr>
          <p:cNvGraphicFramePr>
            <a:graphicFrameLocks noGrp="1"/>
          </p:cNvGraphicFramePr>
          <p:nvPr>
            <p:extLst>
              <p:ext uri="{D42A27DB-BD31-4B8C-83A1-F6EECF244321}">
                <p14:modId xmlns:p14="http://schemas.microsoft.com/office/powerpoint/2010/main" val="1230800753"/>
              </p:ext>
            </p:extLst>
          </p:nvPr>
        </p:nvGraphicFramePr>
        <p:xfrm>
          <a:off x="5486402" y="4402648"/>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err="1"/>
                        <a:t>df</a:t>
                      </a:r>
                      <a:endParaRPr lang="en-US" sz="1400" dirty="0"/>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err="1"/>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endParaRPr lang="en-US" sz="1400" baseline="30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aseline="-25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aseline="-25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83310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4A9C8-4CF4-4CAD-B6D9-FC18E9F250AB}"/>
              </a:ext>
            </a:extLst>
          </p:cNvPr>
          <p:cNvSpPr>
            <a:spLocks noGrp="1"/>
          </p:cNvSpPr>
          <p:nvPr>
            <p:ph type="title"/>
          </p:nvPr>
        </p:nvSpPr>
        <p:spPr/>
        <p:txBody>
          <a:bodyPr/>
          <a:lstStyle/>
          <a:p>
            <a:r>
              <a:rPr lang="en-US" dirty="0"/>
              <a:t>Lack of Fit Test</a:t>
            </a:r>
          </a:p>
        </p:txBody>
      </p:sp>
      <p:graphicFrame>
        <p:nvGraphicFramePr>
          <p:cNvPr id="3" name="Table 2">
            <a:extLst>
              <a:ext uri="{FF2B5EF4-FFF2-40B4-BE49-F238E27FC236}">
                <a16:creationId xmlns:a16="http://schemas.microsoft.com/office/drawing/2014/main" id="{8DE12D40-A723-4766-AB7E-2CAF6083247D}"/>
              </a:ext>
            </a:extLst>
          </p:cNvPr>
          <p:cNvGraphicFramePr>
            <a:graphicFrameLocks noGrp="1"/>
          </p:cNvGraphicFramePr>
          <p:nvPr/>
        </p:nvGraphicFramePr>
        <p:xfrm>
          <a:off x="1695450" y="2295636"/>
          <a:ext cx="914400" cy="2314576"/>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1237034389"/>
                    </a:ext>
                  </a:extLst>
                </a:gridCol>
                <a:gridCol w="457200">
                  <a:extLst>
                    <a:ext uri="{9D8B030D-6E8A-4147-A177-3AD203B41FA5}">
                      <a16:colId xmlns:a16="http://schemas.microsoft.com/office/drawing/2014/main" val="2470506882"/>
                    </a:ext>
                  </a:extLst>
                </a:gridCol>
              </a:tblGrid>
              <a:tr h="142875">
                <a:tc>
                  <a:txBody>
                    <a:bodyPr/>
                    <a:lstStyle/>
                    <a:p>
                      <a:pPr algn="l" fontAlgn="b"/>
                      <a:r>
                        <a:rPr lang="en-US" sz="800" u="none" strike="noStrike" dirty="0">
                          <a:effectLst/>
                        </a:rPr>
                        <a:t>Month</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l" fontAlgn="b"/>
                      <a:r>
                        <a:rPr lang="en-US" sz="800" u="none" strike="noStrike" dirty="0">
                          <a:effectLst/>
                        </a:rPr>
                        <a:t>Sales</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634003359"/>
                  </a:ext>
                </a:extLst>
              </a:tr>
              <a:tr h="142875">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2.678969</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666373392"/>
                  </a:ext>
                </a:extLst>
              </a:tr>
              <a:tr h="142875">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6.452194</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4031291152"/>
                  </a:ext>
                </a:extLst>
              </a:tr>
              <a:tr h="150019">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1.837394</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090633083"/>
                  </a:ext>
                </a:extLst>
              </a:tr>
              <a:tr h="142875">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6.108601</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295241088"/>
                  </a:ext>
                </a:extLst>
              </a:tr>
              <a:tr h="142875">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5.369281</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119397452"/>
                  </a:ext>
                </a:extLst>
              </a:tr>
              <a:tr h="142875">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1.766862</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731119660"/>
                  </a:ext>
                </a:extLst>
              </a:tr>
              <a:tr h="150019">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6.898837</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933609468"/>
                  </a:ext>
                </a:extLst>
              </a:tr>
              <a:tr h="142875">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1.579677</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883625990"/>
                  </a:ext>
                </a:extLst>
              </a:tr>
              <a:tr h="142875">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3.726494</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25761969"/>
                  </a:ext>
                </a:extLst>
              </a:tr>
              <a:tr h="150019">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8.953184</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641565993"/>
                  </a:ext>
                </a:extLst>
              </a:tr>
              <a:tr h="142875">
                <a:tc>
                  <a:txBody>
                    <a:bodyPr/>
                    <a:lstStyle/>
                    <a:p>
                      <a:pPr algn="r" fontAlgn="b"/>
                      <a:r>
                        <a:rPr lang="en-US" sz="800" u="none" strike="noStrike" dirty="0">
                          <a:effectLst/>
                        </a:rPr>
                        <a:t>3</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8.680436</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261936585"/>
                  </a:ext>
                </a:extLst>
              </a:tr>
              <a:tr h="142875">
                <a:tc>
                  <a:txBody>
                    <a:bodyPr/>
                    <a:lstStyle/>
                    <a:p>
                      <a:pPr algn="r" fontAlgn="b"/>
                      <a:r>
                        <a:rPr lang="en-US" sz="800" u="none" strike="noStrike" dirty="0">
                          <a:effectLst/>
                        </a:rPr>
                        <a:t>3</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9.931636</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4027627879"/>
                  </a:ext>
                </a:extLst>
              </a:tr>
              <a:tr h="142875">
                <a:tc>
                  <a:txBody>
                    <a:bodyPr/>
                    <a:lstStyle/>
                    <a:p>
                      <a:pPr algn="r" fontAlgn="b"/>
                      <a:r>
                        <a:rPr lang="en-US" sz="800" u="none" strike="noStrike" dirty="0">
                          <a:effectLst/>
                        </a:rPr>
                        <a:t>3</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6.691443</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299572030"/>
                  </a:ext>
                </a:extLst>
              </a:tr>
              <a:tr h="142875">
                <a:tc>
                  <a:txBody>
                    <a:bodyPr/>
                    <a:lstStyle/>
                    <a:p>
                      <a:pPr algn="r" fontAlgn="b"/>
                      <a:r>
                        <a:rPr lang="en-US" sz="800" u="none" strike="noStrike" dirty="0">
                          <a:effectLst/>
                        </a:rPr>
                        <a:t>3</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11.39723</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129164729"/>
                  </a:ext>
                </a:extLst>
              </a:tr>
              <a:tr h="150019">
                <a:tc>
                  <a:txBody>
                    <a:bodyPr/>
                    <a:lstStyle/>
                    <a:p>
                      <a:pPr algn="r" fontAlgn="b"/>
                      <a:r>
                        <a:rPr lang="en-US" sz="800" u="none" strike="noStrike" dirty="0">
                          <a:effectLst/>
                        </a:rPr>
                        <a:t>3</a:t>
                      </a:r>
                      <a:endParaRPr lang="en-US" sz="800" b="0" i="0" u="none" strike="noStrike" dirty="0">
                        <a:solidFill>
                          <a:srgbClr val="000000"/>
                        </a:solidFill>
                        <a:effectLst/>
                        <a:latin typeface="Calibri" panose="020F0502020204030204" pitchFamily="34" charset="0"/>
                      </a:endParaRPr>
                    </a:p>
                  </a:txBody>
                  <a:tcPr marL="7144" marR="7144" marT="7144" marB="0" anchor="b"/>
                </a:tc>
                <a:tc>
                  <a:txBody>
                    <a:bodyPr/>
                    <a:lstStyle/>
                    <a:p>
                      <a:pPr algn="r" fontAlgn="b"/>
                      <a:r>
                        <a:rPr lang="en-US" sz="800" u="none" strike="noStrike" dirty="0">
                          <a:effectLst/>
                        </a:rPr>
                        <a:t>14.93447</a:t>
                      </a:r>
                      <a:endParaRPr lang="en-US" sz="8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2251068552"/>
                  </a:ext>
                </a:extLst>
              </a:tr>
            </a:tbl>
          </a:graphicData>
        </a:graphic>
      </p:graphicFrame>
      <p:sp>
        <p:nvSpPr>
          <p:cNvPr id="4" name="TextBox 3">
            <a:extLst>
              <a:ext uri="{FF2B5EF4-FFF2-40B4-BE49-F238E27FC236}">
                <a16:creationId xmlns:a16="http://schemas.microsoft.com/office/drawing/2014/main" id="{E91D2ED2-B2CC-4854-9E72-6D1CC31910CD}"/>
              </a:ext>
            </a:extLst>
          </p:cNvPr>
          <p:cNvSpPr txBox="1"/>
          <p:nvPr/>
        </p:nvSpPr>
        <p:spPr>
          <a:xfrm>
            <a:off x="2761903" y="1143000"/>
            <a:ext cx="1898787" cy="5693866"/>
          </a:xfrm>
          <a:prstGeom prst="rect">
            <a:avLst/>
          </a:prstGeom>
          <a:noFill/>
        </p:spPr>
        <p:txBody>
          <a:bodyPr wrap="square" rtlCol="0">
            <a:spAutoFit/>
          </a:bodyPr>
          <a:lstStyle/>
          <a:p>
            <a:r>
              <a:rPr lang="en-US" sz="1400" dirty="0"/>
              <a:t>A company wants to look at sales volume (in $M) for various stores for three different months. Perform a lack of fit test (at significance level 0.05) to determine if the separate means model (using three parameters) is significantly better than the linear regression model (using two parameters).</a:t>
            </a:r>
          </a:p>
          <a:p>
            <a:endParaRPr lang="en-US" sz="1400" dirty="0"/>
          </a:p>
          <a:p>
            <a:r>
              <a:rPr lang="en-US" sz="1400" dirty="0"/>
              <a:t>You may want to copy the blank ANOVA table on paper. </a:t>
            </a:r>
          </a:p>
          <a:p>
            <a:endParaRPr lang="en-US" sz="1400" dirty="0"/>
          </a:p>
          <a:p>
            <a:r>
              <a:rPr lang="en-US" sz="1400" dirty="0"/>
              <a:t>DO NOT plug the data into any software.</a:t>
            </a:r>
          </a:p>
        </p:txBody>
      </p:sp>
      <p:pic>
        <p:nvPicPr>
          <p:cNvPr id="6" name="Picture 5">
            <a:extLst>
              <a:ext uri="{FF2B5EF4-FFF2-40B4-BE49-F238E27FC236}">
                <a16:creationId xmlns:a16="http://schemas.microsoft.com/office/drawing/2014/main" id="{2BB7A84A-F426-4CA1-80F0-6F3585A30DA6}"/>
              </a:ext>
            </a:extLst>
          </p:cNvPr>
          <p:cNvPicPr>
            <a:picLocks noChangeAspect="1"/>
          </p:cNvPicPr>
          <p:nvPr/>
        </p:nvPicPr>
        <p:blipFill>
          <a:blip r:embed="rId2"/>
          <a:stretch>
            <a:fillRect/>
          </a:stretch>
        </p:blipFill>
        <p:spPr>
          <a:xfrm>
            <a:off x="4869185" y="1852184"/>
            <a:ext cx="5630982" cy="1047968"/>
          </a:xfrm>
          <a:prstGeom prst="rect">
            <a:avLst/>
          </a:prstGeom>
        </p:spPr>
      </p:pic>
      <p:pic>
        <p:nvPicPr>
          <p:cNvPr id="7" name="Picture 6">
            <a:extLst>
              <a:ext uri="{FF2B5EF4-FFF2-40B4-BE49-F238E27FC236}">
                <a16:creationId xmlns:a16="http://schemas.microsoft.com/office/drawing/2014/main" id="{65AF5027-C9FF-42F2-8B7A-53A1CB983723}"/>
              </a:ext>
            </a:extLst>
          </p:cNvPr>
          <p:cNvPicPr>
            <a:picLocks noChangeAspect="1"/>
          </p:cNvPicPr>
          <p:nvPr/>
        </p:nvPicPr>
        <p:blipFill>
          <a:blip r:embed="rId3"/>
          <a:stretch>
            <a:fillRect/>
          </a:stretch>
        </p:blipFill>
        <p:spPr>
          <a:xfrm>
            <a:off x="4869185" y="2943564"/>
            <a:ext cx="5630982" cy="972229"/>
          </a:xfrm>
          <a:prstGeom prst="rect">
            <a:avLst/>
          </a:prstGeom>
        </p:spPr>
      </p:pic>
      <p:graphicFrame>
        <p:nvGraphicFramePr>
          <p:cNvPr id="8" name="Table 7">
            <a:extLst>
              <a:ext uri="{FF2B5EF4-FFF2-40B4-BE49-F238E27FC236}">
                <a16:creationId xmlns:a16="http://schemas.microsoft.com/office/drawing/2014/main" id="{17306419-3EF7-4688-842C-33912EE3B1DD}"/>
              </a:ext>
            </a:extLst>
          </p:cNvPr>
          <p:cNvGraphicFramePr>
            <a:graphicFrameLocks noGrp="1"/>
          </p:cNvGraphicFramePr>
          <p:nvPr/>
        </p:nvGraphicFramePr>
        <p:xfrm>
          <a:off x="4869185" y="4254719"/>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endParaRPr lang="en-US" sz="1400" baseline="30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aseline="-25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aseline="-25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0AB7B083-4777-4786-8BB1-372009AA7C2E}"/>
              </a:ext>
            </a:extLst>
          </p:cNvPr>
          <p:cNvSpPr txBox="1"/>
          <p:nvPr/>
        </p:nvSpPr>
        <p:spPr>
          <a:xfrm>
            <a:off x="4567044" y="5562601"/>
            <a:ext cx="7320156" cy="1200329"/>
          </a:xfrm>
          <a:prstGeom prst="rect">
            <a:avLst/>
          </a:prstGeom>
          <a:noFill/>
        </p:spPr>
        <p:txBody>
          <a:bodyPr wrap="square" rtlCol="0">
            <a:spAutoFit/>
          </a:bodyPr>
          <a:lstStyle/>
          <a:p>
            <a:r>
              <a:rPr lang="en-US" dirty="0"/>
              <a:t>At significance level alpha = 0.05, there is insufficient evidence that the separate means model is a significantly better fit than the linear regression model (p-value = 0.10).There is not enough evidence to suggest lack of fit of the regression model.</a:t>
            </a:r>
          </a:p>
        </p:txBody>
      </p:sp>
      <p:graphicFrame>
        <p:nvGraphicFramePr>
          <p:cNvPr id="9" name="Table 8">
            <a:extLst>
              <a:ext uri="{FF2B5EF4-FFF2-40B4-BE49-F238E27FC236}">
                <a16:creationId xmlns:a16="http://schemas.microsoft.com/office/drawing/2014/main" id="{A57EFEB2-119A-45ED-AA6E-C07E7DBE0828}"/>
              </a:ext>
            </a:extLst>
          </p:cNvPr>
          <p:cNvGraphicFramePr>
            <a:graphicFrameLocks noGrp="1"/>
          </p:cNvGraphicFramePr>
          <p:nvPr/>
        </p:nvGraphicFramePr>
        <p:xfrm>
          <a:off x="4822325" y="4212090"/>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endParaRPr lang="en-US" sz="1400" baseline="30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Error (ANOVA)</a:t>
                      </a:r>
                    </a:p>
                  </a:txBody>
                  <a:tcPr marL="68580" marR="68580" marT="34290" marB="34290"/>
                </a:tc>
                <a:tc>
                  <a:txBody>
                    <a:bodyPr/>
                    <a:lstStyle/>
                    <a:p>
                      <a:pPr algn="ctr"/>
                      <a:r>
                        <a:rPr lang="en-US" sz="1400" dirty="0"/>
                        <a:t>12</a:t>
                      </a:r>
                    </a:p>
                  </a:txBody>
                  <a:tcPr marL="68580" marR="68580" marT="34290" marB="34290"/>
                </a:tc>
                <a:tc>
                  <a:txBody>
                    <a:bodyPr/>
                    <a:lstStyle/>
                    <a:p>
                      <a:pPr algn="ctr"/>
                      <a:r>
                        <a:rPr lang="en-US" sz="1400" dirty="0"/>
                        <a:t>98.2</a:t>
                      </a:r>
                    </a:p>
                  </a:txBody>
                  <a:tcPr marL="68580" marR="68580" marT="34290" marB="34290"/>
                </a:tc>
                <a:tc>
                  <a:txBody>
                    <a:bodyPr/>
                    <a:lstStyle/>
                    <a:p>
                      <a:pPr algn="ctr"/>
                      <a:r>
                        <a:rPr lang="en-US" sz="1400" dirty="0"/>
                        <a:t>8.18</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Total (Regression)</a:t>
                      </a:r>
                    </a:p>
                  </a:txBody>
                  <a:tcPr marL="68580" marR="68580" marT="34290" marB="34290"/>
                </a:tc>
                <a:tc>
                  <a:txBody>
                    <a:bodyPr/>
                    <a:lstStyle/>
                    <a:p>
                      <a:pPr algn="ctr"/>
                      <a:r>
                        <a:rPr lang="en-US" sz="1400" dirty="0"/>
                        <a:t>13</a:t>
                      </a:r>
                    </a:p>
                  </a:txBody>
                  <a:tcPr marL="68580" marR="68580" marT="34290" marB="34290"/>
                </a:tc>
                <a:tc>
                  <a:txBody>
                    <a:bodyPr/>
                    <a:lstStyle/>
                    <a:p>
                      <a:pPr algn="ctr"/>
                      <a:r>
                        <a:rPr lang="en-US" sz="1400" dirty="0"/>
                        <a:t>124.7</a:t>
                      </a:r>
                    </a:p>
                  </a:txBody>
                  <a:tcPr marL="68580" marR="68580" marT="34290" marB="34290"/>
                </a:tc>
                <a:tc>
                  <a:txBody>
                    <a:bodyPr/>
                    <a:lstStyle/>
                    <a:p>
                      <a:pPr algn="ctr"/>
                      <a:r>
                        <a:rPr lang="en-US" sz="1400" dirty="0"/>
                        <a:t>9.59</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graphicFrame>
        <p:nvGraphicFramePr>
          <p:cNvPr id="11" name="Table 10">
            <a:extLst>
              <a:ext uri="{FF2B5EF4-FFF2-40B4-BE49-F238E27FC236}">
                <a16:creationId xmlns:a16="http://schemas.microsoft.com/office/drawing/2014/main" id="{C055EBC3-3E30-4785-9F02-6B8BDC43C8AA}"/>
              </a:ext>
            </a:extLst>
          </p:cNvPr>
          <p:cNvGraphicFramePr>
            <a:graphicFrameLocks noGrp="1"/>
          </p:cNvGraphicFramePr>
          <p:nvPr/>
        </p:nvGraphicFramePr>
        <p:xfrm>
          <a:off x="4869185" y="4236645"/>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r>
                        <a:rPr lang="en-US" sz="1400" baseline="30000" dirty="0"/>
                        <a:t>Model (Difference)</a:t>
                      </a:r>
                    </a:p>
                  </a:txBody>
                  <a:tcPr marL="68580" marR="68580" marT="34290" marB="34290"/>
                </a:tc>
                <a:tc>
                  <a:txBody>
                    <a:bodyPr/>
                    <a:lstStyle/>
                    <a:p>
                      <a:pPr algn="ctr"/>
                      <a:r>
                        <a:rPr lang="en-US" sz="1400" dirty="0"/>
                        <a:t>1</a:t>
                      </a:r>
                    </a:p>
                  </a:txBody>
                  <a:tcPr marL="68580" marR="68580" marT="34290" marB="34290"/>
                </a:tc>
                <a:tc>
                  <a:txBody>
                    <a:bodyPr/>
                    <a:lstStyle/>
                    <a:p>
                      <a:pPr algn="ctr"/>
                      <a:r>
                        <a:rPr lang="en-US" sz="1400" dirty="0"/>
                        <a:t>26.5</a:t>
                      </a:r>
                    </a:p>
                  </a:txBody>
                  <a:tcPr marL="68580" marR="68580" marT="34290" marB="34290"/>
                </a:tc>
                <a:tc>
                  <a:txBody>
                    <a:bodyPr/>
                    <a:lstStyle/>
                    <a:p>
                      <a:pPr algn="ctr"/>
                      <a:r>
                        <a:rPr lang="en-US" sz="1000" dirty="0"/>
                        <a:t>26.5/1=26.5</a:t>
                      </a:r>
                    </a:p>
                  </a:txBody>
                  <a:tcPr marL="68580" marR="68580" marT="34290" marB="34290"/>
                </a:tc>
                <a:tc>
                  <a:txBody>
                    <a:bodyPr/>
                    <a:lstStyle/>
                    <a:p>
                      <a:pPr algn="ctr"/>
                      <a:r>
                        <a:rPr lang="en-US" sz="1400" dirty="0"/>
                        <a:t>3.24</a:t>
                      </a:r>
                    </a:p>
                  </a:txBody>
                  <a:tcPr marL="68580" marR="68580" marT="34290" marB="34290"/>
                </a:tc>
                <a:tc>
                  <a:txBody>
                    <a:bodyPr/>
                    <a:lstStyle/>
                    <a:p>
                      <a:pPr algn="ctr"/>
                      <a:r>
                        <a:rPr lang="en-US" sz="1400" dirty="0"/>
                        <a:t>0.10</a:t>
                      </a:r>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Error (ANOVA)</a:t>
                      </a:r>
                    </a:p>
                  </a:txBody>
                  <a:tcPr marL="68580" marR="68580" marT="34290" marB="34290"/>
                </a:tc>
                <a:tc>
                  <a:txBody>
                    <a:bodyPr/>
                    <a:lstStyle/>
                    <a:p>
                      <a:pPr algn="ctr"/>
                      <a:r>
                        <a:rPr lang="en-US" sz="1400" dirty="0"/>
                        <a:t>12</a:t>
                      </a:r>
                    </a:p>
                  </a:txBody>
                  <a:tcPr marL="68580" marR="68580" marT="34290" marB="34290"/>
                </a:tc>
                <a:tc>
                  <a:txBody>
                    <a:bodyPr/>
                    <a:lstStyle/>
                    <a:p>
                      <a:pPr algn="ctr"/>
                      <a:r>
                        <a:rPr lang="en-US" sz="1400" dirty="0"/>
                        <a:t>98.2</a:t>
                      </a:r>
                    </a:p>
                  </a:txBody>
                  <a:tcPr marL="68580" marR="68580" marT="34290" marB="34290"/>
                </a:tc>
                <a:tc>
                  <a:txBody>
                    <a:bodyPr/>
                    <a:lstStyle/>
                    <a:p>
                      <a:pPr algn="ctr"/>
                      <a:r>
                        <a:rPr lang="en-US" sz="1400" dirty="0"/>
                        <a:t>8.18</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Total (Regression)</a:t>
                      </a:r>
                    </a:p>
                  </a:txBody>
                  <a:tcPr marL="68580" marR="68580" marT="34290" marB="34290"/>
                </a:tc>
                <a:tc>
                  <a:txBody>
                    <a:bodyPr/>
                    <a:lstStyle/>
                    <a:p>
                      <a:pPr algn="ctr"/>
                      <a:r>
                        <a:rPr lang="en-US" sz="1400" dirty="0"/>
                        <a:t>13</a:t>
                      </a:r>
                    </a:p>
                  </a:txBody>
                  <a:tcPr marL="68580" marR="68580" marT="34290" marB="34290"/>
                </a:tc>
                <a:tc>
                  <a:txBody>
                    <a:bodyPr/>
                    <a:lstStyle/>
                    <a:p>
                      <a:pPr algn="ctr"/>
                      <a:r>
                        <a:rPr lang="en-US" sz="1400" dirty="0"/>
                        <a:t>124.7</a:t>
                      </a:r>
                    </a:p>
                  </a:txBody>
                  <a:tcPr marL="68580" marR="68580" marT="34290" marB="34290"/>
                </a:tc>
                <a:tc>
                  <a:txBody>
                    <a:bodyPr/>
                    <a:lstStyle/>
                    <a:p>
                      <a:pPr algn="ctr"/>
                      <a:r>
                        <a:rPr lang="en-US" sz="1400" dirty="0"/>
                        <a:t>9.59</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graphicFrame>
        <p:nvGraphicFramePr>
          <p:cNvPr id="12" name="Table 11">
            <a:extLst>
              <a:ext uri="{FF2B5EF4-FFF2-40B4-BE49-F238E27FC236}">
                <a16:creationId xmlns:a16="http://schemas.microsoft.com/office/drawing/2014/main" id="{B5D0086D-7C00-4402-AB51-BE04C8E182A2}"/>
              </a:ext>
            </a:extLst>
          </p:cNvPr>
          <p:cNvGraphicFramePr>
            <a:graphicFrameLocks noGrp="1"/>
          </p:cNvGraphicFramePr>
          <p:nvPr/>
        </p:nvGraphicFramePr>
        <p:xfrm>
          <a:off x="4791281" y="4174831"/>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r>
                        <a:rPr lang="en-US" sz="1400" baseline="30000" dirty="0"/>
                        <a:t>Model (Difference)</a:t>
                      </a:r>
                    </a:p>
                  </a:txBody>
                  <a:tcPr marL="68580" marR="68580" marT="34290" marB="34290"/>
                </a:tc>
                <a:tc>
                  <a:txBody>
                    <a:bodyPr/>
                    <a:lstStyle/>
                    <a:p>
                      <a:pPr algn="ctr"/>
                      <a:r>
                        <a:rPr lang="en-US" sz="1400" dirty="0"/>
                        <a:t>1</a:t>
                      </a:r>
                    </a:p>
                  </a:txBody>
                  <a:tcPr marL="68580" marR="68580" marT="34290" marB="34290"/>
                </a:tc>
                <a:tc>
                  <a:txBody>
                    <a:bodyPr/>
                    <a:lstStyle/>
                    <a:p>
                      <a:pPr algn="ctr"/>
                      <a:r>
                        <a:rPr lang="en-US" sz="1400" dirty="0"/>
                        <a:t>26.5</a:t>
                      </a:r>
                    </a:p>
                  </a:txBody>
                  <a:tcPr marL="68580" marR="68580" marT="34290" marB="34290"/>
                </a:tc>
                <a:tc>
                  <a:txBody>
                    <a:bodyPr/>
                    <a:lstStyle/>
                    <a:p>
                      <a:pPr algn="ctr"/>
                      <a:r>
                        <a:rPr lang="en-US" sz="1000" dirty="0"/>
                        <a:t>26.5/1=26.5</a:t>
                      </a:r>
                    </a:p>
                  </a:txBody>
                  <a:tcPr marL="68580" marR="68580" marT="34290" marB="34290"/>
                </a:tc>
                <a:tc>
                  <a:txBody>
                    <a:bodyPr/>
                    <a:lstStyle/>
                    <a:p>
                      <a:pPr algn="ctr"/>
                      <a:r>
                        <a:rPr lang="en-US" sz="1400" dirty="0"/>
                        <a:t>3.24</a:t>
                      </a:r>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Error (ANOVA)</a:t>
                      </a:r>
                    </a:p>
                  </a:txBody>
                  <a:tcPr marL="68580" marR="68580" marT="34290" marB="34290"/>
                </a:tc>
                <a:tc>
                  <a:txBody>
                    <a:bodyPr/>
                    <a:lstStyle/>
                    <a:p>
                      <a:pPr algn="ctr"/>
                      <a:r>
                        <a:rPr lang="en-US" sz="1400" dirty="0"/>
                        <a:t>12</a:t>
                      </a:r>
                    </a:p>
                  </a:txBody>
                  <a:tcPr marL="68580" marR="68580" marT="34290" marB="34290"/>
                </a:tc>
                <a:tc>
                  <a:txBody>
                    <a:bodyPr/>
                    <a:lstStyle/>
                    <a:p>
                      <a:pPr algn="ctr"/>
                      <a:r>
                        <a:rPr lang="en-US" sz="1400" dirty="0"/>
                        <a:t>98.2</a:t>
                      </a:r>
                    </a:p>
                  </a:txBody>
                  <a:tcPr marL="68580" marR="68580" marT="34290" marB="34290"/>
                </a:tc>
                <a:tc>
                  <a:txBody>
                    <a:bodyPr/>
                    <a:lstStyle/>
                    <a:p>
                      <a:pPr algn="ctr"/>
                      <a:r>
                        <a:rPr lang="en-US" sz="1400" dirty="0"/>
                        <a:t>8.18</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Total (Regression)</a:t>
                      </a:r>
                    </a:p>
                  </a:txBody>
                  <a:tcPr marL="68580" marR="68580" marT="34290" marB="34290"/>
                </a:tc>
                <a:tc>
                  <a:txBody>
                    <a:bodyPr/>
                    <a:lstStyle/>
                    <a:p>
                      <a:pPr algn="ctr"/>
                      <a:r>
                        <a:rPr lang="en-US" sz="1400" dirty="0"/>
                        <a:t>13</a:t>
                      </a:r>
                    </a:p>
                  </a:txBody>
                  <a:tcPr marL="68580" marR="68580" marT="34290" marB="34290"/>
                </a:tc>
                <a:tc>
                  <a:txBody>
                    <a:bodyPr/>
                    <a:lstStyle/>
                    <a:p>
                      <a:pPr algn="ctr"/>
                      <a:r>
                        <a:rPr lang="en-US" sz="1400" dirty="0"/>
                        <a:t>124.7</a:t>
                      </a:r>
                    </a:p>
                  </a:txBody>
                  <a:tcPr marL="68580" marR="68580" marT="34290" marB="34290"/>
                </a:tc>
                <a:tc>
                  <a:txBody>
                    <a:bodyPr/>
                    <a:lstStyle/>
                    <a:p>
                      <a:pPr algn="ctr"/>
                      <a:r>
                        <a:rPr lang="en-US" sz="1400" dirty="0"/>
                        <a:t>9.59</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graphicFrame>
        <p:nvGraphicFramePr>
          <p:cNvPr id="13" name="Table 12">
            <a:extLst>
              <a:ext uri="{FF2B5EF4-FFF2-40B4-BE49-F238E27FC236}">
                <a16:creationId xmlns:a16="http://schemas.microsoft.com/office/drawing/2014/main" id="{08BC0666-D14D-42BF-B735-8CD59C886140}"/>
              </a:ext>
            </a:extLst>
          </p:cNvPr>
          <p:cNvGraphicFramePr>
            <a:graphicFrameLocks noGrp="1"/>
          </p:cNvGraphicFramePr>
          <p:nvPr/>
        </p:nvGraphicFramePr>
        <p:xfrm>
          <a:off x="4812741" y="4209277"/>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r>
                        <a:rPr lang="en-US" sz="1400" baseline="30000" dirty="0"/>
                        <a:t>Model (Difference)</a:t>
                      </a:r>
                    </a:p>
                  </a:txBody>
                  <a:tcPr marL="68580" marR="68580" marT="34290" marB="34290"/>
                </a:tc>
                <a:tc>
                  <a:txBody>
                    <a:bodyPr/>
                    <a:lstStyle/>
                    <a:p>
                      <a:pPr algn="ctr"/>
                      <a:r>
                        <a:rPr lang="en-US" sz="1400" dirty="0"/>
                        <a:t>1</a:t>
                      </a:r>
                    </a:p>
                  </a:txBody>
                  <a:tcPr marL="68580" marR="68580" marT="34290" marB="34290"/>
                </a:tc>
                <a:tc>
                  <a:txBody>
                    <a:bodyPr/>
                    <a:lstStyle/>
                    <a:p>
                      <a:pPr algn="ctr"/>
                      <a:r>
                        <a:rPr lang="en-US" sz="1400" dirty="0"/>
                        <a:t>26.5</a:t>
                      </a:r>
                    </a:p>
                  </a:txBody>
                  <a:tcPr marL="68580" marR="68580" marT="34290" marB="34290"/>
                </a:tc>
                <a:tc>
                  <a:txBody>
                    <a:bodyPr/>
                    <a:lstStyle/>
                    <a:p>
                      <a:pPr algn="ctr"/>
                      <a:r>
                        <a:rPr lang="en-US" sz="1000" dirty="0"/>
                        <a:t>26.5/1=26.5</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Error (ANOVA)</a:t>
                      </a:r>
                    </a:p>
                  </a:txBody>
                  <a:tcPr marL="68580" marR="68580" marT="34290" marB="34290"/>
                </a:tc>
                <a:tc>
                  <a:txBody>
                    <a:bodyPr/>
                    <a:lstStyle/>
                    <a:p>
                      <a:pPr algn="ctr"/>
                      <a:r>
                        <a:rPr lang="en-US" sz="1400" dirty="0"/>
                        <a:t>12</a:t>
                      </a:r>
                    </a:p>
                  </a:txBody>
                  <a:tcPr marL="68580" marR="68580" marT="34290" marB="34290"/>
                </a:tc>
                <a:tc>
                  <a:txBody>
                    <a:bodyPr/>
                    <a:lstStyle/>
                    <a:p>
                      <a:pPr algn="ctr"/>
                      <a:r>
                        <a:rPr lang="en-US" sz="1400" dirty="0"/>
                        <a:t>98.2</a:t>
                      </a:r>
                    </a:p>
                  </a:txBody>
                  <a:tcPr marL="68580" marR="68580" marT="34290" marB="34290"/>
                </a:tc>
                <a:tc>
                  <a:txBody>
                    <a:bodyPr/>
                    <a:lstStyle/>
                    <a:p>
                      <a:pPr algn="ctr"/>
                      <a:r>
                        <a:rPr lang="en-US" sz="1400" dirty="0"/>
                        <a:t>8.18</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Total (Regression)</a:t>
                      </a:r>
                    </a:p>
                  </a:txBody>
                  <a:tcPr marL="68580" marR="68580" marT="34290" marB="34290"/>
                </a:tc>
                <a:tc>
                  <a:txBody>
                    <a:bodyPr/>
                    <a:lstStyle/>
                    <a:p>
                      <a:pPr algn="ctr"/>
                      <a:r>
                        <a:rPr lang="en-US" sz="1400" dirty="0"/>
                        <a:t>13</a:t>
                      </a:r>
                    </a:p>
                  </a:txBody>
                  <a:tcPr marL="68580" marR="68580" marT="34290" marB="34290"/>
                </a:tc>
                <a:tc>
                  <a:txBody>
                    <a:bodyPr/>
                    <a:lstStyle/>
                    <a:p>
                      <a:pPr algn="ctr"/>
                      <a:r>
                        <a:rPr lang="en-US" sz="1400" dirty="0"/>
                        <a:t>124.7</a:t>
                      </a:r>
                    </a:p>
                  </a:txBody>
                  <a:tcPr marL="68580" marR="68580" marT="34290" marB="34290"/>
                </a:tc>
                <a:tc>
                  <a:txBody>
                    <a:bodyPr/>
                    <a:lstStyle/>
                    <a:p>
                      <a:pPr algn="ctr"/>
                      <a:r>
                        <a:rPr lang="en-US" sz="1400" dirty="0"/>
                        <a:t>9.59</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graphicFrame>
        <p:nvGraphicFramePr>
          <p:cNvPr id="14" name="Table 13">
            <a:extLst>
              <a:ext uri="{FF2B5EF4-FFF2-40B4-BE49-F238E27FC236}">
                <a16:creationId xmlns:a16="http://schemas.microsoft.com/office/drawing/2014/main" id="{CD00949C-EF93-404A-9D60-2A24ED8BBB1C}"/>
              </a:ext>
            </a:extLst>
          </p:cNvPr>
          <p:cNvGraphicFramePr>
            <a:graphicFrameLocks noGrp="1"/>
          </p:cNvGraphicFramePr>
          <p:nvPr/>
        </p:nvGraphicFramePr>
        <p:xfrm>
          <a:off x="4812741" y="4218314"/>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r>
                        <a:rPr lang="en-US" sz="1400" baseline="30000" dirty="0"/>
                        <a:t>Model (Difference)</a:t>
                      </a:r>
                    </a:p>
                  </a:txBody>
                  <a:tcPr marL="68580" marR="68580" marT="34290" marB="34290"/>
                </a:tc>
                <a:tc>
                  <a:txBody>
                    <a:bodyPr/>
                    <a:lstStyle/>
                    <a:p>
                      <a:pPr algn="ctr"/>
                      <a:r>
                        <a:rPr lang="en-US" sz="1400" dirty="0"/>
                        <a:t>1</a:t>
                      </a:r>
                    </a:p>
                  </a:txBody>
                  <a:tcPr marL="68580" marR="68580" marT="34290" marB="34290"/>
                </a:tc>
                <a:tc>
                  <a:txBody>
                    <a:bodyPr/>
                    <a:lstStyle/>
                    <a:p>
                      <a:pPr algn="ctr"/>
                      <a:r>
                        <a:rPr lang="en-US" sz="1400" dirty="0"/>
                        <a:t>26.5</a:t>
                      </a:r>
                    </a:p>
                  </a:txBody>
                  <a:tcPr marL="68580" marR="68580" marT="34290" marB="34290"/>
                </a:tc>
                <a:tc>
                  <a:txBody>
                    <a:bodyPr/>
                    <a:lstStyle/>
                    <a:p>
                      <a:pPr algn="ctr"/>
                      <a:endParaRPr lang="en-US" sz="1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Error (ANOVA)</a:t>
                      </a:r>
                    </a:p>
                  </a:txBody>
                  <a:tcPr marL="68580" marR="68580" marT="34290" marB="34290"/>
                </a:tc>
                <a:tc>
                  <a:txBody>
                    <a:bodyPr/>
                    <a:lstStyle/>
                    <a:p>
                      <a:pPr algn="ctr"/>
                      <a:r>
                        <a:rPr lang="en-US" sz="1400" dirty="0"/>
                        <a:t>12</a:t>
                      </a:r>
                    </a:p>
                  </a:txBody>
                  <a:tcPr marL="68580" marR="68580" marT="34290" marB="34290"/>
                </a:tc>
                <a:tc>
                  <a:txBody>
                    <a:bodyPr/>
                    <a:lstStyle/>
                    <a:p>
                      <a:pPr algn="ctr"/>
                      <a:r>
                        <a:rPr lang="en-US" sz="1400" dirty="0"/>
                        <a:t>98.2</a:t>
                      </a:r>
                    </a:p>
                  </a:txBody>
                  <a:tcPr marL="68580" marR="68580" marT="34290" marB="34290"/>
                </a:tc>
                <a:tc>
                  <a:txBody>
                    <a:bodyPr/>
                    <a:lstStyle/>
                    <a:p>
                      <a:pPr algn="ctr"/>
                      <a:r>
                        <a:rPr lang="en-US" sz="1400" dirty="0"/>
                        <a:t>8.18</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Total (Regression)</a:t>
                      </a:r>
                    </a:p>
                  </a:txBody>
                  <a:tcPr marL="68580" marR="68580" marT="34290" marB="34290"/>
                </a:tc>
                <a:tc>
                  <a:txBody>
                    <a:bodyPr/>
                    <a:lstStyle/>
                    <a:p>
                      <a:pPr algn="ctr"/>
                      <a:r>
                        <a:rPr lang="en-US" sz="1400" dirty="0"/>
                        <a:t>13</a:t>
                      </a:r>
                    </a:p>
                  </a:txBody>
                  <a:tcPr marL="68580" marR="68580" marT="34290" marB="34290"/>
                </a:tc>
                <a:tc>
                  <a:txBody>
                    <a:bodyPr/>
                    <a:lstStyle/>
                    <a:p>
                      <a:pPr algn="ctr"/>
                      <a:r>
                        <a:rPr lang="en-US" sz="1400" dirty="0"/>
                        <a:t>124.7</a:t>
                      </a:r>
                    </a:p>
                  </a:txBody>
                  <a:tcPr marL="68580" marR="68580" marT="34290" marB="34290"/>
                </a:tc>
                <a:tc>
                  <a:txBody>
                    <a:bodyPr/>
                    <a:lstStyle/>
                    <a:p>
                      <a:pPr algn="ctr"/>
                      <a:r>
                        <a:rPr lang="en-US" sz="1400" dirty="0"/>
                        <a:t>9.59</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graphicFrame>
        <p:nvGraphicFramePr>
          <p:cNvPr id="15" name="Table 14">
            <a:extLst>
              <a:ext uri="{FF2B5EF4-FFF2-40B4-BE49-F238E27FC236}">
                <a16:creationId xmlns:a16="http://schemas.microsoft.com/office/drawing/2014/main" id="{E6397B1D-51A3-4A0F-B46E-6449CB7F5608}"/>
              </a:ext>
            </a:extLst>
          </p:cNvPr>
          <p:cNvGraphicFramePr>
            <a:graphicFrameLocks noGrp="1"/>
          </p:cNvGraphicFramePr>
          <p:nvPr>
            <p:extLst>
              <p:ext uri="{D42A27DB-BD31-4B8C-83A1-F6EECF244321}">
                <p14:modId xmlns:p14="http://schemas.microsoft.com/office/powerpoint/2010/main" val="129957478"/>
              </p:ext>
            </p:extLst>
          </p:nvPr>
        </p:nvGraphicFramePr>
        <p:xfrm>
          <a:off x="4800600" y="4191000"/>
          <a:ext cx="5737402" cy="1127760"/>
        </p:xfrm>
        <a:graphic>
          <a:graphicData uri="http://schemas.openxmlformats.org/drawingml/2006/table">
            <a:tbl>
              <a:tblPr firstRow="1" bandRow="1">
                <a:tableStyleId>{5C22544A-7EE6-4342-B048-85BDC9FD1C3A}</a:tableStyleId>
              </a:tblPr>
              <a:tblGrid>
                <a:gridCol w="1967109">
                  <a:extLst>
                    <a:ext uri="{9D8B030D-6E8A-4147-A177-3AD203B41FA5}">
                      <a16:colId xmlns:a16="http://schemas.microsoft.com/office/drawing/2014/main" val="20000"/>
                    </a:ext>
                  </a:extLst>
                </a:gridCol>
                <a:gridCol w="710345">
                  <a:extLst>
                    <a:ext uri="{9D8B030D-6E8A-4147-A177-3AD203B41FA5}">
                      <a16:colId xmlns:a16="http://schemas.microsoft.com/office/drawing/2014/main" val="20001"/>
                    </a:ext>
                  </a:extLst>
                </a:gridCol>
                <a:gridCol w="601061">
                  <a:extLst>
                    <a:ext uri="{9D8B030D-6E8A-4147-A177-3AD203B41FA5}">
                      <a16:colId xmlns:a16="http://schemas.microsoft.com/office/drawing/2014/main" val="20002"/>
                    </a:ext>
                  </a:extLst>
                </a:gridCol>
                <a:gridCol w="874271">
                  <a:extLst>
                    <a:ext uri="{9D8B030D-6E8A-4147-A177-3AD203B41FA5}">
                      <a16:colId xmlns:a16="http://schemas.microsoft.com/office/drawing/2014/main" val="20003"/>
                    </a:ext>
                  </a:extLst>
                </a:gridCol>
                <a:gridCol w="819629">
                  <a:extLst>
                    <a:ext uri="{9D8B030D-6E8A-4147-A177-3AD203B41FA5}">
                      <a16:colId xmlns:a16="http://schemas.microsoft.com/office/drawing/2014/main" val="20004"/>
                    </a:ext>
                  </a:extLst>
                </a:gridCol>
                <a:gridCol w="764987">
                  <a:extLst>
                    <a:ext uri="{9D8B030D-6E8A-4147-A177-3AD203B41FA5}">
                      <a16:colId xmlns:a16="http://schemas.microsoft.com/office/drawing/2014/main" val="20005"/>
                    </a:ext>
                  </a:extLst>
                </a:gridCol>
              </a:tblGrid>
              <a:tr h="276408">
                <a:tc>
                  <a:txBody>
                    <a:bodyPr/>
                    <a:lstStyle/>
                    <a:p>
                      <a:r>
                        <a:rPr lang="en-US" sz="1400" dirty="0"/>
                        <a:t>Source</a:t>
                      </a:r>
                    </a:p>
                  </a:txBody>
                  <a:tcPr marL="68580" marR="68580" marT="34290" marB="34290"/>
                </a:tc>
                <a:tc>
                  <a:txBody>
                    <a:bodyPr/>
                    <a:lstStyle/>
                    <a:p>
                      <a:pPr algn="ctr"/>
                      <a:r>
                        <a:rPr lang="en-US" sz="1400" dirty="0"/>
                        <a:t>df</a:t>
                      </a:r>
                    </a:p>
                  </a:txBody>
                  <a:tcPr marL="68580" marR="68580" marT="34290" marB="34290"/>
                </a:tc>
                <a:tc>
                  <a:txBody>
                    <a:bodyPr/>
                    <a:lstStyle/>
                    <a:p>
                      <a:pPr algn="ctr"/>
                      <a:r>
                        <a:rPr lang="en-US" sz="1400" dirty="0"/>
                        <a:t>SS</a:t>
                      </a:r>
                    </a:p>
                  </a:txBody>
                  <a:tcPr marL="68580" marR="68580" marT="34290" marB="34290"/>
                </a:tc>
                <a:tc>
                  <a:txBody>
                    <a:bodyPr/>
                    <a:lstStyle/>
                    <a:p>
                      <a:pPr algn="ctr"/>
                      <a:r>
                        <a:rPr lang="en-US" sz="1400" baseline="0" dirty="0"/>
                        <a:t>MS</a:t>
                      </a:r>
                      <a:endParaRPr lang="en-US" sz="1400" dirty="0"/>
                    </a:p>
                  </a:txBody>
                  <a:tcPr marL="68580" marR="68580" marT="34290" marB="34290"/>
                </a:tc>
                <a:tc>
                  <a:txBody>
                    <a:bodyPr/>
                    <a:lstStyle/>
                    <a:p>
                      <a:pPr algn="ctr"/>
                      <a:r>
                        <a:rPr lang="en-US" sz="1400" dirty="0"/>
                        <a:t>F</a:t>
                      </a:r>
                    </a:p>
                  </a:txBody>
                  <a:tcPr marL="68580" marR="68580" marT="34290" marB="34290"/>
                </a:tc>
                <a:tc>
                  <a:txBody>
                    <a:bodyPr/>
                    <a:lstStyle/>
                    <a:p>
                      <a:pPr algn="ctr"/>
                      <a:r>
                        <a:rPr lang="en-US" sz="1400" dirty="0"/>
                        <a:t>Pr</a:t>
                      </a:r>
                      <a:r>
                        <a:rPr lang="en-US" sz="1400" baseline="0" dirty="0"/>
                        <a:t> &gt; F</a:t>
                      </a:r>
                      <a:endParaRPr lang="en-US" sz="1400" dirty="0"/>
                    </a:p>
                  </a:txBody>
                  <a:tcPr marL="68580" marR="68580" marT="34290" marB="34290"/>
                </a:tc>
                <a:extLst>
                  <a:ext uri="{0D108BD9-81ED-4DB2-BD59-A6C34878D82A}">
                    <a16:rowId xmlns:a16="http://schemas.microsoft.com/office/drawing/2014/main" val="10000"/>
                  </a:ext>
                </a:extLst>
              </a:tr>
              <a:tr h="276408">
                <a:tc>
                  <a:txBody>
                    <a:bodyPr/>
                    <a:lstStyle/>
                    <a:p>
                      <a:pPr algn="ctr"/>
                      <a:endParaRPr lang="en-US" sz="1400" baseline="30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1"/>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aseline="-250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2"/>
                  </a:ext>
                </a:extLst>
              </a:tr>
              <a:tr h="2764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25000" dirty="0"/>
                        <a:t>Total (Regression)</a:t>
                      </a:r>
                    </a:p>
                  </a:txBody>
                  <a:tcPr marL="68580" marR="68580" marT="34290" marB="34290"/>
                </a:tc>
                <a:tc>
                  <a:txBody>
                    <a:bodyPr/>
                    <a:lstStyle/>
                    <a:p>
                      <a:pPr algn="ctr"/>
                      <a:r>
                        <a:rPr lang="en-US" sz="1400" dirty="0"/>
                        <a:t>13</a:t>
                      </a:r>
                    </a:p>
                  </a:txBody>
                  <a:tcPr marL="68580" marR="68580" marT="34290" marB="34290"/>
                </a:tc>
                <a:tc>
                  <a:txBody>
                    <a:bodyPr/>
                    <a:lstStyle/>
                    <a:p>
                      <a:pPr algn="ctr"/>
                      <a:r>
                        <a:rPr lang="en-US" sz="1400" dirty="0"/>
                        <a:t>124.7</a:t>
                      </a:r>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tc>
                  <a:txBody>
                    <a:bodyPr/>
                    <a:lstStyle/>
                    <a:p>
                      <a:pPr algn="ctr"/>
                      <a:endParaRPr lang="en-US" sz="1400" dirty="0"/>
                    </a:p>
                  </a:txBody>
                  <a:tcPr marL="68580" marR="68580" marT="34290" marB="34290"/>
                </a:tc>
                <a:extLst>
                  <a:ext uri="{0D108BD9-81ED-4DB2-BD59-A6C34878D82A}">
                    <a16:rowId xmlns:a16="http://schemas.microsoft.com/office/drawing/2014/main" val="10003"/>
                  </a:ext>
                </a:extLst>
              </a:tr>
            </a:tbl>
          </a:graphicData>
        </a:graphic>
      </p:graphicFrame>
      <p:sp>
        <p:nvSpPr>
          <p:cNvPr id="16" name="TextBox 15">
            <a:extLst>
              <a:ext uri="{FF2B5EF4-FFF2-40B4-BE49-F238E27FC236}">
                <a16:creationId xmlns:a16="http://schemas.microsoft.com/office/drawing/2014/main" id="{26BAAB30-D0F0-4A89-BDEA-0E9823DC443D}"/>
              </a:ext>
            </a:extLst>
          </p:cNvPr>
          <p:cNvSpPr txBox="1"/>
          <p:nvPr/>
        </p:nvSpPr>
        <p:spPr>
          <a:xfrm>
            <a:off x="4630497" y="1203041"/>
            <a:ext cx="5929231" cy="461665"/>
          </a:xfrm>
          <a:prstGeom prst="rect">
            <a:avLst/>
          </a:prstGeom>
          <a:noFill/>
        </p:spPr>
        <p:txBody>
          <a:bodyPr wrap="square" rtlCol="0">
            <a:spAutoFit/>
          </a:bodyPr>
          <a:lstStyle/>
          <a:p>
            <a:pPr eaLnBrk="0" fontAlgn="base" hangingPunct="0">
              <a:spcBef>
                <a:spcPct val="0"/>
              </a:spcBef>
              <a:spcAft>
                <a:spcPct val="0"/>
              </a:spcAft>
            </a:pPr>
            <a:r>
              <a:rPr lang="en-US" sz="1200" dirty="0">
                <a:solidFill>
                  <a:srgbClr val="000000"/>
                </a:solidFill>
                <a:ea typeface="ＭＳ Ｐゴシック" pitchFamily="34" charset="-128"/>
              </a:rPr>
              <a:t>H</a:t>
            </a:r>
            <a:r>
              <a:rPr lang="en-US" sz="1200" baseline="-25000" dirty="0">
                <a:solidFill>
                  <a:srgbClr val="000000"/>
                </a:solidFill>
                <a:ea typeface="ＭＳ Ｐゴシック" pitchFamily="34" charset="-128"/>
              </a:rPr>
              <a:t>o</a:t>
            </a:r>
            <a:r>
              <a:rPr lang="en-US" sz="1200" dirty="0">
                <a:solidFill>
                  <a:srgbClr val="000000"/>
                </a:solidFill>
                <a:ea typeface="ＭＳ Ｐゴシック" pitchFamily="34" charset="-128"/>
              </a:rPr>
              <a:t>: Linear Regression Model Has Good Fit (No lack of fit.)</a:t>
            </a:r>
          </a:p>
          <a:p>
            <a:pPr eaLnBrk="0" fontAlgn="base" hangingPunct="0">
              <a:spcBef>
                <a:spcPct val="0"/>
              </a:spcBef>
              <a:spcAft>
                <a:spcPct val="0"/>
              </a:spcAft>
            </a:pPr>
            <a:r>
              <a:rPr lang="en-US" sz="1200" dirty="0">
                <a:solidFill>
                  <a:srgbClr val="000000"/>
                </a:solidFill>
                <a:ea typeface="ＭＳ Ｐゴシック" pitchFamily="34" charset="-128"/>
              </a:rPr>
              <a:t>H</a:t>
            </a:r>
            <a:r>
              <a:rPr lang="en-US" sz="1200" baseline="-25000" dirty="0">
                <a:solidFill>
                  <a:srgbClr val="000000"/>
                </a:solidFill>
                <a:ea typeface="ＭＳ Ｐゴシック" pitchFamily="34" charset="-128"/>
              </a:rPr>
              <a:t>a</a:t>
            </a:r>
            <a:r>
              <a:rPr lang="en-US" sz="1200" dirty="0">
                <a:solidFill>
                  <a:srgbClr val="000000"/>
                </a:solidFill>
                <a:ea typeface="ＭＳ Ｐゴシック" pitchFamily="34" charset="-128"/>
              </a:rPr>
              <a:t>: The separate means model fits better (Linear Regression Model is Lacking Fit.)</a:t>
            </a:r>
          </a:p>
        </p:txBody>
      </p:sp>
    </p:spTree>
    <p:extLst>
      <p:ext uri="{BB962C8B-B14F-4D97-AF65-F5344CB8AC3E}">
        <p14:creationId xmlns:p14="http://schemas.microsoft.com/office/powerpoint/2010/main" val="3281487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1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1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par>
                                <p:cTn id="42" presetID="1" presetClass="exit" presetSubtype="0" fill="hold" nodeType="withEffect">
                                  <p:stCondLst>
                                    <p:cond delay="0"/>
                                  </p:stCondLst>
                                  <p:childTnLst>
                                    <p:set>
                                      <p:cBhvr>
                                        <p:cTn id="43" dur="1" fill="hold">
                                          <p:stCondLst>
                                            <p:cond delay="0"/>
                                          </p:stCondLst>
                                        </p:cTn>
                                        <p:tgtEl>
                                          <p:spTgt spid="12"/>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1CA3-E6C0-334A-B7F9-38C1DD8918B0}"/>
              </a:ext>
            </a:extLst>
          </p:cNvPr>
          <p:cNvSpPr>
            <a:spLocks noGrp="1"/>
          </p:cNvSpPr>
          <p:nvPr>
            <p:ph type="title"/>
          </p:nvPr>
        </p:nvSpPr>
        <p:spPr>
          <a:xfrm>
            <a:off x="609600" y="2438400"/>
            <a:ext cx="10972800" cy="1143000"/>
          </a:xfrm>
        </p:spPr>
        <p:txBody>
          <a:bodyPr/>
          <a:lstStyle/>
          <a:p>
            <a:r>
              <a:rPr lang="en-US" dirty="0"/>
              <a:t>End Question 2</a:t>
            </a:r>
          </a:p>
        </p:txBody>
      </p:sp>
    </p:spTree>
    <p:extLst>
      <p:ext uri="{BB962C8B-B14F-4D97-AF65-F5344CB8AC3E}">
        <p14:creationId xmlns:p14="http://schemas.microsoft.com/office/powerpoint/2010/main" val="3088411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2: Takeaways!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least 4 takeaways 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2751418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3: 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1960039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C948-A4A3-5946-B047-076635D43652}"/>
              </a:ext>
            </a:extLst>
          </p:cNvPr>
          <p:cNvSpPr>
            <a:spLocks noGrp="1"/>
          </p:cNvSpPr>
          <p:nvPr>
            <p:ph type="title"/>
          </p:nvPr>
        </p:nvSpPr>
        <p:spPr>
          <a:xfrm>
            <a:off x="1695450" y="2819400"/>
            <a:ext cx="8801100" cy="1450757"/>
          </a:xfrm>
        </p:spPr>
        <p:txBody>
          <a:bodyPr/>
          <a:lstStyle/>
          <a:p>
            <a:pPr algn="ctr"/>
            <a:r>
              <a:rPr lang="en-US" dirty="0"/>
              <a:t>End For Live Session Assignment Unit 11!</a:t>
            </a:r>
          </a:p>
        </p:txBody>
      </p:sp>
      <p:sp>
        <p:nvSpPr>
          <p:cNvPr id="4" name="Slide Number Placeholder 3">
            <a:extLst>
              <a:ext uri="{FF2B5EF4-FFF2-40B4-BE49-F238E27FC236}">
                <a16:creationId xmlns:a16="http://schemas.microsoft.com/office/drawing/2014/main" id="{C89C5DF8-9726-8A40-B8E3-D578C82B8DDF}"/>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30</a:t>
            </a:fld>
            <a:endParaRPr lang="en-US" altLang="en-US" dirty="0"/>
          </a:p>
        </p:txBody>
      </p:sp>
    </p:spTree>
    <p:extLst>
      <p:ext uri="{BB962C8B-B14F-4D97-AF65-F5344CB8AC3E}">
        <p14:creationId xmlns:p14="http://schemas.microsoft.com/office/powerpoint/2010/main" val="29353905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40835</TotalTime>
  <Words>2667</Words>
  <Application>Microsoft Macintosh PowerPoint</Application>
  <PresentationFormat>Widescreen</PresentationFormat>
  <Paragraphs>332</Paragraphs>
  <Slides>30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ＭＳ Ｐゴシック</vt:lpstr>
      <vt:lpstr>Arial</vt:lpstr>
      <vt:lpstr>Calibri</vt:lpstr>
      <vt:lpstr>Cambria Math</vt:lpstr>
      <vt:lpstr>Wingdings</vt:lpstr>
      <vt:lpstr>1_Body Slides</vt:lpstr>
      <vt:lpstr>For Live Session Assignment (FLS) </vt:lpstr>
      <vt:lpstr>Break out! Right off the bat … read this from a client point of view…</vt:lpstr>
      <vt:lpstr>Break out! Right off the bat … read this from a client point of view…</vt:lpstr>
      <vt:lpstr>Quick Quiz Questions</vt:lpstr>
      <vt:lpstr>Part 1: Quick Quiz Questions</vt:lpstr>
      <vt:lpstr>Part 1: Quick Quiz Questions</vt:lpstr>
      <vt:lpstr>End Quick Quiz Questions</vt:lpstr>
      <vt:lpstr>Log Transforms: Log-Linear</vt:lpstr>
      <vt:lpstr>Log Transforms: Linear-Log (cont.)</vt:lpstr>
      <vt:lpstr>Interpretation Log-Log Model</vt:lpstr>
      <vt:lpstr>Summary</vt:lpstr>
      <vt:lpstr>Question 1</vt:lpstr>
      <vt:lpstr>Infant Mortality versus GDP</vt:lpstr>
      <vt:lpstr>OLD: Infant Mortality versus GDP: R Code</vt:lpstr>
      <vt:lpstr>New: Infant Mortality versus GDP: R Code</vt:lpstr>
      <vt:lpstr>Infant Mortality versus GDP</vt:lpstr>
      <vt:lpstr>Infant Mortality versus GDP</vt:lpstr>
      <vt:lpstr>Infant Mortality versus GDP</vt:lpstr>
      <vt:lpstr>Infant Mortality versus GDP</vt:lpstr>
      <vt:lpstr>Infant Mortality versus GDP</vt:lpstr>
      <vt:lpstr>Infant Mortality versus GDP</vt:lpstr>
      <vt:lpstr>Infant Mortality versus GDP</vt:lpstr>
      <vt:lpstr>End Question 1</vt:lpstr>
      <vt:lpstr>Question 2</vt:lpstr>
      <vt:lpstr>Lack of Fit Test</vt:lpstr>
      <vt:lpstr>Lack of Fit Test</vt:lpstr>
      <vt:lpstr>End Question 2</vt:lpstr>
      <vt:lpstr>Question 2: Takeaways!</vt:lpstr>
      <vt:lpstr>Question 3: Questions!</vt:lpstr>
      <vt:lpstr>End For Live Session Assignment Unit 11!</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326</cp:revision>
  <cp:lastPrinted>2020-09-21T07:53:02Z</cp:lastPrinted>
  <dcterms:created xsi:type="dcterms:W3CDTF">2016-03-21T14:12:59Z</dcterms:created>
  <dcterms:modified xsi:type="dcterms:W3CDTF">2024-11-19T20:22:49Z</dcterms:modified>
  <cp:category/>
</cp:coreProperties>
</file>