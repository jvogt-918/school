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351" r:id="rId3"/>
    <p:sldId id="352" r:id="rId4"/>
    <p:sldId id="271" r:id="rId5"/>
    <p:sldId id="258" r:id="rId6"/>
    <p:sldId id="25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76CB2A-6C4C-452B-BAB5-AC6D71769766}" type="datetimeFigureOut">
              <a:rPr lang="en-US" smtClean="0"/>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565941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378926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76CB2A-6C4C-452B-BAB5-AC6D71769766}" type="datetimeFigureOut">
              <a:rPr lang="en-US" smtClean="0"/>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433375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76CB2A-6C4C-452B-BAB5-AC6D71769766}" type="datetimeFigureOut">
              <a:rPr lang="en-US" smtClean="0"/>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38179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76CB2A-6C4C-452B-BAB5-AC6D71769766}" type="datetimeFigureOut">
              <a:rPr lang="en-US" smtClean="0"/>
              <a:t>6/19/25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136744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76CB2A-6C4C-452B-BAB5-AC6D71769766}" type="datetimeFigureOut">
              <a:rPr lang="en-US" smtClean="0"/>
              <a:t>6/19/25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005336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76CB2A-6C4C-452B-BAB5-AC6D71769766}" type="datetimeFigureOut">
              <a:rPr lang="en-US" smtClean="0"/>
              <a:t>6/19/25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448785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CB2A-6C4C-452B-BAB5-AC6D71769766}" type="datetimeFigureOut">
              <a:rPr lang="en-US" smtClean="0"/>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55083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76CB2A-6C4C-452B-BAB5-AC6D71769766}" type="datetimeFigureOut">
              <a:rPr lang="en-US" smtClean="0"/>
              <a:t>6/19/25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2747103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757572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6CB2A-6C4C-452B-BAB5-AC6D71769766}" type="datetimeFigureOut">
              <a:rPr lang="en-US" smtClean="0"/>
              <a:t>6/19/25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7F8C3-B24C-4C52-B74E-8C3C4F300660}" type="slidenum">
              <a:rPr lang="en-US" smtClean="0"/>
              <a:t>‹#›</a:t>
            </a:fld>
            <a:endParaRPr lang="en-US"/>
          </a:p>
        </p:txBody>
      </p:sp>
    </p:spTree>
    <p:extLst>
      <p:ext uri="{BB962C8B-B14F-4D97-AF65-F5344CB8AC3E}">
        <p14:creationId xmlns:p14="http://schemas.microsoft.com/office/powerpoint/2010/main" val="330929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76CB2A-6C4C-452B-BAB5-AC6D71769766}" type="datetimeFigureOut">
              <a:rPr lang="en-US" smtClean="0"/>
              <a:t>6/19/25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7F8C3-B24C-4C52-B74E-8C3C4F300660}" type="slidenum">
              <a:rPr lang="en-US" smtClean="0"/>
              <a:t>‹#›</a:t>
            </a:fld>
            <a:endParaRPr lang="en-US"/>
          </a:p>
        </p:txBody>
      </p:sp>
    </p:spTree>
    <p:extLst>
      <p:ext uri="{BB962C8B-B14F-4D97-AF65-F5344CB8AC3E}">
        <p14:creationId xmlns:p14="http://schemas.microsoft.com/office/powerpoint/2010/main" val="1023946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99675" y="990600"/>
            <a:ext cx="9461795" cy="4524315"/>
          </a:xfrm>
          <a:prstGeom prst="rect">
            <a:avLst/>
          </a:prstGeom>
          <a:noFill/>
        </p:spPr>
        <p:txBody>
          <a:bodyPr wrap="square" lIns="91440" tIns="45720" rIns="91440" bIns="45720">
            <a:spAutoFit/>
          </a:bodyPr>
          <a:lstStyle/>
          <a:p>
            <a:pPr algn="ctr"/>
            <a:r>
              <a:rPr lang="en-US" sz="9600" b="1" spc="300" dirty="0">
                <a:ln w="11430" cmpd="sng">
                  <a:solidFill>
                    <a:srgbClr val="4F81BD">
                      <a:tint val="10000"/>
                    </a:srgbClr>
                  </a:solidFill>
                  <a:prstDash val="solid"/>
                  <a:miter lim="800000"/>
                </a:ln>
                <a:gradFill>
                  <a:gsLst>
                    <a:gs pos="10000">
                      <a:srgbClr val="4F81BD">
                        <a:tint val="83000"/>
                        <a:shade val="100000"/>
                        <a:satMod val="200000"/>
                      </a:srgbClr>
                    </a:gs>
                    <a:gs pos="75000">
                      <a:srgbClr val="4F81BD">
                        <a:tint val="100000"/>
                        <a:shade val="50000"/>
                        <a:satMod val="150000"/>
                      </a:srgbClr>
                    </a:gs>
                  </a:gsLst>
                  <a:lin ang="5400000"/>
                </a:gradFill>
                <a:effectLst>
                  <a:glow rad="45500">
                    <a:srgbClr val="4F81BD">
                      <a:satMod val="220000"/>
                      <a:alpha val="35000"/>
                    </a:srgbClr>
                  </a:glow>
                </a:effectLst>
                <a:latin typeface="Calibri"/>
              </a:rPr>
              <a:t>REVIEW </a:t>
            </a:r>
          </a:p>
          <a:p>
            <a:pPr algn="ctr"/>
            <a:r>
              <a:rPr lang="en-US" sz="9600" b="1" spc="300" dirty="0">
                <a:ln w="11430" cmpd="sng">
                  <a:solidFill>
                    <a:srgbClr val="4F81BD">
                      <a:tint val="10000"/>
                    </a:srgbClr>
                  </a:solidFill>
                  <a:prstDash val="solid"/>
                  <a:miter lim="800000"/>
                </a:ln>
                <a:gradFill>
                  <a:gsLst>
                    <a:gs pos="10000">
                      <a:srgbClr val="4F81BD">
                        <a:tint val="83000"/>
                        <a:shade val="100000"/>
                        <a:satMod val="200000"/>
                      </a:srgbClr>
                    </a:gs>
                    <a:gs pos="75000">
                      <a:srgbClr val="4F81BD">
                        <a:tint val="100000"/>
                        <a:shade val="50000"/>
                        <a:satMod val="150000"/>
                      </a:srgbClr>
                    </a:gs>
                  </a:gsLst>
                  <a:lin ang="5400000"/>
                </a:gradFill>
                <a:effectLst>
                  <a:glow rad="45500">
                    <a:srgbClr val="4F81BD">
                      <a:satMod val="220000"/>
                      <a:alpha val="35000"/>
                    </a:srgbClr>
                  </a:glow>
                </a:effectLst>
                <a:latin typeface="Calibri"/>
              </a:rPr>
              <a:t>FOR Midterm!</a:t>
            </a:r>
          </a:p>
          <a:p>
            <a:pPr algn="ctr"/>
            <a:r>
              <a:rPr lang="en-US" sz="9600" b="1" spc="300" dirty="0">
                <a:ln w="11430" cmpd="sng">
                  <a:solidFill>
                    <a:srgbClr val="4F81BD">
                      <a:tint val="10000"/>
                    </a:srgbClr>
                  </a:solidFill>
                  <a:prstDash val="solid"/>
                  <a:miter lim="800000"/>
                </a:ln>
                <a:gradFill>
                  <a:gsLst>
                    <a:gs pos="10000">
                      <a:srgbClr val="4F81BD">
                        <a:tint val="83000"/>
                        <a:shade val="100000"/>
                        <a:satMod val="200000"/>
                      </a:srgbClr>
                    </a:gs>
                    <a:gs pos="75000">
                      <a:srgbClr val="4F81BD">
                        <a:tint val="100000"/>
                        <a:shade val="50000"/>
                        <a:satMod val="150000"/>
                      </a:srgbClr>
                    </a:gs>
                  </a:gsLst>
                  <a:lin ang="5400000"/>
                </a:gradFill>
                <a:effectLst>
                  <a:glow rad="45500">
                    <a:srgbClr val="4F81BD">
                      <a:satMod val="220000"/>
                      <a:alpha val="35000"/>
                    </a:srgbClr>
                  </a:glow>
                </a:effectLst>
                <a:latin typeface="Calibri"/>
              </a:rPr>
              <a:t>Questions</a:t>
            </a:r>
          </a:p>
        </p:txBody>
      </p:sp>
    </p:spTree>
    <p:extLst>
      <p:ext uri="{BB962C8B-B14F-4D97-AF65-F5344CB8AC3E}">
        <p14:creationId xmlns:p14="http://schemas.microsoft.com/office/powerpoint/2010/main" val="266057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424D-E962-400C-B477-186F2F094728}"/>
              </a:ext>
            </a:extLst>
          </p:cNvPr>
          <p:cNvSpPr>
            <a:spLocks noGrp="1"/>
          </p:cNvSpPr>
          <p:nvPr>
            <p:ph type="title"/>
          </p:nvPr>
        </p:nvSpPr>
        <p:spPr/>
        <p:txBody>
          <a:bodyPr/>
          <a:lstStyle/>
          <a:p>
            <a:r>
              <a:rPr lang="en-US" dirty="0"/>
              <a:t>Topics</a:t>
            </a:r>
          </a:p>
        </p:txBody>
      </p:sp>
      <p:sp>
        <p:nvSpPr>
          <p:cNvPr id="4" name="TextBox 3">
            <a:extLst>
              <a:ext uri="{FF2B5EF4-FFF2-40B4-BE49-F238E27FC236}">
                <a16:creationId xmlns:a16="http://schemas.microsoft.com/office/drawing/2014/main" id="{16E3B2A2-7CFF-46BC-94C8-D5DB83D721F8}"/>
              </a:ext>
            </a:extLst>
          </p:cNvPr>
          <p:cNvSpPr txBox="1"/>
          <p:nvPr/>
        </p:nvSpPr>
        <p:spPr>
          <a:xfrm>
            <a:off x="1697567" y="2730382"/>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Know The Definition of Type 1 and Type 2 Error and Power.  </a:t>
            </a:r>
          </a:p>
        </p:txBody>
      </p:sp>
      <p:sp>
        <p:nvSpPr>
          <p:cNvPr id="5" name="TextBox 4">
            <a:extLst>
              <a:ext uri="{FF2B5EF4-FFF2-40B4-BE49-F238E27FC236}">
                <a16:creationId xmlns:a16="http://schemas.microsoft.com/office/drawing/2014/main" id="{37EECFBD-6902-4A49-BBB8-55A075DE03F8}"/>
              </a:ext>
            </a:extLst>
          </p:cNvPr>
          <p:cNvSpPr txBox="1"/>
          <p:nvPr/>
        </p:nvSpPr>
        <p:spPr>
          <a:xfrm>
            <a:off x="1676400" y="3510876"/>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Be able to find and interpret confidence intervals and how they are related to hypothesis tests and p-values.  </a:t>
            </a:r>
          </a:p>
        </p:txBody>
      </p:sp>
      <p:sp>
        <p:nvSpPr>
          <p:cNvPr id="6" name="TextBox 5">
            <a:extLst>
              <a:ext uri="{FF2B5EF4-FFF2-40B4-BE49-F238E27FC236}">
                <a16:creationId xmlns:a16="http://schemas.microsoft.com/office/drawing/2014/main" id="{BC04F84B-5A87-45D8-B4AF-C4AA85796CC4}"/>
              </a:ext>
            </a:extLst>
          </p:cNvPr>
          <p:cNvSpPr txBox="1"/>
          <p:nvPr/>
        </p:nvSpPr>
        <p:spPr>
          <a:xfrm>
            <a:off x="1672148" y="4645829"/>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Know Multiple Comparison Methods: Bonferroni, Tukey-Kramer, Dunnett’s</a:t>
            </a:r>
          </a:p>
        </p:txBody>
      </p:sp>
      <p:sp>
        <p:nvSpPr>
          <p:cNvPr id="7" name="Rectangle 6">
            <a:extLst>
              <a:ext uri="{FF2B5EF4-FFF2-40B4-BE49-F238E27FC236}">
                <a16:creationId xmlns:a16="http://schemas.microsoft.com/office/drawing/2014/main" id="{E0692FF1-F6FD-4529-B554-3F868E392BC1}"/>
              </a:ext>
            </a:extLst>
          </p:cNvPr>
          <p:cNvSpPr/>
          <p:nvPr/>
        </p:nvSpPr>
        <p:spPr>
          <a:xfrm>
            <a:off x="1693333" y="1752600"/>
            <a:ext cx="8810978" cy="523220"/>
          </a:xfrm>
          <a:prstGeom prst="rect">
            <a:avLst/>
          </a:prstGeom>
        </p:spPr>
        <p:txBody>
          <a:bodyPr wrap="square">
            <a:spAutoFit/>
          </a:bodyPr>
          <a:lstStyle/>
          <a:p>
            <a:pPr marL="285750" indent="-285750">
              <a:buFont typeface="Arial" panose="020B0604020202020204" pitchFamily="34" charset="0"/>
              <a:buChar char="•"/>
            </a:pPr>
            <a:r>
              <a:rPr lang="en-US" sz="1400" dirty="0">
                <a:solidFill>
                  <a:prstClr val="black"/>
                </a:solidFill>
                <a:latin typeface="Calibri"/>
              </a:rPr>
              <a:t>Know the 1 and 2 sample T-Tests as well as a paired t-test.  Be able to perform a complete analysis: State the Problem, Address the Assumptions, Run the Test, clearly state the conclusion / results, add a scope of inference.  </a:t>
            </a:r>
          </a:p>
        </p:txBody>
      </p:sp>
      <p:sp>
        <p:nvSpPr>
          <p:cNvPr id="8" name="TextBox 7">
            <a:extLst>
              <a:ext uri="{FF2B5EF4-FFF2-40B4-BE49-F238E27FC236}">
                <a16:creationId xmlns:a16="http://schemas.microsoft.com/office/drawing/2014/main" id="{70C9FDA9-A43E-4658-8B77-F4D80B385470}"/>
              </a:ext>
            </a:extLst>
          </p:cNvPr>
          <p:cNvSpPr txBox="1"/>
          <p:nvPr/>
        </p:nvSpPr>
        <p:spPr>
          <a:xfrm>
            <a:off x="1693333" y="3820113"/>
            <a:ext cx="8763000" cy="307777"/>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Know how to perform a complete analysis with non-parametric tests.  Rank-Sum, Sign-Test, Signed Rank, Etc.</a:t>
            </a:r>
          </a:p>
        </p:txBody>
      </p:sp>
      <p:sp>
        <p:nvSpPr>
          <p:cNvPr id="9" name="Rectangle 8">
            <a:extLst>
              <a:ext uri="{FF2B5EF4-FFF2-40B4-BE49-F238E27FC236}">
                <a16:creationId xmlns:a16="http://schemas.microsoft.com/office/drawing/2014/main" id="{27F75557-4E7A-46E2-84ED-D71DE27AE891}"/>
              </a:ext>
            </a:extLst>
          </p:cNvPr>
          <p:cNvSpPr/>
          <p:nvPr/>
        </p:nvSpPr>
        <p:spPr>
          <a:xfrm>
            <a:off x="1672148" y="4374509"/>
            <a:ext cx="8763000" cy="307777"/>
          </a:xfrm>
          <a:prstGeom prst="rect">
            <a:avLst/>
          </a:prstGeom>
        </p:spPr>
        <p:txBody>
          <a:bodyPr wrap="square">
            <a:spAutoFit/>
          </a:bodyPr>
          <a:lstStyle/>
          <a:p>
            <a:pPr marL="285750" indent="-285750">
              <a:buFont typeface="Arial" panose="020B0604020202020204" pitchFamily="34" charset="0"/>
              <a:buChar char="•"/>
            </a:pPr>
            <a:r>
              <a:rPr lang="en-US" sz="1400" dirty="0">
                <a:solidFill>
                  <a:prstClr val="black"/>
                </a:solidFill>
                <a:latin typeface="Calibri"/>
              </a:rPr>
              <a:t>Be very familiar with running an ANOVA and interpreting the results. (KRUSKAL-WALLIS AS WELL.)</a:t>
            </a:r>
          </a:p>
        </p:txBody>
      </p:sp>
      <p:sp>
        <p:nvSpPr>
          <p:cNvPr id="20" name="Rectangle 19">
            <a:extLst>
              <a:ext uri="{FF2B5EF4-FFF2-40B4-BE49-F238E27FC236}">
                <a16:creationId xmlns:a16="http://schemas.microsoft.com/office/drawing/2014/main" id="{59F29E0E-821D-A54E-ACAA-C94C3AF34808}"/>
              </a:ext>
            </a:extLst>
          </p:cNvPr>
          <p:cNvSpPr/>
          <p:nvPr/>
        </p:nvSpPr>
        <p:spPr>
          <a:xfrm>
            <a:off x="1672148" y="4091463"/>
            <a:ext cx="8763000" cy="307777"/>
          </a:xfrm>
          <a:prstGeom prst="rect">
            <a:avLst/>
          </a:prstGeom>
        </p:spPr>
        <p:txBody>
          <a:bodyPr wrap="square">
            <a:spAutoFit/>
          </a:bodyPr>
          <a:lstStyle/>
          <a:p>
            <a:pPr marL="285750" indent="-285750">
              <a:buFont typeface="Arial" panose="020B0604020202020204" pitchFamily="34" charset="0"/>
              <a:buChar char="•"/>
            </a:pPr>
            <a:r>
              <a:rPr lang="en-US" sz="1400" dirty="0">
                <a:solidFill>
                  <a:prstClr val="black"/>
                </a:solidFill>
                <a:latin typeface="Calibri"/>
              </a:rPr>
              <a:t>Know how to perform tests with contrasts with both SAS and R. </a:t>
            </a:r>
          </a:p>
        </p:txBody>
      </p:sp>
      <p:sp>
        <p:nvSpPr>
          <p:cNvPr id="21" name="TextBox 20">
            <a:extLst>
              <a:ext uri="{FF2B5EF4-FFF2-40B4-BE49-F238E27FC236}">
                <a16:creationId xmlns:a16="http://schemas.microsoft.com/office/drawing/2014/main" id="{765EB014-3FE0-0D43-8EF7-7FFC1B22497C}"/>
              </a:ext>
            </a:extLst>
          </p:cNvPr>
          <p:cNvSpPr txBox="1"/>
          <p:nvPr/>
        </p:nvSpPr>
        <p:spPr>
          <a:xfrm>
            <a:off x="1687089" y="3046345"/>
            <a:ext cx="8863808"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Know the relationship between type 1 and type 2 error and power and the sample size, standard deviation and effect size.  </a:t>
            </a:r>
          </a:p>
        </p:txBody>
      </p:sp>
      <p:sp>
        <p:nvSpPr>
          <p:cNvPr id="3" name="TextBox 2">
            <a:extLst>
              <a:ext uri="{FF2B5EF4-FFF2-40B4-BE49-F238E27FC236}">
                <a16:creationId xmlns:a16="http://schemas.microsoft.com/office/drawing/2014/main" id="{0B656811-A508-6F26-1E3F-1DC3C9C38E15}"/>
              </a:ext>
            </a:extLst>
          </p:cNvPr>
          <p:cNvSpPr txBox="1"/>
          <p:nvPr/>
        </p:nvSpPr>
        <p:spPr>
          <a:xfrm>
            <a:off x="1699959" y="1153180"/>
            <a:ext cx="8763000"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prstClr val="black"/>
                </a:solidFill>
                <a:latin typeface="Calibri"/>
              </a:rPr>
              <a:t>Know the overall strategy of the hypothesis test: Make an assumption, gather evidence, find the probability that evidence would occur IF THE NULL WAS TRUE, make a decision. </a:t>
            </a:r>
          </a:p>
        </p:txBody>
      </p:sp>
      <p:sp>
        <p:nvSpPr>
          <p:cNvPr id="10" name="Rectangle 9">
            <a:extLst>
              <a:ext uri="{FF2B5EF4-FFF2-40B4-BE49-F238E27FC236}">
                <a16:creationId xmlns:a16="http://schemas.microsoft.com/office/drawing/2014/main" id="{92013D24-966C-4732-E582-35D150E4EE96}"/>
              </a:ext>
            </a:extLst>
          </p:cNvPr>
          <p:cNvSpPr/>
          <p:nvPr/>
        </p:nvSpPr>
        <p:spPr>
          <a:xfrm>
            <a:off x="1672148" y="2362201"/>
            <a:ext cx="8895682" cy="307777"/>
          </a:xfrm>
          <a:prstGeom prst="rect">
            <a:avLst/>
          </a:prstGeom>
        </p:spPr>
        <p:txBody>
          <a:bodyPr wrap="square">
            <a:spAutoFit/>
          </a:bodyPr>
          <a:lstStyle/>
          <a:p>
            <a:pPr marL="285750" indent="-285750">
              <a:buFont typeface="Arial" panose="020B0604020202020204" pitchFamily="34" charset="0"/>
              <a:buChar char="•"/>
            </a:pPr>
            <a:r>
              <a:rPr lang="en-US" sz="1400" dirty="0">
                <a:solidFill>
                  <a:prstClr val="black"/>
                </a:solidFill>
                <a:latin typeface="Calibri"/>
              </a:rPr>
              <a:t>Know about experimental design: Randomized Experiment v. Observational Study.</a:t>
            </a:r>
          </a:p>
        </p:txBody>
      </p:sp>
    </p:spTree>
    <p:extLst>
      <p:ext uri="{BB962C8B-B14F-4D97-AF65-F5344CB8AC3E}">
        <p14:creationId xmlns:p14="http://schemas.microsoft.com/office/powerpoint/2010/main" val="339887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20" grpId="0"/>
      <p:bldP spid="21" grpId="0"/>
      <p:bldP spid="3"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67C40-8F2C-8501-0352-8946C57C97B6}"/>
              </a:ext>
            </a:extLst>
          </p:cNvPr>
          <p:cNvSpPr>
            <a:spLocks noGrp="1"/>
          </p:cNvSpPr>
          <p:nvPr>
            <p:ph type="title"/>
          </p:nvPr>
        </p:nvSpPr>
        <p:spPr/>
        <p:txBody>
          <a:bodyPr/>
          <a:lstStyle/>
          <a:p>
            <a:r>
              <a:rPr lang="en-US" dirty="0"/>
              <a:t>The Midterm!</a:t>
            </a:r>
          </a:p>
        </p:txBody>
      </p:sp>
      <p:sp>
        <p:nvSpPr>
          <p:cNvPr id="4" name="Rectangle 3">
            <a:extLst>
              <a:ext uri="{FF2B5EF4-FFF2-40B4-BE49-F238E27FC236}">
                <a16:creationId xmlns:a16="http://schemas.microsoft.com/office/drawing/2014/main" id="{8328FF8C-2E77-2785-1EAC-9E692EE33CB3}"/>
              </a:ext>
            </a:extLst>
          </p:cNvPr>
          <p:cNvSpPr/>
          <p:nvPr/>
        </p:nvSpPr>
        <p:spPr>
          <a:xfrm>
            <a:off x="1712383" y="1664735"/>
            <a:ext cx="473206" cy="307777"/>
          </a:xfrm>
          <a:prstGeom prst="rect">
            <a:avLst/>
          </a:prstGeom>
        </p:spPr>
        <p:txBody>
          <a:bodyPr wrap="none">
            <a:spAutoFit/>
          </a:bodyPr>
          <a:lstStyle/>
          <a:p>
            <a:pPr marL="285750" indent="-285750">
              <a:buFont typeface="Arial" panose="020B0604020202020204" pitchFamily="34" charset="0"/>
              <a:buChar char="•"/>
            </a:pPr>
            <a:endParaRPr lang="en-US" sz="1400" dirty="0">
              <a:solidFill>
                <a:prstClr val="black"/>
              </a:solidFill>
              <a:latin typeface="Calibri"/>
            </a:endParaRPr>
          </a:p>
        </p:txBody>
      </p:sp>
      <p:sp>
        <p:nvSpPr>
          <p:cNvPr id="5" name="TextBox 4">
            <a:extLst>
              <a:ext uri="{FF2B5EF4-FFF2-40B4-BE49-F238E27FC236}">
                <a16:creationId xmlns:a16="http://schemas.microsoft.com/office/drawing/2014/main" id="{66B52596-0E6F-7A23-3A81-4F07C54FD0AC}"/>
              </a:ext>
            </a:extLst>
          </p:cNvPr>
          <p:cNvSpPr txBox="1"/>
          <p:nvPr/>
        </p:nvSpPr>
        <p:spPr>
          <a:xfrm>
            <a:off x="1716617" y="5609151"/>
            <a:ext cx="8758766" cy="1077218"/>
          </a:xfrm>
          <a:prstGeom prst="rect">
            <a:avLst/>
          </a:prstGeom>
          <a:noFill/>
        </p:spPr>
        <p:txBody>
          <a:bodyPr wrap="square" rtlCol="0">
            <a:spAutoFit/>
          </a:bodyPr>
          <a:lstStyle/>
          <a:p>
            <a:r>
              <a:rPr lang="en-US" sz="1600" dirty="0">
                <a:solidFill>
                  <a:prstClr val="black"/>
                </a:solidFill>
                <a:latin typeface="Calibri"/>
              </a:rPr>
              <a:t>Again, the main rule: Once the test begins, there is no communication between a student and anyone who could help that student on the exam.  You may go to the bathroom anytime you like and you don’t need to ask … or anywhere else. The understanding is that students will not communicate with anyone who could help on the exam, about anything. </a:t>
            </a:r>
          </a:p>
        </p:txBody>
      </p:sp>
      <p:sp>
        <p:nvSpPr>
          <p:cNvPr id="6" name="TextBox 5">
            <a:extLst>
              <a:ext uri="{FF2B5EF4-FFF2-40B4-BE49-F238E27FC236}">
                <a16:creationId xmlns:a16="http://schemas.microsoft.com/office/drawing/2014/main" id="{D4C062FF-2631-74C6-9ED1-E51A89C7AC3B}"/>
              </a:ext>
            </a:extLst>
          </p:cNvPr>
          <p:cNvSpPr txBox="1"/>
          <p:nvPr/>
        </p:nvSpPr>
        <p:spPr>
          <a:xfrm>
            <a:off x="1716617" y="3962400"/>
            <a:ext cx="8758766" cy="1569660"/>
          </a:xfrm>
          <a:prstGeom prst="rect">
            <a:avLst/>
          </a:prstGeom>
          <a:noFill/>
        </p:spPr>
        <p:txBody>
          <a:bodyPr wrap="square" rtlCol="0">
            <a:spAutoFit/>
          </a:bodyPr>
          <a:lstStyle/>
          <a:p>
            <a:endParaRPr lang="en-US" sz="1600" dirty="0">
              <a:solidFill>
                <a:prstClr val="black"/>
              </a:solidFill>
              <a:latin typeface="Calibri"/>
            </a:endParaRPr>
          </a:p>
          <a:p>
            <a:r>
              <a:rPr lang="en-US" sz="1600" dirty="0">
                <a:solidFill>
                  <a:prstClr val="black"/>
                </a:solidFill>
                <a:latin typeface="Calibri"/>
              </a:rPr>
              <a:t>We will meet on Zoom and cameras must be kept on during the entire exam (SACCS accreditation)</a:t>
            </a:r>
          </a:p>
          <a:p>
            <a:r>
              <a:rPr lang="en-US" sz="1600" dirty="0">
                <a:solidFill>
                  <a:prstClr val="black"/>
                </a:solidFill>
                <a:latin typeface="Calibri"/>
              </a:rPr>
              <a:t>At the end of the exam, simply turn submit the Word Doc to the digital campus.  </a:t>
            </a:r>
          </a:p>
          <a:p>
            <a:endParaRPr lang="en-US" sz="1600" dirty="0">
              <a:solidFill>
                <a:prstClr val="black"/>
              </a:solidFill>
              <a:latin typeface="Calibri"/>
            </a:endParaRPr>
          </a:p>
          <a:p>
            <a:r>
              <a:rPr lang="en-US" sz="1600" dirty="0">
                <a:solidFill>
                  <a:prstClr val="black"/>
                </a:solidFill>
                <a:latin typeface="Calibri"/>
              </a:rPr>
              <a:t>If you have a question during the exam, simply private chat me the questions and I will private chat you back a response.  If the entire class needs to know about the response, then I will let the class know.  </a:t>
            </a:r>
          </a:p>
        </p:txBody>
      </p:sp>
      <p:sp>
        <p:nvSpPr>
          <p:cNvPr id="7" name="TextBox 6">
            <a:extLst>
              <a:ext uri="{FF2B5EF4-FFF2-40B4-BE49-F238E27FC236}">
                <a16:creationId xmlns:a16="http://schemas.microsoft.com/office/drawing/2014/main" id="{75A4C220-D950-EFE2-DD54-6CE4ECF93944}"/>
              </a:ext>
            </a:extLst>
          </p:cNvPr>
          <p:cNvSpPr txBox="1"/>
          <p:nvPr/>
        </p:nvSpPr>
        <p:spPr>
          <a:xfrm>
            <a:off x="1716617" y="1828800"/>
            <a:ext cx="8758766" cy="1077218"/>
          </a:xfrm>
          <a:prstGeom prst="rect">
            <a:avLst/>
          </a:prstGeom>
          <a:noFill/>
        </p:spPr>
        <p:txBody>
          <a:bodyPr wrap="square" rtlCol="0">
            <a:spAutoFit/>
          </a:bodyPr>
          <a:lstStyle/>
          <a:p>
            <a:r>
              <a:rPr lang="en-US" sz="1600" dirty="0">
                <a:solidFill>
                  <a:prstClr val="black"/>
                </a:solidFill>
                <a:latin typeface="Calibri"/>
              </a:rPr>
              <a:t>The main rule: Once the test begins, there is no communication between a student and anyone who could help that student on the exam.  You may go to the bathroom anytime you like and you don’t need to ask … or anywhere else. The understanding is that students will not communicate with anyone who could help on the exam, about anything. </a:t>
            </a:r>
          </a:p>
        </p:txBody>
      </p:sp>
      <p:sp>
        <p:nvSpPr>
          <p:cNvPr id="9" name="TextBox 8">
            <a:extLst>
              <a:ext uri="{FF2B5EF4-FFF2-40B4-BE49-F238E27FC236}">
                <a16:creationId xmlns:a16="http://schemas.microsoft.com/office/drawing/2014/main" id="{32DC3926-A59A-B21E-F5BA-83B13E59F60D}"/>
              </a:ext>
            </a:extLst>
          </p:cNvPr>
          <p:cNvSpPr txBox="1"/>
          <p:nvPr/>
        </p:nvSpPr>
        <p:spPr>
          <a:xfrm>
            <a:off x="2980083" y="1289022"/>
            <a:ext cx="6544917" cy="369332"/>
          </a:xfrm>
          <a:prstGeom prst="rect">
            <a:avLst/>
          </a:prstGeom>
          <a:noFill/>
        </p:spPr>
        <p:txBody>
          <a:bodyPr wrap="square">
            <a:spAutoFit/>
          </a:bodyPr>
          <a:lstStyle/>
          <a:p>
            <a:r>
              <a:rPr lang="en-US" b="1" dirty="0">
                <a:solidFill>
                  <a:prstClr val="black"/>
                </a:solidFill>
                <a:latin typeface="Calibri"/>
              </a:rPr>
              <a:t>The test is Saturday, July 21</a:t>
            </a:r>
            <a:r>
              <a:rPr lang="en-US" b="1" baseline="30000" dirty="0">
                <a:solidFill>
                  <a:prstClr val="black"/>
                </a:solidFill>
                <a:latin typeface="Calibri"/>
              </a:rPr>
              <a:t>st</a:t>
            </a:r>
            <a:r>
              <a:rPr lang="en-US" b="1" dirty="0">
                <a:solidFill>
                  <a:prstClr val="black"/>
                </a:solidFill>
                <a:latin typeface="Calibri"/>
              </a:rPr>
              <a:t>, from 11am to 2pm CST on Zoom! </a:t>
            </a:r>
          </a:p>
        </p:txBody>
      </p:sp>
      <p:sp>
        <p:nvSpPr>
          <p:cNvPr id="3" name="TextBox 2">
            <a:extLst>
              <a:ext uri="{FF2B5EF4-FFF2-40B4-BE49-F238E27FC236}">
                <a16:creationId xmlns:a16="http://schemas.microsoft.com/office/drawing/2014/main" id="{CA8D06B9-77D0-2D0F-61E1-36729393D056}"/>
              </a:ext>
            </a:extLst>
          </p:cNvPr>
          <p:cNvSpPr txBox="1"/>
          <p:nvPr/>
        </p:nvSpPr>
        <p:spPr>
          <a:xfrm>
            <a:off x="1712383" y="2895601"/>
            <a:ext cx="8758766" cy="1323439"/>
          </a:xfrm>
          <a:prstGeom prst="rect">
            <a:avLst/>
          </a:prstGeom>
          <a:noFill/>
        </p:spPr>
        <p:txBody>
          <a:bodyPr wrap="square" rtlCol="0">
            <a:spAutoFit/>
          </a:bodyPr>
          <a:lstStyle/>
          <a:p>
            <a:r>
              <a:rPr lang="en-US" sz="1600" dirty="0">
                <a:solidFill>
                  <a:prstClr val="black"/>
                </a:solidFill>
                <a:latin typeface="Calibri"/>
              </a:rPr>
              <a:t>You should also study for this exam as if it is closed book… however, you do have access to anything except another human being that can help on the exam.  This includes the HWs, the FLS slides, the videos, the book, etc.  Important note: there is not time budgeted on the exam to access these items … if you are sure you know where you to look and it won’t take to long you likely have enough time for a few looks back… but too many references to other items will likely result in running out of time.  </a:t>
            </a:r>
          </a:p>
        </p:txBody>
      </p:sp>
    </p:spTree>
    <p:extLst>
      <p:ext uri="{BB962C8B-B14F-4D97-AF65-F5344CB8AC3E}">
        <p14:creationId xmlns:p14="http://schemas.microsoft.com/office/powerpoint/2010/main" val="1260513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500"/>
                                        <p:tgtEl>
                                          <p:spTgt spid="6">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500"/>
                                        <p:tgtEl>
                                          <p:spTgt spid="6">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
                                            <p:txEl>
                                              <p:pRg st="0" end="0"/>
                                            </p:txEl>
                                          </p:spTgt>
                                        </p:tgtEl>
                                        <p:attrNameLst>
                                          <p:attrName>style.visibility</p:attrName>
                                        </p:attrNameLst>
                                      </p:cBhvr>
                                      <p:to>
                                        <p:strVal val="visible"/>
                                      </p:to>
                                    </p:set>
                                    <p:animEffect transition="in" filter="fade">
                                      <p:cBhvr>
                                        <p:cTn id="38"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971800"/>
            <a:ext cx="8839200"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685800"/>
            <a:ext cx="425476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282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143" y="674914"/>
            <a:ext cx="4280086" cy="1839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6400800" y="762001"/>
            <a:ext cx="4267200" cy="5262979"/>
          </a:xfrm>
          <a:prstGeom prst="rect">
            <a:avLst/>
          </a:prstGeom>
        </p:spPr>
        <p:txBody>
          <a:bodyPr wrap="square">
            <a:spAutoFit/>
          </a:bodyPr>
          <a:lstStyle/>
          <a:p>
            <a:pPr algn="ctr"/>
            <a:r>
              <a:rPr lang="en-US" sz="2400" dirty="0">
                <a:solidFill>
                  <a:prstClr val="black"/>
                </a:solidFill>
                <a:latin typeface="Calibri"/>
              </a:rPr>
              <a:t>HSB2 Data Set: </a:t>
            </a:r>
          </a:p>
          <a:p>
            <a:pPr algn="ctr"/>
            <a:r>
              <a:rPr lang="en-US" sz="2400" dirty="0">
                <a:solidFill>
                  <a:prstClr val="black"/>
                </a:solidFill>
                <a:latin typeface="Calibri"/>
              </a:rPr>
              <a:t>  This data file contains 200 observations from a sample of high school students with demographic information about the students, such as their gender (</a:t>
            </a:r>
            <a:r>
              <a:rPr lang="en-US" sz="2400" b="1" dirty="0">
                <a:solidFill>
                  <a:prstClr val="black"/>
                </a:solidFill>
                <a:latin typeface="Calibri"/>
              </a:rPr>
              <a:t>female</a:t>
            </a:r>
            <a:r>
              <a:rPr lang="en-US" sz="2400" dirty="0">
                <a:solidFill>
                  <a:prstClr val="black"/>
                </a:solidFill>
                <a:latin typeface="Calibri"/>
              </a:rPr>
              <a:t>), socio-economic status (</a:t>
            </a:r>
            <a:r>
              <a:rPr lang="en-US" sz="2400" b="1" dirty="0" err="1">
                <a:solidFill>
                  <a:prstClr val="black"/>
                </a:solidFill>
                <a:latin typeface="Calibri"/>
              </a:rPr>
              <a:t>ses</a:t>
            </a:r>
            <a:r>
              <a:rPr lang="en-US" sz="2400" dirty="0">
                <a:solidFill>
                  <a:prstClr val="black"/>
                </a:solidFill>
                <a:latin typeface="Calibri"/>
              </a:rPr>
              <a:t>) and ethnic background (</a:t>
            </a:r>
            <a:r>
              <a:rPr lang="en-US" sz="2400" b="1" dirty="0">
                <a:solidFill>
                  <a:prstClr val="black"/>
                </a:solidFill>
                <a:latin typeface="Calibri"/>
              </a:rPr>
              <a:t>race</a:t>
            </a:r>
            <a:r>
              <a:rPr lang="en-US" sz="2400" dirty="0">
                <a:solidFill>
                  <a:prstClr val="black"/>
                </a:solidFill>
                <a:latin typeface="Calibri"/>
              </a:rPr>
              <a:t>). It also contains a number of scores on standardized tests, including tests of reading (</a:t>
            </a:r>
            <a:r>
              <a:rPr lang="en-US" sz="2400" b="1" dirty="0">
                <a:solidFill>
                  <a:prstClr val="black"/>
                </a:solidFill>
                <a:latin typeface="Calibri"/>
              </a:rPr>
              <a:t>read</a:t>
            </a:r>
            <a:r>
              <a:rPr lang="en-US" sz="2400" dirty="0">
                <a:solidFill>
                  <a:prstClr val="black"/>
                </a:solidFill>
                <a:latin typeface="Calibri"/>
              </a:rPr>
              <a:t>), writing (</a:t>
            </a:r>
            <a:r>
              <a:rPr lang="en-US" sz="2400" b="1" dirty="0">
                <a:solidFill>
                  <a:prstClr val="black"/>
                </a:solidFill>
                <a:latin typeface="Calibri"/>
              </a:rPr>
              <a:t>write</a:t>
            </a:r>
            <a:r>
              <a:rPr lang="en-US" sz="2400" dirty="0">
                <a:solidFill>
                  <a:prstClr val="black"/>
                </a:solidFill>
                <a:latin typeface="Calibri"/>
              </a:rPr>
              <a:t>), mathematics (</a:t>
            </a:r>
            <a:r>
              <a:rPr lang="en-US" sz="2400" b="1" dirty="0">
                <a:solidFill>
                  <a:prstClr val="black"/>
                </a:solidFill>
                <a:latin typeface="Calibri"/>
              </a:rPr>
              <a:t>math</a:t>
            </a:r>
            <a:r>
              <a:rPr lang="en-US" sz="2400" dirty="0">
                <a:solidFill>
                  <a:prstClr val="black"/>
                </a:solidFill>
                <a:latin typeface="Calibri"/>
              </a:rPr>
              <a:t>) and social studies (</a:t>
            </a:r>
            <a:r>
              <a:rPr lang="en-US" sz="2400" b="1" dirty="0" err="1">
                <a:solidFill>
                  <a:prstClr val="black"/>
                </a:solidFill>
                <a:latin typeface="Calibri"/>
              </a:rPr>
              <a:t>socst</a:t>
            </a:r>
            <a:r>
              <a:rPr lang="en-US" sz="2400" dirty="0">
                <a:solidFill>
                  <a:prstClr val="black"/>
                </a:solidFill>
                <a:latin typeface="Calibri"/>
              </a:rPr>
              <a:t>). </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895600"/>
            <a:ext cx="4413520"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0014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dirty="0"/>
              <a:t>Review!!!!</a:t>
            </a:r>
          </a:p>
        </p:txBody>
      </p:sp>
      <p:sp>
        <p:nvSpPr>
          <p:cNvPr id="3" name="Content Placeholder 2"/>
          <p:cNvSpPr>
            <a:spLocks noGrp="1"/>
          </p:cNvSpPr>
          <p:nvPr>
            <p:ph idx="1"/>
          </p:nvPr>
        </p:nvSpPr>
        <p:spPr>
          <a:xfrm>
            <a:off x="306456" y="1577009"/>
            <a:ext cx="11579087" cy="3969026"/>
          </a:xfrm>
        </p:spPr>
        <p:txBody>
          <a:bodyPr>
            <a:normAutofit/>
          </a:bodyPr>
          <a:lstStyle/>
          <a:p>
            <a:pPr marL="514350" indent="-514350">
              <a:buAutoNum type="arabicPeriod"/>
            </a:pPr>
            <a:r>
              <a:rPr lang="en-US" dirty="0"/>
              <a:t>Download the HSB2 Dataset and import into a SAS or R session.</a:t>
            </a:r>
          </a:p>
          <a:p>
            <a:pPr marL="514350" indent="-514350">
              <a:buAutoNum type="arabicPeriod"/>
            </a:pPr>
            <a:r>
              <a:rPr lang="en-US" dirty="0"/>
              <a:t>Test the claim that the mean writing score is equal to 50.  Write all steps.</a:t>
            </a:r>
          </a:p>
          <a:p>
            <a:pPr marL="514350" indent="-514350">
              <a:buAutoNum type="arabicPeriod"/>
            </a:pPr>
            <a:r>
              <a:rPr lang="en-US" dirty="0"/>
              <a:t>Test the claim that the mean writing score is different for males and females.  Include all steps.  </a:t>
            </a:r>
          </a:p>
          <a:p>
            <a:pPr marL="514350" indent="-514350">
              <a:buAutoNum type="arabicPeriod"/>
            </a:pPr>
            <a:r>
              <a:rPr lang="en-US" dirty="0"/>
              <a:t>There are 4 unique race categories.  Test to see if the 1</a:t>
            </a:r>
            <a:r>
              <a:rPr lang="en-US" baseline="30000" dirty="0"/>
              <a:t>st</a:t>
            </a:r>
            <a:r>
              <a:rPr lang="en-US" dirty="0"/>
              <a:t>  race has a different mean writing score than the 4</a:t>
            </a:r>
            <a:r>
              <a:rPr lang="en-US" baseline="30000" dirty="0"/>
              <a:t>th</a:t>
            </a:r>
            <a:r>
              <a:rPr lang="en-US" dirty="0"/>
              <a:t> race.</a:t>
            </a:r>
          </a:p>
        </p:txBody>
      </p:sp>
    </p:spTree>
    <p:extLst>
      <p:ext uri="{BB962C8B-B14F-4D97-AF65-F5344CB8AC3E}">
        <p14:creationId xmlns:p14="http://schemas.microsoft.com/office/powerpoint/2010/main" val="326206741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TotalTime>
  <Words>709</Words>
  <Application>Microsoft Macintosh PowerPoint</Application>
  <PresentationFormat>Widescreen</PresentationFormat>
  <Paragraphs>31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1_Office Theme</vt:lpstr>
      <vt:lpstr>PowerPoint Presentation</vt:lpstr>
      <vt:lpstr>Topics</vt:lpstr>
      <vt:lpstr>The Midterm!</vt:lpstr>
      <vt:lpstr>PowerPoint Presentation</vt:lpstr>
      <vt:lpstr>PowerPoint Presentation</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Sadler, Bivin Philip</dc:creator>
  <cp:lastModifiedBy>Sadler, Bivin Philip</cp:lastModifiedBy>
  <cp:revision>5</cp:revision>
  <dcterms:created xsi:type="dcterms:W3CDTF">2023-02-23T22:21:48Z</dcterms:created>
  <dcterms:modified xsi:type="dcterms:W3CDTF">2025-06-20T01:48:38Z</dcterms:modified>
</cp:coreProperties>
</file>