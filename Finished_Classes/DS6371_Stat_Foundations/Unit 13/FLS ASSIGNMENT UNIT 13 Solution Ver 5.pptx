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ink/ink1.xml" ContentType="application/inkml+xml"/>
  <Override PartName="/ppt/ink/ink2.xml" ContentType="application/inkml+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notesMasterIdLst>
    <p:notesMasterId r:id="rId76"/>
  </p:notesMasterIdLst>
  <p:sldIdLst>
    <p:sldId id="270" r:id="rId2"/>
    <p:sldId id="259" r:id="rId3"/>
    <p:sldId id="258" r:id="rId4"/>
    <p:sldId id="442" r:id="rId5"/>
    <p:sldId id="443" r:id="rId6"/>
    <p:sldId id="329" r:id="rId7"/>
    <p:sldId id="467" r:id="rId8"/>
    <p:sldId id="469" r:id="rId9"/>
    <p:sldId id="468" r:id="rId10"/>
    <p:sldId id="400" r:id="rId11"/>
    <p:sldId id="340" r:id="rId12"/>
    <p:sldId id="466" r:id="rId13"/>
    <p:sldId id="342" r:id="rId14"/>
    <p:sldId id="343" r:id="rId15"/>
    <p:sldId id="344" r:id="rId16"/>
    <p:sldId id="345" r:id="rId17"/>
    <p:sldId id="346" r:id="rId18"/>
    <p:sldId id="347" r:id="rId19"/>
    <p:sldId id="474" r:id="rId20"/>
    <p:sldId id="348" r:id="rId21"/>
    <p:sldId id="473" r:id="rId22"/>
    <p:sldId id="349" r:id="rId23"/>
    <p:sldId id="350" r:id="rId24"/>
    <p:sldId id="470" r:id="rId25"/>
    <p:sldId id="401" r:id="rId26"/>
    <p:sldId id="260" r:id="rId27"/>
    <p:sldId id="444" r:id="rId28"/>
    <p:sldId id="471" r:id="rId29"/>
    <p:sldId id="472" r:id="rId30"/>
    <p:sldId id="463" r:id="rId31"/>
    <p:sldId id="465" r:id="rId32"/>
    <p:sldId id="445" r:id="rId33"/>
    <p:sldId id="461" r:id="rId34"/>
    <p:sldId id="455" r:id="rId35"/>
    <p:sldId id="456" r:id="rId36"/>
    <p:sldId id="457" r:id="rId37"/>
    <p:sldId id="458" r:id="rId38"/>
    <p:sldId id="459" r:id="rId39"/>
    <p:sldId id="460" r:id="rId40"/>
    <p:sldId id="323" r:id="rId41"/>
    <p:sldId id="324" r:id="rId42"/>
    <p:sldId id="326" r:id="rId43"/>
    <p:sldId id="287" r:id="rId44"/>
    <p:sldId id="337" r:id="rId45"/>
    <p:sldId id="446" r:id="rId46"/>
    <p:sldId id="289" r:id="rId47"/>
    <p:sldId id="449" r:id="rId48"/>
    <p:sldId id="257" r:id="rId49"/>
    <p:sldId id="447" r:id="rId50"/>
    <p:sldId id="448" r:id="rId51"/>
    <p:sldId id="330" r:id="rId52"/>
    <p:sldId id="331" r:id="rId53"/>
    <p:sldId id="332" r:id="rId54"/>
    <p:sldId id="333" r:id="rId55"/>
    <p:sldId id="319" r:id="rId56"/>
    <p:sldId id="451" r:id="rId57"/>
    <p:sldId id="339" r:id="rId58"/>
    <p:sldId id="322" r:id="rId59"/>
    <p:sldId id="452" r:id="rId60"/>
    <p:sldId id="341" r:id="rId61"/>
    <p:sldId id="453" r:id="rId62"/>
    <p:sldId id="450" r:id="rId63"/>
    <p:sldId id="309" r:id="rId64"/>
    <p:sldId id="310" r:id="rId65"/>
    <p:sldId id="327" r:id="rId66"/>
    <p:sldId id="462" r:id="rId67"/>
    <p:sldId id="328" r:id="rId68"/>
    <p:sldId id="454" r:id="rId69"/>
    <p:sldId id="316" r:id="rId70"/>
    <p:sldId id="320" r:id="rId71"/>
    <p:sldId id="321" r:id="rId72"/>
    <p:sldId id="334" r:id="rId73"/>
    <p:sldId id="336" r:id="rId74"/>
    <p:sldId id="413" r:id="rId75"/>
  </p:sldIdLst>
  <p:sldSz cx="12192000" cy="6858000"/>
  <p:notesSz cx="6858000" cy="9144000"/>
  <p:custDataLst>
    <p:tags r:id="rId7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M User" initials="LM" lastIdx="1" clrIdx="0">
    <p:extLst>
      <p:ext uri="{19B8F6BF-5375-455C-9EA6-DF929625EA0E}">
        <p15:presenceInfo xmlns:p15="http://schemas.microsoft.com/office/powerpoint/2012/main" userId="LM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4CA1"/>
    <a:srgbClr val="6C6C6C"/>
    <a:srgbClr val="013334"/>
    <a:srgbClr val="10069F"/>
    <a:srgbClr val="4E2A84"/>
    <a:srgbClr val="582E8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266" autoAdjust="0"/>
    <p:restoredTop sz="88503" autoAdjust="0"/>
  </p:normalViewPr>
  <p:slideViewPr>
    <p:cSldViewPr>
      <p:cViewPr varScale="1">
        <p:scale>
          <a:sx n="112" d="100"/>
          <a:sy n="112" d="100"/>
        </p:scale>
        <p:origin x="504" y="200"/>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 d="1"/>
        <a:sy n="1" d="1"/>
      </p:scale>
      <p:origin x="0" y="0"/>
    </p:cViewPr>
  </p:notesTextViewPr>
  <p:sorterViewPr>
    <p:cViewPr>
      <p:scale>
        <a:sx n="100" d="100"/>
        <a:sy n="100" d="100"/>
      </p:scale>
      <p:origin x="0" y="-340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_rels/viewProps.xml.rels><?xml version="1.0" encoding="UTF-8" standalone="yes"?>
<Relationships xmlns="http://schemas.openxmlformats.org/package/2006/relationships"><Relationship Id="rId3" Type="http://schemas.openxmlformats.org/officeDocument/2006/relationships/slide" Target="slides/slide57.xml"/><Relationship Id="rId2" Type="http://schemas.openxmlformats.org/officeDocument/2006/relationships/slide" Target="slides/slide56.xml"/><Relationship Id="rId1" Type="http://schemas.openxmlformats.org/officeDocument/2006/relationships/slide" Target="slides/slide55.xml"/><Relationship Id="rId6" Type="http://schemas.openxmlformats.org/officeDocument/2006/relationships/slide" Target="slides/slide61.xml"/><Relationship Id="rId5" Type="http://schemas.openxmlformats.org/officeDocument/2006/relationships/slide" Target="slides/slide59.xml"/><Relationship Id="rId4" Type="http://schemas.openxmlformats.org/officeDocument/2006/relationships/slide" Target="slides/slide5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1-20T20:49:38.314"/>
    </inkml:context>
    <inkml:brush xml:id="br0">
      <inkml:brushProperty name="width" value="0.1" units="cm"/>
      <inkml:brushProperty name="height" value="0.1" units="cm"/>
      <inkml:brushProperty name="color" value="#AE198D"/>
      <inkml:brushProperty name="ignorePressure" value="1"/>
      <inkml:brushProperty name="inkEffects" value="galaxy"/>
      <inkml:brushProperty name="anchorX" value="0"/>
      <inkml:brushProperty name="anchorY" value="0"/>
      <inkml:brushProperty name="scaleFactor" value="0.5"/>
    </inkml:brush>
    <inkml:brush xml:id="br1">
      <inkml:brushProperty name="width" value="0.1" units="cm"/>
      <inkml:brushProperty name="height" value="0.1" units="cm"/>
      <inkml:brushProperty name="color" value="#AE198D"/>
      <inkml:brushProperty name="ignorePressure" value="1"/>
      <inkml:brushProperty name="inkEffects" value="galaxy"/>
      <inkml:brushProperty name="anchorX" value="-4123.58057"/>
      <inkml:brushProperty name="anchorY" value="-1207.28406"/>
      <inkml:brushProperty name="scaleFactor" value="0.5"/>
    </inkml:brush>
    <inkml:brush xml:id="br2">
      <inkml:brushProperty name="width" value="0.1" units="cm"/>
      <inkml:brushProperty name="height" value="0.1" units="cm"/>
      <inkml:brushProperty name="color" value="#AE198D"/>
      <inkml:brushProperty name="ignorePressure" value="1"/>
      <inkml:brushProperty name="inkEffects" value="galaxy"/>
      <inkml:brushProperty name="anchorX" value="-6334.32129"/>
      <inkml:brushProperty name="anchorY" value="-2445.92603"/>
      <inkml:brushProperty name="scaleFactor" value="0.5"/>
    </inkml:brush>
  </inkml:definitions>
  <inkml:trace contextRef="#ctx0" brushRef="#br0">216 132,'0'13,"0"0,18-13,-18 26,18-26,-18 13,54 27,-54-28,36 1,-36 14,18-14,0 0,-18 0,36 0,-36 0,35 0,-35 1,36-1,-18 13,0-13,0 0,0 0,0-13,0 13,18 0,-18 0,18 14,0-14,-18 0,18 0,-19 0,19 0,1-13,-20 13,19-13,0 13,0-13,-18 0,0 0,18 0,-1 0,2 0,-20 0,19 0,0 0,0 0,0-13,-18 13,18-13,18 13,-36-13,17 0,1 13,-18-26,1 26,17-13,-19-14,1 27,0-13,0 13,0-13,18 13,-36-13,18 13,0-13,-18 0,0 0,18 0,-1 0,-17 0,19-1,-19 1,18 0,-18 0,18 0,-18 0,0 0,18-14,-18 14,0 1,0-2,0 1,0 0,0 0,0 0,0 0,0 0,0 0,17 13,-17-14,0 1,0 26,0-26,0 13</inkml:trace>
  <inkml:trace contextRef="#ctx0" brushRef="#br1" timeOffset="1">1508 158,'19'0,"-2"0,2 0,-2 0,1 0,0-13,0 13,18-27,0 14,0-13,0 13,18 0,17-13,-35 26,-18-13,36 0,-36 13,-18 13,0 0,0 0,0 0,0 0,0 0,0 0,0 0,0 0,0 1,0-1,18-13,-18 0</inkml:trace>
  <inkml:trace contextRef="#ctx0" brushRef="#br2" timeOffset="2">0 249,'19'-12,"-19"-2,0 1,0 0,17-13,1 13,-18-13,19 26,-19-27,17 14,2 0,-2-13,-17 0,18 26,-18-13,0 0,18 13,0 0,0 0,0 0,18 0,-18 13,0-13,-18 13,36-13,-18 0,0 13,0-13,18 0,-19 0,1 13,1-13,-2 13,1-13,-18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7-11-21T00:32:09.948"/>
    </inkml:context>
    <inkml:brush xml:id="br0">
      <inkml:brushProperty name="width" value="0.1" units="cm"/>
      <inkml:brushProperty name="height" value="0.1" units="cm"/>
      <inkml:brushProperty name="color" value="#AE198D"/>
      <inkml:brushProperty name="ignorePressure" value="1"/>
      <inkml:brushProperty name="inkEffects" value="galaxy"/>
      <inkml:brushProperty name="anchorX" value="0"/>
      <inkml:brushProperty name="anchorY" value="0"/>
      <inkml:brushProperty name="scaleFactor" value="0.5"/>
    </inkml:brush>
    <inkml:brush xml:id="br1">
      <inkml:brushProperty name="width" value="0.1" units="cm"/>
      <inkml:brushProperty name="height" value="0.1" units="cm"/>
      <inkml:brushProperty name="color" value="#AE198D"/>
      <inkml:brushProperty name="ignorePressure" value="1"/>
      <inkml:brushProperty name="inkEffects" value="galaxy"/>
      <inkml:brushProperty name="anchorX" value="-4123.58057"/>
      <inkml:brushProperty name="anchorY" value="-1207.28406"/>
      <inkml:brushProperty name="scaleFactor" value="0.5"/>
    </inkml:brush>
    <inkml:brush xml:id="br2">
      <inkml:brushProperty name="width" value="0.1" units="cm"/>
      <inkml:brushProperty name="height" value="0.1" units="cm"/>
      <inkml:brushProperty name="color" value="#AE198D"/>
      <inkml:brushProperty name="ignorePressure" value="1"/>
      <inkml:brushProperty name="inkEffects" value="galaxy"/>
      <inkml:brushProperty name="anchorX" value="-6334.32129"/>
      <inkml:brushProperty name="anchorY" value="-2445.92603"/>
      <inkml:brushProperty name="scaleFactor" value="0.5"/>
    </inkml:brush>
  </inkml:definitions>
  <inkml:trace contextRef="#ctx0" brushRef="#br0">216 132,'0'13,"0"0,18-13,-18 26,18-26,-18 13,54 27,-54-28,36 1,-36 14,18-14,0 0,-18 0,36 0,-36 0,35 0,-35 1,36-1,-18 13,0-13,0 0,0 0,0-13,0 13,18 0,-18 0,18 14,0-14,-18 0,18 0,-19 0,19 0,1-13,-20 13,19-13,0 13,0-13,-18 0,0 0,18 0,-1 0,2 0,-20 0,19 0,0 0,0 0,0-13,-18 13,18-13,18 13,-36-13,17 0,1 13,-18-26,1 26,17-13,-19-14,1 27,0-13,0 13,0-13,18 13,-36-13,18 13,0-13,-18 0,0 0,18 0,-1 0,-17 0,19-1,-19 1,18 0,-18 0,18 0,-18 0,0 0,18-14,-18 14,0 1,0-2,0 1,0 0,0 0,0 0,0 0,0 0,0 0,17 13,-17-14,0 1,0 26,0-26,0 13</inkml:trace>
  <inkml:trace contextRef="#ctx0" brushRef="#br1" timeOffset="1">1508 158,'19'0,"-2"0,2 0,-2 0,1 0,0-13,0 13,18-27,0 14,0-13,0 13,18 0,17-13,-35 26,-18-13,36 0,-36 13,-18 13,0 0,0 0,0 0,0 0,0 0,0 0,0 0,0 0,0 1,0-1,18-13,-18 0</inkml:trace>
  <inkml:trace contextRef="#ctx0" brushRef="#br2" timeOffset="2">0 249,'19'-12,"-19"-2,0 1,0 0,17-13,1 13,-18-13,19 26,-19-27,17 14,2 0,-2-13,-17 0,18 26,-18-13,0 0,18 13,0 0,0 0,0 0,18 0,-18 13,0-13,-18 13,36-13,-18 0,0 13,0-13,18 0,-19 0,1 13,1-13,-2 13,1-13,-18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8570D6A-FB49-A14C-9B03-21B3417100CD}" type="datetimeFigureOut">
              <a:rPr lang="en-US" smtClean="0"/>
              <a:t>4/3/25</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CB6C83-B894-2740-9986-97D8BB6F6D98}" type="slidenum">
              <a:rPr lang="en-US" smtClean="0"/>
              <a:t>‹#›</a:t>
            </a:fld>
            <a:endParaRPr lang="en-US" dirty="0"/>
          </a:p>
        </p:txBody>
      </p:sp>
    </p:spTree>
    <p:extLst>
      <p:ext uri="{BB962C8B-B14F-4D97-AF65-F5344CB8AC3E}">
        <p14:creationId xmlns:p14="http://schemas.microsoft.com/office/powerpoint/2010/main" val="1801669850"/>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11</a:t>
            </a:fld>
            <a:endParaRPr lang="en-US" dirty="0"/>
          </a:p>
        </p:txBody>
      </p:sp>
    </p:spTree>
    <p:extLst>
      <p:ext uri="{BB962C8B-B14F-4D97-AF65-F5344CB8AC3E}">
        <p14:creationId xmlns:p14="http://schemas.microsoft.com/office/powerpoint/2010/main" val="35142014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12</a:t>
            </a:fld>
            <a:endParaRPr lang="en-US" dirty="0"/>
          </a:p>
        </p:txBody>
      </p:sp>
    </p:spTree>
    <p:extLst>
      <p:ext uri="{BB962C8B-B14F-4D97-AF65-F5344CB8AC3E}">
        <p14:creationId xmlns:p14="http://schemas.microsoft.com/office/powerpoint/2010/main" val="11214738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13</a:t>
            </a:fld>
            <a:endParaRPr lang="en-US" dirty="0"/>
          </a:p>
        </p:txBody>
      </p:sp>
    </p:spTree>
    <p:extLst>
      <p:ext uri="{BB962C8B-B14F-4D97-AF65-F5344CB8AC3E}">
        <p14:creationId xmlns:p14="http://schemas.microsoft.com/office/powerpoint/2010/main" val="34689534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14</a:t>
            </a:fld>
            <a:endParaRPr lang="en-US" dirty="0"/>
          </a:p>
        </p:txBody>
      </p:sp>
    </p:spTree>
    <p:extLst>
      <p:ext uri="{BB962C8B-B14F-4D97-AF65-F5344CB8AC3E}">
        <p14:creationId xmlns:p14="http://schemas.microsoft.com/office/powerpoint/2010/main" val="12566120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15</a:t>
            </a:fld>
            <a:endParaRPr lang="en-US" dirty="0"/>
          </a:p>
        </p:txBody>
      </p:sp>
    </p:spTree>
    <p:extLst>
      <p:ext uri="{BB962C8B-B14F-4D97-AF65-F5344CB8AC3E}">
        <p14:creationId xmlns:p14="http://schemas.microsoft.com/office/powerpoint/2010/main" val="2731711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16</a:t>
            </a:fld>
            <a:endParaRPr lang="en-US" dirty="0"/>
          </a:p>
        </p:txBody>
      </p:sp>
    </p:spTree>
    <p:extLst>
      <p:ext uri="{BB962C8B-B14F-4D97-AF65-F5344CB8AC3E}">
        <p14:creationId xmlns:p14="http://schemas.microsoft.com/office/powerpoint/2010/main" val="24244228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17</a:t>
            </a:fld>
            <a:endParaRPr lang="en-US" dirty="0"/>
          </a:p>
        </p:txBody>
      </p:sp>
    </p:spTree>
    <p:extLst>
      <p:ext uri="{BB962C8B-B14F-4D97-AF65-F5344CB8AC3E}">
        <p14:creationId xmlns:p14="http://schemas.microsoft.com/office/powerpoint/2010/main" val="21247146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18</a:t>
            </a:fld>
            <a:endParaRPr lang="en-US" dirty="0"/>
          </a:p>
        </p:txBody>
      </p:sp>
    </p:spTree>
    <p:extLst>
      <p:ext uri="{BB962C8B-B14F-4D97-AF65-F5344CB8AC3E}">
        <p14:creationId xmlns:p14="http://schemas.microsoft.com/office/powerpoint/2010/main" val="10992248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20</a:t>
            </a:fld>
            <a:endParaRPr lang="en-US" dirty="0"/>
          </a:p>
        </p:txBody>
      </p:sp>
    </p:spTree>
    <p:extLst>
      <p:ext uri="{BB962C8B-B14F-4D97-AF65-F5344CB8AC3E}">
        <p14:creationId xmlns:p14="http://schemas.microsoft.com/office/powerpoint/2010/main" val="1913285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0D959-BB23-F36E-4D94-9CB63DA74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7A9E14-A5B1-7D42-F100-11D89991C7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95273B-4FD8-9681-9858-490CFEC058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468D19-7627-C95E-7515-70534CEB0BA8}"/>
              </a:ext>
            </a:extLst>
          </p:cNvPr>
          <p:cNvSpPr>
            <a:spLocks noGrp="1"/>
          </p:cNvSpPr>
          <p:nvPr>
            <p:ph type="sldNum" sz="quarter" idx="10"/>
          </p:nvPr>
        </p:nvSpPr>
        <p:spPr/>
        <p:txBody>
          <a:bodyPr/>
          <a:lstStyle/>
          <a:p>
            <a:fld id="{20130B8E-8A21-5847-9D1D-5ADDCAEFE330}" type="slidenum">
              <a:rPr lang="en-US" smtClean="0"/>
              <a:t>21</a:t>
            </a:fld>
            <a:endParaRPr lang="en-US" dirty="0"/>
          </a:p>
        </p:txBody>
      </p:sp>
    </p:spTree>
    <p:extLst>
      <p:ext uri="{BB962C8B-B14F-4D97-AF65-F5344CB8AC3E}">
        <p14:creationId xmlns:p14="http://schemas.microsoft.com/office/powerpoint/2010/main" val="6815676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22</a:t>
            </a:fld>
            <a:endParaRPr lang="en-US" dirty="0"/>
          </a:p>
        </p:txBody>
      </p:sp>
    </p:spTree>
    <p:extLst>
      <p:ext uri="{BB962C8B-B14F-4D97-AF65-F5344CB8AC3E}">
        <p14:creationId xmlns:p14="http://schemas.microsoft.com/office/powerpoint/2010/main" val="40552060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130B8E-8A21-5847-9D1D-5ADDCAEFE330}" type="slidenum">
              <a:rPr lang="en-US" smtClean="0"/>
              <a:t>23</a:t>
            </a:fld>
            <a:endParaRPr lang="en-US" dirty="0"/>
          </a:p>
        </p:txBody>
      </p:sp>
    </p:spTree>
    <p:extLst>
      <p:ext uri="{BB962C8B-B14F-4D97-AF65-F5344CB8AC3E}">
        <p14:creationId xmlns:p14="http://schemas.microsoft.com/office/powerpoint/2010/main" val="3818611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4CB6C83-B894-2740-9986-97D8BB6F6D98}" type="slidenum">
              <a:rPr lang="en-US" smtClean="0"/>
              <a:t>33</a:t>
            </a:fld>
            <a:endParaRPr lang="en-US" dirty="0"/>
          </a:p>
        </p:txBody>
      </p:sp>
    </p:spTree>
    <p:extLst>
      <p:ext uri="{BB962C8B-B14F-4D97-AF65-F5344CB8AC3E}">
        <p14:creationId xmlns:p14="http://schemas.microsoft.com/office/powerpoint/2010/main" val="6286224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56</a:t>
            </a:fld>
            <a:endParaRPr lang="en-US" dirty="0"/>
          </a:p>
        </p:txBody>
      </p:sp>
    </p:spTree>
    <p:extLst>
      <p:ext uri="{BB962C8B-B14F-4D97-AF65-F5344CB8AC3E}">
        <p14:creationId xmlns:p14="http://schemas.microsoft.com/office/powerpoint/2010/main" val="1967771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57</a:t>
            </a:fld>
            <a:endParaRPr lang="en-US" dirty="0"/>
          </a:p>
        </p:txBody>
      </p:sp>
    </p:spTree>
    <p:extLst>
      <p:ext uri="{BB962C8B-B14F-4D97-AF65-F5344CB8AC3E}">
        <p14:creationId xmlns:p14="http://schemas.microsoft.com/office/powerpoint/2010/main" val="22327823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58</a:t>
            </a:fld>
            <a:endParaRPr lang="en-US" dirty="0"/>
          </a:p>
        </p:txBody>
      </p:sp>
    </p:spTree>
    <p:extLst>
      <p:ext uri="{BB962C8B-B14F-4D97-AF65-F5344CB8AC3E}">
        <p14:creationId xmlns:p14="http://schemas.microsoft.com/office/powerpoint/2010/main" val="36816214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59</a:t>
            </a:fld>
            <a:endParaRPr lang="en-US" dirty="0"/>
          </a:p>
        </p:txBody>
      </p:sp>
    </p:spTree>
    <p:extLst>
      <p:ext uri="{BB962C8B-B14F-4D97-AF65-F5344CB8AC3E}">
        <p14:creationId xmlns:p14="http://schemas.microsoft.com/office/powerpoint/2010/main" val="40541354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61</a:t>
            </a:fld>
            <a:endParaRPr lang="en-US" dirty="0"/>
          </a:p>
        </p:txBody>
      </p:sp>
    </p:spTree>
    <p:extLst>
      <p:ext uri="{BB962C8B-B14F-4D97-AF65-F5344CB8AC3E}">
        <p14:creationId xmlns:p14="http://schemas.microsoft.com/office/powerpoint/2010/main" val="1715844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63</a:t>
            </a:fld>
            <a:endParaRPr lang="en-US" dirty="0"/>
          </a:p>
        </p:txBody>
      </p:sp>
    </p:spTree>
    <p:extLst>
      <p:ext uri="{BB962C8B-B14F-4D97-AF65-F5344CB8AC3E}">
        <p14:creationId xmlns:p14="http://schemas.microsoft.com/office/powerpoint/2010/main" val="1519041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64</a:t>
            </a:fld>
            <a:endParaRPr lang="en-US" dirty="0"/>
          </a:p>
        </p:txBody>
      </p:sp>
    </p:spTree>
    <p:extLst>
      <p:ext uri="{BB962C8B-B14F-4D97-AF65-F5344CB8AC3E}">
        <p14:creationId xmlns:p14="http://schemas.microsoft.com/office/powerpoint/2010/main" val="4132382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65</a:t>
            </a:fld>
            <a:endParaRPr lang="en-US" dirty="0"/>
          </a:p>
        </p:txBody>
      </p:sp>
    </p:spTree>
    <p:extLst>
      <p:ext uri="{BB962C8B-B14F-4D97-AF65-F5344CB8AC3E}">
        <p14:creationId xmlns:p14="http://schemas.microsoft.com/office/powerpoint/2010/main" val="11089656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4904663-59B0-4C26-9629-1E034548E980}" type="slidenum">
              <a:rPr lang="en-US" smtClean="0"/>
              <a:t>70</a:t>
            </a:fld>
            <a:endParaRPr lang="en-US" dirty="0"/>
          </a:p>
        </p:txBody>
      </p:sp>
    </p:spTree>
    <p:extLst>
      <p:ext uri="{BB962C8B-B14F-4D97-AF65-F5344CB8AC3E}">
        <p14:creationId xmlns:p14="http://schemas.microsoft.com/office/powerpoint/2010/main" val="30159008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14400" y="1828800"/>
            <a:ext cx="10363200" cy="900546"/>
          </a:xfrm>
        </p:spPr>
        <p:txBody>
          <a:bodyPr anchor="b" anchorCtr="0"/>
          <a:lstStyle>
            <a:lvl1pPr algn="l">
              <a:defRPr/>
            </a:lvl1pPr>
          </a:lstStyle>
          <a:p>
            <a:r>
              <a:rPr lang="en-US" dirty="0"/>
              <a:t>Click To Edit Title</a:t>
            </a:r>
          </a:p>
        </p:txBody>
      </p:sp>
      <p:cxnSp>
        <p:nvCxnSpPr>
          <p:cNvPr id="8" name="Straight Connector 7"/>
          <p:cNvCxnSpPr/>
          <p:nvPr userDrawn="1"/>
        </p:nvCxnSpPr>
        <p:spPr>
          <a:xfrm>
            <a:off x="914400" y="28194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p:cNvSpPr>
            <a:spLocks noGrp="1"/>
          </p:cNvSpPr>
          <p:nvPr>
            <p:ph type="subTitle" idx="1" hasCustomPrompt="1"/>
          </p:nvPr>
        </p:nvSpPr>
        <p:spPr>
          <a:xfrm>
            <a:off x="914400" y="2895600"/>
            <a:ext cx="10363200" cy="1752600"/>
          </a:xfrm>
        </p:spPr>
        <p:txBody>
          <a:bodyP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Subtitle</a:t>
            </a:r>
          </a:p>
        </p:txBody>
      </p:sp>
      <p:pic>
        <p:nvPicPr>
          <p:cNvPr id="11" name="Picture 10" descr="C:\Users\njones\Dropbox (2U)\Work\Designing Slides\SMU\Design Brief\logo\logo_datasci_SMU.png">
            <a:extLst>
              <a:ext uri="{FF2B5EF4-FFF2-40B4-BE49-F238E27FC236}">
                <a16:creationId xmlns:a16="http://schemas.microsoft.com/office/drawing/2014/main" id="{6C9BC461-74A3-3B43-A311-BC67E0EEF880}"/>
              </a:ext>
            </a:extLst>
          </p:cNvPr>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6402" y="6386563"/>
            <a:ext cx="2348007" cy="207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51382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82391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4406903"/>
            <a:ext cx="10363200" cy="1362075"/>
          </a:xfrm>
        </p:spPr>
        <p:txBody>
          <a:bodyPr anchor="t"/>
          <a:lstStyle>
            <a:lvl1pPr algn="l">
              <a:defRPr sz="4000" b="0" cap="none"/>
            </a:lvl1pPr>
          </a:lstStyle>
          <a:p>
            <a:r>
              <a:rPr lang="en-US" dirty="0"/>
              <a:t>Click To Edit Master Title Style</a:t>
            </a:r>
          </a:p>
        </p:txBody>
      </p:sp>
      <p:sp>
        <p:nvSpPr>
          <p:cNvPr id="3" name="Text Placeholder 2"/>
          <p:cNvSpPr>
            <a:spLocks noGrp="1"/>
          </p:cNvSpPr>
          <p:nvPr>
            <p:ph type="body" idx="1" hasCustomPrompt="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cxnSp>
        <p:nvCxnSpPr>
          <p:cNvPr id="7" name="Straight Connector 6"/>
          <p:cNvCxnSpPr/>
          <p:nvPr userDrawn="1"/>
        </p:nvCxnSpPr>
        <p:spPr>
          <a:xfrm>
            <a:off x="963084" y="4406900"/>
            <a:ext cx="103632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344414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97600" y="1600203"/>
            <a:ext cx="5384800" cy="4525963"/>
          </a:xfrm>
        </p:spPr>
        <p:txBody>
          <a:bodyPr/>
          <a:lstStyle>
            <a:lvl1pPr>
              <a:defRPr sz="3200"/>
            </a:lvl1pPr>
            <a:lvl2pPr>
              <a:defRPr sz="2800"/>
            </a:lvl2pPr>
            <a:lvl3pPr>
              <a:defRPr sz="2400"/>
            </a:lvl3pPr>
            <a:lvl4pPr>
              <a:defRPr sz="20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8" name="Straight Connector 7"/>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94400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09600" y="1417638"/>
            <a:ext cx="5386917"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9600" y="2590800"/>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93369" y="1417638"/>
            <a:ext cx="5389033" cy="906462"/>
          </a:xfrm>
        </p:spPr>
        <p:txBody>
          <a:bodyPr anchor="b">
            <a:no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222644" y="2590800"/>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070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Tree>
    <p:extLst>
      <p:ext uri="{BB962C8B-B14F-4D97-AF65-F5344CB8AC3E}">
        <p14:creationId xmlns:p14="http://schemas.microsoft.com/office/powerpoint/2010/main" val="156183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with Horizontal Ru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cxnSp>
        <p:nvCxnSpPr>
          <p:cNvPr id="3" name="Straight Connector 2"/>
          <p:cNvCxnSpPr/>
          <p:nvPr userDrawn="1"/>
        </p:nvCxnSpPr>
        <p:spPr>
          <a:xfrm>
            <a:off x="609600" y="1293970"/>
            <a:ext cx="10972800"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566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7417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End Slide">
    <p:spTree>
      <p:nvGrpSpPr>
        <p:cNvPr id="1" name=""/>
        <p:cNvGrpSpPr/>
        <p:nvPr/>
      </p:nvGrpSpPr>
      <p:grpSpPr>
        <a:xfrm>
          <a:off x="0" y="0"/>
          <a:ext cx="0" cy="0"/>
          <a:chOff x="0" y="0"/>
          <a:chExt cx="0" cy="0"/>
        </a:xfrm>
      </p:grpSpPr>
      <p:pic>
        <p:nvPicPr>
          <p:cNvPr id="4" name="Picture 3" descr="C:\Users\njones\Dropbox (2U)\Work\Designing Slides\SMU\Design Brief\logo\logo_datasci_SMU.png">
            <a:extLst>
              <a:ext uri="{FF2B5EF4-FFF2-40B4-BE49-F238E27FC236}">
                <a16:creationId xmlns:a16="http://schemas.microsoft.com/office/drawing/2014/main" id="{A756B8E1-2372-7141-AD48-1954EB22C32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209800" y="2778677"/>
            <a:ext cx="7772399" cy="686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573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lt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28600"/>
            <a:ext cx="10972800" cy="114300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Rectangle 11"/>
          <p:cNvSpPr/>
          <p:nvPr userDrawn="1"/>
        </p:nvSpPr>
        <p:spPr>
          <a:xfrm>
            <a:off x="0" y="6779932"/>
            <a:ext cx="12192000" cy="9144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
        <p:nvSpPr>
          <p:cNvPr id="14" name="Rectangle 13"/>
          <p:cNvSpPr/>
          <p:nvPr userDrawn="1"/>
        </p:nvSpPr>
        <p:spPr>
          <a:xfrm>
            <a:off x="0" y="0"/>
            <a:ext cx="12192000" cy="304800"/>
          </a:xfrm>
          <a:prstGeom prst="rect">
            <a:avLst/>
          </a:prstGeom>
          <a:solidFill>
            <a:srgbClr val="354CA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1800" dirty="0"/>
          </a:p>
        </p:txBody>
      </p:sp>
    </p:spTree>
    <p:extLst>
      <p:ext uri="{BB962C8B-B14F-4D97-AF65-F5344CB8AC3E}">
        <p14:creationId xmlns:p14="http://schemas.microsoft.com/office/powerpoint/2010/main" val="122329842"/>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6" r:id="rId9"/>
  </p:sldLayoutIdLst>
  <p:txStyles>
    <p:titleStyle>
      <a:lvl1pPr algn="ctr" defTabSz="914400" rtl="0" eaLnBrk="1" latinLnBrk="0" hangingPunct="1">
        <a:spcBef>
          <a:spcPct val="0"/>
        </a:spcBef>
        <a:buNone/>
        <a:defRPr sz="4400" b="0" i="0" u="none" kern="1200">
          <a:solidFill>
            <a:schemeClr val="tx1"/>
          </a:solidFill>
          <a:latin typeface="+mj-lt"/>
          <a:ea typeface="+mj-ea"/>
          <a:cs typeface="+mj-cs"/>
        </a:defRPr>
      </a:lvl1pPr>
    </p:titleStyle>
    <p:body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1.png"/><Relationship Id="rId7" Type="http://schemas.openxmlformats.org/officeDocument/2006/relationships/image" Target="../media/image3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3.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26.png"/><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54.tiff"/><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8" Type="http://schemas.openxmlformats.org/officeDocument/2006/relationships/customXml" Target="../ink/ink1.xml"/><Relationship Id="rId13" Type="http://schemas.openxmlformats.org/officeDocument/2006/relationships/image" Target="../media/image250.png"/><Relationship Id="rId3" Type="http://schemas.openxmlformats.org/officeDocument/2006/relationships/image" Target="../media/image160.png"/><Relationship Id="rId7" Type="http://schemas.openxmlformats.org/officeDocument/2006/relationships/image" Target="../media/image200.png"/><Relationship Id="rId12" Type="http://schemas.openxmlformats.org/officeDocument/2006/relationships/image" Target="../media/image240.png"/><Relationship Id="rId17" Type="http://schemas.openxmlformats.org/officeDocument/2006/relationships/image" Target="../media/image280.png"/><Relationship Id="rId2" Type="http://schemas.openxmlformats.org/officeDocument/2006/relationships/image" Target="../media/image55.png"/><Relationship Id="rId16" Type="http://schemas.openxmlformats.org/officeDocument/2006/relationships/image" Target="../media/image270.png"/><Relationship Id="rId1" Type="http://schemas.openxmlformats.org/officeDocument/2006/relationships/slideLayout" Target="../slideLayouts/slideLayout2.xml"/><Relationship Id="rId6" Type="http://schemas.openxmlformats.org/officeDocument/2006/relationships/image" Target="../media/image190.png"/><Relationship Id="rId11" Type="http://schemas.openxmlformats.org/officeDocument/2006/relationships/image" Target="../media/image230.png"/><Relationship Id="rId5" Type="http://schemas.openxmlformats.org/officeDocument/2006/relationships/image" Target="../media/image180.png"/><Relationship Id="rId15" Type="http://schemas.openxmlformats.org/officeDocument/2006/relationships/image" Target="../media/image260.png"/><Relationship Id="rId10" Type="http://schemas.openxmlformats.org/officeDocument/2006/relationships/image" Target="../media/image220.png"/><Relationship Id="rId4" Type="http://schemas.openxmlformats.org/officeDocument/2006/relationships/image" Target="../media/image170.png"/><Relationship Id="rId9" Type="http://schemas.openxmlformats.org/officeDocument/2006/relationships/image" Target="../media/image210.png"/><Relationship Id="rId14" Type="http://schemas.openxmlformats.org/officeDocument/2006/relationships/customXml" Target="../ink/ink2.xml"/></Relationships>
</file>

<file path=ppt/slides/_rels/slide42.xml.rels><?xml version="1.0" encoding="UTF-8" standalone="yes"?>
<Relationships xmlns="http://schemas.openxmlformats.org/package/2006/relationships"><Relationship Id="rId8" Type="http://schemas.openxmlformats.org/officeDocument/2006/relationships/image" Target="../media/image330.png"/><Relationship Id="rId3" Type="http://schemas.openxmlformats.org/officeDocument/2006/relationships/image" Target="../media/image160.png"/><Relationship Id="rId7" Type="http://schemas.openxmlformats.org/officeDocument/2006/relationships/image" Target="../media/image32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310.png"/><Relationship Id="rId5" Type="http://schemas.openxmlformats.org/officeDocument/2006/relationships/image" Target="../media/image300.png"/><Relationship Id="rId4" Type="http://schemas.openxmlformats.org/officeDocument/2006/relationships/image" Target="../media/image290.png"/></Relationships>
</file>

<file path=ppt/slides/_rels/slide43.xml.rels><?xml version="1.0" encoding="UTF-8" standalone="yes"?>
<Relationships xmlns="http://schemas.openxmlformats.org/package/2006/relationships"><Relationship Id="rId8" Type="http://schemas.openxmlformats.org/officeDocument/2006/relationships/image" Target="../media/image380.png"/><Relationship Id="rId3" Type="http://schemas.openxmlformats.org/officeDocument/2006/relationships/image" Target="../media/image54.tiff"/><Relationship Id="rId7" Type="http://schemas.openxmlformats.org/officeDocument/2006/relationships/image" Target="../media/image57.png"/><Relationship Id="rId12"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56.png"/><Relationship Id="rId11" Type="http://schemas.openxmlformats.org/officeDocument/2006/relationships/image" Target="../media/image7.png"/><Relationship Id="rId5" Type="http://schemas.openxmlformats.org/officeDocument/2006/relationships/image" Target="../media/image350.png"/><Relationship Id="rId10" Type="http://schemas.openxmlformats.org/officeDocument/2006/relationships/image" Target="../media/image59.png"/><Relationship Id="rId4" Type="http://schemas.openxmlformats.org/officeDocument/2006/relationships/image" Target="../media/image340.png"/><Relationship Id="rId9" Type="http://schemas.openxmlformats.org/officeDocument/2006/relationships/image" Target="../media/image58.png"/></Relationships>
</file>

<file path=ppt/slides/_rels/slide44.xml.rels><?xml version="1.0" encoding="UTF-8" standalone="yes"?>
<Relationships xmlns="http://schemas.openxmlformats.org/package/2006/relationships"><Relationship Id="rId3" Type="http://schemas.openxmlformats.org/officeDocument/2006/relationships/image" Target="../media/image54.tiff"/><Relationship Id="rId7" Type="http://schemas.openxmlformats.org/officeDocument/2006/relationships/image" Target="../media/image7.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56.png"/><Relationship Id="rId4" Type="http://schemas.openxmlformats.org/officeDocument/2006/relationships/image" Target="../media/image430.png"/></Relationships>
</file>

<file path=ppt/slides/_rels/slide45.xml.rels><?xml version="1.0" encoding="UTF-8" standalone="yes"?>
<Relationships xmlns="http://schemas.openxmlformats.org/package/2006/relationships"><Relationship Id="rId3" Type="http://schemas.openxmlformats.org/officeDocument/2006/relationships/image" Target="../media/image54.tiff"/><Relationship Id="rId7" Type="http://schemas.openxmlformats.org/officeDocument/2006/relationships/image" Target="../media/image7.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40.png"/><Relationship Id="rId5" Type="http://schemas.openxmlformats.org/officeDocument/2006/relationships/image" Target="../media/image56.png"/><Relationship Id="rId4" Type="http://schemas.openxmlformats.org/officeDocument/2006/relationships/image" Target="../media/image430.png"/></Relationships>
</file>

<file path=ppt/slides/_rels/slide46.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61.png"/><Relationship Id="rId7" Type="http://schemas.openxmlformats.org/officeDocument/2006/relationships/image" Target="../media/image470.pn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460.png"/><Relationship Id="rId5" Type="http://schemas.openxmlformats.org/officeDocument/2006/relationships/image" Target="../media/image59.png"/><Relationship Id="rId4" Type="http://schemas.openxmlformats.org/officeDocument/2006/relationships/image" Target="../media/image54.tiff"/><Relationship Id="rId9" Type="http://schemas.openxmlformats.org/officeDocument/2006/relationships/image" Target="../media/image49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image" Target="../media/image5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40.png"/><Relationship Id="rId1" Type="http://schemas.openxmlformats.org/officeDocument/2006/relationships/slideLayout" Target="../slideLayouts/slideLayout2.xml"/><Relationship Id="rId4" Type="http://schemas.openxmlformats.org/officeDocument/2006/relationships/image" Target="../media/image53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57.xml.rels><?xml version="1.0" encoding="UTF-8" standalone="yes"?>
<Relationships xmlns="http://schemas.openxmlformats.org/package/2006/relationships"><Relationship Id="rId8" Type="http://schemas.openxmlformats.org/officeDocument/2006/relationships/image" Target="../media/image93.png"/><Relationship Id="rId3" Type="http://schemas.openxmlformats.org/officeDocument/2006/relationships/image" Target="../media/image89.png"/><Relationship Id="rId7" Type="http://schemas.openxmlformats.org/officeDocument/2006/relationships/image" Target="../media/image92.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7.png"/><Relationship Id="rId9" Type="http://schemas.openxmlformats.org/officeDocument/2006/relationships/image" Target="../media/image94.png"/></Relationships>
</file>

<file path=ppt/slides/_rels/slide58.xml.rels><?xml version="1.0" encoding="UTF-8" standalone="yes"?>
<Relationships xmlns="http://schemas.openxmlformats.org/package/2006/relationships"><Relationship Id="rId8" Type="http://schemas.openxmlformats.org/officeDocument/2006/relationships/image" Target="../media/image950.png"/><Relationship Id="rId3" Type="http://schemas.openxmlformats.org/officeDocument/2006/relationships/image" Target="../media/image63.png"/><Relationship Id="rId7" Type="http://schemas.openxmlformats.org/officeDocument/2006/relationships/image" Target="../media/image910.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930.png"/><Relationship Id="rId5" Type="http://schemas.openxmlformats.org/officeDocument/2006/relationships/image" Target="../media/image65.png"/><Relationship Id="rId10" Type="http://schemas.openxmlformats.org/officeDocument/2006/relationships/image" Target="../media/image970.png"/><Relationship Id="rId4" Type="http://schemas.openxmlformats.org/officeDocument/2006/relationships/image" Target="../media/image64.png"/><Relationship Id="rId9" Type="http://schemas.openxmlformats.org/officeDocument/2006/relationships/image" Target="../media/image921.png"/></Relationships>
</file>

<file path=ppt/slides/_rels/slide59.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860.png"/><Relationship Id="rId5" Type="http://schemas.openxmlformats.org/officeDocument/2006/relationships/image" Target="../media/image67.png"/><Relationship Id="rId4" Type="http://schemas.openxmlformats.org/officeDocument/2006/relationships/image" Target="../media/image66.png"/></Relationships>
</file>

<file path=ppt/slides/_rels/slide60.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2.xml"/><Relationship Id="rId6" Type="http://schemas.openxmlformats.org/officeDocument/2006/relationships/image" Target="../media/image72.png"/><Relationship Id="rId5" Type="http://schemas.openxmlformats.org/officeDocument/2006/relationships/image" Target="../media/image71.png"/><Relationship Id="rId10" Type="http://schemas.openxmlformats.org/officeDocument/2006/relationships/image" Target="../media/image680.png"/><Relationship Id="rId4" Type="http://schemas.openxmlformats.org/officeDocument/2006/relationships/image" Target="../media/image70.png"/><Relationship Id="rId9" Type="http://schemas.openxmlformats.org/officeDocument/2006/relationships/image" Target="../media/image75.png"/></Relationships>
</file>

<file path=ppt/slides/_rels/slide61.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78.png"/><Relationship Id="rId2" Type="http://schemas.openxmlformats.org/officeDocument/2006/relationships/notesSlide" Target="../notesSlides/notesSlide18.xml"/><Relationship Id="rId1" Type="http://schemas.openxmlformats.org/officeDocument/2006/relationships/slideLayout" Target="../slideLayouts/slideLayout8.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6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80.png"/></Relationships>
</file>

<file path=ppt/slides/_rels/slide64.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10.png"/><Relationship Id="rId5" Type="http://schemas.openxmlformats.org/officeDocument/2006/relationships/image" Target="../media/image83.png"/><Relationship Id="rId4" Type="http://schemas.openxmlformats.org/officeDocument/2006/relationships/image" Target="../media/image690.png"/></Relationships>
</file>

<file path=ppt/slides/_rels/slide65.xml.rels><?xml version="1.0" encoding="UTF-8" standalone="yes"?>
<Relationships xmlns="http://schemas.openxmlformats.org/package/2006/relationships"><Relationship Id="rId8" Type="http://schemas.openxmlformats.org/officeDocument/2006/relationships/image" Target="../media/image730.png"/><Relationship Id="rId3" Type="http://schemas.openxmlformats.org/officeDocument/2006/relationships/image" Target="../media/image81.png"/><Relationship Id="rId7" Type="http://schemas.openxmlformats.org/officeDocument/2006/relationships/image" Target="../media/image720.png"/><Relationship Id="rId12" Type="http://schemas.openxmlformats.org/officeDocument/2006/relationships/image" Target="../media/image770.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82.png"/><Relationship Id="rId11" Type="http://schemas.openxmlformats.org/officeDocument/2006/relationships/image" Target="../media/image760.png"/><Relationship Id="rId5" Type="http://schemas.openxmlformats.org/officeDocument/2006/relationships/image" Target="../media/image80.png"/><Relationship Id="rId10" Type="http://schemas.openxmlformats.org/officeDocument/2006/relationships/image" Target="../media/image750.png"/><Relationship Id="rId4" Type="http://schemas.openxmlformats.org/officeDocument/2006/relationships/image" Target="../media/image79.png"/><Relationship Id="rId9" Type="http://schemas.openxmlformats.org/officeDocument/2006/relationships/image" Target="../media/image740.png"/></Relationships>
</file>

<file path=ppt/slides/_rels/slide6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8" Type="http://schemas.openxmlformats.org/officeDocument/2006/relationships/image" Target="../media/image830.png"/><Relationship Id="rId3" Type="http://schemas.openxmlformats.org/officeDocument/2006/relationships/image" Target="../media/image85.png"/><Relationship Id="rId7" Type="http://schemas.openxmlformats.org/officeDocument/2006/relationships/image" Target="../media/image820.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811.png"/><Relationship Id="rId5" Type="http://schemas.openxmlformats.org/officeDocument/2006/relationships/image" Target="../media/image800.png"/><Relationship Id="rId4" Type="http://schemas.openxmlformats.org/officeDocument/2006/relationships/image" Target="../media/image95.png"/><Relationship Id="rId9" Type="http://schemas.openxmlformats.org/officeDocument/2006/relationships/image" Target="../media/image8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850.png"/><Relationship Id="rId7" Type="http://schemas.openxmlformats.org/officeDocument/2006/relationships/image" Target="../media/image98.png"/><Relationship Id="rId2" Type="http://schemas.openxmlformats.org/officeDocument/2006/relationships/image" Target="../media/image79.png"/><Relationship Id="rId1" Type="http://schemas.openxmlformats.org/officeDocument/2006/relationships/slideLayout" Target="../slideLayouts/slideLayout2.xml"/><Relationship Id="rId6" Type="http://schemas.openxmlformats.org/officeDocument/2006/relationships/image" Target="../media/image97.png"/><Relationship Id="rId5" Type="http://schemas.openxmlformats.org/officeDocument/2006/relationships/image" Target="../media/image96.png"/><Relationship Id="rId10" Type="http://schemas.openxmlformats.org/officeDocument/2006/relationships/image" Target="../media/image101.png"/><Relationship Id="rId4" Type="http://schemas.openxmlformats.org/officeDocument/2006/relationships/image" Target="../media/image951.png"/><Relationship Id="rId9" Type="http://schemas.openxmlformats.org/officeDocument/2006/relationships/image" Target="../media/image100.png"/></Relationships>
</file>

<file path=ppt/slides/_rels/slide70.xml.rels><?xml version="1.0" encoding="UTF-8" standalone="yes"?>
<Relationships xmlns="http://schemas.openxmlformats.org/package/2006/relationships"><Relationship Id="rId8" Type="http://schemas.openxmlformats.org/officeDocument/2006/relationships/image" Target="../media/image106.png"/><Relationship Id="rId3" Type="http://schemas.openxmlformats.org/officeDocument/2006/relationships/image" Target="../media/image79.png"/><Relationship Id="rId7" Type="http://schemas.openxmlformats.org/officeDocument/2006/relationships/image" Target="../media/image10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04.png"/><Relationship Id="rId5" Type="http://schemas.openxmlformats.org/officeDocument/2006/relationships/image" Target="../media/image103.png"/><Relationship Id="rId10" Type="http://schemas.openxmlformats.org/officeDocument/2006/relationships/image" Target="../media/image108.png"/><Relationship Id="rId4" Type="http://schemas.openxmlformats.org/officeDocument/2006/relationships/image" Target="../media/image102.png"/><Relationship Id="rId9" Type="http://schemas.openxmlformats.org/officeDocument/2006/relationships/image" Target="../media/image107.png"/></Relationships>
</file>

<file path=ppt/slides/_rels/slide71.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10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For Live Session Assignment</a:t>
            </a:r>
            <a:r>
              <a:rPr lang="en-US" dirty="0">
                <a:sym typeface="Wingdings" pitchFamily="2" charset="2"/>
              </a:rPr>
              <a:t> (FLS)</a:t>
            </a:r>
            <a:r>
              <a:rPr lang="en-US" dirty="0"/>
              <a:t> </a:t>
            </a:r>
          </a:p>
        </p:txBody>
      </p:sp>
      <p:sp>
        <p:nvSpPr>
          <p:cNvPr id="5" name="Subtitle 4"/>
          <p:cNvSpPr>
            <a:spLocks noGrp="1"/>
          </p:cNvSpPr>
          <p:nvPr>
            <p:ph type="subTitle" idx="1"/>
          </p:nvPr>
        </p:nvSpPr>
        <p:spPr/>
        <p:txBody>
          <a:bodyPr/>
          <a:lstStyle/>
          <a:p>
            <a:r>
              <a:rPr lang="en-US" dirty="0"/>
              <a:t>Unit 13</a:t>
            </a:r>
          </a:p>
        </p:txBody>
      </p:sp>
    </p:spTree>
    <p:extLst>
      <p:ext uri="{BB962C8B-B14F-4D97-AF65-F5344CB8AC3E}">
        <p14:creationId xmlns:p14="http://schemas.microsoft.com/office/powerpoint/2010/main" val="2742512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680308"/>
            <a:ext cx="10515600" cy="1325563"/>
          </a:xfrm>
        </p:spPr>
        <p:txBody>
          <a:bodyPr/>
          <a:lstStyle/>
          <a:p>
            <a:pPr algn="ctr"/>
            <a:r>
              <a:rPr lang="en-US" dirty="0"/>
              <a:t>Quick Quiz Questions</a:t>
            </a:r>
          </a:p>
        </p:txBody>
      </p:sp>
    </p:spTree>
    <p:extLst>
      <p:ext uri="{BB962C8B-B14F-4D97-AF65-F5344CB8AC3E}">
        <p14:creationId xmlns:p14="http://schemas.microsoft.com/office/powerpoint/2010/main" val="968806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4" name="Picture 3">
            <a:extLst>
              <a:ext uri="{FF2B5EF4-FFF2-40B4-BE49-F238E27FC236}">
                <a16:creationId xmlns:a16="http://schemas.microsoft.com/office/drawing/2014/main" id="{D677C51B-4FC9-3241-84F0-70EBD4783D66}"/>
              </a:ext>
            </a:extLst>
          </p:cNvPr>
          <p:cNvPicPr>
            <a:picLocks noChangeAspect="1"/>
          </p:cNvPicPr>
          <p:nvPr/>
        </p:nvPicPr>
        <p:blipFill>
          <a:blip r:embed="rId2"/>
          <a:stretch>
            <a:fillRect/>
          </a:stretch>
        </p:blipFill>
        <p:spPr>
          <a:xfrm>
            <a:off x="1638300" y="1775163"/>
            <a:ext cx="8915400" cy="3949700"/>
          </a:xfrm>
          <a:prstGeom prst="rect">
            <a:avLst/>
          </a:prstGeom>
        </p:spPr>
      </p:pic>
      <p:sp>
        <p:nvSpPr>
          <p:cNvPr id="3" name="Oval 2">
            <a:extLst>
              <a:ext uri="{FF2B5EF4-FFF2-40B4-BE49-F238E27FC236}">
                <a16:creationId xmlns:a16="http://schemas.microsoft.com/office/drawing/2014/main" id="{519D7E62-19FE-BCB5-D142-789D1A8F9D03}"/>
              </a:ext>
            </a:extLst>
          </p:cNvPr>
          <p:cNvSpPr/>
          <p:nvPr/>
        </p:nvSpPr>
        <p:spPr>
          <a:xfrm>
            <a:off x="2209800" y="5105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49363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3" name="Picture 2">
            <a:extLst>
              <a:ext uri="{FF2B5EF4-FFF2-40B4-BE49-F238E27FC236}">
                <a16:creationId xmlns:a16="http://schemas.microsoft.com/office/drawing/2014/main" id="{90B91B57-DB50-E045-B54F-4775516C6875}"/>
              </a:ext>
            </a:extLst>
          </p:cNvPr>
          <p:cNvPicPr>
            <a:picLocks noChangeAspect="1"/>
          </p:cNvPicPr>
          <p:nvPr/>
        </p:nvPicPr>
        <p:blipFill>
          <a:blip r:embed="rId2"/>
          <a:stretch>
            <a:fillRect/>
          </a:stretch>
        </p:blipFill>
        <p:spPr>
          <a:xfrm>
            <a:off x="1911350" y="1917970"/>
            <a:ext cx="8369300" cy="3352800"/>
          </a:xfrm>
          <a:prstGeom prst="rect">
            <a:avLst/>
          </a:prstGeom>
        </p:spPr>
      </p:pic>
      <p:sp>
        <p:nvSpPr>
          <p:cNvPr id="4" name="Oval 3">
            <a:extLst>
              <a:ext uri="{FF2B5EF4-FFF2-40B4-BE49-F238E27FC236}">
                <a16:creationId xmlns:a16="http://schemas.microsoft.com/office/drawing/2014/main" id="{24F8C93A-FA17-10D1-98D0-A0D704EF6EE9}"/>
              </a:ext>
            </a:extLst>
          </p:cNvPr>
          <p:cNvSpPr/>
          <p:nvPr/>
        </p:nvSpPr>
        <p:spPr>
          <a:xfrm>
            <a:off x="2438400" y="3429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2128B53-9547-F3E8-BE2E-4DFCB49E4508}"/>
              </a:ext>
            </a:extLst>
          </p:cNvPr>
          <p:cNvPicPr>
            <a:picLocks noChangeAspect="1"/>
          </p:cNvPicPr>
          <p:nvPr/>
        </p:nvPicPr>
        <p:blipFill>
          <a:blip r:embed="rId3"/>
          <a:stretch>
            <a:fillRect/>
          </a:stretch>
        </p:blipFill>
        <p:spPr>
          <a:xfrm>
            <a:off x="6172200" y="4495800"/>
            <a:ext cx="5626100" cy="1168400"/>
          </a:xfrm>
          <a:prstGeom prst="rect">
            <a:avLst/>
          </a:prstGeom>
        </p:spPr>
      </p:pic>
    </p:spTree>
    <p:extLst>
      <p:ext uri="{BB962C8B-B14F-4D97-AF65-F5344CB8AC3E}">
        <p14:creationId xmlns:p14="http://schemas.microsoft.com/office/powerpoint/2010/main" val="3346683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75B77-F257-BA41-A6D6-0F0D331D8137}"/>
              </a:ext>
            </a:extLst>
          </p:cNvPr>
          <p:cNvSpPr>
            <a:spLocks noGrp="1"/>
          </p:cNvSpPr>
          <p:nvPr>
            <p:ph type="title"/>
          </p:nvPr>
        </p:nvSpPr>
        <p:spPr/>
        <p:txBody>
          <a:bodyPr/>
          <a:lstStyle/>
          <a:p>
            <a:r>
              <a:rPr lang="en-US" dirty="0"/>
              <a:t>Quick Quiz Questions</a:t>
            </a:r>
          </a:p>
        </p:txBody>
      </p:sp>
      <p:pic>
        <p:nvPicPr>
          <p:cNvPr id="4" name="Picture 3">
            <a:extLst>
              <a:ext uri="{FF2B5EF4-FFF2-40B4-BE49-F238E27FC236}">
                <a16:creationId xmlns:a16="http://schemas.microsoft.com/office/drawing/2014/main" id="{E4F089C6-2D2E-2143-A1A1-AF05279ECAF2}"/>
              </a:ext>
            </a:extLst>
          </p:cNvPr>
          <p:cNvPicPr>
            <a:picLocks noChangeAspect="1"/>
          </p:cNvPicPr>
          <p:nvPr/>
        </p:nvPicPr>
        <p:blipFill>
          <a:blip r:embed="rId2"/>
          <a:stretch>
            <a:fillRect/>
          </a:stretch>
        </p:blipFill>
        <p:spPr>
          <a:xfrm>
            <a:off x="1054100" y="1786242"/>
            <a:ext cx="10083800" cy="3771900"/>
          </a:xfrm>
          <a:prstGeom prst="rect">
            <a:avLst/>
          </a:prstGeom>
        </p:spPr>
      </p:pic>
      <p:sp>
        <p:nvSpPr>
          <p:cNvPr id="3" name="Oval 2">
            <a:extLst>
              <a:ext uri="{FF2B5EF4-FFF2-40B4-BE49-F238E27FC236}">
                <a16:creationId xmlns:a16="http://schemas.microsoft.com/office/drawing/2014/main" id="{4E5E09AB-54E6-B04D-9807-1B50E36E3489}"/>
              </a:ext>
            </a:extLst>
          </p:cNvPr>
          <p:cNvSpPr/>
          <p:nvPr/>
        </p:nvSpPr>
        <p:spPr>
          <a:xfrm>
            <a:off x="1676400" y="51054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93627EB-2F93-788E-AB67-6E326A10338A}"/>
              </a:ext>
            </a:extLst>
          </p:cNvPr>
          <p:cNvPicPr>
            <a:picLocks noChangeAspect="1"/>
          </p:cNvPicPr>
          <p:nvPr/>
        </p:nvPicPr>
        <p:blipFill>
          <a:blip r:embed="rId3"/>
          <a:stretch>
            <a:fillRect/>
          </a:stretch>
        </p:blipFill>
        <p:spPr>
          <a:xfrm>
            <a:off x="6629400" y="4876800"/>
            <a:ext cx="4800600" cy="1226128"/>
          </a:xfrm>
          <a:prstGeom prst="rect">
            <a:avLst/>
          </a:prstGeom>
        </p:spPr>
      </p:pic>
      <p:sp>
        <p:nvSpPr>
          <p:cNvPr id="6" name="Rectangle 5">
            <a:extLst>
              <a:ext uri="{FF2B5EF4-FFF2-40B4-BE49-F238E27FC236}">
                <a16:creationId xmlns:a16="http://schemas.microsoft.com/office/drawing/2014/main" id="{B7F0BF22-DCAA-3475-5CC6-EBE61ADE300A}"/>
              </a:ext>
            </a:extLst>
          </p:cNvPr>
          <p:cNvSpPr/>
          <p:nvPr/>
        </p:nvSpPr>
        <p:spPr>
          <a:xfrm>
            <a:off x="9220200" y="5486400"/>
            <a:ext cx="990600" cy="304800"/>
          </a:xfrm>
          <a:prstGeom prst="rect">
            <a:avLst/>
          </a:prstGeom>
          <a:solidFill>
            <a:srgbClr val="00B050">
              <a:alpha val="2583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109829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8959-814C-5A44-AE91-ADBCF8C4C838}"/>
              </a:ext>
            </a:extLst>
          </p:cNvPr>
          <p:cNvSpPr>
            <a:spLocks noGrp="1"/>
          </p:cNvSpPr>
          <p:nvPr>
            <p:ph type="title"/>
          </p:nvPr>
        </p:nvSpPr>
        <p:spPr/>
        <p:txBody>
          <a:bodyPr/>
          <a:lstStyle/>
          <a:p>
            <a:r>
              <a:rPr lang="en-US" dirty="0"/>
              <a:t>Quick Quiz Questions</a:t>
            </a:r>
          </a:p>
        </p:txBody>
      </p:sp>
      <p:pic>
        <p:nvPicPr>
          <p:cNvPr id="4" name="Picture 3">
            <a:extLst>
              <a:ext uri="{FF2B5EF4-FFF2-40B4-BE49-F238E27FC236}">
                <a16:creationId xmlns:a16="http://schemas.microsoft.com/office/drawing/2014/main" id="{90116511-1D2E-AD4F-9192-B2E5BBEE5540}"/>
              </a:ext>
            </a:extLst>
          </p:cNvPr>
          <p:cNvPicPr>
            <a:picLocks noChangeAspect="1"/>
          </p:cNvPicPr>
          <p:nvPr/>
        </p:nvPicPr>
        <p:blipFill>
          <a:blip r:embed="rId2"/>
          <a:stretch>
            <a:fillRect/>
          </a:stretch>
        </p:blipFill>
        <p:spPr>
          <a:xfrm>
            <a:off x="1581150" y="1690688"/>
            <a:ext cx="9029700" cy="4699000"/>
          </a:xfrm>
          <a:prstGeom prst="rect">
            <a:avLst/>
          </a:prstGeom>
        </p:spPr>
      </p:pic>
      <p:sp>
        <p:nvSpPr>
          <p:cNvPr id="3" name="Oval 2">
            <a:extLst>
              <a:ext uri="{FF2B5EF4-FFF2-40B4-BE49-F238E27FC236}">
                <a16:creationId xmlns:a16="http://schemas.microsoft.com/office/drawing/2014/main" id="{81E5B8D2-8F1E-5794-9657-756886B83FDC}"/>
              </a:ext>
            </a:extLst>
          </p:cNvPr>
          <p:cNvSpPr/>
          <p:nvPr/>
        </p:nvSpPr>
        <p:spPr>
          <a:xfrm>
            <a:off x="2133600" y="52578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6823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6F7E-9F1C-2D0D-6662-5353C758DD7C}"/>
              </a:ext>
            </a:extLst>
          </p:cNvPr>
          <p:cNvSpPr>
            <a:spLocks noGrp="1"/>
          </p:cNvSpPr>
          <p:nvPr>
            <p:ph type="title"/>
          </p:nvPr>
        </p:nvSpPr>
        <p:spPr>
          <a:xfrm>
            <a:off x="609600" y="2743200"/>
            <a:ext cx="10972800" cy="1143000"/>
          </a:xfrm>
        </p:spPr>
        <p:txBody>
          <a:bodyPr/>
          <a:lstStyle/>
          <a:p>
            <a:r>
              <a:rPr lang="en-US" dirty="0"/>
              <a:t>Overfitting</a:t>
            </a:r>
          </a:p>
        </p:txBody>
      </p:sp>
    </p:spTree>
    <p:extLst>
      <p:ext uri="{BB962C8B-B14F-4D97-AF65-F5344CB8AC3E}">
        <p14:creationId xmlns:p14="http://schemas.microsoft.com/office/powerpoint/2010/main" val="34154756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76F7-3341-4D69-094B-ABB733FA8CC5}"/>
              </a:ext>
            </a:extLst>
          </p:cNvPr>
          <p:cNvSpPr>
            <a:spLocks noGrp="1"/>
          </p:cNvSpPr>
          <p:nvPr>
            <p:ph type="title"/>
          </p:nvPr>
        </p:nvSpPr>
        <p:spPr/>
        <p:txBody>
          <a:bodyPr/>
          <a:lstStyle/>
          <a:p>
            <a:r>
              <a:rPr lang="en-US" dirty="0"/>
              <a:t>Break Out</a:t>
            </a:r>
          </a:p>
        </p:txBody>
      </p:sp>
      <p:sp>
        <p:nvSpPr>
          <p:cNvPr id="3" name="Content Placeholder 2">
            <a:extLst>
              <a:ext uri="{FF2B5EF4-FFF2-40B4-BE49-F238E27FC236}">
                <a16:creationId xmlns:a16="http://schemas.microsoft.com/office/drawing/2014/main" id="{A01562EA-270A-A390-84E6-B7D04B30225F}"/>
              </a:ext>
            </a:extLst>
          </p:cNvPr>
          <p:cNvSpPr>
            <a:spLocks noGrp="1"/>
          </p:cNvSpPr>
          <p:nvPr>
            <p:ph idx="1"/>
          </p:nvPr>
        </p:nvSpPr>
        <p:spPr>
          <a:xfrm>
            <a:off x="609600" y="2857500"/>
            <a:ext cx="10972800" cy="1143000"/>
          </a:xfrm>
        </p:spPr>
        <p:txBody>
          <a:bodyPr/>
          <a:lstStyle/>
          <a:p>
            <a:r>
              <a:rPr lang="en-US" dirty="0"/>
              <a:t>Use Adjusted R</a:t>
            </a:r>
            <a:r>
              <a:rPr lang="en-US" baseline="30000" dirty="0"/>
              <a:t>2</a:t>
            </a:r>
            <a:r>
              <a:rPr lang="en-US" dirty="0"/>
              <a:t> to try and identify the degree of the model.</a:t>
            </a:r>
          </a:p>
        </p:txBody>
      </p:sp>
    </p:spTree>
    <p:extLst>
      <p:ext uri="{BB962C8B-B14F-4D97-AF65-F5344CB8AC3E}">
        <p14:creationId xmlns:p14="http://schemas.microsoft.com/office/powerpoint/2010/main" val="16811240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6F7E-9F1C-2D0D-6662-5353C758DD7C}"/>
              </a:ext>
            </a:extLst>
          </p:cNvPr>
          <p:cNvSpPr>
            <a:spLocks noGrp="1"/>
          </p:cNvSpPr>
          <p:nvPr>
            <p:ph type="title"/>
          </p:nvPr>
        </p:nvSpPr>
        <p:spPr>
          <a:xfrm>
            <a:off x="76200" y="2438400"/>
            <a:ext cx="12039600" cy="1143000"/>
          </a:xfrm>
        </p:spPr>
        <p:txBody>
          <a:bodyPr/>
          <a:lstStyle/>
          <a:p>
            <a:br>
              <a:rPr lang="en-US" dirty="0"/>
            </a:br>
            <a:r>
              <a:rPr lang="en-US" dirty="0"/>
              <a:t>Influential Points:</a:t>
            </a:r>
            <a:br>
              <a:rPr lang="en-US" dirty="0"/>
            </a:br>
            <a:r>
              <a:rPr lang="en-US" dirty="0"/>
              <a:t>Leverage, Studentized Residuals and Cook’s D</a:t>
            </a:r>
          </a:p>
        </p:txBody>
      </p:sp>
    </p:spTree>
    <p:extLst>
      <p:ext uri="{BB962C8B-B14F-4D97-AF65-F5344CB8AC3E}">
        <p14:creationId xmlns:p14="http://schemas.microsoft.com/office/powerpoint/2010/main" val="583333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a:xfrm>
            <a:off x="914400" y="1828800"/>
            <a:ext cx="10972800" cy="900546"/>
          </a:xfrm>
        </p:spPr>
        <p:txBody>
          <a:bodyPr>
            <a:normAutofit fontScale="90000"/>
          </a:bodyPr>
          <a:lstStyle/>
          <a:p>
            <a:r>
              <a:rPr lang="en-US" dirty="0"/>
              <a:t>Example: </a:t>
            </a:r>
            <a:br>
              <a:rPr lang="en-US" dirty="0"/>
            </a:br>
            <a:r>
              <a:rPr lang="en-US" dirty="0"/>
              <a:t>Leverage, Studentized Residuals and Cook’s D</a:t>
            </a:r>
          </a:p>
        </p:txBody>
      </p:sp>
      <p:sp>
        <p:nvSpPr>
          <p:cNvPr id="3" name="Subtitle 2">
            <a:extLst>
              <a:ext uri="{FF2B5EF4-FFF2-40B4-BE49-F238E27FC236}">
                <a16:creationId xmlns:a16="http://schemas.microsoft.com/office/drawing/2014/main" id="{1E6066E0-B4F9-3F47-9AF0-1A1A7B16B7F7}"/>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8959158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Set 1 (Excluded)</a:t>
            </a: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4401" y="1498609"/>
            <a:ext cx="5705475" cy="48260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399" y="1567693"/>
            <a:ext cx="3200400" cy="1276293"/>
          </a:xfrm>
          <a:prstGeom prst="rect">
            <a:avLst/>
          </a:prstGeom>
          <a:noFill/>
          <a:ln w="28575">
            <a:solidFill>
              <a:srgbClr val="00B0F0"/>
            </a:solidFill>
            <a:miter lim="800000"/>
            <a:headEnd/>
            <a:tailEnd/>
          </a:ln>
          <a:extLst>
            <a:ext uri="{909E8E84-426E-40DD-AFC4-6F175D3DCCD1}">
              <a14:hiddenFill xmlns:a14="http://schemas.microsoft.com/office/drawing/2010/main">
                <a:solidFill>
                  <a:schemeClr val="accent1"/>
                </a:solidFill>
              </a14:hiddenFill>
            </a:ext>
          </a:extLst>
        </p:spPr>
      </p:pic>
      <p:graphicFrame>
        <p:nvGraphicFramePr>
          <p:cNvPr id="5" name="Table 4"/>
          <p:cNvGraphicFramePr>
            <a:graphicFrameLocks noGrp="1"/>
          </p:cNvGraphicFramePr>
          <p:nvPr/>
        </p:nvGraphicFramePr>
        <p:xfrm>
          <a:off x="1887338" y="3124201"/>
          <a:ext cx="2778523" cy="326136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1102123">
                  <a:extLst>
                    <a:ext uri="{9D8B030D-6E8A-4147-A177-3AD203B41FA5}">
                      <a16:colId xmlns:a16="http://schemas.microsoft.com/office/drawing/2014/main" val="20003"/>
                    </a:ext>
                  </a:extLst>
                </a:gridCol>
              </a:tblGrid>
              <a:tr h="514881">
                <a:tc>
                  <a:txBody>
                    <a:bodyPr/>
                    <a:lstStyle/>
                    <a:p>
                      <a:r>
                        <a:rPr lang="en-US" sz="1400" dirty="0"/>
                        <a:t>subject</a:t>
                      </a:r>
                    </a:p>
                  </a:txBody>
                  <a:tcPr/>
                </a:tc>
                <a:tc>
                  <a:txBody>
                    <a:bodyPr/>
                    <a:lstStyle/>
                    <a:p>
                      <a:r>
                        <a:rPr lang="en-US" sz="1400" dirty="0"/>
                        <a:t>x</a:t>
                      </a:r>
                    </a:p>
                  </a:txBody>
                  <a:tcPr/>
                </a:tc>
                <a:tc>
                  <a:txBody>
                    <a:bodyPr/>
                    <a:lstStyle/>
                    <a:p>
                      <a:r>
                        <a:rPr lang="en-US" sz="1400" dirty="0"/>
                        <a:t>y</a:t>
                      </a:r>
                    </a:p>
                  </a:txBody>
                  <a:tcPr/>
                </a:tc>
                <a:tc>
                  <a:txBody>
                    <a:bodyPr/>
                    <a:lstStyle/>
                    <a:p>
                      <a:r>
                        <a:rPr lang="en-US" sz="1400" dirty="0"/>
                        <a:t>group</a:t>
                      </a:r>
                    </a:p>
                  </a:txBody>
                  <a:tcPr/>
                </a:tc>
                <a:extLst>
                  <a:ext uri="{0D108BD9-81ED-4DB2-BD59-A6C34878D82A}">
                    <a16:rowId xmlns:a16="http://schemas.microsoft.com/office/drawing/2014/main" val="10000"/>
                  </a:ext>
                </a:extLst>
              </a:tr>
              <a:tr h="302871">
                <a:tc>
                  <a:txBody>
                    <a:bodyPr/>
                    <a:lstStyle/>
                    <a:p>
                      <a:r>
                        <a:rPr lang="en-US" sz="1400" dirty="0">
                          <a:solidFill>
                            <a:srgbClr val="0070C0"/>
                          </a:solidFill>
                        </a:rPr>
                        <a:t>1</a:t>
                      </a:r>
                    </a:p>
                  </a:txBody>
                  <a:tcPr/>
                </a:tc>
                <a:tc>
                  <a:txBody>
                    <a:bodyPr/>
                    <a:lstStyle/>
                    <a:p>
                      <a:r>
                        <a:rPr lang="en-US" sz="1400" dirty="0">
                          <a:solidFill>
                            <a:srgbClr val="0070C0"/>
                          </a:solidFill>
                        </a:rPr>
                        <a:t>1</a:t>
                      </a:r>
                    </a:p>
                  </a:txBody>
                  <a:tcPr/>
                </a:tc>
                <a:tc>
                  <a:txBody>
                    <a:bodyPr/>
                    <a:lstStyle/>
                    <a:p>
                      <a:r>
                        <a:rPr lang="en-US" sz="1400" dirty="0">
                          <a:solidFill>
                            <a:srgbClr val="0070C0"/>
                          </a:solidFill>
                        </a:rPr>
                        <a:t>2</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1"/>
                  </a:ext>
                </a:extLst>
              </a:tr>
              <a:tr h="302871">
                <a:tc>
                  <a:txBody>
                    <a:bodyPr/>
                    <a:lstStyle/>
                    <a:p>
                      <a:r>
                        <a:rPr lang="en-US" sz="1400" dirty="0">
                          <a:solidFill>
                            <a:srgbClr val="0070C0"/>
                          </a:solidFill>
                        </a:rPr>
                        <a:t>2</a:t>
                      </a:r>
                    </a:p>
                  </a:txBody>
                  <a:tcPr/>
                </a:tc>
                <a:tc>
                  <a:txBody>
                    <a:bodyPr/>
                    <a:lstStyle/>
                    <a:p>
                      <a:r>
                        <a:rPr lang="en-US" sz="1400" dirty="0">
                          <a:solidFill>
                            <a:srgbClr val="0070C0"/>
                          </a:solidFill>
                        </a:rPr>
                        <a:t>2</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2"/>
                  </a:ext>
                </a:extLst>
              </a:tr>
              <a:tr h="302871">
                <a:tc>
                  <a:txBody>
                    <a:bodyPr/>
                    <a:lstStyle/>
                    <a:p>
                      <a:r>
                        <a:rPr lang="en-US" sz="1400" dirty="0">
                          <a:solidFill>
                            <a:srgbClr val="0070C0"/>
                          </a:solidFill>
                        </a:rPr>
                        <a:t>3</a:t>
                      </a:r>
                    </a:p>
                  </a:txBody>
                  <a:tcPr/>
                </a:tc>
                <a:tc>
                  <a:txBody>
                    <a:bodyPr/>
                    <a:lstStyle/>
                    <a:p>
                      <a:r>
                        <a:rPr lang="en-US" sz="1400" dirty="0">
                          <a:solidFill>
                            <a:srgbClr val="0070C0"/>
                          </a:solidFill>
                        </a:rPr>
                        <a:t>3</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3"/>
                  </a:ext>
                </a:extLst>
              </a:tr>
              <a:tr h="302871">
                <a:tc>
                  <a:txBody>
                    <a:bodyPr/>
                    <a:lstStyle/>
                    <a:p>
                      <a:r>
                        <a:rPr lang="en-US" sz="1400" dirty="0">
                          <a:solidFill>
                            <a:srgbClr val="0070C0"/>
                          </a:solidFill>
                        </a:rPr>
                        <a:t>4</a:t>
                      </a:r>
                    </a:p>
                  </a:txBody>
                  <a:tcPr/>
                </a:tc>
                <a:tc>
                  <a:txBody>
                    <a:bodyPr/>
                    <a:lstStyle/>
                    <a:p>
                      <a:r>
                        <a:rPr lang="en-US" sz="1400" dirty="0">
                          <a:solidFill>
                            <a:srgbClr val="0070C0"/>
                          </a:solidFill>
                        </a:rPr>
                        <a:t>4</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4"/>
                  </a:ext>
                </a:extLst>
              </a:tr>
              <a:tr h="302871">
                <a:tc>
                  <a:txBody>
                    <a:bodyPr/>
                    <a:lstStyle/>
                    <a:p>
                      <a:r>
                        <a:rPr lang="en-US" sz="1400" dirty="0">
                          <a:solidFill>
                            <a:srgbClr val="FF0000"/>
                          </a:solidFill>
                        </a:rPr>
                        <a:t>5</a:t>
                      </a:r>
                    </a:p>
                  </a:txBody>
                  <a:tcPr/>
                </a:tc>
                <a:tc>
                  <a:txBody>
                    <a:bodyPr/>
                    <a:lstStyle/>
                    <a:p>
                      <a:r>
                        <a:rPr lang="en-US" sz="1400" dirty="0">
                          <a:solidFill>
                            <a:srgbClr val="FF0000"/>
                          </a:solidFill>
                        </a:rPr>
                        <a:t>1</a:t>
                      </a:r>
                    </a:p>
                  </a:txBody>
                  <a:tcPr/>
                </a:tc>
                <a:tc>
                  <a:txBody>
                    <a:bodyPr/>
                    <a:lstStyle/>
                    <a:p>
                      <a:r>
                        <a:rPr lang="en-US" sz="1400" dirty="0">
                          <a:solidFill>
                            <a:srgbClr val="FF0000"/>
                          </a:solidFill>
                        </a:rPr>
                        <a:t>2</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5"/>
                  </a:ext>
                </a:extLst>
              </a:tr>
              <a:tr h="302871">
                <a:tc>
                  <a:txBody>
                    <a:bodyPr/>
                    <a:lstStyle/>
                    <a:p>
                      <a:r>
                        <a:rPr lang="en-US" sz="1400" dirty="0">
                          <a:solidFill>
                            <a:srgbClr val="FF0000"/>
                          </a:solidFill>
                        </a:rPr>
                        <a:t>6</a:t>
                      </a:r>
                    </a:p>
                  </a:txBody>
                  <a:tcPr/>
                </a:tc>
                <a:tc>
                  <a:txBody>
                    <a:bodyPr/>
                    <a:lstStyle/>
                    <a:p>
                      <a:r>
                        <a:rPr lang="en-US" sz="1400" dirty="0">
                          <a:solidFill>
                            <a:srgbClr val="FF0000"/>
                          </a:solidFill>
                        </a:rPr>
                        <a:t>2</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6"/>
                  </a:ext>
                </a:extLst>
              </a:tr>
              <a:tr h="302871">
                <a:tc>
                  <a:txBody>
                    <a:bodyPr/>
                    <a:lstStyle/>
                    <a:p>
                      <a:r>
                        <a:rPr lang="en-US" sz="1400" dirty="0">
                          <a:solidFill>
                            <a:srgbClr val="FF0000"/>
                          </a:solidFill>
                        </a:rPr>
                        <a:t>7</a:t>
                      </a:r>
                    </a:p>
                  </a:txBody>
                  <a:tcPr/>
                </a:tc>
                <a:tc>
                  <a:txBody>
                    <a:bodyPr/>
                    <a:lstStyle/>
                    <a:p>
                      <a:r>
                        <a:rPr lang="en-US" sz="1400" dirty="0">
                          <a:solidFill>
                            <a:srgbClr val="FF0000"/>
                          </a:solidFill>
                        </a:rPr>
                        <a:t>3</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7"/>
                  </a:ext>
                </a:extLst>
              </a:tr>
              <a:tr h="302871">
                <a:tc>
                  <a:txBody>
                    <a:bodyPr/>
                    <a:lstStyle/>
                    <a:p>
                      <a:r>
                        <a:rPr lang="en-US" sz="1400" dirty="0">
                          <a:solidFill>
                            <a:srgbClr val="FF0000"/>
                          </a:solidFill>
                        </a:rPr>
                        <a:t>8</a:t>
                      </a:r>
                    </a:p>
                  </a:txBody>
                  <a:tcPr/>
                </a:tc>
                <a:tc>
                  <a:txBody>
                    <a:bodyPr/>
                    <a:lstStyle/>
                    <a:p>
                      <a:r>
                        <a:rPr lang="en-US" sz="1400" dirty="0">
                          <a:solidFill>
                            <a:srgbClr val="FF0000"/>
                          </a:solidFill>
                        </a:rPr>
                        <a:t>4</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8"/>
                  </a:ext>
                </a:extLst>
              </a:tr>
              <a:tr h="302871">
                <a:tc>
                  <a:txBody>
                    <a:bodyPr/>
                    <a:lstStyle/>
                    <a:p>
                      <a:r>
                        <a:rPr lang="en-US" sz="1400" dirty="0">
                          <a:solidFill>
                            <a:srgbClr val="FF0000"/>
                          </a:solidFill>
                        </a:rPr>
                        <a:t>9</a:t>
                      </a:r>
                    </a:p>
                  </a:txBody>
                  <a:tcPr/>
                </a:tc>
                <a:tc>
                  <a:txBody>
                    <a:bodyPr/>
                    <a:lstStyle/>
                    <a:p>
                      <a:r>
                        <a:rPr lang="en-US" sz="1400" dirty="0">
                          <a:solidFill>
                            <a:srgbClr val="FF0000"/>
                          </a:solidFill>
                        </a:rPr>
                        <a:t>30</a:t>
                      </a:r>
                    </a:p>
                  </a:txBody>
                  <a:tcPr/>
                </a:tc>
                <a:tc>
                  <a:txBody>
                    <a:bodyPr/>
                    <a:lstStyle/>
                    <a:p>
                      <a:r>
                        <a:rPr lang="en-US" sz="1400" dirty="0">
                          <a:solidFill>
                            <a:srgbClr val="FF0000"/>
                          </a:solidFill>
                        </a:rPr>
                        <a:t>50</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1746968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Set 2 (Included)</a:t>
            </a:r>
          </a:p>
        </p:txBody>
      </p:sp>
      <p:graphicFrame>
        <p:nvGraphicFramePr>
          <p:cNvPr id="5" name="Table 4"/>
          <p:cNvGraphicFramePr>
            <a:graphicFrameLocks noGrp="1"/>
          </p:cNvGraphicFramePr>
          <p:nvPr/>
        </p:nvGraphicFramePr>
        <p:xfrm>
          <a:off x="2286001" y="3276601"/>
          <a:ext cx="2778523" cy="3258081"/>
        </p:xfrm>
        <a:graphic>
          <a:graphicData uri="http://schemas.openxmlformats.org/drawingml/2006/table">
            <a:tbl>
              <a:tblPr firstRow="1" bandRow="1">
                <a:tableStyleId>{5C22544A-7EE6-4342-B048-85BDC9FD1C3A}</a:tableStyleId>
              </a:tblPr>
              <a:tblGrid>
                <a:gridCol w="838199">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381001">
                  <a:extLst>
                    <a:ext uri="{9D8B030D-6E8A-4147-A177-3AD203B41FA5}">
                      <a16:colId xmlns:a16="http://schemas.microsoft.com/office/drawing/2014/main" val="20002"/>
                    </a:ext>
                  </a:extLst>
                </a:gridCol>
                <a:gridCol w="1102123">
                  <a:extLst>
                    <a:ext uri="{9D8B030D-6E8A-4147-A177-3AD203B41FA5}">
                      <a16:colId xmlns:a16="http://schemas.microsoft.com/office/drawing/2014/main" val="20003"/>
                    </a:ext>
                  </a:extLst>
                </a:gridCol>
              </a:tblGrid>
              <a:tr h="514881">
                <a:tc>
                  <a:txBody>
                    <a:bodyPr/>
                    <a:lstStyle/>
                    <a:p>
                      <a:r>
                        <a:rPr lang="en-US" sz="1400" dirty="0"/>
                        <a:t>subject</a:t>
                      </a:r>
                    </a:p>
                  </a:txBody>
                  <a:tcPr/>
                </a:tc>
                <a:tc>
                  <a:txBody>
                    <a:bodyPr/>
                    <a:lstStyle/>
                    <a:p>
                      <a:r>
                        <a:rPr lang="en-US" sz="1400" dirty="0"/>
                        <a:t>x</a:t>
                      </a:r>
                    </a:p>
                  </a:txBody>
                  <a:tcPr/>
                </a:tc>
                <a:tc>
                  <a:txBody>
                    <a:bodyPr/>
                    <a:lstStyle/>
                    <a:p>
                      <a:r>
                        <a:rPr lang="en-US" sz="1400" dirty="0"/>
                        <a:t>y</a:t>
                      </a:r>
                    </a:p>
                  </a:txBody>
                  <a:tcPr/>
                </a:tc>
                <a:tc>
                  <a:txBody>
                    <a:bodyPr/>
                    <a:lstStyle/>
                    <a:p>
                      <a:r>
                        <a:rPr lang="en-US" sz="1400" dirty="0"/>
                        <a:t>group</a:t>
                      </a:r>
                    </a:p>
                  </a:txBody>
                  <a:tcPr/>
                </a:tc>
                <a:extLst>
                  <a:ext uri="{0D108BD9-81ED-4DB2-BD59-A6C34878D82A}">
                    <a16:rowId xmlns:a16="http://schemas.microsoft.com/office/drawing/2014/main" val="10000"/>
                  </a:ext>
                </a:extLst>
              </a:tr>
              <a:tr h="302871">
                <a:tc>
                  <a:txBody>
                    <a:bodyPr/>
                    <a:lstStyle/>
                    <a:p>
                      <a:r>
                        <a:rPr lang="en-US" sz="1400" dirty="0">
                          <a:solidFill>
                            <a:srgbClr val="0070C0"/>
                          </a:solidFill>
                        </a:rPr>
                        <a:t>1</a:t>
                      </a:r>
                    </a:p>
                  </a:txBody>
                  <a:tcPr/>
                </a:tc>
                <a:tc>
                  <a:txBody>
                    <a:bodyPr/>
                    <a:lstStyle/>
                    <a:p>
                      <a:r>
                        <a:rPr lang="en-US" sz="1400" dirty="0">
                          <a:solidFill>
                            <a:srgbClr val="0070C0"/>
                          </a:solidFill>
                        </a:rPr>
                        <a:t>1</a:t>
                      </a:r>
                    </a:p>
                  </a:txBody>
                  <a:tcPr/>
                </a:tc>
                <a:tc>
                  <a:txBody>
                    <a:bodyPr/>
                    <a:lstStyle/>
                    <a:p>
                      <a:r>
                        <a:rPr lang="en-US" sz="1400" dirty="0">
                          <a:solidFill>
                            <a:srgbClr val="0070C0"/>
                          </a:solidFill>
                        </a:rPr>
                        <a:t>2</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1"/>
                  </a:ext>
                </a:extLst>
              </a:tr>
              <a:tr h="302871">
                <a:tc>
                  <a:txBody>
                    <a:bodyPr/>
                    <a:lstStyle/>
                    <a:p>
                      <a:r>
                        <a:rPr lang="en-US" sz="1400" dirty="0">
                          <a:solidFill>
                            <a:srgbClr val="0070C0"/>
                          </a:solidFill>
                        </a:rPr>
                        <a:t>2</a:t>
                      </a:r>
                    </a:p>
                  </a:txBody>
                  <a:tcPr/>
                </a:tc>
                <a:tc>
                  <a:txBody>
                    <a:bodyPr/>
                    <a:lstStyle/>
                    <a:p>
                      <a:r>
                        <a:rPr lang="en-US" sz="1400" dirty="0">
                          <a:solidFill>
                            <a:srgbClr val="0070C0"/>
                          </a:solidFill>
                        </a:rPr>
                        <a:t>2</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2"/>
                  </a:ext>
                </a:extLst>
              </a:tr>
              <a:tr h="302871">
                <a:tc>
                  <a:txBody>
                    <a:bodyPr/>
                    <a:lstStyle/>
                    <a:p>
                      <a:r>
                        <a:rPr lang="en-US" sz="1400" dirty="0">
                          <a:solidFill>
                            <a:srgbClr val="0070C0"/>
                          </a:solidFill>
                        </a:rPr>
                        <a:t>3</a:t>
                      </a:r>
                    </a:p>
                  </a:txBody>
                  <a:tcPr/>
                </a:tc>
                <a:tc>
                  <a:txBody>
                    <a:bodyPr/>
                    <a:lstStyle/>
                    <a:p>
                      <a:r>
                        <a:rPr lang="en-US" sz="1400" dirty="0">
                          <a:solidFill>
                            <a:srgbClr val="0070C0"/>
                          </a:solidFill>
                        </a:rPr>
                        <a:t>3</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3"/>
                  </a:ext>
                </a:extLst>
              </a:tr>
              <a:tr h="302871">
                <a:tc>
                  <a:txBody>
                    <a:bodyPr/>
                    <a:lstStyle/>
                    <a:p>
                      <a:r>
                        <a:rPr lang="en-US" sz="1400" dirty="0">
                          <a:solidFill>
                            <a:srgbClr val="0070C0"/>
                          </a:solidFill>
                        </a:rPr>
                        <a:t>4</a:t>
                      </a:r>
                    </a:p>
                  </a:txBody>
                  <a:tcPr/>
                </a:tc>
                <a:tc>
                  <a:txBody>
                    <a:bodyPr/>
                    <a:lstStyle/>
                    <a:p>
                      <a:r>
                        <a:rPr lang="en-US" sz="1400" dirty="0">
                          <a:solidFill>
                            <a:srgbClr val="0070C0"/>
                          </a:solidFill>
                        </a:rPr>
                        <a:t>4</a:t>
                      </a:r>
                    </a:p>
                  </a:txBody>
                  <a:tcPr/>
                </a:tc>
                <a:tc>
                  <a:txBody>
                    <a:bodyPr/>
                    <a:lstStyle/>
                    <a:p>
                      <a:r>
                        <a:rPr lang="en-US" sz="1400" dirty="0">
                          <a:solidFill>
                            <a:srgbClr val="0070C0"/>
                          </a:solidFill>
                        </a:rPr>
                        <a:t>3</a:t>
                      </a:r>
                    </a:p>
                  </a:txBody>
                  <a:tcPr/>
                </a:tc>
                <a:tc>
                  <a:txBody>
                    <a:bodyPr/>
                    <a:lstStyle/>
                    <a:p>
                      <a:r>
                        <a:rPr lang="en-US" sz="1400" dirty="0">
                          <a:solidFill>
                            <a:srgbClr val="0070C0"/>
                          </a:solidFill>
                        </a:rPr>
                        <a:t>Exclude</a:t>
                      </a:r>
                    </a:p>
                  </a:txBody>
                  <a:tcPr/>
                </a:tc>
                <a:extLst>
                  <a:ext uri="{0D108BD9-81ED-4DB2-BD59-A6C34878D82A}">
                    <a16:rowId xmlns:a16="http://schemas.microsoft.com/office/drawing/2014/main" val="10004"/>
                  </a:ext>
                </a:extLst>
              </a:tr>
              <a:tr h="302871">
                <a:tc>
                  <a:txBody>
                    <a:bodyPr/>
                    <a:lstStyle/>
                    <a:p>
                      <a:r>
                        <a:rPr lang="en-US" sz="1400" dirty="0">
                          <a:solidFill>
                            <a:srgbClr val="FF0000"/>
                          </a:solidFill>
                        </a:rPr>
                        <a:t>5</a:t>
                      </a:r>
                    </a:p>
                  </a:txBody>
                  <a:tcPr/>
                </a:tc>
                <a:tc>
                  <a:txBody>
                    <a:bodyPr/>
                    <a:lstStyle/>
                    <a:p>
                      <a:r>
                        <a:rPr lang="en-US" sz="1400" dirty="0">
                          <a:solidFill>
                            <a:srgbClr val="FF0000"/>
                          </a:solidFill>
                        </a:rPr>
                        <a:t>1</a:t>
                      </a:r>
                    </a:p>
                  </a:txBody>
                  <a:tcPr/>
                </a:tc>
                <a:tc>
                  <a:txBody>
                    <a:bodyPr/>
                    <a:lstStyle/>
                    <a:p>
                      <a:r>
                        <a:rPr lang="en-US" sz="1400" dirty="0">
                          <a:solidFill>
                            <a:srgbClr val="FF0000"/>
                          </a:solidFill>
                        </a:rPr>
                        <a:t>2</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5"/>
                  </a:ext>
                </a:extLst>
              </a:tr>
              <a:tr h="302871">
                <a:tc>
                  <a:txBody>
                    <a:bodyPr/>
                    <a:lstStyle/>
                    <a:p>
                      <a:r>
                        <a:rPr lang="en-US" sz="1400" dirty="0">
                          <a:solidFill>
                            <a:srgbClr val="FF0000"/>
                          </a:solidFill>
                        </a:rPr>
                        <a:t>6</a:t>
                      </a:r>
                    </a:p>
                  </a:txBody>
                  <a:tcPr/>
                </a:tc>
                <a:tc>
                  <a:txBody>
                    <a:bodyPr/>
                    <a:lstStyle/>
                    <a:p>
                      <a:r>
                        <a:rPr lang="en-US" sz="1400" dirty="0">
                          <a:solidFill>
                            <a:srgbClr val="FF0000"/>
                          </a:solidFill>
                        </a:rPr>
                        <a:t>2</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6"/>
                  </a:ext>
                </a:extLst>
              </a:tr>
              <a:tr h="302871">
                <a:tc>
                  <a:txBody>
                    <a:bodyPr/>
                    <a:lstStyle/>
                    <a:p>
                      <a:r>
                        <a:rPr lang="en-US" sz="1400" dirty="0">
                          <a:solidFill>
                            <a:srgbClr val="FF0000"/>
                          </a:solidFill>
                        </a:rPr>
                        <a:t>7</a:t>
                      </a:r>
                    </a:p>
                  </a:txBody>
                  <a:tcPr/>
                </a:tc>
                <a:tc>
                  <a:txBody>
                    <a:bodyPr/>
                    <a:lstStyle/>
                    <a:p>
                      <a:r>
                        <a:rPr lang="en-US" sz="1400" dirty="0">
                          <a:solidFill>
                            <a:srgbClr val="FF0000"/>
                          </a:solidFill>
                        </a:rPr>
                        <a:t>3</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7"/>
                  </a:ext>
                </a:extLst>
              </a:tr>
              <a:tr h="302871">
                <a:tc>
                  <a:txBody>
                    <a:bodyPr/>
                    <a:lstStyle/>
                    <a:p>
                      <a:r>
                        <a:rPr lang="en-US" sz="1400" dirty="0">
                          <a:solidFill>
                            <a:srgbClr val="FF0000"/>
                          </a:solidFill>
                        </a:rPr>
                        <a:t>8</a:t>
                      </a:r>
                    </a:p>
                  </a:txBody>
                  <a:tcPr/>
                </a:tc>
                <a:tc>
                  <a:txBody>
                    <a:bodyPr/>
                    <a:lstStyle/>
                    <a:p>
                      <a:r>
                        <a:rPr lang="en-US" sz="1400" dirty="0">
                          <a:solidFill>
                            <a:srgbClr val="FF0000"/>
                          </a:solidFill>
                        </a:rPr>
                        <a:t>4</a:t>
                      </a:r>
                    </a:p>
                  </a:txBody>
                  <a:tcPr/>
                </a:tc>
                <a:tc>
                  <a:txBody>
                    <a:bodyPr/>
                    <a:lstStyle/>
                    <a:p>
                      <a:r>
                        <a:rPr lang="en-US" sz="1400" dirty="0">
                          <a:solidFill>
                            <a:srgbClr val="FF0000"/>
                          </a:solidFill>
                        </a:rPr>
                        <a:t>3</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8"/>
                  </a:ext>
                </a:extLst>
              </a:tr>
              <a:tr h="302871">
                <a:tc>
                  <a:txBody>
                    <a:bodyPr/>
                    <a:lstStyle/>
                    <a:p>
                      <a:r>
                        <a:rPr lang="en-US" sz="1400" dirty="0">
                          <a:solidFill>
                            <a:srgbClr val="FF0000"/>
                          </a:solidFill>
                        </a:rPr>
                        <a:t>9</a:t>
                      </a:r>
                    </a:p>
                  </a:txBody>
                  <a:tcPr/>
                </a:tc>
                <a:tc>
                  <a:txBody>
                    <a:bodyPr/>
                    <a:lstStyle/>
                    <a:p>
                      <a:r>
                        <a:rPr lang="en-US" sz="1400" dirty="0">
                          <a:solidFill>
                            <a:srgbClr val="FF0000"/>
                          </a:solidFill>
                        </a:rPr>
                        <a:t>30</a:t>
                      </a:r>
                    </a:p>
                  </a:txBody>
                  <a:tcPr/>
                </a:tc>
                <a:tc>
                  <a:txBody>
                    <a:bodyPr/>
                    <a:lstStyle/>
                    <a:p>
                      <a:r>
                        <a:rPr lang="en-US" sz="1400" dirty="0">
                          <a:solidFill>
                            <a:srgbClr val="FF0000"/>
                          </a:solidFill>
                        </a:rPr>
                        <a:t>50</a:t>
                      </a:r>
                    </a:p>
                  </a:txBody>
                  <a:tcPr/>
                </a:tc>
                <a:tc>
                  <a:txBody>
                    <a:bodyPr/>
                    <a:lstStyle/>
                    <a:p>
                      <a:r>
                        <a:rPr lang="en-US" sz="1400" dirty="0">
                          <a:solidFill>
                            <a:srgbClr val="FF0000"/>
                          </a:solidFill>
                        </a:rPr>
                        <a:t>Include</a:t>
                      </a:r>
                    </a:p>
                  </a:txBody>
                  <a:tcPr/>
                </a:tc>
                <a:extLst>
                  <a:ext uri="{0D108BD9-81ED-4DB2-BD59-A6C34878D82A}">
                    <a16:rowId xmlns:a16="http://schemas.microsoft.com/office/drawing/2014/main" val="10009"/>
                  </a:ext>
                </a:extLst>
              </a:tr>
            </a:tbl>
          </a:graphicData>
        </a:graphic>
      </p:graphicFrame>
      <p:pic>
        <p:nvPicPr>
          <p:cNvPr id="3" name="Picture 2">
            <a:extLst>
              <a:ext uri="{FF2B5EF4-FFF2-40B4-BE49-F238E27FC236}">
                <a16:creationId xmlns:a16="http://schemas.microsoft.com/office/drawing/2014/main" id="{D0EA7885-7F91-410D-812C-DC0898A1AEAE}"/>
              </a:ext>
            </a:extLst>
          </p:cNvPr>
          <p:cNvPicPr>
            <a:picLocks noChangeAspect="1"/>
          </p:cNvPicPr>
          <p:nvPr/>
        </p:nvPicPr>
        <p:blipFill>
          <a:blip r:embed="rId3"/>
          <a:stretch>
            <a:fillRect/>
          </a:stretch>
        </p:blipFill>
        <p:spPr>
          <a:xfrm>
            <a:off x="5643677" y="1571419"/>
            <a:ext cx="4739963" cy="3533982"/>
          </a:xfrm>
          <a:prstGeom prst="rect">
            <a:avLst/>
          </a:prstGeom>
        </p:spPr>
      </p:pic>
      <p:pic>
        <p:nvPicPr>
          <p:cNvPr id="4" name="Picture 3">
            <a:extLst>
              <a:ext uri="{FF2B5EF4-FFF2-40B4-BE49-F238E27FC236}">
                <a16:creationId xmlns:a16="http://schemas.microsoft.com/office/drawing/2014/main" id="{C3F15D5A-8026-465E-90F5-4011F4EC22C2}"/>
              </a:ext>
            </a:extLst>
          </p:cNvPr>
          <p:cNvPicPr>
            <a:picLocks noChangeAspect="1"/>
          </p:cNvPicPr>
          <p:nvPr/>
        </p:nvPicPr>
        <p:blipFill>
          <a:blip r:embed="rId4"/>
          <a:stretch>
            <a:fillRect/>
          </a:stretch>
        </p:blipFill>
        <p:spPr>
          <a:xfrm>
            <a:off x="1955800" y="1829682"/>
            <a:ext cx="3427086" cy="1046163"/>
          </a:xfrm>
          <a:prstGeom prst="rect">
            <a:avLst/>
          </a:prstGeom>
        </p:spPr>
      </p:pic>
      <p:sp>
        <p:nvSpPr>
          <p:cNvPr id="6" name="Rectangle 5">
            <a:extLst>
              <a:ext uri="{FF2B5EF4-FFF2-40B4-BE49-F238E27FC236}">
                <a16:creationId xmlns:a16="http://schemas.microsoft.com/office/drawing/2014/main" id="{BD9254B1-999F-4F39-A79A-9212AC1E7BC3}"/>
              </a:ext>
            </a:extLst>
          </p:cNvPr>
          <p:cNvSpPr/>
          <p:nvPr/>
        </p:nvSpPr>
        <p:spPr>
          <a:xfrm>
            <a:off x="1981200" y="1824038"/>
            <a:ext cx="3429000" cy="107156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48587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Excluded vs. Included</a:t>
            </a: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86401" y="2206788"/>
            <a:ext cx="4867507" cy="3695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4507" y="4572000"/>
            <a:ext cx="3447094" cy="1374672"/>
          </a:xfrm>
          <a:prstGeom prst="rect">
            <a:avLst/>
          </a:prstGeom>
          <a:noFill/>
          <a:ln w="28575">
            <a:solidFill>
              <a:srgbClr val="00B0F0"/>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6">
            <a:extLst>
              <a:ext uri="{FF2B5EF4-FFF2-40B4-BE49-F238E27FC236}">
                <a16:creationId xmlns:a16="http://schemas.microsoft.com/office/drawing/2014/main" id="{D7F4C43E-72ED-4E6C-99EC-8550614FA8B3}"/>
              </a:ext>
            </a:extLst>
          </p:cNvPr>
          <p:cNvPicPr>
            <a:picLocks noChangeAspect="1"/>
          </p:cNvPicPr>
          <p:nvPr/>
        </p:nvPicPr>
        <p:blipFill>
          <a:blip r:embed="rId5"/>
          <a:stretch>
            <a:fillRect/>
          </a:stretch>
        </p:blipFill>
        <p:spPr>
          <a:xfrm>
            <a:off x="1754515" y="2325512"/>
            <a:ext cx="3427086" cy="1143001"/>
          </a:xfrm>
          <a:prstGeom prst="rect">
            <a:avLst/>
          </a:prstGeom>
        </p:spPr>
      </p:pic>
      <p:sp>
        <p:nvSpPr>
          <p:cNvPr id="8" name="Rectangle 7">
            <a:extLst>
              <a:ext uri="{FF2B5EF4-FFF2-40B4-BE49-F238E27FC236}">
                <a16:creationId xmlns:a16="http://schemas.microsoft.com/office/drawing/2014/main" id="{CE20C490-3120-4323-B661-24A1AF5341CA}"/>
              </a:ext>
            </a:extLst>
          </p:cNvPr>
          <p:cNvSpPr/>
          <p:nvPr/>
        </p:nvSpPr>
        <p:spPr>
          <a:xfrm>
            <a:off x="1743554" y="2305756"/>
            <a:ext cx="3447093" cy="1162757"/>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90361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99813AC7-F4D1-4A18-A2FA-B1A6168F1D5B}"/>
              </a:ext>
            </a:extLst>
          </p:cNvPr>
          <p:cNvPicPr>
            <a:picLocks noChangeAspect="1"/>
          </p:cNvPicPr>
          <p:nvPr/>
        </p:nvPicPr>
        <p:blipFill>
          <a:blip r:embed="rId3"/>
          <a:stretch>
            <a:fillRect/>
          </a:stretch>
        </p:blipFill>
        <p:spPr>
          <a:xfrm>
            <a:off x="3657600" y="1219200"/>
            <a:ext cx="5943600" cy="4431380"/>
          </a:xfrm>
          <a:prstGeom prst="rect">
            <a:avLst/>
          </a:prstGeom>
        </p:spPr>
      </p:pic>
      <p:sp>
        <p:nvSpPr>
          <p:cNvPr id="2" name="Title 1"/>
          <p:cNvSpPr>
            <a:spLocks noGrp="1"/>
          </p:cNvSpPr>
          <p:nvPr>
            <p:ph type="title"/>
          </p:nvPr>
        </p:nvSpPr>
        <p:spPr>
          <a:xfrm>
            <a:off x="1981200" y="60948"/>
            <a:ext cx="8229600" cy="853453"/>
          </a:xfrm>
        </p:spPr>
        <p:txBody>
          <a:bodyPr/>
          <a:lstStyle/>
          <a:p>
            <a:r>
              <a:rPr lang="en-US" dirty="0"/>
              <a:t>The Idea of Leverage</a:t>
            </a:r>
          </a:p>
        </p:txBody>
      </p:sp>
      <mc:AlternateContent xmlns:mc="http://schemas.openxmlformats.org/markup-compatibility/2006" xmlns:a14="http://schemas.microsoft.com/office/drawing/2010/main">
        <mc:Choice Requires="a14">
          <p:sp>
            <p:nvSpPr>
              <p:cNvPr id="5" name="TextBox 4"/>
              <p:cNvSpPr txBox="1"/>
              <p:nvPr/>
            </p:nvSpPr>
            <p:spPr>
              <a:xfrm>
                <a:off x="5362969" y="4965582"/>
                <a:ext cx="262892"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acc>
                        <m:accPr>
                          <m:chr m:val="̅"/>
                          <m:ctrlPr>
                            <a:rPr lang="en-US" sz="2400" b="1" i="1">
                              <a:latin typeface="Cambria Math" panose="02040503050406030204" pitchFamily="18" charset="0"/>
                            </a:rPr>
                          </m:ctrlPr>
                        </m:accPr>
                        <m:e>
                          <m:r>
                            <a:rPr lang="en-US" sz="2400" b="1" i="1">
                              <a:latin typeface="Cambria Math" charset="0"/>
                            </a:rPr>
                            <m:t>𝒙</m:t>
                          </m:r>
                        </m:e>
                      </m:acc>
                    </m:oMath>
                  </m:oMathPara>
                </a14:m>
                <a:endParaRPr lang="en-US" sz="2400" b="1" dirty="0"/>
              </a:p>
            </p:txBody>
          </p:sp>
        </mc:Choice>
        <mc:Fallback xmlns="">
          <p:sp>
            <p:nvSpPr>
              <p:cNvPr id="5" name="TextBox 4"/>
              <p:cNvSpPr txBox="1">
                <a:spLocks noRot="1" noChangeAspect="1" noMove="1" noResize="1" noEditPoints="1" noAdjustHandles="1" noChangeArrowheads="1" noChangeShapeType="1" noTextEdit="1"/>
              </p:cNvSpPr>
              <p:nvPr/>
            </p:nvSpPr>
            <p:spPr>
              <a:xfrm>
                <a:off x="5362969" y="4965582"/>
                <a:ext cx="262892" cy="369332"/>
              </a:xfrm>
              <a:prstGeom prst="rect">
                <a:avLst/>
              </a:prstGeom>
              <a:blipFill>
                <a:blip r:embed="rId4"/>
                <a:stretch>
                  <a:fillRect l="-9091" r="-9091"/>
                </a:stretch>
              </a:blipFill>
            </p:spPr>
            <p:txBody>
              <a:bodyPr/>
              <a:lstStyle/>
              <a:p>
                <a:r>
                  <a:rPr lang="en-US">
                    <a:noFill/>
                  </a:rPr>
                  <a:t> </a:t>
                </a:r>
              </a:p>
            </p:txBody>
          </p:sp>
        </mc:Fallback>
      </mc:AlternateContent>
      <p:cxnSp>
        <p:nvCxnSpPr>
          <p:cNvPr id="7" name="Straight Connector 6"/>
          <p:cNvCxnSpPr/>
          <p:nvPr/>
        </p:nvCxnSpPr>
        <p:spPr>
          <a:xfrm>
            <a:off x="5486400" y="4724400"/>
            <a:ext cx="0" cy="22860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ight Brace 8"/>
          <p:cNvSpPr/>
          <p:nvPr/>
        </p:nvSpPr>
        <p:spPr>
          <a:xfrm rot="5400000">
            <a:off x="6704057" y="4478589"/>
            <a:ext cx="460286" cy="2895600"/>
          </a:xfrm>
          <a:prstGeom prst="rightBrace">
            <a:avLst>
              <a:gd name="adj1" fmla="val 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0" name="TextBox 9"/>
              <p:cNvSpPr txBox="1"/>
              <p:nvPr/>
            </p:nvSpPr>
            <p:spPr>
              <a:xfrm>
                <a:off x="6400801" y="6148530"/>
                <a:ext cx="1073947"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a:latin typeface="Cambria Math" panose="02040503050406030204" pitchFamily="18" charset="0"/>
                            </a:rPr>
                          </m:ctrlPr>
                        </m:sSubPr>
                        <m:e>
                          <m:r>
                            <a:rPr lang="en-US" sz="2400" b="1" i="1">
                              <a:latin typeface="Cambria Math" charset="0"/>
                            </a:rPr>
                            <m:t>(</m:t>
                          </m:r>
                          <m:r>
                            <a:rPr lang="en-US" sz="2400" b="1" i="1">
                              <a:latin typeface="Cambria Math" charset="0"/>
                            </a:rPr>
                            <m:t>𝒙</m:t>
                          </m:r>
                        </m:e>
                        <m:sub>
                          <m:r>
                            <a:rPr lang="en-US" sz="2400" b="1" i="1">
                              <a:latin typeface="Cambria Math" charset="0"/>
                            </a:rPr>
                            <m:t>𝟓</m:t>
                          </m:r>
                        </m:sub>
                      </m:sSub>
                      <m:r>
                        <a:rPr lang="en-US" sz="2400" b="1" i="1">
                          <a:latin typeface="Cambria Math" charset="0"/>
                        </a:rPr>
                        <m:t>−</m:t>
                      </m:r>
                      <m:acc>
                        <m:accPr>
                          <m:chr m:val="̅"/>
                          <m:ctrlPr>
                            <a:rPr lang="en-US" sz="2400" b="1" i="1">
                              <a:latin typeface="Cambria Math" panose="02040503050406030204" pitchFamily="18" charset="0"/>
                            </a:rPr>
                          </m:ctrlPr>
                        </m:accPr>
                        <m:e>
                          <m:r>
                            <a:rPr lang="en-US" sz="2400" b="1" i="1">
                              <a:latin typeface="Cambria Math" charset="0"/>
                            </a:rPr>
                            <m:t>𝒙</m:t>
                          </m:r>
                        </m:e>
                      </m:acc>
                      <m:r>
                        <a:rPr lang="en-US" sz="2400" b="1" i="1">
                          <a:latin typeface="Cambria Math" charset="0"/>
                        </a:rPr>
                        <m:t>)</m:t>
                      </m:r>
                    </m:oMath>
                  </m:oMathPara>
                </a14:m>
                <a:endParaRPr lang="en-US" sz="2400" b="1" dirty="0"/>
              </a:p>
            </p:txBody>
          </p:sp>
        </mc:Choice>
        <mc:Fallback xmlns="">
          <p:sp>
            <p:nvSpPr>
              <p:cNvPr id="10" name="TextBox 9"/>
              <p:cNvSpPr txBox="1">
                <a:spLocks noRot="1" noChangeAspect="1" noMove="1" noResize="1" noEditPoints="1" noAdjustHandles="1" noChangeArrowheads="1" noChangeShapeType="1" noTextEdit="1"/>
              </p:cNvSpPr>
              <p:nvPr/>
            </p:nvSpPr>
            <p:spPr>
              <a:xfrm>
                <a:off x="6400801" y="6148530"/>
                <a:ext cx="1073947" cy="369332"/>
              </a:xfrm>
              <a:prstGeom prst="rect">
                <a:avLst/>
              </a:prstGeom>
              <a:blipFill>
                <a:blip r:embed="rId5"/>
                <a:stretch>
                  <a:fillRect l="-9412" r="-8235" b="-33333"/>
                </a:stretch>
              </a:blipFill>
            </p:spPr>
            <p:txBody>
              <a:bodyPr/>
              <a:lstStyle/>
              <a:p>
                <a:r>
                  <a:rPr lang="en-US">
                    <a:noFill/>
                  </a:rPr>
                  <a:t> </a:t>
                </a:r>
              </a:p>
            </p:txBody>
          </p:sp>
        </mc:Fallback>
      </mc:AlternateContent>
      <p:sp>
        <p:nvSpPr>
          <p:cNvPr id="11" name="Right Brace 10"/>
          <p:cNvSpPr/>
          <p:nvPr/>
        </p:nvSpPr>
        <p:spPr>
          <a:xfrm rot="5400000">
            <a:off x="4741907" y="5030125"/>
            <a:ext cx="460287" cy="1028699"/>
          </a:xfrm>
          <a:prstGeom prst="rightBrace">
            <a:avLst>
              <a:gd name="adj1" fmla="val 0"/>
              <a:gd name="adj2" fmla="val 50000"/>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2" name="TextBox 11"/>
              <p:cNvSpPr txBox="1"/>
              <p:nvPr/>
            </p:nvSpPr>
            <p:spPr>
              <a:xfrm>
                <a:off x="4457700" y="5731835"/>
                <a:ext cx="366202"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2400" b="1" i="1">
                              <a:latin typeface="Cambria Math" panose="02040503050406030204" pitchFamily="18" charset="0"/>
                            </a:rPr>
                          </m:ctrlPr>
                        </m:sSubPr>
                        <m:e>
                          <m:r>
                            <a:rPr lang="en-US" sz="2400" b="1" i="1">
                              <a:latin typeface="Cambria Math" charset="0"/>
                            </a:rPr>
                            <m:t>(</m:t>
                          </m:r>
                          <m:r>
                            <a:rPr lang="en-US" sz="2400" b="1" i="1">
                              <a:latin typeface="Cambria Math" charset="0"/>
                            </a:rPr>
                            <m:t>𝒙</m:t>
                          </m:r>
                        </m:e>
                        <m:sub>
                          <m:r>
                            <a:rPr lang="en-US" sz="2400" b="1" i="1">
                              <a:latin typeface="Cambria Math" charset="0"/>
                            </a:rPr>
                            <m:t>𝟏</m:t>
                          </m:r>
                        </m:sub>
                      </m:sSub>
                      <m:r>
                        <a:rPr lang="en-US" sz="2400" b="1" i="1">
                          <a:latin typeface="Cambria Math" charset="0"/>
                        </a:rPr>
                        <m:t>−</m:t>
                      </m:r>
                      <m:acc>
                        <m:accPr>
                          <m:chr m:val="̅"/>
                          <m:ctrlPr>
                            <a:rPr lang="en-US" sz="2400" b="1" i="1">
                              <a:latin typeface="Cambria Math" panose="02040503050406030204" pitchFamily="18" charset="0"/>
                            </a:rPr>
                          </m:ctrlPr>
                        </m:accPr>
                        <m:e>
                          <m:r>
                            <a:rPr lang="en-US" sz="2400" b="1" i="1">
                              <a:latin typeface="Cambria Math" charset="0"/>
                            </a:rPr>
                            <m:t>𝒙</m:t>
                          </m:r>
                        </m:e>
                      </m:acc>
                      <m:r>
                        <a:rPr lang="en-US" sz="2400" b="1" i="1">
                          <a:latin typeface="Cambria Math" charset="0"/>
                        </a:rPr>
                        <m:t>)</m:t>
                      </m:r>
                    </m:oMath>
                  </m:oMathPara>
                </a14:m>
                <a:endParaRPr lang="en-US" sz="2400" b="1" dirty="0"/>
              </a:p>
            </p:txBody>
          </p:sp>
        </mc:Choice>
        <mc:Fallback xmlns="">
          <p:sp>
            <p:nvSpPr>
              <p:cNvPr id="12" name="TextBox 11"/>
              <p:cNvSpPr txBox="1">
                <a:spLocks noRot="1" noChangeAspect="1" noMove="1" noResize="1" noEditPoints="1" noAdjustHandles="1" noChangeArrowheads="1" noChangeShapeType="1" noTextEdit="1"/>
              </p:cNvSpPr>
              <p:nvPr/>
            </p:nvSpPr>
            <p:spPr>
              <a:xfrm>
                <a:off x="4457700" y="5731835"/>
                <a:ext cx="366202" cy="369332"/>
              </a:xfrm>
              <a:prstGeom prst="rect">
                <a:avLst/>
              </a:prstGeom>
              <a:blipFill>
                <a:blip r:embed="rId6"/>
                <a:stretch>
                  <a:fillRect l="-36667" r="-196667" b="-3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4191001" y="3962400"/>
                <a:ext cx="49237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charset="0"/>
                            </a:rPr>
                            <m:t>𝒙</m:t>
                          </m:r>
                        </m:e>
                        <m:sub>
                          <m:r>
                            <a:rPr lang="en-US" b="1" i="1">
                              <a:latin typeface="Cambria Math" charset="0"/>
                            </a:rPr>
                            <m:t>𝟏</m:t>
                          </m:r>
                        </m:sub>
                      </m:sSub>
                    </m:oMath>
                  </m:oMathPara>
                </a14:m>
                <a:endParaRPr lang="en-US" dirty="0"/>
              </a:p>
            </p:txBody>
          </p:sp>
        </mc:Choice>
        <mc:Fallback xmlns="">
          <p:sp>
            <p:nvSpPr>
              <p:cNvPr id="13" name="Rectangle 12"/>
              <p:cNvSpPr>
                <a:spLocks noRot="1" noChangeAspect="1" noMove="1" noResize="1" noEditPoints="1" noAdjustHandles="1" noChangeArrowheads="1" noChangeShapeType="1" noTextEdit="1"/>
              </p:cNvSpPr>
              <p:nvPr/>
            </p:nvSpPr>
            <p:spPr>
              <a:xfrm>
                <a:off x="4191001" y="3962400"/>
                <a:ext cx="492379" cy="369332"/>
              </a:xfrm>
              <a:prstGeom prst="rect">
                <a:avLst/>
              </a:prstGeom>
              <a:blipFill>
                <a:blip r:embed="rId7"/>
                <a:stretch>
                  <a:fillRect b="-34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p:cNvSpPr/>
              <p:nvPr/>
            </p:nvSpPr>
            <p:spPr>
              <a:xfrm>
                <a:off x="7977044" y="1565277"/>
                <a:ext cx="492379"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charset="0"/>
                            </a:rPr>
                            <m:t>𝒙</m:t>
                          </m:r>
                        </m:e>
                        <m:sub>
                          <m:r>
                            <a:rPr lang="en-US" b="1" i="1">
                              <a:latin typeface="Cambria Math" charset="0"/>
                            </a:rPr>
                            <m:t>𝟓</m:t>
                          </m:r>
                        </m:sub>
                      </m:sSub>
                    </m:oMath>
                  </m:oMathPara>
                </a14:m>
                <a:endParaRPr lang="en-US" dirty="0"/>
              </a:p>
            </p:txBody>
          </p:sp>
        </mc:Choice>
        <mc:Fallback xmlns="">
          <p:sp>
            <p:nvSpPr>
              <p:cNvPr id="14" name="Rectangle 13"/>
              <p:cNvSpPr>
                <a:spLocks noRot="1" noChangeAspect="1" noMove="1" noResize="1" noEditPoints="1" noAdjustHandles="1" noChangeArrowheads="1" noChangeShapeType="1" noTextEdit="1"/>
              </p:cNvSpPr>
              <p:nvPr/>
            </p:nvSpPr>
            <p:spPr>
              <a:xfrm>
                <a:off x="7977044" y="1565277"/>
                <a:ext cx="492379" cy="369332"/>
              </a:xfrm>
              <a:prstGeom prst="rect">
                <a:avLst/>
              </a:prstGeom>
              <a:blipFill>
                <a:blip r:embed="rId8"/>
                <a:stretch>
                  <a:fillRect b="-3333"/>
                </a:stretch>
              </a:blipFill>
            </p:spPr>
            <p:txBody>
              <a:bodyPr/>
              <a:lstStyle/>
              <a:p>
                <a:r>
                  <a:rPr lang="en-US">
                    <a:noFill/>
                  </a:rPr>
                  <a:t> </a:t>
                </a:r>
              </a:p>
            </p:txBody>
          </p:sp>
        </mc:Fallback>
      </mc:AlternateContent>
    </p:spTree>
    <p:extLst>
      <p:ext uri="{BB962C8B-B14F-4D97-AF65-F5344CB8AC3E}">
        <p14:creationId xmlns:p14="http://schemas.microsoft.com/office/powerpoint/2010/main" val="630692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500"/>
                                        <p:tgtEl>
                                          <p:spTgt spid="11"/>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p:bldP spid="11" grpId="0" animBg="1"/>
      <p:bldP spid="12" grpId="0"/>
      <p:bldP spid="13" grpId="0"/>
      <p:bldP spid="1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12192000" cy="715962"/>
          </a:xfrm>
        </p:spPr>
        <p:txBody>
          <a:bodyPr>
            <a:normAutofit fontScale="90000"/>
          </a:bodyPr>
          <a:lstStyle/>
          <a:p>
            <a:r>
              <a:rPr lang="en-US" dirty="0"/>
              <a:t>Definition of Leverage (one explanatory variable)</a:t>
            </a:r>
          </a:p>
        </p:txBody>
      </p:sp>
      <p:pic>
        <p:nvPicPr>
          <p:cNvPr id="2050"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41211"/>
          <a:stretch/>
        </p:blipFill>
        <p:spPr bwMode="auto">
          <a:xfrm>
            <a:off x="1819407" y="1219200"/>
            <a:ext cx="4733794"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3733800"/>
            <a:ext cx="3845322" cy="2919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1819407" y="2667000"/>
            <a:ext cx="4026073" cy="923330"/>
          </a:xfrm>
          <a:prstGeom prst="rect">
            <a:avLst/>
          </a:prstGeom>
          <a:noFill/>
        </p:spPr>
        <p:txBody>
          <a:bodyPr wrap="square" rtlCol="0">
            <a:spAutoFit/>
          </a:bodyPr>
          <a:lstStyle/>
          <a:p>
            <a:pPr algn="ctr"/>
            <a:r>
              <a:rPr lang="en-US" dirty="0"/>
              <a:t>leverage is a function of the distance from X</a:t>
            </a:r>
            <a:r>
              <a:rPr lang="en-US" baseline="-25000" dirty="0"/>
              <a:t>i</a:t>
            </a:r>
            <a:r>
              <a:rPr lang="en-US" dirty="0"/>
              <a:t> to X</a:t>
            </a:r>
            <a:r>
              <a:rPr lang="en-US" baseline="-25000" dirty="0"/>
              <a:t>bar</a:t>
            </a:r>
            <a:r>
              <a:rPr lang="en-US" dirty="0"/>
              <a:t>, in units of standard deviations</a:t>
            </a:r>
          </a:p>
        </p:txBody>
      </p:sp>
      <p:sp>
        <p:nvSpPr>
          <p:cNvPr id="10" name="TextBox 9"/>
          <p:cNvSpPr txBox="1"/>
          <p:nvPr/>
        </p:nvSpPr>
        <p:spPr>
          <a:xfrm>
            <a:off x="6113662" y="2658071"/>
            <a:ext cx="4313211" cy="1200329"/>
          </a:xfrm>
          <a:prstGeom prst="rect">
            <a:avLst/>
          </a:prstGeom>
          <a:noFill/>
        </p:spPr>
        <p:txBody>
          <a:bodyPr wrap="square" rtlCol="0">
            <a:spAutoFit/>
          </a:bodyPr>
          <a:lstStyle/>
          <a:p>
            <a:pPr algn="ctr"/>
            <a:r>
              <a:rPr lang="en-US" dirty="0"/>
              <a:t>leverage is a function of the proportion of the total sum of squares of the </a:t>
            </a:r>
            <a:r>
              <a:rPr lang="en-US" b="1" dirty="0"/>
              <a:t>explanatory variable</a:t>
            </a:r>
            <a:r>
              <a:rPr lang="en-US" dirty="0"/>
              <a:t> contributed by the i</a:t>
            </a:r>
            <a:r>
              <a:rPr lang="en-US" baseline="30000" dirty="0"/>
              <a:t>th</a:t>
            </a:r>
            <a:r>
              <a:rPr lang="en-US" dirty="0"/>
              <a:t> case</a:t>
            </a:r>
          </a:p>
        </p:txBody>
      </p:sp>
      <p:sp>
        <p:nvSpPr>
          <p:cNvPr id="5" name="TextBox 4"/>
          <p:cNvSpPr txBox="1"/>
          <p:nvPr/>
        </p:nvSpPr>
        <p:spPr>
          <a:xfrm>
            <a:off x="2971800" y="6041914"/>
            <a:ext cx="609600" cy="369332"/>
          </a:xfrm>
          <a:prstGeom prst="rect">
            <a:avLst/>
          </a:prstGeom>
          <a:noFill/>
        </p:spPr>
        <p:txBody>
          <a:bodyPr wrap="square" rtlCol="0">
            <a:spAutoFit/>
          </a:bodyPr>
          <a:lstStyle/>
          <a:p>
            <a:r>
              <a:rPr lang="en-US" dirty="0"/>
              <a:t>x</a:t>
            </a:r>
            <a:r>
              <a:rPr lang="en-US" baseline="-25000" dirty="0"/>
              <a:t>bar</a:t>
            </a:r>
          </a:p>
        </p:txBody>
      </p:sp>
      <p:sp>
        <p:nvSpPr>
          <p:cNvPr id="12" name="TextBox 11"/>
          <p:cNvSpPr txBox="1"/>
          <p:nvPr/>
        </p:nvSpPr>
        <p:spPr>
          <a:xfrm>
            <a:off x="5486400" y="6183868"/>
            <a:ext cx="609600" cy="369332"/>
          </a:xfrm>
          <a:prstGeom prst="rect">
            <a:avLst/>
          </a:prstGeom>
          <a:noFill/>
        </p:spPr>
        <p:txBody>
          <a:bodyPr wrap="square" rtlCol="0">
            <a:spAutoFit/>
          </a:bodyPr>
          <a:lstStyle/>
          <a:p>
            <a:r>
              <a:rPr lang="en-US" dirty="0"/>
              <a:t>x</a:t>
            </a:r>
            <a:r>
              <a:rPr lang="en-US" baseline="-25000" dirty="0"/>
              <a:t>i</a:t>
            </a:r>
          </a:p>
        </p:txBody>
      </p:sp>
      <p:pic>
        <p:nvPicPr>
          <p:cNvPr id="205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85084" y="3733800"/>
            <a:ext cx="3770365" cy="28552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a:extLst>
              <a:ext uri="{FF2B5EF4-FFF2-40B4-BE49-F238E27FC236}">
                <a16:creationId xmlns:a16="http://schemas.microsoft.com/office/drawing/2014/main" id="{9718A678-88C0-46F8-9B0C-EFE811FD7AF1}"/>
              </a:ext>
            </a:extLst>
          </p:cNvPr>
          <p:cNvSpPr txBox="1"/>
          <p:nvPr/>
        </p:nvSpPr>
        <p:spPr>
          <a:xfrm>
            <a:off x="6385084" y="6553201"/>
            <a:ext cx="4206717" cy="276999"/>
          </a:xfrm>
          <a:prstGeom prst="rect">
            <a:avLst/>
          </a:prstGeom>
          <a:noFill/>
        </p:spPr>
        <p:txBody>
          <a:bodyPr wrap="square" rtlCol="0">
            <a:spAutoFit/>
          </a:bodyPr>
          <a:lstStyle/>
          <a:p>
            <a:r>
              <a:rPr lang="en-US" sz="1200" dirty="0"/>
              <a:t>*combining all 9 pts into one dataset.</a:t>
            </a:r>
          </a:p>
        </p:txBody>
      </p:sp>
      <p:pic>
        <p:nvPicPr>
          <p:cNvPr id="11" name="Picture 2">
            <a:extLst>
              <a:ext uri="{FF2B5EF4-FFF2-40B4-BE49-F238E27FC236}">
                <a16:creationId xmlns:a16="http://schemas.microsoft.com/office/drawing/2014/main" id="{6D8556AD-BA03-4351-AAE0-D0C625C6F9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939"/>
          <a:stretch/>
        </p:blipFill>
        <p:spPr bwMode="auto">
          <a:xfrm>
            <a:off x="6657365" y="1219200"/>
            <a:ext cx="322580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39688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500"/>
                                        <p:tgtEl>
                                          <p:spTgt spid="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5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053"/>
                                        </p:tgtEl>
                                        <p:attrNameLst>
                                          <p:attrName>style.visibility</p:attrName>
                                        </p:attrNameLst>
                                      </p:cBhvr>
                                      <p:to>
                                        <p:strVal val="visible"/>
                                      </p:to>
                                    </p:set>
                                    <p:animEffect transition="in" filter="fade">
                                      <p:cBhvr>
                                        <p:cTn id="30" dur="500"/>
                                        <p:tgtEl>
                                          <p:spTgt spid="2053"/>
                                        </p:tgtEl>
                                      </p:cBhvr>
                                    </p:animEffect>
                                  </p:childTnLst>
                                </p:cTn>
                              </p:par>
                              <p:par>
                                <p:cTn id="31" presetID="1" presetClass="entr" presetSubtype="0" fill="hold" grpId="0"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5" grpId="0"/>
      <p:bldP spid="12" grpId="0"/>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Studentized Residual</a:t>
            </a:r>
          </a:p>
        </p:txBody>
      </p:sp>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916112"/>
            <a:ext cx="4953000" cy="15890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0960" y="1447801"/>
            <a:ext cx="4158312" cy="542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81200" y="3504724"/>
            <a:ext cx="3845322" cy="2919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5"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42139" y="3474245"/>
            <a:ext cx="3897237" cy="2950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6E70148-1430-448D-9B99-A67EBBF466B8}"/>
                  </a:ext>
                </a:extLst>
              </p:cNvPr>
              <p:cNvSpPr txBox="1"/>
              <p:nvPr/>
            </p:nvSpPr>
            <p:spPr>
              <a:xfrm>
                <a:off x="8458200" y="1447801"/>
                <a:ext cx="1752600" cy="646331"/>
              </a:xfrm>
              <a:prstGeom prst="rect">
                <a:avLst/>
              </a:prstGeom>
              <a:noFill/>
            </p:spPr>
            <p:txBody>
              <a:bodyPr wrap="square" rtlCol="0">
                <a:spAutoFit/>
              </a:bodyPr>
              <a:lstStyle/>
              <a:p>
                <a:r>
                  <a:rPr lang="en-US" dirty="0"/>
                  <a:t>In general, </a:t>
                </a: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0</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h</m:t>
                      </m:r>
                      <m:r>
                        <a:rPr lang="en-US" i="1">
                          <a:latin typeface="Cambria Math" panose="02040503050406030204" pitchFamily="18" charset="0"/>
                          <a:ea typeface="Cambria Math" panose="02040503050406030204" pitchFamily="18" charset="0"/>
                        </a:rPr>
                        <m:t>≤1</m:t>
                      </m:r>
                    </m:oMath>
                  </m:oMathPara>
                </a14:m>
                <a:endParaRPr lang="en-US" dirty="0"/>
              </a:p>
            </p:txBody>
          </p:sp>
        </mc:Choice>
        <mc:Fallback xmlns="">
          <p:sp>
            <p:nvSpPr>
              <p:cNvPr id="3" name="TextBox 2">
                <a:extLst>
                  <a:ext uri="{FF2B5EF4-FFF2-40B4-BE49-F238E27FC236}">
                    <a16:creationId xmlns:a16="http://schemas.microsoft.com/office/drawing/2014/main" id="{36E70148-1430-448D-9B99-A67EBBF466B8}"/>
                  </a:ext>
                </a:extLst>
              </p:cNvPr>
              <p:cNvSpPr txBox="1">
                <a:spLocks noRot="1" noChangeAspect="1" noMove="1" noResize="1" noEditPoints="1" noAdjustHandles="1" noChangeArrowheads="1" noChangeShapeType="1" noTextEdit="1"/>
              </p:cNvSpPr>
              <p:nvPr/>
            </p:nvSpPr>
            <p:spPr>
              <a:xfrm>
                <a:off x="8458200" y="1447801"/>
                <a:ext cx="1752600" cy="646331"/>
              </a:xfrm>
              <a:prstGeom prst="rect">
                <a:avLst/>
              </a:prstGeom>
              <a:blipFill>
                <a:blip r:embed="rId7"/>
                <a:stretch>
                  <a:fillRect l="-2878" t="-384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0602F331-CDD8-4AE0-8363-2CCE3D682474}"/>
              </a:ext>
            </a:extLst>
          </p:cNvPr>
          <p:cNvSpPr txBox="1"/>
          <p:nvPr/>
        </p:nvSpPr>
        <p:spPr>
          <a:xfrm>
            <a:off x="6512510" y="2197588"/>
            <a:ext cx="4158312" cy="1200329"/>
          </a:xfrm>
          <a:prstGeom prst="rect">
            <a:avLst/>
          </a:prstGeom>
          <a:noFill/>
        </p:spPr>
        <p:txBody>
          <a:bodyPr wrap="square" rtlCol="0">
            <a:spAutoFit/>
          </a:bodyPr>
          <a:lstStyle/>
          <a:p>
            <a:r>
              <a:rPr lang="en-US" dirty="0"/>
              <a:t>We “standardized” the normally distributed residual, so only 5% of studres</a:t>
            </a:r>
            <a:r>
              <a:rPr lang="en-US" baseline="-25000" dirty="0"/>
              <a:t>i</a:t>
            </a:r>
            <a:r>
              <a:rPr lang="en-US" dirty="0"/>
              <a:t> should be more extreme than +-2.</a:t>
            </a:r>
          </a:p>
        </p:txBody>
      </p:sp>
    </p:spTree>
    <p:extLst>
      <p:ext uri="{BB962C8B-B14F-4D97-AF65-F5344CB8AC3E}">
        <p14:creationId xmlns:p14="http://schemas.microsoft.com/office/powerpoint/2010/main" val="86737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195"/>
                                        </p:tgtEl>
                                        <p:attrNameLst>
                                          <p:attrName>style.visibility</p:attrName>
                                        </p:attrNameLst>
                                      </p:cBhvr>
                                      <p:to>
                                        <p:strVal val="visible"/>
                                      </p:to>
                                    </p:set>
                                    <p:animEffect transition="in" filter="fade">
                                      <p:cBhvr>
                                        <p:cTn id="12"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a:t>Cook’s Distance (D)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26928" y="838200"/>
            <a:ext cx="4050273" cy="15240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5"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2442" t="27532"/>
          <a:stretch/>
        </p:blipFill>
        <p:spPr bwMode="auto">
          <a:xfrm>
            <a:off x="2340128" y="2780797"/>
            <a:ext cx="6932622" cy="3575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80897" y="3184129"/>
            <a:ext cx="2346960" cy="4527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3287422"/>
            <a:ext cx="6096001" cy="3224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8" name="Picture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11225" y="3820822"/>
            <a:ext cx="3358054" cy="3298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9" name="Picture 7"/>
          <p:cNvPicPr>
            <a:picLocks noChangeAspect="1" noChangeArrowheads="1"/>
          </p:cNvPicPr>
          <p:nvPr/>
        </p:nvPicPr>
        <p:blipFill rotWithShape="1">
          <a:blip r:embed="rId8">
            <a:extLst>
              <a:ext uri="{28A0092B-C50C-407E-A947-70E740481C1C}">
                <a14:useLocalDpi xmlns:a14="http://schemas.microsoft.com/office/drawing/2010/main" val="0"/>
              </a:ext>
            </a:extLst>
          </a:blip>
          <a:srcRect r="85375"/>
          <a:stretch/>
        </p:blipFill>
        <p:spPr bwMode="auto">
          <a:xfrm>
            <a:off x="5637748" y="3776198"/>
            <a:ext cx="1292771"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ture 7"/>
          <p:cNvPicPr>
            <a:picLocks noChangeAspect="1" noChangeArrowheads="1"/>
          </p:cNvPicPr>
          <p:nvPr/>
        </p:nvPicPr>
        <p:blipFill rotWithShape="1">
          <a:blip r:embed="rId8">
            <a:extLst>
              <a:ext uri="{28A0092B-C50C-407E-A947-70E740481C1C}">
                <a14:useLocalDpi xmlns:a14="http://schemas.microsoft.com/office/drawing/2010/main" val="0"/>
              </a:ext>
            </a:extLst>
          </a:blip>
          <a:srcRect l="15041"/>
          <a:stretch/>
        </p:blipFill>
        <p:spPr bwMode="auto">
          <a:xfrm>
            <a:off x="2311226" y="4239921"/>
            <a:ext cx="7509643"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80" name="Picture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6481" y="1915822"/>
            <a:ext cx="1120249" cy="514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5631" y="5105400"/>
            <a:ext cx="4301617" cy="1190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741247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868362"/>
          </a:xfrm>
        </p:spPr>
        <p:txBody>
          <a:bodyPr/>
          <a:lstStyle/>
          <a:p>
            <a:r>
              <a:rPr lang="en-US" dirty="0"/>
              <a:t>Cook’s D!</a:t>
            </a:r>
          </a:p>
        </p:txBody>
      </p:sp>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917" y="3306609"/>
            <a:ext cx="3845322" cy="2919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762" y="3311369"/>
            <a:ext cx="3884882" cy="29405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5550" y="1524000"/>
            <a:ext cx="4301617" cy="1190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extBox 2"/>
          <p:cNvSpPr txBox="1"/>
          <p:nvPr/>
        </p:nvSpPr>
        <p:spPr>
          <a:xfrm>
            <a:off x="3892722" y="750333"/>
            <a:ext cx="4243305" cy="523220"/>
          </a:xfrm>
          <a:prstGeom prst="rect">
            <a:avLst/>
          </a:prstGeom>
          <a:noFill/>
        </p:spPr>
        <p:txBody>
          <a:bodyPr wrap="square" rtlCol="0">
            <a:spAutoFit/>
          </a:bodyPr>
          <a:lstStyle/>
          <a:p>
            <a:pPr algn="ctr"/>
            <a:r>
              <a:rPr lang="en-US" sz="2800" dirty="0"/>
              <a:t>A Blend of Both!!!</a:t>
            </a:r>
          </a:p>
        </p:txBody>
      </p:sp>
      <p:sp>
        <p:nvSpPr>
          <p:cNvPr id="4" name="Left Brace 3"/>
          <p:cNvSpPr/>
          <p:nvPr/>
        </p:nvSpPr>
        <p:spPr>
          <a:xfrm>
            <a:off x="3572610" y="3582834"/>
            <a:ext cx="202070" cy="1598765"/>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5" name="TextBox 4"/>
          <p:cNvSpPr txBox="1"/>
          <p:nvPr/>
        </p:nvSpPr>
        <p:spPr>
          <a:xfrm>
            <a:off x="1967905" y="4373409"/>
            <a:ext cx="1739441" cy="923330"/>
          </a:xfrm>
          <a:prstGeom prst="rect">
            <a:avLst/>
          </a:prstGeom>
          <a:noFill/>
        </p:spPr>
        <p:txBody>
          <a:bodyPr wrap="square" rtlCol="0">
            <a:spAutoFit/>
          </a:bodyPr>
          <a:lstStyle/>
          <a:p>
            <a:pPr algn="r"/>
            <a:r>
              <a:rPr lang="en-US" dirty="0"/>
              <a:t>Residual* </a:t>
            </a:r>
          </a:p>
          <a:p>
            <a:pPr algn="ctr"/>
            <a:r>
              <a:rPr lang="en-US" sz="1200" dirty="0"/>
              <a:t>*recall this is </a:t>
            </a:r>
            <a:r>
              <a:rPr lang="en-US" sz="1200" dirty="0" err="1"/>
              <a:t>wrt</a:t>
            </a:r>
            <a:r>
              <a:rPr lang="en-US" sz="1200" dirty="0"/>
              <a:t> reg line without the observation</a:t>
            </a:r>
            <a:endParaRPr lang="en-US" sz="1600" dirty="0"/>
          </a:p>
        </p:txBody>
      </p:sp>
      <p:sp>
        <p:nvSpPr>
          <p:cNvPr id="9" name="Left Brace 8"/>
          <p:cNvSpPr/>
          <p:nvPr/>
        </p:nvSpPr>
        <p:spPr>
          <a:xfrm rot="16200000">
            <a:off x="2314942" y="4691634"/>
            <a:ext cx="372728" cy="2648422"/>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0" name="TextBox 9"/>
          <p:cNvSpPr txBox="1"/>
          <p:nvPr/>
        </p:nvSpPr>
        <p:spPr>
          <a:xfrm>
            <a:off x="1967906" y="6237873"/>
            <a:ext cx="1066800" cy="369332"/>
          </a:xfrm>
          <a:prstGeom prst="rect">
            <a:avLst/>
          </a:prstGeom>
          <a:noFill/>
        </p:spPr>
        <p:txBody>
          <a:bodyPr wrap="square" rtlCol="0">
            <a:spAutoFit/>
          </a:bodyPr>
          <a:lstStyle/>
          <a:p>
            <a:r>
              <a:rPr lang="en-US" dirty="0"/>
              <a:t>leverage</a:t>
            </a:r>
          </a:p>
        </p:txBody>
      </p:sp>
      <p:sp>
        <p:nvSpPr>
          <p:cNvPr id="6" name="TextBox 5">
            <a:extLst>
              <a:ext uri="{FF2B5EF4-FFF2-40B4-BE49-F238E27FC236}">
                <a16:creationId xmlns:a16="http://schemas.microsoft.com/office/drawing/2014/main" id="{D64ED12B-789E-4B20-8D81-5C4F3BBA6E51}"/>
              </a:ext>
            </a:extLst>
          </p:cNvPr>
          <p:cNvSpPr txBox="1"/>
          <p:nvPr/>
        </p:nvSpPr>
        <p:spPr>
          <a:xfrm>
            <a:off x="8305800" y="1554162"/>
            <a:ext cx="1905000" cy="1200329"/>
          </a:xfrm>
          <a:prstGeom prst="rect">
            <a:avLst/>
          </a:prstGeom>
          <a:noFill/>
        </p:spPr>
        <p:txBody>
          <a:bodyPr wrap="square" rtlCol="0">
            <a:spAutoFit/>
          </a:bodyPr>
          <a:lstStyle/>
          <a:p>
            <a:r>
              <a:rPr lang="en-US" dirty="0"/>
              <a:t>D &gt; 1 or D &gt; 4/n have more evidence of being influential.</a:t>
            </a:r>
          </a:p>
        </p:txBody>
      </p:sp>
      <p:pic>
        <p:nvPicPr>
          <p:cNvPr id="12" name="Picture 3">
            <a:extLst>
              <a:ext uri="{FF2B5EF4-FFF2-40B4-BE49-F238E27FC236}">
                <a16:creationId xmlns:a16="http://schemas.microsoft.com/office/drawing/2014/main" id="{02BA5289-01C2-EA40-87FD-FBD8B78EA14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8790" y="3306609"/>
            <a:ext cx="3897237" cy="295007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3" name="Left Brace 12">
            <a:extLst>
              <a:ext uri="{FF2B5EF4-FFF2-40B4-BE49-F238E27FC236}">
                <a16:creationId xmlns:a16="http://schemas.microsoft.com/office/drawing/2014/main" id="{BD008DF6-3A39-5942-BD4E-D8F9690E6391}"/>
              </a:ext>
            </a:extLst>
          </p:cNvPr>
          <p:cNvSpPr/>
          <p:nvPr/>
        </p:nvSpPr>
        <p:spPr>
          <a:xfrm>
            <a:off x="7620001" y="3582834"/>
            <a:ext cx="228600" cy="1293965"/>
          </a:xfrm>
          <a:prstGeom prst="lef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6D266827-B4E2-004B-8D12-AE711402E2BF}"/>
              </a:ext>
            </a:extLst>
          </p:cNvPr>
          <p:cNvSpPr txBox="1"/>
          <p:nvPr/>
        </p:nvSpPr>
        <p:spPr>
          <a:xfrm>
            <a:off x="5445924" y="3733800"/>
            <a:ext cx="2402677" cy="369332"/>
          </a:xfrm>
          <a:prstGeom prst="rect">
            <a:avLst/>
          </a:prstGeom>
          <a:noFill/>
        </p:spPr>
        <p:txBody>
          <a:bodyPr wrap="square" rtlCol="0">
            <a:spAutoFit/>
          </a:bodyPr>
          <a:lstStyle/>
          <a:p>
            <a:r>
              <a:rPr lang="en-US" dirty="0"/>
              <a:t>Studentized residual</a:t>
            </a:r>
          </a:p>
        </p:txBody>
      </p:sp>
    </p:spTree>
    <p:extLst>
      <p:ext uri="{BB962C8B-B14F-4D97-AF65-F5344CB8AC3E}">
        <p14:creationId xmlns:p14="http://schemas.microsoft.com/office/powerpoint/2010/main" val="2454033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500"/>
                                        <p:tgtEl>
                                          <p:spTgt spid="14"/>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500"/>
                                        <p:tgtEl>
                                          <p:spTgt spid="13"/>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9218"/>
                                        </p:tgtEl>
                                        <p:attrNameLst>
                                          <p:attrName>style.visibility</p:attrName>
                                        </p:attrNameLst>
                                      </p:cBhvr>
                                      <p:to>
                                        <p:strVal val="visible"/>
                                      </p:to>
                                    </p:set>
                                    <p:animEffect transition="in" filter="fade">
                                      <p:cBhvr>
                                        <p:cTn id="36"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9" grpId="0" animBg="1"/>
      <p:bldP spid="10" grpId="0"/>
      <p:bldP spid="13" grpId="0" animBg="1"/>
      <p:bldP spid="1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D452-E559-51B7-2386-BC748C8DA7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45ADD3-C5E0-420B-FA3C-D9869E4665B6}"/>
              </a:ext>
            </a:extLst>
          </p:cNvPr>
          <p:cNvSpPr>
            <a:spLocks noGrp="1"/>
          </p:cNvSpPr>
          <p:nvPr>
            <p:ph type="title"/>
          </p:nvPr>
        </p:nvSpPr>
        <p:spPr>
          <a:xfrm>
            <a:off x="609600" y="2857500"/>
            <a:ext cx="10972800" cy="1143000"/>
          </a:xfrm>
        </p:spPr>
        <p:txBody>
          <a:bodyPr/>
          <a:lstStyle/>
          <a:p>
            <a:r>
              <a:rPr lang="en-US" dirty="0"/>
              <a:t>Break Out</a:t>
            </a:r>
          </a:p>
        </p:txBody>
      </p:sp>
    </p:spTree>
    <p:extLst>
      <p:ext uri="{BB962C8B-B14F-4D97-AF65-F5344CB8AC3E}">
        <p14:creationId xmlns:p14="http://schemas.microsoft.com/office/powerpoint/2010/main" val="7544468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2F2AA43-12F8-489A-8885-B1FFC7D0FFE9}"/>
              </a:ext>
            </a:extLst>
          </p:cNvPr>
          <p:cNvPicPr>
            <a:picLocks noChangeAspect="1"/>
          </p:cNvPicPr>
          <p:nvPr/>
        </p:nvPicPr>
        <p:blipFill>
          <a:blip r:embed="rId3"/>
          <a:stretch>
            <a:fillRect/>
          </a:stretch>
        </p:blipFill>
        <p:spPr>
          <a:xfrm>
            <a:off x="76200" y="838200"/>
            <a:ext cx="11887200" cy="901700"/>
          </a:xfrm>
          <a:prstGeom prst="rect">
            <a:avLst/>
          </a:prstGeom>
        </p:spPr>
      </p:pic>
      <p:pic>
        <p:nvPicPr>
          <p:cNvPr id="1027" name="Picture 3"/>
          <p:cNvPicPr>
            <a:picLocks noChangeAspect="1" noChangeArrowheads="1"/>
          </p:cNvPicPr>
          <p:nvPr/>
        </p:nvPicPr>
        <p:blipFill rotWithShape="1">
          <a:blip r:embed="rId4">
            <a:extLst>
              <a:ext uri="{28A0092B-C50C-407E-A947-70E740481C1C}">
                <a14:useLocalDpi xmlns:a14="http://schemas.microsoft.com/office/drawing/2010/main" val="0"/>
              </a:ext>
            </a:extLst>
          </a:blip>
          <a:srcRect l="-1" r="70227" b="71855"/>
          <a:stretch/>
        </p:blipFill>
        <p:spPr bwMode="auto">
          <a:xfrm>
            <a:off x="228600" y="1947519"/>
            <a:ext cx="3866423" cy="30943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a:extLst>
              <a:ext uri="{FF2B5EF4-FFF2-40B4-BE49-F238E27FC236}">
                <a16:creationId xmlns:a16="http://schemas.microsoft.com/office/drawing/2014/main" id="{C33011BA-942E-535E-C8A2-38AE1C7F75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9773" r="40453" b="71854"/>
          <a:stretch/>
        </p:blipFill>
        <p:spPr bwMode="auto">
          <a:xfrm>
            <a:off x="4184327" y="1967398"/>
            <a:ext cx="3866420" cy="30943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C0D7B6C5-5EB4-891D-942B-ABED4ED80D7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9547" t="1" r="8473" b="71854"/>
          <a:stretch/>
        </p:blipFill>
        <p:spPr bwMode="auto">
          <a:xfrm>
            <a:off x="8007674" y="1947519"/>
            <a:ext cx="4109841" cy="3062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295400" y="122961"/>
            <a:ext cx="9144000" cy="1730688"/>
          </a:xfrm>
        </p:spPr>
        <p:txBody>
          <a:bodyPr>
            <a:normAutofit/>
          </a:bodyPr>
          <a:lstStyle/>
          <a:p>
            <a:r>
              <a:rPr lang="en-US" sz="3600" dirty="0"/>
              <a:t>Identify the dark dot as having high or low: leverage, residual and Cook’s D. </a:t>
            </a:r>
          </a:p>
        </p:txBody>
      </p:sp>
    </p:spTree>
    <p:extLst>
      <p:ext uri="{BB962C8B-B14F-4D97-AF65-F5344CB8AC3E}">
        <p14:creationId xmlns:p14="http://schemas.microsoft.com/office/powerpoint/2010/main" val="2222397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281C2-8C98-4C13-6B05-4E843505B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0DF17-5C39-B6AD-DA8D-79BEE5511C78}"/>
              </a:ext>
            </a:extLst>
          </p:cNvPr>
          <p:cNvSpPr>
            <a:spLocks noGrp="1"/>
          </p:cNvSpPr>
          <p:nvPr>
            <p:ph type="title"/>
          </p:nvPr>
        </p:nvSpPr>
        <p:spPr>
          <a:xfrm>
            <a:off x="1524000" y="122238"/>
            <a:ext cx="9144000" cy="715962"/>
          </a:xfrm>
        </p:spPr>
        <p:txBody>
          <a:bodyPr>
            <a:normAutofit fontScale="90000"/>
          </a:bodyPr>
          <a:lstStyle/>
          <a:p>
            <a:r>
              <a:rPr lang="en-US" sz="3600" dirty="0"/>
              <a:t>Studentized Residuals, Leverage and Cook’s D!</a:t>
            </a:r>
          </a:p>
        </p:txBody>
      </p:sp>
      <p:pic>
        <p:nvPicPr>
          <p:cNvPr id="1027" name="Picture 3">
            <a:extLst>
              <a:ext uri="{FF2B5EF4-FFF2-40B4-BE49-F238E27FC236}">
                <a16:creationId xmlns:a16="http://schemas.microsoft.com/office/drawing/2014/main" id="{DDBEE010-45B7-9603-3631-C62D946A150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 r="70227"/>
          <a:stretch/>
        </p:blipFill>
        <p:spPr bwMode="auto">
          <a:xfrm>
            <a:off x="1600200" y="855345"/>
            <a:ext cx="2057400" cy="5850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 name="Picture 3">
            <a:extLst>
              <a:ext uri="{FF2B5EF4-FFF2-40B4-BE49-F238E27FC236}">
                <a16:creationId xmlns:a16="http://schemas.microsoft.com/office/drawing/2014/main" id="{D274A0A1-7EED-50E8-352F-F95F9D786C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9774" r="39350"/>
          <a:stretch/>
        </p:blipFill>
        <p:spPr bwMode="auto">
          <a:xfrm>
            <a:off x="4776583" y="855345"/>
            <a:ext cx="2133600" cy="5850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709EAF69-6D50-FF61-BD15-2204DF18F4F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9547" r="8473"/>
          <a:stretch/>
        </p:blipFill>
        <p:spPr bwMode="auto">
          <a:xfrm>
            <a:off x="8110334" y="827184"/>
            <a:ext cx="2209800" cy="585025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31055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0" y="274638"/>
            <a:ext cx="5638800" cy="1143000"/>
          </a:xfrm>
        </p:spPr>
        <p:txBody>
          <a:bodyPr/>
          <a:lstStyle/>
          <a:p>
            <a:r>
              <a:rPr lang="en-US" dirty="0"/>
              <a:t>PROC REG or GLM</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0325" y="2152650"/>
            <a:ext cx="4497086" cy="4552950"/>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pic>
        <p:nvPicPr>
          <p:cNvPr id="5"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73732" y="4413496"/>
            <a:ext cx="3007869" cy="228375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rotWithShape="1">
          <a:blip r:embed="rId5">
            <a:extLst>
              <a:ext uri="{28A0092B-C50C-407E-A947-70E740481C1C}">
                <a14:useLocalDpi xmlns:a14="http://schemas.microsoft.com/office/drawing/2010/main" val="0"/>
              </a:ext>
            </a:extLst>
          </a:blip>
          <a:srcRect t="28903"/>
          <a:stretch/>
        </p:blipFill>
        <p:spPr bwMode="auto">
          <a:xfrm>
            <a:off x="1549400" y="274639"/>
            <a:ext cx="2260600" cy="20109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7" name="Straight Arrow Connector 6"/>
          <p:cNvCxnSpPr/>
          <p:nvPr/>
        </p:nvCxnSpPr>
        <p:spPr>
          <a:xfrm flipH="1">
            <a:off x="3352800" y="2057400"/>
            <a:ext cx="5334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D47E28AA-7111-4FAB-8070-2BC907BF7A53}"/>
              </a:ext>
            </a:extLst>
          </p:cNvPr>
          <p:cNvPicPr>
            <a:picLocks noChangeAspect="1"/>
          </p:cNvPicPr>
          <p:nvPr/>
        </p:nvPicPr>
        <p:blipFill>
          <a:blip r:embed="rId6"/>
          <a:stretch>
            <a:fillRect/>
          </a:stretch>
        </p:blipFill>
        <p:spPr>
          <a:xfrm>
            <a:off x="2168089" y="2285637"/>
            <a:ext cx="2695575" cy="2057400"/>
          </a:xfrm>
          <a:prstGeom prst="rect">
            <a:avLst/>
          </a:prstGeom>
        </p:spPr>
      </p:pic>
    </p:spTree>
    <p:extLst>
      <p:ext uri="{BB962C8B-B14F-4D97-AF65-F5344CB8AC3E}">
        <p14:creationId xmlns:p14="http://schemas.microsoft.com/office/powerpoint/2010/main" val="3012044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14800" y="232295"/>
            <a:ext cx="6400800" cy="1143000"/>
          </a:xfrm>
        </p:spPr>
        <p:txBody>
          <a:bodyPr/>
          <a:lstStyle/>
          <a:p>
            <a:r>
              <a:rPr lang="en-US" dirty="0"/>
              <a:t>Proc Reg or GLM</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962400"/>
            <a:ext cx="3429000" cy="26020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285" y="1578670"/>
            <a:ext cx="4458249" cy="4471988"/>
          </a:xfrm>
          <a:prstGeom prst="rect">
            <a:avLst/>
          </a:prstGeom>
          <a:noFill/>
          <a:ln w="28575">
            <a:solidFill>
              <a:srgbClr val="FF0000"/>
            </a:solidFill>
            <a:miter lim="800000"/>
            <a:headEnd/>
            <a:tailEnd/>
          </a:ln>
          <a:extLst>
            <a:ext uri="{909E8E84-426E-40DD-AFC4-6F175D3DCCD1}">
              <a14:hiddenFill xmlns:a14="http://schemas.microsoft.com/office/drawing/2010/main">
                <a:solidFill>
                  <a:schemeClr val="accent1"/>
                </a:solidFill>
              </a14:hiddenFill>
            </a:ext>
          </a:extLst>
        </p:spPr>
      </p:pic>
      <p:cxnSp>
        <p:nvCxnSpPr>
          <p:cNvPr id="5" name="Straight Arrow Connector 4"/>
          <p:cNvCxnSpPr/>
          <p:nvPr/>
        </p:nvCxnSpPr>
        <p:spPr>
          <a:xfrm flipH="1" flipV="1">
            <a:off x="4305300" y="4267200"/>
            <a:ext cx="190500" cy="452536"/>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H="1" flipV="1">
            <a:off x="5321300" y="6191822"/>
            <a:ext cx="473984" cy="372614"/>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11271"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9524" y="212673"/>
            <a:ext cx="1672876" cy="20571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5" name="Straight Arrow Connector 14"/>
          <p:cNvCxnSpPr/>
          <p:nvPr/>
        </p:nvCxnSpPr>
        <p:spPr>
          <a:xfrm flipH="1">
            <a:off x="3429000" y="1981200"/>
            <a:ext cx="533400"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DB9FE6A8-58CF-4D72-845C-51B97F457205}"/>
              </a:ext>
            </a:extLst>
          </p:cNvPr>
          <p:cNvPicPr>
            <a:picLocks noChangeAspect="1"/>
          </p:cNvPicPr>
          <p:nvPr/>
        </p:nvPicPr>
        <p:blipFill>
          <a:blip r:embed="rId6"/>
          <a:stretch>
            <a:fillRect/>
          </a:stretch>
        </p:blipFill>
        <p:spPr>
          <a:xfrm>
            <a:off x="2286000" y="2343150"/>
            <a:ext cx="2819400" cy="1545248"/>
          </a:xfrm>
          <a:prstGeom prst="rect">
            <a:avLst/>
          </a:prstGeom>
        </p:spPr>
      </p:pic>
    </p:spTree>
    <p:extLst>
      <p:ext uri="{BB962C8B-B14F-4D97-AF65-F5344CB8AC3E}">
        <p14:creationId xmlns:p14="http://schemas.microsoft.com/office/powerpoint/2010/main" val="35682063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076F7-3341-4D69-094B-ABB733FA8CC5}"/>
              </a:ext>
            </a:extLst>
          </p:cNvPr>
          <p:cNvSpPr>
            <a:spLocks noGrp="1"/>
          </p:cNvSpPr>
          <p:nvPr>
            <p:ph type="title"/>
          </p:nvPr>
        </p:nvSpPr>
        <p:spPr/>
        <p:txBody>
          <a:bodyPr/>
          <a:lstStyle/>
          <a:p>
            <a:r>
              <a:rPr lang="en-US" dirty="0"/>
              <a:t>Break Out</a:t>
            </a:r>
          </a:p>
        </p:txBody>
      </p:sp>
      <p:sp>
        <p:nvSpPr>
          <p:cNvPr id="3" name="Content Placeholder 2">
            <a:extLst>
              <a:ext uri="{FF2B5EF4-FFF2-40B4-BE49-F238E27FC236}">
                <a16:creationId xmlns:a16="http://schemas.microsoft.com/office/drawing/2014/main" id="{A01562EA-270A-A390-84E6-B7D04B30225F}"/>
              </a:ext>
            </a:extLst>
          </p:cNvPr>
          <p:cNvSpPr>
            <a:spLocks noGrp="1"/>
          </p:cNvSpPr>
          <p:nvPr>
            <p:ph idx="1"/>
          </p:nvPr>
        </p:nvSpPr>
        <p:spPr>
          <a:xfrm>
            <a:off x="419100" y="2857500"/>
            <a:ext cx="11353800" cy="1143000"/>
          </a:xfrm>
        </p:spPr>
        <p:txBody>
          <a:bodyPr/>
          <a:lstStyle/>
          <a:p>
            <a:pPr marL="0" indent="0">
              <a:buNone/>
            </a:pPr>
            <a:r>
              <a:rPr lang="en-US" dirty="0"/>
              <a:t>Identify the observation numbers of the significantly influential points with respect to Cook’s Distance.  Do they have relatively high leverage and / or Studentized Residual?</a:t>
            </a:r>
          </a:p>
        </p:txBody>
      </p:sp>
    </p:spTree>
    <p:extLst>
      <p:ext uri="{BB962C8B-B14F-4D97-AF65-F5344CB8AC3E}">
        <p14:creationId xmlns:p14="http://schemas.microsoft.com/office/powerpoint/2010/main" val="537659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603192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3CB44-D49E-8B46-A0E0-78F6306384A6}"/>
              </a:ext>
            </a:extLst>
          </p:cNvPr>
          <p:cNvSpPr>
            <a:spLocks noGrp="1"/>
          </p:cNvSpPr>
          <p:nvPr>
            <p:ph type="title"/>
          </p:nvPr>
        </p:nvSpPr>
        <p:spPr>
          <a:xfrm>
            <a:off x="838200" y="2466300"/>
            <a:ext cx="10515600" cy="1325563"/>
          </a:xfrm>
        </p:spPr>
        <p:txBody>
          <a:bodyPr/>
          <a:lstStyle/>
          <a:p>
            <a:pPr algn="ctr"/>
            <a:r>
              <a:rPr lang="en-US" dirty="0"/>
              <a:t>End Quick Quiz Questions</a:t>
            </a:r>
          </a:p>
        </p:txBody>
      </p:sp>
    </p:spTree>
    <p:extLst>
      <p:ext uri="{BB962C8B-B14F-4D97-AF65-F5344CB8AC3E}">
        <p14:creationId xmlns:p14="http://schemas.microsoft.com/office/powerpoint/2010/main" val="3555972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C6C6-D775-7645-B44D-FE92585B2481}"/>
              </a:ext>
            </a:extLst>
          </p:cNvPr>
          <p:cNvSpPr>
            <a:spLocks noGrp="1"/>
          </p:cNvSpPr>
          <p:nvPr>
            <p:ph type="title"/>
          </p:nvPr>
        </p:nvSpPr>
        <p:spPr>
          <a:xfrm>
            <a:off x="609600" y="2514600"/>
            <a:ext cx="10972800" cy="1143000"/>
          </a:xfrm>
        </p:spPr>
        <p:txBody>
          <a:bodyPr/>
          <a:lstStyle/>
          <a:p>
            <a:r>
              <a:rPr lang="en-US" dirty="0"/>
              <a:t>Question 1</a:t>
            </a:r>
          </a:p>
        </p:txBody>
      </p:sp>
    </p:spTree>
    <p:extLst>
      <p:ext uri="{BB962C8B-B14F-4D97-AF65-F5344CB8AC3E}">
        <p14:creationId xmlns:p14="http://schemas.microsoft.com/office/powerpoint/2010/main" val="26509014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048A-8848-AAA0-80A7-5E47C12AB2E4}"/>
              </a:ext>
            </a:extLst>
          </p:cNvPr>
          <p:cNvSpPr>
            <a:spLocks noGrp="1"/>
          </p:cNvSpPr>
          <p:nvPr>
            <p:ph type="title"/>
          </p:nvPr>
        </p:nvSpPr>
        <p:spPr>
          <a:xfrm>
            <a:off x="609600" y="2857500"/>
            <a:ext cx="10972800" cy="1143000"/>
          </a:xfrm>
        </p:spPr>
        <p:txBody>
          <a:bodyPr/>
          <a:lstStyle/>
          <a:p>
            <a:r>
              <a:rPr lang="en-US" dirty="0"/>
              <a:t>Chalk Talk</a:t>
            </a:r>
          </a:p>
        </p:txBody>
      </p:sp>
    </p:spTree>
    <p:extLst>
      <p:ext uri="{BB962C8B-B14F-4D97-AF65-F5344CB8AC3E}">
        <p14:creationId xmlns:p14="http://schemas.microsoft.com/office/powerpoint/2010/main" val="27758052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6048A-8848-AAA0-80A7-5E47C12AB2E4}"/>
              </a:ext>
            </a:extLst>
          </p:cNvPr>
          <p:cNvSpPr>
            <a:spLocks noGrp="1"/>
          </p:cNvSpPr>
          <p:nvPr>
            <p:ph type="title"/>
          </p:nvPr>
        </p:nvSpPr>
        <p:spPr>
          <a:xfrm>
            <a:off x="609600" y="2857500"/>
            <a:ext cx="10972800" cy="1143000"/>
          </a:xfrm>
        </p:spPr>
        <p:txBody>
          <a:bodyPr/>
          <a:lstStyle/>
          <a:p>
            <a:r>
              <a:rPr lang="en-US" dirty="0"/>
              <a:t>Break Out</a:t>
            </a:r>
          </a:p>
        </p:txBody>
      </p:sp>
    </p:spTree>
    <p:extLst>
      <p:ext uri="{BB962C8B-B14F-4D97-AF65-F5344CB8AC3E}">
        <p14:creationId xmlns:p14="http://schemas.microsoft.com/office/powerpoint/2010/main" val="27759794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6EC383-5AA6-C6AA-30F8-0A656C5B3971}"/>
              </a:ext>
            </a:extLst>
          </p:cNvPr>
          <p:cNvPicPr>
            <a:picLocks noChangeAspect="1"/>
          </p:cNvPicPr>
          <p:nvPr/>
        </p:nvPicPr>
        <p:blipFill>
          <a:blip r:embed="rId2"/>
          <a:stretch>
            <a:fillRect/>
          </a:stretch>
        </p:blipFill>
        <p:spPr>
          <a:xfrm>
            <a:off x="1268680" y="1371600"/>
            <a:ext cx="9654639" cy="510144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0ACEE88-00E5-42E7-638E-7F1434094491}"/>
                  </a:ext>
                </a:extLst>
              </p:cNvPr>
              <p:cNvSpPr txBox="1"/>
              <p:nvPr/>
            </p:nvSpPr>
            <p:spPr>
              <a:xfrm>
                <a:off x="2899579" y="457200"/>
                <a:ext cx="639284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𝐶𝑜𝑟𝑡𝑖𝑠</m:t>
                      </m:r>
                      <m:r>
                        <a:rPr lang="en-US" sz="3200" b="0" i="1" smtClean="0">
                          <a:latin typeface="Cambria Math" panose="02040503050406030204" pitchFamily="18" charset="0"/>
                        </a:rPr>
                        <m:t>𝑜𝑙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𝐴𝑔𝑒</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𝑊𝑒𝑖𝑔h𝑡</m:t>
                      </m:r>
                    </m:oMath>
                  </m:oMathPara>
                </a14:m>
                <a:endParaRPr lang="en-US" sz="3200" dirty="0"/>
              </a:p>
            </p:txBody>
          </p:sp>
        </mc:Choice>
        <mc:Fallback>
          <p:sp>
            <p:nvSpPr>
              <p:cNvPr id="2" name="TextBox 1">
                <a:extLst>
                  <a:ext uri="{FF2B5EF4-FFF2-40B4-BE49-F238E27FC236}">
                    <a16:creationId xmlns:a16="http://schemas.microsoft.com/office/drawing/2014/main" id="{A0ACEE88-00E5-42E7-638E-7F1434094491}"/>
                  </a:ext>
                </a:extLst>
              </p:cNvPr>
              <p:cNvSpPr txBox="1">
                <a:spLocks noRot="1" noChangeAspect="1" noMove="1" noResize="1" noEditPoints="1" noAdjustHandles="1" noChangeArrowheads="1" noChangeShapeType="1" noTextEdit="1"/>
              </p:cNvSpPr>
              <p:nvPr/>
            </p:nvSpPr>
            <p:spPr>
              <a:xfrm>
                <a:off x="2899579" y="457200"/>
                <a:ext cx="6392840" cy="492443"/>
              </a:xfrm>
              <a:prstGeom prst="rect">
                <a:avLst/>
              </a:prstGeom>
              <a:blipFill>
                <a:blip r:embed="rId3"/>
                <a:stretch>
                  <a:fillRect l="-1389" r="-1984" b="-35897"/>
                </a:stretch>
              </a:blipFill>
            </p:spPr>
            <p:txBody>
              <a:bodyPr/>
              <a:lstStyle/>
              <a:p>
                <a:r>
                  <a:rPr lang="en-US">
                    <a:noFill/>
                  </a:rPr>
                  <a:t> </a:t>
                </a:r>
              </a:p>
            </p:txBody>
          </p:sp>
        </mc:Fallback>
      </mc:AlternateContent>
      <p:pic>
        <p:nvPicPr>
          <p:cNvPr id="8" name="Picture 7">
            <a:extLst>
              <a:ext uri="{FF2B5EF4-FFF2-40B4-BE49-F238E27FC236}">
                <a16:creationId xmlns:a16="http://schemas.microsoft.com/office/drawing/2014/main" id="{0F016938-6854-AA61-7620-9EC0F884AD37}"/>
              </a:ext>
            </a:extLst>
          </p:cNvPr>
          <p:cNvPicPr>
            <a:picLocks noChangeAspect="1"/>
          </p:cNvPicPr>
          <p:nvPr/>
        </p:nvPicPr>
        <p:blipFill rotWithShape="1">
          <a:blip r:embed="rId4"/>
          <a:srcRect t="24624" r="15385"/>
          <a:stretch/>
        </p:blipFill>
        <p:spPr>
          <a:xfrm>
            <a:off x="7960711" y="3581400"/>
            <a:ext cx="207577" cy="177800"/>
          </a:xfrm>
          <a:prstGeom prst="rect">
            <a:avLst/>
          </a:prstGeom>
        </p:spPr>
      </p:pic>
    </p:spTree>
    <p:extLst>
      <p:ext uri="{BB962C8B-B14F-4D97-AF65-F5344CB8AC3E}">
        <p14:creationId xmlns:p14="http://schemas.microsoft.com/office/powerpoint/2010/main" val="34768203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F6EC383-5AA6-C6AA-30F8-0A656C5B3971}"/>
              </a:ext>
            </a:extLst>
          </p:cNvPr>
          <p:cNvPicPr>
            <a:picLocks noChangeAspect="1"/>
          </p:cNvPicPr>
          <p:nvPr/>
        </p:nvPicPr>
        <p:blipFill>
          <a:blip r:embed="rId2"/>
          <a:stretch>
            <a:fillRect/>
          </a:stretch>
        </p:blipFill>
        <p:spPr>
          <a:xfrm>
            <a:off x="1268680" y="1371600"/>
            <a:ext cx="9654639" cy="5101440"/>
          </a:xfrm>
          <a:prstGeom prst="rect">
            <a:avLst/>
          </a:prstGeom>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A0ACEE88-00E5-42E7-638E-7F1434094491}"/>
                  </a:ext>
                </a:extLst>
              </p:cNvPr>
              <p:cNvSpPr txBox="1"/>
              <p:nvPr/>
            </p:nvSpPr>
            <p:spPr>
              <a:xfrm>
                <a:off x="2899579" y="457200"/>
                <a:ext cx="6392840"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𝐶𝑜𝑟𝑡𝑖𝑠</m:t>
                      </m:r>
                      <m:r>
                        <a:rPr lang="en-US" sz="3200" b="0" i="1" smtClean="0">
                          <a:latin typeface="Cambria Math" panose="02040503050406030204" pitchFamily="18" charset="0"/>
                        </a:rPr>
                        <m:t>𝑜𝑙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0</m:t>
                          </m:r>
                        </m:sub>
                      </m:sSub>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1</m:t>
                          </m:r>
                        </m:sub>
                      </m:sSub>
                      <m:r>
                        <a:rPr lang="en-US" sz="3200" b="0" i="1" smtClean="0">
                          <a:latin typeface="Cambria Math" panose="02040503050406030204" pitchFamily="18" charset="0"/>
                        </a:rPr>
                        <m:t>𝐴𝑔𝑒</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𝛽</m:t>
                          </m:r>
                        </m:e>
                        <m:sub>
                          <m:r>
                            <a:rPr lang="en-US" sz="3200" b="0" i="1" smtClean="0">
                              <a:latin typeface="Cambria Math" panose="02040503050406030204" pitchFamily="18" charset="0"/>
                            </a:rPr>
                            <m:t>2</m:t>
                          </m:r>
                        </m:sub>
                      </m:sSub>
                      <m:r>
                        <a:rPr lang="en-US" sz="3200" b="0" i="1" smtClean="0">
                          <a:latin typeface="Cambria Math" panose="02040503050406030204" pitchFamily="18" charset="0"/>
                        </a:rPr>
                        <m:t>𝑊𝑒𝑖𝑔h𝑡</m:t>
                      </m:r>
                    </m:oMath>
                  </m:oMathPara>
                </a14:m>
                <a:endParaRPr lang="en-US" sz="3200" dirty="0"/>
              </a:p>
            </p:txBody>
          </p:sp>
        </mc:Choice>
        <mc:Fallback>
          <p:sp>
            <p:nvSpPr>
              <p:cNvPr id="2" name="TextBox 1">
                <a:extLst>
                  <a:ext uri="{FF2B5EF4-FFF2-40B4-BE49-F238E27FC236}">
                    <a16:creationId xmlns:a16="http://schemas.microsoft.com/office/drawing/2014/main" id="{A0ACEE88-00E5-42E7-638E-7F1434094491}"/>
                  </a:ext>
                </a:extLst>
              </p:cNvPr>
              <p:cNvSpPr txBox="1">
                <a:spLocks noRot="1" noChangeAspect="1" noMove="1" noResize="1" noEditPoints="1" noAdjustHandles="1" noChangeArrowheads="1" noChangeShapeType="1" noTextEdit="1"/>
              </p:cNvSpPr>
              <p:nvPr/>
            </p:nvSpPr>
            <p:spPr>
              <a:xfrm>
                <a:off x="2899579" y="457200"/>
                <a:ext cx="6392840" cy="492443"/>
              </a:xfrm>
              <a:prstGeom prst="rect">
                <a:avLst/>
              </a:prstGeom>
              <a:blipFill>
                <a:blip r:embed="rId3"/>
                <a:stretch>
                  <a:fillRect l="-1389" r="-1984" b="-35897"/>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BECE455C-20D9-2A37-27C9-1AB286136F31}"/>
              </a:ext>
            </a:extLst>
          </p:cNvPr>
          <p:cNvPicPr>
            <a:picLocks noChangeAspect="1"/>
          </p:cNvPicPr>
          <p:nvPr/>
        </p:nvPicPr>
        <p:blipFill>
          <a:blip r:embed="rId4"/>
          <a:stretch>
            <a:fillRect/>
          </a:stretch>
        </p:blipFill>
        <p:spPr>
          <a:xfrm>
            <a:off x="7924800" y="3581400"/>
            <a:ext cx="279400" cy="177800"/>
          </a:xfrm>
          <a:prstGeom prst="rect">
            <a:avLst/>
          </a:prstGeom>
        </p:spPr>
      </p:pic>
      <p:pic>
        <p:nvPicPr>
          <p:cNvPr id="6" name="Picture 5">
            <a:extLst>
              <a:ext uri="{FF2B5EF4-FFF2-40B4-BE49-F238E27FC236}">
                <a16:creationId xmlns:a16="http://schemas.microsoft.com/office/drawing/2014/main" id="{306FAAC5-BEDA-9B36-4E4B-755E02E4FFDC}"/>
              </a:ext>
            </a:extLst>
          </p:cNvPr>
          <p:cNvPicPr>
            <a:picLocks noChangeAspect="1"/>
          </p:cNvPicPr>
          <p:nvPr/>
        </p:nvPicPr>
        <p:blipFill rotWithShape="1">
          <a:blip r:embed="rId5"/>
          <a:srcRect t="24624" r="15385"/>
          <a:stretch/>
        </p:blipFill>
        <p:spPr>
          <a:xfrm>
            <a:off x="7960711" y="3581400"/>
            <a:ext cx="207577" cy="177800"/>
          </a:xfrm>
          <a:prstGeom prst="rect">
            <a:avLst/>
          </a:prstGeom>
        </p:spPr>
      </p:pic>
      <p:sp>
        <p:nvSpPr>
          <p:cNvPr id="7" name="Rectangle 6">
            <a:extLst>
              <a:ext uri="{FF2B5EF4-FFF2-40B4-BE49-F238E27FC236}">
                <a16:creationId xmlns:a16="http://schemas.microsoft.com/office/drawing/2014/main" id="{7064BFFB-1996-6EB2-3401-CEF56E41943E}"/>
              </a:ext>
            </a:extLst>
          </p:cNvPr>
          <p:cNvSpPr/>
          <p:nvPr/>
        </p:nvSpPr>
        <p:spPr>
          <a:xfrm>
            <a:off x="7086600" y="3936273"/>
            <a:ext cx="3581400" cy="1219200"/>
          </a:xfrm>
          <a:prstGeom prst="rect">
            <a:avLst/>
          </a:prstGeom>
          <a:solidFill>
            <a:srgbClr val="00B050">
              <a:alpha val="28223"/>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294829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04C9B-F140-7B40-A1E4-5EA1B4F5FC17}"/>
              </a:ext>
            </a:extLst>
          </p:cNvPr>
          <p:cNvSpPr>
            <a:spLocks noGrp="1"/>
          </p:cNvSpPr>
          <p:nvPr>
            <p:ph type="title"/>
          </p:nvPr>
        </p:nvSpPr>
        <p:spPr>
          <a:xfrm>
            <a:off x="0" y="2438400"/>
            <a:ext cx="12192000" cy="1143000"/>
          </a:xfrm>
        </p:spPr>
        <p:txBody>
          <a:bodyPr/>
          <a:lstStyle/>
          <a:p>
            <a:r>
              <a:rPr lang="en-US" dirty="0"/>
              <a:t>Simply Answer the Question in 13.12 on 2DS!</a:t>
            </a:r>
          </a:p>
        </p:txBody>
      </p:sp>
    </p:spTree>
    <p:extLst>
      <p:ext uri="{BB962C8B-B14F-4D97-AF65-F5344CB8AC3E}">
        <p14:creationId xmlns:p14="http://schemas.microsoft.com/office/powerpoint/2010/main" val="26566489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C6C6-D775-7645-B44D-FE92585B2481}"/>
              </a:ext>
            </a:extLst>
          </p:cNvPr>
          <p:cNvSpPr>
            <a:spLocks noGrp="1"/>
          </p:cNvSpPr>
          <p:nvPr>
            <p:ph type="title"/>
          </p:nvPr>
        </p:nvSpPr>
        <p:spPr>
          <a:xfrm>
            <a:off x="609600" y="2514600"/>
            <a:ext cx="10972800" cy="1143000"/>
          </a:xfrm>
        </p:spPr>
        <p:txBody>
          <a:bodyPr/>
          <a:lstStyle/>
          <a:p>
            <a:r>
              <a:rPr lang="en-US" dirty="0"/>
              <a:t>Break Out</a:t>
            </a:r>
          </a:p>
        </p:txBody>
      </p:sp>
    </p:spTree>
    <p:extLst>
      <p:ext uri="{BB962C8B-B14F-4D97-AF65-F5344CB8AC3E}">
        <p14:creationId xmlns:p14="http://schemas.microsoft.com/office/powerpoint/2010/main" val="10763434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BDB1B-D02B-714D-9F24-54C387579430}"/>
              </a:ext>
            </a:extLst>
          </p:cNvPr>
          <p:cNvSpPr>
            <a:spLocks noGrp="1"/>
          </p:cNvSpPr>
          <p:nvPr>
            <p:ph type="title"/>
          </p:nvPr>
        </p:nvSpPr>
        <p:spPr/>
        <p:txBody>
          <a:bodyPr/>
          <a:lstStyle/>
          <a:p>
            <a:r>
              <a:rPr lang="en-US" dirty="0"/>
              <a:t>Sub Question 1</a:t>
            </a:r>
          </a:p>
        </p:txBody>
      </p:sp>
      <p:pic>
        <p:nvPicPr>
          <p:cNvPr id="4" name="Picture 3">
            <a:extLst>
              <a:ext uri="{FF2B5EF4-FFF2-40B4-BE49-F238E27FC236}">
                <a16:creationId xmlns:a16="http://schemas.microsoft.com/office/drawing/2014/main" id="{BCA7BB29-8ECF-E149-A15C-A4F17024D87F}"/>
              </a:ext>
            </a:extLst>
          </p:cNvPr>
          <p:cNvPicPr>
            <a:picLocks noChangeAspect="1"/>
          </p:cNvPicPr>
          <p:nvPr/>
        </p:nvPicPr>
        <p:blipFill>
          <a:blip r:embed="rId2"/>
          <a:stretch>
            <a:fillRect/>
          </a:stretch>
        </p:blipFill>
        <p:spPr>
          <a:xfrm>
            <a:off x="304800" y="1524000"/>
            <a:ext cx="6840828" cy="2420767"/>
          </a:xfrm>
          <a:prstGeom prst="rect">
            <a:avLst/>
          </a:prstGeom>
        </p:spPr>
      </p:pic>
      <p:pic>
        <p:nvPicPr>
          <p:cNvPr id="5" name="Picture 4">
            <a:extLst>
              <a:ext uri="{FF2B5EF4-FFF2-40B4-BE49-F238E27FC236}">
                <a16:creationId xmlns:a16="http://schemas.microsoft.com/office/drawing/2014/main" id="{E355C33F-2C59-5643-AB65-AC6188091986}"/>
              </a:ext>
            </a:extLst>
          </p:cNvPr>
          <p:cNvPicPr>
            <a:picLocks noChangeAspect="1"/>
          </p:cNvPicPr>
          <p:nvPr/>
        </p:nvPicPr>
        <p:blipFill>
          <a:blip r:embed="rId3"/>
          <a:stretch>
            <a:fillRect/>
          </a:stretch>
        </p:blipFill>
        <p:spPr>
          <a:xfrm>
            <a:off x="448614" y="3938141"/>
            <a:ext cx="6553200" cy="2101562"/>
          </a:xfrm>
          <a:prstGeom prst="rect">
            <a:avLst/>
          </a:prstGeom>
        </p:spPr>
      </p:pic>
      <p:sp>
        <p:nvSpPr>
          <p:cNvPr id="6" name="TextBox 5">
            <a:extLst>
              <a:ext uri="{FF2B5EF4-FFF2-40B4-BE49-F238E27FC236}">
                <a16:creationId xmlns:a16="http://schemas.microsoft.com/office/drawing/2014/main" id="{642CB600-5F80-024A-81AF-66022B95A95E}"/>
              </a:ext>
            </a:extLst>
          </p:cNvPr>
          <p:cNvSpPr txBox="1"/>
          <p:nvPr/>
        </p:nvSpPr>
        <p:spPr>
          <a:xfrm>
            <a:off x="7399986" y="3860873"/>
            <a:ext cx="4343400" cy="1200329"/>
          </a:xfrm>
          <a:prstGeom prst="rect">
            <a:avLst/>
          </a:prstGeom>
          <a:noFill/>
        </p:spPr>
        <p:txBody>
          <a:bodyPr wrap="square" rtlCol="0">
            <a:spAutoFit/>
          </a:bodyPr>
          <a:lstStyle/>
          <a:p>
            <a:r>
              <a:rPr lang="en-US" dirty="0"/>
              <a:t>There is visual evidence of a relationship between </a:t>
            </a:r>
            <a:r>
              <a:rPr lang="en-US" dirty="0" err="1"/>
              <a:t>sbp</a:t>
            </a:r>
            <a:r>
              <a:rPr lang="en-US" dirty="0"/>
              <a:t> and weight, </a:t>
            </a:r>
            <a:r>
              <a:rPr lang="en-US" dirty="0" err="1"/>
              <a:t>sbp</a:t>
            </a:r>
            <a:r>
              <a:rPr lang="en-US" dirty="0"/>
              <a:t> and age, and also a evidence of linear relationship between weight and age.</a:t>
            </a:r>
          </a:p>
        </p:txBody>
      </p:sp>
      <p:sp>
        <p:nvSpPr>
          <p:cNvPr id="7" name="Rectangle 6">
            <a:extLst>
              <a:ext uri="{FF2B5EF4-FFF2-40B4-BE49-F238E27FC236}">
                <a16:creationId xmlns:a16="http://schemas.microsoft.com/office/drawing/2014/main" id="{FF9FC0C5-4BA5-A047-9C72-7866B77CFCB4}"/>
              </a:ext>
            </a:extLst>
          </p:cNvPr>
          <p:cNvSpPr/>
          <p:nvPr/>
        </p:nvSpPr>
        <p:spPr>
          <a:xfrm>
            <a:off x="7399986" y="1533939"/>
            <a:ext cx="4419600" cy="923330"/>
          </a:xfrm>
          <a:prstGeom prst="rect">
            <a:avLst/>
          </a:prstGeom>
        </p:spPr>
        <p:txBody>
          <a:bodyPr wrap="square">
            <a:spAutoFit/>
          </a:bodyPr>
          <a:lstStyle/>
          <a:p>
            <a:r>
              <a:rPr lang="en-US" dirty="0">
                <a:solidFill>
                  <a:srgbClr val="282828"/>
                </a:solidFill>
                <a:latin typeface="Proxima Nova"/>
              </a:rPr>
              <a:t>What does the scatterplot matrix indicate about the relationship among age, systolic blood pressure, and weight?</a:t>
            </a:r>
            <a:endParaRPr lang="en-US" dirty="0"/>
          </a:p>
        </p:txBody>
      </p:sp>
    </p:spTree>
    <p:extLst>
      <p:ext uri="{BB962C8B-B14F-4D97-AF65-F5344CB8AC3E}">
        <p14:creationId xmlns:p14="http://schemas.microsoft.com/office/powerpoint/2010/main" val="174280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E02E-AFD2-FC4F-8E18-7D92B101DD28}"/>
              </a:ext>
            </a:extLst>
          </p:cNvPr>
          <p:cNvSpPr>
            <a:spLocks noGrp="1"/>
          </p:cNvSpPr>
          <p:nvPr>
            <p:ph type="title"/>
          </p:nvPr>
        </p:nvSpPr>
        <p:spPr/>
        <p:txBody>
          <a:bodyPr/>
          <a:lstStyle/>
          <a:p>
            <a:r>
              <a:rPr lang="en-US" dirty="0"/>
              <a:t>Sub Question 2</a:t>
            </a:r>
          </a:p>
        </p:txBody>
      </p:sp>
      <p:pic>
        <p:nvPicPr>
          <p:cNvPr id="4" name="Picture 3">
            <a:extLst>
              <a:ext uri="{FF2B5EF4-FFF2-40B4-BE49-F238E27FC236}">
                <a16:creationId xmlns:a16="http://schemas.microsoft.com/office/drawing/2014/main" id="{1E0C780F-3F43-0245-A487-339EA2C990D9}"/>
              </a:ext>
            </a:extLst>
          </p:cNvPr>
          <p:cNvPicPr>
            <a:picLocks noChangeAspect="1"/>
          </p:cNvPicPr>
          <p:nvPr/>
        </p:nvPicPr>
        <p:blipFill>
          <a:blip r:embed="rId2"/>
          <a:stretch>
            <a:fillRect/>
          </a:stretch>
        </p:blipFill>
        <p:spPr>
          <a:xfrm>
            <a:off x="593035" y="1985665"/>
            <a:ext cx="4554071" cy="1828800"/>
          </a:xfrm>
          <a:prstGeom prst="rect">
            <a:avLst/>
          </a:prstGeom>
        </p:spPr>
      </p:pic>
      <p:sp>
        <p:nvSpPr>
          <p:cNvPr id="5" name="Rectangle 4">
            <a:extLst>
              <a:ext uri="{FF2B5EF4-FFF2-40B4-BE49-F238E27FC236}">
                <a16:creationId xmlns:a16="http://schemas.microsoft.com/office/drawing/2014/main" id="{4ACE1E11-5096-C14F-9F23-12D4A4C30C53}"/>
              </a:ext>
            </a:extLst>
          </p:cNvPr>
          <p:cNvSpPr/>
          <p:nvPr/>
        </p:nvSpPr>
        <p:spPr>
          <a:xfrm>
            <a:off x="6096000" y="1524000"/>
            <a:ext cx="6096000" cy="923330"/>
          </a:xfrm>
          <a:prstGeom prst="rect">
            <a:avLst/>
          </a:prstGeom>
        </p:spPr>
        <p:txBody>
          <a:bodyPr>
            <a:spAutoFit/>
          </a:bodyPr>
          <a:lstStyle/>
          <a:p>
            <a:r>
              <a:rPr lang="en-US" dirty="0">
                <a:solidFill>
                  <a:srgbClr val="282828"/>
                </a:solidFill>
                <a:latin typeface="Proxima Nova"/>
              </a:rPr>
              <a:t>Is the combination of age and weight statistically significant for predicting blood pressure? Explain.</a:t>
            </a:r>
          </a:p>
          <a:p>
            <a:r>
              <a:rPr lang="en-US" dirty="0">
                <a:solidFill>
                  <a:srgbClr val="282828"/>
                </a:solidFill>
                <a:latin typeface="Proxima Nova"/>
              </a:rPr>
              <a:t>Please bring your answer to the live session.</a:t>
            </a:r>
            <a:endParaRPr lang="en-US" b="0" i="0" dirty="0">
              <a:solidFill>
                <a:srgbClr val="282828"/>
              </a:solidFill>
              <a:effectLst/>
              <a:latin typeface="Proxima Nova"/>
            </a:endParaRPr>
          </a:p>
        </p:txBody>
      </p:sp>
      <p:sp>
        <p:nvSpPr>
          <p:cNvPr id="6" name="TextBox 5">
            <a:extLst>
              <a:ext uri="{FF2B5EF4-FFF2-40B4-BE49-F238E27FC236}">
                <a16:creationId xmlns:a16="http://schemas.microsoft.com/office/drawing/2014/main" id="{4FB2CC24-B4DA-404B-8936-0EB6B6919D85}"/>
              </a:ext>
            </a:extLst>
          </p:cNvPr>
          <p:cNvSpPr txBox="1"/>
          <p:nvPr/>
        </p:nvSpPr>
        <p:spPr>
          <a:xfrm>
            <a:off x="6172200" y="3429000"/>
            <a:ext cx="5181600" cy="2031325"/>
          </a:xfrm>
          <a:prstGeom prst="rect">
            <a:avLst/>
          </a:prstGeom>
          <a:noFill/>
        </p:spPr>
        <p:txBody>
          <a:bodyPr wrap="square" rtlCol="0">
            <a:spAutoFit/>
          </a:bodyPr>
          <a:lstStyle/>
          <a:p>
            <a:r>
              <a:rPr lang="en-US" dirty="0"/>
              <a:t>Yes… there is overwhelming evidence to suggest that at least one of the slopes is not equal to zero. Judging from the parameter estimate table, there is overwhelming evidence to suggest that the </a:t>
            </a:r>
            <a:r>
              <a:rPr lang="en-US" dirty="0">
                <a:solidFill>
                  <a:srgbClr val="282828"/>
                </a:solidFill>
                <a:latin typeface="Proxima Nova"/>
              </a:rPr>
              <a:t>combination of age and weight are statistically </a:t>
            </a:r>
            <a:r>
              <a:rPr lang="en-US">
                <a:solidFill>
                  <a:srgbClr val="282828"/>
                </a:solidFill>
                <a:latin typeface="Proxima Nova"/>
              </a:rPr>
              <a:t>significant in </a:t>
            </a:r>
            <a:r>
              <a:rPr lang="en-US" dirty="0">
                <a:solidFill>
                  <a:srgbClr val="282828"/>
                </a:solidFill>
                <a:latin typeface="Proxima Nova"/>
              </a:rPr>
              <a:t>predicting blood pressure.</a:t>
            </a:r>
            <a:endParaRPr lang="en-US" dirty="0"/>
          </a:p>
        </p:txBody>
      </p:sp>
      <p:pic>
        <p:nvPicPr>
          <p:cNvPr id="7" name="Picture 6">
            <a:extLst>
              <a:ext uri="{FF2B5EF4-FFF2-40B4-BE49-F238E27FC236}">
                <a16:creationId xmlns:a16="http://schemas.microsoft.com/office/drawing/2014/main" id="{37949BB5-3B89-1D4B-A270-5294C96F9C8D}"/>
              </a:ext>
            </a:extLst>
          </p:cNvPr>
          <p:cNvPicPr>
            <a:picLocks noChangeAspect="1"/>
          </p:cNvPicPr>
          <p:nvPr/>
        </p:nvPicPr>
        <p:blipFill>
          <a:blip r:embed="rId3"/>
          <a:stretch>
            <a:fillRect/>
          </a:stretch>
        </p:blipFill>
        <p:spPr>
          <a:xfrm>
            <a:off x="325653" y="4306163"/>
            <a:ext cx="5334000" cy="1665514"/>
          </a:xfrm>
          <a:prstGeom prst="rect">
            <a:avLst/>
          </a:prstGeom>
        </p:spPr>
      </p:pic>
    </p:spTree>
    <p:extLst>
      <p:ext uri="{BB962C8B-B14F-4D97-AF65-F5344CB8AC3E}">
        <p14:creationId xmlns:p14="http://schemas.microsoft.com/office/powerpoint/2010/main" val="258617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6E02E-AFD2-FC4F-8E18-7D92B101DD28}"/>
              </a:ext>
            </a:extLst>
          </p:cNvPr>
          <p:cNvSpPr>
            <a:spLocks noGrp="1"/>
          </p:cNvSpPr>
          <p:nvPr>
            <p:ph type="title"/>
          </p:nvPr>
        </p:nvSpPr>
        <p:spPr/>
        <p:txBody>
          <a:bodyPr/>
          <a:lstStyle/>
          <a:p>
            <a:r>
              <a:rPr lang="en-US" dirty="0"/>
              <a:t>Sub Question 3</a:t>
            </a:r>
          </a:p>
        </p:txBody>
      </p:sp>
      <p:pic>
        <p:nvPicPr>
          <p:cNvPr id="3" name="Picture 2">
            <a:extLst>
              <a:ext uri="{FF2B5EF4-FFF2-40B4-BE49-F238E27FC236}">
                <a16:creationId xmlns:a16="http://schemas.microsoft.com/office/drawing/2014/main" id="{15742A33-4CFD-9D4F-9425-F6E858C3E8F8}"/>
              </a:ext>
            </a:extLst>
          </p:cNvPr>
          <p:cNvPicPr>
            <a:picLocks noChangeAspect="1"/>
          </p:cNvPicPr>
          <p:nvPr/>
        </p:nvPicPr>
        <p:blipFill>
          <a:blip r:embed="rId2"/>
          <a:stretch>
            <a:fillRect/>
          </a:stretch>
        </p:blipFill>
        <p:spPr>
          <a:xfrm>
            <a:off x="586409" y="1447800"/>
            <a:ext cx="5334000" cy="1665514"/>
          </a:xfrm>
          <a:prstGeom prst="rect">
            <a:avLst/>
          </a:prstGeom>
        </p:spPr>
      </p:pic>
      <p:sp>
        <p:nvSpPr>
          <p:cNvPr id="5" name="Rectangle 4">
            <a:extLst>
              <a:ext uri="{FF2B5EF4-FFF2-40B4-BE49-F238E27FC236}">
                <a16:creationId xmlns:a16="http://schemas.microsoft.com/office/drawing/2014/main" id="{5B5ECFF9-45D5-C246-ABB4-4E87CE05C355}"/>
              </a:ext>
            </a:extLst>
          </p:cNvPr>
          <p:cNvSpPr/>
          <p:nvPr/>
        </p:nvSpPr>
        <p:spPr>
          <a:xfrm>
            <a:off x="6705600" y="1600200"/>
            <a:ext cx="5105400" cy="923330"/>
          </a:xfrm>
          <a:prstGeom prst="rect">
            <a:avLst/>
          </a:prstGeom>
        </p:spPr>
        <p:txBody>
          <a:bodyPr wrap="square">
            <a:spAutoFit/>
          </a:bodyPr>
          <a:lstStyle/>
          <a:p>
            <a:r>
              <a:rPr lang="en-US" dirty="0">
                <a:solidFill>
                  <a:srgbClr val="282828"/>
                </a:solidFill>
                <a:latin typeface="Proxima Nova"/>
              </a:rPr>
              <a:t>Write down the regression equation, and interpret the value of each slope in the equation. </a:t>
            </a:r>
            <a:endParaRPr lang="en-US" dirty="0"/>
          </a:p>
        </p:txBody>
      </p:sp>
      <p:sp>
        <p:nvSpPr>
          <p:cNvPr id="6" name="Rectangle 5">
            <a:extLst>
              <a:ext uri="{FF2B5EF4-FFF2-40B4-BE49-F238E27FC236}">
                <a16:creationId xmlns:a16="http://schemas.microsoft.com/office/drawing/2014/main" id="{F980E99A-6226-3F45-B875-AF4F1646B61D}"/>
              </a:ext>
            </a:extLst>
          </p:cNvPr>
          <p:cNvSpPr/>
          <p:nvPr/>
        </p:nvSpPr>
        <p:spPr>
          <a:xfrm>
            <a:off x="190500" y="3200400"/>
            <a:ext cx="11811000" cy="3847207"/>
          </a:xfrm>
          <a:prstGeom prst="rect">
            <a:avLst/>
          </a:prstGeom>
        </p:spPr>
        <p:txBody>
          <a:bodyPr wrap="square">
            <a:spAutoFit/>
          </a:bodyPr>
          <a:lstStyle/>
          <a:p>
            <a:r>
              <a:rPr lang="en-US" b="1" dirty="0"/>
              <a:t>Regression equation </a:t>
            </a:r>
          </a:p>
          <a:p>
            <a:r>
              <a:rPr lang="en-US" dirty="0"/>
              <a:t>SBP =  -28.04644 + 2.161*age +  0.49*weight</a:t>
            </a:r>
          </a:p>
          <a:p>
            <a:endParaRPr lang="en-US" dirty="0"/>
          </a:p>
          <a:p>
            <a:r>
              <a:rPr lang="en-US" b="1" dirty="0"/>
              <a:t>Interpretation:</a:t>
            </a:r>
          </a:p>
          <a:p>
            <a:r>
              <a:rPr lang="en-US" sz="1400" dirty="0"/>
              <a:t>If age is held constant, we are 95% confident that a 1 </a:t>
            </a:r>
            <a:r>
              <a:rPr lang="en-US" sz="1400" dirty="0" err="1"/>
              <a:t>lbs</a:t>
            </a:r>
            <a:r>
              <a:rPr lang="en-US" sz="1400" dirty="0"/>
              <a:t> increase in weight is associated with an increase in mean blood pressure between .107 and .873 units.  Our best estimate is .490 units. </a:t>
            </a:r>
          </a:p>
          <a:p>
            <a:r>
              <a:rPr lang="en-US" sz="1400" dirty="0"/>
              <a:t>Alternate Interpretation: </a:t>
            </a:r>
          </a:p>
          <a:p>
            <a:r>
              <a:rPr lang="en-US" sz="1400" dirty="0"/>
              <a:t>For people of the same age, we are 95% confident that a 1 </a:t>
            </a:r>
            <a:r>
              <a:rPr lang="en-US" sz="1400" dirty="0" err="1"/>
              <a:t>lbs</a:t>
            </a:r>
            <a:r>
              <a:rPr lang="en-US" sz="1400" dirty="0"/>
              <a:t> increase in weight is associated with an increase in mean blood pressure between .107 and .873 units.  Our best estimate is .490 units. </a:t>
            </a:r>
          </a:p>
          <a:p>
            <a:endParaRPr lang="en-US" sz="1400" dirty="0"/>
          </a:p>
          <a:p>
            <a:r>
              <a:rPr lang="en-US" sz="1400" dirty="0"/>
              <a:t>If weight is held constant, we are 95% confident that a 1 year increase in age is associated with an increase in mean blood pressure between 1.187 an 3.135 units.  Our best estimate is 2.161 units.</a:t>
            </a:r>
          </a:p>
          <a:p>
            <a:r>
              <a:rPr lang="en-US" sz="1400" dirty="0"/>
              <a:t>Alternate Interpretation: </a:t>
            </a:r>
          </a:p>
          <a:p>
            <a:r>
              <a:rPr lang="en-US" sz="1400" dirty="0"/>
              <a:t>For people of the same weight, we are 95% confident that a 1 year increase in age is associated with an increase in mean blood pressure between 1.187 an 3.135 units.  Our best estimate is 2.161 units.</a:t>
            </a:r>
          </a:p>
          <a:p>
            <a:endParaRPr lang="en-US" dirty="0"/>
          </a:p>
        </p:txBody>
      </p:sp>
    </p:spTree>
    <p:extLst>
      <p:ext uri="{BB962C8B-B14F-4D97-AF65-F5344CB8AC3E}">
        <p14:creationId xmlns:p14="http://schemas.microsoft.com/office/powerpoint/2010/main" val="4225546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animEffect transition="in" filter="fade">
                                      <p:cBhvr>
                                        <p:cTn id="7" dur="500"/>
                                        <p:tgtEl>
                                          <p:spTgt spid="6">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4" end="4"/>
                                            </p:txEl>
                                          </p:spTgt>
                                        </p:tgtEl>
                                        <p:attrNameLst>
                                          <p:attrName>style.visibility</p:attrName>
                                        </p:attrNameLst>
                                      </p:cBhvr>
                                      <p:to>
                                        <p:strVal val="visible"/>
                                      </p:to>
                                    </p:set>
                                    <p:animEffect transition="in" filter="fade">
                                      <p:cBhvr>
                                        <p:cTn id="10" dur="500"/>
                                        <p:tgtEl>
                                          <p:spTgt spid="6">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animEffect transition="in" filter="fade">
                                      <p:cBhvr>
                                        <p:cTn id="13" dur="500"/>
                                        <p:tgtEl>
                                          <p:spTgt spid="6">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6">
                                            <p:txEl>
                                              <p:pRg st="6" end="6"/>
                                            </p:txEl>
                                          </p:spTgt>
                                        </p:tgtEl>
                                        <p:attrNameLst>
                                          <p:attrName>style.visibility</p:attrName>
                                        </p:attrNameLst>
                                      </p:cBhvr>
                                      <p:to>
                                        <p:strVal val="visible"/>
                                      </p:to>
                                    </p:set>
                                    <p:animEffect transition="in" filter="fade">
                                      <p:cBhvr>
                                        <p:cTn id="16" dur="500"/>
                                        <p:tgtEl>
                                          <p:spTgt spid="6">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animEffect transition="in" filter="fade">
                                      <p:cBhvr>
                                        <p:cTn id="21" dur="500"/>
                                        <p:tgtEl>
                                          <p:spTgt spid="6">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9" end="9"/>
                                            </p:txEl>
                                          </p:spTgt>
                                        </p:tgtEl>
                                        <p:attrNameLst>
                                          <p:attrName>style.visibility</p:attrName>
                                        </p:attrNameLst>
                                      </p:cBhvr>
                                      <p:to>
                                        <p:strVal val="visible"/>
                                      </p:to>
                                    </p:set>
                                    <p:animEffect transition="in" filter="fade">
                                      <p:cBhvr>
                                        <p:cTn id="24" dur="500"/>
                                        <p:tgtEl>
                                          <p:spTgt spid="6">
                                            <p:txEl>
                                              <p:pRg st="9" end="9"/>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animEffect transition="in" filter="fade">
                                      <p:cBhvr>
                                        <p:cTn id="27" dur="500"/>
                                        <p:tgtEl>
                                          <p:spTgt spid="6">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D51C-BBCB-1442-90E4-AB67A8911943}"/>
              </a:ext>
            </a:extLst>
          </p:cNvPr>
          <p:cNvSpPr>
            <a:spLocks noGrp="1"/>
          </p:cNvSpPr>
          <p:nvPr>
            <p:ph type="title"/>
          </p:nvPr>
        </p:nvSpPr>
        <p:spPr/>
        <p:txBody>
          <a:bodyPr/>
          <a:lstStyle/>
          <a:p>
            <a:r>
              <a:rPr lang="en-US" dirty="0"/>
              <a:t>Sub Question 4</a:t>
            </a:r>
          </a:p>
        </p:txBody>
      </p:sp>
      <p:sp>
        <p:nvSpPr>
          <p:cNvPr id="4" name="Rectangle 3">
            <a:extLst>
              <a:ext uri="{FF2B5EF4-FFF2-40B4-BE49-F238E27FC236}">
                <a16:creationId xmlns:a16="http://schemas.microsoft.com/office/drawing/2014/main" id="{51EA2B2D-2E57-9949-B448-6A72984E74AD}"/>
              </a:ext>
            </a:extLst>
          </p:cNvPr>
          <p:cNvSpPr/>
          <p:nvPr/>
        </p:nvSpPr>
        <p:spPr>
          <a:xfrm>
            <a:off x="1358349" y="4419600"/>
            <a:ext cx="8763000" cy="1938992"/>
          </a:xfrm>
          <a:prstGeom prst="rect">
            <a:avLst/>
          </a:prstGeom>
        </p:spPr>
        <p:txBody>
          <a:bodyPr wrap="square">
            <a:spAutoFit/>
          </a:bodyPr>
          <a:lstStyle/>
          <a:p>
            <a:pPr lvl="1"/>
            <a:r>
              <a:rPr lang="en-US" sz="2400" dirty="0"/>
              <a:t>Standard error for age: 0.475</a:t>
            </a:r>
          </a:p>
          <a:p>
            <a:pPr lvl="1"/>
            <a:r>
              <a:rPr lang="en-US" sz="2400" dirty="0"/>
              <a:t>t statistic for age: 2.161/0.475 = 4.55</a:t>
            </a:r>
          </a:p>
          <a:p>
            <a:pPr lvl="1"/>
            <a:r>
              <a:rPr lang="en-US" sz="2400" dirty="0"/>
              <a:t>Confidence interval: 2.161 ± t</a:t>
            </a:r>
            <a:r>
              <a:rPr lang="en-US" sz="2400" baseline="-25000" dirty="0"/>
              <a:t>.975,27</a:t>
            </a:r>
            <a:r>
              <a:rPr lang="en-US" sz="2400" dirty="0"/>
              <a:t>*0.475 </a:t>
            </a:r>
          </a:p>
          <a:p>
            <a:pPr lvl="1"/>
            <a:r>
              <a:rPr lang="en-US" sz="2400" dirty="0"/>
              <a:t>Confidence interval: 2.161 ± 2.052*0.475 = (1.187, 3.135)</a:t>
            </a:r>
          </a:p>
          <a:p>
            <a:pPr lvl="1"/>
            <a:endParaRPr lang="en-US" sz="2400" dirty="0"/>
          </a:p>
        </p:txBody>
      </p:sp>
      <p:sp>
        <p:nvSpPr>
          <p:cNvPr id="5" name="Rectangle 4">
            <a:extLst>
              <a:ext uri="{FF2B5EF4-FFF2-40B4-BE49-F238E27FC236}">
                <a16:creationId xmlns:a16="http://schemas.microsoft.com/office/drawing/2014/main" id="{65758567-A2CC-C44C-926C-0A33EA2F15BF}"/>
              </a:ext>
            </a:extLst>
          </p:cNvPr>
          <p:cNvSpPr/>
          <p:nvPr/>
        </p:nvSpPr>
        <p:spPr>
          <a:xfrm>
            <a:off x="6271592" y="1676400"/>
            <a:ext cx="5310807" cy="923330"/>
          </a:xfrm>
          <a:prstGeom prst="rect">
            <a:avLst/>
          </a:prstGeom>
        </p:spPr>
        <p:txBody>
          <a:bodyPr wrap="square">
            <a:spAutoFit/>
          </a:bodyPr>
          <a:lstStyle/>
          <a:p>
            <a:r>
              <a:rPr lang="en-US" dirty="0"/>
              <a:t>Verify the test statistic calculations and the confidence intervals for the variable age, using the parameter estimate table in the output.</a:t>
            </a:r>
          </a:p>
        </p:txBody>
      </p:sp>
      <p:pic>
        <p:nvPicPr>
          <p:cNvPr id="6" name="Picture 5">
            <a:extLst>
              <a:ext uri="{FF2B5EF4-FFF2-40B4-BE49-F238E27FC236}">
                <a16:creationId xmlns:a16="http://schemas.microsoft.com/office/drawing/2014/main" id="{16A0EF8B-339F-E84D-B16B-AFE345EF5A1C}"/>
              </a:ext>
            </a:extLst>
          </p:cNvPr>
          <p:cNvPicPr>
            <a:picLocks noChangeAspect="1"/>
          </p:cNvPicPr>
          <p:nvPr/>
        </p:nvPicPr>
        <p:blipFill>
          <a:blip r:embed="rId2"/>
          <a:stretch>
            <a:fillRect/>
          </a:stretch>
        </p:blipFill>
        <p:spPr>
          <a:xfrm>
            <a:off x="586409" y="1611334"/>
            <a:ext cx="5334000" cy="1665514"/>
          </a:xfrm>
          <a:prstGeom prst="rect">
            <a:avLst/>
          </a:prstGeom>
        </p:spPr>
      </p:pic>
      <p:pic>
        <p:nvPicPr>
          <p:cNvPr id="7" name="Picture 6">
            <a:extLst>
              <a:ext uri="{FF2B5EF4-FFF2-40B4-BE49-F238E27FC236}">
                <a16:creationId xmlns:a16="http://schemas.microsoft.com/office/drawing/2014/main" id="{46E2DBAD-24A8-5B4C-A0B8-5FFC321397FF}"/>
              </a:ext>
            </a:extLst>
          </p:cNvPr>
          <p:cNvPicPr>
            <a:picLocks noChangeAspect="1"/>
          </p:cNvPicPr>
          <p:nvPr/>
        </p:nvPicPr>
        <p:blipFill>
          <a:blip r:embed="rId3"/>
          <a:stretch>
            <a:fillRect/>
          </a:stretch>
        </p:blipFill>
        <p:spPr>
          <a:xfrm>
            <a:off x="8186531" y="3276848"/>
            <a:ext cx="1943100" cy="673100"/>
          </a:xfrm>
          <a:prstGeom prst="rect">
            <a:avLst/>
          </a:prstGeom>
        </p:spPr>
      </p:pic>
    </p:spTree>
    <p:extLst>
      <p:ext uri="{BB962C8B-B14F-4D97-AF65-F5344CB8AC3E}">
        <p14:creationId xmlns:p14="http://schemas.microsoft.com/office/powerpoint/2010/main" val="1914668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6D51C-BBCB-1442-90E4-AB67A8911943}"/>
              </a:ext>
            </a:extLst>
          </p:cNvPr>
          <p:cNvSpPr>
            <a:spLocks noGrp="1"/>
          </p:cNvSpPr>
          <p:nvPr>
            <p:ph type="title"/>
          </p:nvPr>
        </p:nvSpPr>
        <p:spPr/>
        <p:txBody>
          <a:bodyPr/>
          <a:lstStyle/>
          <a:p>
            <a:r>
              <a:rPr lang="en-US" dirty="0"/>
              <a:t>Sub Question 5</a:t>
            </a:r>
          </a:p>
        </p:txBody>
      </p:sp>
      <p:pic>
        <p:nvPicPr>
          <p:cNvPr id="3" name="Picture 2">
            <a:extLst>
              <a:ext uri="{FF2B5EF4-FFF2-40B4-BE49-F238E27FC236}">
                <a16:creationId xmlns:a16="http://schemas.microsoft.com/office/drawing/2014/main" id="{5AC20448-9341-DF4A-96CE-86D8AAD2C820}"/>
              </a:ext>
            </a:extLst>
          </p:cNvPr>
          <p:cNvPicPr>
            <a:picLocks noChangeAspect="1"/>
          </p:cNvPicPr>
          <p:nvPr/>
        </p:nvPicPr>
        <p:blipFill>
          <a:blip r:embed="rId2"/>
          <a:stretch>
            <a:fillRect/>
          </a:stretch>
        </p:blipFill>
        <p:spPr>
          <a:xfrm>
            <a:off x="381000" y="1600200"/>
            <a:ext cx="6096000" cy="2154188"/>
          </a:xfrm>
          <a:prstGeom prst="rect">
            <a:avLst/>
          </a:prstGeom>
        </p:spPr>
      </p:pic>
      <p:pic>
        <p:nvPicPr>
          <p:cNvPr id="8" name="Picture 7">
            <a:extLst>
              <a:ext uri="{FF2B5EF4-FFF2-40B4-BE49-F238E27FC236}">
                <a16:creationId xmlns:a16="http://schemas.microsoft.com/office/drawing/2014/main" id="{22E447D5-0D3D-264F-AEEB-B2CF9044DCC7}"/>
              </a:ext>
            </a:extLst>
          </p:cNvPr>
          <p:cNvPicPr>
            <a:picLocks noChangeAspect="1"/>
          </p:cNvPicPr>
          <p:nvPr/>
        </p:nvPicPr>
        <p:blipFill>
          <a:blip r:embed="rId3"/>
          <a:stretch>
            <a:fillRect/>
          </a:stretch>
        </p:blipFill>
        <p:spPr>
          <a:xfrm>
            <a:off x="228544" y="3704694"/>
            <a:ext cx="6319754" cy="2060002"/>
          </a:xfrm>
          <a:prstGeom prst="rect">
            <a:avLst/>
          </a:prstGeom>
        </p:spPr>
      </p:pic>
      <p:sp>
        <p:nvSpPr>
          <p:cNvPr id="9" name="Rectangle 8">
            <a:extLst>
              <a:ext uri="{FF2B5EF4-FFF2-40B4-BE49-F238E27FC236}">
                <a16:creationId xmlns:a16="http://schemas.microsoft.com/office/drawing/2014/main" id="{1DAEE2DF-27C1-F641-AB43-075CA28910B8}"/>
              </a:ext>
            </a:extLst>
          </p:cNvPr>
          <p:cNvSpPr/>
          <p:nvPr/>
        </p:nvSpPr>
        <p:spPr>
          <a:xfrm>
            <a:off x="6781800" y="1614817"/>
            <a:ext cx="5257800" cy="923330"/>
          </a:xfrm>
          <a:prstGeom prst="rect">
            <a:avLst/>
          </a:prstGeom>
        </p:spPr>
        <p:txBody>
          <a:bodyPr wrap="square">
            <a:spAutoFit/>
          </a:bodyPr>
          <a:lstStyle/>
          <a:p>
            <a:r>
              <a:rPr lang="en-US">
                <a:solidFill>
                  <a:srgbClr val="282828"/>
                </a:solidFill>
                <a:latin typeface="Proxima Nova"/>
              </a:rPr>
              <a:t>Examine the residual plots for age and weight. </a:t>
            </a:r>
            <a:r>
              <a:rPr lang="en-US" dirty="0">
                <a:solidFill>
                  <a:srgbClr val="282828"/>
                </a:solidFill>
                <a:latin typeface="Proxima Nova"/>
              </a:rPr>
              <a:t>According to these plots, is a linear model appropriate for these data? Explain.</a:t>
            </a:r>
            <a:endParaRPr lang="en-US" dirty="0"/>
          </a:p>
        </p:txBody>
      </p:sp>
      <p:sp>
        <p:nvSpPr>
          <p:cNvPr id="10" name="TextBox 9">
            <a:extLst>
              <a:ext uri="{FF2B5EF4-FFF2-40B4-BE49-F238E27FC236}">
                <a16:creationId xmlns:a16="http://schemas.microsoft.com/office/drawing/2014/main" id="{35BFBEB4-451D-B044-A512-8A3808F1338B}"/>
              </a:ext>
            </a:extLst>
          </p:cNvPr>
          <p:cNvSpPr txBox="1"/>
          <p:nvPr/>
        </p:nvSpPr>
        <p:spPr>
          <a:xfrm>
            <a:off x="6781800" y="3304191"/>
            <a:ext cx="4953000" cy="2031325"/>
          </a:xfrm>
          <a:prstGeom prst="rect">
            <a:avLst/>
          </a:prstGeom>
          <a:noFill/>
        </p:spPr>
        <p:txBody>
          <a:bodyPr wrap="square" rtlCol="0">
            <a:spAutoFit/>
          </a:bodyPr>
          <a:lstStyle/>
          <a:p>
            <a:r>
              <a:rPr lang="en-US" dirty="0"/>
              <a:t>Yes! The residual scatter plot shows a random cloud around zero, the </a:t>
            </a:r>
            <a:r>
              <a:rPr lang="en-US" dirty="0" err="1"/>
              <a:t>qq</a:t>
            </a:r>
            <a:r>
              <a:rPr lang="en-US" dirty="0"/>
              <a:t> plot is consistent with a normal distribution of residuals and there is only 1 residual with a studentized residual greater than 2 in absolute value (which is what we would expect with 30 observations.) </a:t>
            </a:r>
          </a:p>
        </p:txBody>
      </p:sp>
    </p:spTree>
    <p:extLst>
      <p:ext uri="{BB962C8B-B14F-4D97-AF65-F5344CB8AC3E}">
        <p14:creationId xmlns:p14="http://schemas.microsoft.com/office/powerpoint/2010/main" val="348518043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E6AD9-71F8-5C48-8FCD-4E43DEF221DA}"/>
              </a:ext>
            </a:extLst>
          </p:cNvPr>
          <p:cNvSpPr>
            <a:spLocks noGrp="1"/>
          </p:cNvSpPr>
          <p:nvPr>
            <p:ph type="title"/>
          </p:nvPr>
        </p:nvSpPr>
        <p:spPr>
          <a:xfrm>
            <a:off x="636104" y="2514600"/>
            <a:ext cx="10972800" cy="1143000"/>
          </a:xfrm>
        </p:spPr>
        <p:txBody>
          <a:bodyPr/>
          <a:lstStyle/>
          <a:p>
            <a:r>
              <a:rPr lang="en-US" dirty="0"/>
              <a:t>Review</a:t>
            </a:r>
          </a:p>
        </p:txBody>
      </p:sp>
    </p:spTree>
    <p:extLst>
      <p:ext uri="{BB962C8B-B14F-4D97-AF65-F5344CB8AC3E}">
        <p14:creationId xmlns:p14="http://schemas.microsoft.com/office/powerpoint/2010/main" val="666331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4343400" cy="1143000"/>
          </a:xfrm>
        </p:spPr>
        <p:txBody>
          <a:bodyPr/>
          <a:lstStyle/>
          <a:p>
            <a:r>
              <a:rPr lang="en-US" dirty="0"/>
              <a:t>Echolocation!!!</a:t>
            </a:r>
          </a:p>
        </p:txBody>
      </p:sp>
      <p:pic>
        <p:nvPicPr>
          <p:cNvPr id="4" name="Picture 3"/>
          <p:cNvPicPr>
            <a:picLocks noChangeAspect="1"/>
          </p:cNvPicPr>
          <p:nvPr/>
        </p:nvPicPr>
        <p:blipFill>
          <a:blip r:embed="rId2"/>
          <a:stretch>
            <a:fillRect/>
          </a:stretch>
        </p:blipFill>
        <p:spPr>
          <a:xfrm>
            <a:off x="6553201" y="274638"/>
            <a:ext cx="2781877" cy="1504950"/>
          </a:xfrm>
          <a:prstGeom prst="rect">
            <a:avLst/>
          </a:prstGeom>
        </p:spPr>
      </p:pic>
      <p:sp>
        <p:nvSpPr>
          <p:cNvPr id="5" name="TextBox 4"/>
          <p:cNvSpPr txBox="1"/>
          <p:nvPr/>
        </p:nvSpPr>
        <p:spPr>
          <a:xfrm>
            <a:off x="2190044" y="1858375"/>
            <a:ext cx="8325556" cy="923330"/>
          </a:xfrm>
          <a:prstGeom prst="rect">
            <a:avLst/>
          </a:prstGeom>
          <a:noFill/>
        </p:spPr>
        <p:txBody>
          <a:bodyPr wrap="square" rtlCol="0">
            <a:spAutoFit/>
          </a:bodyPr>
          <a:lstStyle/>
          <a:p>
            <a:r>
              <a:rPr lang="en-US" dirty="0"/>
              <a:t>QOI: Is there a difference in the in-flight energy expenditures among all three animals after body size is accounted for? Explore the possibility of unequal slopes. </a:t>
            </a:r>
          </a:p>
        </p:txBody>
      </p:sp>
      <mc:AlternateContent xmlns:mc="http://schemas.openxmlformats.org/markup-compatibility/2006" xmlns:a14="http://schemas.microsoft.com/office/drawing/2010/main">
        <mc:Choice Requires="a14">
          <p:sp>
            <p:nvSpPr>
              <p:cNvPr id="6" name="TextBox 5"/>
              <p:cNvSpPr txBox="1"/>
              <p:nvPr/>
            </p:nvSpPr>
            <p:spPr>
              <a:xfrm>
                <a:off x="1714500" y="3892325"/>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4</m:t>
                          </m:r>
                        </m:sub>
                      </m:sSub>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5</m:t>
                          </m:r>
                        </m:sub>
                      </m:sSub>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𝑒𝑏𝑎𝑡</m:t>
                      </m:r>
                    </m:oMath>
                  </m:oMathPara>
                </a14:m>
                <a:endParaRPr lang="en-US" sz="1600" i="1" dirty="0"/>
              </a:p>
            </p:txBody>
          </p:sp>
        </mc:Choice>
        <mc:Fallback xmlns="">
          <p:sp>
            <p:nvSpPr>
              <p:cNvPr id="6" name="TextBox 5"/>
              <p:cNvSpPr txBox="1">
                <a:spLocks noRot="1" noChangeAspect="1" noMove="1" noResize="1" noEditPoints="1" noAdjustHandles="1" noChangeArrowheads="1" noChangeShapeType="1" noTextEdit="1"/>
              </p:cNvSpPr>
              <p:nvPr/>
            </p:nvSpPr>
            <p:spPr>
              <a:xfrm>
                <a:off x="1714500" y="3892325"/>
                <a:ext cx="8915400" cy="246221"/>
              </a:xfrm>
              <a:prstGeom prst="rect">
                <a:avLst/>
              </a:prstGeom>
              <a:blipFill>
                <a:blip r:embed="rId3"/>
                <a:stretch>
                  <a:fillRect t="-5000" b="-45000"/>
                </a:stretch>
              </a:blipFill>
            </p:spPr>
            <p:txBody>
              <a:bodyPr/>
              <a:lstStyle/>
              <a:p>
                <a:r>
                  <a:rPr lang="en-US">
                    <a:noFill/>
                  </a:rPr>
                  <a:t> </a:t>
                </a:r>
              </a:p>
            </p:txBody>
          </p:sp>
        </mc:Fallback>
      </mc:AlternateContent>
      <p:sp>
        <p:nvSpPr>
          <p:cNvPr id="7" name="TextBox 6"/>
          <p:cNvSpPr txBox="1"/>
          <p:nvPr/>
        </p:nvSpPr>
        <p:spPr>
          <a:xfrm>
            <a:off x="2161822" y="2673451"/>
            <a:ext cx="8382000" cy="1200329"/>
          </a:xfrm>
          <a:prstGeom prst="rect">
            <a:avLst/>
          </a:prstGeom>
          <a:noFill/>
        </p:spPr>
        <p:txBody>
          <a:bodyPr wrap="square" rtlCol="0">
            <a:spAutoFit/>
          </a:bodyPr>
          <a:lstStyle/>
          <a:p>
            <a:r>
              <a:rPr lang="en-US" dirty="0"/>
              <a:t>In order to answer this question, it will help first to test if all the regression lines are parallel (if the slopes are equal). If they are, then we can check for a difference in energy expenditure across all body sizes simultaneously.  See Display 10.5 on page 276.</a:t>
            </a:r>
          </a:p>
        </p:txBody>
      </p:sp>
      <p:sp>
        <p:nvSpPr>
          <p:cNvPr id="8" name="Rectangle 7">
            <a:extLst>
              <a:ext uri="{FF2B5EF4-FFF2-40B4-BE49-F238E27FC236}">
                <a16:creationId xmlns:a16="http://schemas.microsoft.com/office/drawing/2014/main" id="{5EE7BF99-17DA-4DE2-9E9A-D2B21216B7F5}"/>
              </a:ext>
            </a:extLst>
          </p:cNvPr>
          <p:cNvSpPr/>
          <p:nvPr/>
        </p:nvSpPr>
        <p:spPr>
          <a:xfrm>
            <a:off x="5951926" y="3893843"/>
            <a:ext cx="457200" cy="28331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E97F4379-143C-48F5-8DB3-C75B3410D38E}"/>
              </a:ext>
            </a:extLst>
          </p:cNvPr>
          <p:cNvSpPr/>
          <p:nvPr/>
        </p:nvSpPr>
        <p:spPr>
          <a:xfrm>
            <a:off x="6790126" y="3893843"/>
            <a:ext cx="457200" cy="28331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91FDEFB9-6F6B-48F6-B283-07A96214B7EB}"/>
              </a:ext>
            </a:extLst>
          </p:cNvPr>
          <p:cNvSpPr/>
          <p:nvPr/>
        </p:nvSpPr>
        <p:spPr>
          <a:xfrm>
            <a:off x="9248816" y="3893521"/>
            <a:ext cx="608533" cy="31164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8D9A3D62-6450-40B6-99EB-879E64B8CA79}"/>
              </a:ext>
            </a:extLst>
          </p:cNvPr>
          <p:cNvSpPr/>
          <p:nvPr/>
        </p:nvSpPr>
        <p:spPr>
          <a:xfrm>
            <a:off x="7666960" y="3886200"/>
            <a:ext cx="608533" cy="31164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a:extLst>
              <a:ext uri="{FF2B5EF4-FFF2-40B4-BE49-F238E27FC236}">
                <a16:creationId xmlns:a16="http://schemas.microsoft.com/office/drawing/2014/main" id="{444A96B8-1471-4352-B1EF-8F2C008E8375}"/>
              </a:ext>
            </a:extLst>
          </p:cNvPr>
          <p:cNvSpPr txBox="1"/>
          <p:nvPr/>
        </p:nvSpPr>
        <p:spPr>
          <a:xfrm>
            <a:off x="2133600" y="4736069"/>
            <a:ext cx="4343400" cy="369332"/>
          </a:xfrm>
          <a:prstGeom prst="rect">
            <a:avLst/>
          </a:prstGeom>
          <a:noFill/>
          <a:ln w="19050">
            <a:solidFill>
              <a:srgbClr val="00B050"/>
            </a:solidFill>
          </a:ln>
        </p:spPr>
        <p:txBody>
          <a:bodyPr wrap="square" rtlCol="0">
            <a:spAutoFit/>
          </a:bodyPr>
          <a:lstStyle/>
          <a:p>
            <a:r>
              <a:rPr lang="en-US" dirty="0"/>
              <a:t>Indicator variables for the variable TYPE. </a:t>
            </a:r>
          </a:p>
        </p:txBody>
      </p:sp>
      <p:cxnSp>
        <p:nvCxnSpPr>
          <p:cNvPr id="19" name="Straight Arrow Connector 18">
            <a:extLst>
              <a:ext uri="{FF2B5EF4-FFF2-40B4-BE49-F238E27FC236}">
                <a16:creationId xmlns:a16="http://schemas.microsoft.com/office/drawing/2014/main" id="{D63559D9-A9E0-4E1F-926E-A2D2B548776A}"/>
              </a:ext>
            </a:extLst>
          </p:cNvPr>
          <p:cNvCxnSpPr>
            <a:cxnSpLocks/>
            <a:stCxn id="17" idx="0"/>
            <a:endCxn id="8" idx="2"/>
          </p:cNvCxnSpPr>
          <p:nvPr/>
        </p:nvCxnSpPr>
        <p:spPr>
          <a:xfrm flipV="1">
            <a:off x="4305300" y="4177157"/>
            <a:ext cx="1875226" cy="558912"/>
          </a:xfrm>
          <a:prstGeom prst="straightConnector1">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780D842-CEF2-417D-BC53-C1ED4627EE77}"/>
              </a:ext>
            </a:extLst>
          </p:cNvPr>
          <p:cNvCxnSpPr>
            <a:cxnSpLocks/>
            <a:stCxn id="17" idx="0"/>
            <a:endCxn id="16" idx="1"/>
          </p:cNvCxnSpPr>
          <p:nvPr/>
        </p:nvCxnSpPr>
        <p:spPr>
          <a:xfrm flipV="1">
            <a:off x="4305300" y="4042023"/>
            <a:ext cx="3361660" cy="694046"/>
          </a:xfrm>
          <a:prstGeom prst="straightConnector1">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FD64064-E6E3-4BAE-800A-AE425D7C3C40}"/>
              </a:ext>
            </a:extLst>
          </p:cNvPr>
          <p:cNvCxnSpPr>
            <a:cxnSpLocks/>
            <a:stCxn id="17" idx="0"/>
            <a:endCxn id="15" idx="1"/>
          </p:cNvCxnSpPr>
          <p:nvPr/>
        </p:nvCxnSpPr>
        <p:spPr>
          <a:xfrm flipV="1">
            <a:off x="4305300" y="4049344"/>
            <a:ext cx="4943516" cy="686725"/>
          </a:xfrm>
          <a:prstGeom prst="straightConnector1">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AC25C52-19F5-4565-810F-2A428850C2E2}"/>
              </a:ext>
            </a:extLst>
          </p:cNvPr>
          <p:cNvCxnSpPr>
            <a:cxnSpLocks/>
            <a:stCxn id="17" idx="0"/>
            <a:endCxn id="14" idx="2"/>
          </p:cNvCxnSpPr>
          <p:nvPr/>
        </p:nvCxnSpPr>
        <p:spPr>
          <a:xfrm flipV="1">
            <a:off x="4305300" y="4177157"/>
            <a:ext cx="2713426" cy="558912"/>
          </a:xfrm>
          <a:prstGeom prst="straightConnector1">
            <a:avLst/>
          </a:prstGeom>
          <a:ln w="158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0398B7A-9958-408F-882E-FCC0A84B500B}"/>
              </a:ext>
            </a:extLst>
          </p:cNvPr>
          <p:cNvSpPr txBox="1"/>
          <p:nvPr/>
        </p:nvSpPr>
        <p:spPr>
          <a:xfrm>
            <a:off x="533400" y="5105401"/>
            <a:ext cx="10363200" cy="369332"/>
          </a:xfrm>
          <a:prstGeom prst="rect">
            <a:avLst/>
          </a:prstGeom>
          <a:noFill/>
        </p:spPr>
        <p:txBody>
          <a:bodyPr wrap="square" rtlCol="0">
            <a:spAutoFit/>
          </a:bodyPr>
          <a:lstStyle/>
          <a:p>
            <a:r>
              <a:rPr lang="en-US" dirty="0"/>
              <a:t>Which of the three types of animals (bird, ebat, or nebat) is the reference type in this model?</a:t>
            </a:r>
          </a:p>
        </p:txBody>
      </p:sp>
      <p:sp>
        <p:nvSpPr>
          <p:cNvPr id="39" name="TextBox 38">
            <a:extLst>
              <a:ext uri="{FF2B5EF4-FFF2-40B4-BE49-F238E27FC236}">
                <a16:creationId xmlns:a16="http://schemas.microsoft.com/office/drawing/2014/main" id="{6BBAECF6-BE49-412B-A686-D5EAE049E3B0}"/>
              </a:ext>
            </a:extLst>
          </p:cNvPr>
          <p:cNvSpPr txBox="1"/>
          <p:nvPr/>
        </p:nvSpPr>
        <p:spPr>
          <a:xfrm>
            <a:off x="2961922" y="5666824"/>
            <a:ext cx="5506156" cy="646331"/>
          </a:xfrm>
          <a:prstGeom prst="rect">
            <a:avLst/>
          </a:prstGeom>
          <a:noFill/>
        </p:spPr>
        <p:txBody>
          <a:bodyPr wrap="square" rtlCol="0">
            <a:spAutoFit/>
          </a:bodyPr>
          <a:lstStyle/>
          <a:p>
            <a:r>
              <a:rPr lang="en-US" dirty="0"/>
              <a:t>Nebat</a:t>
            </a:r>
          </a:p>
          <a:p>
            <a:r>
              <a:rPr lang="en-US" dirty="0"/>
              <a:t>It occurs when ebat = 0 and bird = 0.</a:t>
            </a:r>
          </a:p>
        </p:txBody>
      </p:sp>
    </p:spTree>
    <p:extLst>
      <p:ext uri="{BB962C8B-B14F-4D97-AF65-F5344CB8AC3E}">
        <p14:creationId xmlns:p14="http://schemas.microsoft.com/office/powerpoint/2010/main" val="370528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animBg="1"/>
      <p:bldP spid="14" grpId="0" animBg="1"/>
      <p:bldP spid="15" grpId="0" animBg="1"/>
      <p:bldP spid="16" grpId="0" animBg="1"/>
      <p:bldP spid="17" grpId="0" animBg="1"/>
      <p:bldP spid="38" grpId="0"/>
      <p:bldP spid="3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615031-F15B-7450-5477-94C7E0525973}"/>
              </a:ext>
            </a:extLst>
          </p:cNvPr>
          <p:cNvPicPr>
            <a:picLocks noChangeAspect="1"/>
          </p:cNvPicPr>
          <p:nvPr/>
        </p:nvPicPr>
        <p:blipFill>
          <a:blip r:embed="rId2"/>
          <a:stretch>
            <a:fillRect/>
          </a:stretch>
        </p:blipFill>
        <p:spPr>
          <a:xfrm>
            <a:off x="487114" y="1094571"/>
            <a:ext cx="11247685" cy="297785"/>
          </a:xfrm>
          <a:prstGeom prst="rect">
            <a:avLst/>
          </a:prstGeom>
        </p:spPr>
      </p:pic>
      <p:sp>
        <p:nvSpPr>
          <p:cNvPr id="2" name="Title 1"/>
          <p:cNvSpPr>
            <a:spLocks noGrp="1"/>
          </p:cNvSpPr>
          <p:nvPr>
            <p:ph type="title"/>
          </p:nvPr>
        </p:nvSpPr>
        <p:spPr>
          <a:xfrm>
            <a:off x="3810000" y="-29492"/>
            <a:ext cx="4343400" cy="1143000"/>
          </a:xfrm>
        </p:spPr>
        <p:txBody>
          <a:bodyPr/>
          <a:lstStyle/>
          <a:p>
            <a:r>
              <a:rPr lang="en-US" dirty="0"/>
              <a:t>Echolocation!!!</a:t>
            </a:r>
          </a:p>
        </p:txBody>
      </p:sp>
      <mc:AlternateContent xmlns:mc="http://schemas.openxmlformats.org/markup-compatibility/2006" xmlns:a14="http://schemas.microsoft.com/office/drawing/2010/main">
        <mc:Choice Requires="a14">
          <p:sp>
            <p:nvSpPr>
              <p:cNvPr id="6" name="TextBox 5"/>
              <p:cNvSpPr txBox="1"/>
              <p:nvPr/>
            </p:nvSpPr>
            <p:spPr>
              <a:xfrm>
                <a:off x="1524000" y="908786"/>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0070C0"/>
                          </a:solidFill>
                          <a:latin typeface="Cambria Math" charset="0"/>
                          <a:ea typeface="Cambria Math" charset="0"/>
                          <a:cs typeface="Cambria Math" charset="0"/>
                        </a:rPr>
                        <m:t>𝜇</m:t>
                      </m:r>
                      <m:d>
                        <m:dPr>
                          <m:begChr m:val="{"/>
                          <m:endChr m:val="|"/>
                          <m:ctrlPr>
                            <a:rPr lang="en-US" sz="1600" i="1">
                              <a:solidFill>
                                <a:srgbClr val="0070C0"/>
                              </a:solidFill>
                              <a:latin typeface="Cambria Math" panose="02040503050406030204" pitchFamily="18" charset="0"/>
                              <a:ea typeface="Cambria Math" charset="0"/>
                              <a:cs typeface="Cambria Math" charset="0"/>
                            </a:rPr>
                          </m:ctrlPr>
                        </m:dPr>
                        <m:e>
                          <m:r>
                            <a:rPr lang="en-US" sz="1600" i="1">
                              <a:solidFill>
                                <a:srgbClr val="0070C0"/>
                              </a:solidFill>
                              <a:latin typeface="Cambria Math" charset="0"/>
                              <a:ea typeface="Cambria Math" charset="0"/>
                              <a:cs typeface="Cambria Math" charset="0"/>
                            </a:rPr>
                            <m:t>𝑙𝑒𝑛𝑒𝑟</m:t>
                          </m:r>
                          <m:r>
                            <a:rPr lang="en-US" sz="1600" i="1">
                              <a:solidFill>
                                <a:srgbClr val="0070C0"/>
                              </a:solidFill>
                              <a:latin typeface="Cambria Math" panose="02040503050406030204" pitchFamily="18" charset="0"/>
                              <a:ea typeface="Cambria Math" charset="0"/>
                              <a:cs typeface="Cambria Math" charset="0"/>
                            </a:rPr>
                            <m:t>𝑔</m:t>
                          </m:r>
                          <m:r>
                            <a:rPr lang="en-US" sz="1600" i="1">
                              <a:solidFill>
                                <a:srgbClr val="0070C0"/>
                              </a:solidFill>
                              <a:latin typeface="Cambria Math" charset="0"/>
                              <a:ea typeface="Cambria Math" charset="0"/>
                              <a:cs typeface="Cambria Math" charset="0"/>
                            </a:rPr>
                            <m:t>𝑦</m:t>
                          </m:r>
                          <m:r>
                            <a:rPr lang="en-US" sz="1600" i="1">
                              <a:solidFill>
                                <a:srgbClr val="0070C0"/>
                              </a:solidFill>
                              <a:latin typeface="Cambria Math" charset="0"/>
                              <a:ea typeface="Cambria Math" charset="0"/>
                              <a:cs typeface="Cambria Math" charset="0"/>
                            </a:rPr>
                            <m:t> </m:t>
                          </m:r>
                        </m:e>
                      </m:d>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𝑇𝑌𝑃𝐸</m:t>
                      </m:r>
                      <m:r>
                        <a:rPr lang="en-US" sz="1600" i="1">
                          <a:solidFill>
                            <a:srgbClr val="0070C0"/>
                          </a:solidFill>
                          <a:latin typeface="Cambria Math" charset="0"/>
                          <a:ea typeface="Cambria Math" charset="0"/>
                          <a:cs typeface="Cambria Math" charset="0"/>
                        </a:rPr>
                        <m:t>}= </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0</m:t>
                          </m:r>
                        </m:sub>
                      </m:sSub>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1</m:t>
                          </m:r>
                        </m:sub>
                      </m:sSub>
                      <m:r>
                        <a:rPr lang="en-US" sz="1600" i="1">
                          <a:solidFill>
                            <a:srgbClr val="0070C0"/>
                          </a:solidFill>
                          <a:latin typeface="Cambria Math" charset="0"/>
                          <a:ea typeface="Cambria Math" charset="0"/>
                          <a:cs typeface="Cambria Math" charset="0"/>
                        </a:rPr>
                        <m:t>𝑙𝑚𝑎𝑠𝑠</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2</m:t>
                          </m:r>
                        </m:sub>
                      </m:sSub>
                      <m:r>
                        <a:rPr lang="en-US" sz="1600" i="1">
                          <a:solidFill>
                            <a:srgbClr val="0070C0"/>
                          </a:solidFill>
                          <a:latin typeface="Cambria Math" charset="0"/>
                          <a:ea typeface="Cambria Math" charset="0"/>
                          <a:cs typeface="Cambria Math" charset="0"/>
                        </a:rPr>
                        <m:t>𝑏𝑖𝑟𝑑</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3</m:t>
                          </m:r>
                        </m:sub>
                      </m:sSub>
                      <m:r>
                        <a:rPr lang="en-US" sz="1600" i="1">
                          <a:solidFill>
                            <a:srgbClr val="0070C0"/>
                          </a:solidFill>
                          <a:latin typeface="Cambria Math" charset="0"/>
                          <a:ea typeface="Cambria Math" charset="0"/>
                          <a:cs typeface="Cambria Math" charset="0"/>
                        </a:rPr>
                        <m:t>𝑒𝑏𝑎𝑡</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4</m:t>
                          </m:r>
                        </m:sub>
                      </m:sSub>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𝑏𝑖𝑟𝑑</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5</m:t>
                          </m:r>
                        </m:sub>
                      </m:sSub>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𝑒𝑏𝑎𝑡</m:t>
                      </m:r>
                    </m:oMath>
                  </m:oMathPara>
                </a14:m>
                <a:endParaRPr lang="en-US" sz="1600" i="1" dirty="0">
                  <a:solidFill>
                    <a:srgbClr val="0070C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524000" y="908786"/>
                <a:ext cx="8915400" cy="246221"/>
              </a:xfrm>
              <a:prstGeom prst="rect">
                <a:avLst/>
              </a:prstGeom>
              <a:blipFill>
                <a:blip r:embed="rId3"/>
                <a:stretch>
                  <a:fillRect b="-45000"/>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21F60FEC-C84B-434C-B59C-73C09DF483E2}"/>
              </a:ext>
            </a:extLst>
          </p:cNvPr>
          <p:cNvSpPr txBox="1"/>
          <p:nvPr/>
        </p:nvSpPr>
        <p:spPr>
          <a:xfrm>
            <a:off x="1533475" y="1290524"/>
            <a:ext cx="6487455" cy="369332"/>
          </a:xfrm>
          <a:prstGeom prst="rect">
            <a:avLst/>
          </a:prstGeom>
          <a:noFill/>
        </p:spPr>
        <p:txBody>
          <a:bodyPr wrap="square" rtlCol="0">
            <a:spAutoFit/>
          </a:bodyPr>
          <a:lstStyle/>
          <a:p>
            <a:r>
              <a:rPr lang="en-US" dirty="0"/>
              <a:t>Individual regression equations for each value of TYPE:</a:t>
            </a:r>
          </a:p>
        </p:txBody>
      </p:sp>
      <p:sp>
        <p:nvSpPr>
          <p:cNvPr id="32" name="TextBox 31">
            <a:extLst>
              <a:ext uri="{FF2B5EF4-FFF2-40B4-BE49-F238E27FC236}">
                <a16:creationId xmlns:a16="http://schemas.microsoft.com/office/drawing/2014/main" id="{2CD0A17A-E97B-499A-88A4-302B7D4BD384}"/>
              </a:ext>
            </a:extLst>
          </p:cNvPr>
          <p:cNvSpPr txBox="1"/>
          <p:nvPr/>
        </p:nvSpPr>
        <p:spPr>
          <a:xfrm>
            <a:off x="1516542" y="1578599"/>
            <a:ext cx="6487455" cy="369332"/>
          </a:xfrm>
          <a:prstGeom prst="rect">
            <a:avLst/>
          </a:prstGeom>
          <a:noFill/>
        </p:spPr>
        <p:txBody>
          <a:bodyPr wrap="square" rtlCol="0">
            <a:spAutoFit/>
          </a:bodyPr>
          <a:lstStyle/>
          <a:p>
            <a:r>
              <a:rPr lang="en-US" dirty="0">
                <a:solidFill>
                  <a:srgbClr val="00B050"/>
                </a:solidFill>
              </a:rPr>
              <a:t>Type = ebat occurs when ebat=1 and bird = 0.</a:t>
            </a: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C694171-CAC3-40B0-AC96-3C9C27BE8601}"/>
                  </a:ext>
                </a:extLst>
              </p:cNvPr>
              <p:cNvSpPr txBox="1"/>
              <p:nvPr/>
            </p:nvSpPr>
            <p:spPr>
              <a:xfrm>
                <a:off x="1509889" y="1963580"/>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00B050"/>
                          </a:solidFill>
                          <a:latin typeface="Cambria Math" charset="0"/>
                          <a:ea typeface="Cambria Math" charset="0"/>
                          <a:cs typeface="Cambria Math" charset="0"/>
                        </a:rPr>
                        <m:t>𝜇</m:t>
                      </m:r>
                      <m:d>
                        <m:dPr>
                          <m:begChr m:val="{"/>
                          <m:endChr m:val="|"/>
                          <m:ctrlPr>
                            <a:rPr lang="en-US" sz="1600" i="1">
                              <a:solidFill>
                                <a:srgbClr val="00B050"/>
                              </a:solidFill>
                              <a:latin typeface="Cambria Math" panose="02040503050406030204" pitchFamily="18" charset="0"/>
                              <a:ea typeface="Cambria Math" charset="0"/>
                              <a:cs typeface="Cambria Math" charset="0"/>
                            </a:rPr>
                          </m:ctrlPr>
                        </m:dPr>
                        <m:e>
                          <m:r>
                            <a:rPr lang="en-US" sz="1600" i="1">
                              <a:solidFill>
                                <a:srgbClr val="00B050"/>
                              </a:solidFill>
                              <a:latin typeface="Cambria Math" charset="0"/>
                              <a:ea typeface="Cambria Math" charset="0"/>
                              <a:cs typeface="Cambria Math" charset="0"/>
                            </a:rPr>
                            <m:t>𝑙𝑒𝑛𝑒𝑟</m:t>
                          </m:r>
                          <m:r>
                            <a:rPr lang="en-US" sz="1600" i="1">
                              <a:solidFill>
                                <a:srgbClr val="00B050"/>
                              </a:solidFill>
                              <a:latin typeface="Cambria Math" panose="02040503050406030204" pitchFamily="18" charset="0"/>
                              <a:ea typeface="Cambria Math" charset="0"/>
                              <a:cs typeface="Cambria Math" charset="0"/>
                            </a:rPr>
                            <m:t>𝑔</m:t>
                          </m:r>
                          <m:r>
                            <a:rPr lang="en-US" sz="1600" i="1">
                              <a:solidFill>
                                <a:srgbClr val="00B050"/>
                              </a:solidFill>
                              <a:latin typeface="Cambria Math" charset="0"/>
                              <a:ea typeface="Cambria Math" charset="0"/>
                              <a:cs typeface="Cambria Math" charset="0"/>
                            </a:rPr>
                            <m:t>𝑦</m:t>
                          </m:r>
                          <m:r>
                            <a:rPr lang="en-US" sz="1600" i="1">
                              <a:solidFill>
                                <a:srgbClr val="00B050"/>
                              </a:solidFill>
                              <a:latin typeface="Cambria Math" charset="0"/>
                              <a:ea typeface="Cambria Math" charset="0"/>
                              <a:cs typeface="Cambria Math" charset="0"/>
                            </a:rPr>
                            <m:t> </m:t>
                          </m:r>
                        </m:e>
                      </m:d>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𝑇𝑌𝑃𝐸</m:t>
                      </m:r>
                      <m:r>
                        <a:rPr lang="en-US" sz="1600" i="1">
                          <a:solidFill>
                            <a:srgbClr val="00B050"/>
                          </a:solidFill>
                          <a:latin typeface="Cambria Math" panose="02040503050406030204" pitchFamily="18" charset="0"/>
                          <a:ea typeface="Cambria Math" charset="0"/>
                          <a:cs typeface="Cambria Math" charset="0"/>
                        </a:rPr>
                        <m:t>=</m:t>
                      </m:r>
                      <m:r>
                        <a:rPr lang="en-US" sz="1600" b="1" i="1">
                          <a:solidFill>
                            <a:srgbClr val="00B050"/>
                          </a:solidFill>
                          <a:latin typeface="Cambria Math" panose="02040503050406030204" pitchFamily="18" charset="0"/>
                          <a:ea typeface="Cambria Math" charset="0"/>
                          <a:cs typeface="Cambria Math" charset="0"/>
                        </a:rPr>
                        <m:t>𝒆𝒃𝒂𝒕</m:t>
                      </m:r>
                      <m:r>
                        <a:rPr lang="en-US" sz="1600" i="1">
                          <a:solidFill>
                            <a:srgbClr val="00B050"/>
                          </a:solidFill>
                          <a:latin typeface="Cambria Math" charset="0"/>
                          <a:ea typeface="Cambria Math" charset="0"/>
                          <a:cs typeface="Cambria Math" charset="0"/>
                        </a:rPr>
                        <m:t>}= </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0</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1</m:t>
                          </m:r>
                        </m:sub>
                      </m:sSub>
                      <m:r>
                        <a:rPr lang="en-US" sz="1600" i="1">
                          <a:solidFill>
                            <a:srgbClr val="00B050"/>
                          </a:solidFill>
                          <a:latin typeface="Cambria Math" charset="0"/>
                          <a:ea typeface="Cambria Math" charset="0"/>
                          <a:cs typeface="Cambria Math" charset="0"/>
                        </a:rPr>
                        <m:t>𝑙𝑚𝑎𝑠𝑠</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2</m:t>
                          </m:r>
                        </m:sub>
                      </m:sSub>
                      <m:r>
                        <a:rPr lang="en-US" sz="1600" i="1">
                          <a:solidFill>
                            <a:srgbClr val="00B050"/>
                          </a:solidFill>
                          <a:latin typeface="Cambria Math" panose="02040503050406030204" pitchFamily="18" charset="0"/>
                          <a:ea typeface="Cambria Math" charset="0"/>
                          <a:cs typeface="Cambria Math" charset="0"/>
                        </a:rPr>
                        <m:t>∗0</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3</m:t>
                          </m:r>
                        </m:sub>
                      </m:sSub>
                      <m:r>
                        <a:rPr lang="en-US" sz="1600" i="1">
                          <a:solidFill>
                            <a:srgbClr val="00B050"/>
                          </a:solidFill>
                          <a:latin typeface="Cambria Math" panose="02040503050406030204" pitchFamily="18" charset="0"/>
                          <a:ea typeface="Cambria Math" charset="0"/>
                          <a:cs typeface="Cambria Math" charset="0"/>
                        </a:rPr>
                        <m:t>∗1</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4</m:t>
                          </m:r>
                        </m:sub>
                      </m:sSub>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∗0</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5</m:t>
                          </m:r>
                        </m:sub>
                      </m:sSub>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∗1</m:t>
                      </m:r>
                    </m:oMath>
                  </m:oMathPara>
                </a14:m>
                <a:endParaRPr lang="en-US" sz="1600" i="1" dirty="0">
                  <a:solidFill>
                    <a:srgbClr val="00B050"/>
                  </a:solidFill>
                </a:endParaRPr>
              </a:p>
            </p:txBody>
          </p:sp>
        </mc:Choice>
        <mc:Fallback xmlns="">
          <p:sp>
            <p:nvSpPr>
              <p:cNvPr id="35" name="TextBox 34">
                <a:extLst>
                  <a:ext uri="{FF2B5EF4-FFF2-40B4-BE49-F238E27FC236}">
                    <a16:creationId xmlns:a16="http://schemas.microsoft.com/office/drawing/2014/main" id="{EC694171-CAC3-40B0-AC96-3C9C27BE8601}"/>
                  </a:ext>
                </a:extLst>
              </p:cNvPr>
              <p:cNvSpPr txBox="1">
                <a:spLocks noRot="1" noChangeAspect="1" noMove="1" noResize="1" noEditPoints="1" noAdjustHandles="1" noChangeArrowheads="1" noChangeShapeType="1" noTextEdit="1"/>
              </p:cNvSpPr>
              <p:nvPr/>
            </p:nvSpPr>
            <p:spPr>
              <a:xfrm>
                <a:off x="1509889" y="1963580"/>
                <a:ext cx="8915400" cy="246221"/>
              </a:xfrm>
              <a:prstGeom prst="rect">
                <a:avLst/>
              </a:prstGeom>
              <a:blipFill>
                <a:blip r:embed="rId4"/>
                <a:stretch>
                  <a:fillRect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B9C0BD13-3739-4A5A-8644-4FFFF4565D33}"/>
                  </a:ext>
                </a:extLst>
              </p:cNvPr>
              <p:cNvSpPr txBox="1"/>
              <p:nvPr/>
            </p:nvSpPr>
            <p:spPr>
              <a:xfrm>
                <a:off x="1509889" y="2294137"/>
                <a:ext cx="70866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00B050"/>
                          </a:solidFill>
                          <a:latin typeface="Cambria Math" charset="0"/>
                          <a:ea typeface="Cambria Math" charset="0"/>
                          <a:cs typeface="Cambria Math" charset="0"/>
                        </a:rPr>
                        <m:t>𝜇</m:t>
                      </m:r>
                      <m:d>
                        <m:dPr>
                          <m:begChr m:val="{"/>
                          <m:endChr m:val="|"/>
                          <m:ctrlPr>
                            <a:rPr lang="en-US" sz="1600" i="1">
                              <a:solidFill>
                                <a:srgbClr val="00B050"/>
                              </a:solidFill>
                              <a:latin typeface="Cambria Math" panose="02040503050406030204" pitchFamily="18" charset="0"/>
                              <a:ea typeface="Cambria Math" charset="0"/>
                              <a:cs typeface="Cambria Math" charset="0"/>
                            </a:rPr>
                          </m:ctrlPr>
                        </m:dPr>
                        <m:e>
                          <m:r>
                            <a:rPr lang="en-US" sz="1600" i="1">
                              <a:solidFill>
                                <a:srgbClr val="00B050"/>
                              </a:solidFill>
                              <a:latin typeface="Cambria Math" charset="0"/>
                              <a:ea typeface="Cambria Math" charset="0"/>
                              <a:cs typeface="Cambria Math" charset="0"/>
                            </a:rPr>
                            <m:t>𝑙𝑒𝑛𝑒𝑟</m:t>
                          </m:r>
                          <m:r>
                            <a:rPr lang="en-US" sz="1600" i="1">
                              <a:solidFill>
                                <a:srgbClr val="00B050"/>
                              </a:solidFill>
                              <a:latin typeface="Cambria Math" panose="02040503050406030204" pitchFamily="18" charset="0"/>
                              <a:ea typeface="Cambria Math" charset="0"/>
                              <a:cs typeface="Cambria Math" charset="0"/>
                            </a:rPr>
                            <m:t>𝑔</m:t>
                          </m:r>
                          <m:r>
                            <a:rPr lang="en-US" sz="1600" i="1">
                              <a:solidFill>
                                <a:srgbClr val="00B050"/>
                              </a:solidFill>
                              <a:latin typeface="Cambria Math" charset="0"/>
                              <a:ea typeface="Cambria Math" charset="0"/>
                              <a:cs typeface="Cambria Math" charset="0"/>
                            </a:rPr>
                            <m:t>𝑦</m:t>
                          </m:r>
                          <m:r>
                            <a:rPr lang="en-US" sz="1600" i="1">
                              <a:solidFill>
                                <a:srgbClr val="00B050"/>
                              </a:solidFill>
                              <a:latin typeface="Cambria Math" charset="0"/>
                              <a:ea typeface="Cambria Math" charset="0"/>
                              <a:cs typeface="Cambria Math" charset="0"/>
                            </a:rPr>
                            <m:t> </m:t>
                          </m:r>
                        </m:e>
                      </m:d>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𝑇𝑌𝑃𝐸</m:t>
                      </m:r>
                      <m:r>
                        <a:rPr lang="en-US" sz="1600" i="1">
                          <a:solidFill>
                            <a:srgbClr val="00B050"/>
                          </a:solidFill>
                          <a:latin typeface="Cambria Math" panose="02040503050406030204" pitchFamily="18" charset="0"/>
                          <a:ea typeface="Cambria Math" charset="0"/>
                          <a:cs typeface="Cambria Math" charset="0"/>
                        </a:rPr>
                        <m:t>=</m:t>
                      </m:r>
                      <m:r>
                        <a:rPr lang="en-US" sz="1600" b="1" i="1">
                          <a:solidFill>
                            <a:srgbClr val="00B050"/>
                          </a:solidFill>
                          <a:latin typeface="Cambria Math" panose="02040503050406030204" pitchFamily="18" charset="0"/>
                          <a:ea typeface="Cambria Math" charset="0"/>
                          <a:cs typeface="Cambria Math" charset="0"/>
                        </a:rPr>
                        <m:t>𝒆𝒃𝒂𝒕</m:t>
                      </m:r>
                      <m:r>
                        <a:rPr lang="en-US" sz="1600" i="1">
                          <a:solidFill>
                            <a:srgbClr val="00B050"/>
                          </a:solidFill>
                          <a:latin typeface="Cambria Math" charset="0"/>
                          <a:ea typeface="Cambria Math" charset="0"/>
                          <a:cs typeface="Cambria Math" charset="0"/>
                        </a:rPr>
                        <m:t>}= </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0</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1</m:t>
                          </m:r>
                        </m:sub>
                      </m:sSub>
                      <m:r>
                        <a:rPr lang="en-US" sz="1600" i="1">
                          <a:solidFill>
                            <a:srgbClr val="00B050"/>
                          </a:solidFill>
                          <a:latin typeface="Cambria Math" charset="0"/>
                          <a:ea typeface="Cambria Math" charset="0"/>
                          <a:cs typeface="Cambria Math" charset="0"/>
                        </a:rPr>
                        <m:t>𝑙𝑚𝑎𝑠𝑠</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3</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5</m:t>
                          </m:r>
                        </m:sub>
                      </m:sSub>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oMath>
                  </m:oMathPara>
                </a14:m>
                <a:endParaRPr lang="en-US" sz="1600" i="1" dirty="0">
                  <a:solidFill>
                    <a:srgbClr val="00B050"/>
                  </a:solidFill>
                </a:endParaRPr>
              </a:p>
            </p:txBody>
          </p:sp>
        </mc:Choice>
        <mc:Fallback xmlns="">
          <p:sp>
            <p:nvSpPr>
              <p:cNvPr id="36" name="TextBox 35">
                <a:extLst>
                  <a:ext uri="{FF2B5EF4-FFF2-40B4-BE49-F238E27FC236}">
                    <a16:creationId xmlns:a16="http://schemas.microsoft.com/office/drawing/2014/main" id="{B9C0BD13-3739-4A5A-8644-4FFFF4565D33}"/>
                  </a:ext>
                </a:extLst>
              </p:cNvPr>
              <p:cNvSpPr txBox="1">
                <a:spLocks noRot="1" noChangeAspect="1" noMove="1" noResize="1" noEditPoints="1" noAdjustHandles="1" noChangeArrowheads="1" noChangeShapeType="1" noTextEdit="1"/>
              </p:cNvSpPr>
              <p:nvPr/>
            </p:nvSpPr>
            <p:spPr>
              <a:xfrm>
                <a:off x="1509889" y="2294137"/>
                <a:ext cx="7086600" cy="246221"/>
              </a:xfrm>
              <a:prstGeom prst="rect">
                <a:avLst/>
              </a:prstGeom>
              <a:blipFill>
                <a:blip r:embed="rId5"/>
                <a:stretch>
                  <a:fillRect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EC52666-230D-4F4B-84C6-376AF6291E94}"/>
                  </a:ext>
                </a:extLst>
              </p:cNvPr>
              <p:cNvSpPr txBox="1"/>
              <p:nvPr/>
            </p:nvSpPr>
            <p:spPr>
              <a:xfrm>
                <a:off x="1484489" y="2762250"/>
                <a:ext cx="70866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00B050"/>
                          </a:solidFill>
                          <a:latin typeface="Cambria Math" charset="0"/>
                          <a:ea typeface="Cambria Math" charset="0"/>
                          <a:cs typeface="Cambria Math" charset="0"/>
                        </a:rPr>
                        <m:t>𝜇</m:t>
                      </m:r>
                      <m:d>
                        <m:dPr>
                          <m:begChr m:val="{"/>
                          <m:endChr m:val="|"/>
                          <m:ctrlPr>
                            <a:rPr lang="en-US" sz="1600" i="1">
                              <a:solidFill>
                                <a:srgbClr val="00B050"/>
                              </a:solidFill>
                              <a:latin typeface="Cambria Math" panose="02040503050406030204" pitchFamily="18" charset="0"/>
                              <a:ea typeface="Cambria Math" charset="0"/>
                              <a:cs typeface="Cambria Math" charset="0"/>
                            </a:rPr>
                          </m:ctrlPr>
                        </m:dPr>
                        <m:e>
                          <m:r>
                            <a:rPr lang="en-US" sz="1600" i="1">
                              <a:solidFill>
                                <a:srgbClr val="00B050"/>
                              </a:solidFill>
                              <a:latin typeface="Cambria Math" charset="0"/>
                              <a:ea typeface="Cambria Math" charset="0"/>
                              <a:cs typeface="Cambria Math" charset="0"/>
                            </a:rPr>
                            <m:t>𝑙𝑒𝑛𝑒𝑟</m:t>
                          </m:r>
                          <m:r>
                            <a:rPr lang="en-US" sz="1600" i="1">
                              <a:solidFill>
                                <a:srgbClr val="00B050"/>
                              </a:solidFill>
                              <a:latin typeface="Cambria Math" panose="02040503050406030204" pitchFamily="18" charset="0"/>
                              <a:ea typeface="Cambria Math" charset="0"/>
                              <a:cs typeface="Cambria Math" charset="0"/>
                            </a:rPr>
                            <m:t>𝑔</m:t>
                          </m:r>
                          <m:r>
                            <a:rPr lang="en-US" sz="1600" i="1">
                              <a:solidFill>
                                <a:srgbClr val="00B050"/>
                              </a:solidFill>
                              <a:latin typeface="Cambria Math" charset="0"/>
                              <a:ea typeface="Cambria Math" charset="0"/>
                              <a:cs typeface="Cambria Math" charset="0"/>
                            </a:rPr>
                            <m:t>𝑦</m:t>
                          </m:r>
                          <m:r>
                            <a:rPr lang="en-US" sz="1600" i="1">
                              <a:solidFill>
                                <a:srgbClr val="00B050"/>
                              </a:solidFill>
                              <a:latin typeface="Cambria Math" charset="0"/>
                              <a:ea typeface="Cambria Math" charset="0"/>
                              <a:cs typeface="Cambria Math" charset="0"/>
                            </a:rPr>
                            <m:t> </m:t>
                          </m:r>
                        </m:e>
                      </m:d>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𝑇𝑌𝑃𝐸</m:t>
                      </m:r>
                      <m:r>
                        <a:rPr lang="en-US" sz="1600" i="1">
                          <a:solidFill>
                            <a:srgbClr val="00B050"/>
                          </a:solidFill>
                          <a:latin typeface="Cambria Math" panose="02040503050406030204" pitchFamily="18" charset="0"/>
                          <a:ea typeface="Cambria Math" charset="0"/>
                          <a:cs typeface="Cambria Math" charset="0"/>
                        </a:rPr>
                        <m:t>=</m:t>
                      </m:r>
                      <m:r>
                        <a:rPr lang="en-US" sz="1600" b="1" i="1">
                          <a:solidFill>
                            <a:srgbClr val="00B050"/>
                          </a:solidFill>
                          <a:latin typeface="Cambria Math" panose="02040503050406030204" pitchFamily="18" charset="0"/>
                          <a:ea typeface="Cambria Math" charset="0"/>
                          <a:cs typeface="Cambria Math" charset="0"/>
                        </a:rPr>
                        <m:t>𝒆𝒃𝒂𝒕</m:t>
                      </m:r>
                      <m:r>
                        <a:rPr lang="en-US" sz="1600" i="1">
                          <a:solidFill>
                            <a:srgbClr val="00B050"/>
                          </a:solidFill>
                          <a:latin typeface="Cambria Math" charset="0"/>
                          <a:ea typeface="Cambria Math" charset="0"/>
                          <a:cs typeface="Cambria Math" charset="0"/>
                        </a:rPr>
                        <m:t>}= </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0</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3</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1</m:t>
                          </m:r>
                        </m:sub>
                      </m:sSub>
                      <m:r>
                        <a:rPr lang="en-US" sz="1600" i="1">
                          <a:solidFill>
                            <a:srgbClr val="00B050"/>
                          </a:solidFill>
                          <a:latin typeface="Cambria Math" charset="0"/>
                          <a:ea typeface="Cambria Math" charset="0"/>
                          <a:cs typeface="Cambria Math" charset="0"/>
                        </a:rPr>
                        <m:t>𝑙𝑚𝑎𝑠𝑠</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5</m:t>
                          </m:r>
                        </m:sub>
                      </m:sSub>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oMath>
                  </m:oMathPara>
                </a14:m>
                <a:endParaRPr lang="en-US" sz="1600" i="1" dirty="0">
                  <a:solidFill>
                    <a:srgbClr val="00B050"/>
                  </a:solidFill>
                </a:endParaRPr>
              </a:p>
            </p:txBody>
          </p:sp>
        </mc:Choice>
        <mc:Fallback xmlns="">
          <p:sp>
            <p:nvSpPr>
              <p:cNvPr id="37" name="TextBox 36">
                <a:extLst>
                  <a:ext uri="{FF2B5EF4-FFF2-40B4-BE49-F238E27FC236}">
                    <a16:creationId xmlns:a16="http://schemas.microsoft.com/office/drawing/2014/main" id="{9EC52666-230D-4F4B-84C6-376AF6291E94}"/>
                  </a:ext>
                </a:extLst>
              </p:cNvPr>
              <p:cNvSpPr txBox="1">
                <a:spLocks noRot="1" noChangeAspect="1" noMove="1" noResize="1" noEditPoints="1" noAdjustHandles="1" noChangeArrowheads="1" noChangeShapeType="1" noTextEdit="1"/>
              </p:cNvSpPr>
              <p:nvPr/>
            </p:nvSpPr>
            <p:spPr>
              <a:xfrm>
                <a:off x="1484489" y="2762250"/>
                <a:ext cx="7086600" cy="246221"/>
              </a:xfrm>
              <a:prstGeom prst="rect">
                <a:avLst/>
              </a:prstGeom>
              <a:blipFill>
                <a:blip r:embed="rId6"/>
                <a:stretch>
                  <a:fillRect t="-4762"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1253D51-3C0C-402F-B698-E8C1E7248654}"/>
                  </a:ext>
                </a:extLst>
              </p:cNvPr>
              <p:cNvSpPr txBox="1"/>
              <p:nvPr/>
            </p:nvSpPr>
            <p:spPr>
              <a:xfrm>
                <a:off x="1828800" y="3092807"/>
                <a:ext cx="7086600" cy="246221"/>
              </a:xfrm>
              <a:prstGeom prst="rect">
                <a:avLst/>
              </a:prstGeom>
              <a:noFill/>
            </p:spPr>
            <p:txBody>
              <a:bodyPr wrap="square" lIns="0" tIns="0" rIns="0" bIns="0" rtlCol="0">
                <a:spAutoFit/>
              </a:bodyPr>
              <a:lstStyle/>
              <a:p>
                <a14:m>
                  <m:oMath xmlns:m="http://schemas.openxmlformats.org/officeDocument/2006/math">
                    <m:r>
                      <a:rPr lang="en-US" sz="1600" i="1">
                        <a:solidFill>
                          <a:srgbClr val="00B050"/>
                        </a:solidFill>
                        <a:latin typeface="Cambria Math" charset="0"/>
                        <a:ea typeface="Cambria Math" charset="0"/>
                        <a:cs typeface="Cambria Math" charset="0"/>
                      </a:rPr>
                      <m:t>𝜇</m:t>
                    </m:r>
                    <m:d>
                      <m:dPr>
                        <m:begChr m:val="{"/>
                        <m:endChr m:val="|"/>
                        <m:ctrlPr>
                          <a:rPr lang="en-US" sz="1600" i="1">
                            <a:solidFill>
                              <a:srgbClr val="00B050"/>
                            </a:solidFill>
                            <a:latin typeface="Cambria Math" panose="02040503050406030204" pitchFamily="18" charset="0"/>
                            <a:ea typeface="Cambria Math" charset="0"/>
                            <a:cs typeface="Cambria Math" charset="0"/>
                          </a:rPr>
                        </m:ctrlPr>
                      </m:dPr>
                      <m:e>
                        <m:r>
                          <a:rPr lang="en-US" sz="1600" i="1">
                            <a:solidFill>
                              <a:srgbClr val="00B050"/>
                            </a:solidFill>
                            <a:latin typeface="Cambria Math" charset="0"/>
                            <a:ea typeface="Cambria Math" charset="0"/>
                            <a:cs typeface="Cambria Math" charset="0"/>
                          </a:rPr>
                          <m:t>𝑙𝑒𝑛𝑒𝑟</m:t>
                        </m:r>
                        <m:r>
                          <a:rPr lang="en-US" sz="1600" i="1">
                            <a:solidFill>
                              <a:srgbClr val="00B050"/>
                            </a:solidFill>
                            <a:latin typeface="Cambria Math" panose="02040503050406030204" pitchFamily="18" charset="0"/>
                            <a:ea typeface="Cambria Math" charset="0"/>
                            <a:cs typeface="Cambria Math" charset="0"/>
                          </a:rPr>
                          <m:t>𝑔</m:t>
                        </m:r>
                        <m:r>
                          <a:rPr lang="en-US" sz="1600" i="1">
                            <a:solidFill>
                              <a:srgbClr val="00B050"/>
                            </a:solidFill>
                            <a:latin typeface="Cambria Math" charset="0"/>
                            <a:ea typeface="Cambria Math" charset="0"/>
                            <a:cs typeface="Cambria Math" charset="0"/>
                          </a:rPr>
                          <m:t>𝑦</m:t>
                        </m:r>
                        <m:r>
                          <a:rPr lang="en-US" sz="1600" i="1">
                            <a:solidFill>
                              <a:srgbClr val="00B050"/>
                            </a:solidFill>
                            <a:latin typeface="Cambria Math" charset="0"/>
                            <a:ea typeface="Cambria Math" charset="0"/>
                            <a:cs typeface="Cambria Math" charset="0"/>
                          </a:rPr>
                          <m:t> </m:t>
                        </m:r>
                      </m:e>
                    </m:d>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𝑇𝑌𝑃𝐸</m:t>
                    </m:r>
                    <m:r>
                      <a:rPr lang="en-US" sz="1600" i="1">
                        <a:solidFill>
                          <a:srgbClr val="00B050"/>
                        </a:solidFill>
                        <a:latin typeface="Cambria Math" panose="02040503050406030204" pitchFamily="18" charset="0"/>
                        <a:ea typeface="Cambria Math" charset="0"/>
                        <a:cs typeface="Cambria Math" charset="0"/>
                      </a:rPr>
                      <m:t>=</m:t>
                    </m:r>
                    <m:r>
                      <a:rPr lang="en-US" sz="1600" b="1" i="1">
                        <a:solidFill>
                          <a:srgbClr val="00B050"/>
                        </a:solidFill>
                        <a:latin typeface="Cambria Math" panose="02040503050406030204" pitchFamily="18" charset="0"/>
                        <a:ea typeface="Cambria Math" charset="0"/>
                        <a:cs typeface="Cambria Math" charset="0"/>
                      </a:rPr>
                      <m:t>𝒆𝒃𝒂𝒕</m:t>
                    </m:r>
                    <m:r>
                      <a:rPr lang="en-US" sz="1600" i="1">
                        <a:solidFill>
                          <a:srgbClr val="00B050"/>
                        </a:solidFill>
                        <a:latin typeface="Cambria Math" charset="0"/>
                        <a:ea typeface="Cambria Math" charset="0"/>
                        <a:cs typeface="Cambria Math" charset="0"/>
                      </a:rPr>
                      <m:t>}=</m:t>
                    </m:r>
                    <m:d>
                      <m:dPr>
                        <m:ctrlPr>
                          <a:rPr lang="en-US" sz="1600" i="1">
                            <a:solidFill>
                              <a:srgbClr val="00B050"/>
                            </a:solidFill>
                            <a:latin typeface="Cambria Math" panose="02040503050406030204" pitchFamily="18" charset="0"/>
                            <a:ea typeface="Cambria Math" charset="0"/>
                            <a:cs typeface="Cambria Math" charset="0"/>
                          </a:rPr>
                        </m:ctrlPr>
                      </m:dPr>
                      <m:e>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0</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3</m:t>
                            </m:r>
                          </m:sub>
                        </m:sSub>
                      </m:e>
                    </m:d>
                    <m:r>
                      <a:rPr lang="en-US" sz="1600" i="1">
                        <a:solidFill>
                          <a:srgbClr val="00B050"/>
                        </a:solidFill>
                        <a:latin typeface="Cambria Math" panose="02040503050406030204" pitchFamily="18" charset="0"/>
                        <a:ea typeface="Cambria Math" charset="0"/>
                        <a:cs typeface="Cambria Math" charset="0"/>
                      </a:rPr>
                      <m:t>+(</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1</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5</m:t>
                        </m:r>
                      </m:sub>
                    </m:sSub>
                    <m:r>
                      <a:rPr lang="en-US" sz="1600" i="1">
                        <a:solidFill>
                          <a:srgbClr val="00B050"/>
                        </a:solidFill>
                        <a:latin typeface="Cambria Math" panose="02040503050406030204" pitchFamily="18" charset="0"/>
                        <a:ea typeface="Cambria Math" charset="0"/>
                        <a:cs typeface="Cambria Math" charset="0"/>
                      </a:rPr>
                      <m:t>)</m:t>
                    </m:r>
                    <m:r>
                      <a:rPr lang="en-US" sz="1600" i="1">
                        <a:solidFill>
                          <a:srgbClr val="00B050"/>
                        </a:solidFill>
                        <a:latin typeface="Cambria Math" charset="0"/>
                        <a:ea typeface="Cambria Math" charset="0"/>
                        <a:cs typeface="Cambria Math" charset="0"/>
                      </a:rPr>
                      <m:t>𝑙𝑚𝑎𝑠𝑠</m:t>
                    </m:r>
                  </m:oMath>
                </a14:m>
                <a:r>
                  <a:rPr lang="en-US" sz="1600" i="1" dirty="0">
                    <a:solidFill>
                      <a:srgbClr val="00B050"/>
                    </a:solidFill>
                  </a:rPr>
                  <a:t>:  slope =</a:t>
                </a:r>
                <a:r>
                  <a:rPr lang="en-US" sz="1600" dirty="0">
                    <a:solidFill>
                      <a:srgbClr val="00B050"/>
                    </a:solidFill>
                    <a:ea typeface="Cambria Math" charset="0"/>
                    <a:cs typeface="Cambria Math" charset="0"/>
                  </a:rPr>
                  <a:t> </a:t>
                </a:r>
                <a14:m>
                  <m:oMath xmlns:m="http://schemas.openxmlformats.org/officeDocument/2006/math">
                    <m:sSub>
                      <m:sSubPr>
                        <m:ctrlPr>
                          <a:rPr lang="en-US" sz="1600" b="1" i="1">
                            <a:solidFill>
                              <a:srgbClr val="00B050"/>
                            </a:solidFill>
                            <a:latin typeface="Cambria Math" panose="02040503050406030204" pitchFamily="18" charset="0"/>
                            <a:ea typeface="Cambria Math" charset="0"/>
                            <a:cs typeface="Cambria Math" charset="0"/>
                          </a:rPr>
                        </m:ctrlPr>
                      </m:sSubPr>
                      <m:e>
                        <m:r>
                          <a:rPr lang="en-US" sz="1600" b="1" i="1">
                            <a:solidFill>
                              <a:srgbClr val="00B050"/>
                            </a:solidFill>
                            <a:latin typeface="Cambria Math" charset="0"/>
                            <a:ea typeface="Cambria Math" charset="0"/>
                            <a:cs typeface="Cambria Math" charset="0"/>
                          </a:rPr>
                          <m:t>𝜷</m:t>
                        </m:r>
                      </m:e>
                      <m:sub>
                        <m:r>
                          <a:rPr lang="en-US" sz="1600" b="1" i="1">
                            <a:solidFill>
                              <a:srgbClr val="00B050"/>
                            </a:solidFill>
                            <a:latin typeface="Cambria Math" charset="0"/>
                            <a:ea typeface="Cambria Math" charset="0"/>
                            <a:cs typeface="Cambria Math" charset="0"/>
                          </a:rPr>
                          <m:t>𝟏</m:t>
                        </m:r>
                      </m:sub>
                    </m:sSub>
                    <m:sSub>
                      <m:sSubPr>
                        <m:ctrlPr>
                          <a:rPr lang="en-US" sz="1600" b="1" i="1">
                            <a:solidFill>
                              <a:srgbClr val="00B050"/>
                            </a:solidFill>
                            <a:latin typeface="Cambria Math" panose="02040503050406030204" pitchFamily="18" charset="0"/>
                            <a:ea typeface="Cambria Math" charset="0"/>
                            <a:cs typeface="Cambria Math" charset="0"/>
                          </a:rPr>
                        </m:ctrlPr>
                      </m:sSubPr>
                      <m:e>
                        <m:r>
                          <a:rPr lang="en-US" sz="1600" b="1" i="1">
                            <a:solidFill>
                              <a:srgbClr val="00B050"/>
                            </a:solidFill>
                            <a:latin typeface="Cambria Math" charset="0"/>
                            <a:ea typeface="Cambria Math" charset="0"/>
                            <a:cs typeface="Cambria Math" charset="0"/>
                          </a:rPr>
                          <m:t>+</m:t>
                        </m:r>
                        <m:r>
                          <a:rPr lang="en-US" sz="1600" b="1" i="1">
                            <a:solidFill>
                              <a:srgbClr val="00B050"/>
                            </a:solidFill>
                            <a:latin typeface="Cambria Math" charset="0"/>
                            <a:ea typeface="Cambria Math" charset="0"/>
                            <a:cs typeface="Cambria Math" charset="0"/>
                          </a:rPr>
                          <m:t>𝜷</m:t>
                        </m:r>
                      </m:e>
                      <m:sub>
                        <m:r>
                          <a:rPr lang="en-US" sz="1600" b="1" i="1">
                            <a:solidFill>
                              <a:srgbClr val="00B050"/>
                            </a:solidFill>
                            <a:latin typeface="Cambria Math" charset="0"/>
                            <a:ea typeface="Cambria Math" charset="0"/>
                            <a:cs typeface="Cambria Math" charset="0"/>
                          </a:rPr>
                          <m:t>𝟓</m:t>
                        </m:r>
                      </m:sub>
                    </m:sSub>
                  </m:oMath>
                </a14:m>
                <a:r>
                  <a:rPr lang="en-US" sz="1600" i="1" dirty="0">
                    <a:solidFill>
                      <a:srgbClr val="00B050"/>
                    </a:solidFill>
                  </a:rPr>
                  <a:t> </a:t>
                </a:r>
              </a:p>
            </p:txBody>
          </p:sp>
        </mc:Choice>
        <mc:Fallback xmlns="">
          <p:sp>
            <p:nvSpPr>
              <p:cNvPr id="38" name="TextBox 37">
                <a:extLst>
                  <a:ext uri="{FF2B5EF4-FFF2-40B4-BE49-F238E27FC236}">
                    <a16:creationId xmlns:a16="http://schemas.microsoft.com/office/drawing/2014/main" id="{C1253D51-3C0C-402F-B698-E8C1E7248654}"/>
                  </a:ext>
                </a:extLst>
              </p:cNvPr>
              <p:cNvSpPr txBox="1">
                <a:spLocks noRot="1" noChangeAspect="1" noMove="1" noResize="1" noEditPoints="1" noAdjustHandles="1" noChangeArrowheads="1" noChangeShapeType="1" noTextEdit="1"/>
              </p:cNvSpPr>
              <p:nvPr/>
            </p:nvSpPr>
            <p:spPr>
              <a:xfrm>
                <a:off x="1828800" y="3092807"/>
                <a:ext cx="7086600" cy="246221"/>
              </a:xfrm>
              <a:prstGeom prst="rect">
                <a:avLst/>
              </a:prstGeom>
              <a:blipFill>
                <a:blip r:embed="rId7"/>
                <a:stretch>
                  <a:fillRect l="-1073" t="-23810" b="-47619"/>
                </a:stretch>
              </a:blipFill>
            </p:spPr>
            <p:txBody>
              <a:bodyPr/>
              <a:lstStyle/>
              <a:p>
                <a:r>
                  <a:rPr lang="en-US">
                    <a:noFill/>
                  </a:rPr>
                  <a:t> </a:t>
                </a:r>
              </a:p>
            </p:txBody>
          </p:sp>
        </mc:Fallback>
      </mc:AlternateContent>
      <p:cxnSp>
        <p:nvCxnSpPr>
          <p:cNvPr id="40" name="Straight Arrow Connector 39">
            <a:extLst>
              <a:ext uri="{FF2B5EF4-FFF2-40B4-BE49-F238E27FC236}">
                <a16:creationId xmlns:a16="http://schemas.microsoft.com/office/drawing/2014/main" id="{AECCD0E4-3E3A-4C71-AD59-9444C93C0643}"/>
              </a:ext>
            </a:extLst>
          </p:cNvPr>
          <p:cNvCxnSpPr/>
          <p:nvPr/>
        </p:nvCxnSpPr>
        <p:spPr>
          <a:xfrm flipV="1">
            <a:off x="6477000" y="1947932"/>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D0842513-728E-45BC-97F5-1DE8E32ABFCF}"/>
              </a:ext>
            </a:extLst>
          </p:cNvPr>
          <p:cNvSpPr txBox="1"/>
          <p:nvPr/>
        </p:nvSpPr>
        <p:spPr>
          <a:xfrm>
            <a:off x="6781800" y="1701361"/>
            <a:ext cx="304800" cy="369332"/>
          </a:xfrm>
          <a:prstGeom prst="rect">
            <a:avLst/>
          </a:prstGeom>
          <a:noFill/>
        </p:spPr>
        <p:txBody>
          <a:bodyPr wrap="square" rtlCol="0">
            <a:spAutoFit/>
          </a:bodyPr>
          <a:lstStyle/>
          <a:p>
            <a:r>
              <a:rPr lang="en-US" dirty="0">
                <a:solidFill>
                  <a:srgbClr val="FF0000"/>
                </a:solidFill>
              </a:rPr>
              <a:t>0</a:t>
            </a:r>
          </a:p>
        </p:txBody>
      </p:sp>
      <p:cxnSp>
        <p:nvCxnSpPr>
          <p:cNvPr id="46" name="Straight Arrow Connector 45">
            <a:extLst>
              <a:ext uri="{FF2B5EF4-FFF2-40B4-BE49-F238E27FC236}">
                <a16:creationId xmlns:a16="http://schemas.microsoft.com/office/drawing/2014/main" id="{1F0910B2-1815-411F-AA27-28B915C5E7E3}"/>
              </a:ext>
            </a:extLst>
          </p:cNvPr>
          <p:cNvCxnSpPr/>
          <p:nvPr/>
        </p:nvCxnSpPr>
        <p:spPr>
          <a:xfrm flipV="1">
            <a:off x="8077200" y="1947932"/>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938008B5-22B0-4D2E-B377-7F26E7A662E6}"/>
              </a:ext>
            </a:extLst>
          </p:cNvPr>
          <p:cNvSpPr txBox="1"/>
          <p:nvPr/>
        </p:nvSpPr>
        <p:spPr>
          <a:xfrm>
            <a:off x="8382000" y="1701361"/>
            <a:ext cx="304800" cy="369332"/>
          </a:xfrm>
          <a:prstGeom prst="rect">
            <a:avLst/>
          </a:prstGeom>
          <a:noFill/>
        </p:spPr>
        <p:txBody>
          <a:bodyPr wrap="square" rtlCol="0">
            <a:spAutoFit/>
          </a:bodyPr>
          <a:lstStyle/>
          <a:p>
            <a:r>
              <a:rPr lang="en-US" dirty="0">
                <a:solidFill>
                  <a:srgbClr val="FF0000"/>
                </a:solidFill>
              </a:rPr>
              <a:t>0</a:t>
            </a:r>
          </a:p>
        </p:txBody>
      </p:sp>
      <mc:AlternateContent xmlns:mc="http://schemas.openxmlformats.org/markup-compatibility/2006" xmlns:p14="http://schemas.microsoft.com/office/powerpoint/2010/main" xmlns:aink="http://schemas.microsoft.com/office/drawing/2016/ink">
        <mc:Choice Requires="p14 aink">
          <p:contentPart p14:bwMode="auto" r:id="rId8">
            <p14:nvContentPartPr>
              <p14:cNvPr id="48" name="Ink 47">
                <a:extLst>
                  <a:ext uri="{FF2B5EF4-FFF2-40B4-BE49-F238E27FC236}">
                    <a16:creationId xmlns:a16="http://schemas.microsoft.com/office/drawing/2014/main" id="{0E46A5A5-1F2D-4D35-B774-421ADB17B4F6}"/>
                  </a:ext>
                </a:extLst>
              </p14:cNvPr>
              <p14:cNvContentPartPr/>
              <p14:nvPr/>
            </p14:nvContentPartPr>
            <p14:xfrm>
              <a:off x="6172200" y="2521290"/>
              <a:ext cx="737166" cy="221910"/>
            </p14:xfrm>
          </p:contentPart>
        </mc:Choice>
        <mc:Fallback xmlns="">
          <p:pic>
            <p:nvPicPr>
              <p:cNvPr id="48" name="Ink 47">
                <a:extLst>
                  <a:ext uri="{FF2B5EF4-FFF2-40B4-BE49-F238E27FC236}">
                    <a16:creationId xmlns:a16="http://schemas.microsoft.com/office/drawing/2014/main" id="{0E46A5A5-1F2D-4D35-B774-421ADB17B4F6}"/>
                  </a:ext>
                </a:extLst>
              </p:cNvPr>
              <p:cNvPicPr/>
              <p:nvPr/>
            </p:nvPicPr>
            <p:blipFill>
              <a:blip r:embed="rId9"/>
              <a:stretch>
                <a:fillRect/>
              </a:stretch>
            </p:blipFill>
            <p:spPr>
              <a:xfrm>
                <a:off x="6154203" y="2503278"/>
                <a:ext cx="772800" cy="257574"/>
              </a:xfrm>
              <a:prstGeom prst="rect">
                <a:avLst/>
              </a:prstGeom>
            </p:spPr>
          </p:pic>
        </mc:Fallback>
      </mc:AlternateContent>
      <p:sp>
        <p:nvSpPr>
          <p:cNvPr id="22" name="TextBox 21">
            <a:extLst>
              <a:ext uri="{FF2B5EF4-FFF2-40B4-BE49-F238E27FC236}">
                <a16:creationId xmlns:a16="http://schemas.microsoft.com/office/drawing/2014/main" id="{FA305D30-C6EB-42F2-8737-D0EFA93AC55B}"/>
              </a:ext>
            </a:extLst>
          </p:cNvPr>
          <p:cNvSpPr txBox="1"/>
          <p:nvPr/>
        </p:nvSpPr>
        <p:spPr>
          <a:xfrm>
            <a:off x="1668942" y="3268772"/>
            <a:ext cx="6487455" cy="369332"/>
          </a:xfrm>
          <a:prstGeom prst="rect">
            <a:avLst/>
          </a:prstGeom>
          <a:noFill/>
        </p:spPr>
        <p:txBody>
          <a:bodyPr wrap="square" rtlCol="0">
            <a:spAutoFit/>
          </a:bodyPr>
          <a:lstStyle/>
          <a:p>
            <a:r>
              <a:rPr lang="en-US" dirty="0">
                <a:solidFill>
                  <a:srgbClr val="7030A0"/>
                </a:solidFill>
              </a:rPr>
              <a:t>Type = bird occurs when ebat=0 and bird = 1.</a:t>
            </a: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F3E3F899-460F-4A10-9B1D-C91DD2E6EC35}"/>
                  </a:ext>
                </a:extLst>
              </p:cNvPr>
              <p:cNvSpPr txBox="1"/>
              <p:nvPr/>
            </p:nvSpPr>
            <p:spPr>
              <a:xfrm>
                <a:off x="1662289" y="3653753"/>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7030A0"/>
                          </a:solidFill>
                          <a:latin typeface="Cambria Math" charset="0"/>
                          <a:ea typeface="Cambria Math" charset="0"/>
                          <a:cs typeface="Cambria Math" charset="0"/>
                        </a:rPr>
                        <m:t>𝜇</m:t>
                      </m:r>
                      <m:d>
                        <m:dPr>
                          <m:begChr m:val="{"/>
                          <m:endChr m:val="|"/>
                          <m:ctrlPr>
                            <a:rPr lang="en-US" sz="1600" i="1">
                              <a:solidFill>
                                <a:srgbClr val="7030A0"/>
                              </a:solidFill>
                              <a:latin typeface="Cambria Math" panose="02040503050406030204" pitchFamily="18" charset="0"/>
                              <a:ea typeface="Cambria Math" charset="0"/>
                              <a:cs typeface="Cambria Math" charset="0"/>
                            </a:rPr>
                          </m:ctrlPr>
                        </m:dPr>
                        <m:e>
                          <m:r>
                            <a:rPr lang="en-US" sz="1600" i="1">
                              <a:solidFill>
                                <a:srgbClr val="7030A0"/>
                              </a:solidFill>
                              <a:latin typeface="Cambria Math" charset="0"/>
                              <a:ea typeface="Cambria Math" charset="0"/>
                              <a:cs typeface="Cambria Math" charset="0"/>
                            </a:rPr>
                            <m:t>𝑙𝑒𝑛𝑒𝑟</m:t>
                          </m:r>
                          <m:r>
                            <a:rPr lang="en-US" sz="1600" i="1">
                              <a:solidFill>
                                <a:srgbClr val="7030A0"/>
                              </a:solidFill>
                              <a:latin typeface="Cambria Math" panose="02040503050406030204" pitchFamily="18" charset="0"/>
                              <a:ea typeface="Cambria Math" charset="0"/>
                              <a:cs typeface="Cambria Math" charset="0"/>
                            </a:rPr>
                            <m:t>𝑔</m:t>
                          </m:r>
                          <m:r>
                            <a:rPr lang="en-US" sz="1600" i="1">
                              <a:solidFill>
                                <a:srgbClr val="7030A0"/>
                              </a:solidFill>
                              <a:latin typeface="Cambria Math" charset="0"/>
                              <a:ea typeface="Cambria Math" charset="0"/>
                              <a:cs typeface="Cambria Math" charset="0"/>
                            </a:rPr>
                            <m:t>𝑦</m:t>
                          </m:r>
                          <m:r>
                            <a:rPr lang="en-US" sz="1600" i="1">
                              <a:solidFill>
                                <a:srgbClr val="7030A0"/>
                              </a:solidFill>
                              <a:latin typeface="Cambria Math" charset="0"/>
                              <a:ea typeface="Cambria Math" charset="0"/>
                              <a:cs typeface="Cambria Math" charset="0"/>
                            </a:rPr>
                            <m:t> </m:t>
                          </m:r>
                        </m:e>
                      </m:d>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𝑇𝑌𝑃𝐸</m:t>
                      </m:r>
                      <m:r>
                        <a:rPr lang="en-US" sz="1600" i="1">
                          <a:solidFill>
                            <a:srgbClr val="7030A0"/>
                          </a:solidFill>
                          <a:latin typeface="Cambria Math" panose="02040503050406030204" pitchFamily="18" charset="0"/>
                          <a:ea typeface="Cambria Math" charset="0"/>
                          <a:cs typeface="Cambria Math" charset="0"/>
                        </a:rPr>
                        <m:t>=</m:t>
                      </m:r>
                      <m:r>
                        <a:rPr lang="en-US" sz="1600" b="1" i="1">
                          <a:solidFill>
                            <a:srgbClr val="7030A0"/>
                          </a:solidFill>
                          <a:latin typeface="Cambria Math" panose="02040503050406030204" pitchFamily="18" charset="0"/>
                          <a:ea typeface="Cambria Math" charset="0"/>
                          <a:cs typeface="Cambria Math" charset="0"/>
                        </a:rPr>
                        <m:t>𝒃𝒊𝒓𝒅</m:t>
                      </m:r>
                      <m:r>
                        <a:rPr lang="en-US" sz="1600" i="1">
                          <a:solidFill>
                            <a:srgbClr val="7030A0"/>
                          </a:solidFill>
                          <a:latin typeface="Cambria Math" charset="0"/>
                          <a:ea typeface="Cambria Math" charset="0"/>
                          <a:cs typeface="Cambria Math" charset="0"/>
                        </a:rPr>
                        <m:t>}= </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0</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1</m:t>
                          </m:r>
                        </m:sub>
                      </m:sSub>
                      <m:r>
                        <a:rPr lang="en-US" sz="1600" i="1">
                          <a:solidFill>
                            <a:srgbClr val="7030A0"/>
                          </a:solidFill>
                          <a:latin typeface="Cambria Math" charset="0"/>
                          <a:ea typeface="Cambria Math" charset="0"/>
                          <a:cs typeface="Cambria Math" charset="0"/>
                        </a:rPr>
                        <m:t>𝑙𝑚𝑎𝑠𝑠</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2</m:t>
                          </m:r>
                        </m:sub>
                      </m:sSub>
                      <m:r>
                        <a:rPr lang="en-US" sz="1600" i="1">
                          <a:solidFill>
                            <a:srgbClr val="7030A0"/>
                          </a:solidFill>
                          <a:latin typeface="Cambria Math" panose="02040503050406030204" pitchFamily="18" charset="0"/>
                          <a:ea typeface="Cambria Math" charset="0"/>
                          <a:cs typeface="Cambria Math" charset="0"/>
                        </a:rPr>
                        <m:t>∗1</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3</m:t>
                          </m:r>
                        </m:sub>
                      </m:sSub>
                      <m:r>
                        <a:rPr lang="en-US" sz="1600" i="1">
                          <a:solidFill>
                            <a:srgbClr val="7030A0"/>
                          </a:solidFill>
                          <a:latin typeface="Cambria Math" panose="02040503050406030204" pitchFamily="18" charset="0"/>
                          <a:ea typeface="Cambria Math" charset="0"/>
                          <a:cs typeface="Cambria Math" charset="0"/>
                        </a:rPr>
                        <m:t>∗0</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4</m:t>
                          </m:r>
                        </m:sub>
                      </m:sSub>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∗1</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5</m:t>
                          </m:r>
                        </m:sub>
                      </m:sSub>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∗0</m:t>
                      </m:r>
                    </m:oMath>
                  </m:oMathPara>
                </a14:m>
                <a:endParaRPr lang="en-US" sz="1600" i="1" dirty="0">
                  <a:solidFill>
                    <a:srgbClr val="7030A0"/>
                  </a:solidFill>
                </a:endParaRPr>
              </a:p>
            </p:txBody>
          </p:sp>
        </mc:Choice>
        <mc:Fallback xmlns="">
          <p:sp>
            <p:nvSpPr>
              <p:cNvPr id="23" name="TextBox 22">
                <a:extLst>
                  <a:ext uri="{FF2B5EF4-FFF2-40B4-BE49-F238E27FC236}">
                    <a16:creationId xmlns:a16="http://schemas.microsoft.com/office/drawing/2014/main" id="{F3E3F899-460F-4A10-9B1D-C91DD2E6EC35}"/>
                  </a:ext>
                </a:extLst>
              </p:cNvPr>
              <p:cNvSpPr txBox="1">
                <a:spLocks noRot="1" noChangeAspect="1" noMove="1" noResize="1" noEditPoints="1" noAdjustHandles="1" noChangeArrowheads="1" noChangeShapeType="1" noTextEdit="1"/>
              </p:cNvSpPr>
              <p:nvPr/>
            </p:nvSpPr>
            <p:spPr>
              <a:xfrm>
                <a:off x="1662289" y="3653753"/>
                <a:ext cx="8915400" cy="246221"/>
              </a:xfrm>
              <a:prstGeom prst="rect">
                <a:avLst/>
              </a:prstGeom>
              <a:blipFill>
                <a:blip r:embed="rId10"/>
                <a:stretch>
                  <a:fillRect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89D2349-24C6-46F9-AAFA-8E16530BE377}"/>
                  </a:ext>
                </a:extLst>
              </p:cNvPr>
              <p:cNvSpPr txBox="1"/>
              <p:nvPr/>
            </p:nvSpPr>
            <p:spPr>
              <a:xfrm>
                <a:off x="1662289" y="3984310"/>
                <a:ext cx="70866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7030A0"/>
                          </a:solidFill>
                          <a:latin typeface="Cambria Math" charset="0"/>
                          <a:ea typeface="Cambria Math" charset="0"/>
                          <a:cs typeface="Cambria Math" charset="0"/>
                        </a:rPr>
                        <m:t>𝜇</m:t>
                      </m:r>
                      <m:d>
                        <m:dPr>
                          <m:begChr m:val="{"/>
                          <m:endChr m:val="|"/>
                          <m:ctrlPr>
                            <a:rPr lang="en-US" sz="1600" i="1">
                              <a:solidFill>
                                <a:srgbClr val="7030A0"/>
                              </a:solidFill>
                              <a:latin typeface="Cambria Math" panose="02040503050406030204" pitchFamily="18" charset="0"/>
                              <a:ea typeface="Cambria Math" charset="0"/>
                              <a:cs typeface="Cambria Math" charset="0"/>
                            </a:rPr>
                          </m:ctrlPr>
                        </m:dPr>
                        <m:e>
                          <m:r>
                            <a:rPr lang="en-US" sz="1600" i="1">
                              <a:solidFill>
                                <a:srgbClr val="7030A0"/>
                              </a:solidFill>
                              <a:latin typeface="Cambria Math" charset="0"/>
                              <a:ea typeface="Cambria Math" charset="0"/>
                              <a:cs typeface="Cambria Math" charset="0"/>
                            </a:rPr>
                            <m:t>𝑙𝑒𝑛𝑒𝑟</m:t>
                          </m:r>
                          <m:r>
                            <a:rPr lang="en-US" sz="1600" i="1">
                              <a:solidFill>
                                <a:srgbClr val="7030A0"/>
                              </a:solidFill>
                              <a:latin typeface="Cambria Math" panose="02040503050406030204" pitchFamily="18" charset="0"/>
                              <a:ea typeface="Cambria Math" charset="0"/>
                              <a:cs typeface="Cambria Math" charset="0"/>
                            </a:rPr>
                            <m:t>𝑔</m:t>
                          </m:r>
                          <m:r>
                            <a:rPr lang="en-US" sz="1600" i="1">
                              <a:solidFill>
                                <a:srgbClr val="7030A0"/>
                              </a:solidFill>
                              <a:latin typeface="Cambria Math" charset="0"/>
                              <a:ea typeface="Cambria Math" charset="0"/>
                              <a:cs typeface="Cambria Math" charset="0"/>
                            </a:rPr>
                            <m:t>𝑦</m:t>
                          </m:r>
                          <m:r>
                            <a:rPr lang="en-US" sz="1600" i="1">
                              <a:solidFill>
                                <a:srgbClr val="7030A0"/>
                              </a:solidFill>
                              <a:latin typeface="Cambria Math" charset="0"/>
                              <a:ea typeface="Cambria Math" charset="0"/>
                              <a:cs typeface="Cambria Math" charset="0"/>
                            </a:rPr>
                            <m:t> </m:t>
                          </m:r>
                        </m:e>
                      </m:d>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𝑇𝑌𝑃𝐸</m:t>
                      </m:r>
                      <m:r>
                        <a:rPr lang="en-US" sz="1600" i="1">
                          <a:solidFill>
                            <a:srgbClr val="7030A0"/>
                          </a:solidFill>
                          <a:latin typeface="Cambria Math" panose="02040503050406030204" pitchFamily="18" charset="0"/>
                          <a:ea typeface="Cambria Math" charset="0"/>
                          <a:cs typeface="Cambria Math" charset="0"/>
                        </a:rPr>
                        <m:t>=</m:t>
                      </m:r>
                      <m:r>
                        <a:rPr lang="en-US" sz="1600" b="1" i="1">
                          <a:solidFill>
                            <a:srgbClr val="7030A0"/>
                          </a:solidFill>
                          <a:latin typeface="Cambria Math" panose="02040503050406030204" pitchFamily="18" charset="0"/>
                          <a:ea typeface="Cambria Math" charset="0"/>
                          <a:cs typeface="Cambria Math" charset="0"/>
                        </a:rPr>
                        <m:t>𝒃𝒊𝒓𝒅</m:t>
                      </m:r>
                      <m:r>
                        <a:rPr lang="en-US" sz="1600" i="1">
                          <a:solidFill>
                            <a:srgbClr val="7030A0"/>
                          </a:solidFill>
                          <a:latin typeface="Cambria Math" charset="0"/>
                          <a:ea typeface="Cambria Math" charset="0"/>
                          <a:cs typeface="Cambria Math" charset="0"/>
                        </a:rPr>
                        <m:t>}= </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0</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1</m:t>
                          </m:r>
                        </m:sub>
                      </m:sSub>
                      <m:r>
                        <a:rPr lang="en-US" sz="1600" i="1">
                          <a:solidFill>
                            <a:srgbClr val="7030A0"/>
                          </a:solidFill>
                          <a:latin typeface="Cambria Math" charset="0"/>
                          <a:ea typeface="Cambria Math" charset="0"/>
                          <a:cs typeface="Cambria Math" charset="0"/>
                        </a:rPr>
                        <m:t>𝑙𝑚𝑎𝑠𝑠</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2</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4</m:t>
                          </m:r>
                        </m:sub>
                      </m:sSub>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oMath>
                  </m:oMathPara>
                </a14:m>
                <a:endParaRPr lang="en-US" sz="1600" i="1" dirty="0">
                  <a:solidFill>
                    <a:srgbClr val="7030A0"/>
                  </a:solidFill>
                </a:endParaRPr>
              </a:p>
            </p:txBody>
          </p:sp>
        </mc:Choice>
        <mc:Fallback xmlns="">
          <p:sp>
            <p:nvSpPr>
              <p:cNvPr id="24" name="TextBox 23">
                <a:extLst>
                  <a:ext uri="{FF2B5EF4-FFF2-40B4-BE49-F238E27FC236}">
                    <a16:creationId xmlns:a16="http://schemas.microsoft.com/office/drawing/2014/main" id="{389D2349-24C6-46F9-AAFA-8E16530BE377}"/>
                  </a:ext>
                </a:extLst>
              </p:cNvPr>
              <p:cNvSpPr txBox="1">
                <a:spLocks noRot="1" noChangeAspect="1" noMove="1" noResize="1" noEditPoints="1" noAdjustHandles="1" noChangeArrowheads="1" noChangeShapeType="1" noTextEdit="1"/>
              </p:cNvSpPr>
              <p:nvPr/>
            </p:nvSpPr>
            <p:spPr>
              <a:xfrm>
                <a:off x="1662289" y="3984310"/>
                <a:ext cx="7086600" cy="246221"/>
              </a:xfrm>
              <a:prstGeom prst="rect">
                <a:avLst/>
              </a:prstGeom>
              <a:blipFill>
                <a:blip r:embed="rId11"/>
                <a:stretch>
                  <a:fillRect t="-4762"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B40B1B04-1E70-448F-BBF9-D9B5CB15BEAB}"/>
                  </a:ext>
                </a:extLst>
              </p:cNvPr>
              <p:cNvSpPr txBox="1"/>
              <p:nvPr/>
            </p:nvSpPr>
            <p:spPr>
              <a:xfrm>
                <a:off x="1636889" y="4452423"/>
                <a:ext cx="70866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7030A0"/>
                          </a:solidFill>
                          <a:latin typeface="Cambria Math" charset="0"/>
                          <a:ea typeface="Cambria Math" charset="0"/>
                          <a:cs typeface="Cambria Math" charset="0"/>
                        </a:rPr>
                        <m:t>𝜇</m:t>
                      </m:r>
                      <m:d>
                        <m:dPr>
                          <m:begChr m:val="{"/>
                          <m:endChr m:val="|"/>
                          <m:ctrlPr>
                            <a:rPr lang="en-US" sz="1600" i="1">
                              <a:solidFill>
                                <a:srgbClr val="7030A0"/>
                              </a:solidFill>
                              <a:latin typeface="Cambria Math" panose="02040503050406030204" pitchFamily="18" charset="0"/>
                              <a:ea typeface="Cambria Math" charset="0"/>
                              <a:cs typeface="Cambria Math" charset="0"/>
                            </a:rPr>
                          </m:ctrlPr>
                        </m:dPr>
                        <m:e>
                          <m:r>
                            <a:rPr lang="en-US" sz="1600" i="1">
                              <a:solidFill>
                                <a:srgbClr val="7030A0"/>
                              </a:solidFill>
                              <a:latin typeface="Cambria Math" charset="0"/>
                              <a:ea typeface="Cambria Math" charset="0"/>
                              <a:cs typeface="Cambria Math" charset="0"/>
                            </a:rPr>
                            <m:t>𝑙𝑒𝑛𝑒𝑟</m:t>
                          </m:r>
                          <m:r>
                            <a:rPr lang="en-US" sz="1600" i="1">
                              <a:solidFill>
                                <a:srgbClr val="7030A0"/>
                              </a:solidFill>
                              <a:latin typeface="Cambria Math" panose="02040503050406030204" pitchFamily="18" charset="0"/>
                              <a:ea typeface="Cambria Math" charset="0"/>
                              <a:cs typeface="Cambria Math" charset="0"/>
                            </a:rPr>
                            <m:t>𝑔</m:t>
                          </m:r>
                          <m:r>
                            <a:rPr lang="en-US" sz="1600" i="1">
                              <a:solidFill>
                                <a:srgbClr val="7030A0"/>
                              </a:solidFill>
                              <a:latin typeface="Cambria Math" charset="0"/>
                              <a:ea typeface="Cambria Math" charset="0"/>
                              <a:cs typeface="Cambria Math" charset="0"/>
                            </a:rPr>
                            <m:t>𝑦</m:t>
                          </m:r>
                          <m:r>
                            <a:rPr lang="en-US" sz="1600" i="1">
                              <a:solidFill>
                                <a:srgbClr val="7030A0"/>
                              </a:solidFill>
                              <a:latin typeface="Cambria Math" charset="0"/>
                              <a:ea typeface="Cambria Math" charset="0"/>
                              <a:cs typeface="Cambria Math" charset="0"/>
                            </a:rPr>
                            <m:t> </m:t>
                          </m:r>
                        </m:e>
                      </m:d>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𝑇𝑌𝑃𝐸</m:t>
                      </m:r>
                      <m:r>
                        <a:rPr lang="en-US" sz="1600" i="1">
                          <a:solidFill>
                            <a:srgbClr val="7030A0"/>
                          </a:solidFill>
                          <a:latin typeface="Cambria Math" panose="02040503050406030204" pitchFamily="18" charset="0"/>
                          <a:ea typeface="Cambria Math" charset="0"/>
                          <a:cs typeface="Cambria Math" charset="0"/>
                        </a:rPr>
                        <m:t>=</m:t>
                      </m:r>
                      <m:r>
                        <a:rPr lang="en-US" sz="1600" b="1" i="1">
                          <a:solidFill>
                            <a:srgbClr val="7030A0"/>
                          </a:solidFill>
                          <a:latin typeface="Cambria Math" panose="02040503050406030204" pitchFamily="18" charset="0"/>
                          <a:ea typeface="Cambria Math" charset="0"/>
                          <a:cs typeface="Cambria Math" charset="0"/>
                        </a:rPr>
                        <m:t>𝒃𝒊𝒓𝒅</m:t>
                      </m:r>
                      <m:r>
                        <a:rPr lang="en-US" sz="1600" i="1">
                          <a:solidFill>
                            <a:srgbClr val="7030A0"/>
                          </a:solidFill>
                          <a:latin typeface="Cambria Math" charset="0"/>
                          <a:ea typeface="Cambria Math" charset="0"/>
                          <a:cs typeface="Cambria Math" charset="0"/>
                        </a:rPr>
                        <m:t>}= </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0</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2</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1</m:t>
                          </m:r>
                        </m:sub>
                      </m:sSub>
                      <m:r>
                        <a:rPr lang="en-US" sz="1600" i="1">
                          <a:solidFill>
                            <a:srgbClr val="7030A0"/>
                          </a:solidFill>
                          <a:latin typeface="Cambria Math" charset="0"/>
                          <a:ea typeface="Cambria Math" charset="0"/>
                          <a:cs typeface="Cambria Math" charset="0"/>
                        </a:rPr>
                        <m:t>𝑙𝑚𝑎𝑠𝑠</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4</m:t>
                          </m:r>
                        </m:sub>
                      </m:sSub>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oMath>
                  </m:oMathPara>
                </a14:m>
                <a:endParaRPr lang="en-US" sz="1600" i="1" dirty="0">
                  <a:solidFill>
                    <a:srgbClr val="7030A0"/>
                  </a:solidFill>
                </a:endParaRPr>
              </a:p>
            </p:txBody>
          </p:sp>
        </mc:Choice>
        <mc:Fallback xmlns="">
          <p:sp>
            <p:nvSpPr>
              <p:cNvPr id="25" name="TextBox 24">
                <a:extLst>
                  <a:ext uri="{FF2B5EF4-FFF2-40B4-BE49-F238E27FC236}">
                    <a16:creationId xmlns:a16="http://schemas.microsoft.com/office/drawing/2014/main" id="{B40B1B04-1E70-448F-BBF9-D9B5CB15BEAB}"/>
                  </a:ext>
                </a:extLst>
              </p:cNvPr>
              <p:cNvSpPr txBox="1">
                <a:spLocks noRot="1" noChangeAspect="1" noMove="1" noResize="1" noEditPoints="1" noAdjustHandles="1" noChangeArrowheads="1" noChangeShapeType="1" noTextEdit="1"/>
              </p:cNvSpPr>
              <p:nvPr/>
            </p:nvSpPr>
            <p:spPr>
              <a:xfrm>
                <a:off x="1636889" y="4452423"/>
                <a:ext cx="7086600" cy="246221"/>
              </a:xfrm>
              <a:prstGeom prst="rect">
                <a:avLst/>
              </a:prstGeom>
              <a:blipFill>
                <a:blip r:embed="rId12"/>
                <a:stretch>
                  <a:fillRect t="-4762"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8F37166E-D3B6-44CA-847B-CE7B39540C7E}"/>
                  </a:ext>
                </a:extLst>
              </p:cNvPr>
              <p:cNvSpPr txBox="1"/>
              <p:nvPr/>
            </p:nvSpPr>
            <p:spPr>
              <a:xfrm>
                <a:off x="1981200" y="4782980"/>
                <a:ext cx="7086600" cy="246221"/>
              </a:xfrm>
              <a:prstGeom prst="rect">
                <a:avLst/>
              </a:prstGeom>
              <a:noFill/>
            </p:spPr>
            <p:txBody>
              <a:bodyPr wrap="square" lIns="0" tIns="0" rIns="0" bIns="0" rtlCol="0">
                <a:spAutoFit/>
              </a:bodyPr>
              <a:lstStyle/>
              <a:p>
                <a14:m>
                  <m:oMath xmlns:m="http://schemas.openxmlformats.org/officeDocument/2006/math">
                    <m:r>
                      <a:rPr lang="en-US" sz="1600" i="1">
                        <a:solidFill>
                          <a:srgbClr val="7030A0"/>
                        </a:solidFill>
                        <a:latin typeface="Cambria Math" charset="0"/>
                        <a:ea typeface="Cambria Math" charset="0"/>
                        <a:cs typeface="Cambria Math" charset="0"/>
                      </a:rPr>
                      <m:t>𝜇</m:t>
                    </m:r>
                    <m:d>
                      <m:dPr>
                        <m:begChr m:val="{"/>
                        <m:endChr m:val="|"/>
                        <m:ctrlPr>
                          <a:rPr lang="en-US" sz="1600" i="1">
                            <a:solidFill>
                              <a:srgbClr val="7030A0"/>
                            </a:solidFill>
                            <a:latin typeface="Cambria Math" panose="02040503050406030204" pitchFamily="18" charset="0"/>
                            <a:ea typeface="Cambria Math" charset="0"/>
                            <a:cs typeface="Cambria Math" charset="0"/>
                          </a:rPr>
                        </m:ctrlPr>
                      </m:dPr>
                      <m:e>
                        <m:r>
                          <a:rPr lang="en-US" sz="1600" i="1">
                            <a:solidFill>
                              <a:srgbClr val="7030A0"/>
                            </a:solidFill>
                            <a:latin typeface="Cambria Math" charset="0"/>
                            <a:ea typeface="Cambria Math" charset="0"/>
                            <a:cs typeface="Cambria Math" charset="0"/>
                          </a:rPr>
                          <m:t>𝑙𝑒𝑛𝑒𝑟</m:t>
                        </m:r>
                        <m:r>
                          <a:rPr lang="en-US" sz="1600" i="1">
                            <a:solidFill>
                              <a:srgbClr val="7030A0"/>
                            </a:solidFill>
                            <a:latin typeface="Cambria Math" panose="02040503050406030204" pitchFamily="18" charset="0"/>
                            <a:ea typeface="Cambria Math" charset="0"/>
                            <a:cs typeface="Cambria Math" charset="0"/>
                          </a:rPr>
                          <m:t>𝑔</m:t>
                        </m:r>
                        <m:r>
                          <a:rPr lang="en-US" sz="1600" i="1">
                            <a:solidFill>
                              <a:srgbClr val="7030A0"/>
                            </a:solidFill>
                            <a:latin typeface="Cambria Math" charset="0"/>
                            <a:ea typeface="Cambria Math" charset="0"/>
                            <a:cs typeface="Cambria Math" charset="0"/>
                          </a:rPr>
                          <m:t>𝑦</m:t>
                        </m:r>
                        <m:r>
                          <a:rPr lang="en-US" sz="1600" i="1">
                            <a:solidFill>
                              <a:srgbClr val="7030A0"/>
                            </a:solidFill>
                            <a:latin typeface="Cambria Math" charset="0"/>
                            <a:ea typeface="Cambria Math" charset="0"/>
                            <a:cs typeface="Cambria Math" charset="0"/>
                          </a:rPr>
                          <m:t> </m:t>
                        </m:r>
                      </m:e>
                    </m:d>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𝑇𝑌𝑃𝐸</m:t>
                    </m:r>
                    <m:r>
                      <a:rPr lang="en-US" sz="1600" i="1">
                        <a:solidFill>
                          <a:srgbClr val="7030A0"/>
                        </a:solidFill>
                        <a:latin typeface="Cambria Math" panose="02040503050406030204" pitchFamily="18" charset="0"/>
                        <a:ea typeface="Cambria Math" charset="0"/>
                        <a:cs typeface="Cambria Math" charset="0"/>
                      </a:rPr>
                      <m:t>=</m:t>
                    </m:r>
                    <m:r>
                      <a:rPr lang="en-US" sz="1600" b="1" i="1">
                        <a:solidFill>
                          <a:srgbClr val="7030A0"/>
                        </a:solidFill>
                        <a:latin typeface="Cambria Math" panose="02040503050406030204" pitchFamily="18" charset="0"/>
                        <a:ea typeface="Cambria Math" charset="0"/>
                        <a:cs typeface="Cambria Math" charset="0"/>
                      </a:rPr>
                      <m:t>𝒃𝒊𝒓𝒅</m:t>
                    </m:r>
                    <m:r>
                      <a:rPr lang="en-US" sz="1600" i="1">
                        <a:solidFill>
                          <a:srgbClr val="7030A0"/>
                        </a:solidFill>
                        <a:latin typeface="Cambria Math" charset="0"/>
                        <a:ea typeface="Cambria Math" charset="0"/>
                        <a:cs typeface="Cambria Math" charset="0"/>
                      </a:rPr>
                      <m:t>}=</m:t>
                    </m:r>
                    <m:d>
                      <m:dPr>
                        <m:ctrlPr>
                          <a:rPr lang="en-US" sz="1600" i="1">
                            <a:solidFill>
                              <a:srgbClr val="7030A0"/>
                            </a:solidFill>
                            <a:latin typeface="Cambria Math" panose="02040503050406030204" pitchFamily="18" charset="0"/>
                            <a:ea typeface="Cambria Math" charset="0"/>
                            <a:cs typeface="Cambria Math" charset="0"/>
                          </a:rPr>
                        </m:ctrlPr>
                      </m:dPr>
                      <m:e>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0</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2</m:t>
                            </m:r>
                          </m:sub>
                        </m:sSub>
                      </m:e>
                    </m:d>
                    <m:r>
                      <a:rPr lang="en-US" sz="1600" i="1">
                        <a:solidFill>
                          <a:srgbClr val="7030A0"/>
                        </a:solidFill>
                        <a:latin typeface="Cambria Math" panose="02040503050406030204" pitchFamily="18" charset="0"/>
                        <a:ea typeface="Cambria Math" charset="0"/>
                        <a:cs typeface="Cambria Math" charset="0"/>
                      </a:rPr>
                      <m:t>+(</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1</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4</m:t>
                        </m:r>
                      </m:sub>
                    </m:sSub>
                    <m:r>
                      <a:rPr lang="en-US" sz="1600" i="1">
                        <a:solidFill>
                          <a:srgbClr val="7030A0"/>
                        </a:solidFill>
                        <a:latin typeface="Cambria Math" panose="02040503050406030204" pitchFamily="18" charset="0"/>
                        <a:ea typeface="Cambria Math" charset="0"/>
                        <a:cs typeface="Cambria Math" charset="0"/>
                      </a:rPr>
                      <m:t>)</m:t>
                    </m:r>
                    <m:r>
                      <a:rPr lang="en-US" sz="1600" i="1">
                        <a:solidFill>
                          <a:srgbClr val="7030A0"/>
                        </a:solidFill>
                        <a:latin typeface="Cambria Math" charset="0"/>
                        <a:ea typeface="Cambria Math" charset="0"/>
                        <a:cs typeface="Cambria Math" charset="0"/>
                      </a:rPr>
                      <m:t>𝑙𝑚𝑎𝑠𝑠</m:t>
                    </m:r>
                  </m:oMath>
                </a14:m>
                <a:r>
                  <a:rPr lang="en-US" sz="1600" i="1" dirty="0">
                    <a:solidFill>
                      <a:srgbClr val="7030A0"/>
                    </a:solidFill>
                  </a:rPr>
                  <a:t>:  slope =</a:t>
                </a:r>
                <a:r>
                  <a:rPr lang="en-US" sz="1600" dirty="0">
                    <a:solidFill>
                      <a:srgbClr val="7030A0"/>
                    </a:solidFill>
                    <a:ea typeface="Cambria Math" charset="0"/>
                    <a:cs typeface="Cambria Math" charset="0"/>
                  </a:rPr>
                  <a:t> </a:t>
                </a:r>
                <a14:m>
                  <m:oMath xmlns:m="http://schemas.openxmlformats.org/officeDocument/2006/math">
                    <m:sSub>
                      <m:sSubPr>
                        <m:ctrlPr>
                          <a:rPr lang="en-US" sz="1600" b="1" i="1">
                            <a:solidFill>
                              <a:srgbClr val="7030A0"/>
                            </a:solidFill>
                            <a:latin typeface="Cambria Math" panose="02040503050406030204" pitchFamily="18" charset="0"/>
                            <a:ea typeface="Cambria Math" charset="0"/>
                            <a:cs typeface="Cambria Math" charset="0"/>
                          </a:rPr>
                        </m:ctrlPr>
                      </m:sSubPr>
                      <m:e>
                        <m:r>
                          <a:rPr lang="en-US" sz="1600" b="1" i="1">
                            <a:solidFill>
                              <a:srgbClr val="7030A0"/>
                            </a:solidFill>
                            <a:latin typeface="Cambria Math" charset="0"/>
                            <a:ea typeface="Cambria Math" charset="0"/>
                            <a:cs typeface="Cambria Math" charset="0"/>
                          </a:rPr>
                          <m:t>𝜷</m:t>
                        </m:r>
                      </m:e>
                      <m:sub>
                        <m:r>
                          <a:rPr lang="en-US" sz="1600" b="1" i="1">
                            <a:solidFill>
                              <a:srgbClr val="7030A0"/>
                            </a:solidFill>
                            <a:latin typeface="Cambria Math" charset="0"/>
                            <a:ea typeface="Cambria Math" charset="0"/>
                            <a:cs typeface="Cambria Math" charset="0"/>
                          </a:rPr>
                          <m:t>𝟏</m:t>
                        </m:r>
                      </m:sub>
                    </m:sSub>
                    <m:sSub>
                      <m:sSubPr>
                        <m:ctrlPr>
                          <a:rPr lang="en-US" sz="1600" b="1" i="1">
                            <a:solidFill>
                              <a:srgbClr val="7030A0"/>
                            </a:solidFill>
                            <a:latin typeface="Cambria Math" panose="02040503050406030204" pitchFamily="18" charset="0"/>
                            <a:ea typeface="Cambria Math" charset="0"/>
                            <a:cs typeface="Cambria Math" charset="0"/>
                          </a:rPr>
                        </m:ctrlPr>
                      </m:sSubPr>
                      <m:e>
                        <m:r>
                          <a:rPr lang="en-US" sz="1600" b="1" i="1">
                            <a:solidFill>
                              <a:srgbClr val="7030A0"/>
                            </a:solidFill>
                            <a:latin typeface="Cambria Math" charset="0"/>
                            <a:ea typeface="Cambria Math" charset="0"/>
                            <a:cs typeface="Cambria Math" charset="0"/>
                          </a:rPr>
                          <m:t>+</m:t>
                        </m:r>
                        <m:r>
                          <a:rPr lang="en-US" sz="1600" b="1" i="1">
                            <a:solidFill>
                              <a:srgbClr val="7030A0"/>
                            </a:solidFill>
                            <a:latin typeface="Cambria Math" charset="0"/>
                            <a:ea typeface="Cambria Math" charset="0"/>
                            <a:cs typeface="Cambria Math" charset="0"/>
                          </a:rPr>
                          <m:t>𝜷</m:t>
                        </m:r>
                      </m:e>
                      <m:sub>
                        <m:r>
                          <a:rPr lang="en-US" sz="1600" b="1" i="1">
                            <a:solidFill>
                              <a:srgbClr val="7030A0"/>
                            </a:solidFill>
                            <a:latin typeface="Cambria Math" panose="02040503050406030204" pitchFamily="18" charset="0"/>
                            <a:ea typeface="Cambria Math" charset="0"/>
                            <a:cs typeface="Cambria Math" charset="0"/>
                          </a:rPr>
                          <m:t>𝟒</m:t>
                        </m:r>
                      </m:sub>
                    </m:sSub>
                  </m:oMath>
                </a14:m>
                <a:r>
                  <a:rPr lang="en-US" sz="1600" i="1" dirty="0">
                    <a:solidFill>
                      <a:srgbClr val="7030A0"/>
                    </a:solidFill>
                  </a:rPr>
                  <a:t> </a:t>
                </a:r>
              </a:p>
            </p:txBody>
          </p:sp>
        </mc:Choice>
        <mc:Fallback xmlns="">
          <p:sp>
            <p:nvSpPr>
              <p:cNvPr id="26" name="TextBox 25">
                <a:extLst>
                  <a:ext uri="{FF2B5EF4-FFF2-40B4-BE49-F238E27FC236}">
                    <a16:creationId xmlns:a16="http://schemas.microsoft.com/office/drawing/2014/main" id="{8F37166E-D3B6-44CA-847B-CE7B39540C7E}"/>
                  </a:ext>
                </a:extLst>
              </p:cNvPr>
              <p:cNvSpPr txBox="1">
                <a:spLocks noRot="1" noChangeAspect="1" noMove="1" noResize="1" noEditPoints="1" noAdjustHandles="1" noChangeArrowheads="1" noChangeShapeType="1" noTextEdit="1"/>
              </p:cNvSpPr>
              <p:nvPr/>
            </p:nvSpPr>
            <p:spPr>
              <a:xfrm>
                <a:off x="1981200" y="4782980"/>
                <a:ext cx="7086600" cy="246221"/>
              </a:xfrm>
              <a:prstGeom prst="rect">
                <a:avLst/>
              </a:prstGeom>
              <a:blipFill>
                <a:blip r:embed="rId13"/>
                <a:stretch>
                  <a:fillRect l="-1073" t="-25000" b="-55000"/>
                </a:stretch>
              </a:blipFill>
            </p:spPr>
            <p:txBody>
              <a:bodyPr/>
              <a:lstStyle/>
              <a:p>
                <a:r>
                  <a:rPr lang="en-US">
                    <a:noFill/>
                  </a:rPr>
                  <a:t> </a:t>
                </a:r>
              </a:p>
            </p:txBody>
          </p:sp>
        </mc:Fallback>
      </mc:AlternateContent>
      <p:cxnSp>
        <p:nvCxnSpPr>
          <p:cNvPr id="27" name="Straight Arrow Connector 26">
            <a:extLst>
              <a:ext uri="{FF2B5EF4-FFF2-40B4-BE49-F238E27FC236}">
                <a16:creationId xmlns:a16="http://schemas.microsoft.com/office/drawing/2014/main" id="{A70FB3ED-EC33-49F6-BE4B-299612EA2D77}"/>
              </a:ext>
            </a:extLst>
          </p:cNvPr>
          <p:cNvCxnSpPr/>
          <p:nvPr/>
        </p:nvCxnSpPr>
        <p:spPr>
          <a:xfrm flipV="1">
            <a:off x="7391400" y="3638105"/>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F04D5A54-4DD0-4F63-971D-F4A8247ED6FB}"/>
              </a:ext>
            </a:extLst>
          </p:cNvPr>
          <p:cNvSpPr txBox="1"/>
          <p:nvPr/>
        </p:nvSpPr>
        <p:spPr>
          <a:xfrm>
            <a:off x="7696200" y="3391534"/>
            <a:ext cx="304800" cy="369332"/>
          </a:xfrm>
          <a:prstGeom prst="rect">
            <a:avLst/>
          </a:prstGeom>
          <a:noFill/>
        </p:spPr>
        <p:txBody>
          <a:bodyPr wrap="square" rtlCol="0">
            <a:spAutoFit/>
          </a:bodyPr>
          <a:lstStyle/>
          <a:p>
            <a:r>
              <a:rPr lang="en-US" dirty="0">
                <a:solidFill>
                  <a:srgbClr val="FF0000"/>
                </a:solidFill>
              </a:rPr>
              <a:t>0</a:t>
            </a:r>
          </a:p>
        </p:txBody>
      </p:sp>
      <p:cxnSp>
        <p:nvCxnSpPr>
          <p:cNvPr id="29" name="Straight Arrow Connector 28">
            <a:extLst>
              <a:ext uri="{FF2B5EF4-FFF2-40B4-BE49-F238E27FC236}">
                <a16:creationId xmlns:a16="http://schemas.microsoft.com/office/drawing/2014/main" id="{2D7274BF-A62E-4B8F-96F8-B490FF56D149}"/>
              </a:ext>
            </a:extLst>
          </p:cNvPr>
          <p:cNvCxnSpPr/>
          <p:nvPr/>
        </p:nvCxnSpPr>
        <p:spPr>
          <a:xfrm flipV="1">
            <a:off x="9372600" y="3638105"/>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0AC082E-E590-4D98-815B-5779E46A71B2}"/>
              </a:ext>
            </a:extLst>
          </p:cNvPr>
          <p:cNvSpPr txBox="1"/>
          <p:nvPr/>
        </p:nvSpPr>
        <p:spPr>
          <a:xfrm>
            <a:off x="9677400" y="3391534"/>
            <a:ext cx="304800" cy="369332"/>
          </a:xfrm>
          <a:prstGeom prst="rect">
            <a:avLst/>
          </a:prstGeom>
          <a:noFill/>
        </p:spPr>
        <p:txBody>
          <a:bodyPr wrap="square" rtlCol="0">
            <a:spAutoFit/>
          </a:bodyPr>
          <a:lstStyle/>
          <a:p>
            <a:r>
              <a:rPr lang="en-US" dirty="0">
                <a:solidFill>
                  <a:srgbClr val="FF0000"/>
                </a:solidFill>
              </a:rPr>
              <a:t>0</a:t>
            </a:r>
          </a:p>
        </p:txBody>
      </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34" name="Ink 33">
                <a:extLst>
                  <a:ext uri="{FF2B5EF4-FFF2-40B4-BE49-F238E27FC236}">
                    <a16:creationId xmlns:a16="http://schemas.microsoft.com/office/drawing/2014/main" id="{11424AE6-D938-485C-9750-22E6FA83ECAC}"/>
                  </a:ext>
                </a:extLst>
              </p14:cNvPr>
              <p14:cNvContentPartPr/>
              <p14:nvPr/>
            </p14:nvContentPartPr>
            <p14:xfrm>
              <a:off x="6324600" y="4273890"/>
              <a:ext cx="737166" cy="221910"/>
            </p14:xfrm>
          </p:contentPart>
        </mc:Choice>
        <mc:Fallback xmlns="">
          <p:pic>
            <p:nvPicPr>
              <p:cNvPr id="34" name="Ink 33">
                <a:extLst>
                  <a:ext uri="{FF2B5EF4-FFF2-40B4-BE49-F238E27FC236}">
                    <a16:creationId xmlns:a16="http://schemas.microsoft.com/office/drawing/2014/main" id="{11424AE6-D938-485C-9750-22E6FA83ECAC}"/>
                  </a:ext>
                </a:extLst>
              </p:cNvPr>
              <p:cNvPicPr/>
              <p:nvPr/>
            </p:nvPicPr>
            <p:blipFill>
              <a:blip r:embed="rId15"/>
              <a:stretch>
                <a:fillRect/>
              </a:stretch>
            </p:blipFill>
            <p:spPr>
              <a:xfrm>
                <a:off x="6306603" y="4255878"/>
                <a:ext cx="772800" cy="257574"/>
              </a:xfrm>
              <a:prstGeom prst="rect">
                <a:avLst/>
              </a:prstGeom>
            </p:spPr>
          </p:pic>
        </mc:Fallback>
      </mc:AlternateContent>
      <p:sp>
        <p:nvSpPr>
          <p:cNvPr id="4" name="TextBox 3">
            <a:extLst>
              <a:ext uri="{FF2B5EF4-FFF2-40B4-BE49-F238E27FC236}">
                <a16:creationId xmlns:a16="http://schemas.microsoft.com/office/drawing/2014/main" id="{287CD1BB-0BB5-423D-B36B-A4D827163B9E}"/>
              </a:ext>
            </a:extLst>
          </p:cNvPr>
          <p:cNvSpPr txBox="1"/>
          <p:nvPr/>
        </p:nvSpPr>
        <p:spPr>
          <a:xfrm>
            <a:off x="1668942" y="5257800"/>
            <a:ext cx="6179659" cy="369332"/>
          </a:xfrm>
          <a:prstGeom prst="rect">
            <a:avLst/>
          </a:prstGeom>
          <a:noFill/>
        </p:spPr>
        <p:txBody>
          <a:bodyPr wrap="square" rtlCol="0">
            <a:spAutoFit/>
          </a:bodyPr>
          <a:lstStyle/>
          <a:p>
            <a:r>
              <a:rPr lang="en-US" dirty="0"/>
              <a:t>What is the regression equation for nebat (and slope)?</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758482C-4D3B-4B9C-8C60-54A71CA134DF}"/>
                  </a:ext>
                </a:extLst>
              </p:cNvPr>
              <p:cNvSpPr txBox="1"/>
              <p:nvPr/>
            </p:nvSpPr>
            <p:spPr>
              <a:xfrm>
                <a:off x="2179983" y="6445739"/>
                <a:ext cx="7086600" cy="246221"/>
              </a:xfrm>
              <a:prstGeom prst="rect">
                <a:avLst/>
              </a:prstGeom>
              <a:noFill/>
            </p:spPr>
            <p:txBody>
              <a:bodyPr wrap="square" lIns="0" tIns="0" rIns="0" bIns="0" rtlCol="0">
                <a:spAutoFit/>
              </a:bodyPr>
              <a:lstStyle/>
              <a:p>
                <a14:m>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panose="02040503050406030204" pitchFamily="18" charset="0"/>
                        <a:ea typeface="Cambria Math" charset="0"/>
                        <a:cs typeface="Cambria Math" charset="0"/>
                      </a:rPr>
                      <m:t>=</m:t>
                    </m:r>
                    <m:r>
                      <a:rPr lang="en-US" sz="1600" b="1" i="1">
                        <a:latin typeface="Cambria Math" panose="02040503050406030204" pitchFamily="18" charset="0"/>
                        <a:ea typeface="Cambria Math" charset="0"/>
                        <a:cs typeface="Cambria Math" charset="0"/>
                      </a:rPr>
                      <m:t>𝒏𝒆𝒃𝒂𝒕</m:t>
                    </m:r>
                    <m:r>
                      <a:rPr lang="en-US" sz="1600" i="1">
                        <a:latin typeface="Cambria Math"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r>
                      <a:rPr lang="en-US" sz="1600"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oMath>
                </a14:m>
                <a:r>
                  <a:rPr lang="en-US" sz="1600" i="1" dirty="0"/>
                  <a:t>:  slope =</a:t>
                </a:r>
                <a:r>
                  <a:rPr lang="en-US" sz="1600" dirty="0">
                    <a:ea typeface="Cambria Math" charset="0"/>
                    <a:cs typeface="Cambria Math" charset="0"/>
                  </a:rPr>
                  <a:t> </a:t>
                </a:r>
                <a14:m>
                  <m:oMath xmlns:m="http://schemas.openxmlformats.org/officeDocument/2006/math">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𝟏</m:t>
                        </m:r>
                      </m:sub>
                    </m:sSub>
                  </m:oMath>
                </a14:m>
                <a:endParaRPr lang="en-US" sz="1600" i="1" dirty="0"/>
              </a:p>
            </p:txBody>
          </p:sp>
        </mc:Choice>
        <mc:Fallback xmlns="">
          <p:sp>
            <p:nvSpPr>
              <p:cNvPr id="43" name="TextBox 42">
                <a:extLst>
                  <a:ext uri="{FF2B5EF4-FFF2-40B4-BE49-F238E27FC236}">
                    <a16:creationId xmlns:a16="http://schemas.microsoft.com/office/drawing/2014/main" id="{2758482C-4D3B-4B9C-8C60-54A71CA134DF}"/>
                  </a:ext>
                </a:extLst>
              </p:cNvPr>
              <p:cNvSpPr txBox="1">
                <a:spLocks noRot="1" noChangeAspect="1" noMove="1" noResize="1" noEditPoints="1" noAdjustHandles="1" noChangeArrowheads="1" noChangeShapeType="1" noTextEdit="1"/>
              </p:cNvSpPr>
              <p:nvPr/>
            </p:nvSpPr>
            <p:spPr>
              <a:xfrm>
                <a:off x="2179983" y="6445739"/>
                <a:ext cx="7086600" cy="246221"/>
              </a:xfrm>
              <a:prstGeom prst="rect">
                <a:avLst/>
              </a:prstGeom>
              <a:blipFill>
                <a:blip r:embed="rId16"/>
                <a:stretch>
                  <a:fillRect l="-894" t="-23810" b="-47619"/>
                </a:stretch>
              </a:blipFill>
            </p:spPr>
            <p:txBody>
              <a:bodyPr/>
              <a:lstStyle/>
              <a:p>
                <a:r>
                  <a:rPr lang="en-US">
                    <a:noFill/>
                  </a:rPr>
                  <a:t> </a:t>
                </a:r>
              </a:p>
            </p:txBody>
          </p:sp>
        </mc:Fallback>
      </mc:AlternateContent>
      <p:sp>
        <p:nvSpPr>
          <p:cNvPr id="44" name="TextBox 43">
            <a:extLst>
              <a:ext uri="{FF2B5EF4-FFF2-40B4-BE49-F238E27FC236}">
                <a16:creationId xmlns:a16="http://schemas.microsoft.com/office/drawing/2014/main" id="{E648C846-14D1-4030-8407-DEDB3FB3857B}"/>
              </a:ext>
            </a:extLst>
          </p:cNvPr>
          <p:cNvSpPr txBox="1"/>
          <p:nvPr/>
        </p:nvSpPr>
        <p:spPr>
          <a:xfrm>
            <a:off x="1936462" y="5638800"/>
            <a:ext cx="6487455" cy="369332"/>
          </a:xfrm>
          <a:prstGeom prst="rect">
            <a:avLst/>
          </a:prstGeom>
          <a:noFill/>
        </p:spPr>
        <p:txBody>
          <a:bodyPr wrap="square" rtlCol="0">
            <a:spAutoFit/>
          </a:bodyPr>
          <a:lstStyle/>
          <a:p>
            <a:r>
              <a:rPr lang="en-US" dirty="0"/>
              <a:t>Type = nebat occurs when ebat=0 and bird = 0.</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501BDD0A-4CC9-4821-9F5D-42ADB79B9DD9}"/>
                  </a:ext>
                </a:extLst>
              </p:cNvPr>
              <p:cNvSpPr txBox="1"/>
              <p:nvPr/>
            </p:nvSpPr>
            <p:spPr>
              <a:xfrm>
                <a:off x="1533475" y="6077747"/>
                <a:ext cx="8905925"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panose="02040503050406030204" pitchFamily="18" charset="0"/>
                          <a:ea typeface="Cambria Math" charset="0"/>
                          <a:cs typeface="Cambria Math" charset="0"/>
                        </a:rPr>
                        <m:t>=</m:t>
                      </m:r>
                      <m:r>
                        <a:rPr lang="en-US" sz="1600" b="1" i="1">
                          <a:latin typeface="Cambria Math" panose="02040503050406030204" pitchFamily="18" charset="0"/>
                          <a:ea typeface="Cambria Math" charset="0"/>
                          <a:cs typeface="Cambria Math" charset="0"/>
                        </a:rPr>
                        <m:t>𝒏𝒆𝒃𝒂𝒕</m:t>
                      </m:r>
                      <m:r>
                        <a:rPr lang="en-US" sz="1600" i="1">
                          <a:latin typeface="Cambria Math"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panose="02040503050406030204" pitchFamily="18" charset="0"/>
                          <a:ea typeface="Cambria Math" charset="0"/>
                          <a:cs typeface="Cambria Math" charset="0"/>
                        </a:rPr>
                        <m:t>∗0</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panose="02040503050406030204" pitchFamily="18" charset="0"/>
                          <a:ea typeface="Cambria Math" charset="0"/>
                          <a:cs typeface="Cambria Math" charset="0"/>
                        </a:rPr>
                        <m:t>∗0</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4</m:t>
                          </m:r>
                        </m:sub>
                      </m:sSub>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∗0</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5</m:t>
                          </m:r>
                        </m:sub>
                      </m:sSub>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∗0</m:t>
                      </m:r>
                    </m:oMath>
                  </m:oMathPara>
                </a14:m>
                <a:endParaRPr lang="en-US" sz="1600" i="1" dirty="0"/>
              </a:p>
            </p:txBody>
          </p:sp>
        </mc:Choice>
        <mc:Fallback xmlns="">
          <p:sp>
            <p:nvSpPr>
              <p:cNvPr id="31" name="TextBox 30">
                <a:extLst>
                  <a:ext uri="{FF2B5EF4-FFF2-40B4-BE49-F238E27FC236}">
                    <a16:creationId xmlns:a16="http://schemas.microsoft.com/office/drawing/2014/main" id="{501BDD0A-4CC9-4821-9F5D-42ADB79B9DD9}"/>
                  </a:ext>
                </a:extLst>
              </p:cNvPr>
              <p:cNvSpPr txBox="1">
                <a:spLocks noRot="1" noChangeAspect="1" noMove="1" noResize="1" noEditPoints="1" noAdjustHandles="1" noChangeArrowheads="1" noChangeShapeType="1" noTextEdit="1"/>
              </p:cNvSpPr>
              <p:nvPr/>
            </p:nvSpPr>
            <p:spPr>
              <a:xfrm>
                <a:off x="1533475" y="6077747"/>
                <a:ext cx="8905925" cy="246221"/>
              </a:xfrm>
              <a:prstGeom prst="rect">
                <a:avLst/>
              </a:prstGeom>
              <a:blipFill>
                <a:blip r:embed="rId17"/>
                <a:stretch>
                  <a:fillRect b="-45000"/>
                </a:stretch>
              </a:blipFill>
            </p:spPr>
            <p:txBody>
              <a:bodyPr/>
              <a:lstStyle/>
              <a:p>
                <a:r>
                  <a:rPr lang="en-US">
                    <a:noFill/>
                  </a:rPr>
                  <a:t> </a:t>
                </a:r>
              </a:p>
            </p:txBody>
          </p:sp>
        </mc:Fallback>
      </mc:AlternateContent>
      <p:cxnSp>
        <p:nvCxnSpPr>
          <p:cNvPr id="33" name="Straight Arrow Connector 32">
            <a:extLst>
              <a:ext uri="{FF2B5EF4-FFF2-40B4-BE49-F238E27FC236}">
                <a16:creationId xmlns:a16="http://schemas.microsoft.com/office/drawing/2014/main" id="{6B145812-553F-4F65-AEC7-E2D7D2E09459}"/>
              </a:ext>
            </a:extLst>
          </p:cNvPr>
          <p:cNvCxnSpPr/>
          <p:nvPr/>
        </p:nvCxnSpPr>
        <p:spPr>
          <a:xfrm flipV="1">
            <a:off x="6477000" y="6113971"/>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8BD40E3-5239-4298-9892-A531364296F8}"/>
              </a:ext>
            </a:extLst>
          </p:cNvPr>
          <p:cNvSpPr txBox="1"/>
          <p:nvPr/>
        </p:nvSpPr>
        <p:spPr>
          <a:xfrm>
            <a:off x="6781800" y="5867400"/>
            <a:ext cx="304800" cy="369332"/>
          </a:xfrm>
          <a:prstGeom prst="rect">
            <a:avLst/>
          </a:prstGeom>
          <a:noFill/>
        </p:spPr>
        <p:txBody>
          <a:bodyPr wrap="square" rtlCol="0">
            <a:spAutoFit/>
          </a:bodyPr>
          <a:lstStyle/>
          <a:p>
            <a:r>
              <a:rPr lang="en-US" dirty="0">
                <a:solidFill>
                  <a:srgbClr val="FF0000"/>
                </a:solidFill>
              </a:rPr>
              <a:t>0</a:t>
            </a:r>
          </a:p>
        </p:txBody>
      </p:sp>
      <p:cxnSp>
        <p:nvCxnSpPr>
          <p:cNvPr id="42" name="Straight Arrow Connector 41">
            <a:extLst>
              <a:ext uri="{FF2B5EF4-FFF2-40B4-BE49-F238E27FC236}">
                <a16:creationId xmlns:a16="http://schemas.microsoft.com/office/drawing/2014/main" id="{70E1F4CB-2319-4875-ADAF-0861EED3B105}"/>
              </a:ext>
            </a:extLst>
          </p:cNvPr>
          <p:cNvCxnSpPr/>
          <p:nvPr/>
        </p:nvCxnSpPr>
        <p:spPr>
          <a:xfrm flipV="1">
            <a:off x="7086600" y="6113971"/>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E72C6C93-94D9-4BF3-BB87-1764F6C79177}"/>
              </a:ext>
            </a:extLst>
          </p:cNvPr>
          <p:cNvSpPr txBox="1"/>
          <p:nvPr/>
        </p:nvSpPr>
        <p:spPr>
          <a:xfrm>
            <a:off x="7391400" y="5867400"/>
            <a:ext cx="304800" cy="369332"/>
          </a:xfrm>
          <a:prstGeom prst="rect">
            <a:avLst/>
          </a:prstGeom>
          <a:noFill/>
        </p:spPr>
        <p:txBody>
          <a:bodyPr wrap="square" rtlCol="0">
            <a:spAutoFit/>
          </a:bodyPr>
          <a:lstStyle/>
          <a:p>
            <a:r>
              <a:rPr lang="en-US" dirty="0">
                <a:solidFill>
                  <a:srgbClr val="FF0000"/>
                </a:solidFill>
              </a:rPr>
              <a:t>0</a:t>
            </a:r>
          </a:p>
        </p:txBody>
      </p:sp>
      <p:cxnSp>
        <p:nvCxnSpPr>
          <p:cNvPr id="49" name="Straight Arrow Connector 48">
            <a:extLst>
              <a:ext uri="{FF2B5EF4-FFF2-40B4-BE49-F238E27FC236}">
                <a16:creationId xmlns:a16="http://schemas.microsoft.com/office/drawing/2014/main" id="{156C60BF-7FAE-4A1C-9B80-05B893F34D21}"/>
              </a:ext>
            </a:extLst>
          </p:cNvPr>
          <p:cNvCxnSpPr/>
          <p:nvPr/>
        </p:nvCxnSpPr>
        <p:spPr>
          <a:xfrm flipV="1">
            <a:off x="8001000" y="6138932"/>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CC0C1E75-EB0B-4199-8C52-6BA8441723FA}"/>
              </a:ext>
            </a:extLst>
          </p:cNvPr>
          <p:cNvSpPr txBox="1"/>
          <p:nvPr/>
        </p:nvSpPr>
        <p:spPr>
          <a:xfrm>
            <a:off x="8305800" y="5892361"/>
            <a:ext cx="304800" cy="369332"/>
          </a:xfrm>
          <a:prstGeom prst="rect">
            <a:avLst/>
          </a:prstGeom>
          <a:noFill/>
        </p:spPr>
        <p:txBody>
          <a:bodyPr wrap="square" rtlCol="0">
            <a:spAutoFit/>
          </a:bodyPr>
          <a:lstStyle/>
          <a:p>
            <a:r>
              <a:rPr lang="en-US" dirty="0">
                <a:solidFill>
                  <a:srgbClr val="FF0000"/>
                </a:solidFill>
              </a:rPr>
              <a:t>0</a:t>
            </a:r>
          </a:p>
        </p:txBody>
      </p:sp>
      <p:cxnSp>
        <p:nvCxnSpPr>
          <p:cNvPr id="51" name="Straight Arrow Connector 50">
            <a:extLst>
              <a:ext uri="{FF2B5EF4-FFF2-40B4-BE49-F238E27FC236}">
                <a16:creationId xmlns:a16="http://schemas.microsoft.com/office/drawing/2014/main" id="{D0FF5C9A-ACB1-42AD-AE0C-D98DABD0A55A}"/>
              </a:ext>
            </a:extLst>
          </p:cNvPr>
          <p:cNvCxnSpPr/>
          <p:nvPr/>
        </p:nvCxnSpPr>
        <p:spPr>
          <a:xfrm flipV="1">
            <a:off x="9296400" y="6138932"/>
            <a:ext cx="304800" cy="261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F8E4E095-1BBE-4B23-ADE2-0196BC723596}"/>
              </a:ext>
            </a:extLst>
          </p:cNvPr>
          <p:cNvSpPr txBox="1"/>
          <p:nvPr/>
        </p:nvSpPr>
        <p:spPr>
          <a:xfrm>
            <a:off x="9601200" y="5892361"/>
            <a:ext cx="304800" cy="369332"/>
          </a:xfrm>
          <a:prstGeom prst="rect">
            <a:avLst/>
          </a:prstGeom>
          <a:noFill/>
        </p:spPr>
        <p:txBody>
          <a:bodyPr wrap="square" rtlCol="0">
            <a:spAutoFit/>
          </a:bodyPr>
          <a:lstStyle/>
          <a:p>
            <a:r>
              <a:rPr lang="en-US" dirty="0">
                <a:solidFill>
                  <a:srgbClr val="FF0000"/>
                </a:solidFill>
              </a:rPr>
              <a:t>0</a:t>
            </a:r>
          </a:p>
        </p:txBody>
      </p:sp>
    </p:spTree>
    <p:extLst>
      <p:ext uri="{BB962C8B-B14F-4D97-AF65-F5344CB8AC3E}">
        <p14:creationId xmlns:p14="http://schemas.microsoft.com/office/powerpoint/2010/main" val="3763207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3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4"/>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3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33"/>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2"/>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45"/>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49"/>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50"/>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51"/>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5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2" grpId="0"/>
      <p:bldP spid="35" grpId="0"/>
      <p:bldP spid="36" grpId="0"/>
      <p:bldP spid="37" grpId="0"/>
      <p:bldP spid="38" grpId="0"/>
      <p:bldP spid="41" grpId="0"/>
      <p:bldP spid="47" grpId="0"/>
      <p:bldP spid="22" grpId="0"/>
      <p:bldP spid="23" grpId="0"/>
      <p:bldP spid="24" grpId="0"/>
      <p:bldP spid="25" grpId="0"/>
      <p:bldP spid="26" grpId="0"/>
      <p:bldP spid="28" grpId="0"/>
      <p:bldP spid="30" grpId="0"/>
      <p:bldP spid="4" grpId="0"/>
      <p:bldP spid="43" grpId="0"/>
      <p:bldP spid="44" grpId="0"/>
      <p:bldP spid="31" grpId="0"/>
      <p:bldP spid="39" grpId="0"/>
      <p:bldP spid="45" grpId="0"/>
      <p:bldP spid="50" grpId="0"/>
      <p:bldP spid="52"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0B1A410-C36E-E5DD-0366-FB29576348EF}"/>
              </a:ext>
            </a:extLst>
          </p:cNvPr>
          <p:cNvPicPr>
            <a:picLocks noChangeAspect="1"/>
          </p:cNvPicPr>
          <p:nvPr/>
        </p:nvPicPr>
        <p:blipFill>
          <a:blip r:embed="rId2"/>
          <a:stretch>
            <a:fillRect/>
          </a:stretch>
        </p:blipFill>
        <p:spPr>
          <a:xfrm>
            <a:off x="487114" y="1094571"/>
            <a:ext cx="11247685" cy="297785"/>
          </a:xfrm>
          <a:prstGeom prst="rect">
            <a:avLst/>
          </a:prstGeom>
        </p:spPr>
      </p:pic>
      <p:sp>
        <p:nvSpPr>
          <p:cNvPr id="2" name="Title 1"/>
          <p:cNvSpPr>
            <a:spLocks noGrp="1"/>
          </p:cNvSpPr>
          <p:nvPr>
            <p:ph type="title"/>
          </p:nvPr>
        </p:nvSpPr>
        <p:spPr>
          <a:xfrm>
            <a:off x="3810000" y="-29492"/>
            <a:ext cx="4343400" cy="1143000"/>
          </a:xfrm>
        </p:spPr>
        <p:txBody>
          <a:bodyPr/>
          <a:lstStyle/>
          <a:p>
            <a:r>
              <a:rPr lang="en-US" dirty="0"/>
              <a:t>Echolocation!!!</a:t>
            </a:r>
          </a:p>
        </p:txBody>
      </p:sp>
      <mc:AlternateContent xmlns:mc="http://schemas.openxmlformats.org/markup-compatibility/2006" xmlns:a14="http://schemas.microsoft.com/office/drawing/2010/main">
        <mc:Choice Requires="a14">
          <p:sp>
            <p:nvSpPr>
              <p:cNvPr id="6" name="TextBox 5"/>
              <p:cNvSpPr txBox="1"/>
              <p:nvPr/>
            </p:nvSpPr>
            <p:spPr>
              <a:xfrm>
                <a:off x="1524000" y="1213586"/>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solidFill>
                            <a:srgbClr val="0070C0"/>
                          </a:solidFill>
                          <a:latin typeface="Cambria Math" charset="0"/>
                          <a:ea typeface="Cambria Math" charset="0"/>
                          <a:cs typeface="Cambria Math" charset="0"/>
                        </a:rPr>
                        <m:t>𝜇</m:t>
                      </m:r>
                      <m:d>
                        <m:dPr>
                          <m:begChr m:val="{"/>
                          <m:endChr m:val="|"/>
                          <m:ctrlPr>
                            <a:rPr lang="en-US" sz="1600" i="1">
                              <a:solidFill>
                                <a:srgbClr val="0070C0"/>
                              </a:solidFill>
                              <a:latin typeface="Cambria Math" panose="02040503050406030204" pitchFamily="18" charset="0"/>
                              <a:ea typeface="Cambria Math" charset="0"/>
                              <a:cs typeface="Cambria Math" charset="0"/>
                            </a:rPr>
                          </m:ctrlPr>
                        </m:dPr>
                        <m:e>
                          <m:r>
                            <a:rPr lang="en-US" sz="1600" i="1">
                              <a:solidFill>
                                <a:srgbClr val="0070C0"/>
                              </a:solidFill>
                              <a:latin typeface="Cambria Math" charset="0"/>
                              <a:ea typeface="Cambria Math" charset="0"/>
                              <a:cs typeface="Cambria Math" charset="0"/>
                            </a:rPr>
                            <m:t>𝑙𝑒𝑛𝑒𝑟</m:t>
                          </m:r>
                          <m:r>
                            <a:rPr lang="en-US" sz="1600" i="1">
                              <a:solidFill>
                                <a:srgbClr val="0070C0"/>
                              </a:solidFill>
                              <a:latin typeface="Cambria Math" panose="02040503050406030204" pitchFamily="18" charset="0"/>
                              <a:ea typeface="Cambria Math" charset="0"/>
                              <a:cs typeface="Cambria Math" charset="0"/>
                            </a:rPr>
                            <m:t>𝑔</m:t>
                          </m:r>
                          <m:r>
                            <a:rPr lang="en-US" sz="1600" i="1">
                              <a:solidFill>
                                <a:srgbClr val="0070C0"/>
                              </a:solidFill>
                              <a:latin typeface="Cambria Math" charset="0"/>
                              <a:ea typeface="Cambria Math" charset="0"/>
                              <a:cs typeface="Cambria Math" charset="0"/>
                            </a:rPr>
                            <m:t>𝑦</m:t>
                          </m:r>
                          <m:r>
                            <a:rPr lang="en-US" sz="1600" i="1">
                              <a:solidFill>
                                <a:srgbClr val="0070C0"/>
                              </a:solidFill>
                              <a:latin typeface="Cambria Math" charset="0"/>
                              <a:ea typeface="Cambria Math" charset="0"/>
                              <a:cs typeface="Cambria Math" charset="0"/>
                            </a:rPr>
                            <m:t> </m:t>
                          </m:r>
                        </m:e>
                      </m:d>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𝑇𝑌𝑃𝐸</m:t>
                      </m:r>
                      <m:r>
                        <a:rPr lang="en-US" sz="1600" i="1">
                          <a:solidFill>
                            <a:srgbClr val="0070C0"/>
                          </a:solidFill>
                          <a:latin typeface="Cambria Math" charset="0"/>
                          <a:ea typeface="Cambria Math" charset="0"/>
                          <a:cs typeface="Cambria Math" charset="0"/>
                        </a:rPr>
                        <m:t>}= </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0</m:t>
                          </m:r>
                        </m:sub>
                      </m:sSub>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1</m:t>
                          </m:r>
                        </m:sub>
                      </m:sSub>
                      <m:r>
                        <a:rPr lang="en-US" sz="1600" i="1">
                          <a:solidFill>
                            <a:srgbClr val="0070C0"/>
                          </a:solidFill>
                          <a:latin typeface="Cambria Math" charset="0"/>
                          <a:ea typeface="Cambria Math" charset="0"/>
                          <a:cs typeface="Cambria Math" charset="0"/>
                        </a:rPr>
                        <m:t>𝑙𝑚𝑎𝑠𝑠</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2</m:t>
                          </m:r>
                        </m:sub>
                      </m:sSub>
                      <m:r>
                        <a:rPr lang="en-US" sz="1600" i="1">
                          <a:solidFill>
                            <a:srgbClr val="0070C0"/>
                          </a:solidFill>
                          <a:latin typeface="Cambria Math" charset="0"/>
                          <a:ea typeface="Cambria Math" charset="0"/>
                          <a:cs typeface="Cambria Math" charset="0"/>
                        </a:rPr>
                        <m:t>𝑏𝑖𝑟𝑑</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3</m:t>
                          </m:r>
                        </m:sub>
                      </m:sSub>
                      <m:r>
                        <a:rPr lang="en-US" sz="1600" i="1">
                          <a:solidFill>
                            <a:srgbClr val="0070C0"/>
                          </a:solidFill>
                          <a:latin typeface="Cambria Math" charset="0"/>
                          <a:ea typeface="Cambria Math" charset="0"/>
                          <a:cs typeface="Cambria Math" charset="0"/>
                        </a:rPr>
                        <m:t>𝑒𝑏𝑎𝑡</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4</m:t>
                          </m:r>
                        </m:sub>
                      </m:sSub>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𝑏𝑖𝑟𝑑</m:t>
                      </m:r>
                      <m:sSub>
                        <m:sSubPr>
                          <m:ctrlPr>
                            <a:rPr lang="en-US" sz="1600" i="1">
                              <a:solidFill>
                                <a:srgbClr val="0070C0"/>
                              </a:solidFill>
                              <a:latin typeface="Cambria Math" panose="02040503050406030204" pitchFamily="18" charset="0"/>
                              <a:ea typeface="Cambria Math" charset="0"/>
                              <a:cs typeface="Cambria Math" charset="0"/>
                            </a:rPr>
                          </m:ctrlPr>
                        </m:sSubPr>
                        <m:e>
                          <m:r>
                            <a:rPr lang="en-US" sz="1600" i="1">
                              <a:solidFill>
                                <a:srgbClr val="0070C0"/>
                              </a:solidFill>
                              <a:latin typeface="Cambria Math" charset="0"/>
                              <a:ea typeface="Cambria Math" charset="0"/>
                              <a:cs typeface="Cambria Math" charset="0"/>
                            </a:rPr>
                            <m:t>+</m:t>
                          </m:r>
                          <m:r>
                            <a:rPr lang="en-US" sz="1600" i="1">
                              <a:solidFill>
                                <a:srgbClr val="0070C0"/>
                              </a:solidFill>
                              <a:latin typeface="Cambria Math" charset="0"/>
                              <a:ea typeface="Cambria Math" charset="0"/>
                              <a:cs typeface="Cambria Math" charset="0"/>
                            </a:rPr>
                            <m:t>𝛽</m:t>
                          </m:r>
                        </m:e>
                        <m:sub>
                          <m:r>
                            <a:rPr lang="en-US" sz="1600" i="1">
                              <a:solidFill>
                                <a:srgbClr val="0070C0"/>
                              </a:solidFill>
                              <a:latin typeface="Cambria Math" charset="0"/>
                              <a:ea typeface="Cambria Math" charset="0"/>
                              <a:cs typeface="Cambria Math" charset="0"/>
                            </a:rPr>
                            <m:t>5</m:t>
                          </m:r>
                        </m:sub>
                      </m:sSub>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𝑙𝑚𝑎𝑠𝑠</m:t>
                      </m:r>
                      <m:r>
                        <a:rPr lang="en-US" sz="1600" i="1">
                          <a:solidFill>
                            <a:srgbClr val="0070C0"/>
                          </a:solidFill>
                          <a:latin typeface="Cambria Math" charset="0"/>
                          <a:ea typeface="Cambria Math" charset="0"/>
                          <a:cs typeface="Cambria Math" charset="0"/>
                        </a:rPr>
                        <m:t> ∗</m:t>
                      </m:r>
                      <m:r>
                        <a:rPr lang="en-US" sz="1600" i="1">
                          <a:solidFill>
                            <a:srgbClr val="0070C0"/>
                          </a:solidFill>
                          <a:latin typeface="Cambria Math" charset="0"/>
                          <a:ea typeface="Cambria Math" charset="0"/>
                          <a:cs typeface="Cambria Math" charset="0"/>
                        </a:rPr>
                        <m:t>𝑒𝑏𝑎𝑡</m:t>
                      </m:r>
                    </m:oMath>
                  </m:oMathPara>
                </a14:m>
                <a:endParaRPr lang="en-US" sz="1600" i="1" dirty="0">
                  <a:solidFill>
                    <a:srgbClr val="0070C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1524000" y="1213586"/>
                <a:ext cx="8915400" cy="246221"/>
              </a:xfrm>
              <a:prstGeom prst="rect">
                <a:avLst/>
              </a:prstGeom>
              <a:blipFill>
                <a:blip r:embed="rId3"/>
                <a:stretch>
                  <a:fillRect b="-4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C1253D51-3C0C-402F-B698-E8C1E7248654}"/>
                  </a:ext>
                </a:extLst>
              </p:cNvPr>
              <p:cNvSpPr txBox="1"/>
              <p:nvPr/>
            </p:nvSpPr>
            <p:spPr>
              <a:xfrm>
                <a:off x="1680230" y="2328252"/>
                <a:ext cx="7086600" cy="246221"/>
              </a:xfrm>
              <a:prstGeom prst="rect">
                <a:avLst/>
              </a:prstGeom>
              <a:noFill/>
            </p:spPr>
            <p:txBody>
              <a:bodyPr wrap="square" lIns="0" tIns="0" rIns="0" bIns="0" rtlCol="0">
                <a:spAutoFit/>
              </a:bodyPr>
              <a:lstStyle/>
              <a:p>
                <a14:m>
                  <m:oMath xmlns:m="http://schemas.openxmlformats.org/officeDocument/2006/math">
                    <m:r>
                      <a:rPr lang="en-US" sz="1600" i="1">
                        <a:solidFill>
                          <a:srgbClr val="00B050"/>
                        </a:solidFill>
                        <a:latin typeface="Cambria Math" charset="0"/>
                        <a:ea typeface="Cambria Math" charset="0"/>
                        <a:cs typeface="Cambria Math" charset="0"/>
                      </a:rPr>
                      <m:t>𝜇</m:t>
                    </m:r>
                    <m:d>
                      <m:dPr>
                        <m:begChr m:val="{"/>
                        <m:endChr m:val="|"/>
                        <m:ctrlPr>
                          <a:rPr lang="en-US" sz="1600" i="1">
                            <a:solidFill>
                              <a:srgbClr val="00B050"/>
                            </a:solidFill>
                            <a:latin typeface="Cambria Math" panose="02040503050406030204" pitchFamily="18" charset="0"/>
                            <a:ea typeface="Cambria Math" charset="0"/>
                            <a:cs typeface="Cambria Math" charset="0"/>
                          </a:rPr>
                        </m:ctrlPr>
                      </m:dPr>
                      <m:e>
                        <m:r>
                          <a:rPr lang="en-US" sz="1600" i="1">
                            <a:solidFill>
                              <a:srgbClr val="00B050"/>
                            </a:solidFill>
                            <a:latin typeface="Cambria Math" charset="0"/>
                            <a:ea typeface="Cambria Math" charset="0"/>
                            <a:cs typeface="Cambria Math" charset="0"/>
                          </a:rPr>
                          <m:t>𝑙𝑒𝑛𝑒𝑟</m:t>
                        </m:r>
                        <m:r>
                          <a:rPr lang="en-US" sz="1600" i="1">
                            <a:solidFill>
                              <a:srgbClr val="00B050"/>
                            </a:solidFill>
                            <a:latin typeface="Cambria Math" panose="02040503050406030204" pitchFamily="18" charset="0"/>
                            <a:ea typeface="Cambria Math" charset="0"/>
                            <a:cs typeface="Cambria Math" charset="0"/>
                          </a:rPr>
                          <m:t>𝑔</m:t>
                        </m:r>
                        <m:r>
                          <a:rPr lang="en-US" sz="1600" i="1">
                            <a:solidFill>
                              <a:srgbClr val="00B050"/>
                            </a:solidFill>
                            <a:latin typeface="Cambria Math" charset="0"/>
                            <a:ea typeface="Cambria Math" charset="0"/>
                            <a:cs typeface="Cambria Math" charset="0"/>
                          </a:rPr>
                          <m:t>𝑦</m:t>
                        </m:r>
                        <m:r>
                          <a:rPr lang="en-US" sz="1600" i="1">
                            <a:solidFill>
                              <a:srgbClr val="00B050"/>
                            </a:solidFill>
                            <a:latin typeface="Cambria Math" charset="0"/>
                            <a:ea typeface="Cambria Math" charset="0"/>
                            <a:cs typeface="Cambria Math" charset="0"/>
                          </a:rPr>
                          <m:t> </m:t>
                        </m:r>
                      </m:e>
                    </m:d>
                    <m:r>
                      <a:rPr lang="en-US" sz="1600" i="1">
                        <a:solidFill>
                          <a:srgbClr val="00B050"/>
                        </a:solidFill>
                        <a:latin typeface="Cambria Math" charset="0"/>
                        <a:ea typeface="Cambria Math" charset="0"/>
                        <a:cs typeface="Cambria Math" charset="0"/>
                      </a:rPr>
                      <m:t>𝑙𝑚𝑎𝑠𝑠</m:t>
                    </m:r>
                    <m:r>
                      <a:rPr lang="en-US" sz="1600" i="1">
                        <a:solidFill>
                          <a:srgbClr val="00B050"/>
                        </a:solidFill>
                        <a:latin typeface="Cambria Math" charset="0"/>
                        <a:ea typeface="Cambria Math" charset="0"/>
                        <a:cs typeface="Cambria Math" charset="0"/>
                      </a:rPr>
                      <m:t>, </m:t>
                    </m:r>
                    <m:r>
                      <a:rPr lang="en-US" sz="1600" i="1">
                        <a:solidFill>
                          <a:srgbClr val="00B050"/>
                        </a:solidFill>
                        <a:latin typeface="Cambria Math" charset="0"/>
                        <a:ea typeface="Cambria Math" charset="0"/>
                        <a:cs typeface="Cambria Math" charset="0"/>
                      </a:rPr>
                      <m:t>𝑇𝑌𝑃𝐸</m:t>
                    </m:r>
                    <m:r>
                      <a:rPr lang="en-US" sz="1600" i="1">
                        <a:solidFill>
                          <a:srgbClr val="00B050"/>
                        </a:solidFill>
                        <a:latin typeface="Cambria Math" panose="02040503050406030204" pitchFamily="18" charset="0"/>
                        <a:ea typeface="Cambria Math" charset="0"/>
                        <a:cs typeface="Cambria Math" charset="0"/>
                      </a:rPr>
                      <m:t>=</m:t>
                    </m:r>
                    <m:r>
                      <a:rPr lang="en-US" sz="1600" b="1" i="1">
                        <a:solidFill>
                          <a:srgbClr val="00B050"/>
                        </a:solidFill>
                        <a:latin typeface="Cambria Math" panose="02040503050406030204" pitchFamily="18" charset="0"/>
                        <a:ea typeface="Cambria Math" charset="0"/>
                        <a:cs typeface="Cambria Math" charset="0"/>
                      </a:rPr>
                      <m:t>𝒆𝒃𝒂𝒕</m:t>
                    </m:r>
                    <m:r>
                      <a:rPr lang="en-US" sz="1600" i="1">
                        <a:solidFill>
                          <a:srgbClr val="00B050"/>
                        </a:solidFill>
                        <a:latin typeface="Cambria Math" charset="0"/>
                        <a:ea typeface="Cambria Math" charset="0"/>
                        <a:cs typeface="Cambria Math" charset="0"/>
                      </a:rPr>
                      <m:t>}=</m:t>
                    </m:r>
                    <m:d>
                      <m:dPr>
                        <m:ctrlPr>
                          <a:rPr lang="en-US" sz="1600" i="1">
                            <a:solidFill>
                              <a:srgbClr val="00B050"/>
                            </a:solidFill>
                            <a:latin typeface="Cambria Math" panose="02040503050406030204" pitchFamily="18" charset="0"/>
                            <a:ea typeface="Cambria Math" charset="0"/>
                            <a:cs typeface="Cambria Math" charset="0"/>
                          </a:rPr>
                        </m:ctrlPr>
                      </m:dPr>
                      <m:e>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0</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3</m:t>
                            </m:r>
                          </m:sub>
                        </m:sSub>
                      </m:e>
                    </m:d>
                    <m:r>
                      <a:rPr lang="en-US" sz="1600" i="1">
                        <a:solidFill>
                          <a:srgbClr val="00B050"/>
                        </a:solidFill>
                        <a:latin typeface="Cambria Math" panose="02040503050406030204" pitchFamily="18" charset="0"/>
                        <a:ea typeface="Cambria Math" charset="0"/>
                        <a:cs typeface="Cambria Math" charset="0"/>
                      </a:rPr>
                      <m:t>+(</m:t>
                    </m:r>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1</m:t>
                        </m:r>
                      </m:sub>
                    </m:sSub>
                    <m:sSub>
                      <m:sSubPr>
                        <m:ctrlPr>
                          <a:rPr lang="en-US" sz="1600" i="1">
                            <a:solidFill>
                              <a:srgbClr val="00B050"/>
                            </a:solidFill>
                            <a:latin typeface="Cambria Math" panose="02040503050406030204" pitchFamily="18" charset="0"/>
                            <a:ea typeface="Cambria Math" charset="0"/>
                            <a:cs typeface="Cambria Math" charset="0"/>
                          </a:rPr>
                        </m:ctrlPr>
                      </m:sSubPr>
                      <m:e>
                        <m:r>
                          <a:rPr lang="en-US" sz="1600" i="1">
                            <a:solidFill>
                              <a:srgbClr val="00B050"/>
                            </a:solidFill>
                            <a:latin typeface="Cambria Math" charset="0"/>
                            <a:ea typeface="Cambria Math" charset="0"/>
                            <a:cs typeface="Cambria Math" charset="0"/>
                          </a:rPr>
                          <m:t>+</m:t>
                        </m:r>
                        <m:r>
                          <a:rPr lang="en-US" sz="1600" i="1">
                            <a:solidFill>
                              <a:srgbClr val="00B050"/>
                            </a:solidFill>
                            <a:latin typeface="Cambria Math" charset="0"/>
                            <a:ea typeface="Cambria Math" charset="0"/>
                            <a:cs typeface="Cambria Math" charset="0"/>
                          </a:rPr>
                          <m:t>𝛽</m:t>
                        </m:r>
                      </m:e>
                      <m:sub>
                        <m:r>
                          <a:rPr lang="en-US" sz="1600" i="1">
                            <a:solidFill>
                              <a:srgbClr val="00B050"/>
                            </a:solidFill>
                            <a:latin typeface="Cambria Math" charset="0"/>
                            <a:ea typeface="Cambria Math" charset="0"/>
                            <a:cs typeface="Cambria Math" charset="0"/>
                          </a:rPr>
                          <m:t>5</m:t>
                        </m:r>
                      </m:sub>
                    </m:sSub>
                    <m:r>
                      <a:rPr lang="en-US" sz="1600" i="1">
                        <a:solidFill>
                          <a:srgbClr val="00B050"/>
                        </a:solidFill>
                        <a:latin typeface="Cambria Math" panose="02040503050406030204" pitchFamily="18" charset="0"/>
                        <a:ea typeface="Cambria Math" charset="0"/>
                        <a:cs typeface="Cambria Math" charset="0"/>
                      </a:rPr>
                      <m:t>)</m:t>
                    </m:r>
                    <m:r>
                      <a:rPr lang="en-US" sz="1600" i="1">
                        <a:solidFill>
                          <a:srgbClr val="00B050"/>
                        </a:solidFill>
                        <a:latin typeface="Cambria Math" charset="0"/>
                        <a:ea typeface="Cambria Math" charset="0"/>
                        <a:cs typeface="Cambria Math" charset="0"/>
                      </a:rPr>
                      <m:t>𝑙𝑚𝑎𝑠𝑠</m:t>
                    </m:r>
                  </m:oMath>
                </a14:m>
                <a:r>
                  <a:rPr lang="en-US" sz="1600" i="1" dirty="0">
                    <a:solidFill>
                      <a:srgbClr val="00B050"/>
                    </a:solidFill>
                  </a:rPr>
                  <a:t>:  slope =</a:t>
                </a:r>
                <a:r>
                  <a:rPr lang="en-US" sz="1600" dirty="0">
                    <a:solidFill>
                      <a:srgbClr val="00B050"/>
                    </a:solidFill>
                    <a:ea typeface="Cambria Math" charset="0"/>
                    <a:cs typeface="Cambria Math" charset="0"/>
                  </a:rPr>
                  <a:t> </a:t>
                </a:r>
                <a14:m>
                  <m:oMath xmlns:m="http://schemas.openxmlformats.org/officeDocument/2006/math">
                    <m:sSub>
                      <m:sSubPr>
                        <m:ctrlPr>
                          <a:rPr lang="en-US" sz="1600" b="1" i="1">
                            <a:solidFill>
                              <a:srgbClr val="00B050"/>
                            </a:solidFill>
                            <a:latin typeface="Cambria Math" panose="02040503050406030204" pitchFamily="18" charset="0"/>
                            <a:ea typeface="Cambria Math" charset="0"/>
                            <a:cs typeface="Cambria Math" charset="0"/>
                          </a:rPr>
                        </m:ctrlPr>
                      </m:sSubPr>
                      <m:e>
                        <m:r>
                          <a:rPr lang="en-US" sz="1600" b="1" i="1">
                            <a:solidFill>
                              <a:srgbClr val="00B050"/>
                            </a:solidFill>
                            <a:latin typeface="Cambria Math" charset="0"/>
                            <a:ea typeface="Cambria Math" charset="0"/>
                            <a:cs typeface="Cambria Math" charset="0"/>
                          </a:rPr>
                          <m:t>𝜷</m:t>
                        </m:r>
                      </m:e>
                      <m:sub>
                        <m:r>
                          <a:rPr lang="en-US" sz="1600" b="1" i="1">
                            <a:solidFill>
                              <a:srgbClr val="00B050"/>
                            </a:solidFill>
                            <a:latin typeface="Cambria Math" charset="0"/>
                            <a:ea typeface="Cambria Math" charset="0"/>
                            <a:cs typeface="Cambria Math" charset="0"/>
                          </a:rPr>
                          <m:t>𝟏</m:t>
                        </m:r>
                      </m:sub>
                    </m:sSub>
                    <m:sSub>
                      <m:sSubPr>
                        <m:ctrlPr>
                          <a:rPr lang="en-US" sz="1600" b="1" i="1">
                            <a:solidFill>
                              <a:srgbClr val="00B050"/>
                            </a:solidFill>
                            <a:latin typeface="Cambria Math" panose="02040503050406030204" pitchFamily="18" charset="0"/>
                            <a:ea typeface="Cambria Math" charset="0"/>
                            <a:cs typeface="Cambria Math" charset="0"/>
                          </a:rPr>
                        </m:ctrlPr>
                      </m:sSubPr>
                      <m:e>
                        <m:r>
                          <a:rPr lang="en-US" sz="1600" b="1" i="1">
                            <a:solidFill>
                              <a:srgbClr val="00B050"/>
                            </a:solidFill>
                            <a:latin typeface="Cambria Math" charset="0"/>
                            <a:ea typeface="Cambria Math" charset="0"/>
                            <a:cs typeface="Cambria Math" charset="0"/>
                          </a:rPr>
                          <m:t>+</m:t>
                        </m:r>
                        <m:r>
                          <a:rPr lang="en-US" sz="1600" b="1" i="1">
                            <a:solidFill>
                              <a:srgbClr val="00B050"/>
                            </a:solidFill>
                            <a:latin typeface="Cambria Math" charset="0"/>
                            <a:ea typeface="Cambria Math" charset="0"/>
                            <a:cs typeface="Cambria Math" charset="0"/>
                          </a:rPr>
                          <m:t>𝜷</m:t>
                        </m:r>
                      </m:e>
                      <m:sub>
                        <m:r>
                          <a:rPr lang="en-US" sz="1600" b="1" i="1">
                            <a:solidFill>
                              <a:srgbClr val="00B050"/>
                            </a:solidFill>
                            <a:latin typeface="Cambria Math" charset="0"/>
                            <a:ea typeface="Cambria Math" charset="0"/>
                            <a:cs typeface="Cambria Math" charset="0"/>
                          </a:rPr>
                          <m:t>𝟓</m:t>
                        </m:r>
                      </m:sub>
                    </m:sSub>
                  </m:oMath>
                </a14:m>
                <a:r>
                  <a:rPr lang="en-US" sz="1600" i="1" dirty="0">
                    <a:solidFill>
                      <a:srgbClr val="00B050"/>
                    </a:solidFill>
                  </a:rPr>
                  <a:t> </a:t>
                </a:r>
              </a:p>
            </p:txBody>
          </p:sp>
        </mc:Choice>
        <mc:Fallback xmlns="">
          <p:sp>
            <p:nvSpPr>
              <p:cNvPr id="38" name="TextBox 37">
                <a:extLst>
                  <a:ext uri="{FF2B5EF4-FFF2-40B4-BE49-F238E27FC236}">
                    <a16:creationId xmlns:a16="http://schemas.microsoft.com/office/drawing/2014/main" id="{C1253D51-3C0C-402F-B698-E8C1E7248654}"/>
                  </a:ext>
                </a:extLst>
              </p:cNvPr>
              <p:cNvSpPr txBox="1">
                <a:spLocks noRot="1" noChangeAspect="1" noMove="1" noResize="1" noEditPoints="1" noAdjustHandles="1" noChangeArrowheads="1" noChangeShapeType="1" noTextEdit="1"/>
              </p:cNvSpPr>
              <p:nvPr/>
            </p:nvSpPr>
            <p:spPr>
              <a:xfrm>
                <a:off x="1680230" y="2328252"/>
                <a:ext cx="7086600" cy="246221"/>
              </a:xfrm>
              <a:prstGeom prst="rect">
                <a:avLst/>
              </a:prstGeom>
              <a:blipFill>
                <a:blip r:embed="rId4"/>
                <a:stretch>
                  <a:fillRect l="-894" t="-25000" b="-5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758482C-4D3B-4B9C-8C60-54A71CA134DF}"/>
                  </a:ext>
                </a:extLst>
              </p:cNvPr>
              <p:cNvSpPr txBox="1"/>
              <p:nvPr/>
            </p:nvSpPr>
            <p:spPr>
              <a:xfrm>
                <a:off x="1699985" y="3057115"/>
                <a:ext cx="7086600" cy="246221"/>
              </a:xfrm>
              <a:prstGeom prst="rect">
                <a:avLst/>
              </a:prstGeom>
              <a:noFill/>
            </p:spPr>
            <p:txBody>
              <a:bodyPr wrap="square" lIns="0" tIns="0" rIns="0" bIns="0" rtlCol="0">
                <a:spAutoFit/>
              </a:bodyPr>
              <a:lstStyle/>
              <a:p>
                <a14:m>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panose="02040503050406030204" pitchFamily="18" charset="0"/>
                        <a:ea typeface="Cambria Math" charset="0"/>
                        <a:cs typeface="Cambria Math" charset="0"/>
                      </a:rPr>
                      <m:t>=</m:t>
                    </m:r>
                    <m:r>
                      <a:rPr lang="en-US" sz="1600" b="1" i="1">
                        <a:latin typeface="Cambria Math" panose="02040503050406030204" pitchFamily="18" charset="0"/>
                        <a:ea typeface="Cambria Math" charset="0"/>
                        <a:cs typeface="Cambria Math" charset="0"/>
                      </a:rPr>
                      <m:t>𝒏𝒆𝒃𝒂𝒕</m:t>
                    </m:r>
                    <m:r>
                      <a:rPr lang="en-US" sz="1600" i="1">
                        <a:latin typeface="Cambria Math"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r>
                      <a:rPr lang="en-US" sz="1600"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oMath>
                </a14:m>
                <a:r>
                  <a:rPr lang="en-US" sz="1600" i="1" dirty="0"/>
                  <a:t>:  slope =</a:t>
                </a:r>
                <a:r>
                  <a:rPr lang="en-US" sz="1600" dirty="0">
                    <a:ea typeface="Cambria Math" charset="0"/>
                    <a:cs typeface="Cambria Math" charset="0"/>
                  </a:rPr>
                  <a:t> </a:t>
                </a:r>
                <a14:m>
                  <m:oMath xmlns:m="http://schemas.openxmlformats.org/officeDocument/2006/math">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𝟏</m:t>
                        </m:r>
                      </m:sub>
                    </m:sSub>
                  </m:oMath>
                </a14:m>
                <a:endParaRPr lang="en-US" sz="1600" i="1" dirty="0"/>
              </a:p>
            </p:txBody>
          </p:sp>
        </mc:Choice>
        <mc:Fallback xmlns="">
          <p:sp>
            <p:nvSpPr>
              <p:cNvPr id="43" name="TextBox 42">
                <a:extLst>
                  <a:ext uri="{FF2B5EF4-FFF2-40B4-BE49-F238E27FC236}">
                    <a16:creationId xmlns:a16="http://schemas.microsoft.com/office/drawing/2014/main" id="{2758482C-4D3B-4B9C-8C60-54A71CA134DF}"/>
                  </a:ext>
                </a:extLst>
              </p:cNvPr>
              <p:cNvSpPr txBox="1">
                <a:spLocks noRot="1" noChangeAspect="1" noMove="1" noResize="1" noEditPoints="1" noAdjustHandles="1" noChangeArrowheads="1" noChangeShapeType="1" noTextEdit="1"/>
              </p:cNvSpPr>
              <p:nvPr/>
            </p:nvSpPr>
            <p:spPr>
              <a:xfrm>
                <a:off x="1699985" y="3057115"/>
                <a:ext cx="7086600" cy="246221"/>
              </a:xfrm>
              <a:prstGeom prst="rect">
                <a:avLst/>
              </a:prstGeom>
              <a:blipFill>
                <a:blip r:embed="rId5"/>
                <a:stretch>
                  <a:fillRect l="-894" t="-23810" b="-4761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B837465-FE46-4552-93AC-6A508DDDBD1D}"/>
                  </a:ext>
                </a:extLst>
              </p:cNvPr>
              <p:cNvSpPr txBox="1"/>
              <p:nvPr/>
            </p:nvSpPr>
            <p:spPr>
              <a:xfrm>
                <a:off x="1694341" y="2691631"/>
                <a:ext cx="7086600" cy="246221"/>
              </a:xfrm>
              <a:prstGeom prst="rect">
                <a:avLst/>
              </a:prstGeom>
              <a:noFill/>
            </p:spPr>
            <p:txBody>
              <a:bodyPr wrap="square" lIns="0" tIns="0" rIns="0" bIns="0" rtlCol="0">
                <a:spAutoFit/>
              </a:bodyPr>
              <a:lstStyle/>
              <a:p>
                <a14:m>
                  <m:oMath xmlns:m="http://schemas.openxmlformats.org/officeDocument/2006/math">
                    <m:r>
                      <a:rPr lang="en-US" sz="1600" i="1">
                        <a:solidFill>
                          <a:srgbClr val="7030A0"/>
                        </a:solidFill>
                        <a:latin typeface="Cambria Math" charset="0"/>
                        <a:ea typeface="Cambria Math" charset="0"/>
                        <a:cs typeface="Cambria Math" charset="0"/>
                      </a:rPr>
                      <m:t>𝜇</m:t>
                    </m:r>
                    <m:d>
                      <m:dPr>
                        <m:begChr m:val="{"/>
                        <m:endChr m:val="|"/>
                        <m:ctrlPr>
                          <a:rPr lang="en-US" sz="1600" i="1">
                            <a:solidFill>
                              <a:srgbClr val="7030A0"/>
                            </a:solidFill>
                            <a:latin typeface="Cambria Math" panose="02040503050406030204" pitchFamily="18" charset="0"/>
                            <a:ea typeface="Cambria Math" charset="0"/>
                            <a:cs typeface="Cambria Math" charset="0"/>
                          </a:rPr>
                        </m:ctrlPr>
                      </m:dPr>
                      <m:e>
                        <m:r>
                          <a:rPr lang="en-US" sz="1600" i="1">
                            <a:solidFill>
                              <a:srgbClr val="7030A0"/>
                            </a:solidFill>
                            <a:latin typeface="Cambria Math" charset="0"/>
                            <a:ea typeface="Cambria Math" charset="0"/>
                            <a:cs typeface="Cambria Math" charset="0"/>
                          </a:rPr>
                          <m:t>𝑙𝑒𝑛𝑒𝑟</m:t>
                        </m:r>
                        <m:r>
                          <a:rPr lang="en-US" sz="1600" i="1">
                            <a:solidFill>
                              <a:srgbClr val="7030A0"/>
                            </a:solidFill>
                            <a:latin typeface="Cambria Math" panose="02040503050406030204" pitchFamily="18" charset="0"/>
                            <a:ea typeface="Cambria Math" charset="0"/>
                            <a:cs typeface="Cambria Math" charset="0"/>
                          </a:rPr>
                          <m:t>𝑔</m:t>
                        </m:r>
                        <m:r>
                          <a:rPr lang="en-US" sz="1600" i="1">
                            <a:solidFill>
                              <a:srgbClr val="7030A0"/>
                            </a:solidFill>
                            <a:latin typeface="Cambria Math" charset="0"/>
                            <a:ea typeface="Cambria Math" charset="0"/>
                            <a:cs typeface="Cambria Math" charset="0"/>
                          </a:rPr>
                          <m:t>𝑦</m:t>
                        </m:r>
                        <m:r>
                          <a:rPr lang="en-US" sz="1600" i="1">
                            <a:solidFill>
                              <a:srgbClr val="7030A0"/>
                            </a:solidFill>
                            <a:latin typeface="Cambria Math" charset="0"/>
                            <a:ea typeface="Cambria Math" charset="0"/>
                            <a:cs typeface="Cambria Math" charset="0"/>
                          </a:rPr>
                          <m:t> </m:t>
                        </m:r>
                      </m:e>
                    </m:d>
                    <m:r>
                      <a:rPr lang="en-US" sz="1600" i="1">
                        <a:solidFill>
                          <a:srgbClr val="7030A0"/>
                        </a:solidFill>
                        <a:latin typeface="Cambria Math" charset="0"/>
                        <a:ea typeface="Cambria Math" charset="0"/>
                        <a:cs typeface="Cambria Math" charset="0"/>
                      </a:rPr>
                      <m:t>𝑙𝑚𝑎𝑠𝑠</m:t>
                    </m:r>
                    <m:r>
                      <a:rPr lang="en-US" sz="1600" i="1">
                        <a:solidFill>
                          <a:srgbClr val="7030A0"/>
                        </a:solidFill>
                        <a:latin typeface="Cambria Math" charset="0"/>
                        <a:ea typeface="Cambria Math" charset="0"/>
                        <a:cs typeface="Cambria Math" charset="0"/>
                      </a:rPr>
                      <m:t>, </m:t>
                    </m:r>
                    <m:r>
                      <a:rPr lang="en-US" sz="1600" i="1">
                        <a:solidFill>
                          <a:srgbClr val="7030A0"/>
                        </a:solidFill>
                        <a:latin typeface="Cambria Math" charset="0"/>
                        <a:ea typeface="Cambria Math" charset="0"/>
                        <a:cs typeface="Cambria Math" charset="0"/>
                      </a:rPr>
                      <m:t>𝑇𝑌𝑃𝐸</m:t>
                    </m:r>
                    <m:r>
                      <a:rPr lang="en-US" sz="1600" i="1">
                        <a:solidFill>
                          <a:srgbClr val="7030A0"/>
                        </a:solidFill>
                        <a:latin typeface="Cambria Math" panose="02040503050406030204" pitchFamily="18" charset="0"/>
                        <a:ea typeface="Cambria Math" charset="0"/>
                        <a:cs typeface="Cambria Math" charset="0"/>
                      </a:rPr>
                      <m:t>=</m:t>
                    </m:r>
                    <m:r>
                      <a:rPr lang="en-US" sz="1600" b="1" i="1">
                        <a:solidFill>
                          <a:srgbClr val="7030A0"/>
                        </a:solidFill>
                        <a:latin typeface="Cambria Math" panose="02040503050406030204" pitchFamily="18" charset="0"/>
                        <a:ea typeface="Cambria Math" charset="0"/>
                        <a:cs typeface="Cambria Math" charset="0"/>
                      </a:rPr>
                      <m:t>𝒃𝒊𝒓𝒅</m:t>
                    </m:r>
                    <m:r>
                      <a:rPr lang="en-US" sz="1600" i="1">
                        <a:solidFill>
                          <a:srgbClr val="7030A0"/>
                        </a:solidFill>
                        <a:latin typeface="Cambria Math" charset="0"/>
                        <a:ea typeface="Cambria Math" charset="0"/>
                        <a:cs typeface="Cambria Math" charset="0"/>
                      </a:rPr>
                      <m:t>}=</m:t>
                    </m:r>
                    <m:d>
                      <m:dPr>
                        <m:ctrlPr>
                          <a:rPr lang="en-US" sz="1600" i="1">
                            <a:solidFill>
                              <a:srgbClr val="7030A0"/>
                            </a:solidFill>
                            <a:latin typeface="Cambria Math" panose="02040503050406030204" pitchFamily="18" charset="0"/>
                            <a:ea typeface="Cambria Math" charset="0"/>
                            <a:cs typeface="Cambria Math" charset="0"/>
                          </a:rPr>
                        </m:ctrlPr>
                      </m:dPr>
                      <m:e>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0</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2</m:t>
                            </m:r>
                          </m:sub>
                        </m:sSub>
                      </m:e>
                    </m:d>
                    <m:r>
                      <a:rPr lang="en-US" sz="1600" i="1">
                        <a:solidFill>
                          <a:srgbClr val="7030A0"/>
                        </a:solidFill>
                        <a:latin typeface="Cambria Math" panose="02040503050406030204" pitchFamily="18" charset="0"/>
                        <a:ea typeface="Cambria Math" charset="0"/>
                        <a:cs typeface="Cambria Math" charset="0"/>
                      </a:rPr>
                      <m:t>+(</m:t>
                    </m:r>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charset="0"/>
                            <a:ea typeface="Cambria Math" charset="0"/>
                            <a:cs typeface="Cambria Math" charset="0"/>
                          </a:rPr>
                          <m:t>1</m:t>
                        </m:r>
                      </m:sub>
                    </m:sSub>
                    <m:sSub>
                      <m:sSubPr>
                        <m:ctrlPr>
                          <a:rPr lang="en-US" sz="1600" i="1">
                            <a:solidFill>
                              <a:srgbClr val="7030A0"/>
                            </a:solidFill>
                            <a:latin typeface="Cambria Math" panose="02040503050406030204" pitchFamily="18" charset="0"/>
                            <a:ea typeface="Cambria Math" charset="0"/>
                            <a:cs typeface="Cambria Math" charset="0"/>
                          </a:rPr>
                        </m:ctrlPr>
                      </m:sSubPr>
                      <m:e>
                        <m:r>
                          <a:rPr lang="en-US" sz="1600" i="1">
                            <a:solidFill>
                              <a:srgbClr val="7030A0"/>
                            </a:solidFill>
                            <a:latin typeface="Cambria Math" charset="0"/>
                            <a:ea typeface="Cambria Math" charset="0"/>
                            <a:cs typeface="Cambria Math" charset="0"/>
                          </a:rPr>
                          <m:t>+</m:t>
                        </m:r>
                        <m:r>
                          <a:rPr lang="en-US" sz="1600" i="1">
                            <a:solidFill>
                              <a:srgbClr val="7030A0"/>
                            </a:solidFill>
                            <a:latin typeface="Cambria Math" charset="0"/>
                            <a:ea typeface="Cambria Math" charset="0"/>
                            <a:cs typeface="Cambria Math" charset="0"/>
                          </a:rPr>
                          <m:t>𝛽</m:t>
                        </m:r>
                      </m:e>
                      <m:sub>
                        <m:r>
                          <a:rPr lang="en-US" sz="1600" i="1">
                            <a:solidFill>
                              <a:srgbClr val="7030A0"/>
                            </a:solidFill>
                            <a:latin typeface="Cambria Math" panose="02040503050406030204" pitchFamily="18" charset="0"/>
                            <a:ea typeface="Cambria Math" charset="0"/>
                            <a:cs typeface="Cambria Math" charset="0"/>
                          </a:rPr>
                          <m:t>4</m:t>
                        </m:r>
                      </m:sub>
                    </m:sSub>
                    <m:r>
                      <a:rPr lang="en-US" sz="1600" i="1">
                        <a:solidFill>
                          <a:srgbClr val="7030A0"/>
                        </a:solidFill>
                        <a:latin typeface="Cambria Math" panose="02040503050406030204" pitchFamily="18" charset="0"/>
                        <a:ea typeface="Cambria Math" charset="0"/>
                        <a:cs typeface="Cambria Math" charset="0"/>
                      </a:rPr>
                      <m:t>)</m:t>
                    </m:r>
                    <m:r>
                      <a:rPr lang="en-US" sz="1600" i="1">
                        <a:solidFill>
                          <a:srgbClr val="7030A0"/>
                        </a:solidFill>
                        <a:latin typeface="Cambria Math" charset="0"/>
                        <a:ea typeface="Cambria Math" charset="0"/>
                        <a:cs typeface="Cambria Math" charset="0"/>
                      </a:rPr>
                      <m:t>𝑙𝑚𝑎𝑠𝑠</m:t>
                    </m:r>
                  </m:oMath>
                </a14:m>
                <a:r>
                  <a:rPr lang="en-US" sz="1600" i="1" dirty="0">
                    <a:solidFill>
                      <a:srgbClr val="7030A0"/>
                    </a:solidFill>
                  </a:rPr>
                  <a:t>:  slope =</a:t>
                </a:r>
                <a:r>
                  <a:rPr lang="en-US" sz="1600" dirty="0">
                    <a:solidFill>
                      <a:srgbClr val="7030A0"/>
                    </a:solidFill>
                    <a:ea typeface="Cambria Math" charset="0"/>
                    <a:cs typeface="Cambria Math" charset="0"/>
                  </a:rPr>
                  <a:t> </a:t>
                </a:r>
                <a14:m>
                  <m:oMath xmlns:m="http://schemas.openxmlformats.org/officeDocument/2006/math">
                    <m:sSub>
                      <m:sSubPr>
                        <m:ctrlPr>
                          <a:rPr lang="en-US" sz="1600" b="1" i="1">
                            <a:solidFill>
                              <a:srgbClr val="7030A0"/>
                            </a:solidFill>
                            <a:latin typeface="Cambria Math" panose="02040503050406030204" pitchFamily="18" charset="0"/>
                            <a:ea typeface="Cambria Math" charset="0"/>
                            <a:cs typeface="Cambria Math" charset="0"/>
                          </a:rPr>
                        </m:ctrlPr>
                      </m:sSubPr>
                      <m:e>
                        <m:r>
                          <a:rPr lang="en-US" sz="1600" b="1" i="1">
                            <a:solidFill>
                              <a:srgbClr val="7030A0"/>
                            </a:solidFill>
                            <a:latin typeface="Cambria Math" charset="0"/>
                            <a:ea typeface="Cambria Math" charset="0"/>
                            <a:cs typeface="Cambria Math" charset="0"/>
                          </a:rPr>
                          <m:t>𝜷</m:t>
                        </m:r>
                      </m:e>
                      <m:sub>
                        <m:r>
                          <a:rPr lang="en-US" sz="1600" b="1" i="1">
                            <a:solidFill>
                              <a:srgbClr val="7030A0"/>
                            </a:solidFill>
                            <a:latin typeface="Cambria Math" charset="0"/>
                            <a:ea typeface="Cambria Math" charset="0"/>
                            <a:cs typeface="Cambria Math" charset="0"/>
                          </a:rPr>
                          <m:t>𝟏</m:t>
                        </m:r>
                      </m:sub>
                    </m:sSub>
                    <m:sSub>
                      <m:sSubPr>
                        <m:ctrlPr>
                          <a:rPr lang="en-US" sz="1600" b="1" i="1">
                            <a:solidFill>
                              <a:srgbClr val="7030A0"/>
                            </a:solidFill>
                            <a:latin typeface="Cambria Math" panose="02040503050406030204" pitchFamily="18" charset="0"/>
                            <a:ea typeface="Cambria Math" charset="0"/>
                            <a:cs typeface="Cambria Math" charset="0"/>
                          </a:rPr>
                        </m:ctrlPr>
                      </m:sSubPr>
                      <m:e>
                        <m:r>
                          <a:rPr lang="en-US" sz="1600" b="1" i="1">
                            <a:solidFill>
                              <a:srgbClr val="7030A0"/>
                            </a:solidFill>
                            <a:latin typeface="Cambria Math" charset="0"/>
                            <a:ea typeface="Cambria Math" charset="0"/>
                            <a:cs typeface="Cambria Math" charset="0"/>
                          </a:rPr>
                          <m:t>+</m:t>
                        </m:r>
                        <m:r>
                          <a:rPr lang="en-US" sz="1600" b="1" i="1">
                            <a:solidFill>
                              <a:srgbClr val="7030A0"/>
                            </a:solidFill>
                            <a:latin typeface="Cambria Math" charset="0"/>
                            <a:ea typeface="Cambria Math" charset="0"/>
                            <a:cs typeface="Cambria Math" charset="0"/>
                          </a:rPr>
                          <m:t>𝜷</m:t>
                        </m:r>
                      </m:e>
                      <m:sub>
                        <m:r>
                          <a:rPr lang="en-US" sz="1600" b="1" i="1">
                            <a:solidFill>
                              <a:srgbClr val="7030A0"/>
                            </a:solidFill>
                            <a:latin typeface="Cambria Math" panose="02040503050406030204" pitchFamily="18" charset="0"/>
                            <a:ea typeface="Cambria Math" charset="0"/>
                            <a:cs typeface="Cambria Math" charset="0"/>
                          </a:rPr>
                          <m:t>𝟒</m:t>
                        </m:r>
                      </m:sub>
                    </m:sSub>
                  </m:oMath>
                </a14:m>
                <a:r>
                  <a:rPr lang="en-US" sz="1600" i="1" dirty="0">
                    <a:solidFill>
                      <a:srgbClr val="7030A0"/>
                    </a:solidFill>
                  </a:rPr>
                  <a:t> </a:t>
                </a:r>
              </a:p>
            </p:txBody>
          </p:sp>
        </mc:Choice>
        <mc:Fallback xmlns="">
          <p:sp>
            <p:nvSpPr>
              <p:cNvPr id="31" name="TextBox 30">
                <a:extLst>
                  <a:ext uri="{FF2B5EF4-FFF2-40B4-BE49-F238E27FC236}">
                    <a16:creationId xmlns:a16="http://schemas.microsoft.com/office/drawing/2014/main" id="{AB837465-FE46-4552-93AC-6A508DDDBD1D}"/>
                  </a:ext>
                </a:extLst>
              </p:cNvPr>
              <p:cNvSpPr txBox="1">
                <a:spLocks noRot="1" noChangeAspect="1" noMove="1" noResize="1" noEditPoints="1" noAdjustHandles="1" noChangeArrowheads="1" noChangeShapeType="1" noTextEdit="1"/>
              </p:cNvSpPr>
              <p:nvPr/>
            </p:nvSpPr>
            <p:spPr>
              <a:xfrm>
                <a:off x="1694341" y="2691631"/>
                <a:ext cx="7086600" cy="246221"/>
              </a:xfrm>
              <a:prstGeom prst="rect">
                <a:avLst/>
              </a:prstGeom>
              <a:blipFill>
                <a:blip r:embed="rId6"/>
                <a:stretch>
                  <a:fillRect l="-894" t="-30000" b="-5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45330FD-53B0-43FC-91EC-7CCB6EEF22CF}"/>
                  </a:ext>
                </a:extLst>
              </p:cNvPr>
              <p:cNvSpPr txBox="1"/>
              <p:nvPr/>
            </p:nvSpPr>
            <p:spPr>
              <a:xfrm>
                <a:off x="1877406" y="3657518"/>
                <a:ext cx="7653866" cy="369332"/>
              </a:xfrm>
              <a:prstGeom prst="rect">
                <a:avLst/>
              </a:prstGeom>
              <a:noFill/>
            </p:spPr>
            <p:txBody>
              <a:bodyPr wrap="square" rtlCol="0">
                <a:spAutoFit/>
              </a:bodyPr>
              <a:lstStyle/>
              <a:p>
                <a:r>
                  <a:rPr lang="en-US" dirty="0"/>
                  <a:t>All slopes are equal if </a:t>
                </a:r>
                <a14:m>
                  <m:oMath xmlns:m="http://schemas.openxmlformats.org/officeDocument/2006/math">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m:t>
                        </m:r>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m:t>
                        </m:r>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4</m:t>
                        </m:r>
                      </m:sub>
                    </m:sSub>
                    <m:r>
                      <a:rPr lang="en-US">
                        <a:latin typeface="Cambria Math" panose="02040503050406030204" pitchFamily="18" charset="0"/>
                        <a:ea typeface="Cambria Math" charset="0"/>
                        <a:cs typeface="Cambria Math" charset="0"/>
                      </a:rPr>
                      <m:t>, </m:t>
                    </m:r>
                    <m:r>
                      <m:rPr>
                        <m:sty m:val="p"/>
                      </m:rPr>
                      <a:rPr lang="en-US">
                        <a:latin typeface="Cambria Math" panose="02040503050406030204" pitchFamily="18" charset="0"/>
                        <a:ea typeface="Cambria Math" charset="0"/>
                        <a:cs typeface="Cambria Math" charset="0"/>
                      </a:rPr>
                      <m:t>or</m:t>
                    </m:r>
                    <m:r>
                      <a:rPr lang="en-US">
                        <a:latin typeface="Cambria Math" panose="02040503050406030204" pitchFamily="18"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4</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5</m:t>
                        </m:r>
                      </m:sub>
                    </m:sSub>
                    <m:r>
                      <a:rPr lang="en-US" i="1">
                        <a:latin typeface="Cambria Math" panose="02040503050406030204" pitchFamily="18" charset="0"/>
                        <a:ea typeface="Cambria Math" charset="0"/>
                        <a:cs typeface="Cambria Math" charset="0"/>
                      </a:rPr>
                      <m:t>=0</m:t>
                    </m:r>
                  </m:oMath>
                </a14:m>
                <a:r>
                  <a:rPr lang="en-US" dirty="0"/>
                  <a:t>. </a:t>
                </a:r>
              </a:p>
            </p:txBody>
          </p:sp>
        </mc:Choice>
        <mc:Fallback xmlns="">
          <p:sp>
            <p:nvSpPr>
              <p:cNvPr id="33" name="TextBox 32">
                <a:extLst>
                  <a:ext uri="{FF2B5EF4-FFF2-40B4-BE49-F238E27FC236}">
                    <a16:creationId xmlns:a16="http://schemas.microsoft.com/office/drawing/2014/main" id="{645330FD-53B0-43FC-91EC-7CCB6EEF22CF}"/>
                  </a:ext>
                </a:extLst>
              </p:cNvPr>
              <p:cNvSpPr txBox="1">
                <a:spLocks noRot="1" noChangeAspect="1" noMove="1" noResize="1" noEditPoints="1" noAdjustHandles="1" noChangeArrowheads="1" noChangeShapeType="1" noTextEdit="1"/>
              </p:cNvSpPr>
              <p:nvPr/>
            </p:nvSpPr>
            <p:spPr>
              <a:xfrm>
                <a:off x="1877406" y="3657518"/>
                <a:ext cx="7653866" cy="369332"/>
              </a:xfrm>
              <a:prstGeom prst="rect">
                <a:avLst/>
              </a:prstGeom>
              <a:blipFill>
                <a:blip r:embed="rId7"/>
                <a:stretch>
                  <a:fillRect l="-497" t="-6667"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35F74D9-1030-40C0-AC07-5D50AD08E6F1}"/>
                  </a:ext>
                </a:extLst>
              </p:cNvPr>
              <p:cNvSpPr txBox="1"/>
              <p:nvPr/>
            </p:nvSpPr>
            <p:spPr>
              <a:xfrm>
                <a:off x="4328103" y="4368807"/>
                <a:ext cx="297825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charset="0"/>
                        </a:rPr>
                        <m:t>𝐻</m:t>
                      </m:r>
                      <m:r>
                        <a:rPr lang="en-US" i="1" baseline="-25000">
                          <a:latin typeface="Cambria Math" charset="0"/>
                        </a:rPr>
                        <m:t>𝑜</m:t>
                      </m:r>
                      <m:r>
                        <a:rPr lang="en-US" i="1">
                          <a:latin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=0 </m:t>
                      </m:r>
                    </m:oMath>
                  </m:oMathPara>
                </a14:m>
                <a:endParaRPr lang="en-US" i="1"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i="1">
                          <a:latin typeface="Cambria Math" charset="0"/>
                          <a:ea typeface="Cambria Math" charset="0"/>
                          <a:cs typeface="Cambria Math" charset="0"/>
                        </a:rPr>
                        <m:t>𝐻</m:t>
                      </m:r>
                      <m:r>
                        <a:rPr lang="en-US" i="1" baseline="-25000">
                          <a:latin typeface="Cambria Math" charset="0"/>
                          <a:ea typeface="Cambria Math" charset="0"/>
                          <a:cs typeface="Cambria Math" charset="0"/>
                        </a:rPr>
                        <m:t>𝑎</m:t>
                      </m:r>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𝑎𝑛𝑑</m:t>
                      </m:r>
                      <m:r>
                        <a:rPr lang="en-US" i="1">
                          <a:latin typeface="Cambria Math"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𝑎𝑟𝑒</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𝑛𝑜𝑡</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𝑏𝑜𝑡h</m:t>
                      </m:r>
                      <m:r>
                        <a:rPr lang="en-US" i="1">
                          <a:latin typeface="Cambria Math" charset="0"/>
                          <a:ea typeface="Cambria Math" charset="0"/>
                          <a:cs typeface="Cambria Math" charset="0"/>
                        </a:rPr>
                        <m:t> 0.</m:t>
                      </m:r>
                    </m:oMath>
                  </m:oMathPara>
                </a14:m>
                <a:endParaRPr lang="en-US" dirty="0"/>
              </a:p>
            </p:txBody>
          </p:sp>
        </mc:Choice>
        <mc:Fallback xmlns="">
          <p:sp>
            <p:nvSpPr>
              <p:cNvPr id="42" name="TextBox 41">
                <a:extLst>
                  <a:ext uri="{FF2B5EF4-FFF2-40B4-BE49-F238E27FC236}">
                    <a16:creationId xmlns:a16="http://schemas.microsoft.com/office/drawing/2014/main" id="{635F74D9-1030-40C0-AC07-5D50AD08E6F1}"/>
                  </a:ext>
                </a:extLst>
              </p:cNvPr>
              <p:cNvSpPr txBox="1">
                <a:spLocks noRot="1" noChangeAspect="1" noMove="1" noResize="1" noEditPoints="1" noAdjustHandles="1" noChangeArrowheads="1" noChangeShapeType="1" noTextEdit="1"/>
              </p:cNvSpPr>
              <p:nvPr/>
            </p:nvSpPr>
            <p:spPr>
              <a:xfrm>
                <a:off x="4328103" y="4368807"/>
                <a:ext cx="2978251" cy="553998"/>
              </a:xfrm>
              <a:prstGeom prst="rect">
                <a:avLst/>
              </a:prstGeom>
              <a:blipFill>
                <a:blip r:embed="rId8"/>
                <a:stretch>
                  <a:fillRect l="-424" t="-4545" b="-18182"/>
                </a:stretch>
              </a:blipFill>
            </p:spPr>
            <p:txBody>
              <a:bodyPr/>
              <a:lstStyle/>
              <a:p>
                <a:r>
                  <a:rPr lang="en-US">
                    <a:noFill/>
                  </a:rPr>
                  <a:t> </a:t>
                </a:r>
              </a:p>
            </p:txBody>
          </p:sp>
        </mc:Fallback>
      </mc:AlternateContent>
      <p:sp>
        <p:nvSpPr>
          <p:cNvPr id="45" name="TextBox 44">
            <a:extLst>
              <a:ext uri="{FF2B5EF4-FFF2-40B4-BE49-F238E27FC236}">
                <a16:creationId xmlns:a16="http://schemas.microsoft.com/office/drawing/2014/main" id="{83C7AF9E-2897-4015-A088-D7A787F68C5F}"/>
              </a:ext>
            </a:extLst>
          </p:cNvPr>
          <p:cNvSpPr txBox="1"/>
          <p:nvPr/>
        </p:nvSpPr>
        <p:spPr>
          <a:xfrm>
            <a:off x="1854828" y="5040869"/>
            <a:ext cx="8153400" cy="830997"/>
          </a:xfrm>
          <a:prstGeom prst="rect">
            <a:avLst/>
          </a:prstGeom>
          <a:noFill/>
        </p:spPr>
        <p:txBody>
          <a:bodyPr wrap="square" rtlCol="0">
            <a:spAutoFit/>
          </a:bodyPr>
          <a:lstStyle/>
          <a:p>
            <a:pPr algn="ctr"/>
            <a:r>
              <a:rPr lang="en-US" sz="2400" dirty="0"/>
              <a:t>We will do this with an Extra Sum of Squares Test </a:t>
            </a:r>
          </a:p>
          <a:p>
            <a:pPr algn="ctr"/>
            <a:r>
              <a:rPr lang="en-US" sz="2400" dirty="0"/>
              <a:t>(build your own ANOVA table).</a:t>
            </a:r>
          </a:p>
        </p:txBody>
      </p:sp>
      <p:sp>
        <p:nvSpPr>
          <p:cNvPr id="10" name="TextBox 9">
            <a:extLst>
              <a:ext uri="{FF2B5EF4-FFF2-40B4-BE49-F238E27FC236}">
                <a16:creationId xmlns:a16="http://schemas.microsoft.com/office/drawing/2014/main" id="{8CF72ACD-D981-4B58-B47F-49A471743B43}"/>
              </a:ext>
            </a:extLst>
          </p:cNvPr>
          <p:cNvSpPr txBox="1"/>
          <p:nvPr/>
        </p:nvSpPr>
        <p:spPr>
          <a:xfrm>
            <a:off x="1582764" y="1764269"/>
            <a:ext cx="5656237" cy="646331"/>
          </a:xfrm>
          <a:prstGeom prst="rect">
            <a:avLst/>
          </a:prstGeom>
          <a:noFill/>
        </p:spPr>
        <p:txBody>
          <a:bodyPr wrap="square" rtlCol="0">
            <a:spAutoFit/>
          </a:bodyPr>
          <a:lstStyle/>
          <a:p>
            <a:r>
              <a:rPr lang="en-US" dirty="0"/>
              <a:t>Individual regression equations for each value of TYPE:</a:t>
            </a:r>
          </a:p>
        </p:txBody>
      </p:sp>
    </p:spTree>
    <p:extLst>
      <p:ext uri="{BB962C8B-B14F-4D97-AF65-F5344CB8AC3E}">
        <p14:creationId xmlns:p14="http://schemas.microsoft.com/office/powerpoint/2010/main" val="77879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5"/>
                                        </p:tgtEl>
                                        <p:attrNameLst>
                                          <p:attrName>style.visibility</p:attrName>
                                        </p:attrNameLst>
                                      </p:cBhvr>
                                      <p:to>
                                        <p:strVal val="visible"/>
                                      </p:to>
                                    </p:set>
                                    <p:animEffect transition="in" filter="fade">
                                      <p:cBhvr>
                                        <p:cTn id="15"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42" grpId="0"/>
      <p:bldP spid="4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82A6242-99CF-A779-9F08-5AC3129CD48B}"/>
              </a:ext>
            </a:extLst>
          </p:cNvPr>
          <p:cNvPicPr>
            <a:picLocks noChangeAspect="1"/>
          </p:cNvPicPr>
          <p:nvPr/>
        </p:nvPicPr>
        <p:blipFill>
          <a:blip r:embed="rId2"/>
          <a:stretch>
            <a:fillRect/>
          </a:stretch>
        </p:blipFill>
        <p:spPr>
          <a:xfrm>
            <a:off x="487114" y="1094571"/>
            <a:ext cx="11247685" cy="297785"/>
          </a:xfrm>
          <a:prstGeom prst="rect">
            <a:avLst/>
          </a:prstGeom>
        </p:spPr>
      </p:pic>
      <p:sp>
        <p:nvSpPr>
          <p:cNvPr id="2" name="Title 1"/>
          <p:cNvSpPr>
            <a:spLocks noGrp="1"/>
          </p:cNvSpPr>
          <p:nvPr>
            <p:ph type="title"/>
          </p:nvPr>
        </p:nvSpPr>
        <p:spPr>
          <a:xfrm>
            <a:off x="1958933" y="150497"/>
            <a:ext cx="4343400" cy="504139"/>
          </a:xfrm>
        </p:spPr>
        <p:txBody>
          <a:bodyPr>
            <a:normAutofit fontScale="90000"/>
          </a:bodyPr>
          <a:lstStyle/>
          <a:p>
            <a:r>
              <a:rPr lang="en-US" dirty="0"/>
              <a:t>Echolocation!!!</a:t>
            </a:r>
          </a:p>
        </p:txBody>
      </p:sp>
      <p:pic>
        <p:nvPicPr>
          <p:cNvPr id="4" name="Picture 3"/>
          <p:cNvPicPr>
            <a:picLocks noChangeAspect="1"/>
          </p:cNvPicPr>
          <p:nvPr/>
        </p:nvPicPr>
        <p:blipFill>
          <a:blip r:embed="rId3"/>
          <a:stretch>
            <a:fillRect/>
          </a:stretch>
        </p:blipFill>
        <p:spPr>
          <a:xfrm>
            <a:off x="7010401" y="150496"/>
            <a:ext cx="2781877" cy="1504950"/>
          </a:xfrm>
          <a:prstGeom prst="rect">
            <a:avLst/>
          </a:prstGeom>
        </p:spPr>
      </p:pic>
      <p:sp>
        <p:nvSpPr>
          <p:cNvPr id="5" name="TextBox 4"/>
          <p:cNvSpPr txBox="1"/>
          <p:nvPr/>
        </p:nvSpPr>
        <p:spPr>
          <a:xfrm>
            <a:off x="2111333" y="680565"/>
            <a:ext cx="4038600" cy="1600438"/>
          </a:xfrm>
          <a:prstGeom prst="rect">
            <a:avLst/>
          </a:prstGeom>
          <a:noFill/>
        </p:spPr>
        <p:txBody>
          <a:bodyPr wrap="square" rtlCol="0">
            <a:spAutoFit/>
          </a:bodyPr>
          <a:lstStyle/>
          <a:p>
            <a:r>
              <a:rPr lang="en-US" sz="1400" dirty="0"/>
              <a:t>QOI: Is there a difference in the in-flight energy expenditures among animals after body size is accounted for? (Is the model with the interaction between type and body size significantly different from the model without interaction?) </a:t>
            </a:r>
          </a:p>
          <a:p>
            <a:r>
              <a:rPr lang="en-US" sz="1400" dirty="0"/>
              <a:t>Plan of action: Lack of fit test (also called sum of squares test).</a:t>
            </a:r>
          </a:p>
        </p:txBody>
      </p:sp>
      <mc:AlternateContent xmlns:mc="http://schemas.openxmlformats.org/markup-compatibility/2006" xmlns:a14="http://schemas.microsoft.com/office/drawing/2010/main">
        <mc:Choice Requires="a14">
          <p:sp>
            <p:nvSpPr>
              <p:cNvPr id="6" name="TextBox 5"/>
              <p:cNvSpPr txBox="1"/>
              <p:nvPr/>
            </p:nvSpPr>
            <p:spPr>
              <a:xfrm>
                <a:off x="1295400" y="2456017"/>
                <a:ext cx="96012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r>
                        <a:rPr lang="en-US" sz="1600" i="1">
                          <a:latin typeface="Cambria Math" panose="02040503050406030204" pitchFamily="18" charset="0"/>
                          <a:ea typeface="Cambria Math" charset="0"/>
                          <a:cs typeface="Cambria Math" charset="0"/>
                        </a:rPr>
                        <m:t>+</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𝟒</m:t>
                          </m:r>
                        </m:sub>
                      </m:sSub>
                      <m:r>
                        <a:rPr lang="en-US" sz="1600" b="1" i="1">
                          <a:latin typeface="Cambria Math" panose="02040503050406030204" pitchFamily="18" charset="0"/>
                          <a:ea typeface="Cambria Math" charset="0"/>
                          <a:cs typeface="Cambria Math" charset="0"/>
                        </a:rPr>
                        <m:t> </m:t>
                      </m:r>
                      <m:r>
                        <a:rPr lang="en-US" sz="1600" b="1" i="1">
                          <a:latin typeface="Cambria Math" charset="0"/>
                          <a:ea typeface="Cambria Math" charset="0"/>
                          <a:cs typeface="Cambria Math" charset="0"/>
                        </a:rPr>
                        <m:t>𝒍𝒎𝒂𝒔𝒔</m:t>
                      </m:r>
                      <m:r>
                        <a:rPr lang="en-US" sz="1600" b="1" i="1">
                          <a:latin typeface="Cambria Math" charset="0"/>
                          <a:ea typeface="Cambria Math" charset="0"/>
                          <a:cs typeface="Cambria Math" charset="0"/>
                        </a:rPr>
                        <m:t>∗</m:t>
                      </m:r>
                      <m:r>
                        <a:rPr lang="en-US" sz="1600" b="1" i="1">
                          <a:latin typeface="Cambria Math" charset="0"/>
                          <a:ea typeface="Cambria Math" charset="0"/>
                          <a:cs typeface="Cambria Math" charset="0"/>
                        </a:rPr>
                        <m:t>𝒃𝒊𝒓𝒅</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m:t>
                          </m:r>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𝟓</m:t>
                          </m:r>
                        </m:sub>
                      </m:sSub>
                      <m:r>
                        <a:rPr lang="en-US" sz="1600" b="1" i="1">
                          <a:latin typeface="Cambria Math" charset="0"/>
                          <a:ea typeface="Cambria Math" charset="0"/>
                          <a:cs typeface="Cambria Math" charset="0"/>
                        </a:rPr>
                        <m:t> </m:t>
                      </m:r>
                      <m:r>
                        <a:rPr lang="en-US" sz="1600" b="1" i="1">
                          <a:latin typeface="Cambria Math" charset="0"/>
                          <a:ea typeface="Cambria Math" charset="0"/>
                          <a:cs typeface="Cambria Math" charset="0"/>
                        </a:rPr>
                        <m:t>𝒍𝒎𝒂𝒔𝒔</m:t>
                      </m:r>
                      <m:r>
                        <a:rPr lang="en-US" sz="1600" b="1" i="1">
                          <a:latin typeface="Cambria Math" charset="0"/>
                          <a:ea typeface="Cambria Math" charset="0"/>
                          <a:cs typeface="Cambria Math" charset="0"/>
                        </a:rPr>
                        <m:t> ∗</m:t>
                      </m:r>
                      <m:r>
                        <a:rPr lang="en-US" sz="1600" b="1" i="1">
                          <a:latin typeface="Cambria Math" charset="0"/>
                          <a:ea typeface="Cambria Math" charset="0"/>
                          <a:cs typeface="Cambria Math" charset="0"/>
                        </a:rPr>
                        <m:t>𝒆𝒃𝒂𝒕</m:t>
                      </m:r>
                    </m:oMath>
                  </m:oMathPara>
                </a14:m>
                <a:endParaRPr lang="en-US" sz="1600" b="1" i="1" dirty="0"/>
              </a:p>
            </p:txBody>
          </p:sp>
        </mc:Choice>
        <mc:Fallback xmlns="">
          <p:sp>
            <p:nvSpPr>
              <p:cNvPr id="6" name="TextBox 5"/>
              <p:cNvSpPr txBox="1">
                <a:spLocks noRot="1" noChangeAspect="1" noMove="1" noResize="1" noEditPoints="1" noAdjustHandles="1" noChangeArrowheads="1" noChangeShapeType="1" noTextEdit="1"/>
              </p:cNvSpPr>
              <p:nvPr/>
            </p:nvSpPr>
            <p:spPr>
              <a:xfrm>
                <a:off x="1295400" y="2456017"/>
                <a:ext cx="9601200" cy="246221"/>
              </a:xfrm>
              <a:prstGeom prst="rect">
                <a:avLst/>
              </a:prstGeom>
              <a:blipFill>
                <a:blip r:embed="rId4"/>
                <a:stretch>
                  <a:fillRect t="-5000" b="-4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5999256" y="1752600"/>
                <a:ext cx="297825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charset="0"/>
                        </a:rPr>
                        <m:t>𝐻</m:t>
                      </m:r>
                      <m:r>
                        <a:rPr lang="en-US" i="1" baseline="-25000">
                          <a:latin typeface="Cambria Math" charset="0"/>
                        </a:rPr>
                        <m:t>𝑜</m:t>
                      </m:r>
                      <m:r>
                        <a:rPr lang="en-US" i="1">
                          <a:latin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=0 </m:t>
                      </m:r>
                    </m:oMath>
                  </m:oMathPara>
                </a14:m>
                <a:endParaRPr lang="en-US" i="1"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i="1">
                          <a:latin typeface="Cambria Math" charset="0"/>
                          <a:ea typeface="Cambria Math" charset="0"/>
                          <a:cs typeface="Cambria Math" charset="0"/>
                        </a:rPr>
                        <m:t>𝐻</m:t>
                      </m:r>
                      <m:r>
                        <a:rPr lang="en-US" i="1" baseline="-25000">
                          <a:latin typeface="Cambria Math" charset="0"/>
                          <a:ea typeface="Cambria Math" charset="0"/>
                          <a:cs typeface="Cambria Math" charset="0"/>
                        </a:rPr>
                        <m:t>𝑎</m:t>
                      </m:r>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𝑎𝑛𝑑</m:t>
                      </m:r>
                      <m:r>
                        <a:rPr lang="en-US" i="1">
                          <a:latin typeface="Cambria Math"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𝑎𝑟𝑒</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𝑛𝑜𝑡</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𝑏𝑜𝑡h</m:t>
                      </m:r>
                      <m:r>
                        <a:rPr lang="en-US" i="1">
                          <a:latin typeface="Cambria Math" charset="0"/>
                          <a:ea typeface="Cambria Math" charset="0"/>
                          <a:cs typeface="Cambria Math" charset="0"/>
                        </a:rPr>
                        <m:t> 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5999256" y="1752600"/>
                <a:ext cx="2978251" cy="553998"/>
              </a:xfrm>
              <a:prstGeom prst="rect">
                <a:avLst/>
              </a:prstGeom>
              <a:blipFill>
                <a:blip r:embed="rId5"/>
                <a:stretch>
                  <a:fillRect l="-847" t="-4545" b="-20455"/>
                </a:stretch>
              </a:blipFill>
            </p:spPr>
            <p:txBody>
              <a:bodyPr/>
              <a:lstStyle/>
              <a:p>
                <a:r>
                  <a:rPr lang="en-US">
                    <a:noFill/>
                  </a:rPr>
                  <a:t> </a:t>
                </a:r>
              </a:p>
            </p:txBody>
          </p:sp>
        </mc:Fallback>
      </mc:AlternateContent>
      <p:pic>
        <p:nvPicPr>
          <p:cNvPr id="3" name="Picture 2"/>
          <p:cNvPicPr>
            <a:picLocks noChangeAspect="1"/>
          </p:cNvPicPr>
          <p:nvPr/>
        </p:nvPicPr>
        <p:blipFill>
          <a:blip r:embed="rId6"/>
          <a:stretch>
            <a:fillRect/>
          </a:stretch>
        </p:blipFill>
        <p:spPr>
          <a:xfrm>
            <a:off x="2611581" y="2801032"/>
            <a:ext cx="4876800" cy="1262602"/>
          </a:xfrm>
          <a:prstGeom prst="rect">
            <a:avLst/>
          </a:prstGeom>
        </p:spPr>
      </p:pic>
      <p:pic>
        <p:nvPicPr>
          <p:cNvPr id="11" name="Picture 10"/>
          <p:cNvPicPr>
            <a:picLocks noChangeAspect="1"/>
          </p:cNvPicPr>
          <p:nvPr/>
        </p:nvPicPr>
        <p:blipFill>
          <a:blip r:embed="rId7"/>
          <a:stretch>
            <a:fillRect/>
          </a:stretch>
        </p:blipFill>
        <p:spPr>
          <a:xfrm>
            <a:off x="7620000" y="2794580"/>
            <a:ext cx="2362200" cy="1790492"/>
          </a:xfrm>
          <a:prstGeom prst="rect">
            <a:avLst/>
          </a:prstGeom>
        </p:spPr>
      </p:pic>
      <p:sp>
        <p:nvSpPr>
          <p:cNvPr id="12" name="TextBox 11"/>
          <p:cNvSpPr txBox="1"/>
          <p:nvPr/>
        </p:nvSpPr>
        <p:spPr>
          <a:xfrm>
            <a:off x="1545275" y="3043496"/>
            <a:ext cx="1000497" cy="646331"/>
          </a:xfrm>
          <a:prstGeom prst="rect">
            <a:avLst/>
          </a:prstGeom>
          <a:noFill/>
        </p:spPr>
        <p:txBody>
          <a:bodyPr wrap="square" rtlCol="0">
            <a:spAutoFit/>
          </a:bodyPr>
          <a:lstStyle/>
          <a:p>
            <a:pPr algn="ctr"/>
            <a:r>
              <a:rPr lang="en-US" dirty="0"/>
              <a:t>Full Model</a:t>
            </a:r>
          </a:p>
        </p:txBody>
      </p:sp>
      <mc:AlternateContent xmlns:mc="http://schemas.openxmlformats.org/markup-compatibility/2006" xmlns:a14="http://schemas.microsoft.com/office/drawing/2010/main">
        <mc:Choice Requires="a14">
          <p:sp>
            <p:nvSpPr>
              <p:cNvPr id="13" name="TextBox 12"/>
              <p:cNvSpPr txBox="1"/>
              <p:nvPr/>
            </p:nvSpPr>
            <p:spPr>
              <a:xfrm>
                <a:off x="914400" y="4706780"/>
                <a:ext cx="10439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oMath>
                  </m:oMathPara>
                </a14:m>
                <a:endParaRPr lang="en-US" sz="1600" i="1" dirty="0"/>
              </a:p>
            </p:txBody>
          </p:sp>
        </mc:Choice>
        <mc:Fallback xmlns="">
          <p:sp>
            <p:nvSpPr>
              <p:cNvPr id="13" name="TextBox 12"/>
              <p:cNvSpPr txBox="1">
                <a:spLocks noRot="1" noChangeAspect="1" noMove="1" noResize="1" noEditPoints="1" noAdjustHandles="1" noChangeArrowheads="1" noChangeShapeType="1" noTextEdit="1"/>
              </p:cNvSpPr>
              <p:nvPr/>
            </p:nvSpPr>
            <p:spPr>
              <a:xfrm>
                <a:off x="914400" y="4706780"/>
                <a:ext cx="10439400" cy="246221"/>
              </a:xfrm>
              <a:prstGeom prst="rect">
                <a:avLst/>
              </a:prstGeom>
              <a:blipFill>
                <a:blip r:embed="rId8"/>
                <a:stretch>
                  <a:fillRect b="-38095"/>
                </a:stretch>
              </a:blipFill>
            </p:spPr>
            <p:txBody>
              <a:bodyPr/>
              <a:lstStyle/>
              <a:p>
                <a:r>
                  <a:rPr lang="en-US">
                    <a:noFill/>
                  </a:rPr>
                  <a:t> </a:t>
                </a:r>
              </a:p>
            </p:txBody>
          </p:sp>
        </mc:Fallback>
      </mc:AlternateContent>
      <p:sp>
        <p:nvSpPr>
          <p:cNvPr id="16" name="TextBox 15"/>
          <p:cNvSpPr txBox="1"/>
          <p:nvPr/>
        </p:nvSpPr>
        <p:spPr>
          <a:xfrm>
            <a:off x="1430974" y="5330240"/>
            <a:ext cx="1229097" cy="646331"/>
          </a:xfrm>
          <a:prstGeom prst="rect">
            <a:avLst/>
          </a:prstGeom>
          <a:noFill/>
        </p:spPr>
        <p:txBody>
          <a:bodyPr wrap="square" rtlCol="0">
            <a:spAutoFit/>
          </a:bodyPr>
          <a:lstStyle/>
          <a:p>
            <a:pPr algn="ctr"/>
            <a:r>
              <a:rPr lang="en-US" dirty="0"/>
              <a:t>Reduced Model</a:t>
            </a:r>
          </a:p>
        </p:txBody>
      </p:sp>
      <p:pic>
        <p:nvPicPr>
          <p:cNvPr id="17" name="Picture 16"/>
          <p:cNvPicPr>
            <a:picLocks noChangeAspect="1"/>
          </p:cNvPicPr>
          <p:nvPr/>
        </p:nvPicPr>
        <p:blipFill>
          <a:blip r:embed="rId9"/>
          <a:stretch>
            <a:fillRect/>
          </a:stretch>
        </p:blipFill>
        <p:spPr>
          <a:xfrm>
            <a:off x="3962401" y="4035339"/>
            <a:ext cx="2837935" cy="623537"/>
          </a:xfrm>
          <a:prstGeom prst="rect">
            <a:avLst/>
          </a:prstGeom>
        </p:spPr>
      </p:pic>
      <p:pic>
        <p:nvPicPr>
          <p:cNvPr id="18" name="Picture 17"/>
          <p:cNvPicPr>
            <a:picLocks noChangeAspect="1"/>
          </p:cNvPicPr>
          <p:nvPr/>
        </p:nvPicPr>
        <p:blipFill>
          <a:blip r:embed="rId10"/>
          <a:stretch>
            <a:fillRect/>
          </a:stretch>
        </p:blipFill>
        <p:spPr>
          <a:xfrm>
            <a:off x="7719334" y="5009042"/>
            <a:ext cx="2262867" cy="1704611"/>
          </a:xfrm>
          <a:prstGeom prst="rect">
            <a:avLst/>
          </a:prstGeom>
        </p:spPr>
      </p:pic>
      <p:pic>
        <p:nvPicPr>
          <p:cNvPr id="19" name="Picture 18"/>
          <p:cNvPicPr>
            <a:picLocks noChangeAspect="1"/>
          </p:cNvPicPr>
          <p:nvPr/>
        </p:nvPicPr>
        <p:blipFill>
          <a:blip r:embed="rId11"/>
          <a:stretch>
            <a:fillRect/>
          </a:stretch>
        </p:blipFill>
        <p:spPr>
          <a:xfrm>
            <a:off x="2611581" y="5079010"/>
            <a:ext cx="4876800" cy="1245590"/>
          </a:xfrm>
          <a:prstGeom prst="rect">
            <a:avLst/>
          </a:prstGeom>
        </p:spPr>
      </p:pic>
      <p:pic>
        <p:nvPicPr>
          <p:cNvPr id="20" name="Picture 19"/>
          <p:cNvPicPr>
            <a:picLocks noChangeAspect="1"/>
          </p:cNvPicPr>
          <p:nvPr/>
        </p:nvPicPr>
        <p:blipFill>
          <a:blip r:embed="rId12"/>
          <a:stretch>
            <a:fillRect/>
          </a:stretch>
        </p:blipFill>
        <p:spPr>
          <a:xfrm>
            <a:off x="4130633" y="6340007"/>
            <a:ext cx="2362200" cy="511067"/>
          </a:xfrm>
          <a:prstGeom prst="rect">
            <a:avLst/>
          </a:prstGeom>
        </p:spPr>
      </p:pic>
    </p:spTree>
    <p:extLst>
      <p:ext uri="{BB962C8B-B14F-4D97-AF65-F5344CB8AC3E}">
        <p14:creationId xmlns:p14="http://schemas.microsoft.com/office/powerpoint/2010/main" val="2969936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childTnLst>
                                </p:cTn>
                              </p:par>
                              <p:par>
                                <p:cTn id="10" presetID="10" presetClass="entr" presetSubtype="0" fill="hold" nodeType="with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500"/>
                                        <p:tgtEl>
                                          <p:spTgt spid="13"/>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fade">
                                      <p:cBhvr>
                                        <p:cTn id="29" dur="500"/>
                                        <p:tgtEl>
                                          <p:spTgt spid="19"/>
                                        </p:tgtEl>
                                      </p:cBhvr>
                                    </p:animEffect>
                                  </p:childTnLst>
                                </p:cTn>
                              </p:par>
                              <p:par>
                                <p:cTn id="30" presetID="10" presetClass="entr" presetSubtype="0" fill="hold" nodeType="withEffect">
                                  <p:stCondLst>
                                    <p:cond delay="0"/>
                                  </p:stCondLst>
                                  <p:childTnLst>
                                    <p:set>
                                      <p:cBhvr>
                                        <p:cTn id="31" dur="1" fill="hold">
                                          <p:stCondLst>
                                            <p:cond delay="0"/>
                                          </p:stCondLst>
                                        </p:cTn>
                                        <p:tgtEl>
                                          <p:spTgt spid="20"/>
                                        </p:tgtEl>
                                        <p:attrNameLst>
                                          <p:attrName>style.visibility</p:attrName>
                                        </p:attrNameLst>
                                      </p:cBhvr>
                                      <p:to>
                                        <p:strVal val="visible"/>
                                      </p:to>
                                    </p:set>
                                    <p:animEffect transition="in" filter="fade">
                                      <p:cBhvr>
                                        <p:cTn id="3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6"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712C63-081F-7639-66EC-573002348E7D}"/>
              </a:ext>
            </a:extLst>
          </p:cNvPr>
          <p:cNvPicPr>
            <a:picLocks noChangeAspect="1"/>
          </p:cNvPicPr>
          <p:nvPr/>
        </p:nvPicPr>
        <p:blipFill>
          <a:blip r:embed="rId2"/>
          <a:stretch>
            <a:fillRect/>
          </a:stretch>
        </p:blipFill>
        <p:spPr>
          <a:xfrm>
            <a:off x="487114" y="1094571"/>
            <a:ext cx="11247685" cy="297785"/>
          </a:xfrm>
          <a:prstGeom prst="rect">
            <a:avLst/>
          </a:prstGeom>
        </p:spPr>
      </p:pic>
      <p:sp>
        <p:nvSpPr>
          <p:cNvPr id="2" name="Title 1"/>
          <p:cNvSpPr>
            <a:spLocks noGrp="1"/>
          </p:cNvSpPr>
          <p:nvPr>
            <p:ph type="title"/>
          </p:nvPr>
        </p:nvSpPr>
        <p:spPr>
          <a:xfrm>
            <a:off x="1958933" y="150497"/>
            <a:ext cx="4343400" cy="504139"/>
          </a:xfrm>
        </p:spPr>
        <p:txBody>
          <a:bodyPr>
            <a:normAutofit fontScale="90000"/>
          </a:bodyPr>
          <a:lstStyle/>
          <a:p>
            <a:r>
              <a:rPr lang="en-US" dirty="0"/>
              <a:t>Echolocation!!!</a:t>
            </a:r>
          </a:p>
        </p:txBody>
      </p:sp>
      <p:pic>
        <p:nvPicPr>
          <p:cNvPr id="4" name="Picture 3"/>
          <p:cNvPicPr>
            <a:picLocks noChangeAspect="1"/>
          </p:cNvPicPr>
          <p:nvPr/>
        </p:nvPicPr>
        <p:blipFill>
          <a:blip r:embed="rId3"/>
          <a:stretch>
            <a:fillRect/>
          </a:stretch>
        </p:blipFill>
        <p:spPr>
          <a:xfrm>
            <a:off x="7010401" y="150496"/>
            <a:ext cx="2781877" cy="1504950"/>
          </a:xfrm>
          <a:prstGeom prst="rect">
            <a:avLst/>
          </a:prstGeom>
        </p:spPr>
      </p:pic>
      <p:sp>
        <p:nvSpPr>
          <p:cNvPr id="5" name="TextBox 4"/>
          <p:cNvSpPr txBox="1"/>
          <p:nvPr/>
        </p:nvSpPr>
        <p:spPr>
          <a:xfrm>
            <a:off x="2111333" y="680566"/>
            <a:ext cx="4038600" cy="1200329"/>
          </a:xfrm>
          <a:prstGeom prst="rect">
            <a:avLst/>
          </a:prstGeom>
          <a:noFill/>
        </p:spPr>
        <p:txBody>
          <a:bodyPr wrap="square" rtlCol="0">
            <a:spAutoFit/>
          </a:bodyPr>
          <a:lstStyle/>
          <a:p>
            <a:r>
              <a:rPr lang="en-US" dirty="0"/>
              <a:t>QOI: Is there a difference in the in-flight energy expenditures among animals after body size is accounted for?</a:t>
            </a:r>
          </a:p>
        </p:txBody>
      </p:sp>
      <mc:AlternateContent xmlns:mc="http://schemas.openxmlformats.org/markup-compatibility/2006" xmlns:a14="http://schemas.microsoft.com/office/drawing/2010/main">
        <mc:Choice Requires="a14">
          <p:sp>
            <p:nvSpPr>
              <p:cNvPr id="9" name="TextBox 8"/>
              <p:cNvSpPr txBox="1"/>
              <p:nvPr/>
            </p:nvSpPr>
            <p:spPr>
              <a:xfrm>
                <a:off x="4797375" y="1676400"/>
                <a:ext cx="297825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charset="0"/>
                        </a:rPr>
                        <m:t>𝐻</m:t>
                      </m:r>
                      <m:r>
                        <a:rPr lang="en-US" i="1" baseline="-25000">
                          <a:latin typeface="Cambria Math" charset="0"/>
                        </a:rPr>
                        <m:t>𝑜</m:t>
                      </m:r>
                      <m:r>
                        <a:rPr lang="en-US" i="1">
                          <a:latin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=0 </m:t>
                      </m:r>
                    </m:oMath>
                  </m:oMathPara>
                </a14:m>
                <a:endParaRPr lang="en-US" i="1"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i="1">
                          <a:latin typeface="Cambria Math" charset="0"/>
                          <a:ea typeface="Cambria Math" charset="0"/>
                          <a:cs typeface="Cambria Math" charset="0"/>
                        </a:rPr>
                        <m:t>𝐻</m:t>
                      </m:r>
                      <m:r>
                        <a:rPr lang="en-US" i="1" baseline="-25000">
                          <a:latin typeface="Cambria Math" charset="0"/>
                          <a:ea typeface="Cambria Math" charset="0"/>
                          <a:cs typeface="Cambria Math" charset="0"/>
                        </a:rPr>
                        <m:t>𝑎</m:t>
                      </m:r>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𝑎𝑛𝑑</m:t>
                      </m:r>
                      <m:r>
                        <a:rPr lang="en-US" i="1">
                          <a:latin typeface="Cambria Math"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𝑎𝑟𝑒</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𝑛𝑜𝑡</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𝑏𝑜𝑡h</m:t>
                      </m:r>
                      <m:r>
                        <a:rPr lang="en-US" i="1">
                          <a:latin typeface="Cambria Math" charset="0"/>
                          <a:ea typeface="Cambria Math" charset="0"/>
                          <a:cs typeface="Cambria Math" charset="0"/>
                        </a:rPr>
                        <m:t> 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797375" y="1676400"/>
                <a:ext cx="2978251" cy="553998"/>
              </a:xfrm>
              <a:prstGeom prst="rect">
                <a:avLst/>
              </a:prstGeom>
              <a:blipFill>
                <a:blip r:embed="rId4"/>
                <a:stretch>
                  <a:fillRect l="-424" t="-4545" b="-20455"/>
                </a:stretch>
              </a:blipFill>
            </p:spPr>
            <p:txBody>
              <a:bodyPr/>
              <a:lstStyle/>
              <a:p>
                <a:r>
                  <a:rPr lang="en-US">
                    <a:noFill/>
                  </a:rPr>
                  <a:t> </a:t>
                </a:r>
              </a:p>
            </p:txBody>
          </p:sp>
        </mc:Fallback>
      </mc:AlternateContent>
      <p:pic>
        <p:nvPicPr>
          <p:cNvPr id="3" name="Picture 2"/>
          <p:cNvPicPr>
            <a:picLocks noChangeAspect="1"/>
          </p:cNvPicPr>
          <p:nvPr/>
        </p:nvPicPr>
        <p:blipFill>
          <a:blip r:embed="rId5"/>
          <a:stretch>
            <a:fillRect/>
          </a:stretch>
        </p:blipFill>
        <p:spPr>
          <a:xfrm>
            <a:off x="1740697" y="3030690"/>
            <a:ext cx="4094044" cy="1059947"/>
          </a:xfrm>
          <a:prstGeom prst="rect">
            <a:avLst/>
          </a:prstGeom>
        </p:spPr>
      </p:pic>
      <p:sp>
        <p:nvSpPr>
          <p:cNvPr id="12" name="TextBox 11"/>
          <p:cNvSpPr txBox="1"/>
          <p:nvPr/>
        </p:nvSpPr>
        <p:spPr>
          <a:xfrm>
            <a:off x="3393124" y="2594317"/>
            <a:ext cx="1475017" cy="369332"/>
          </a:xfrm>
          <a:prstGeom prst="rect">
            <a:avLst/>
          </a:prstGeom>
          <a:noFill/>
        </p:spPr>
        <p:txBody>
          <a:bodyPr wrap="square" rtlCol="0">
            <a:spAutoFit/>
          </a:bodyPr>
          <a:lstStyle/>
          <a:p>
            <a:pPr algn="ctr"/>
            <a:r>
              <a:rPr lang="en-US" dirty="0"/>
              <a:t>Full Model</a:t>
            </a:r>
          </a:p>
        </p:txBody>
      </p:sp>
      <p:graphicFrame>
        <p:nvGraphicFramePr>
          <p:cNvPr id="21" name="Table 20"/>
          <p:cNvGraphicFramePr>
            <a:graphicFrameLocks noGrp="1"/>
          </p:cNvGraphicFramePr>
          <p:nvPr/>
        </p:nvGraphicFramePr>
        <p:xfrm>
          <a:off x="3429000" y="442076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2</a:t>
                      </a:r>
                    </a:p>
                  </a:txBody>
                  <a:tcPr/>
                </a:tc>
                <a:tc>
                  <a:txBody>
                    <a:bodyPr/>
                    <a:lstStyle/>
                    <a:p>
                      <a:r>
                        <a:rPr lang="en-US" dirty="0"/>
                        <a:t>.0485</a:t>
                      </a:r>
                    </a:p>
                  </a:txBody>
                  <a:tcPr/>
                </a:tc>
                <a:tc>
                  <a:txBody>
                    <a:bodyPr/>
                    <a:lstStyle/>
                    <a:p>
                      <a:r>
                        <a:rPr lang="en-US" dirty="0"/>
                        <a:t>.02425</a:t>
                      </a:r>
                    </a:p>
                  </a:txBody>
                  <a:tcPr/>
                </a:tc>
                <a:tc>
                  <a:txBody>
                    <a:bodyPr/>
                    <a:lstStyle/>
                    <a:p>
                      <a:r>
                        <a:rPr lang="en-US" dirty="0"/>
                        <a:t>.67867</a:t>
                      </a:r>
                    </a:p>
                  </a:txBody>
                  <a:tcPr/>
                </a:tc>
                <a:tc>
                  <a:txBody>
                    <a:bodyPr/>
                    <a:lstStyle/>
                    <a:p>
                      <a:r>
                        <a:rPr lang="en-US" dirty="0"/>
                        <a:t>.5232</a:t>
                      </a: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14</a:t>
                      </a:r>
                    </a:p>
                  </a:txBody>
                  <a:tcPr/>
                </a:tc>
                <a:tc>
                  <a:txBody>
                    <a:bodyPr/>
                    <a:lstStyle/>
                    <a:p>
                      <a:r>
                        <a:rPr lang="en-US" dirty="0"/>
                        <a:t>.5048</a:t>
                      </a:r>
                    </a:p>
                  </a:txBody>
                  <a:tcPr/>
                </a:tc>
                <a:tc>
                  <a:txBody>
                    <a:bodyPr/>
                    <a:lstStyle/>
                    <a:p>
                      <a:r>
                        <a:rPr lang="en-US" dirty="0"/>
                        <a:t>.0361</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16</a:t>
                      </a:r>
                    </a:p>
                  </a:txBody>
                  <a:tcPr/>
                </a:tc>
                <a:tc>
                  <a:txBody>
                    <a:bodyPr/>
                    <a:lstStyle/>
                    <a:p>
                      <a:r>
                        <a:rPr lang="en-US" dirty="0"/>
                        <a:t>.5533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23" name="TextBox 22"/>
          <p:cNvSpPr txBox="1"/>
          <p:nvPr/>
        </p:nvSpPr>
        <p:spPr>
          <a:xfrm>
            <a:off x="7129164" y="2590800"/>
            <a:ext cx="2199410" cy="369332"/>
          </a:xfrm>
          <a:prstGeom prst="rect">
            <a:avLst/>
          </a:prstGeom>
          <a:noFill/>
        </p:spPr>
        <p:txBody>
          <a:bodyPr wrap="square" rtlCol="0">
            <a:spAutoFit/>
          </a:bodyPr>
          <a:lstStyle/>
          <a:p>
            <a:pPr algn="ctr"/>
            <a:r>
              <a:rPr lang="en-US" dirty="0"/>
              <a:t>Reduced Model</a:t>
            </a:r>
          </a:p>
        </p:txBody>
      </p:sp>
      <mc:AlternateContent xmlns:mc="http://schemas.openxmlformats.org/markup-compatibility/2006" xmlns:a14="http://schemas.microsoft.com/office/drawing/2010/main">
        <mc:Choice Requires="a14">
          <p:sp>
            <p:nvSpPr>
              <p:cNvPr id="14" name="TextBox 13"/>
              <p:cNvSpPr txBox="1"/>
              <p:nvPr/>
            </p:nvSpPr>
            <p:spPr>
              <a:xfrm>
                <a:off x="838200" y="2268380"/>
                <a:ext cx="10439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r>
                        <a:rPr lang="en-US" sz="1600" i="1">
                          <a:latin typeface="Cambria Math" panose="02040503050406030204" pitchFamily="18" charset="0"/>
                          <a:ea typeface="Cambria Math" charset="0"/>
                          <a:cs typeface="Cambria Math" charset="0"/>
                        </a:rPr>
                        <m:t>+</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4</m:t>
                          </m:r>
                        </m:sub>
                      </m:sSub>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𝑏𝑖𝑟𝑑</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5</m:t>
                          </m:r>
                        </m:sub>
                      </m:sSub>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𝑒𝑏𝑎𝑡</m:t>
                      </m:r>
                    </m:oMath>
                  </m:oMathPara>
                </a14:m>
                <a:endParaRPr lang="en-US" sz="1600" i="1" strike="sngStrike" dirty="0"/>
              </a:p>
            </p:txBody>
          </p:sp>
        </mc:Choice>
        <mc:Fallback xmlns="">
          <p:sp>
            <p:nvSpPr>
              <p:cNvPr id="14" name="TextBox 13"/>
              <p:cNvSpPr txBox="1">
                <a:spLocks noRot="1" noChangeAspect="1" noMove="1" noResize="1" noEditPoints="1" noAdjustHandles="1" noChangeArrowheads="1" noChangeShapeType="1" noTextEdit="1"/>
              </p:cNvSpPr>
              <p:nvPr/>
            </p:nvSpPr>
            <p:spPr>
              <a:xfrm>
                <a:off x="838200" y="2268380"/>
                <a:ext cx="10439400" cy="246221"/>
              </a:xfrm>
              <a:prstGeom prst="rect">
                <a:avLst/>
              </a:prstGeom>
              <a:blipFill>
                <a:blip r:embed="rId6"/>
                <a:stretch>
                  <a:fillRect b="-3809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27EC648F-C861-49A3-83ED-797861A97D19}"/>
              </a:ext>
            </a:extLst>
          </p:cNvPr>
          <p:cNvSpPr/>
          <p:nvPr/>
        </p:nvSpPr>
        <p:spPr>
          <a:xfrm>
            <a:off x="2667000" y="3581400"/>
            <a:ext cx="2201140" cy="2286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118118F3-20B5-498F-8EDB-0B61008DC23B}"/>
              </a:ext>
            </a:extLst>
          </p:cNvPr>
          <p:cNvPicPr>
            <a:picLocks noChangeAspect="1"/>
          </p:cNvPicPr>
          <p:nvPr/>
        </p:nvPicPr>
        <p:blipFill>
          <a:blip r:embed="rId7"/>
          <a:stretch>
            <a:fillRect/>
          </a:stretch>
        </p:blipFill>
        <p:spPr>
          <a:xfrm>
            <a:off x="6096000" y="3047246"/>
            <a:ext cx="4191000" cy="1070429"/>
          </a:xfrm>
          <a:prstGeom prst="rect">
            <a:avLst/>
          </a:prstGeom>
        </p:spPr>
      </p:pic>
      <p:sp>
        <p:nvSpPr>
          <p:cNvPr id="17" name="Rectangle 16">
            <a:extLst>
              <a:ext uri="{FF2B5EF4-FFF2-40B4-BE49-F238E27FC236}">
                <a16:creationId xmlns:a16="http://schemas.microsoft.com/office/drawing/2014/main" id="{18535746-8EB0-4B98-B42F-FCA481F07862}"/>
              </a:ext>
            </a:extLst>
          </p:cNvPr>
          <p:cNvSpPr/>
          <p:nvPr/>
        </p:nvSpPr>
        <p:spPr>
          <a:xfrm>
            <a:off x="7171460" y="3581400"/>
            <a:ext cx="2201140" cy="2286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0" name="Table 19">
            <a:extLst>
              <a:ext uri="{FF2B5EF4-FFF2-40B4-BE49-F238E27FC236}">
                <a16:creationId xmlns:a16="http://schemas.microsoft.com/office/drawing/2014/main" id="{29F7ADD2-C6CF-4E2C-AA0A-617CD61C13E9}"/>
              </a:ext>
            </a:extLst>
          </p:cNvPr>
          <p:cNvGraphicFramePr>
            <a:graphicFrameLocks noGrp="1"/>
          </p:cNvGraphicFramePr>
          <p:nvPr/>
        </p:nvGraphicFramePr>
        <p:xfrm>
          <a:off x="3427898" y="4425067"/>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26" name="TextBox 25">
            <a:extLst>
              <a:ext uri="{FF2B5EF4-FFF2-40B4-BE49-F238E27FC236}">
                <a16:creationId xmlns:a16="http://schemas.microsoft.com/office/drawing/2014/main" id="{8AE18B8E-1F84-42BD-A76F-A046C9D4705E}"/>
              </a:ext>
            </a:extLst>
          </p:cNvPr>
          <p:cNvSpPr txBox="1"/>
          <p:nvPr/>
        </p:nvSpPr>
        <p:spPr>
          <a:xfrm>
            <a:off x="1326816" y="5547747"/>
            <a:ext cx="2199410" cy="369332"/>
          </a:xfrm>
          <a:prstGeom prst="rect">
            <a:avLst/>
          </a:prstGeom>
          <a:noFill/>
        </p:spPr>
        <p:txBody>
          <a:bodyPr wrap="square" rtlCol="0">
            <a:spAutoFit/>
          </a:bodyPr>
          <a:lstStyle/>
          <a:p>
            <a:pPr algn="ctr"/>
            <a:r>
              <a:rPr lang="en-US" dirty="0"/>
              <a:t>Reduced Model</a:t>
            </a:r>
          </a:p>
        </p:txBody>
      </p:sp>
      <p:sp>
        <p:nvSpPr>
          <p:cNvPr id="27" name="TextBox 26">
            <a:extLst>
              <a:ext uri="{FF2B5EF4-FFF2-40B4-BE49-F238E27FC236}">
                <a16:creationId xmlns:a16="http://schemas.microsoft.com/office/drawing/2014/main" id="{FE07913B-56E8-4FD1-9C5A-F51C18F51E29}"/>
              </a:ext>
            </a:extLst>
          </p:cNvPr>
          <p:cNvSpPr txBox="1"/>
          <p:nvPr/>
        </p:nvSpPr>
        <p:spPr>
          <a:xfrm>
            <a:off x="1676401" y="5166747"/>
            <a:ext cx="1475017" cy="369332"/>
          </a:xfrm>
          <a:prstGeom prst="rect">
            <a:avLst/>
          </a:prstGeom>
          <a:noFill/>
        </p:spPr>
        <p:txBody>
          <a:bodyPr wrap="square" rtlCol="0">
            <a:spAutoFit/>
          </a:bodyPr>
          <a:lstStyle/>
          <a:p>
            <a:pPr algn="ctr"/>
            <a:r>
              <a:rPr lang="en-US" dirty="0"/>
              <a:t>Full Model</a:t>
            </a:r>
          </a:p>
        </p:txBody>
      </p:sp>
    </p:spTree>
    <p:extLst>
      <p:ext uri="{BB962C8B-B14F-4D97-AF65-F5344CB8AC3E}">
        <p14:creationId xmlns:p14="http://schemas.microsoft.com/office/powerpoint/2010/main" val="3660613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0" presetClass="entr" presetSubtype="0"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fade">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7" grpId="0" animBg="1"/>
      <p:bldP spid="26" grpId="0"/>
      <p:bldP spid="2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6974EBF-9E89-F6E7-5089-0F70A9D159CB}"/>
              </a:ext>
            </a:extLst>
          </p:cNvPr>
          <p:cNvPicPr>
            <a:picLocks noChangeAspect="1"/>
          </p:cNvPicPr>
          <p:nvPr/>
        </p:nvPicPr>
        <p:blipFill>
          <a:blip r:embed="rId2"/>
          <a:stretch>
            <a:fillRect/>
          </a:stretch>
        </p:blipFill>
        <p:spPr>
          <a:xfrm>
            <a:off x="487114" y="1094571"/>
            <a:ext cx="11247685" cy="297785"/>
          </a:xfrm>
          <a:prstGeom prst="rect">
            <a:avLst/>
          </a:prstGeom>
        </p:spPr>
      </p:pic>
      <p:sp>
        <p:nvSpPr>
          <p:cNvPr id="2" name="Title 1"/>
          <p:cNvSpPr>
            <a:spLocks noGrp="1"/>
          </p:cNvSpPr>
          <p:nvPr>
            <p:ph type="title"/>
          </p:nvPr>
        </p:nvSpPr>
        <p:spPr>
          <a:xfrm>
            <a:off x="1958933" y="150497"/>
            <a:ext cx="4343400" cy="504139"/>
          </a:xfrm>
        </p:spPr>
        <p:txBody>
          <a:bodyPr>
            <a:normAutofit fontScale="90000"/>
          </a:bodyPr>
          <a:lstStyle/>
          <a:p>
            <a:r>
              <a:rPr lang="en-US" dirty="0"/>
              <a:t>Echolocation!!!</a:t>
            </a:r>
          </a:p>
        </p:txBody>
      </p:sp>
      <p:pic>
        <p:nvPicPr>
          <p:cNvPr id="4" name="Picture 3"/>
          <p:cNvPicPr>
            <a:picLocks noChangeAspect="1"/>
          </p:cNvPicPr>
          <p:nvPr/>
        </p:nvPicPr>
        <p:blipFill>
          <a:blip r:embed="rId3"/>
          <a:stretch>
            <a:fillRect/>
          </a:stretch>
        </p:blipFill>
        <p:spPr>
          <a:xfrm>
            <a:off x="7010401" y="150496"/>
            <a:ext cx="2781877" cy="1504950"/>
          </a:xfrm>
          <a:prstGeom prst="rect">
            <a:avLst/>
          </a:prstGeom>
        </p:spPr>
      </p:pic>
      <p:sp>
        <p:nvSpPr>
          <p:cNvPr id="5" name="TextBox 4"/>
          <p:cNvSpPr txBox="1"/>
          <p:nvPr/>
        </p:nvSpPr>
        <p:spPr>
          <a:xfrm>
            <a:off x="2111333" y="680566"/>
            <a:ext cx="4038600" cy="1200329"/>
          </a:xfrm>
          <a:prstGeom prst="rect">
            <a:avLst/>
          </a:prstGeom>
          <a:noFill/>
        </p:spPr>
        <p:txBody>
          <a:bodyPr wrap="square" rtlCol="0">
            <a:spAutoFit/>
          </a:bodyPr>
          <a:lstStyle/>
          <a:p>
            <a:r>
              <a:rPr lang="en-US" dirty="0"/>
              <a:t>QOI: Is there a difference in the in-flight energy expenditures among animals after body size is accounted for?</a:t>
            </a:r>
          </a:p>
        </p:txBody>
      </p:sp>
      <mc:AlternateContent xmlns:mc="http://schemas.openxmlformats.org/markup-compatibility/2006" xmlns:a14="http://schemas.microsoft.com/office/drawing/2010/main">
        <mc:Choice Requires="a14">
          <p:sp>
            <p:nvSpPr>
              <p:cNvPr id="9" name="TextBox 8"/>
              <p:cNvSpPr txBox="1"/>
              <p:nvPr/>
            </p:nvSpPr>
            <p:spPr>
              <a:xfrm>
                <a:off x="4797375" y="1676400"/>
                <a:ext cx="2978251"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charset="0"/>
                        </a:rPr>
                        <m:t>𝐻</m:t>
                      </m:r>
                      <m:r>
                        <a:rPr lang="en-US" i="1" baseline="-25000">
                          <a:latin typeface="Cambria Math" charset="0"/>
                        </a:rPr>
                        <m:t>𝑜</m:t>
                      </m:r>
                      <m:r>
                        <a:rPr lang="en-US" i="1">
                          <a:latin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=0 </m:t>
                      </m:r>
                    </m:oMath>
                  </m:oMathPara>
                </a14:m>
                <a:endParaRPr lang="en-US" i="1"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i="1">
                          <a:latin typeface="Cambria Math" charset="0"/>
                          <a:ea typeface="Cambria Math" charset="0"/>
                          <a:cs typeface="Cambria Math" charset="0"/>
                        </a:rPr>
                        <m:t>𝐻</m:t>
                      </m:r>
                      <m:r>
                        <a:rPr lang="en-US" i="1" baseline="-25000">
                          <a:latin typeface="Cambria Math" charset="0"/>
                          <a:ea typeface="Cambria Math" charset="0"/>
                          <a:cs typeface="Cambria Math" charset="0"/>
                        </a:rPr>
                        <m:t>𝑎</m:t>
                      </m:r>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4</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𝑎𝑛𝑑</m:t>
                      </m:r>
                      <m:r>
                        <a:rPr lang="en-US" i="1">
                          <a:latin typeface="Cambria Math"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5</m:t>
                          </m:r>
                        </m:sub>
                      </m:sSub>
                      <m:r>
                        <a:rPr lang="en-US" i="1">
                          <a:latin typeface="Cambria Math" charset="0"/>
                          <a:ea typeface="Cambria Math" charset="0"/>
                          <a:cs typeface="Cambria Math" charset="0"/>
                        </a:rPr>
                        <m:t> </m:t>
                      </m:r>
                      <m:r>
                        <a:rPr lang="en-US" i="1">
                          <a:latin typeface="Cambria Math" charset="0"/>
                          <a:ea typeface="Cambria Math" charset="0"/>
                          <a:cs typeface="Cambria Math" charset="0"/>
                        </a:rPr>
                        <m:t>𝑎𝑟𝑒</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𝑛𝑜𝑡</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𝑏𝑜𝑡h</m:t>
                      </m:r>
                      <m:r>
                        <a:rPr lang="en-US" i="1">
                          <a:latin typeface="Cambria Math" charset="0"/>
                          <a:ea typeface="Cambria Math" charset="0"/>
                          <a:cs typeface="Cambria Math" charset="0"/>
                        </a:rPr>
                        <m:t> 0.</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4797375" y="1676400"/>
                <a:ext cx="2978251" cy="553998"/>
              </a:xfrm>
              <a:prstGeom prst="rect">
                <a:avLst/>
              </a:prstGeom>
              <a:blipFill>
                <a:blip r:embed="rId4"/>
                <a:stretch>
                  <a:fillRect l="-424" t="-4545" b="-20455"/>
                </a:stretch>
              </a:blipFill>
            </p:spPr>
            <p:txBody>
              <a:bodyPr/>
              <a:lstStyle/>
              <a:p>
                <a:r>
                  <a:rPr lang="en-US">
                    <a:noFill/>
                  </a:rPr>
                  <a:t> </a:t>
                </a:r>
              </a:p>
            </p:txBody>
          </p:sp>
        </mc:Fallback>
      </mc:AlternateContent>
      <p:pic>
        <p:nvPicPr>
          <p:cNvPr id="3" name="Picture 2"/>
          <p:cNvPicPr>
            <a:picLocks noChangeAspect="1"/>
          </p:cNvPicPr>
          <p:nvPr/>
        </p:nvPicPr>
        <p:blipFill>
          <a:blip r:embed="rId5"/>
          <a:stretch>
            <a:fillRect/>
          </a:stretch>
        </p:blipFill>
        <p:spPr>
          <a:xfrm>
            <a:off x="1740697" y="3030690"/>
            <a:ext cx="4094044" cy="1059947"/>
          </a:xfrm>
          <a:prstGeom prst="rect">
            <a:avLst/>
          </a:prstGeom>
        </p:spPr>
      </p:pic>
      <p:sp>
        <p:nvSpPr>
          <p:cNvPr id="12" name="TextBox 11"/>
          <p:cNvSpPr txBox="1"/>
          <p:nvPr/>
        </p:nvSpPr>
        <p:spPr>
          <a:xfrm>
            <a:off x="3393124" y="2594317"/>
            <a:ext cx="1475017" cy="369332"/>
          </a:xfrm>
          <a:prstGeom prst="rect">
            <a:avLst/>
          </a:prstGeom>
          <a:noFill/>
        </p:spPr>
        <p:txBody>
          <a:bodyPr wrap="square" rtlCol="0">
            <a:spAutoFit/>
          </a:bodyPr>
          <a:lstStyle/>
          <a:p>
            <a:pPr algn="ctr"/>
            <a:r>
              <a:rPr lang="en-US" dirty="0"/>
              <a:t>Full Model</a:t>
            </a:r>
          </a:p>
        </p:txBody>
      </p:sp>
      <p:sp>
        <p:nvSpPr>
          <p:cNvPr id="16" name="TextBox 15"/>
          <p:cNvSpPr txBox="1"/>
          <p:nvPr/>
        </p:nvSpPr>
        <p:spPr>
          <a:xfrm>
            <a:off x="1326816" y="5547747"/>
            <a:ext cx="2199410" cy="369332"/>
          </a:xfrm>
          <a:prstGeom prst="rect">
            <a:avLst/>
          </a:prstGeom>
          <a:noFill/>
        </p:spPr>
        <p:txBody>
          <a:bodyPr wrap="square" rtlCol="0">
            <a:spAutoFit/>
          </a:bodyPr>
          <a:lstStyle/>
          <a:p>
            <a:pPr algn="ctr"/>
            <a:r>
              <a:rPr lang="en-US" dirty="0"/>
              <a:t>Reduced Model</a:t>
            </a:r>
          </a:p>
        </p:txBody>
      </p:sp>
      <p:graphicFrame>
        <p:nvGraphicFramePr>
          <p:cNvPr id="21" name="Table 20"/>
          <p:cNvGraphicFramePr>
            <a:graphicFrameLocks noGrp="1"/>
          </p:cNvGraphicFramePr>
          <p:nvPr/>
        </p:nvGraphicFramePr>
        <p:xfrm>
          <a:off x="3429000" y="442076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2</a:t>
                      </a:r>
                    </a:p>
                  </a:txBody>
                  <a:tcPr/>
                </a:tc>
                <a:tc>
                  <a:txBody>
                    <a:bodyPr/>
                    <a:lstStyle/>
                    <a:p>
                      <a:r>
                        <a:rPr lang="en-US" dirty="0"/>
                        <a:t>.0485</a:t>
                      </a:r>
                    </a:p>
                  </a:txBody>
                  <a:tcPr/>
                </a:tc>
                <a:tc>
                  <a:txBody>
                    <a:bodyPr/>
                    <a:lstStyle/>
                    <a:p>
                      <a:r>
                        <a:rPr lang="en-US" dirty="0"/>
                        <a:t>.02425</a:t>
                      </a:r>
                    </a:p>
                  </a:txBody>
                  <a:tcPr/>
                </a:tc>
                <a:tc>
                  <a:txBody>
                    <a:bodyPr/>
                    <a:lstStyle/>
                    <a:p>
                      <a:r>
                        <a:rPr lang="en-US" dirty="0"/>
                        <a:t>.67867</a:t>
                      </a:r>
                    </a:p>
                  </a:txBody>
                  <a:tcPr/>
                </a:tc>
                <a:tc>
                  <a:txBody>
                    <a:bodyPr/>
                    <a:lstStyle/>
                    <a:p>
                      <a:r>
                        <a:rPr lang="en-US" dirty="0"/>
                        <a:t>.5232</a:t>
                      </a: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14</a:t>
                      </a:r>
                    </a:p>
                  </a:txBody>
                  <a:tcPr/>
                </a:tc>
                <a:tc>
                  <a:txBody>
                    <a:bodyPr/>
                    <a:lstStyle/>
                    <a:p>
                      <a:r>
                        <a:rPr lang="en-US" dirty="0"/>
                        <a:t>.5048</a:t>
                      </a:r>
                    </a:p>
                  </a:txBody>
                  <a:tcPr/>
                </a:tc>
                <a:tc>
                  <a:txBody>
                    <a:bodyPr/>
                    <a:lstStyle/>
                    <a:p>
                      <a:r>
                        <a:rPr lang="en-US" dirty="0"/>
                        <a:t>.0361</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16</a:t>
                      </a:r>
                    </a:p>
                  </a:txBody>
                  <a:tcPr/>
                </a:tc>
                <a:tc>
                  <a:txBody>
                    <a:bodyPr/>
                    <a:lstStyle/>
                    <a:p>
                      <a:r>
                        <a:rPr lang="en-US" dirty="0"/>
                        <a:t>.5533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22" name="TextBox 21"/>
          <p:cNvSpPr txBox="1"/>
          <p:nvPr/>
        </p:nvSpPr>
        <p:spPr>
          <a:xfrm>
            <a:off x="1676401" y="5166747"/>
            <a:ext cx="1475017" cy="369332"/>
          </a:xfrm>
          <a:prstGeom prst="rect">
            <a:avLst/>
          </a:prstGeom>
          <a:noFill/>
        </p:spPr>
        <p:txBody>
          <a:bodyPr wrap="square" rtlCol="0">
            <a:spAutoFit/>
          </a:bodyPr>
          <a:lstStyle/>
          <a:p>
            <a:pPr algn="ctr"/>
            <a:r>
              <a:rPr lang="en-US" dirty="0"/>
              <a:t>Full Model</a:t>
            </a:r>
          </a:p>
        </p:txBody>
      </p:sp>
      <p:sp>
        <p:nvSpPr>
          <p:cNvPr id="23" name="TextBox 22"/>
          <p:cNvSpPr txBox="1"/>
          <p:nvPr/>
        </p:nvSpPr>
        <p:spPr>
          <a:xfrm>
            <a:off x="7129164" y="2590800"/>
            <a:ext cx="2199410" cy="369332"/>
          </a:xfrm>
          <a:prstGeom prst="rect">
            <a:avLst/>
          </a:prstGeom>
          <a:noFill/>
        </p:spPr>
        <p:txBody>
          <a:bodyPr wrap="square" rtlCol="0">
            <a:spAutoFit/>
          </a:bodyPr>
          <a:lstStyle/>
          <a:p>
            <a:pPr algn="ctr"/>
            <a:r>
              <a:rPr lang="en-US" dirty="0"/>
              <a:t>Reduced Model</a:t>
            </a:r>
          </a:p>
        </p:txBody>
      </p:sp>
      <p:sp>
        <p:nvSpPr>
          <p:cNvPr id="7" name="TextBox 6"/>
          <p:cNvSpPr txBox="1"/>
          <p:nvPr/>
        </p:nvSpPr>
        <p:spPr>
          <a:xfrm>
            <a:off x="1676401" y="6069480"/>
            <a:ext cx="8991600" cy="646331"/>
          </a:xfrm>
          <a:prstGeom prst="rect">
            <a:avLst/>
          </a:prstGeom>
          <a:noFill/>
        </p:spPr>
        <p:txBody>
          <a:bodyPr wrap="square" rtlCol="0">
            <a:spAutoFit/>
          </a:bodyPr>
          <a:lstStyle/>
          <a:p>
            <a:r>
              <a:rPr lang="en-US" dirty="0"/>
              <a:t>Conclusion: There is not sufficient evidence to suggest that the lines are not parallel (p-value = 0.5232 from an Extra Sum of Squares F-test). </a:t>
            </a:r>
          </a:p>
        </p:txBody>
      </p:sp>
      <mc:AlternateContent xmlns:mc="http://schemas.openxmlformats.org/markup-compatibility/2006" xmlns:a14="http://schemas.microsoft.com/office/drawing/2010/main">
        <mc:Choice Requires="a14">
          <p:sp>
            <p:nvSpPr>
              <p:cNvPr id="14" name="TextBox 13"/>
              <p:cNvSpPr txBox="1"/>
              <p:nvPr/>
            </p:nvSpPr>
            <p:spPr>
              <a:xfrm>
                <a:off x="838200" y="2268380"/>
                <a:ext cx="10439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r>
                        <a:rPr lang="en-US" sz="1600" i="1">
                          <a:latin typeface="Cambria Math" panose="02040503050406030204" pitchFamily="18" charset="0"/>
                          <a:ea typeface="Cambria Math" charset="0"/>
                          <a:cs typeface="Cambria Math" charset="0"/>
                        </a:rPr>
                        <m:t>+</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4</m:t>
                          </m:r>
                        </m:sub>
                      </m:sSub>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𝑏𝑖𝑟𝑑</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5</m:t>
                          </m:r>
                        </m:sub>
                      </m:sSub>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𝑒𝑏𝑎𝑡</m:t>
                      </m:r>
                    </m:oMath>
                  </m:oMathPara>
                </a14:m>
                <a:endParaRPr lang="en-US" sz="1600" i="1" strike="sngStrike" dirty="0"/>
              </a:p>
            </p:txBody>
          </p:sp>
        </mc:Choice>
        <mc:Fallback xmlns="">
          <p:sp>
            <p:nvSpPr>
              <p:cNvPr id="14" name="TextBox 13"/>
              <p:cNvSpPr txBox="1">
                <a:spLocks noRot="1" noChangeAspect="1" noMove="1" noResize="1" noEditPoints="1" noAdjustHandles="1" noChangeArrowheads="1" noChangeShapeType="1" noTextEdit="1"/>
              </p:cNvSpPr>
              <p:nvPr/>
            </p:nvSpPr>
            <p:spPr>
              <a:xfrm>
                <a:off x="838200" y="2268380"/>
                <a:ext cx="10439400" cy="246221"/>
              </a:xfrm>
              <a:prstGeom prst="rect">
                <a:avLst/>
              </a:prstGeom>
              <a:blipFill>
                <a:blip r:embed="rId6"/>
                <a:stretch>
                  <a:fillRect b="-3809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27EC648F-C861-49A3-83ED-797861A97D19}"/>
              </a:ext>
            </a:extLst>
          </p:cNvPr>
          <p:cNvSpPr/>
          <p:nvPr/>
        </p:nvSpPr>
        <p:spPr>
          <a:xfrm>
            <a:off x="2667000" y="3581400"/>
            <a:ext cx="2201140" cy="228600"/>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8" name="Picture 17">
            <a:extLst>
              <a:ext uri="{FF2B5EF4-FFF2-40B4-BE49-F238E27FC236}">
                <a16:creationId xmlns:a16="http://schemas.microsoft.com/office/drawing/2014/main" id="{118118F3-20B5-498F-8EDB-0B61008DC23B}"/>
              </a:ext>
            </a:extLst>
          </p:cNvPr>
          <p:cNvPicPr>
            <a:picLocks noChangeAspect="1"/>
          </p:cNvPicPr>
          <p:nvPr/>
        </p:nvPicPr>
        <p:blipFill>
          <a:blip r:embed="rId7"/>
          <a:stretch>
            <a:fillRect/>
          </a:stretch>
        </p:blipFill>
        <p:spPr>
          <a:xfrm>
            <a:off x="6096000" y="3047246"/>
            <a:ext cx="4191000" cy="1070429"/>
          </a:xfrm>
          <a:prstGeom prst="rect">
            <a:avLst/>
          </a:prstGeom>
        </p:spPr>
      </p:pic>
      <p:sp>
        <p:nvSpPr>
          <p:cNvPr id="17" name="Rectangle 16">
            <a:extLst>
              <a:ext uri="{FF2B5EF4-FFF2-40B4-BE49-F238E27FC236}">
                <a16:creationId xmlns:a16="http://schemas.microsoft.com/office/drawing/2014/main" id="{18535746-8EB0-4B98-B42F-FCA481F07862}"/>
              </a:ext>
            </a:extLst>
          </p:cNvPr>
          <p:cNvSpPr/>
          <p:nvPr/>
        </p:nvSpPr>
        <p:spPr>
          <a:xfrm>
            <a:off x="7171460" y="3581400"/>
            <a:ext cx="2201140" cy="22860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20" name="Table 19">
            <a:extLst>
              <a:ext uri="{FF2B5EF4-FFF2-40B4-BE49-F238E27FC236}">
                <a16:creationId xmlns:a16="http://schemas.microsoft.com/office/drawing/2014/main" id="{29F7ADD2-C6CF-4E2C-AA0A-617CD61C13E9}"/>
              </a:ext>
            </a:extLst>
          </p:cNvPr>
          <p:cNvGraphicFramePr>
            <a:graphicFrameLocks noGrp="1"/>
          </p:cNvGraphicFramePr>
          <p:nvPr/>
        </p:nvGraphicFramePr>
        <p:xfrm>
          <a:off x="3427898" y="4425067"/>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dirty="0"/>
                        <a:t>14</a:t>
                      </a:r>
                    </a:p>
                  </a:txBody>
                  <a:tcPr/>
                </a:tc>
                <a:tc>
                  <a:txBody>
                    <a:bodyPr/>
                    <a:lstStyle/>
                    <a:p>
                      <a:r>
                        <a:rPr lang="en-US" dirty="0"/>
                        <a:t>.5048</a:t>
                      </a:r>
                    </a:p>
                  </a:txBody>
                  <a:tcPr/>
                </a:tc>
                <a:tc>
                  <a:txBody>
                    <a:bodyPr/>
                    <a:lstStyle/>
                    <a:p>
                      <a:r>
                        <a:rPr lang="en-US" dirty="0"/>
                        <a:t>.0361</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dirty="0"/>
                        <a:t>16</a:t>
                      </a:r>
                    </a:p>
                  </a:txBody>
                  <a:tcPr/>
                </a:tc>
                <a:tc>
                  <a:txBody>
                    <a:bodyPr/>
                    <a:lstStyle/>
                    <a:p>
                      <a:r>
                        <a:rPr lang="en-US" dirty="0"/>
                        <a:t>.5533</a:t>
                      </a:r>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24" name="Rectangle 23">
            <a:extLst>
              <a:ext uri="{FF2B5EF4-FFF2-40B4-BE49-F238E27FC236}">
                <a16:creationId xmlns:a16="http://schemas.microsoft.com/office/drawing/2014/main" id="{6684DA21-AE98-4D47-B147-1FBCE232444D}"/>
              </a:ext>
            </a:extLst>
          </p:cNvPr>
          <p:cNvSpPr/>
          <p:nvPr/>
        </p:nvSpPr>
        <p:spPr>
          <a:xfrm>
            <a:off x="4393568" y="5554119"/>
            <a:ext cx="2067171" cy="346687"/>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 name="Straight Arrow Connector 9">
            <a:extLst>
              <a:ext uri="{FF2B5EF4-FFF2-40B4-BE49-F238E27FC236}">
                <a16:creationId xmlns:a16="http://schemas.microsoft.com/office/drawing/2014/main" id="{D50B552D-D2B6-4962-94AB-03DDDEF2B358}"/>
              </a:ext>
            </a:extLst>
          </p:cNvPr>
          <p:cNvCxnSpPr>
            <a:cxnSpLocks/>
            <a:stCxn id="6" idx="2"/>
          </p:cNvCxnSpPr>
          <p:nvPr/>
        </p:nvCxnSpPr>
        <p:spPr>
          <a:xfrm>
            <a:off x="3767571" y="3810000"/>
            <a:ext cx="2067171" cy="135244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D1E638E8-6B0F-4101-B646-515EBF1CD296}"/>
              </a:ext>
            </a:extLst>
          </p:cNvPr>
          <p:cNvSpPr/>
          <p:nvPr/>
        </p:nvSpPr>
        <p:spPr>
          <a:xfrm>
            <a:off x="4419600" y="5163434"/>
            <a:ext cx="3048000" cy="372645"/>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5" name="Straight Arrow Connector 24">
            <a:extLst>
              <a:ext uri="{FF2B5EF4-FFF2-40B4-BE49-F238E27FC236}">
                <a16:creationId xmlns:a16="http://schemas.microsoft.com/office/drawing/2014/main" id="{BF1D73CC-290A-42CD-9E7A-D7DE8EEE463F}"/>
              </a:ext>
            </a:extLst>
          </p:cNvPr>
          <p:cNvCxnSpPr>
            <a:cxnSpLocks/>
            <a:stCxn id="17" idx="2"/>
            <a:endCxn id="24" idx="0"/>
          </p:cNvCxnSpPr>
          <p:nvPr/>
        </p:nvCxnSpPr>
        <p:spPr>
          <a:xfrm flipH="1">
            <a:off x="5427154" y="3810000"/>
            <a:ext cx="2844877" cy="1744118"/>
          </a:xfrm>
          <a:prstGeom prst="straightConnector1">
            <a:avLst/>
          </a:prstGeom>
          <a:ln w="19050">
            <a:solidFill>
              <a:srgbClr val="7030A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062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25"/>
                                        </p:tgtEl>
                                        <p:attrNameLst>
                                          <p:attrName>style.visibility</p:attrName>
                                        </p:attrNameLst>
                                      </p:cBhvr>
                                      <p:to>
                                        <p:strVal val="hidden"/>
                                      </p:to>
                                    </p:set>
                                  </p:childTnLst>
                                </p:cTn>
                              </p:par>
                              <p:par>
                                <p:cTn id="13" presetID="1" presetClass="exit" presetSubtype="0" fill="hold" grpId="1" nodeType="withEffect">
                                  <p:stCondLst>
                                    <p:cond delay="0"/>
                                  </p:stCondLst>
                                  <p:childTnLst>
                                    <p:set>
                                      <p:cBhvr>
                                        <p:cTn id="14" dur="1" fill="hold">
                                          <p:stCondLst>
                                            <p:cond delay="0"/>
                                          </p:stCondLst>
                                        </p:cTn>
                                        <p:tgtEl>
                                          <p:spTgt spid="24"/>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20"/>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21"/>
                                        </p:tgtEl>
                                        <p:attrNameLst>
                                          <p:attrName>style.visibility</p:attrName>
                                        </p:attrNameLst>
                                      </p:cBhvr>
                                      <p:to>
                                        <p:strVal val="visible"/>
                                      </p:to>
                                    </p:set>
                                    <p:animEffect transition="in" filter="fade">
                                      <p:cBhvr>
                                        <p:cTn id="25" dur="500"/>
                                        <p:tgtEl>
                                          <p:spTgt spid="21"/>
                                        </p:tgtEl>
                                      </p:cBhvr>
                                    </p:animEffect>
                                  </p:childTnLst>
                                </p:cTn>
                              </p:par>
                              <p:par>
                                <p:cTn id="26" presetID="1" presetClass="exit" presetSubtype="0" fill="hold" nodeType="withEffect">
                                  <p:stCondLst>
                                    <p:cond delay="0"/>
                                  </p:stCondLst>
                                  <p:childTnLst>
                                    <p:set>
                                      <p:cBhvr>
                                        <p:cTn id="27" dur="1" fill="hold">
                                          <p:stCondLst>
                                            <p:cond delay="0"/>
                                          </p:stCondLst>
                                        </p:cTn>
                                        <p:tgtEl>
                                          <p:spTgt spid="10"/>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19"/>
                                        </p:tgtEl>
                                        <p:attrNameLst>
                                          <p:attrName>style.visibility</p:attrName>
                                        </p:attrNameLst>
                                      </p:cBhvr>
                                      <p:to>
                                        <p:strVal val="hidden"/>
                                      </p:to>
                                    </p:se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fade">
                                      <p:cBhvr>
                                        <p:cTn id="3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4" grpId="0" animBg="1"/>
      <p:bldP spid="24" grpId="1" animBg="1"/>
      <p:bldP spid="19" grpId="0" animBg="1"/>
      <p:bldP spid="19" grpId="1"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DF364AA8-D0B6-7367-DE35-8E9928753AC5}"/>
              </a:ext>
            </a:extLst>
          </p:cNvPr>
          <p:cNvPicPr>
            <a:picLocks noChangeAspect="1"/>
          </p:cNvPicPr>
          <p:nvPr/>
        </p:nvPicPr>
        <p:blipFill>
          <a:blip r:embed="rId2"/>
          <a:stretch>
            <a:fillRect/>
          </a:stretch>
        </p:blipFill>
        <p:spPr>
          <a:xfrm>
            <a:off x="487114" y="1094571"/>
            <a:ext cx="11247685" cy="297785"/>
          </a:xfrm>
          <a:prstGeom prst="rect">
            <a:avLst/>
          </a:prstGeom>
        </p:spPr>
      </p:pic>
      <p:pic>
        <p:nvPicPr>
          <p:cNvPr id="9" name="Picture 8">
            <a:extLst>
              <a:ext uri="{FF2B5EF4-FFF2-40B4-BE49-F238E27FC236}">
                <a16:creationId xmlns:a16="http://schemas.microsoft.com/office/drawing/2014/main" id="{12789D13-84B4-4A98-B836-57AE3404006B}"/>
              </a:ext>
            </a:extLst>
          </p:cNvPr>
          <p:cNvPicPr>
            <a:picLocks noChangeAspect="1"/>
          </p:cNvPicPr>
          <p:nvPr/>
        </p:nvPicPr>
        <p:blipFill>
          <a:blip r:embed="rId3"/>
          <a:stretch>
            <a:fillRect/>
          </a:stretch>
        </p:blipFill>
        <p:spPr>
          <a:xfrm>
            <a:off x="1762125" y="4445054"/>
            <a:ext cx="5010150" cy="1591171"/>
          </a:xfrm>
          <a:prstGeom prst="rect">
            <a:avLst/>
          </a:prstGeom>
        </p:spPr>
      </p:pic>
      <p:sp>
        <p:nvSpPr>
          <p:cNvPr id="2" name="Title 1"/>
          <p:cNvSpPr>
            <a:spLocks noGrp="1"/>
          </p:cNvSpPr>
          <p:nvPr>
            <p:ph type="title"/>
          </p:nvPr>
        </p:nvSpPr>
        <p:spPr>
          <a:xfrm>
            <a:off x="1958933" y="150497"/>
            <a:ext cx="4343400" cy="504139"/>
          </a:xfrm>
        </p:spPr>
        <p:txBody>
          <a:bodyPr>
            <a:normAutofit fontScale="90000"/>
          </a:bodyPr>
          <a:lstStyle/>
          <a:p>
            <a:r>
              <a:rPr lang="en-US" dirty="0"/>
              <a:t>Echolocation!!!</a:t>
            </a:r>
          </a:p>
        </p:txBody>
      </p:sp>
      <p:pic>
        <p:nvPicPr>
          <p:cNvPr id="4" name="Picture 3"/>
          <p:cNvPicPr>
            <a:picLocks noChangeAspect="1"/>
          </p:cNvPicPr>
          <p:nvPr/>
        </p:nvPicPr>
        <p:blipFill>
          <a:blip r:embed="rId4"/>
          <a:stretch>
            <a:fillRect/>
          </a:stretch>
        </p:blipFill>
        <p:spPr>
          <a:xfrm>
            <a:off x="7677280" y="189130"/>
            <a:ext cx="2781877" cy="1504950"/>
          </a:xfrm>
          <a:prstGeom prst="rect">
            <a:avLst/>
          </a:prstGeom>
        </p:spPr>
      </p:pic>
      <p:sp>
        <p:nvSpPr>
          <p:cNvPr id="5" name="TextBox 4"/>
          <p:cNvSpPr txBox="1"/>
          <p:nvPr/>
        </p:nvSpPr>
        <p:spPr>
          <a:xfrm>
            <a:off x="457200" y="621408"/>
            <a:ext cx="7086600" cy="1200329"/>
          </a:xfrm>
          <a:prstGeom prst="rect">
            <a:avLst/>
          </a:prstGeom>
          <a:noFill/>
        </p:spPr>
        <p:txBody>
          <a:bodyPr wrap="square" rtlCol="0">
            <a:spAutoFit/>
          </a:bodyPr>
          <a:lstStyle/>
          <a:p>
            <a:r>
              <a:rPr lang="en-US" b="1" dirty="0"/>
              <a:t>QOI: Is there a difference in the in-flight energy of the </a:t>
            </a:r>
            <a:r>
              <a:rPr lang="en-US" b="1" dirty="0">
                <a:solidFill>
                  <a:srgbClr val="00B050"/>
                </a:solidFill>
              </a:rPr>
              <a:t>TWO BAT types</a:t>
            </a:r>
            <a:r>
              <a:rPr lang="en-US" b="1" dirty="0"/>
              <a:t> after body size is accounted for? </a:t>
            </a:r>
          </a:p>
          <a:p>
            <a:r>
              <a:rPr lang="en-US" b="1" dirty="0"/>
              <a:t>(Or, are the intercepts for the TWO BAT types different, after knowing that the slopes can be considered equal?)  </a:t>
            </a:r>
          </a:p>
        </p:txBody>
      </p:sp>
      <p:pic>
        <p:nvPicPr>
          <p:cNvPr id="14" name="Picture 13"/>
          <p:cNvPicPr>
            <a:picLocks noChangeAspect="1"/>
          </p:cNvPicPr>
          <p:nvPr/>
        </p:nvPicPr>
        <p:blipFill>
          <a:blip r:embed="rId5"/>
          <a:stretch>
            <a:fillRect/>
          </a:stretch>
        </p:blipFill>
        <p:spPr>
          <a:xfrm>
            <a:off x="7010400" y="3276600"/>
            <a:ext cx="3095348" cy="2331716"/>
          </a:xfrm>
          <a:prstGeom prst="rect">
            <a:avLst/>
          </a:prstGeom>
        </p:spPr>
      </p:pic>
      <p:sp>
        <p:nvSpPr>
          <p:cNvPr id="10" name="TextBox 9"/>
          <p:cNvSpPr txBox="1"/>
          <p:nvPr/>
        </p:nvSpPr>
        <p:spPr>
          <a:xfrm>
            <a:off x="991305" y="6070722"/>
            <a:ext cx="9599789" cy="646331"/>
          </a:xfrm>
          <a:prstGeom prst="rect">
            <a:avLst/>
          </a:prstGeom>
          <a:noFill/>
        </p:spPr>
        <p:txBody>
          <a:bodyPr wrap="square" rtlCol="0">
            <a:spAutoFit/>
          </a:bodyPr>
          <a:lstStyle/>
          <a:p>
            <a:r>
              <a:rPr lang="en-US" dirty="0"/>
              <a:t>Data are consistent with the hypothesis of equal median in-flight energy expenditures between two bat types after accounting for the mass (size) (p-value = .7030).</a:t>
            </a:r>
          </a:p>
        </p:txBody>
      </p:sp>
      <mc:AlternateContent xmlns:mc="http://schemas.openxmlformats.org/markup-compatibility/2006" xmlns:a14="http://schemas.microsoft.com/office/drawing/2010/main">
        <mc:Choice Requires="a14">
          <p:sp>
            <p:nvSpPr>
              <p:cNvPr id="11" name="TextBox 10"/>
              <p:cNvSpPr txBox="1"/>
              <p:nvPr/>
            </p:nvSpPr>
            <p:spPr>
              <a:xfrm>
                <a:off x="1521178" y="1839461"/>
                <a:ext cx="8915400"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charset="0"/>
                          <a:ea typeface="Cambria Math" charset="0"/>
                          <a:cs typeface="Cambria Math" charset="0"/>
                        </a:rPr>
                        <m:t>𝑏𝑖𝑟𝑑</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𝑒𝑏𝑎𝑡</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4</m:t>
                          </m:r>
                        </m:sub>
                      </m:sSub>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𝑏𝑖𝑟𝑑</m:t>
                      </m:r>
                      <m:sSub>
                        <m:sSubPr>
                          <m:ctrlPr>
                            <a:rPr lang="en-US" sz="1600" i="1" strike="sngStrike">
                              <a:latin typeface="Cambria Math" panose="02040503050406030204" pitchFamily="18" charset="0"/>
                              <a:ea typeface="Cambria Math" charset="0"/>
                              <a:cs typeface="Cambria Math" charset="0"/>
                            </a:rPr>
                          </m:ctrlPr>
                        </m:sSubPr>
                        <m:e>
                          <m:r>
                            <a:rPr lang="en-US" sz="1600" i="1" strike="sngStrike">
                              <a:latin typeface="Cambria Math" charset="0"/>
                              <a:ea typeface="Cambria Math" charset="0"/>
                              <a:cs typeface="Cambria Math" charset="0"/>
                            </a:rPr>
                            <m:t>+</m:t>
                          </m:r>
                          <m:r>
                            <a:rPr lang="en-US" sz="1600" i="1" strike="sngStrike">
                              <a:latin typeface="Cambria Math" charset="0"/>
                              <a:ea typeface="Cambria Math" charset="0"/>
                              <a:cs typeface="Cambria Math" charset="0"/>
                            </a:rPr>
                            <m:t>𝛽</m:t>
                          </m:r>
                        </m:e>
                        <m:sub>
                          <m:r>
                            <a:rPr lang="en-US" sz="1600" i="1" strike="sngStrike">
                              <a:latin typeface="Cambria Math" charset="0"/>
                              <a:ea typeface="Cambria Math" charset="0"/>
                              <a:cs typeface="Cambria Math" charset="0"/>
                            </a:rPr>
                            <m:t>5</m:t>
                          </m:r>
                        </m:sub>
                      </m:sSub>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𝑙𝑚𝑎𝑠𝑠</m:t>
                      </m:r>
                      <m:r>
                        <a:rPr lang="en-US" sz="1600" i="1" strike="sngStrike">
                          <a:latin typeface="Cambria Math" charset="0"/>
                          <a:ea typeface="Cambria Math" charset="0"/>
                          <a:cs typeface="Cambria Math" charset="0"/>
                        </a:rPr>
                        <m:t> ∗</m:t>
                      </m:r>
                      <m:r>
                        <a:rPr lang="en-US" sz="1600" i="1" strike="sngStrike">
                          <a:latin typeface="Cambria Math" charset="0"/>
                          <a:ea typeface="Cambria Math" charset="0"/>
                          <a:cs typeface="Cambria Math" charset="0"/>
                        </a:rPr>
                        <m:t>𝑒𝑏𝑎𝑡</m:t>
                      </m:r>
                    </m:oMath>
                  </m:oMathPara>
                </a14:m>
                <a:endParaRPr lang="en-US" sz="1600" i="1" strike="sngStrike" dirty="0"/>
              </a:p>
            </p:txBody>
          </p:sp>
        </mc:Choice>
        <mc:Fallback xmlns="">
          <p:sp>
            <p:nvSpPr>
              <p:cNvPr id="11" name="TextBox 10"/>
              <p:cNvSpPr txBox="1">
                <a:spLocks noRot="1" noChangeAspect="1" noMove="1" noResize="1" noEditPoints="1" noAdjustHandles="1" noChangeArrowheads="1" noChangeShapeType="1" noTextEdit="1"/>
              </p:cNvSpPr>
              <p:nvPr/>
            </p:nvSpPr>
            <p:spPr>
              <a:xfrm>
                <a:off x="1521178" y="1839461"/>
                <a:ext cx="8915400" cy="246221"/>
              </a:xfrm>
              <a:prstGeom prst="rect">
                <a:avLst/>
              </a:prstGeom>
              <a:blipFill>
                <a:blip r:embed="rId6"/>
                <a:stretch>
                  <a:fillRect b="-380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536F05C3-2E73-49A9-A71C-693A876088DB}"/>
                  </a:ext>
                </a:extLst>
              </p:cNvPr>
              <p:cNvSpPr/>
              <p:nvPr/>
            </p:nvSpPr>
            <p:spPr>
              <a:xfrm>
                <a:off x="1806223" y="2463359"/>
                <a:ext cx="8345311" cy="646331"/>
              </a:xfrm>
              <a:prstGeom prst="rect">
                <a:avLst/>
              </a:prstGeom>
            </p:spPr>
            <p:txBody>
              <a:bodyPr wrap="square">
                <a:spAutoFit/>
              </a:bodyPr>
              <a:lstStyle/>
              <a:p>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𝒆𝒃𝒂𝒕</m:t>
                    </m:r>
                    <m:r>
                      <a:rPr lang="en-US" i="1">
                        <a:latin typeface="Cambria Math" charset="0"/>
                        <a:ea typeface="Cambria Math" charset="0"/>
                        <a:cs typeface="Cambria Math" charset="0"/>
                      </a:rPr>
                      <m:t>}=</m:t>
                    </m:r>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m:t>
                        </m:r>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𝟑</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intercept =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m:t>
                        </m:r>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𝟑</m:t>
                        </m:r>
                      </m:sub>
                    </m:sSub>
                  </m:oMath>
                </a14:m>
                <a:r>
                  <a:rPr lang="en-US" i="1" dirty="0"/>
                  <a:t>  </a:t>
                </a:r>
              </a:p>
              <a:p>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𝒏𝒆𝒃𝒂𝒕</m:t>
                    </m:r>
                    <m:r>
                      <a:rPr lang="en-US" i="1">
                        <a:latin typeface="Cambria Math" charset="0"/>
                        <a:ea typeface="Cambria Math" charset="0"/>
                        <a:cs typeface="Cambria Math" charset="0"/>
                      </a:rPr>
                      <m:t>}= </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 intercept =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oMath>
                </a14:m>
                <a:endParaRPr lang="en-US" i="1" dirty="0">
                  <a:ea typeface="Cambria Math" charset="0"/>
                  <a:cs typeface="Cambria Math" charset="0"/>
                </a:endParaRPr>
              </a:p>
            </p:txBody>
          </p:sp>
        </mc:Choice>
        <mc:Fallback xmlns="">
          <p:sp>
            <p:nvSpPr>
              <p:cNvPr id="3" name="Rectangle 2">
                <a:extLst>
                  <a:ext uri="{FF2B5EF4-FFF2-40B4-BE49-F238E27FC236}">
                    <a16:creationId xmlns:a16="http://schemas.microsoft.com/office/drawing/2014/main" id="{536F05C3-2E73-49A9-A71C-693A876088DB}"/>
                  </a:ext>
                </a:extLst>
              </p:cNvPr>
              <p:cNvSpPr>
                <a:spLocks noRot="1" noChangeAspect="1" noMove="1" noResize="1" noEditPoints="1" noAdjustHandles="1" noChangeArrowheads="1" noChangeShapeType="1" noTextEdit="1"/>
              </p:cNvSpPr>
              <p:nvPr/>
            </p:nvSpPr>
            <p:spPr>
              <a:xfrm>
                <a:off x="1806223" y="2463359"/>
                <a:ext cx="8345311" cy="646331"/>
              </a:xfrm>
              <a:prstGeom prst="rect">
                <a:avLst/>
              </a:prstGeom>
              <a:blipFill>
                <a:blip r:embed="rId7"/>
                <a:stretch>
                  <a:fillRect t="-1923" b="-15385"/>
                </a:stretch>
              </a:blipFill>
            </p:spPr>
            <p:txBody>
              <a:bodyPr/>
              <a:lstStyle/>
              <a:p>
                <a:r>
                  <a:rPr lang="en-US">
                    <a:noFill/>
                  </a:rPr>
                  <a:t> </a:t>
                </a:r>
              </a:p>
            </p:txBody>
          </p:sp>
        </mc:Fallback>
      </mc:AlternateContent>
      <p:sp>
        <p:nvSpPr>
          <p:cNvPr id="6" name="Rectangle 5">
            <a:extLst>
              <a:ext uri="{FF2B5EF4-FFF2-40B4-BE49-F238E27FC236}">
                <a16:creationId xmlns:a16="http://schemas.microsoft.com/office/drawing/2014/main" id="{ECEC9814-C28D-40DC-90D3-257848AA94A6}"/>
              </a:ext>
            </a:extLst>
          </p:cNvPr>
          <p:cNvSpPr/>
          <p:nvPr/>
        </p:nvSpPr>
        <p:spPr>
          <a:xfrm>
            <a:off x="6172200" y="5321119"/>
            <a:ext cx="533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312B57C1-C9A2-4E7E-A8DA-1DC41C5A1C09}"/>
              </a:ext>
            </a:extLst>
          </p:cNvPr>
          <p:cNvSpPr txBox="1"/>
          <p:nvPr/>
        </p:nvSpPr>
        <p:spPr>
          <a:xfrm>
            <a:off x="1682044" y="2132447"/>
            <a:ext cx="6699956" cy="369332"/>
          </a:xfrm>
          <a:prstGeom prst="rect">
            <a:avLst/>
          </a:prstGeom>
          <a:noFill/>
        </p:spPr>
        <p:txBody>
          <a:bodyPr wrap="square" rtlCol="0">
            <a:spAutoFit/>
          </a:bodyPr>
          <a:lstStyle/>
          <a:p>
            <a:r>
              <a:rPr lang="en-US" dirty="0"/>
              <a:t>Individual regression equations for each relevant value of TYPE:</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61B3415-31BD-454E-8C76-07A7E5853AF2}"/>
                  </a:ext>
                </a:extLst>
              </p:cNvPr>
              <p:cNvSpPr txBox="1"/>
              <p:nvPr/>
            </p:nvSpPr>
            <p:spPr>
              <a:xfrm>
                <a:off x="2641507" y="3342405"/>
                <a:ext cx="1164293" cy="55399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a:latin typeface="Cambria Math" charset="0"/>
                        </a:rPr>
                        <m:t>𝐻</m:t>
                      </m:r>
                      <m:r>
                        <a:rPr lang="en-US" i="1" baseline="-25000">
                          <a:latin typeface="Cambria Math" charset="0"/>
                        </a:rPr>
                        <m:t>𝑜</m:t>
                      </m:r>
                      <m:r>
                        <a:rPr lang="en-US" i="1">
                          <a:latin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3</m:t>
                          </m:r>
                        </m:sub>
                      </m:sSub>
                      <m:r>
                        <a:rPr lang="en-US" i="1">
                          <a:latin typeface="Cambria Math" charset="0"/>
                          <a:ea typeface="Cambria Math" charset="0"/>
                          <a:cs typeface="Cambria Math" charset="0"/>
                        </a:rPr>
                        <m:t>=0 </m:t>
                      </m:r>
                    </m:oMath>
                  </m:oMathPara>
                </a14:m>
                <a:endParaRPr lang="en-US" i="1" dirty="0">
                  <a:latin typeface="Cambria Math" charset="0"/>
                  <a:ea typeface="Cambria Math" charset="0"/>
                  <a:cs typeface="Cambria Math" charset="0"/>
                </a:endParaRPr>
              </a:p>
              <a:p>
                <a:pPr/>
                <a14:m>
                  <m:oMathPara xmlns:m="http://schemas.openxmlformats.org/officeDocument/2006/math">
                    <m:oMathParaPr>
                      <m:jc m:val="centerGroup"/>
                    </m:oMathParaPr>
                    <m:oMath xmlns:m="http://schemas.openxmlformats.org/officeDocument/2006/math">
                      <m:r>
                        <a:rPr lang="en-US" i="1">
                          <a:latin typeface="Cambria Math" charset="0"/>
                          <a:ea typeface="Cambria Math" charset="0"/>
                          <a:cs typeface="Cambria Math" charset="0"/>
                        </a:rPr>
                        <m:t>𝐻</m:t>
                      </m:r>
                      <m:r>
                        <a:rPr lang="en-US" i="1" baseline="-25000">
                          <a:latin typeface="Cambria Math" charset="0"/>
                          <a:ea typeface="Cambria Math" charset="0"/>
                          <a:cs typeface="Cambria Math" charset="0"/>
                        </a:rPr>
                        <m:t>𝑎</m:t>
                      </m:r>
                      <m:r>
                        <a:rPr lang="en-US" i="1">
                          <a:latin typeface="Cambria Math"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panose="02040503050406030204" pitchFamily="18" charset="0"/>
                          <a:cs typeface="Cambria Math" charset="0"/>
                        </a:rPr>
                        <m:t>≠0</m:t>
                      </m:r>
                      <m:r>
                        <a:rPr lang="en-US" i="1">
                          <a:latin typeface="Cambria Math" charset="0"/>
                          <a:ea typeface="Cambria Math" charset="0"/>
                          <a:cs typeface="Cambria Math" charset="0"/>
                        </a:rPr>
                        <m:t>.</m:t>
                      </m:r>
                    </m:oMath>
                  </m:oMathPara>
                </a14:m>
                <a:endParaRPr lang="en-US" dirty="0"/>
              </a:p>
            </p:txBody>
          </p:sp>
        </mc:Choice>
        <mc:Fallback xmlns="">
          <p:sp>
            <p:nvSpPr>
              <p:cNvPr id="16" name="TextBox 15">
                <a:extLst>
                  <a:ext uri="{FF2B5EF4-FFF2-40B4-BE49-F238E27FC236}">
                    <a16:creationId xmlns:a16="http://schemas.microsoft.com/office/drawing/2014/main" id="{961B3415-31BD-454E-8C76-07A7E5853AF2}"/>
                  </a:ext>
                </a:extLst>
              </p:cNvPr>
              <p:cNvSpPr txBox="1">
                <a:spLocks noRot="1" noChangeAspect="1" noMove="1" noResize="1" noEditPoints="1" noAdjustHandles="1" noChangeArrowheads="1" noChangeShapeType="1" noTextEdit="1"/>
              </p:cNvSpPr>
              <p:nvPr/>
            </p:nvSpPr>
            <p:spPr>
              <a:xfrm>
                <a:off x="2641507" y="3342405"/>
                <a:ext cx="1164293" cy="553998"/>
              </a:xfrm>
              <a:prstGeom prst="rect">
                <a:avLst/>
              </a:prstGeom>
              <a:blipFill>
                <a:blip r:embed="rId8"/>
                <a:stretch>
                  <a:fillRect l="-2151" t="-4545" r="-5376" b="-1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42CE509-6D62-483B-B413-2A372253BE64}"/>
                  </a:ext>
                </a:extLst>
              </p:cNvPr>
              <p:cNvSpPr txBox="1"/>
              <p:nvPr/>
            </p:nvSpPr>
            <p:spPr>
              <a:xfrm>
                <a:off x="1964267" y="2986128"/>
                <a:ext cx="7653866" cy="369332"/>
              </a:xfrm>
              <a:prstGeom prst="rect">
                <a:avLst/>
              </a:prstGeom>
              <a:noFill/>
            </p:spPr>
            <p:txBody>
              <a:bodyPr wrap="square" rtlCol="0">
                <a:spAutoFit/>
              </a:bodyPr>
              <a:lstStyle/>
              <a:p>
                <a:r>
                  <a:rPr lang="en-US" dirty="0"/>
                  <a:t>Both intercepts are equal if </a:t>
                </a:r>
                <a14:m>
                  <m:oMath xmlns:m="http://schemas.openxmlformats.org/officeDocument/2006/math">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0</m:t>
                        </m:r>
                      </m:sub>
                    </m:sSub>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m:t>
                        </m:r>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0</m:t>
                        </m:r>
                      </m:sub>
                    </m:sSub>
                    <m:r>
                      <a:rPr lang="en-US">
                        <a:latin typeface="Cambria Math" panose="02040503050406030204" pitchFamily="18" charset="0"/>
                        <a:ea typeface="Cambria Math" charset="0"/>
                        <a:cs typeface="Cambria Math" charset="0"/>
                      </a:rPr>
                      <m:t>, </m:t>
                    </m:r>
                    <m:r>
                      <m:rPr>
                        <m:sty m:val="p"/>
                      </m:rPr>
                      <a:rPr lang="en-US">
                        <a:latin typeface="Cambria Math" panose="02040503050406030204" pitchFamily="18" charset="0"/>
                        <a:ea typeface="Cambria Math" charset="0"/>
                        <a:cs typeface="Cambria Math" charset="0"/>
                      </a:rPr>
                      <m:t>or</m:t>
                    </m:r>
                    <m:r>
                      <a:rPr lang="en-US">
                        <a:latin typeface="Cambria Math" panose="02040503050406030204" pitchFamily="18" charset="0"/>
                        <a:ea typeface="Cambria Math" charset="0"/>
                        <a:cs typeface="Cambria Math" charset="0"/>
                      </a:rPr>
                      <m:t> </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charset="0"/>
                        <a:cs typeface="Cambria Math" charset="0"/>
                      </a:rPr>
                      <m:t>=0</m:t>
                    </m:r>
                  </m:oMath>
                </a14:m>
                <a:r>
                  <a:rPr lang="en-US" dirty="0"/>
                  <a:t>. </a:t>
                </a:r>
              </a:p>
            </p:txBody>
          </p:sp>
        </mc:Choice>
        <mc:Fallback xmlns="">
          <p:sp>
            <p:nvSpPr>
              <p:cNvPr id="17" name="TextBox 16">
                <a:extLst>
                  <a:ext uri="{FF2B5EF4-FFF2-40B4-BE49-F238E27FC236}">
                    <a16:creationId xmlns:a16="http://schemas.microsoft.com/office/drawing/2014/main" id="{142CE509-6D62-483B-B413-2A372253BE64}"/>
                  </a:ext>
                </a:extLst>
              </p:cNvPr>
              <p:cNvSpPr txBox="1">
                <a:spLocks noRot="1" noChangeAspect="1" noMove="1" noResize="1" noEditPoints="1" noAdjustHandles="1" noChangeArrowheads="1" noChangeShapeType="1" noTextEdit="1"/>
              </p:cNvSpPr>
              <p:nvPr/>
            </p:nvSpPr>
            <p:spPr>
              <a:xfrm>
                <a:off x="1964267" y="2986128"/>
                <a:ext cx="7653866" cy="369332"/>
              </a:xfrm>
              <a:prstGeom prst="rect">
                <a:avLst/>
              </a:prstGeom>
              <a:blipFill>
                <a:blip r:embed="rId9"/>
                <a:stretch>
                  <a:fillRect l="-662" t="-10345" b="-31034"/>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EAE0B81D-538C-4848-BB41-B96BF7273EFE}"/>
              </a:ext>
            </a:extLst>
          </p:cNvPr>
          <p:cNvSpPr txBox="1"/>
          <p:nvPr/>
        </p:nvSpPr>
        <p:spPr>
          <a:xfrm>
            <a:off x="1600200" y="3830619"/>
            <a:ext cx="5334000" cy="646331"/>
          </a:xfrm>
          <a:prstGeom prst="rect">
            <a:avLst/>
          </a:prstGeom>
          <a:noFill/>
        </p:spPr>
        <p:txBody>
          <a:bodyPr wrap="square" rtlCol="0">
            <a:spAutoFit/>
          </a:bodyPr>
          <a:lstStyle/>
          <a:p>
            <a:r>
              <a:rPr lang="en-US" dirty="0"/>
              <a:t>Choosing one of the TYPES of interest to be the reference level makes this easy!</a:t>
            </a:r>
          </a:p>
        </p:txBody>
      </p:sp>
    </p:spTree>
    <p:extLst>
      <p:ext uri="{BB962C8B-B14F-4D97-AF65-F5344CB8AC3E}">
        <p14:creationId xmlns:p14="http://schemas.microsoft.com/office/powerpoint/2010/main" val="275958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1" nodeType="clickEffect">
                                  <p:stCondLst>
                                    <p:cond delay="0"/>
                                  </p:stCondLst>
                                  <p:childTnLst>
                                    <p:set>
                                      <p:cBhvr>
                                        <p:cTn id="35" dur="1" fill="hold">
                                          <p:stCondLst>
                                            <p:cond delay="0"/>
                                          </p:stCondLst>
                                        </p:cTn>
                                        <p:tgtEl>
                                          <p:spTgt spid="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 grpId="0"/>
      <p:bldP spid="6" grpId="0" animBg="1"/>
      <p:bldP spid="6" grpId="1" animBg="1"/>
      <p:bldP spid="15" grpId="0"/>
      <p:bldP spid="16" grpId="0"/>
      <p:bldP spid="17"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4C6C6-D775-7645-B44D-FE92585B2481}"/>
              </a:ext>
            </a:extLst>
          </p:cNvPr>
          <p:cNvSpPr>
            <a:spLocks noGrp="1"/>
          </p:cNvSpPr>
          <p:nvPr>
            <p:ph type="title"/>
          </p:nvPr>
        </p:nvSpPr>
        <p:spPr>
          <a:xfrm>
            <a:off x="609600" y="2514600"/>
            <a:ext cx="10972800" cy="1143000"/>
          </a:xfrm>
        </p:spPr>
        <p:txBody>
          <a:bodyPr/>
          <a:lstStyle/>
          <a:p>
            <a:r>
              <a:rPr lang="en-US" dirty="0"/>
              <a:t>Break Out 2</a:t>
            </a:r>
          </a:p>
        </p:txBody>
      </p:sp>
    </p:spTree>
    <p:extLst>
      <p:ext uri="{BB962C8B-B14F-4D97-AF65-F5344CB8AC3E}">
        <p14:creationId xmlns:p14="http://schemas.microsoft.com/office/powerpoint/2010/main" val="13943411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Breakout!: Try it! </a:t>
            </a:r>
          </a:p>
        </p:txBody>
      </p:sp>
      <p:sp>
        <p:nvSpPr>
          <p:cNvPr id="3" name="Content Placeholder 2"/>
          <p:cNvSpPr>
            <a:spLocks noGrp="1"/>
          </p:cNvSpPr>
          <p:nvPr>
            <p:ph idx="1"/>
          </p:nvPr>
        </p:nvSpPr>
        <p:spPr>
          <a:xfrm>
            <a:off x="304800" y="2267904"/>
            <a:ext cx="11734800" cy="3763963"/>
          </a:xfrm>
        </p:spPr>
        <p:txBody>
          <a:bodyPr>
            <a:normAutofit/>
          </a:bodyPr>
          <a:lstStyle/>
          <a:p>
            <a:pPr marL="0" indent="0">
              <a:buNone/>
            </a:pPr>
            <a:r>
              <a:rPr lang="en-US" sz="2000" dirty="0"/>
              <a:t>Assume we have randomly sampled 35 students and the sum of squares residual (error) for the fit of the model above was 84.67.  We also fit the model without the last three terms: </a:t>
            </a:r>
          </a:p>
          <a:p>
            <a:pPr marL="0" indent="0">
              <a:buNone/>
            </a:pPr>
            <a:endParaRPr lang="en-US" sz="2000" dirty="0"/>
          </a:p>
          <a:p>
            <a:pPr marL="0" indent="0">
              <a:buNone/>
            </a:pPr>
            <a:endParaRPr lang="en-US" sz="2000" dirty="0"/>
          </a:p>
          <a:p>
            <a:pPr marL="0" indent="0">
              <a:buNone/>
            </a:pPr>
            <a:r>
              <a:rPr lang="en-US" sz="2000" dirty="0"/>
              <a:t>and found the sum of squares to be 130.7.  Find an F-statistic and p-value </a:t>
            </a:r>
            <a:r>
              <a:rPr lang="en-US" sz="2000" u="sng" dirty="0"/>
              <a:t>to test if the slopes are the same</a:t>
            </a:r>
            <a:r>
              <a:rPr lang="en-US" sz="2000" dirty="0"/>
              <a:t> for the 4 classifications (senior is the reference level) of high school students.  In other words </a:t>
            </a:r>
            <a:r>
              <a:rPr lang="is-IS" sz="2000" dirty="0"/>
              <a:t>… perform an extra sum of squares test.</a:t>
            </a:r>
            <a:endParaRPr lang="en-US" sz="2000" dirty="0"/>
          </a:p>
        </p:txBody>
      </p:sp>
      <mc:AlternateContent xmlns:mc="http://schemas.openxmlformats.org/markup-compatibility/2006" xmlns:a14="http://schemas.microsoft.com/office/drawing/2010/main">
        <mc:Choice Requires="a14">
          <p:sp>
            <p:nvSpPr>
              <p:cNvPr id="4" name="TextBox 3"/>
              <p:cNvSpPr txBox="1"/>
              <p:nvPr/>
            </p:nvSpPr>
            <p:spPr>
              <a:xfrm>
                <a:off x="2394858" y="1469572"/>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4" name="TextBox 3"/>
              <p:cNvSpPr txBox="1">
                <a:spLocks noRot="1" noChangeAspect="1" noMove="1" noResize="1" noEditPoints="1" noAdjustHandles="1" noChangeArrowheads="1" noChangeShapeType="1" noTextEdit="1"/>
              </p:cNvSpPr>
              <p:nvPr/>
            </p:nvSpPr>
            <p:spPr>
              <a:xfrm>
                <a:off x="2394858" y="1469572"/>
                <a:ext cx="7770269" cy="646331"/>
              </a:xfrm>
              <a:prstGeom prst="rect">
                <a:avLst/>
              </a:prstGeom>
              <a:blipFill>
                <a:blip r:embed="rId2"/>
                <a:stretch>
                  <a:fillRect l="-653" t="-5769" b="-9615"/>
                </a:stretch>
              </a:blipFill>
            </p:spPr>
            <p:txBody>
              <a:bodyPr/>
              <a:lstStyle/>
              <a:p>
                <a:r>
                  <a:rPr lang="en-US">
                    <a:noFill/>
                  </a:rPr>
                  <a:t> </a:t>
                </a:r>
              </a:p>
            </p:txBody>
          </p:sp>
        </mc:Fallback>
      </mc:AlternateContent>
      <p:graphicFrame>
        <p:nvGraphicFramePr>
          <p:cNvPr id="5" name="Table 4">
            <a:extLst>
              <a:ext uri="{FF2B5EF4-FFF2-40B4-BE49-F238E27FC236}">
                <a16:creationId xmlns:a16="http://schemas.microsoft.com/office/drawing/2014/main" id="{2B1C7035-1146-46E1-9F03-7868BE0D86D3}"/>
              </a:ext>
            </a:extLst>
          </p:cNvPr>
          <p:cNvGraphicFramePr>
            <a:graphicFrameLocks noGrp="1"/>
          </p:cNvGraphicFramePr>
          <p:nvPr/>
        </p:nvGraphicFramePr>
        <p:xfrm>
          <a:off x="3506471" y="5042836"/>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6" name="TextBox 5">
            <a:extLst>
              <a:ext uri="{FF2B5EF4-FFF2-40B4-BE49-F238E27FC236}">
                <a16:creationId xmlns:a16="http://schemas.microsoft.com/office/drawing/2014/main" id="{71C563E5-F792-4E49-8F94-2FD826B9C147}"/>
              </a:ext>
            </a:extLst>
          </p:cNvPr>
          <p:cNvSpPr txBox="1"/>
          <p:nvPr/>
        </p:nvSpPr>
        <p:spPr>
          <a:xfrm>
            <a:off x="1953984" y="5802868"/>
            <a:ext cx="1475017" cy="369332"/>
          </a:xfrm>
          <a:prstGeom prst="rect">
            <a:avLst/>
          </a:prstGeom>
          <a:noFill/>
        </p:spPr>
        <p:txBody>
          <a:bodyPr wrap="square" rtlCol="0">
            <a:spAutoFit/>
          </a:bodyPr>
          <a:lstStyle/>
          <a:p>
            <a:pPr algn="ctr"/>
            <a:r>
              <a:rPr lang="en-US" dirty="0"/>
              <a:t>Full Model</a:t>
            </a:r>
          </a:p>
        </p:txBody>
      </p:sp>
      <p:sp>
        <p:nvSpPr>
          <p:cNvPr id="7" name="TextBox 6">
            <a:extLst>
              <a:ext uri="{FF2B5EF4-FFF2-40B4-BE49-F238E27FC236}">
                <a16:creationId xmlns:a16="http://schemas.microsoft.com/office/drawing/2014/main" id="{3D9BCB6B-C022-4B3B-AAC0-CEB3C203FA5F}"/>
              </a:ext>
            </a:extLst>
          </p:cNvPr>
          <p:cNvSpPr txBox="1"/>
          <p:nvPr/>
        </p:nvSpPr>
        <p:spPr>
          <a:xfrm>
            <a:off x="1381990" y="6183868"/>
            <a:ext cx="2199410" cy="369332"/>
          </a:xfrm>
          <a:prstGeom prst="rect">
            <a:avLst/>
          </a:prstGeom>
          <a:noFill/>
        </p:spPr>
        <p:txBody>
          <a:bodyPr wrap="square" rtlCol="0">
            <a:spAutoFit/>
          </a:bodyPr>
          <a:lstStyle/>
          <a:p>
            <a:pPr algn="ctr"/>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418314-2B75-9A41-A184-C82786D1601F}"/>
                  </a:ext>
                </a:extLst>
              </p:cNvPr>
              <p:cNvSpPr txBox="1"/>
              <p:nvPr/>
            </p:nvSpPr>
            <p:spPr>
              <a:xfrm>
                <a:off x="2374980" y="3101372"/>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66418314-2B75-9A41-A184-C82786D1601F}"/>
                  </a:ext>
                </a:extLst>
              </p:cNvPr>
              <p:cNvSpPr txBox="1">
                <a:spLocks noRot="1" noChangeAspect="1" noMove="1" noResize="1" noEditPoints="1" noAdjustHandles="1" noChangeArrowheads="1" noChangeShapeType="1" noTextEdit="1"/>
              </p:cNvSpPr>
              <p:nvPr/>
            </p:nvSpPr>
            <p:spPr>
              <a:xfrm>
                <a:off x="2374980" y="3101372"/>
                <a:ext cx="7770269" cy="369332"/>
              </a:xfrm>
              <a:prstGeom prst="rect">
                <a:avLst/>
              </a:prstGeom>
              <a:blipFill>
                <a:blip r:embed="rId3"/>
                <a:stretch>
                  <a:fillRect l="-817" t="-13333" b="-20000"/>
                </a:stretch>
              </a:blipFill>
            </p:spPr>
            <p:txBody>
              <a:bodyPr/>
              <a:lstStyle/>
              <a:p>
                <a:r>
                  <a:rPr lang="en-US">
                    <a:noFill/>
                  </a:rPr>
                  <a:t> </a:t>
                </a:r>
              </a:p>
            </p:txBody>
          </p:sp>
        </mc:Fallback>
      </mc:AlternateContent>
    </p:spTree>
    <p:extLst>
      <p:ext uri="{BB962C8B-B14F-4D97-AF65-F5344CB8AC3E}">
        <p14:creationId xmlns:p14="http://schemas.microsoft.com/office/powerpoint/2010/main" val="92050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b="0"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endParaRPr lang="en-US" b="0" dirty="0"/>
                    </a:p>
                  </a:txBody>
                  <a:tcPr/>
                </a:tc>
                <a:tc>
                  <a:txBody>
                    <a:bodyPr/>
                    <a:lstStyle/>
                    <a:p>
                      <a:r>
                        <a:rPr lang="en-US" b="1" dirty="0"/>
                        <a:t>84.67</a:t>
                      </a:r>
                    </a:p>
                  </a:txBody>
                  <a:tcPr/>
                </a:tc>
                <a:tc>
                  <a:txBody>
                    <a:bodyPr/>
                    <a:lstStyle/>
                    <a:p>
                      <a:endParaRPr lang="en-US" b="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endParaRPr lang="en-US" b="0" dirty="0"/>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2514600" y="3733800"/>
            <a:ext cx="7315200" cy="369332"/>
          </a:xfrm>
          <a:prstGeom prst="rect">
            <a:avLst/>
          </a:prstGeom>
          <a:noFill/>
        </p:spPr>
        <p:txBody>
          <a:bodyPr wrap="square" rtlCol="0">
            <a:spAutoFit/>
          </a:bodyPr>
          <a:lstStyle/>
          <a:p>
            <a:r>
              <a:rPr lang="en-US" dirty="0"/>
              <a:t>*Bold entries are from info given directly on prior slide.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BAF4C88-085B-42E6-B9BD-C5406C0F7629}"/>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6" name="TextBox 5">
                <a:extLst>
                  <a:ext uri="{FF2B5EF4-FFF2-40B4-BE49-F238E27FC236}">
                    <a16:creationId xmlns:a16="http://schemas.microsoft.com/office/drawing/2014/main" id="{5BAF4C88-085B-42E6-B9BD-C5406C0F7629}"/>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2"/>
                <a:stretch>
                  <a:fillRect l="-653" t="-5769" b="-9615"/>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E4ADE5B-0BE5-41A1-9DCC-9A18B6B06721}"/>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7" name="TextBox 6">
            <a:extLst>
              <a:ext uri="{FF2B5EF4-FFF2-40B4-BE49-F238E27FC236}">
                <a16:creationId xmlns:a16="http://schemas.microsoft.com/office/drawing/2014/main" id="{6740FB61-A170-4429-8B40-9581D250D2CB}"/>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5B883F6-8E00-4FC8-86A4-65C94F588643}"/>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D5B883F6-8E00-4FC8-86A4-65C94F588643}"/>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3"/>
                <a:stretch>
                  <a:fillRect l="-653" t="-6452"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6F53BC75-C10E-4C0F-A3B0-4769E43A8266}"/>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0" name="TextBox 9">
            <a:extLst>
              <a:ext uri="{FF2B5EF4-FFF2-40B4-BE49-F238E27FC236}">
                <a16:creationId xmlns:a16="http://schemas.microsoft.com/office/drawing/2014/main" id="{223567CB-2790-4AC6-9704-108A61EB6F81}"/>
              </a:ext>
            </a:extLst>
          </p:cNvPr>
          <p:cNvSpPr txBox="1"/>
          <p:nvPr/>
        </p:nvSpPr>
        <p:spPr>
          <a:xfrm>
            <a:off x="1498600" y="2880275"/>
            <a:ext cx="1752600" cy="646331"/>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24269889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b="0"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b="0" dirty="0"/>
                        <a:t>27</a:t>
                      </a:r>
                    </a:p>
                  </a:txBody>
                  <a:tcPr/>
                </a:tc>
                <a:tc>
                  <a:txBody>
                    <a:bodyPr/>
                    <a:lstStyle/>
                    <a:p>
                      <a:r>
                        <a:rPr lang="en-US" b="1" dirty="0"/>
                        <a:t>84.67</a:t>
                      </a:r>
                    </a:p>
                  </a:txBody>
                  <a:tcPr/>
                </a:tc>
                <a:tc>
                  <a:txBody>
                    <a:bodyPr/>
                    <a:lstStyle/>
                    <a:p>
                      <a:endParaRPr lang="en-US" b="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b="0" dirty="0"/>
                        <a:t>30</a:t>
                      </a:r>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425B650-A861-4E76-841A-CDDD8416D837}"/>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5" name="TextBox 4">
                <a:extLst>
                  <a:ext uri="{FF2B5EF4-FFF2-40B4-BE49-F238E27FC236}">
                    <a16:creationId xmlns:a16="http://schemas.microsoft.com/office/drawing/2014/main" id="{6425B650-A861-4E76-841A-CDDD8416D837}"/>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2"/>
                <a:stretch>
                  <a:fillRect l="-653" t="-5769" b="-961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69793D6F-A7FA-4DD1-884F-534EF0DE761E}"/>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7" name="TextBox 6">
            <a:extLst>
              <a:ext uri="{FF2B5EF4-FFF2-40B4-BE49-F238E27FC236}">
                <a16:creationId xmlns:a16="http://schemas.microsoft.com/office/drawing/2014/main" id="{23601BF1-EC21-4EE3-A461-204717A2FB6A}"/>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698CB2-5AE1-4335-86D3-A768AB0BB44F}"/>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1A698CB2-5AE1-4335-86D3-A768AB0BB44F}"/>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3"/>
                <a:stretch>
                  <a:fillRect l="-653" t="-6452"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966C7A71-9297-41D6-A214-910633B2C671}"/>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0" name="TextBox 9">
            <a:extLst>
              <a:ext uri="{FF2B5EF4-FFF2-40B4-BE49-F238E27FC236}">
                <a16:creationId xmlns:a16="http://schemas.microsoft.com/office/drawing/2014/main" id="{01476A7F-2AB6-4B0D-A794-DA1B8A22EAF9}"/>
              </a:ext>
            </a:extLst>
          </p:cNvPr>
          <p:cNvSpPr txBox="1"/>
          <p:nvPr/>
        </p:nvSpPr>
        <p:spPr>
          <a:xfrm>
            <a:off x="1498600" y="2880275"/>
            <a:ext cx="1752600" cy="646331"/>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38778099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3</a:t>
                      </a:r>
                    </a:p>
                  </a:txBody>
                  <a:tcPr/>
                </a:tc>
                <a:tc>
                  <a:txBody>
                    <a:bodyPr/>
                    <a:lstStyle/>
                    <a:p>
                      <a:r>
                        <a:rPr lang="en-US" dirty="0"/>
                        <a:t>46.03</a:t>
                      </a:r>
                    </a:p>
                  </a:txBody>
                  <a:tcPr/>
                </a:tc>
                <a:tc>
                  <a:txBody>
                    <a:bodyPr/>
                    <a:lstStyle/>
                    <a:p>
                      <a:endParaRPr lang="en-US" dirty="0"/>
                    </a:p>
                  </a:txBody>
                  <a:tcPr/>
                </a:tc>
                <a:tc>
                  <a:txBody>
                    <a:bodyPr/>
                    <a:lstStyle/>
                    <a:p>
                      <a:endParaRPr lang="en-US" dirty="0"/>
                    </a:p>
                  </a:txBody>
                  <a:tcPr/>
                </a:tc>
                <a:tc>
                  <a:txBody>
                    <a:bodyPr/>
                    <a:lstStyle/>
                    <a:p>
                      <a:endParaRPr lang="en-US" b="0"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b="0" dirty="0"/>
                        <a:t>27</a:t>
                      </a:r>
                    </a:p>
                  </a:txBody>
                  <a:tcPr/>
                </a:tc>
                <a:tc>
                  <a:txBody>
                    <a:bodyPr/>
                    <a:lstStyle/>
                    <a:p>
                      <a:r>
                        <a:rPr lang="en-US" b="1" dirty="0"/>
                        <a:t>84.67</a:t>
                      </a:r>
                    </a:p>
                  </a:txBody>
                  <a:tcPr/>
                </a:tc>
                <a:tc>
                  <a:txBody>
                    <a:bodyPr/>
                    <a:lstStyle/>
                    <a:p>
                      <a:endParaRPr lang="en-US" b="0"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b="0" dirty="0"/>
                        <a:t>30</a:t>
                      </a:r>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C3C518A7-1C6C-4E9C-8110-62436C69B482}"/>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5" name="TextBox 4">
                <a:extLst>
                  <a:ext uri="{FF2B5EF4-FFF2-40B4-BE49-F238E27FC236}">
                    <a16:creationId xmlns:a16="http://schemas.microsoft.com/office/drawing/2014/main" id="{C3C518A7-1C6C-4E9C-8110-62436C69B482}"/>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2"/>
                <a:stretch>
                  <a:fillRect l="-653" t="-5769" b="-961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B41BF849-3A95-4AFF-9640-F257DD06E871}"/>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7" name="TextBox 6">
            <a:extLst>
              <a:ext uri="{FF2B5EF4-FFF2-40B4-BE49-F238E27FC236}">
                <a16:creationId xmlns:a16="http://schemas.microsoft.com/office/drawing/2014/main" id="{9FC2C6B5-B611-44DC-A690-37C0C1477687}"/>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6EEEF01-E3C8-4C1F-A180-497B43506236}"/>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46EEEF01-E3C8-4C1F-A180-497B43506236}"/>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3"/>
                <a:stretch>
                  <a:fillRect l="-653" t="-6452"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C947CD07-4211-4337-A294-714AB51313BF}"/>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0" name="TextBox 9">
            <a:extLst>
              <a:ext uri="{FF2B5EF4-FFF2-40B4-BE49-F238E27FC236}">
                <a16:creationId xmlns:a16="http://schemas.microsoft.com/office/drawing/2014/main" id="{234974BE-497A-4653-BDE1-F90BD933DEBA}"/>
              </a:ext>
            </a:extLst>
          </p:cNvPr>
          <p:cNvSpPr txBox="1"/>
          <p:nvPr/>
        </p:nvSpPr>
        <p:spPr>
          <a:xfrm>
            <a:off x="1498600" y="2880275"/>
            <a:ext cx="1752600" cy="646331"/>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21706892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3</a:t>
                      </a:r>
                    </a:p>
                  </a:txBody>
                  <a:tcPr/>
                </a:tc>
                <a:tc>
                  <a:txBody>
                    <a:bodyPr/>
                    <a:lstStyle/>
                    <a:p>
                      <a:r>
                        <a:rPr lang="en-US" dirty="0"/>
                        <a:t>46.03</a:t>
                      </a:r>
                    </a:p>
                  </a:txBody>
                  <a:tcPr/>
                </a:tc>
                <a:tc>
                  <a:txBody>
                    <a:bodyPr/>
                    <a:lstStyle/>
                    <a:p>
                      <a:r>
                        <a:rPr lang="en-US" dirty="0"/>
                        <a:t>15.34</a:t>
                      </a:r>
                    </a:p>
                  </a:txBody>
                  <a:tcPr/>
                </a:tc>
                <a:tc>
                  <a:txBody>
                    <a:bodyPr/>
                    <a:lstStyle/>
                    <a:p>
                      <a:endParaRPr lang="en-US" dirty="0"/>
                    </a:p>
                  </a:txBody>
                  <a:tcPr/>
                </a:tc>
                <a:tc>
                  <a:txBody>
                    <a:bodyPr/>
                    <a:lstStyle/>
                    <a:p>
                      <a:endParaRPr lang="en-US" b="0"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b="0" dirty="0"/>
                        <a:t>27</a:t>
                      </a:r>
                    </a:p>
                  </a:txBody>
                  <a:tcPr/>
                </a:tc>
                <a:tc>
                  <a:txBody>
                    <a:bodyPr/>
                    <a:lstStyle/>
                    <a:p>
                      <a:r>
                        <a:rPr lang="en-US" b="1" dirty="0"/>
                        <a:t>84.67</a:t>
                      </a:r>
                    </a:p>
                  </a:txBody>
                  <a:tcPr/>
                </a:tc>
                <a:tc>
                  <a:txBody>
                    <a:bodyPr/>
                    <a:lstStyle/>
                    <a:p>
                      <a:r>
                        <a:rPr lang="en-US" b="0" dirty="0"/>
                        <a:t>3.14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b="0" dirty="0"/>
                        <a:t>30</a:t>
                      </a:r>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63970C-2F7C-4CA9-A753-8AB527B69F6E}"/>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5" name="TextBox 4">
                <a:extLst>
                  <a:ext uri="{FF2B5EF4-FFF2-40B4-BE49-F238E27FC236}">
                    <a16:creationId xmlns:a16="http://schemas.microsoft.com/office/drawing/2014/main" id="{4863970C-2F7C-4CA9-A753-8AB527B69F6E}"/>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2"/>
                <a:stretch>
                  <a:fillRect l="-653" t="-5769" b="-961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07C2CCA4-25A0-4EDD-9953-7B2C4A510BA2}"/>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7" name="TextBox 6">
            <a:extLst>
              <a:ext uri="{FF2B5EF4-FFF2-40B4-BE49-F238E27FC236}">
                <a16:creationId xmlns:a16="http://schemas.microsoft.com/office/drawing/2014/main" id="{BE681D0B-6B73-43EC-90B6-D289BE50E960}"/>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0E1807-FABF-4416-ADE9-AFB89EE50E3F}"/>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AB0E1807-FABF-4416-ADE9-AFB89EE50E3F}"/>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3"/>
                <a:stretch>
                  <a:fillRect l="-653" t="-6452"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49EEB6FA-C26A-48C5-A8D7-E10AF7EB1B48}"/>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0" name="TextBox 9">
            <a:extLst>
              <a:ext uri="{FF2B5EF4-FFF2-40B4-BE49-F238E27FC236}">
                <a16:creationId xmlns:a16="http://schemas.microsoft.com/office/drawing/2014/main" id="{DE4CAE8C-B7C3-4D62-8E83-59FFD8A8ADEA}"/>
              </a:ext>
            </a:extLst>
          </p:cNvPr>
          <p:cNvSpPr txBox="1"/>
          <p:nvPr/>
        </p:nvSpPr>
        <p:spPr>
          <a:xfrm>
            <a:off x="1498600" y="2880275"/>
            <a:ext cx="1752600" cy="646331"/>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4090982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3</a:t>
                      </a:r>
                    </a:p>
                  </a:txBody>
                  <a:tcPr/>
                </a:tc>
                <a:tc>
                  <a:txBody>
                    <a:bodyPr/>
                    <a:lstStyle/>
                    <a:p>
                      <a:r>
                        <a:rPr lang="en-US" dirty="0"/>
                        <a:t>46.03</a:t>
                      </a:r>
                    </a:p>
                  </a:txBody>
                  <a:tcPr/>
                </a:tc>
                <a:tc>
                  <a:txBody>
                    <a:bodyPr/>
                    <a:lstStyle/>
                    <a:p>
                      <a:r>
                        <a:rPr lang="en-US" dirty="0"/>
                        <a:t>15.34</a:t>
                      </a:r>
                    </a:p>
                  </a:txBody>
                  <a:tcPr/>
                </a:tc>
                <a:tc>
                  <a:txBody>
                    <a:bodyPr/>
                    <a:lstStyle/>
                    <a:p>
                      <a:r>
                        <a:rPr lang="en-US" dirty="0"/>
                        <a:t>4.89</a:t>
                      </a:r>
                    </a:p>
                  </a:txBody>
                  <a:tcPr/>
                </a:tc>
                <a:tc>
                  <a:txBody>
                    <a:bodyPr/>
                    <a:lstStyle/>
                    <a:p>
                      <a:endParaRPr lang="en-US" b="0" dirty="0">
                        <a:solidFill>
                          <a:srgbClr val="FF0000"/>
                        </a:solidFill>
                      </a:endParaRP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b="0" dirty="0"/>
                        <a:t>27</a:t>
                      </a:r>
                    </a:p>
                  </a:txBody>
                  <a:tcPr/>
                </a:tc>
                <a:tc>
                  <a:txBody>
                    <a:bodyPr/>
                    <a:lstStyle/>
                    <a:p>
                      <a:r>
                        <a:rPr lang="en-US" b="1" dirty="0"/>
                        <a:t>84.67</a:t>
                      </a:r>
                    </a:p>
                  </a:txBody>
                  <a:tcPr/>
                </a:tc>
                <a:tc>
                  <a:txBody>
                    <a:bodyPr/>
                    <a:lstStyle/>
                    <a:p>
                      <a:r>
                        <a:rPr lang="en-US" b="0" dirty="0"/>
                        <a:t>3.14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b="0" dirty="0"/>
                        <a:t>30</a:t>
                      </a:r>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0F02ED-F118-4411-82ED-F1CA2E67C1FB}"/>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5" name="TextBox 4">
                <a:extLst>
                  <a:ext uri="{FF2B5EF4-FFF2-40B4-BE49-F238E27FC236}">
                    <a16:creationId xmlns:a16="http://schemas.microsoft.com/office/drawing/2014/main" id="{600F02ED-F118-4411-82ED-F1CA2E67C1FB}"/>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2"/>
                <a:stretch>
                  <a:fillRect l="-653" t="-5769" b="-9615"/>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C0557C8-D755-4E31-B313-E311C638016E}"/>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7" name="TextBox 6">
            <a:extLst>
              <a:ext uri="{FF2B5EF4-FFF2-40B4-BE49-F238E27FC236}">
                <a16:creationId xmlns:a16="http://schemas.microsoft.com/office/drawing/2014/main" id="{9493DEA0-5704-4091-9681-42A6EDDC7938}"/>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AD3C1A9-0D0D-4E3F-A390-643B90589580}"/>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8" name="TextBox 7">
                <a:extLst>
                  <a:ext uri="{FF2B5EF4-FFF2-40B4-BE49-F238E27FC236}">
                    <a16:creationId xmlns:a16="http://schemas.microsoft.com/office/drawing/2014/main" id="{4AD3C1A9-0D0D-4E3F-A390-643B90589580}"/>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3"/>
                <a:stretch>
                  <a:fillRect l="-653" t="-6452" b="-19355"/>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A3241A2-8A53-44C3-9751-80F08BDDD11F}"/>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0" name="TextBox 9">
            <a:extLst>
              <a:ext uri="{FF2B5EF4-FFF2-40B4-BE49-F238E27FC236}">
                <a16:creationId xmlns:a16="http://schemas.microsoft.com/office/drawing/2014/main" id="{E449DBF8-35CE-4580-98EA-000D63027B32}"/>
              </a:ext>
            </a:extLst>
          </p:cNvPr>
          <p:cNvSpPr txBox="1"/>
          <p:nvPr/>
        </p:nvSpPr>
        <p:spPr>
          <a:xfrm>
            <a:off x="1498600" y="2880275"/>
            <a:ext cx="1752600" cy="646331"/>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41583628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Sum of Squares Test</a:t>
            </a:r>
          </a:p>
        </p:txBody>
      </p:sp>
      <p:graphicFrame>
        <p:nvGraphicFramePr>
          <p:cNvPr id="4" name="Table 3"/>
          <p:cNvGraphicFramePr>
            <a:graphicFrameLocks noGrp="1"/>
          </p:cNvGraphicFramePr>
          <p:nvPr/>
        </p:nvGraphicFramePr>
        <p:xfrm>
          <a:off x="3048000" y="1752600"/>
          <a:ext cx="6096000" cy="148336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016000">
                  <a:extLst>
                    <a:ext uri="{9D8B030D-6E8A-4147-A177-3AD203B41FA5}">
                      <a16:colId xmlns:a16="http://schemas.microsoft.com/office/drawing/2014/main" val="20002"/>
                    </a:ext>
                  </a:extLst>
                </a:gridCol>
                <a:gridCol w="1016000">
                  <a:extLst>
                    <a:ext uri="{9D8B030D-6E8A-4147-A177-3AD203B41FA5}">
                      <a16:colId xmlns:a16="http://schemas.microsoft.com/office/drawing/2014/main" val="20003"/>
                    </a:ext>
                  </a:extLst>
                </a:gridCol>
                <a:gridCol w="1016000">
                  <a:extLst>
                    <a:ext uri="{9D8B030D-6E8A-4147-A177-3AD203B41FA5}">
                      <a16:colId xmlns:a16="http://schemas.microsoft.com/office/drawing/2014/main" val="20004"/>
                    </a:ext>
                  </a:extLst>
                </a:gridCol>
                <a:gridCol w="1016000">
                  <a:extLst>
                    <a:ext uri="{9D8B030D-6E8A-4147-A177-3AD203B41FA5}">
                      <a16:colId xmlns:a16="http://schemas.microsoft.com/office/drawing/2014/main" val="20005"/>
                    </a:ext>
                  </a:extLst>
                </a:gridCol>
              </a:tblGrid>
              <a:tr h="370840">
                <a:tc>
                  <a:txBody>
                    <a:bodyPr/>
                    <a:lstStyle/>
                    <a:p>
                      <a:r>
                        <a:rPr lang="en-US" dirty="0"/>
                        <a:t>Source</a:t>
                      </a:r>
                    </a:p>
                  </a:txBody>
                  <a:tcPr/>
                </a:tc>
                <a:tc>
                  <a:txBody>
                    <a:bodyPr/>
                    <a:lstStyle/>
                    <a:p>
                      <a:r>
                        <a:rPr lang="en-US" dirty="0"/>
                        <a:t>Df</a:t>
                      </a:r>
                    </a:p>
                  </a:txBody>
                  <a:tcPr/>
                </a:tc>
                <a:tc>
                  <a:txBody>
                    <a:bodyPr/>
                    <a:lstStyle/>
                    <a:p>
                      <a:r>
                        <a:rPr lang="en-US" dirty="0"/>
                        <a:t>SS</a:t>
                      </a:r>
                    </a:p>
                  </a:txBody>
                  <a:tcPr/>
                </a:tc>
                <a:tc>
                  <a:txBody>
                    <a:bodyPr/>
                    <a:lstStyle/>
                    <a:p>
                      <a:r>
                        <a:rPr lang="en-US" dirty="0"/>
                        <a:t>MS</a:t>
                      </a:r>
                    </a:p>
                  </a:txBody>
                  <a:tcPr/>
                </a:tc>
                <a:tc>
                  <a:txBody>
                    <a:bodyPr/>
                    <a:lstStyle/>
                    <a:p>
                      <a:r>
                        <a:rPr lang="en-US" dirty="0"/>
                        <a:t>F</a:t>
                      </a:r>
                    </a:p>
                  </a:txBody>
                  <a:tcPr/>
                </a:tc>
                <a:tc>
                  <a:txBody>
                    <a:bodyPr/>
                    <a:lstStyle/>
                    <a:p>
                      <a:r>
                        <a:rPr lang="en-US" dirty="0"/>
                        <a:t>P-value</a:t>
                      </a:r>
                    </a:p>
                  </a:txBody>
                  <a:tcPr/>
                </a:tc>
                <a:extLst>
                  <a:ext uri="{0D108BD9-81ED-4DB2-BD59-A6C34878D82A}">
                    <a16:rowId xmlns:a16="http://schemas.microsoft.com/office/drawing/2014/main" val="10000"/>
                  </a:ext>
                </a:extLst>
              </a:tr>
              <a:tr h="370840">
                <a:tc>
                  <a:txBody>
                    <a:bodyPr/>
                    <a:lstStyle/>
                    <a:p>
                      <a:r>
                        <a:rPr lang="en-US" dirty="0"/>
                        <a:t>Model</a:t>
                      </a:r>
                    </a:p>
                  </a:txBody>
                  <a:tcPr/>
                </a:tc>
                <a:tc>
                  <a:txBody>
                    <a:bodyPr/>
                    <a:lstStyle/>
                    <a:p>
                      <a:r>
                        <a:rPr lang="en-US" dirty="0"/>
                        <a:t>3</a:t>
                      </a:r>
                    </a:p>
                  </a:txBody>
                  <a:tcPr/>
                </a:tc>
                <a:tc>
                  <a:txBody>
                    <a:bodyPr/>
                    <a:lstStyle/>
                    <a:p>
                      <a:r>
                        <a:rPr lang="en-US" dirty="0"/>
                        <a:t>46.03</a:t>
                      </a:r>
                    </a:p>
                  </a:txBody>
                  <a:tcPr/>
                </a:tc>
                <a:tc>
                  <a:txBody>
                    <a:bodyPr/>
                    <a:lstStyle/>
                    <a:p>
                      <a:r>
                        <a:rPr lang="en-US" dirty="0"/>
                        <a:t>15.34</a:t>
                      </a:r>
                    </a:p>
                  </a:txBody>
                  <a:tcPr/>
                </a:tc>
                <a:tc>
                  <a:txBody>
                    <a:bodyPr/>
                    <a:lstStyle/>
                    <a:p>
                      <a:r>
                        <a:rPr lang="en-US" dirty="0"/>
                        <a:t>4.89</a:t>
                      </a:r>
                    </a:p>
                  </a:txBody>
                  <a:tcPr/>
                </a:tc>
                <a:tc>
                  <a:txBody>
                    <a:bodyPr/>
                    <a:lstStyle/>
                    <a:p>
                      <a:r>
                        <a:rPr lang="en-US" b="0" dirty="0">
                          <a:solidFill>
                            <a:srgbClr val="FF0000"/>
                          </a:solidFill>
                        </a:rPr>
                        <a:t>.0077</a:t>
                      </a:r>
                    </a:p>
                  </a:txBody>
                  <a:tcPr/>
                </a:tc>
                <a:extLst>
                  <a:ext uri="{0D108BD9-81ED-4DB2-BD59-A6C34878D82A}">
                    <a16:rowId xmlns:a16="http://schemas.microsoft.com/office/drawing/2014/main" val="10001"/>
                  </a:ext>
                </a:extLst>
              </a:tr>
              <a:tr h="370840">
                <a:tc>
                  <a:txBody>
                    <a:bodyPr/>
                    <a:lstStyle/>
                    <a:p>
                      <a:r>
                        <a:rPr lang="en-US" dirty="0"/>
                        <a:t>Error</a:t>
                      </a:r>
                    </a:p>
                  </a:txBody>
                  <a:tcPr/>
                </a:tc>
                <a:tc>
                  <a:txBody>
                    <a:bodyPr/>
                    <a:lstStyle/>
                    <a:p>
                      <a:r>
                        <a:rPr lang="en-US" b="0" dirty="0"/>
                        <a:t>27</a:t>
                      </a:r>
                    </a:p>
                  </a:txBody>
                  <a:tcPr/>
                </a:tc>
                <a:tc>
                  <a:txBody>
                    <a:bodyPr/>
                    <a:lstStyle/>
                    <a:p>
                      <a:r>
                        <a:rPr lang="en-US" b="1" dirty="0"/>
                        <a:t>84.67</a:t>
                      </a:r>
                    </a:p>
                  </a:txBody>
                  <a:tcPr/>
                </a:tc>
                <a:tc>
                  <a:txBody>
                    <a:bodyPr/>
                    <a:lstStyle/>
                    <a:p>
                      <a:r>
                        <a:rPr lang="en-US" b="0" dirty="0"/>
                        <a:t>3.14</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2"/>
                  </a:ext>
                </a:extLst>
              </a:tr>
              <a:tr h="370840">
                <a:tc>
                  <a:txBody>
                    <a:bodyPr/>
                    <a:lstStyle/>
                    <a:p>
                      <a:r>
                        <a:rPr lang="en-US" dirty="0"/>
                        <a:t>Total</a:t>
                      </a:r>
                    </a:p>
                  </a:txBody>
                  <a:tcPr/>
                </a:tc>
                <a:tc>
                  <a:txBody>
                    <a:bodyPr/>
                    <a:lstStyle/>
                    <a:p>
                      <a:r>
                        <a:rPr lang="en-US" b="0" dirty="0"/>
                        <a:t>30</a:t>
                      </a:r>
                    </a:p>
                  </a:txBody>
                  <a:tcPr/>
                </a:tc>
                <a:tc>
                  <a:txBody>
                    <a:bodyPr/>
                    <a:lstStyle/>
                    <a:p>
                      <a:r>
                        <a:rPr lang="en-US" b="1" dirty="0"/>
                        <a:t>130.7</a:t>
                      </a:r>
                    </a:p>
                  </a:txBody>
                  <a:tcPr/>
                </a:tc>
                <a:tc>
                  <a:txBody>
                    <a:bodyPr/>
                    <a:lstStyle/>
                    <a:p>
                      <a:endParaRPr lang="en-US" b="1"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609601" y="3269124"/>
                <a:ext cx="9945512" cy="923330"/>
              </a:xfrm>
              <a:prstGeom prst="rect">
                <a:avLst/>
              </a:prstGeom>
              <a:noFill/>
            </p:spPr>
            <p:txBody>
              <a:bodyPr wrap="square" rtlCol="0">
                <a:spAutoFit/>
              </a:bodyPr>
              <a:lstStyle/>
              <a:p>
                <a:r>
                  <a:rPr lang="en-US" b="1" dirty="0"/>
                  <a:t>The evidence suggests that at the alpha = .05 level of significance (p-value = .0077) that the slope is different for at least one of the high-school classifications.  (At least one of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𝜷</m:t>
                        </m:r>
                      </m:e>
                      <m:sub>
                        <m:r>
                          <a:rPr lang="en-US" b="1" i="1">
                            <a:latin typeface="Cambria Math"/>
                            <a:ea typeface="Cambria Math"/>
                          </a:rPr>
                          <m:t>𝟓</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𝜷</m:t>
                        </m:r>
                      </m:e>
                      <m:sub>
                        <m:r>
                          <a:rPr lang="en-US" b="1" i="1">
                            <a:latin typeface="Cambria Math"/>
                            <a:ea typeface="Cambria Math"/>
                          </a:rPr>
                          <m:t>𝟔</m:t>
                        </m:r>
                      </m:sub>
                    </m:sSub>
                  </m:oMath>
                </a14:m>
                <a:r>
                  <a:rPr lang="en-US" b="1"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a:ea typeface="Cambria Math"/>
                          </a:rPr>
                          <m:t>𝜷</m:t>
                        </m:r>
                      </m:e>
                      <m:sub>
                        <m:r>
                          <a:rPr lang="en-US" b="1" i="1">
                            <a:latin typeface="Cambria Math"/>
                            <a:ea typeface="Cambria Math"/>
                          </a:rPr>
                          <m:t>𝟕</m:t>
                        </m:r>
                      </m:sub>
                    </m:sSub>
                  </m:oMath>
                </a14:m>
                <a:r>
                  <a:rPr lang="en-US" b="1" dirty="0"/>
                  <a:t> is nonzero; at least one of the interactions terms is significant.)</a:t>
                </a:r>
              </a:p>
            </p:txBody>
          </p:sp>
        </mc:Choice>
        <mc:Fallback xmlns="">
          <p:sp>
            <p:nvSpPr>
              <p:cNvPr id="5" name="TextBox 4"/>
              <p:cNvSpPr txBox="1">
                <a:spLocks noRot="1" noChangeAspect="1" noMove="1" noResize="1" noEditPoints="1" noAdjustHandles="1" noChangeArrowheads="1" noChangeShapeType="1" noTextEdit="1"/>
              </p:cNvSpPr>
              <p:nvPr/>
            </p:nvSpPr>
            <p:spPr>
              <a:xfrm>
                <a:off x="609601" y="3269124"/>
                <a:ext cx="9945512" cy="923330"/>
              </a:xfrm>
              <a:prstGeom prst="rect">
                <a:avLst/>
              </a:prstGeom>
              <a:blipFill>
                <a:blip r:embed="rId2"/>
                <a:stretch>
                  <a:fillRect l="-511" t="-2703" b="-94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04FCDF5-A342-4CCB-8B13-701002015CCE}"/>
                  </a:ext>
                </a:extLst>
              </p:cNvPr>
              <p:cNvSpPr txBox="1"/>
              <p:nvPr/>
            </p:nvSpPr>
            <p:spPr>
              <a:xfrm>
                <a:off x="2189183" y="4600973"/>
                <a:ext cx="7770269" cy="646331"/>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a:p>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5</m:t>
                        </m:r>
                      </m:sub>
                    </m:sSub>
                    <m:r>
                      <a:rPr lang="en-US" i="1">
                        <a:latin typeface="Cambria Math"/>
                      </a:rPr>
                      <m:t>𝐹𝑟𝑒𝑠h𝑚𝑎𝑛</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6</m:t>
                        </m:r>
                      </m:sub>
                    </m:sSub>
                    <m:r>
                      <a:rPr lang="en-US" i="1">
                        <a:latin typeface="Cambria Math"/>
                      </a:rPr>
                      <m:t>𝑆𝑜𝑝h𝑜𝑚𝑜𝑟𝑒</m:t>
                    </m:r>
                    <m:r>
                      <a:rPr lang="en-US" i="1">
                        <a:latin typeface="Cambria Math"/>
                      </a:rPr>
                      <m:t>∗</m:t>
                    </m:r>
                    <m:r>
                      <a:rPr lang="en-US" i="1">
                        <a:latin typeface="Cambria Math"/>
                      </a:rPr>
                      <m:t>𝐺𝑃𝐴</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7</m:t>
                        </m:r>
                      </m:sub>
                    </m:sSub>
                    <m:r>
                      <a:rPr lang="en-US" i="1">
                        <a:latin typeface="Cambria Math"/>
                      </a:rPr>
                      <m:t>𝐽𝑢𝑛𝑖𝑜𝑟</m:t>
                    </m:r>
                    <m:r>
                      <a:rPr lang="en-US" i="1">
                        <a:latin typeface="Cambria Math"/>
                      </a:rPr>
                      <m:t>∗</m:t>
                    </m:r>
                    <m:r>
                      <a:rPr lang="en-US" i="1">
                        <a:latin typeface="Cambria Math"/>
                      </a:rPr>
                      <m:t>𝐺𝑃𝐴</m:t>
                    </m:r>
                  </m:oMath>
                </a14:m>
                <a:endParaRPr lang="en-US" dirty="0"/>
              </a:p>
            </p:txBody>
          </p:sp>
        </mc:Choice>
        <mc:Fallback xmlns="">
          <p:sp>
            <p:nvSpPr>
              <p:cNvPr id="6" name="TextBox 5">
                <a:extLst>
                  <a:ext uri="{FF2B5EF4-FFF2-40B4-BE49-F238E27FC236}">
                    <a16:creationId xmlns:a16="http://schemas.microsoft.com/office/drawing/2014/main" id="{904FCDF5-A342-4CCB-8B13-701002015CCE}"/>
                  </a:ext>
                </a:extLst>
              </p:cNvPr>
              <p:cNvSpPr txBox="1">
                <a:spLocks noRot="1" noChangeAspect="1" noMove="1" noResize="1" noEditPoints="1" noAdjustHandles="1" noChangeArrowheads="1" noChangeShapeType="1" noTextEdit="1"/>
              </p:cNvSpPr>
              <p:nvPr/>
            </p:nvSpPr>
            <p:spPr>
              <a:xfrm>
                <a:off x="2189183" y="4600973"/>
                <a:ext cx="7770269" cy="646331"/>
              </a:xfrm>
              <a:prstGeom prst="rect">
                <a:avLst/>
              </a:prstGeom>
              <a:blipFill>
                <a:blip r:embed="rId3"/>
                <a:stretch>
                  <a:fillRect l="-653" t="-5769" b="-961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2738AD1A-9ABD-4A04-B10A-DC9F0707845E}"/>
              </a:ext>
            </a:extLst>
          </p:cNvPr>
          <p:cNvSpPr txBox="1"/>
          <p:nvPr/>
        </p:nvSpPr>
        <p:spPr>
          <a:xfrm>
            <a:off x="2192004" y="4225616"/>
            <a:ext cx="2895600" cy="369332"/>
          </a:xfrm>
          <a:prstGeom prst="rect">
            <a:avLst/>
          </a:prstGeom>
          <a:noFill/>
        </p:spPr>
        <p:txBody>
          <a:bodyPr wrap="square" rtlCol="0">
            <a:spAutoFit/>
          </a:bodyPr>
          <a:lstStyle/>
          <a:p>
            <a:r>
              <a:rPr lang="en-US" dirty="0"/>
              <a:t>Full Model:</a:t>
            </a:r>
          </a:p>
        </p:txBody>
      </p:sp>
      <p:sp>
        <p:nvSpPr>
          <p:cNvPr id="8" name="TextBox 7">
            <a:extLst>
              <a:ext uri="{FF2B5EF4-FFF2-40B4-BE49-F238E27FC236}">
                <a16:creationId xmlns:a16="http://schemas.microsoft.com/office/drawing/2014/main" id="{7FA5A796-C31D-4092-9086-83E2E61ABFB3}"/>
              </a:ext>
            </a:extLst>
          </p:cNvPr>
          <p:cNvSpPr txBox="1"/>
          <p:nvPr/>
        </p:nvSpPr>
        <p:spPr>
          <a:xfrm>
            <a:off x="2192004" y="5421868"/>
            <a:ext cx="2895600" cy="369332"/>
          </a:xfrm>
          <a:prstGeom prst="rect">
            <a:avLst/>
          </a:prstGeom>
          <a:noFill/>
        </p:spPr>
        <p:txBody>
          <a:bodyPr wrap="square" rtlCol="0">
            <a:spAutoFit/>
          </a:bodyPr>
          <a:lstStyle/>
          <a:p>
            <a:r>
              <a:rPr lang="en-US" dirty="0"/>
              <a:t>Reduced Model:</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9CBDA3-F8ED-4DA4-807F-E4468866FE2D}"/>
                  </a:ext>
                </a:extLst>
              </p:cNvPr>
              <p:cNvSpPr txBox="1"/>
              <p:nvPr/>
            </p:nvSpPr>
            <p:spPr>
              <a:xfrm>
                <a:off x="2189183" y="5830709"/>
                <a:ext cx="7770269" cy="369332"/>
              </a:xfrm>
              <a:prstGeom prst="rect">
                <a:avLst/>
              </a:prstGeom>
              <a:noFill/>
            </p:spPr>
            <p:txBody>
              <a:bodyPr wrap="none" rtlCol="0">
                <a:spAutoFit/>
              </a:bodyPr>
              <a:lstStyle/>
              <a:p>
                <a:r>
                  <a:rPr lang="en-US" dirty="0"/>
                  <a:t>Pred </a:t>
                </a:r>
                <a14:m>
                  <m:oMath xmlns:m="http://schemas.openxmlformats.org/officeDocument/2006/math">
                    <m:r>
                      <a:rPr lang="en-US" i="1">
                        <a:latin typeface="Cambria Math"/>
                      </a:rPr>
                      <m:t>𝑆𝐴𝑇𝑆𝑐𝑜𝑟𝑒</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𝐺𝑃𝐴</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𝐹𝑟𝑒𝑠h𝑚𝑎𝑛</m:t>
                    </m:r>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3</m:t>
                        </m:r>
                      </m:sub>
                    </m:sSub>
                    <m:r>
                      <a:rPr lang="en-US" i="1">
                        <a:latin typeface="Cambria Math"/>
                      </a:rPr>
                      <m:t>𝑆𝑜𝑝h𝑜𝑚𝑜𝑟𝑒</m:t>
                    </m:r>
                  </m:oMath>
                </a14:m>
                <a:r>
                  <a:rPr lang="en-US" dirty="0"/>
                  <a:t> </a:t>
                </a:r>
                <a14:m>
                  <m:oMath xmlns:m="http://schemas.openxmlformats.org/officeDocument/2006/math">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4</m:t>
                        </m:r>
                      </m:sub>
                    </m:sSub>
                    <m:r>
                      <a:rPr lang="en-US" i="1">
                        <a:latin typeface="Cambria Math"/>
                      </a:rPr>
                      <m:t>𝐽𝑢𝑛𝑖𝑜𝑟</m:t>
                    </m:r>
                  </m:oMath>
                </a14:m>
                <a:endParaRPr lang="en-US" i="1" dirty="0">
                  <a:latin typeface="Cambria Math"/>
                </a:endParaRPr>
              </a:p>
            </p:txBody>
          </p:sp>
        </mc:Choice>
        <mc:Fallback xmlns="">
          <p:sp>
            <p:nvSpPr>
              <p:cNvPr id="9" name="TextBox 8">
                <a:extLst>
                  <a:ext uri="{FF2B5EF4-FFF2-40B4-BE49-F238E27FC236}">
                    <a16:creationId xmlns:a16="http://schemas.microsoft.com/office/drawing/2014/main" id="{249CBDA3-F8ED-4DA4-807F-E4468866FE2D}"/>
                  </a:ext>
                </a:extLst>
              </p:cNvPr>
              <p:cNvSpPr txBox="1">
                <a:spLocks noRot="1" noChangeAspect="1" noMove="1" noResize="1" noEditPoints="1" noAdjustHandles="1" noChangeArrowheads="1" noChangeShapeType="1" noTextEdit="1"/>
              </p:cNvSpPr>
              <p:nvPr/>
            </p:nvSpPr>
            <p:spPr>
              <a:xfrm>
                <a:off x="2189183" y="5830709"/>
                <a:ext cx="7770269" cy="369332"/>
              </a:xfrm>
              <a:prstGeom prst="rect">
                <a:avLst/>
              </a:prstGeom>
              <a:blipFill>
                <a:blip r:embed="rId4"/>
                <a:stretch>
                  <a:fillRect l="-653" t="-6452" b="-1935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41C02BD4-A2DB-4AA7-895E-CFF40A96040B}"/>
              </a:ext>
            </a:extLst>
          </p:cNvPr>
          <p:cNvSpPr txBox="1"/>
          <p:nvPr/>
        </p:nvSpPr>
        <p:spPr>
          <a:xfrm>
            <a:off x="1524000" y="2447718"/>
            <a:ext cx="1371600" cy="369332"/>
          </a:xfrm>
          <a:prstGeom prst="rect">
            <a:avLst/>
          </a:prstGeom>
          <a:noFill/>
        </p:spPr>
        <p:txBody>
          <a:bodyPr wrap="square" rtlCol="0">
            <a:spAutoFit/>
          </a:bodyPr>
          <a:lstStyle/>
          <a:p>
            <a:r>
              <a:rPr lang="en-US" dirty="0"/>
              <a:t>Full Model:</a:t>
            </a:r>
          </a:p>
        </p:txBody>
      </p:sp>
      <p:sp>
        <p:nvSpPr>
          <p:cNvPr id="11" name="TextBox 10">
            <a:extLst>
              <a:ext uri="{FF2B5EF4-FFF2-40B4-BE49-F238E27FC236}">
                <a16:creationId xmlns:a16="http://schemas.microsoft.com/office/drawing/2014/main" id="{974A9E2F-2547-4A63-BA36-2EE1F775D7C6}"/>
              </a:ext>
            </a:extLst>
          </p:cNvPr>
          <p:cNvSpPr txBox="1"/>
          <p:nvPr/>
        </p:nvSpPr>
        <p:spPr>
          <a:xfrm>
            <a:off x="914400" y="2880275"/>
            <a:ext cx="2336800" cy="369332"/>
          </a:xfrm>
          <a:prstGeom prst="rect">
            <a:avLst/>
          </a:prstGeom>
          <a:noFill/>
        </p:spPr>
        <p:txBody>
          <a:bodyPr wrap="square" rtlCol="0">
            <a:spAutoFit/>
          </a:bodyPr>
          <a:lstStyle/>
          <a:p>
            <a:r>
              <a:rPr lang="en-US" dirty="0"/>
              <a:t>Reduced Model:</a:t>
            </a:r>
          </a:p>
        </p:txBody>
      </p:sp>
    </p:spTree>
    <p:extLst>
      <p:ext uri="{BB962C8B-B14F-4D97-AF65-F5344CB8AC3E}">
        <p14:creationId xmlns:p14="http://schemas.microsoft.com/office/powerpoint/2010/main" val="18261705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C4CB0-3087-9D43-85D3-6DA36180D5A4}"/>
              </a:ext>
            </a:extLst>
          </p:cNvPr>
          <p:cNvSpPr>
            <a:spLocks noGrp="1"/>
          </p:cNvSpPr>
          <p:nvPr>
            <p:ph type="ctrTitle"/>
          </p:nvPr>
        </p:nvSpPr>
        <p:spPr/>
        <p:txBody>
          <a:bodyPr/>
          <a:lstStyle/>
          <a:p>
            <a:r>
              <a:rPr lang="en-US" dirty="0"/>
              <a:t>Confidence Intervals for</a:t>
            </a:r>
            <a:br>
              <a:rPr lang="en-US" dirty="0"/>
            </a:br>
            <a:r>
              <a:rPr lang="en-US" dirty="0"/>
              <a:t>Linear Combinations of Coefficients</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7419197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Confidence Interval for a Difference in Parameters</a:t>
            </a:r>
          </a:p>
        </p:txBody>
      </p:sp>
      <p:sp>
        <p:nvSpPr>
          <p:cNvPr id="12" name="Content Placeholder 2"/>
          <p:cNvSpPr>
            <a:spLocks noGrp="1"/>
          </p:cNvSpPr>
          <p:nvPr>
            <p:ph idx="1"/>
          </p:nvPr>
        </p:nvSpPr>
        <p:spPr>
          <a:xfrm>
            <a:off x="457200" y="1433673"/>
            <a:ext cx="11125200" cy="395127"/>
          </a:xfrm>
        </p:spPr>
        <p:txBody>
          <a:bodyPr/>
          <a:lstStyle/>
          <a:p>
            <a:r>
              <a:rPr lang="en-US" sz="1400" dirty="0"/>
              <a:t>Find a 95% confidence interval for the difference in the intercept between non-echolocating birds and echolocating bats. </a:t>
            </a:r>
          </a:p>
        </p:txBody>
      </p:sp>
      <p:sp>
        <p:nvSpPr>
          <p:cNvPr id="3" name="Rectangle 2">
            <a:extLst>
              <a:ext uri="{FF2B5EF4-FFF2-40B4-BE49-F238E27FC236}">
                <a16:creationId xmlns:a16="http://schemas.microsoft.com/office/drawing/2014/main" id="{A7E848BC-F5B6-834C-BDDC-4902A45B707B}"/>
              </a:ext>
            </a:extLst>
          </p:cNvPr>
          <p:cNvSpPr/>
          <p:nvPr/>
        </p:nvSpPr>
        <p:spPr>
          <a:xfrm>
            <a:off x="1752600" y="4611108"/>
            <a:ext cx="6096000" cy="1200329"/>
          </a:xfrm>
          <a:prstGeom prst="rect">
            <a:avLst/>
          </a:prstGeom>
        </p:spPr>
        <p:txBody>
          <a:bodyPr>
            <a:spAutoFit/>
          </a:bodyPr>
          <a:lstStyle/>
          <a:p>
            <a:r>
              <a:rPr lang="en-US" b="1" dirty="0">
                <a:solidFill>
                  <a:srgbClr val="000080"/>
                </a:solidFill>
                <a:latin typeface="Helvetica" pitchFamily="2" charset="0"/>
              </a:rPr>
              <a:t>proc</a:t>
            </a:r>
            <a:r>
              <a:rPr lang="en-US" dirty="0">
                <a:latin typeface="Helvetica" pitchFamily="2" charset="0"/>
              </a:rPr>
              <a:t> </a:t>
            </a:r>
            <a:r>
              <a:rPr lang="en-US" b="1" dirty="0" err="1">
                <a:solidFill>
                  <a:srgbClr val="000080"/>
                </a:solidFill>
                <a:latin typeface="Helvetica" pitchFamily="2" charset="0"/>
              </a:rPr>
              <a:t>glm</a:t>
            </a:r>
            <a:r>
              <a:rPr lang="en-US" dirty="0">
                <a:latin typeface="Helvetica" pitchFamily="2" charset="0"/>
              </a:rPr>
              <a:t> </a:t>
            </a:r>
            <a:r>
              <a:rPr lang="en-US" dirty="0">
                <a:solidFill>
                  <a:srgbClr val="0000FF"/>
                </a:solidFill>
                <a:latin typeface="Helvetica" pitchFamily="2" charset="0"/>
              </a:rPr>
              <a:t>data</a:t>
            </a:r>
            <a:r>
              <a:rPr lang="en-US" dirty="0">
                <a:latin typeface="Helvetica" pitchFamily="2" charset="0"/>
              </a:rPr>
              <a:t> = echolocation;</a:t>
            </a:r>
          </a:p>
          <a:p>
            <a:r>
              <a:rPr lang="en-US" dirty="0">
                <a:solidFill>
                  <a:srgbClr val="0000FF"/>
                </a:solidFill>
                <a:latin typeface="Helvetica" pitchFamily="2" charset="0"/>
              </a:rPr>
              <a:t>class</a:t>
            </a:r>
            <a:r>
              <a:rPr lang="en-US" dirty="0">
                <a:latin typeface="Helvetica" pitchFamily="2" charset="0"/>
              </a:rPr>
              <a:t> type (ref = </a:t>
            </a:r>
            <a:r>
              <a:rPr lang="en-US" dirty="0">
                <a:solidFill>
                  <a:srgbClr val="800080"/>
                </a:solidFill>
                <a:latin typeface="Helvetica" pitchFamily="2" charset="0"/>
              </a:rPr>
              <a:t>"</a:t>
            </a:r>
            <a:r>
              <a:rPr lang="en-US" dirty="0" err="1">
                <a:solidFill>
                  <a:srgbClr val="800080"/>
                </a:solidFill>
                <a:latin typeface="Helvetica" pitchFamily="2" charset="0"/>
              </a:rPr>
              <a:t>banon-ec</a:t>
            </a:r>
            <a:r>
              <a:rPr lang="en-US" dirty="0">
                <a:solidFill>
                  <a:srgbClr val="800080"/>
                </a:solidFill>
                <a:latin typeface="Helvetica" pitchFamily="2" charset="0"/>
              </a:rPr>
              <a:t>"</a:t>
            </a:r>
            <a:r>
              <a:rPr lang="en-US" dirty="0">
                <a:latin typeface="Helvetica" pitchFamily="2" charset="0"/>
              </a:rPr>
              <a:t>);</a:t>
            </a:r>
          </a:p>
          <a:p>
            <a:r>
              <a:rPr lang="en-US" dirty="0">
                <a:solidFill>
                  <a:srgbClr val="0000FF"/>
                </a:solidFill>
                <a:latin typeface="Helvetica" pitchFamily="2" charset="0"/>
              </a:rPr>
              <a:t>model</a:t>
            </a:r>
            <a:r>
              <a:rPr lang="en-US" dirty="0">
                <a:latin typeface="Helvetica" pitchFamily="2" charset="0"/>
              </a:rPr>
              <a:t> </a:t>
            </a:r>
            <a:r>
              <a:rPr lang="en-US" dirty="0" err="1">
                <a:latin typeface="Helvetica" pitchFamily="2" charset="0"/>
              </a:rPr>
              <a:t>lenergy</a:t>
            </a:r>
            <a:r>
              <a:rPr lang="en-US" dirty="0">
                <a:latin typeface="Helvetica" pitchFamily="2" charset="0"/>
              </a:rPr>
              <a:t> = </a:t>
            </a:r>
            <a:r>
              <a:rPr lang="en-US" dirty="0" err="1">
                <a:latin typeface="Helvetica" pitchFamily="2" charset="0"/>
              </a:rPr>
              <a:t>lmass</a:t>
            </a:r>
            <a:r>
              <a:rPr lang="en-US" dirty="0">
                <a:latin typeface="Helvetica" pitchFamily="2" charset="0"/>
              </a:rPr>
              <a:t> | type /</a:t>
            </a:r>
            <a:r>
              <a:rPr lang="en-US" dirty="0">
                <a:solidFill>
                  <a:srgbClr val="0000FF"/>
                </a:solidFill>
                <a:latin typeface="Helvetica" pitchFamily="2" charset="0"/>
              </a:rPr>
              <a:t>solution</a:t>
            </a:r>
            <a:r>
              <a:rPr lang="en-US" dirty="0">
                <a:latin typeface="Helvetica" pitchFamily="2" charset="0"/>
              </a:rPr>
              <a:t>;</a:t>
            </a:r>
          </a:p>
          <a:p>
            <a:r>
              <a:rPr lang="en-US" b="1" dirty="0">
                <a:solidFill>
                  <a:srgbClr val="000080"/>
                </a:solidFill>
                <a:latin typeface="Helvetica" pitchFamily="2" charset="0"/>
              </a:rPr>
              <a:t>run</a:t>
            </a:r>
            <a:r>
              <a:rPr lang="en-US" dirty="0">
                <a:solidFill>
                  <a:srgbClr val="000000"/>
                </a:solidFill>
                <a:latin typeface="Helvetica" pitchFamily="2" charset="0"/>
              </a:rPr>
              <a:t>;</a:t>
            </a:r>
            <a:endParaRPr lang="en-US" dirty="0">
              <a:solidFill>
                <a:srgbClr val="000080"/>
              </a:solidFill>
              <a:effectLst/>
              <a:latin typeface="Helvetica" pitchFamily="2" charset="0"/>
            </a:endParaRPr>
          </a:p>
        </p:txBody>
      </p:sp>
      <p:pic>
        <p:nvPicPr>
          <p:cNvPr id="4" name="Picture 3">
            <a:extLst>
              <a:ext uri="{FF2B5EF4-FFF2-40B4-BE49-F238E27FC236}">
                <a16:creationId xmlns:a16="http://schemas.microsoft.com/office/drawing/2014/main" id="{8F3EDDAC-F72C-D04D-A387-3005306B2EA0}"/>
              </a:ext>
            </a:extLst>
          </p:cNvPr>
          <p:cNvPicPr>
            <a:picLocks noChangeAspect="1"/>
          </p:cNvPicPr>
          <p:nvPr/>
        </p:nvPicPr>
        <p:blipFill>
          <a:blip r:embed="rId3"/>
          <a:stretch>
            <a:fillRect/>
          </a:stretch>
        </p:blipFill>
        <p:spPr>
          <a:xfrm>
            <a:off x="6096000" y="4315374"/>
            <a:ext cx="3886200" cy="1834362"/>
          </a:xfrm>
          <a:prstGeom prst="rect">
            <a:avLst/>
          </a:prstGeom>
        </p:spPr>
      </p:pic>
      <p:sp>
        <p:nvSpPr>
          <p:cNvPr id="5" name="Left Brace 4">
            <a:extLst>
              <a:ext uri="{FF2B5EF4-FFF2-40B4-BE49-F238E27FC236}">
                <a16:creationId xmlns:a16="http://schemas.microsoft.com/office/drawing/2014/main" id="{3AA05800-325F-E345-A6C7-D76DBD247572}"/>
              </a:ext>
            </a:extLst>
          </p:cNvPr>
          <p:cNvSpPr/>
          <p:nvPr/>
        </p:nvSpPr>
        <p:spPr>
          <a:xfrm>
            <a:off x="5943600" y="5354009"/>
            <a:ext cx="152400" cy="457314"/>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Left Brace 12">
            <a:extLst>
              <a:ext uri="{FF2B5EF4-FFF2-40B4-BE49-F238E27FC236}">
                <a16:creationId xmlns:a16="http://schemas.microsoft.com/office/drawing/2014/main" id="{09D488C5-0991-F34A-A4E7-519D2E6884BD}"/>
              </a:ext>
            </a:extLst>
          </p:cNvPr>
          <p:cNvSpPr/>
          <p:nvPr/>
        </p:nvSpPr>
        <p:spPr>
          <a:xfrm>
            <a:off x="8001000" y="5335061"/>
            <a:ext cx="152400" cy="457314"/>
          </a:xfrm>
          <a:prstGeom prst="leftBrace">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1EFB1F1-C5E7-C24A-A3DC-5288C71CE574}"/>
                  </a:ext>
                </a:extLst>
              </p:cNvPr>
              <p:cNvSpPr/>
              <p:nvPr/>
            </p:nvSpPr>
            <p:spPr>
              <a:xfrm>
                <a:off x="645695" y="7010400"/>
                <a:ext cx="12420600" cy="3169329"/>
              </a:xfrm>
              <a:prstGeom prst="rect">
                <a:avLst/>
              </a:prstGeom>
            </p:spPr>
            <p:txBody>
              <a:bodyPr wrap="square">
                <a:spAutoFit/>
              </a:bodyPr>
              <a:lstStyle/>
              <a:p>
                <a:r>
                  <a:rPr lang="en-US" dirty="0"/>
                  <a:t>To do this, we must first find the SE:</a:t>
                </a:r>
              </a:p>
              <a:p>
                <a:pPr indent="0" algn="ctr">
                  <a:buNone/>
                </a:pPr>
                <a14:m>
                  <m:oMathPara xmlns:m="http://schemas.openxmlformats.org/officeDocument/2006/math">
                    <m:oMathParaPr>
                      <m:jc m:val="left"/>
                    </m:oMathParaPr>
                    <m:oMath xmlns:m="http://schemas.openxmlformats.org/officeDocument/2006/math">
                      <m:r>
                        <a:rPr lang="en-US" i="1">
                          <a:latin typeface="Cambria Math"/>
                        </a:rPr>
                        <m:t>𝑉𝑎𝑟</m:t>
                      </m:r>
                      <m:r>
                        <a:rPr lang="en-US" i="1">
                          <a:latin typeface="Cambria Math"/>
                        </a:rPr>
                        <m:t> </m:t>
                      </m:r>
                      <m:d>
                        <m:dPr>
                          <m:ctrlPr>
                            <a:rPr lang="en-US" i="1">
                              <a:latin typeface="Cambria Math" panose="02040503050406030204" pitchFamily="18" charset="0"/>
                            </a:rPr>
                          </m:ctrlPr>
                        </m:dPr>
                        <m:e>
                          <m:r>
                            <a:rPr lang="en-US" i="1">
                              <a:latin typeface="Cambria Math" charset="0"/>
                            </a:rPr>
                            <m:t>𝑎𝑋</m:t>
                          </m:r>
                          <m:r>
                            <a:rPr lang="en-US" i="1">
                              <a:latin typeface="Cambria Math" charset="0"/>
                            </a:rPr>
                            <m:t>+</m:t>
                          </m:r>
                          <m:r>
                            <a:rPr lang="en-US" i="1">
                              <a:latin typeface="Cambria Math" charset="0"/>
                            </a:rPr>
                            <m:t>𝑏𝑌</m:t>
                          </m:r>
                        </m:e>
                      </m:d>
                      <m:r>
                        <a:rPr lang="en-US" i="1">
                          <a:latin typeface="Cambria Math"/>
                        </a:rPr>
                        <m:t>=</m:t>
                      </m:r>
                      <m:r>
                        <a:rPr lang="en-US" i="1">
                          <a:latin typeface="Cambria Math" charset="0"/>
                        </a:rPr>
                        <m:t>𝑎</m:t>
                      </m:r>
                      <m:r>
                        <a:rPr lang="en-US" i="1" baseline="30000">
                          <a:latin typeface="Cambria Math" charset="0"/>
                        </a:rPr>
                        <m:t>2</m:t>
                      </m:r>
                      <m:r>
                        <a:rPr lang="en-US" i="1">
                          <a:latin typeface="Cambria Math"/>
                        </a:rPr>
                        <m:t>𝑉𝑎𝑟</m:t>
                      </m:r>
                      <m:d>
                        <m:dPr>
                          <m:ctrlPr>
                            <a:rPr lang="en-US" i="1">
                              <a:latin typeface="Cambria Math" panose="02040503050406030204" pitchFamily="18" charset="0"/>
                            </a:rPr>
                          </m:ctrlPr>
                        </m:dPr>
                        <m:e>
                          <m:r>
                            <a:rPr lang="en-US" i="1">
                              <a:latin typeface="Cambria Math" charset="0"/>
                            </a:rPr>
                            <m:t>𝑋</m:t>
                          </m:r>
                        </m:e>
                      </m:d>
                      <m:r>
                        <a:rPr lang="en-US" i="1">
                          <a:latin typeface="Cambria Math"/>
                        </a:rPr>
                        <m:t>+</m:t>
                      </m:r>
                      <m:r>
                        <a:rPr lang="en-US" i="1">
                          <a:latin typeface="Cambria Math" charset="0"/>
                        </a:rPr>
                        <m:t>𝑏</m:t>
                      </m:r>
                      <m:r>
                        <a:rPr lang="en-US" i="1" baseline="30000">
                          <a:latin typeface="Cambria Math" charset="0"/>
                        </a:rPr>
                        <m:t>2</m:t>
                      </m:r>
                      <m:r>
                        <a:rPr lang="en-US" i="1">
                          <a:latin typeface="Cambria Math"/>
                        </a:rPr>
                        <m:t>𝑉𝑎𝑟</m:t>
                      </m:r>
                      <m:d>
                        <m:dPr>
                          <m:ctrlPr>
                            <a:rPr lang="en-US" i="1">
                              <a:latin typeface="Cambria Math" panose="02040503050406030204" pitchFamily="18" charset="0"/>
                            </a:rPr>
                          </m:ctrlPr>
                        </m:dPr>
                        <m:e>
                          <m:r>
                            <a:rPr lang="en-US" i="1">
                              <a:latin typeface="Cambria Math" charset="0"/>
                            </a:rPr>
                            <m:t>𝑌</m:t>
                          </m:r>
                        </m:e>
                      </m:d>
                      <m:r>
                        <a:rPr lang="en-US" i="1">
                          <a:latin typeface="Cambria Math" charset="0"/>
                          <a:ea typeface="Cambria Math"/>
                        </a:rPr>
                        <m:t>+</m:t>
                      </m:r>
                      <m:r>
                        <a:rPr lang="en-US" i="1">
                          <a:latin typeface="Cambria Math"/>
                        </a:rPr>
                        <m:t>2</m:t>
                      </m:r>
                      <m:r>
                        <a:rPr lang="en-US" i="1">
                          <a:latin typeface="Cambria Math" charset="0"/>
                        </a:rPr>
                        <m:t>𝑎𝑏</m:t>
                      </m:r>
                      <m:r>
                        <a:rPr lang="en-US" i="1">
                          <a:latin typeface="Cambria Math"/>
                        </a:rPr>
                        <m:t>𝐶𝑜𝑣</m:t>
                      </m:r>
                      <m:r>
                        <a:rPr lang="en-US" i="1">
                          <a:latin typeface="Cambria Math"/>
                        </a:rPr>
                        <m:t>(</m:t>
                      </m:r>
                      <m:r>
                        <a:rPr lang="en-US" i="1">
                          <a:latin typeface="Cambria Math" charset="0"/>
                        </a:rPr>
                        <m:t>𝑋</m:t>
                      </m:r>
                      <m:r>
                        <a:rPr lang="en-US" i="1">
                          <a:latin typeface="Cambria Math"/>
                        </a:rPr>
                        <m:t>,</m:t>
                      </m:r>
                      <m:r>
                        <a:rPr lang="en-US" i="1">
                          <a:latin typeface="Cambria Math" charset="0"/>
                        </a:rPr>
                        <m:t>𝑌</m:t>
                      </m:r>
                      <m:r>
                        <a:rPr lang="en-US" i="1">
                          <a:latin typeface="Cambria Math"/>
                        </a:rPr>
                        <m:t>)</m:t>
                      </m:r>
                    </m:oMath>
                  </m:oMathPara>
                </a14:m>
                <a:endParaRPr lang="en-US" dirty="0"/>
              </a:p>
              <a:p>
                <a:r>
                  <a:rPr lang="en-US" dirty="0"/>
                  <a:t>Where X and Y are random variables (not necessarily independent) and the Cov(X,Y) is simply a measure of how X and Y move together linearly.</a:t>
                </a:r>
              </a:p>
              <a:p>
                <a:r>
                  <a:rPr lang="en-US" dirty="0"/>
                  <a:t>Consider the regression equation:</a:t>
                </a:r>
              </a:p>
              <a:p>
                <a:pPr indent="342900" algn="ctr"/>
                <a14:m>
                  <m:oMath xmlns:m="http://schemas.openxmlformats.org/officeDocument/2006/math">
                    <m:acc>
                      <m:accPr>
                        <m:chr m:val="̂"/>
                        <m:ctrlPr>
                          <a:rPr lang="en-US" i="1">
                            <a:latin typeface="Cambria Math" panose="02040503050406030204" pitchFamily="18" charset="0"/>
                          </a:rPr>
                        </m:ctrlPr>
                      </m:accPr>
                      <m:e>
                        <m:r>
                          <a:rPr lang="en-US" i="1">
                            <a:latin typeface="Cambria Math" charset="0"/>
                          </a:rPr>
                          <m:t>𝑙𝑒𝑛𝑒𝑟𝑔𝑦</m:t>
                        </m:r>
                      </m:e>
                    </m:acc>
                    <m:r>
                      <a:rPr lang="en-US" i="1">
                        <a:latin typeface="Cambria Math"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rPr>
                          <m:t>0</m:t>
                        </m:r>
                      </m:sub>
                    </m:sSub>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1</m:t>
                        </m:r>
                      </m:sub>
                    </m:sSub>
                    <m:r>
                      <a:rPr lang="en-US" i="1">
                        <a:latin typeface="Cambria Math" charset="0"/>
                      </a:rPr>
                      <m:t>𝑙𝑚𝑎𝑠𝑠</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2</m:t>
                        </m:r>
                      </m:sub>
                    </m:sSub>
                    <m:r>
                      <a:rPr lang="en-US" i="1">
                        <a:latin typeface="Cambria Math" charset="0"/>
                        <a:ea typeface="Cambria Math"/>
                      </a:rPr>
                      <m:t>𝑏𝑖𝑟𝑑</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3</m:t>
                        </m:r>
                      </m:sub>
                    </m:sSub>
                    <m:r>
                      <a:rPr lang="en-US" i="1">
                        <a:latin typeface="Cambria Math" charset="0"/>
                        <a:ea typeface="Cambria Math"/>
                      </a:rPr>
                      <m:t>𝑒𝑏𝑎𝑡</m:t>
                    </m:r>
                  </m:oMath>
                </a14:m>
                <a:endParaRPr lang="en-US" dirty="0"/>
              </a:p>
              <a:p>
                <a:r>
                  <a:rPr lang="en-US" dirty="0"/>
                  <a:t>Individual regression equations for each relevant value of TYPE:</a:t>
                </a:r>
              </a:p>
              <a:p>
                <a:pPr indent="0" algn="ctr">
                  <a:buNone/>
                </a:pPr>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𝒃𝒊𝒓𝒅𝒔</m:t>
                    </m:r>
                    <m:r>
                      <a:rPr lang="en-US" i="1">
                        <a:latin typeface="Cambria Math" charset="0"/>
                        <a:ea typeface="Cambria Math" charset="0"/>
                        <a:cs typeface="Cambria Math" charset="0"/>
                      </a:rPr>
                      <m:t>}=</m:t>
                    </m:r>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𝟐</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intercept =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𝟐</m:t>
                        </m:r>
                      </m:sub>
                    </m:sSub>
                  </m:oMath>
                </a14:m>
                <a:endParaRPr lang="en-US" i="1" dirty="0"/>
              </a:p>
              <a:p>
                <a:pPr indent="0" algn="ctr">
                  <a:buNone/>
                </a:pPr>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𝒆𝒃𝒂𝒕</m:t>
                    </m:r>
                    <m:r>
                      <a:rPr lang="en-US" i="1">
                        <a:latin typeface="Cambria Math" charset="0"/>
                        <a:ea typeface="Cambria Math" charset="0"/>
                        <a:cs typeface="Cambria Math" charset="0"/>
                      </a:rPr>
                      <m:t>}=</m:t>
                    </m:r>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𝟑</m:t>
                        </m:r>
                      </m:sub>
                    </m:sSub>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 intercept =</a:t>
                </a:r>
                <a:r>
                  <a:rPr lang="en-US" b="1" dirty="0">
                    <a:ea typeface="Cambria Math" charset="0"/>
                    <a:cs typeface="Cambria Math" charset="0"/>
                  </a:rPr>
                  <a:t>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𝟑</m:t>
                        </m:r>
                      </m:sub>
                    </m:sSub>
                  </m:oMath>
                </a14:m>
                <a:endParaRPr lang="en-US" i="1" dirty="0">
                  <a:ea typeface="Cambria Math" charset="0"/>
                  <a:cs typeface="Cambria Math" charset="0"/>
                </a:endParaRPr>
              </a:p>
              <a:p>
                <a:r>
                  <a:rPr lang="en-US" dirty="0"/>
                  <a:t>The difference in estimate intercepts between the birds and the echolating bats:</a:t>
                </a:r>
              </a:p>
              <a:p>
                <a:pPr indent="0" algn="ctr">
                  <a:buNone/>
                </a:pPr>
                <a:r>
                  <a:rPr lang="en-US" dirty="0"/>
                  <a:t>[</a:t>
                </a:r>
                <a14:m>
                  <m:oMath xmlns:m="http://schemas.openxmlformats.org/officeDocument/2006/math">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panose="02040503050406030204" pitchFamily="18" charset="0"/>
                        <a:ea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a:rPr>
                          <m:t>0</m:t>
                        </m:r>
                      </m:sub>
                    </m:sSub>
                    <m:r>
                      <a:rPr lang="en-US" i="1">
                        <a:latin typeface="Cambria Math" panose="02040503050406030204" pitchFamily="18" charset="0"/>
                        <a:ea typeface="Cambria Math"/>
                      </a:rPr>
                      <m:t>)</m:t>
                    </m:r>
                    <m:r>
                      <a:rPr lang="en-US" i="1">
                        <a:latin typeface="Cambria Math" charset="0"/>
                      </a:rPr>
                      <m:t>−</m:t>
                    </m:r>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0</m:t>
                        </m:r>
                      </m:sub>
                    </m:sSub>
                    <m:r>
                      <a:rPr lang="en-US" i="1">
                        <a:latin typeface="Cambria Math" panose="02040503050406030204" pitchFamily="18" charset="0"/>
                        <a:ea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a:rPr>
                      <m:t>)</m:t>
                    </m:r>
                  </m:oMath>
                </a14:m>
                <a:r>
                  <a:rPr lang="en-US" dirty="0"/>
                  <a:t>] = </a:t>
                </a:r>
                <a14:m>
                  <m:oMath xmlns:m="http://schemas.openxmlformats.org/officeDocument/2006/math">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a:rPr>
                      <m:t>)</m:t>
                    </m:r>
                  </m:oMath>
                </a14:m>
                <a:endParaRPr lang="en-US" dirty="0"/>
              </a:p>
            </p:txBody>
          </p:sp>
        </mc:Choice>
        <mc:Fallback xmlns="">
          <p:sp>
            <p:nvSpPr>
              <p:cNvPr id="6" name="Rectangle 5">
                <a:extLst>
                  <a:ext uri="{FF2B5EF4-FFF2-40B4-BE49-F238E27FC236}">
                    <a16:creationId xmlns:a16="http://schemas.microsoft.com/office/drawing/2014/main" id="{E1EFB1F1-C5E7-C24A-A3DC-5288C71CE574}"/>
                  </a:ext>
                </a:extLst>
              </p:cNvPr>
              <p:cNvSpPr>
                <a:spLocks noRot="1" noChangeAspect="1" noMove="1" noResize="1" noEditPoints="1" noAdjustHandles="1" noChangeArrowheads="1" noChangeShapeType="1" noTextEdit="1"/>
              </p:cNvSpPr>
              <p:nvPr/>
            </p:nvSpPr>
            <p:spPr>
              <a:xfrm>
                <a:off x="645695" y="7010400"/>
                <a:ext cx="12420600" cy="3169329"/>
              </a:xfrm>
              <a:prstGeom prst="rect">
                <a:avLst/>
              </a:prstGeom>
              <a:blipFill>
                <a:blip r:embed="rId4"/>
                <a:stretch>
                  <a:fillRect l="-306" t="-800" b="-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F6C8E56-BF0F-BE44-A3E5-249DBC908F1E}"/>
                  </a:ext>
                </a:extLst>
              </p:cNvPr>
              <p:cNvSpPr/>
              <p:nvPr/>
            </p:nvSpPr>
            <p:spPr>
              <a:xfrm>
                <a:off x="3581161" y="1739191"/>
                <a:ext cx="4901342" cy="384336"/>
              </a:xfrm>
              <a:prstGeom prst="rect">
                <a:avLst/>
              </a:prstGeom>
            </p:spPr>
            <p:txBody>
              <a:bodyPr wrap="none">
                <a:spAutoFit/>
              </a:bodyPr>
              <a:lstStyle/>
              <a:p>
                <a:pPr indent="342900" algn="ctr"/>
                <a14:m>
                  <m:oMath xmlns:m="http://schemas.openxmlformats.org/officeDocument/2006/math">
                    <m:acc>
                      <m:accPr>
                        <m:chr m:val="̂"/>
                        <m:ctrlPr>
                          <a:rPr lang="en-US" i="1">
                            <a:latin typeface="Cambria Math" panose="02040503050406030204" pitchFamily="18" charset="0"/>
                          </a:rPr>
                        </m:ctrlPr>
                      </m:accPr>
                      <m:e>
                        <m:r>
                          <a:rPr lang="en-US" i="1">
                            <a:latin typeface="Cambria Math" charset="0"/>
                          </a:rPr>
                          <m:t>𝑙𝑒𝑛𝑒𝑟𝑔𝑦</m:t>
                        </m:r>
                      </m:e>
                    </m:acc>
                    <m:r>
                      <a:rPr lang="en-US" i="1">
                        <a:latin typeface="Cambria Math"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rPr>
                          <m:t>0</m:t>
                        </m:r>
                      </m:sub>
                    </m:sSub>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1</m:t>
                        </m:r>
                      </m:sub>
                    </m:sSub>
                    <m:r>
                      <a:rPr lang="en-US" i="1">
                        <a:latin typeface="Cambria Math" charset="0"/>
                      </a:rPr>
                      <m:t>𝑙𝑚𝑎𝑠𝑠</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2</m:t>
                        </m:r>
                      </m:sub>
                    </m:sSub>
                    <m:r>
                      <a:rPr lang="en-US" i="1">
                        <a:latin typeface="Cambria Math" charset="0"/>
                        <a:ea typeface="Cambria Math"/>
                      </a:rPr>
                      <m:t>𝑏𝑖𝑟𝑑</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3</m:t>
                        </m:r>
                      </m:sub>
                    </m:sSub>
                    <m:r>
                      <a:rPr lang="en-US" i="1">
                        <a:latin typeface="Cambria Math" charset="0"/>
                        <a:ea typeface="Cambria Math"/>
                      </a:rPr>
                      <m:t>𝑒𝑏𝑎𝑡</m:t>
                    </m:r>
                  </m:oMath>
                </a14:m>
                <a:endParaRPr lang="en-US" dirty="0"/>
              </a:p>
            </p:txBody>
          </p:sp>
        </mc:Choice>
        <mc:Fallback xmlns="">
          <p:sp>
            <p:nvSpPr>
              <p:cNvPr id="14" name="Rectangle 13">
                <a:extLst>
                  <a:ext uri="{FF2B5EF4-FFF2-40B4-BE49-F238E27FC236}">
                    <a16:creationId xmlns:a16="http://schemas.microsoft.com/office/drawing/2014/main" id="{0F6C8E56-BF0F-BE44-A3E5-249DBC908F1E}"/>
                  </a:ext>
                </a:extLst>
              </p:cNvPr>
              <p:cNvSpPr>
                <a:spLocks noRot="1" noChangeAspect="1" noMove="1" noResize="1" noEditPoints="1" noAdjustHandles="1" noChangeArrowheads="1" noChangeShapeType="1" noTextEdit="1"/>
              </p:cNvSpPr>
              <p:nvPr/>
            </p:nvSpPr>
            <p:spPr>
              <a:xfrm>
                <a:off x="3581161" y="1739191"/>
                <a:ext cx="4901342" cy="384336"/>
              </a:xfrm>
              <a:prstGeom prst="rect">
                <a:avLst/>
              </a:prstGeom>
              <a:blipFill>
                <a:blip r:embed="rId5"/>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88878A1-F706-9B47-9475-3741E457639C}"/>
                  </a:ext>
                </a:extLst>
              </p:cNvPr>
              <p:cNvSpPr/>
              <p:nvPr/>
            </p:nvSpPr>
            <p:spPr>
              <a:xfrm>
                <a:off x="1447800" y="2152319"/>
                <a:ext cx="9296400" cy="1914307"/>
              </a:xfrm>
              <a:prstGeom prst="rect">
                <a:avLst/>
              </a:prstGeom>
            </p:spPr>
            <p:txBody>
              <a:bodyPr wrap="square">
                <a:spAutoFit/>
              </a:bodyPr>
              <a:lstStyle/>
              <a:p>
                <a:r>
                  <a:rPr lang="en-US" dirty="0"/>
                  <a:t>Individual regression equations for each relevant value of TYPE:</a:t>
                </a:r>
              </a:p>
              <a:p>
                <a:pPr indent="0" algn="ctr">
                  <a:buNone/>
                </a:pPr>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𝒃𝒊𝒓𝒅𝒔</m:t>
                    </m:r>
                    <m:r>
                      <a:rPr lang="en-US" i="1">
                        <a:latin typeface="Cambria Math" charset="0"/>
                        <a:ea typeface="Cambria Math" charset="0"/>
                        <a:cs typeface="Cambria Math" charset="0"/>
                      </a:rPr>
                      <m:t>}=</m:t>
                    </m:r>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𝟐</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intercept =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𝟐</m:t>
                        </m:r>
                      </m:sub>
                    </m:sSub>
                  </m:oMath>
                </a14:m>
                <a:endParaRPr lang="en-US" i="1" dirty="0"/>
              </a:p>
              <a:p>
                <a:pPr indent="0" algn="ctr">
                  <a:buNone/>
                </a:pPr>
                <a14:m>
                  <m:oMath xmlns:m="http://schemas.openxmlformats.org/officeDocument/2006/math">
                    <m:r>
                      <a:rPr lang="en-US" i="1">
                        <a:latin typeface="Cambria Math" charset="0"/>
                        <a:ea typeface="Cambria Math" charset="0"/>
                        <a:cs typeface="Cambria Math" charset="0"/>
                      </a:rPr>
                      <m:t>𝜇</m:t>
                    </m:r>
                    <m:d>
                      <m:dPr>
                        <m:begChr m:val="{"/>
                        <m:endChr m:val="|"/>
                        <m:ctrlPr>
                          <a:rPr lang="en-US" i="1">
                            <a:latin typeface="Cambria Math" panose="02040503050406030204" pitchFamily="18" charset="0"/>
                            <a:ea typeface="Cambria Math" charset="0"/>
                            <a:cs typeface="Cambria Math" charset="0"/>
                          </a:rPr>
                        </m:ctrlPr>
                      </m:dPr>
                      <m:e>
                        <m:r>
                          <a:rPr lang="en-US" i="1">
                            <a:latin typeface="Cambria Math" charset="0"/>
                            <a:ea typeface="Cambria Math" charset="0"/>
                            <a:cs typeface="Cambria Math" charset="0"/>
                          </a:rPr>
                          <m:t>𝑙𝑒𝑛𝑒𝑟</m:t>
                        </m:r>
                        <m:r>
                          <a:rPr lang="en-US" i="1">
                            <a:latin typeface="Cambria Math" panose="02040503050406030204" pitchFamily="18" charset="0"/>
                            <a:ea typeface="Cambria Math" charset="0"/>
                            <a:cs typeface="Cambria Math" charset="0"/>
                          </a:rPr>
                          <m:t>𝑔</m:t>
                        </m:r>
                        <m:r>
                          <a:rPr lang="en-US" i="1">
                            <a:latin typeface="Cambria Math" charset="0"/>
                            <a:ea typeface="Cambria Math" charset="0"/>
                            <a:cs typeface="Cambria Math" charset="0"/>
                          </a:rPr>
                          <m:t>𝑦</m:t>
                        </m:r>
                        <m:r>
                          <a:rPr lang="en-US" i="1">
                            <a:latin typeface="Cambria Math" charset="0"/>
                            <a:ea typeface="Cambria Math" charset="0"/>
                            <a:cs typeface="Cambria Math" charset="0"/>
                          </a:rPr>
                          <m:t> </m:t>
                        </m:r>
                      </m:e>
                    </m:d>
                    <m:r>
                      <a:rPr lang="en-US" i="1">
                        <a:latin typeface="Cambria Math" charset="0"/>
                        <a:ea typeface="Cambria Math" charset="0"/>
                        <a:cs typeface="Cambria Math" charset="0"/>
                      </a:rPr>
                      <m:t>𝑙𝑚𝑎𝑠𝑠</m:t>
                    </m:r>
                    <m:r>
                      <a:rPr lang="en-US" i="1">
                        <a:latin typeface="Cambria Math" charset="0"/>
                        <a:ea typeface="Cambria Math" charset="0"/>
                        <a:cs typeface="Cambria Math" charset="0"/>
                      </a:rPr>
                      <m:t>, </m:t>
                    </m:r>
                    <m:r>
                      <a:rPr lang="en-US" i="1">
                        <a:latin typeface="Cambria Math" charset="0"/>
                        <a:ea typeface="Cambria Math" charset="0"/>
                        <a:cs typeface="Cambria Math" charset="0"/>
                      </a:rPr>
                      <m:t>𝑇𝑌𝑃𝐸</m:t>
                    </m:r>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𝒆𝒃𝒂𝒕</m:t>
                    </m:r>
                    <m:r>
                      <a:rPr lang="en-US" i="1">
                        <a:latin typeface="Cambria Math" charset="0"/>
                        <a:ea typeface="Cambria Math" charset="0"/>
                        <a:cs typeface="Cambria Math" charset="0"/>
                      </a:rPr>
                      <m:t>}=</m:t>
                    </m:r>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charset="0"/>
                            <a:ea typeface="Cambria Math" charset="0"/>
                            <a:cs typeface="Cambria Math" charset="0"/>
                          </a:rPr>
                          <m:t>𝟎</m:t>
                        </m:r>
                      </m:sub>
                    </m:sSub>
                    <m:r>
                      <a:rPr lang="en-US" b="1"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𝟑</m:t>
                        </m:r>
                      </m:sub>
                    </m:sSub>
                    <m:r>
                      <a:rPr lang="en-US" i="1">
                        <a:latin typeface="Cambria Math" panose="02040503050406030204" pitchFamily="18" charset="0"/>
                        <a:ea typeface="Cambria Math" charset="0"/>
                        <a:cs typeface="Cambria Math" charset="0"/>
                      </a:rPr>
                      <m:t>)</m:t>
                    </m:r>
                    <m:r>
                      <a:rPr lang="en-US" b="1"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ea typeface="Cambria Math" charset="0"/>
                            <a:cs typeface="Cambria Math" charset="0"/>
                          </a:rPr>
                        </m:ctrlPr>
                      </m:sSubPr>
                      <m:e>
                        <m:r>
                          <a:rPr lang="en-US" i="1">
                            <a:latin typeface="Cambria Math" charset="0"/>
                            <a:ea typeface="Cambria Math" charset="0"/>
                            <a:cs typeface="Cambria Math" charset="0"/>
                          </a:rPr>
                          <m:t>𝛽</m:t>
                        </m:r>
                      </m:e>
                      <m:sub>
                        <m:r>
                          <a:rPr lang="en-US" i="1">
                            <a:latin typeface="Cambria Math" charset="0"/>
                            <a:ea typeface="Cambria Math" charset="0"/>
                            <a:cs typeface="Cambria Math" charset="0"/>
                          </a:rPr>
                          <m:t>1</m:t>
                        </m:r>
                      </m:sub>
                    </m:sSub>
                    <m:r>
                      <a:rPr lang="en-US" i="1">
                        <a:latin typeface="Cambria Math" charset="0"/>
                        <a:ea typeface="Cambria Math" charset="0"/>
                        <a:cs typeface="Cambria Math" charset="0"/>
                      </a:rPr>
                      <m:t>𝑙𝑚𝑎𝑠𝑠</m:t>
                    </m:r>
                  </m:oMath>
                </a14:m>
                <a:r>
                  <a:rPr lang="en-US" i="1" dirty="0"/>
                  <a:t> : intercept =</a:t>
                </a:r>
                <a:r>
                  <a:rPr lang="en-US" b="1" dirty="0">
                    <a:ea typeface="Cambria Math" charset="0"/>
                    <a:cs typeface="Cambria Math" charset="0"/>
                  </a:rPr>
                  <a:t> </a:t>
                </a:r>
                <a14:m>
                  <m:oMath xmlns:m="http://schemas.openxmlformats.org/officeDocument/2006/math">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𝟎</m:t>
                        </m:r>
                      </m:sub>
                    </m:sSub>
                    <m:r>
                      <a:rPr lang="en-US" i="1">
                        <a:latin typeface="Cambria Math" panose="02040503050406030204" pitchFamily="18" charset="0"/>
                        <a:ea typeface="Cambria Math" charset="0"/>
                        <a:cs typeface="Cambria Math" charset="0"/>
                      </a:rPr>
                      <m:t>+</m:t>
                    </m:r>
                    <m:sSub>
                      <m:sSubPr>
                        <m:ctrlPr>
                          <a:rPr lang="en-US" b="1" i="1">
                            <a:latin typeface="Cambria Math" panose="02040503050406030204" pitchFamily="18" charset="0"/>
                            <a:ea typeface="Cambria Math" charset="0"/>
                            <a:cs typeface="Cambria Math" charset="0"/>
                          </a:rPr>
                        </m:ctrlPr>
                      </m:sSubPr>
                      <m:e>
                        <m:r>
                          <a:rPr lang="en-US" b="1" i="1">
                            <a:latin typeface="Cambria Math" charset="0"/>
                            <a:ea typeface="Cambria Math" charset="0"/>
                            <a:cs typeface="Cambria Math" charset="0"/>
                          </a:rPr>
                          <m:t>𝜷</m:t>
                        </m:r>
                      </m:e>
                      <m:sub>
                        <m:r>
                          <a:rPr lang="en-US" b="1" i="1">
                            <a:latin typeface="Cambria Math" panose="02040503050406030204" pitchFamily="18" charset="0"/>
                            <a:ea typeface="Cambria Math" charset="0"/>
                            <a:cs typeface="Cambria Math" charset="0"/>
                          </a:rPr>
                          <m:t>𝟑</m:t>
                        </m:r>
                      </m:sub>
                    </m:sSub>
                  </m:oMath>
                </a14:m>
                <a:endParaRPr lang="en-US" i="1" dirty="0">
                  <a:ea typeface="Cambria Math" charset="0"/>
                  <a:cs typeface="Cambria Math" charset="0"/>
                </a:endParaRPr>
              </a:p>
              <a:p>
                <a:r>
                  <a:rPr lang="en-US" dirty="0"/>
                  <a:t>The difference in estimate intercepts between the birds and the echolating bats:</a:t>
                </a:r>
              </a:p>
              <a:p>
                <a:pPr indent="0" algn="ctr">
                  <a:buNone/>
                </a:pPr>
                <a:r>
                  <a:rPr lang="en-US" dirty="0"/>
                  <a:t>[</a:t>
                </a:r>
                <a14:m>
                  <m:oMath xmlns:m="http://schemas.openxmlformats.org/officeDocument/2006/math">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panose="02040503050406030204" pitchFamily="18" charset="0"/>
                        <a:ea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a:rPr>
                          <m:t>0</m:t>
                        </m:r>
                      </m:sub>
                    </m:sSub>
                    <m:r>
                      <a:rPr lang="en-US" i="1">
                        <a:latin typeface="Cambria Math" panose="02040503050406030204" pitchFamily="18" charset="0"/>
                        <a:ea typeface="Cambria Math"/>
                      </a:rPr>
                      <m:t>)</m:t>
                    </m:r>
                    <m:r>
                      <a:rPr lang="en-US" i="1">
                        <a:latin typeface="Cambria Math" charset="0"/>
                      </a:rPr>
                      <m:t>−</m:t>
                    </m:r>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0</m:t>
                        </m:r>
                      </m:sub>
                    </m:sSub>
                    <m:r>
                      <a:rPr lang="en-US" i="1">
                        <a:latin typeface="Cambria Math" panose="02040503050406030204" pitchFamily="18" charset="0"/>
                        <a:ea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a:rPr>
                      <m:t>)</m:t>
                    </m:r>
                  </m:oMath>
                </a14:m>
                <a:r>
                  <a:rPr lang="en-US" dirty="0"/>
                  <a:t>] = </a:t>
                </a:r>
                <a14:m>
                  <m:oMath xmlns:m="http://schemas.openxmlformats.org/officeDocument/2006/math">
                    <m:r>
                      <a:rPr lang="en-US">
                        <a:latin typeface="Cambria Math" panose="02040503050406030204" pitchFamily="18"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r>
                      <a:rPr lang="en-US" i="1">
                        <a:latin typeface="Cambria Math" panose="02040503050406030204" pitchFamily="18" charset="0"/>
                        <a:ea typeface="Cambria Math"/>
                      </a:rPr>
                      <m:t>)</m:t>
                    </m:r>
                  </m:oMath>
                </a14:m>
                <a:endParaRPr lang="en-US" dirty="0"/>
              </a:p>
              <a:p>
                <a:pPr algn="ct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e>
                      </m:d>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cs typeface="Cambria Math" charset="0"/>
                            </a:rPr>
                          </m:ctrlPr>
                        </m:sSubPr>
                        <m:e>
                          <m:r>
                            <a:rPr lang="en-US" b="0" i="1" smtClean="0">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,16</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e>
                      </m:d>
                    </m:oMath>
                  </m:oMathPara>
                </a14:m>
                <a:endParaRPr lang="en-US" dirty="0"/>
              </a:p>
            </p:txBody>
          </p:sp>
        </mc:Choice>
        <mc:Fallback xmlns="">
          <p:sp>
            <p:nvSpPr>
              <p:cNvPr id="8" name="Rectangle 7">
                <a:extLst>
                  <a:ext uri="{FF2B5EF4-FFF2-40B4-BE49-F238E27FC236}">
                    <a16:creationId xmlns:a16="http://schemas.microsoft.com/office/drawing/2014/main" id="{788878A1-F706-9B47-9475-3741E457639C}"/>
                  </a:ext>
                </a:extLst>
              </p:cNvPr>
              <p:cNvSpPr>
                <a:spLocks noRot="1" noChangeAspect="1" noMove="1" noResize="1" noEditPoints="1" noAdjustHandles="1" noChangeArrowheads="1" noChangeShapeType="1" noTextEdit="1"/>
              </p:cNvSpPr>
              <p:nvPr/>
            </p:nvSpPr>
            <p:spPr>
              <a:xfrm>
                <a:off x="1447800" y="2152319"/>
                <a:ext cx="9296400" cy="1914307"/>
              </a:xfrm>
              <a:prstGeom prst="rect">
                <a:avLst/>
              </a:prstGeom>
              <a:blipFill>
                <a:blip r:embed="rId6"/>
                <a:stretch>
                  <a:fillRect l="-682" t="-131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79B51DAF-7C44-7442-9602-4B198F757643}"/>
              </a:ext>
            </a:extLst>
          </p:cNvPr>
          <p:cNvSpPr txBox="1"/>
          <p:nvPr/>
        </p:nvSpPr>
        <p:spPr>
          <a:xfrm>
            <a:off x="10776284" y="4751669"/>
            <a:ext cx="609600" cy="830997"/>
          </a:xfrm>
          <a:prstGeom prst="rect">
            <a:avLst/>
          </a:prstGeom>
          <a:noFill/>
        </p:spPr>
        <p:txBody>
          <a:bodyPr wrap="square" rtlCol="0">
            <a:spAutoFit/>
          </a:bodyPr>
          <a:lstStyle/>
          <a:p>
            <a:r>
              <a:rPr lang="en-US" sz="4800" dirty="0"/>
              <a:t>?</a:t>
            </a:r>
            <a:endParaRPr lang="en-US" dirty="0"/>
          </a:p>
        </p:txBody>
      </p:sp>
    </p:spTree>
    <p:extLst>
      <p:ext uri="{BB962C8B-B14F-4D97-AF65-F5344CB8AC3E}">
        <p14:creationId xmlns:p14="http://schemas.microsoft.com/office/powerpoint/2010/main" val="2065710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500"/>
                                        <p:tgtEl>
                                          <p:spTgt spid="8">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fade">
                                      <p:cBhvr>
                                        <p:cTn id="37" dur="500"/>
                                        <p:tgtEl>
                                          <p:spTgt spid="8">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500"/>
                                        <p:tgtEl>
                                          <p:spTgt spid="3"/>
                                        </p:tgtEl>
                                      </p:cBhvr>
                                    </p:animEffect>
                                  </p:childTnLst>
                                </p:cTn>
                              </p:par>
                              <p:par>
                                <p:cTn id="43" presetID="10" presetClass="entr" presetSubtype="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9"/>
                                        </p:tgtEl>
                                        <p:attrNameLst>
                                          <p:attrName>style.visibility</p:attrName>
                                        </p:attrNameLst>
                                      </p:cBhvr>
                                      <p:to>
                                        <p:strVal val="visible"/>
                                      </p:to>
                                    </p:set>
                                    <p:animEffect transition="in" filter="fade">
                                      <p:cBhvr>
                                        <p:cTn id="6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13" grpId="0" animBg="1"/>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Confidence Interval for a Difference in Parameters</a:t>
            </a:r>
          </a:p>
        </p:txBody>
      </p:sp>
      <p:sp>
        <p:nvSpPr>
          <p:cNvPr id="12" name="Content Placeholder 2"/>
          <p:cNvSpPr>
            <a:spLocks noGrp="1"/>
          </p:cNvSpPr>
          <p:nvPr>
            <p:ph idx="1"/>
          </p:nvPr>
        </p:nvSpPr>
        <p:spPr>
          <a:xfrm>
            <a:off x="457200" y="1433673"/>
            <a:ext cx="11125200" cy="395127"/>
          </a:xfrm>
        </p:spPr>
        <p:txBody>
          <a:bodyPr/>
          <a:lstStyle/>
          <a:p>
            <a:r>
              <a:rPr lang="en-US" sz="1400" dirty="0"/>
              <a:t>Find a 95% confidence interval for the difference in the intercept between non-echolocating birds and echolocating bats. </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E1EFB1F1-C5E7-C24A-A3DC-5288C71CE574}"/>
                  </a:ext>
                </a:extLst>
              </p:cNvPr>
              <p:cNvSpPr/>
              <p:nvPr/>
            </p:nvSpPr>
            <p:spPr>
              <a:xfrm>
                <a:off x="190500" y="2819400"/>
                <a:ext cx="11811000" cy="1077218"/>
              </a:xfrm>
              <a:prstGeom prst="rect">
                <a:avLst/>
              </a:prstGeom>
            </p:spPr>
            <p:txBody>
              <a:bodyPr wrap="square">
                <a:spAutoFit/>
              </a:bodyPr>
              <a:lstStyle/>
              <a:p>
                <a:r>
                  <a:rPr lang="en-US" sz="1600" dirty="0"/>
                  <a:t>To do this, we must first find the SE:</a:t>
                </a:r>
              </a:p>
              <a:p>
                <a:pPr indent="0" algn="ctr">
                  <a:buNone/>
                </a:pPr>
                <a14:m>
                  <m:oMathPara xmlns:m="http://schemas.openxmlformats.org/officeDocument/2006/math">
                    <m:oMathParaPr>
                      <m:jc m:val="left"/>
                    </m:oMathParaPr>
                    <m:oMath xmlns:m="http://schemas.openxmlformats.org/officeDocument/2006/math">
                      <m:r>
                        <a:rPr lang="en-US" sz="1600" i="1">
                          <a:latin typeface="Cambria Math"/>
                        </a:rPr>
                        <m:t>𝑉𝑎𝑟</m:t>
                      </m:r>
                      <m:r>
                        <a:rPr lang="en-US" sz="1600" i="1">
                          <a:latin typeface="Cambria Math"/>
                        </a:rPr>
                        <m:t> </m:t>
                      </m:r>
                      <m:d>
                        <m:dPr>
                          <m:ctrlPr>
                            <a:rPr lang="en-US" sz="1600" i="1">
                              <a:latin typeface="Cambria Math" panose="02040503050406030204" pitchFamily="18" charset="0"/>
                            </a:rPr>
                          </m:ctrlPr>
                        </m:dPr>
                        <m:e>
                          <m:r>
                            <a:rPr lang="en-US" sz="1600" i="1">
                              <a:latin typeface="Cambria Math" charset="0"/>
                            </a:rPr>
                            <m:t>𝑎𝑋</m:t>
                          </m:r>
                          <m:r>
                            <a:rPr lang="en-US" sz="1600" i="1">
                              <a:latin typeface="Cambria Math" charset="0"/>
                            </a:rPr>
                            <m:t>+</m:t>
                          </m:r>
                          <m:r>
                            <a:rPr lang="en-US" sz="1600" i="1">
                              <a:latin typeface="Cambria Math" charset="0"/>
                            </a:rPr>
                            <m:t>𝑏𝑌</m:t>
                          </m:r>
                        </m:e>
                      </m:d>
                      <m:r>
                        <a:rPr lang="en-US" sz="1600" i="1">
                          <a:latin typeface="Cambria Math"/>
                        </a:rPr>
                        <m:t>=</m:t>
                      </m:r>
                      <m:r>
                        <a:rPr lang="en-US" sz="1600" i="1">
                          <a:latin typeface="Cambria Math" charset="0"/>
                        </a:rPr>
                        <m:t>𝑎</m:t>
                      </m:r>
                      <m:r>
                        <a:rPr lang="en-US" sz="1600" i="1" baseline="30000">
                          <a:latin typeface="Cambria Math" charset="0"/>
                        </a:rPr>
                        <m:t>2</m:t>
                      </m:r>
                      <m:r>
                        <a:rPr lang="en-US" sz="1600" i="1">
                          <a:latin typeface="Cambria Math"/>
                        </a:rPr>
                        <m:t>𝑉𝑎𝑟</m:t>
                      </m:r>
                      <m:d>
                        <m:dPr>
                          <m:ctrlPr>
                            <a:rPr lang="en-US" sz="1600" i="1">
                              <a:latin typeface="Cambria Math" panose="02040503050406030204" pitchFamily="18" charset="0"/>
                            </a:rPr>
                          </m:ctrlPr>
                        </m:dPr>
                        <m:e>
                          <m:r>
                            <a:rPr lang="en-US" sz="1600" i="1">
                              <a:latin typeface="Cambria Math" charset="0"/>
                            </a:rPr>
                            <m:t>𝑋</m:t>
                          </m:r>
                        </m:e>
                      </m:d>
                      <m:r>
                        <a:rPr lang="en-US" sz="1600" i="1">
                          <a:latin typeface="Cambria Math"/>
                        </a:rPr>
                        <m:t>+</m:t>
                      </m:r>
                      <m:r>
                        <a:rPr lang="en-US" sz="1600" i="1">
                          <a:latin typeface="Cambria Math" charset="0"/>
                        </a:rPr>
                        <m:t>𝑏</m:t>
                      </m:r>
                      <m:r>
                        <a:rPr lang="en-US" sz="1600" i="1" baseline="30000">
                          <a:latin typeface="Cambria Math" charset="0"/>
                        </a:rPr>
                        <m:t>2</m:t>
                      </m:r>
                      <m:r>
                        <a:rPr lang="en-US" sz="1600" i="1">
                          <a:latin typeface="Cambria Math"/>
                        </a:rPr>
                        <m:t>𝑉𝑎𝑟</m:t>
                      </m:r>
                      <m:d>
                        <m:dPr>
                          <m:ctrlPr>
                            <a:rPr lang="en-US" sz="1600" i="1">
                              <a:latin typeface="Cambria Math" panose="02040503050406030204" pitchFamily="18" charset="0"/>
                            </a:rPr>
                          </m:ctrlPr>
                        </m:dPr>
                        <m:e>
                          <m:r>
                            <a:rPr lang="en-US" sz="1600" i="1">
                              <a:latin typeface="Cambria Math" charset="0"/>
                            </a:rPr>
                            <m:t>𝑌</m:t>
                          </m:r>
                        </m:e>
                      </m:d>
                      <m:r>
                        <a:rPr lang="en-US" sz="1600" i="1">
                          <a:latin typeface="Cambria Math" charset="0"/>
                          <a:ea typeface="Cambria Math"/>
                        </a:rPr>
                        <m:t>+</m:t>
                      </m:r>
                      <m:r>
                        <a:rPr lang="en-US" sz="1600" i="1">
                          <a:latin typeface="Cambria Math"/>
                        </a:rPr>
                        <m:t>2</m:t>
                      </m:r>
                      <m:r>
                        <a:rPr lang="en-US" sz="1600" i="1">
                          <a:latin typeface="Cambria Math" charset="0"/>
                        </a:rPr>
                        <m:t>𝑎𝑏</m:t>
                      </m:r>
                      <m:r>
                        <a:rPr lang="en-US" sz="1600" i="1">
                          <a:latin typeface="Cambria Math"/>
                        </a:rPr>
                        <m:t>𝐶𝑜𝑣</m:t>
                      </m:r>
                      <m:r>
                        <a:rPr lang="en-US" sz="1600" i="1">
                          <a:latin typeface="Cambria Math"/>
                        </a:rPr>
                        <m:t>(</m:t>
                      </m:r>
                      <m:r>
                        <a:rPr lang="en-US" sz="1600" i="1">
                          <a:latin typeface="Cambria Math" charset="0"/>
                        </a:rPr>
                        <m:t>𝑋</m:t>
                      </m:r>
                      <m:r>
                        <a:rPr lang="en-US" sz="1600" i="1">
                          <a:latin typeface="Cambria Math"/>
                        </a:rPr>
                        <m:t>,</m:t>
                      </m:r>
                      <m:r>
                        <a:rPr lang="en-US" sz="1600" i="1">
                          <a:latin typeface="Cambria Math" charset="0"/>
                        </a:rPr>
                        <m:t>𝑌</m:t>
                      </m:r>
                      <m:r>
                        <a:rPr lang="en-US" sz="1600" i="1">
                          <a:latin typeface="Cambria Math"/>
                        </a:rPr>
                        <m:t>)</m:t>
                      </m:r>
                    </m:oMath>
                  </m:oMathPara>
                </a14:m>
                <a:endParaRPr lang="en-US" sz="1600" dirty="0"/>
              </a:p>
              <a:p>
                <a:r>
                  <a:rPr lang="en-US" sz="1600" dirty="0"/>
                  <a:t>Where X and Y are random variables (not necessarily independent) and the Cov(X,Y) is simply a measure of how X and Y move together linearly.</a:t>
                </a:r>
              </a:p>
            </p:txBody>
          </p:sp>
        </mc:Choice>
        <mc:Fallback xmlns="">
          <p:sp>
            <p:nvSpPr>
              <p:cNvPr id="6" name="Rectangle 5">
                <a:extLst>
                  <a:ext uri="{FF2B5EF4-FFF2-40B4-BE49-F238E27FC236}">
                    <a16:creationId xmlns:a16="http://schemas.microsoft.com/office/drawing/2014/main" id="{E1EFB1F1-C5E7-C24A-A3DC-5288C71CE574}"/>
                  </a:ext>
                </a:extLst>
              </p:cNvPr>
              <p:cNvSpPr>
                <a:spLocks noRot="1" noChangeAspect="1" noMove="1" noResize="1" noEditPoints="1" noAdjustHandles="1" noChangeArrowheads="1" noChangeShapeType="1" noTextEdit="1"/>
              </p:cNvSpPr>
              <p:nvPr/>
            </p:nvSpPr>
            <p:spPr>
              <a:xfrm>
                <a:off x="190500" y="2819400"/>
                <a:ext cx="11811000" cy="1077218"/>
              </a:xfrm>
              <a:prstGeom prst="rect">
                <a:avLst/>
              </a:prstGeom>
              <a:blipFill>
                <a:blip r:embed="rId3"/>
                <a:stretch>
                  <a:fillRect l="-215" t="-2353" b="-70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0F6C8E56-BF0F-BE44-A3E5-249DBC908F1E}"/>
                  </a:ext>
                </a:extLst>
              </p:cNvPr>
              <p:cNvSpPr/>
              <p:nvPr/>
            </p:nvSpPr>
            <p:spPr>
              <a:xfrm>
                <a:off x="3581161" y="1739191"/>
                <a:ext cx="4901342" cy="384336"/>
              </a:xfrm>
              <a:prstGeom prst="rect">
                <a:avLst/>
              </a:prstGeom>
            </p:spPr>
            <p:txBody>
              <a:bodyPr wrap="none">
                <a:spAutoFit/>
              </a:bodyPr>
              <a:lstStyle/>
              <a:p>
                <a:pPr indent="342900" algn="ctr"/>
                <a14:m>
                  <m:oMath xmlns:m="http://schemas.openxmlformats.org/officeDocument/2006/math">
                    <m:acc>
                      <m:accPr>
                        <m:chr m:val="̂"/>
                        <m:ctrlPr>
                          <a:rPr lang="en-US" i="1">
                            <a:latin typeface="Cambria Math" panose="02040503050406030204" pitchFamily="18" charset="0"/>
                          </a:rPr>
                        </m:ctrlPr>
                      </m:accPr>
                      <m:e>
                        <m:r>
                          <a:rPr lang="en-US" i="1">
                            <a:latin typeface="Cambria Math" charset="0"/>
                          </a:rPr>
                          <m:t>𝑙𝑒𝑛𝑒𝑟𝑔𝑦</m:t>
                        </m:r>
                      </m:e>
                    </m:acc>
                    <m:r>
                      <a:rPr lang="en-US" i="1">
                        <a:latin typeface="Cambria Math" charset="0"/>
                      </a:rPr>
                      <m:t>= </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rPr>
                          <m:t>0</m:t>
                        </m:r>
                      </m:sub>
                    </m:sSub>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1</m:t>
                        </m:r>
                      </m:sub>
                    </m:sSub>
                    <m:r>
                      <a:rPr lang="en-US" i="1">
                        <a:latin typeface="Cambria Math" charset="0"/>
                      </a:rPr>
                      <m:t>𝑙𝑚𝑎𝑠𝑠</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2</m:t>
                        </m:r>
                      </m:sub>
                    </m:sSub>
                    <m:r>
                      <a:rPr lang="en-US" i="1">
                        <a:latin typeface="Cambria Math" charset="0"/>
                        <a:ea typeface="Cambria Math"/>
                      </a:rPr>
                      <m:t>𝑏𝑖𝑟𝑑</m:t>
                    </m:r>
                  </m:oMath>
                </a14:m>
                <a:r>
                  <a:rPr lang="en-US" dirty="0"/>
                  <a:t> </a:t>
                </a:r>
                <a14:m>
                  <m:oMath xmlns:m="http://schemas.openxmlformats.org/officeDocument/2006/math">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charset="0"/>
                            <a:ea typeface="Cambria Math"/>
                          </a:rPr>
                          <m:t>3</m:t>
                        </m:r>
                      </m:sub>
                    </m:sSub>
                    <m:r>
                      <a:rPr lang="en-US" i="1">
                        <a:latin typeface="Cambria Math" charset="0"/>
                        <a:ea typeface="Cambria Math"/>
                      </a:rPr>
                      <m:t>𝑒𝑏𝑎𝑡</m:t>
                    </m:r>
                  </m:oMath>
                </a14:m>
                <a:endParaRPr lang="en-US" dirty="0"/>
              </a:p>
            </p:txBody>
          </p:sp>
        </mc:Choice>
        <mc:Fallback xmlns="">
          <p:sp>
            <p:nvSpPr>
              <p:cNvPr id="14" name="Rectangle 13">
                <a:extLst>
                  <a:ext uri="{FF2B5EF4-FFF2-40B4-BE49-F238E27FC236}">
                    <a16:creationId xmlns:a16="http://schemas.microsoft.com/office/drawing/2014/main" id="{0F6C8E56-BF0F-BE44-A3E5-249DBC908F1E}"/>
                  </a:ext>
                </a:extLst>
              </p:cNvPr>
              <p:cNvSpPr>
                <a:spLocks noRot="1" noChangeAspect="1" noMove="1" noResize="1" noEditPoints="1" noAdjustHandles="1" noChangeArrowheads="1" noChangeShapeType="1" noTextEdit="1"/>
              </p:cNvSpPr>
              <p:nvPr/>
            </p:nvSpPr>
            <p:spPr>
              <a:xfrm>
                <a:off x="3581161" y="1739191"/>
                <a:ext cx="4901342" cy="384336"/>
              </a:xfrm>
              <a:prstGeom prst="rect">
                <a:avLst/>
              </a:prstGeom>
              <a:blipFill>
                <a:blip r:embed="rId4"/>
                <a:stretch>
                  <a:fillRect b="-15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788878A1-F706-9B47-9475-3741E457639C}"/>
                  </a:ext>
                </a:extLst>
              </p:cNvPr>
              <p:cNvSpPr/>
              <p:nvPr/>
            </p:nvSpPr>
            <p:spPr>
              <a:xfrm>
                <a:off x="1447800" y="2152319"/>
                <a:ext cx="9296400" cy="514308"/>
              </a:xfrm>
              <a:prstGeom prst="rect">
                <a:avLst/>
              </a:prstGeom>
            </p:spPr>
            <p:txBody>
              <a:bodyPr wrap="square">
                <a:spAutoFit/>
              </a:bodyPr>
              <a:lstStyle/>
              <a:p>
                <a:pPr algn="ctr"/>
                <a14:m>
                  <m:oMathPara xmlns:m="http://schemas.openxmlformats.org/officeDocument/2006/math">
                    <m:oMathParaPr>
                      <m:jc m:val="centerGroup"/>
                    </m:oMathParaPr>
                    <m:oMath xmlns:m="http://schemas.openxmlformats.org/officeDocument/2006/math">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e>
                      </m:d>
                      <m:r>
                        <a:rPr lang="en-US"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cs typeface="Cambria Math" charset="0"/>
                            </a:rPr>
                          </m:ctrlPr>
                        </m:sSubPr>
                        <m:e>
                          <m:r>
                            <a:rPr lang="en-US" b="0" i="1" smtClean="0">
                              <a:latin typeface="Cambria Math" panose="02040503050406030204" pitchFamily="18" charset="0"/>
                              <a:ea typeface="Cambria Math" panose="02040503050406030204" pitchFamily="18" charset="0"/>
                            </a:rPr>
                            <m:t>𝑡</m:t>
                          </m:r>
                        </m:e>
                        <m:sub>
                          <m:r>
                            <a:rPr lang="en-US" b="0" i="1" smtClean="0">
                              <a:latin typeface="Cambria Math" panose="02040503050406030204" pitchFamily="18" charset="0"/>
                              <a:ea typeface="Cambria Math" panose="02040503050406030204" pitchFamily="18" charset="0"/>
                            </a:rPr>
                            <m:t>1−</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𝛼</m:t>
                              </m:r>
                            </m:num>
                            <m:den>
                              <m:r>
                                <a:rPr lang="en-US" b="0" i="1" smtClean="0">
                                  <a:latin typeface="Cambria Math" panose="02040503050406030204" pitchFamily="18" charset="0"/>
                                  <a:ea typeface="Cambria Math" panose="02040503050406030204" pitchFamily="18" charset="0"/>
                                </a:rPr>
                                <m:t>2</m:t>
                              </m:r>
                            </m:den>
                          </m:f>
                          <m:r>
                            <a:rPr lang="en-US" b="0" i="1" smtClean="0">
                              <a:latin typeface="Cambria Math" panose="02040503050406030204" pitchFamily="18" charset="0"/>
                              <a:ea typeface="Cambria Math" panose="02040503050406030204" pitchFamily="18" charset="0"/>
                            </a:rPr>
                            <m:t>,16</m:t>
                          </m:r>
                        </m:sub>
                      </m:s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𝑆𝐸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e>
                      </m:d>
                    </m:oMath>
                  </m:oMathPara>
                </a14:m>
                <a:endParaRPr lang="en-US" dirty="0"/>
              </a:p>
            </p:txBody>
          </p:sp>
        </mc:Choice>
        <mc:Fallback xmlns="">
          <p:sp>
            <p:nvSpPr>
              <p:cNvPr id="8" name="Rectangle 7">
                <a:extLst>
                  <a:ext uri="{FF2B5EF4-FFF2-40B4-BE49-F238E27FC236}">
                    <a16:creationId xmlns:a16="http://schemas.microsoft.com/office/drawing/2014/main" id="{788878A1-F706-9B47-9475-3741E457639C}"/>
                  </a:ext>
                </a:extLst>
              </p:cNvPr>
              <p:cNvSpPr>
                <a:spLocks noRot="1" noChangeAspect="1" noMove="1" noResize="1" noEditPoints="1" noAdjustHandles="1" noChangeArrowheads="1" noChangeShapeType="1" noTextEdit="1"/>
              </p:cNvSpPr>
              <p:nvPr/>
            </p:nvSpPr>
            <p:spPr>
              <a:xfrm>
                <a:off x="1447800" y="2152319"/>
                <a:ext cx="9296400" cy="514308"/>
              </a:xfrm>
              <a:prstGeom prst="rect">
                <a:avLst/>
              </a:prstGeom>
              <a:blipFill>
                <a:blip r:embed="rId5"/>
                <a:stretch>
                  <a:fillRect t="-2439"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AB426A9B-46C8-6D4C-A3D8-D540B350E0B9}"/>
                  </a:ext>
                </a:extLst>
              </p:cNvPr>
              <p:cNvSpPr/>
              <p:nvPr/>
            </p:nvSpPr>
            <p:spPr>
              <a:xfrm>
                <a:off x="190500" y="4049391"/>
                <a:ext cx="11696700" cy="1090491"/>
              </a:xfrm>
              <a:prstGeom prst="rect">
                <a:avLst/>
              </a:prstGeom>
            </p:spPr>
            <p:txBody>
              <a:bodyPr wrap="square">
                <a:spAutoFit/>
              </a:bodyPr>
              <a:lstStyle/>
              <a:p>
                <a:r>
                  <a:rPr lang="en-US" sz="1600" dirty="0"/>
                  <a:t>In a regression equation, the </a:t>
                </a:r>
                <a14:m>
                  <m:oMath xmlns:m="http://schemas.openxmlformats.org/officeDocument/2006/math">
                    <m:acc>
                      <m:accPr>
                        <m:chr m:val="̂"/>
                        <m:ctrlPr>
                          <a:rPr lang="en-US" sz="1600" i="1">
                            <a:latin typeface="Cambria Math" panose="02040503050406030204" pitchFamily="18" charset="0"/>
                            <a:ea typeface="Cambria Math"/>
                          </a:rPr>
                        </m:ctrlPr>
                      </m:accPr>
                      <m:e>
                        <m:r>
                          <a:rPr lang="en-US" sz="1600" i="1">
                            <a:latin typeface="Cambria Math"/>
                            <a:ea typeface="Cambria Math"/>
                          </a:rPr>
                          <m:t>𝛽</m:t>
                        </m:r>
                      </m:e>
                    </m:acc>
                    <m:r>
                      <a:rPr lang="en-US" sz="1600" i="1">
                        <a:latin typeface="Cambria Math" charset="0"/>
                        <a:ea typeface="Cambria Math"/>
                      </a:rPr>
                      <m:t>𝑠</m:t>
                    </m:r>
                  </m:oMath>
                </a14:m>
                <a:r>
                  <a:rPr lang="en-US" sz="1600" dirty="0"/>
                  <a:t> are the random variables and the “explanatory variables” are actually constant. This is because we know the values of the EVs and have to estimate the values of the </a:t>
                </a:r>
                <a14:m>
                  <m:oMath xmlns:m="http://schemas.openxmlformats.org/officeDocument/2006/math">
                    <m:r>
                      <a:rPr lang="en-US" sz="1600" i="1">
                        <a:latin typeface="Cambria Math"/>
                        <a:ea typeface="Cambria Math"/>
                      </a:rPr>
                      <m:t>𝛽</m:t>
                    </m:r>
                    <m:r>
                      <a:rPr lang="en-US" sz="1600" i="1">
                        <a:latin typeface="Cambria Math" charset="0"/>
                        <a:ea typeface="Cambria Math"/>
                      </a:rPr>
                      <m:t>𝑠</m:t>
                    </m:r>
                    <m:r>
                      <a:rPr lang="en-US" sz="1600" i="1">
                        <a:latin typeface="Cambria Math" charset="0"/>
                        <a:ea typeface="Cambria Math"/>
                      </a:rPr>
                      <m:t>. </m:t>
                    </m:r>
                  </m:oMath>
                </a14:m>
                <a:endParaRPr lang="en-US" sz="1600" dirty="0">
                  <a:ea typeface="Cambria Math"/>
                </a:endParaRPr>
              </a:p>
              <a:p>
                <a:endParaRPr lang="en-US" sz="1600" dirty="0">
                  <a:ea typeface="Cambria Math"/>
                </a:endParaRPr>
              </a:p>
              <a:p>
                <a:r>
                  <a:rPr lang="en-US" sz="1600" dirty="0"/>
                  <a:t>To find the variance of the difference in estimated intercepts between the birds and the echolating bats:</a:t>
                </a:r>
              </a:p>
            </p:txBody>
          </p:sp>
        </mc:Choice>
        <mc:Fallback xmlns="">
          <p:sp>
            <p:nvSpPr>
              <p:cNvPr id="7" name="Rectangle 6">
                <a:extLst>
                  <a:ext uri="{FF2B5EF4-FFF2-40B4-BE49-F238E27FC236}">
                    <a16:creationId xmlns:a16="http://schemas.microsoft.com/office/drawing/2014/main" id="{AB426A9B-46C8-6D4C-A3D8-D540B350E0B9}"/>
                  </a:ext>
                </a:extLst>
              </p:cNvPr>
              <p:cNvSpPr>
                <a:spLocks noRot="1" noChangeAspect="1" noMove="1" noResize="1" noEditPoints="1" noAdjustHandles="1" noChangeArrowheads="1" noChangeShapeType="1" noTextEdit="1"/>
              </p:cNvSpPr>
              <p:nvPr/>
            </p:nvSpPr>
            <p:spPr>
              <a:xfrm>
                <a:off x="190500" y="4049391"/>
                <a:ext cx="11696700" cy="1090491"/>
              </a:xfrm>
              <a:prstGeom prst="rect">
                <a:avLst/>
              </a:prstGeom>
              <a:blipFill>
                <a:blip r:embed="rId6"/>
                <a:stretch>
                  <a:fillRect l="-217" r="-217" b="-689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24C0CF6-63E5-8E42-9B4F-909E08FE52CC}"/>
                  </a:ext>
                </a:extLst>
              </p:cNvPr>
              <p:cNvSpPr txBox="1"/>
              <p:nvPr/>
            </p:nvSpPr>
            <p:spPr>
              <a:xfrm>
                <a:off x="1888951" y="5216546"/>
                <a:ext cx="1311449" cy="336695"/>
              </a:xfrm>
              <a:prstGeom prst="rect">
                <a:avLst/>
              </a:prstGeom>
              <a:noFill/>
            </p:spPr>
            <p:txBody>
              <a:bodyPr wrap="none" rtlCol="0">
                <a:noAutofit/>
              </a:bodyPr>
              <a:lstStyle/>
              <a:p>
                <a:pPr/>
                <a14:m>
                  <m:oMathPara xmlns:m="http://schemas.openxmlformats.org/officeDocument/2006/math">
                    <m:oMathParaPr>
                      <m:jc m:val="left"/>
                    </m:oMathParaPr>
                    <m:oMath xmlns:m="http://schemas.openxmlformats.org/officeDocument/2006/math">
                      <m:r>
                        <a:rPr lang="en-US" sz="1400" i="1">
                          <a:latin typeface="Cambria Math"/>
                        </a:rPr>
                        <m:t>𝑉𝑎𝑟</m:t>
                      </m:r>
                      <m:r>
                        <a:rPr lang="en-US" sz="1400" i="1">
                          <a:latin typeface="Cambria Math"/>
                        </a:rPr>
                        <m:t> </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i="1">
                                      <a:latin typeface="Cambria Math" charset="0"/>
                                      <a:ea typeface="Cambria Math" charset="0"/>
                                      <a:cs typeface="Cambria Math" charset="0"/>
                                    </a:rPr>
                                    <m:t>𝛽</m:t>
                                  </m:r>
                                </m:e>
                              </m:acc>
                            </m:e>
                            <m:sub>
                              <m:r>
                                <a:rPr lang="en-US" sz="1400" i="1">
                                  <a:latin typeface="Cambria Math" charset="0"/>
                                  <a:ea typeface="Cambria Math"/>
                                </a:rPr>
                                <m:t>2</m:t>
                              </m:r>
                            </m:sub>
                          </m:sSub>
                          <m:r>
                            <a:rPr lang="en-US" sz="1400" i="1">
                              <a:latin typeface="Cambria Math" charset="0"/>
                            </a:rPr>
                            <m:t>−</m:t>
                          </m:r>
                          <m:sSub>
                            <m:sSubPr>
                              <m:ctrlPr>
                                <a:rPr lang="en-US" sz="1400" i="1">
                                  <a:latin typeface="Cambria Math" panose="02040503050406030204" pitchFamily="18" charset="0"/>
                                </a:rPr>
                              </m:ctrlPr>
                            </m:sSubPr>
                            <m:e>
                              <m:acc>
                                <m:accPr>
                                  <m:chr m:val="̂"/>
                                  <m:ctrlPr>
                                    <a:rPr lang="en-US" sz="1400" i="1">
                                      <a:latin typeface="Cambria Math" panose="02040503050406030204" pitchFamily="18" charset="0"/>
                                    </a:rPr>
                                  </m:ctrlPr>
                                </m:accPr>
                                <m:e>
                                  <m:r>
                                    <a:rPr lang="en-US" sz="1400" i="1">
                                      <a:latin typeface="Cambria Math" charset="0"/>
                                      <a:ea typeface="Cambria Math" charset="0"/>
                                      <a:cs typeface="Cambria Math" charset="0"/>
                                    </a:rPr>
                                    <m:t>𝛽</m:t>
                                  </m:r>
                                </m:e>
                              </m:acc>
                            </m:e>
                            <m:sub>
                              <m:r>
                                <a:rPr lang="en-US" sz="1400" i="1">
                                  <a:latin typeface="Cambria Math" charset="0"/>
                                  <a:ea typeface="Cambria Math" charset="0"/>
                                  <a:cs typeface="Cambria Math" charset="0"/>
                                </a:rPr>
                                <m:t>3</m:t>
                              </m:r>
                            </m:sub>
                          </m:sSub>
                        </m:e>
                      </m:d>
                    </m:oMath>
                  </m:oMathPara>
                </a14:m>
                <a:endParaRPr lang="en-US" sz="1400" dirty="0"/>
              </a:p>
            </p:txBody>
          </p:sp>
        </mc:Choice>
        <mc:Fallback xmlns="">
          <p:sp>
            <p:nvSpPr>
              <p:cNvPr id="15" name="TextBox 14">
                <a:extLst>
                  <a:ext uri="{FF2B5EF4-FFF2-40B4-BE49-F238E27FC236}">
                    <a16:creationId xmlns:a16="http://schemas.microsoft.com/office/drawing/2014/main" id="{724C0CF6-63E5-8E42-9B4F-909E08FE52CC}"/>
                  </a:ext>
                </a:extLst>
              </p:cNvPr>
              <p:cNvSpPr txBox="1">
                <a:spLocks noRot="1" noChangeAspect="1" noMove="1" noResize="1" noEditPoints="1" noAdjustHandles="1" noChangeArrowheads="1" noChangeShapeType="1" noTextEdit="1"/>
              </p:cNvSpPr>
              <p:nvPr/>
            </p:nvSpPr>
            <p:spPr>
              <a:xfrm>
                <a:off x="1888951" y="5216546"/>
                <a:ext cx="1311449" cy="336695"/>
              </a:xfrm>
              <a:prstGeom prst="rect">
                <a:avLst/>
              </a:prstGeom>
              <a:blipFill>
                <a:blip r:embed="rId7"/>
                <a:stretch>
                  <a:fillRect b="-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92C56C2-A641-C847-A286-CA435B2ECEF4}"/>
                  </a:ext>
                </a:extLst>
              </p:cNvPr>
              <p:cNvSpPr txBox="1"/>
              <p:nvPr/>
            </p:nvSpPr>
            <p:spPr>
              <a:xfrm>
                <a:off x="3200400" y="5181600"/>
                <a:ext cx="6204519" cy="720838"/>
              </a:xfrm>
              <a:prstGeom prst="rect">
                <a:avLst/>
              </a:prstGeom>
              <a:noFill/>
            </p:spPr>
            <p:txBody>
              <a:bodyPr wrap="none" rtlCol="0">
                <a:noAutofit/>
              </a:bodyPr>
              <a:lstStyle/>
              <a:p>
                <a:r>
                  <a:rPr lang="en-US" dirty="0"/>
                  <a:t>= (1)</a:t>
                </a:r>
                <a14:m>
                  <m:oMath xmlns:m="http://schemas.openxmlformats.org/officeDocument/2006/math">
                    <m:r>
                      <a:rPr lang="en-US" baseline="30000">
                        <a:latin typeface="Cambria Math" charset="0"/>
                      </a:rPr>
                      <m:t>2</m:t>
                    </m:r>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e>
                    </m:d>
                    <m:r>
                      <a:rPr lang="en-US" i="1">
                        <a:latin typeface="Cambria Math" charset="0"/>
                      </a:rPr>
                      <m:t>+</m:t>
                    </m:r>
                    <m:d>
                      <m:dPr>
                        <m:ctrlPr>
                          <a:rPr lang="en-US" i="1">
                            <a:latin typeface="Cambria Math" panose="02040503050406030204" pitchFamily="18" charset="0"/>
                          </a:rPr>
                        </m:ctrlPr>
                      </m:dPr>
                      <m:e>
                        <m:r>
                          <a:rPr lang="en-US" i="1">
                            <a:latin typeface="Cambria Math" charset="0"/>
                          </a:rPr>
                          <m:t>−1</m:t>
                        </m:r>
                      </m:e>
                    </m:d>
                    <m:r>
                      <a:rPr lang="en-US" i="1" baseline="30000">
                        <a:latin typeface="Cambria Math" charset="0"/>
                      </a:rPr>
                      <m:t>2</m:t>
                    </m:r>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e>
                    </m:d>
                    <m:r>
                      <a:rPr lang="en-US" i="1">
                        <a:latin typeface="Cambria Math" charset="0"/>
                        <a:ea typeface="Cambria Math"/>
                      </a:rPr>
                      <m:t>+</m:t>
                    </m:r>
                    <m:r>
                      <a:rPr lang="en-US" i="1">
                        <a:latin typeface="Cambria Math"/>
                      </a:rPr>
                      <m:t>2</m:t>
                    </m:r>
                    <m:r>
                      <a:rPr lang="en-US" i="1">
                        <a:latin typeface="Cambria Math" charset="0"/>
                      </a:rPr>
                      <m:t>∗</m:t>
                    </m:r>
                    <m:d>
                      <m:dPr>
                        <m:ctrlPr>
                          <a:rPr lang="en-US" i="1">
                            <a:latin typeface="Cambria Math" panose="02040503050406030204" pitchFamily="18" charset="0"/>
                          </a:rPr>
                        </m:ctrlPr>
                      </m:dPr>
                      <m:e>
                        <m:r>
                          <a:rPr lang="en-US" i="1">
                            <a:latin typeface="Cambria Math" charset="0"/>
                          </a:rPr>
                          <m:t>1</m:t>
                        </m:r>
                      </m:e>
                    </m:d>
                    <m:r>
                      <a:rPr lang="en-US" i="1">
                        <a:latin typeface="Cambria Math" charset="0"/>
                      </a:rPr>
                      <m:t>∗</m:t>
                    </m:r>
                    <m:d>
                      <m:dPr>
                        <m:ctrlPr>
                          <a:rPr lang="en-US" i="1">
                            <a:latin typeface="Cambria Math" panose="02040503050406030204" pitchFamily="18" charset="0"/>
                          </a:rPr>
                        </m:ctrlPr>
                      </m:dPr>
                      <m:e>
                        <m:r>
                          <a:rPr lang="en-US" i="1">
                            <a:latin typeface="Cambria Math" charset="0"/>
                          </a:rPr>
                          <m:t>−1</m:t>
                        </m:r>
                      </m:e>
                    </m:d>
                    <m:r>
                      <a:rPr lang="en-US" i="1">
                        <a:latin typeface="Cambria Math" charset="0"/>
                      </a:rPr>
                      <m:t>∗</m:t>
                    </m:r>
                    <m:r>
                      <a:rPr lang="en-US" i="1">
                        <a:latin typeface="Cambria Math"/>
                      </a:rPr>
                      <m:t>𝐶𝑜𝑣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e>
                    </m:d>
                  </m:oMath>
                </a14:m>
                <a:endParaRPr lang="en-US" dirty="0"/>
              </a:p>
              <a:p>
                <a:r>
                  <a:rPr lang="en-US" dirty="0"/>
                  <a:t>= </a:t>
                </a:r>
                <a14:m>
                  <m:oMath xmlns:m="http://schemas.openxmlformats.org/officeDocument/2006/math">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e>
                    </m:d>
                    <m:r>
                      <a:rPr lang="en-US" i="1">
                        <a:latin typeface="Cambria Math" charset="0"/>
                      </a:rPr>
                      <m:t>+</m:t>
                    </m:r>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e>
                    </m:d>
                    <m:r>
                      <a:rPr lang="en-US" i="1">
                        <a:latin typeface="Cambria Math" charset="0"/>
                        <a:ea typeface="Cambria Math"/>
                      </a:rPr>
                      <m:t>−2∗</m:t>
                    </m:r>
                    <m:r>
                      <a:rPr lang="en-US" i="1">
                        <a:latin typeface="Cambria Math"/>
                      </a:rPr>
                      <m:t>𝐶𝑜𝑣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e>
                    </m:d>
                  </m:oMath>
                </a14:m>
                <a:endParaRPr lang="en-US" sz="1400" dirty="0"/>
              </a:p>
            </p:txBody>
          </p:sp>
        </mc:Choice>
        <mc:Fallback xmlns="">
          <p:sp>
            <p:nvSpPr>
              <p:cNvPr id="16" name="TextBox 15">
                <a:extLst>
                  <a:ext uri="{FF2B5EF4-FFF2-40B4-BE49-F238E27FC236}">
                    <a16:creationId xmlns:a16="http://schemas.microsoft.com/office/drawing/2014/main" id="{992C56C2-A641-C847-A286-CA435B2ECEF4}"/>
                  </a:ext>
                </a:extLst>
              </p:cNvPr>
              <p:cNvSpPr txBox="1">
                <a:spLocks noRot="1" noChangeAspect="1" noMove="1" noResize="1" noEditPoints="1" noAdjustHandles="1" noChangeArrowheads="1" noChangeShapeType="1" noTextEdit="1"/>
              </p:cNvSpPr>
              <p:nvPr/>
            </p:nvSpPr>
            <p:spPr>
              <a:xfrm>
                <a:off x="3200400" y="5181600"/>
                <a:ext cx="6204519" cy="720838"/>
              </a:xfrm>
              <a:prstGeom prst="rect">
                <a:avLst/>
              </a:prstGeom>
              <a:blipFill>
                <a:blip r:embed="rId8"/>
                <a:stretch>
                  <a:fillRect l="-818" t="-1754" b="-877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5D3C744C-B37A-2742-BF4A-A00158339378}"/>
                  </a:ext>
                </a:extLst>
              </p:cNvPr>
              <p:cNvSpPr/>
              <p:nvPr/>
            </p:nvSpPr>
            <p:spPr>
              <a:xfrm>
                <a:off x="4324438" y="5918480"/>
                <a:ext cx="3428824" cy="65601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𝑆𝐸</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2</m:t>
                              </m:r>
                            </m:sub>
                          </m:sSub>
                          <m:r>
                            <a:rPr lang="en-US" i="1">
                              <a:latin typeface="Cambria Math" panose="02040503050406030204" pitchFamily="18" charset="0"/>
                              <a:ea typeface="Cambria Math" charset="0"/>
                              <a:cs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panose="02040503050406030204" pitchFamily="18" charset="0"/>
                                  <a:ea typeface="Cambria Math" charset="0"/>
                                  <a:cs typeface="Cambria Math" charset="0"/>
                                </a:rPr>
                                <m:t>3</m:t>
                              </m:r>
                            </m:sub>
                          </m:sSub>
                        </m:e>
                      </m:d>
                      <m:r>
                        <a:rPr lang="en-US" b="0" i="1" smtClean="0">
                          <a:latin typeface="Cambria Math" panose="02040503050406030204" pitchFamily="18" charset="0"/>
                          <a:ea typeface="Cambria Math" charset="0"/>
                          <a:cs typeface="Cambria Math" charset="0"/>
                        </a:rPr>
                        <m:t>=</m:t>
                      </m:r>
                      <m:rad>
                        <m:radPr>
                          <m:degHide m:val="on"/>
                          <m:ctrlPr>
                            <a:rPr lang="en-US" b="0" i="1" smtClean="0">
                              <a:latin typeface="Cambria Math" panose="02040503050406030204" pitchFamily="18" charset="0"/>
                              <a:ea typeface="Cambria Math" charset="0"/>
                            </a:rPr>
                          </m:ctrlPr>
                        </m:radPr>
                        <m:deg/>
                        <m:e>
                          <m:r>
                            <a:rPr lang="en-US" i="1">
                              <a:latin typeface="Cambria Math" panose="02040503050406030204" pitchFamily="18" charset="0"/>
                              <a:ea typeface="Cambria Math" charset="0"/>
                              <a:cs typeface="Cambria Math" charset="0"/>
                            </a:rPr>
                            <m:t>(</m:t>
                          </m:r>
                          <m:r>
                            <a:rPr lang="en-US" i="1">
                              <a:latin typeface="Cambria Math"/>
                            </a:rPr>
                            <m:t>𝑉𝑎𝑟</m:t>
                          </m:r>
                          <m:r>
                            <a:rPr lang="en-US" i="1">
                              <a:latin typeface="Cambria Math"/>
                            </a:rPr>
                            <m:t> </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charset="0"/>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e>
                          </m:d>
                        </m:e>
                      </m:rad>
                    </m:oMath>
                  </m:oMathPara>
                </a14:m>
                <a:endParaRPr lang="en-US" dirty="0"/>
              </a:p>
            </p:txBody>
          </p:sp>
        </mc:Choice>
        <mc:Fallback xmlns="">
          <p:sp>
            <p:nvSpPr>
              <p:cNvPr id="10" name="Rectangle 9">
                <a:extLst>
                  <a:ext uri="{FF2B5EF4-FFF2-40B4-BE49-F238E27FC236}">
                    <a16:creationId xmlns:a16="http://schemas.microsoft.com/office/drawing/2014/main" id="{5D3C744C-B37A-2742-BF4A-A00158339378}"/>
                  </a:ext>
                </a:extLst>
              </p:cNvPr>
              <p:cNvSpPr>
                <a:spLocks noRot="1" noChangeAspect="1" noMove="1" noResize="1" noEditPoints="1" noAdjustHandles="1" noChangeArrowheads="1" noChangeShapeType="1" noTextEdit="1"/>
              </p:cNvSpPr>
              <p:nvPr/>
            </p:nvSpPr>
            <p:spPr>
              <a:xfrm>
                <a:off x="4324438" y="5918480"/>
                <a:ext cx="3428824" cy="656013"/>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0046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xEl>
                                              <p:pRg st="0" end="0"/>
                                            </p:txEl>
                                          </p:spTgt>
                                        </p:tgtEl>
                                        <p:attrNameLst>
                                          <p:attrName>style.visibility</p:attrName>
                                        </p:attrNameLst>
                                      </p:cBhvr>
                                      <p:to>
                                        <p:strVal val="visible"/>
                                      </p:to>
                                    </p:set>
                                    <p:animEffect transition="in" filter="fade">
                                      <p:cBhvr>
                                        <p:cTn id="22" dur="500"/>
                                        <p:tgtEl>
                                          <p:spTgt spid="7">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
                                            <p:txEl>
                                              <p:pRg st="2" end="2"/>
                                            </p:txEl>
                                          </p:spTgt>
                                        </p:tgtEl>
                                        <p:attrNameLst>
                                          <p:attrName>style.visibility</p:attrName>
                                        </p:attrNameLst>
                                      </p:cBhvr>
                                      <p:to>
                                        <p:strVal val="visible"/>
                                      </p:to>
                                    </p:set>
                                    <p:animEffect transition="in" filter="fade">
                                      <p:cBhvr>
                                        <p:cTn id="27" dur="500"/>
                                        <p:tgtEl>
                                          <p:spTgt spid="7">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5"/>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0"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Find the Var/Cov Matrix in SAS?</a:t>
            </a:r>
          </a:p>
        </p:txBody>
      </p:sp>
      <p:sp>
        <p:nvSpPr>
          <p:cNvPr id="3" name="Content Placeholder 2"/>
          <p:cNvSpPr>
            <a:spLocks noGrp="1"/>
          </p:cNvSpPr>
          <p:nvPr>
            <p:ph idx="1"/>
          </p:nvPr>
        </p:nvSpPr>
        <p:spPr>
          <a:xfrm>
            <a:off x="609600" y="1600203"/>
            <a:ext cx="6627466" cy="1503007"/>
          </a:xfrm>
        </p:spPr>
        <p:txBody>
          <a:bodyPr/>
          <a:lstStyle/>
          <a:p>
            <a:pPr marL="0" indent="0">
              <a:buNone/>
            </a:pPr>
            <a:r>
              <a:rPr lang="en-US" sz="1600" dirty="0"/>
              <a:t>1. Download the bat data.</a:t>
            </a:r>
          </a:p>
          <a:p>
            <a:pPr marL="0" indent="0">
              <a:buNone/>
            </a:pPr>
            <a:r>
              <a:rPr lang="en-US" sz="1600" dirty="0"/>
              <a:t>2. Manipulate the data in Excel (create and code indicator variables).</a:t>
            </a:r>
          </a:p>
          <a:p>
            <a:pPr marL="0" indent="0">
              <a:buNone/>
            </a:pPr>
            <a:r>
              <a:rPr lang="en-US" sz="1600" dirty="0"/>
              <a:t>	(You can do this in SAS as well … instead of Excel.)</a:t>
            </a:r>
          </a:p>
          <a:p>
            <a:pPr marL="0" indent="0">
              <a:buNone/>
            </a:pPr>
            <a:r>
              <a:rPr lang="en-US" sz="1600" dirty="0"/>
              <a:t>3. Make a data statement for the manipulated data in SAS.</a:t>
            </a:r>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endParaRPr lang="en-US" sz="1600" dirty="0"/>
          </a:p>
          <a:p>
            <a:pPr marL="0" indent="0">
              <a:buNone/>
            </a:pPr>
            <a:r>
              <a:rPr lang="en-US" sz="1600" dirty="0"/>
              <a:t>4. Make the proc reg statement.</a:t>
            </a:r>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7395" y="2900088"/>
            <a:ext cx="2839838" cy="19255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6">
            <a:extLst>
              <a:ext uri="{FF2B5EF4-FFF2-40B4-BE49-F238E27FC236}">
                <a16:creationId xmlns:a16="http://schemas.microsoft.com/office/drawing/2014/main" id="{BE9BD20A-7C6F-47E1-AA4E-87565B686882}"/>
              </a:ext>
            </a:extLst>
          </p:cNvPr>
          <p:cNvPicPr>
            <a:picLocks noChangeAspect="1"/>
          </p:cNvPicPr>
          <p:nvPr/>
        </p:nvPicPr>
        <p:blipFill>
          <a:blip r:embed="rId4"/>
          <a:stretch>
            <a:fillRect/>
          </a:stretch>
        </p:blipFill>
        <p:spPr>
          <a:xfrm>
            <a:off x="6400801" y="3810001"/>
            <a:ext cx="3978623" cy="1259169"/>
          </a:xfrm>
          <a:prstGeom prst="rect">
            <a:avLst/>
          </a:prstGeom>
        </p:spPr>
      </p:pic>
      <p:pic>
        <p:nvPicPr>
          <p:cNvPr id="8" name="Picture 7">
            <a:extLst>
              <a:ext uri="{FF2B5EF4-FFF2-40B4-BE49-F238E27FC236}">
                <a16:creationId xmlns:a16="http://schemas.microsoft.com/office/drawing/2014/main" id="{26B8C204-2BFA-46F0-B75B-7168BA9DF5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6087" y="3192929"/>
            <a:ext cx="3448050" cy="5408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Oval 8">
            <a:extLst>
              <a:ext uri="{FF2B5EF4-FFF2-40B4-BE49-F238E27FC236}">
                <a16:creationId xmlns:a16="http://schemas.microsoft.com/office/drawing/2014/main" id="{77F51E49-C7D0-43F6-A111-D8C3DC7D9082}"/>
              </a:ext>
            </a:extLst>
          </p:cNvPr>
          <p:cNvSpPr/>
          <p:nvPr/>
        </p:nvSpPr>
        <p:spPr>
          <a:xfrm>
            <a:off x="9589902" y="3331813"/>
            <a:ext cx="577278" cy="228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0C730722-CF35-4B6A-B457-B50C181DD951}"/>
              </a:ext>
            </a:extLst>
          </p:cNvPr>
          <p:cNvSpPr/>
          <p:nvPr/>
        </p:nvSpPr>
        <p:spPr>
          <a:xfrm>
            <a:off x="9579323" y="4640729"/>
            <a:ext cx="800100" cy="21124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F29FC91D-5ABA-4121-87EB-6F2347DF15A1}"/>
                  </a:ext>
                </a:extLst>
              </p:cNvPr>
              <p:cNvSpPr txBox="1"/>
              <p:nvPr/>
            </p:nvSpPr>
            <p:spPr>
              <a:xfrm>
                <a:off x="1752600" y="5305720"/>
                <a:ext cx="6637511" cy="371577"/>
              </a:xfrm>
              <a:prstGeom prst="rect">
                <a:avLst/>
              </a:prstGeom>
              <a:noFill/>
            </p:spPr>
            <p:txBody>
              <a:bodyPr wrap="square" rtlCol="0">
                <a:noAutofit/>
              </a:bodyPr>
              <a:lstStyle/>
              <a:p>
                <a:pPr/>
                <a14:m>
                  <m:oMathPara xmlns:m="http://schemas.openxmlformats.org/officeDocument/2006/math">
                    <m:oMathParaPr>
                      <m:jc m:val="left"/>
                    </m:oMathParaPr>
                    <m:oMath xmlns:m="http://schemas.openxmlformats.org/officeDocument/2006/math">
                      <m:r>
                        <a:rPr lang="en-US" sz="1600" i="1">
                          <a:latin typeface="Cambria Math"/>
                        </a:rPr>
                        <m:t>𝑉𝑎𝑟</m:t>
                      </m:r>
                      <m:r>
                        <a:rPr lang="en-US" sz="1600" i="1">
                          <a:latin typeface="Cambria Math"/>
                        </a:rPr>
                        <m:t> </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r>
                        <a:rPr lang="en-US" sz="1600">
                          <a:latin typeface="Cambria Math" panose="02040503050406030204" pitchFamily="18" charset="0"/>
                          <a:ea typeface="Cambria Math" charset="0"/>
                          <a:cs typeface="Cambria Math" charset="0"/>
                        </a:rPr>
                        <m:t>=</m:t>
                      </m:r>
                      <m:r>
                        <a:rPr lang="en-US" sz="1600" i="1">
                          <a:latin typeface="Cambria Math"/>
                        </a:rPr>
                        <m:t>𝑉𝑎𝑟</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e>
                      </m:d>
                      <m:r>
                        <a:rPr lang="en-US" sz="1600" i="1">
                          <a:latin typeface="Cambria Math" charset="0"/>
                        </a:rPr>
                        <m:t>+</m:t>
                      </m:r>
                      <m:r>
                        <a:rPr lang="en-US" sz="1600" i="1">
                          <a:latin typeface="Cambria Math"/>
                        </a:rPr>
                        <m:t>𝑉𝑎𝑟</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r>
                        <a:rPr lang="en-US" sz="1600" i="1">
                          <a:latin typeface="Cambria Math" charset="0"/>
                          <a:ea typeface="Cambria Math"/>
                        </a:rPr>
                        <m:t>−2∗</m:t>
                      </m:r>
                      <m:r>
                        <a:rPr lang="en-US" sz="1600" i="1">
                          <a:latin typeface="Cambria Math"/>
                        </a:rPr>
                        <m:t>𝐶𝑜𝑣</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r>
                            <a:rPr lang="en-US" sz="1600" i="1">
                              <a:latin typeface="Cambria Math"/>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oMath>
                  </m:oMathPara>
                </a14:m>
                <a:endParaRPr lang="en-US" sz="1200" dirty="0"/>
              </a:p>
            </p:txBody>
          </p:sp>
        </mc:Choice>
        <mc:Fallback xmlns="">
          <p:sp>
            <p:nvSpPr>
              <p:cNvPr id="11" name="TextBox 10">
                <a:extLst>
                  <a:ext uri="{FF2B5EF4-FFF2-40B4-BE49-F238E27FC236}">
                    <a16:creationId xmlns:a16="http://schemas.microsoft.com/office/drawing/2014/main" id="{F29FC91D-5ABA-4121-87EB-6F2347DF15A1}"/>
                  </a:ext>
                </a:extLst>
              </p:cNvPr>
              <p:cNvSpPr txBox="1">
                <a:spLocks noRot="1" noChangeAspect="1" noMove="1" noResize="1" noEditPoints="1" noAdjustHandles="1" noChangeArrowheads="1" noChangeShapeType="1" noTextEdit="1"/>
              </p:cNvSpPr>
              <p:nvPr/>
            </p:nvSpPr>
            <p:spPr>
              <a:xfrm>
                <a:off x="1752600" y="5305720"/>
                <a:ext cx="6637511" cy="371577"/>
              </a:xfrm>
              <a:prstGeom prst="rect">
                <a:avLst/>
              </a:prstGeom>
              <a:blipFill>
                <a:blip r:embed="rId6"/>
                <a:stretch>
                  <a:fillRect b="-655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45D0023-0F69-49D5-BF38-E1AE043D5CAF}"/>
                  </a:ext>
                </a:extLst>
              </p:cNvPr>
              <p:cNvSpPr txBox="1"/>
              <p:nvPr/>
            </p:nvSpPr>
            <p:spPr>
              <a:xfrm>
                <a:off x="1752599" y="5634840"/>
                <a:ext cx="6180849" cy="371577"/>
              </a:xfrm>
              <a:prstGeom prst="rect">
                <a:avLst/>
              </a:prstGeom>
              <a:noFill/>
            </p:spPr>
            <p:txBody>
              <a:bodyPr wrap="square" rtlCol="0">
                <a:noAutofit/>
              </a:bodyPr>
              <a:lstStyle/>
              <a:p>
                <a:pPr/>
                <a14:m>
                  <m:oMathPara xmlns:m="http://schemas.openxmlformats.org/officeDocument/2006/math">
                    <m:oMathParaPr>
                      <m:jc m:val="left"/>
                    </m:oMathParaPr>
                    <m:oMath xmlns:m="http://schemas.openxmlformats.org/officeDocument/2006/math">
                      <m:r>
                        <a:rPr lang="en-US" sz="1600" i="1">
                          <a:latin typeface="Cambria Math"/>
                        </a:rPr>
                        <m:t>𝑉𝑎𝑟</m:t>
                      </m:r>
                      <m:r>
                        <a:rPr lang="en-US" sz="1600" i="1">
                          <a:latin typeface="Cambria Math"/>
                        </a:rPr>
                        <m:t> </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r>
                        <a:rPr lang="en-US" sz="1600">
                          <a:latin typeface="Cambria Math" panose="02040503050406030204" pitchFamily="18" charset="0"/>
                          <a:ea typeface="Cambria Math" charset="0"/>
                          <a:cs typeface="Cambria Math" charset="0"/>
                        </a:rPr>
                        <m:t>=</m:t>
                      </m:r>
                      <m:r>
                        <a:rPr lang="en-US" sz="1600" i="1">
                          <a:latin typeface="Cambria Math" panose="02040503050406030204" pitchFamily="18" charset="0"/>
                        </a:rPr>
                        <m:t>0.0130377</m:t>
                      </m:r>
                      <m:r>
                        <a:rPr lang="en-US" sz="1600" i="1">
                          <a:latin typeface="Cambria Math" charset="0"/>
                        </a:rPr>
                        <m:t>+</m:t>
                      </m:r>
                      <m:r>
                        <a:rPr lang="en-US" sz="1600" i="1">
                          <a:latin typeface="Cambria Math" panose="02040503050406030204" pitchFamily="18" charset="0"/>
                        </a:rPr>
                        <m:t>0.0410789</m:t>
                      </m:r>
                      <m:r>
                        <a:rPr lang="en-US" sz="1600" i="1">
                          <a:latin typeface="Cambria Math" charset="0"/>
                          <a:ea typeface="Cambria Math"/>
                        </a:rPr>
                        <m:t>−2∗</m:t>
                      </m:r>
                      <m:r>
                        <a:rPr lang="en-US" sz="1600" i="1">
                          <a:latin typeface="Cambria Math" panose="02040503050406030204" pitchFamily="18" charset="0"/>
                          <a:ea typeface="Cambria Math"/>
                        </a:rPr>
                        <m:t>0.01463932</m:t>
                      </m:r>
                    </m:oMath>
                  </m:oMathPara>
                </a14:m>
                <a:endParaRPr lang="en-US" sz="1200" dirty="0"/>
              </a:p>
            </p:txBody>
          </p:sp>
        </mc:Choice>
        <mc:Fallback xmlns="">
          <p:sp>
            <p:nvSpPr>
              <p:cNvPr id="12" name="TextBox 11">
                <a:extLst>
                  <a:ext uri="{FF2B5EF4-FFF2-40B4-BE49-F238E27FC236}">
                    <a16:creationId xmlns:a16="http://schemas.microsoft.com/office/drawing/2014/main" id="{045D0023-0F69-49D5-BF38-E1AE043D5CAF}"/>
                  </a:ext>
                </a:extLst>
              </p:cNvPr>
              <p:cNvSpPr txBox="1">
                <a:spLocks noRot="1" noChangeAspect="1" noMove="1" noResize="1" noEditPoints="1" noAdjustHandles="1" noChangeArrowheads="1" noChangeShapeType="1" noTextEdit="1"/>
              </p:cNvSpPr>
              <p:nvPr/>
            </p:nvSpPr>
            <p:spPr>
              <a:xfrm>
                <a:off x="1752599" y="5634840"/>
                <a:ext cx="6180849" cy="371577"/>
              </a:xfrm>
              <a:prstGeom prst="rect">
                <a:avLst/>
              </a:prstGeom>
              <a:blipFill>
                <a:blip r:embed="rId7"/>
                <a:stretch>
                  <a:fillRect b="-655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8918D4C9-42DC-41BF-9FE8-40AEF55B0F3B}"/>
                  </a:ext>
                </a:extLst>
              </p:cNvPr>
              <p:cNvSpPr/>
              <p:nvPr/>
            </p:nvSpPr>
            <p:spPr>
              <a:xfrm>
                <a:off x="7509041" y="2533019"/>
                <a:ext cx="4073359" cy="351828"/>
              </a:xfrm>
              <a:prstGeom prst="rect">
                <a:avLst/>
              </a:prstGeom>
            </p:spPr>
            <p:txBody>
              <a:bodyPr wrap="none">
                <a:noAutofit/>
              </a:bodyPr>
              <a:lstStyle/>
              <a:p>
                <a14:m>
                  <m:oMath xmlns:m="http://schemas.openxmlformats.org/officeDocument/2006/math">
                    <m:acc>
                      <m:accPr>
                        <m:chr m:val="̂"/>
                        <m:ctrlPr>
                          <a:rPr lang="en-US" sz="1600" i="1">
                            <a:latin typeface="Cambria Math" panose="02040503050406030204" pitchFamily="18" charset="0"/>
                          </a:rPr>
                        </m:ctrlPr>
                      </m:accPr>
                      <m:e>
                        <m:r>
                          <a:rPr lang="en-US" sz="1600" i="1">
                            <a:latin typeface="Cambria Math" charset="0"/>
                          </a:rPr>
                          <m:t>𝑙𝑒𝑛𝑒𝑟𝑔𝑦</m:t>
                        </m:r>
                      </m:e>
                    </m:acc>
                    <m:r>
                      <a:rPr lang="en-US" sz="1600" i="1">
                        <a:latin typeface="Cambria Math" charset="0"/>
                      </a:rPr>
                      <m:t>= </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a:ea typeface="Cambria Math"/>
                              </a:rPr>
                              <m:t>𝛽</m:t>
                            </m:r>
                          </m:e>
                        </m:acc>
                      </m:e>
                      <m:sub>
                        <m:r>
                          <a:rPr lang="en-US" sz="1600" i="1">
                            <a:latin typeface="Cambria Math" charset="0"/>
                          </a:rPr>
                          <m:t>0</m:t>
                        </m:r>
                      </m:sub>
                    </m:sSub>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a:ea typeface="Cambria Math"/>
                              </a:rPr>
                              <m:t>𝛽</m:t>
                            </m:r>
                          </m:e>
                        </m:acc>
                      </m:e>
                      <m:sub>
                        <m:r>
                          <a:rPr lang="en-US" sz="1600" i="1">
                            <a:latin typeface="Cambria Math" charset="0"/>
                            <a:ea typeface="Cambria Math"/>
                          </a:rPr>
                          <m:t>1</m:t>
                        </m:r>
                      </m:sub>
                    </m:sSub>
                    <m:r>
                      <a:rPr lang="en-US" sz="1600" i="1">
                        <a:latin typeface="Cambria Math" charset="0"/>
                      </a:rPr>
                      <m:t>𝑙𝑚𝑎𝑠𝑠</m:t>
                    </m:r>
                  </m:oMath>
                </a14:m>
                <a:r>
                  <a:rPr lang="en-US" sz="1600" dirty="0"/>
                  <a:t> </a:t>
                </a:r>
                <a14:m>
                  <m:oMath xmlns:m="http://schemas.openxmlformats.org/officeDocument/2006/math">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a:ea typeface="Cambria Math"/>
                              </a:rPr>
                              <m:t>𝛽</m:t>
                            </m:r>
                          </m:e>
                        </m:acc>
                      </m:e>
                      <m:sub>
                        <m:r>
                          <a:rPr lang="en-US" sz="1600" i="1">
                            <a:latin typeface="Cambria Math" charset="0"/>
                            <a:ea typeface="Cambria Math"/>
                          </a:rPr>
                          <m:t>2</m:t>
                        </m:r>
                      </m:sub>
                    </m:sSub>
                    <m:r>
                      <a:rPr lang="en-US" sz="1600" i="1">
                        <a:latin typeface="Cambria Math" charset="0"/>
                        <a:ea typeface="Cambria Math"/>
                      </a:rPr>
                      <m:t>𝑏𝑖𝑟𝑑</m:t>
                    </m:r>
                  </m:oMath>
                </a14:m>
                <a:r>
                  <a:rPr lang="en-US" sz="1600" dirty="0"/>
                  <a:t> </a:t>
                </a:r>
                <a14:m>
                  <m:oMath xmlns:m="http://schemas.openxmlformats.org/officeDocument/2006/math">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a:ea typeface="Cambria Math"/>
                              </a:rPr>
                              <m:t>𝛽</m:t>
                            </m:r>
                          </m:e>
                        </m:acc>
                      </m:e>
                      <m:sub>
                        <m:r>
                          <a:rPr lang="en-US" sz="1600" i="1">
                            <a:latin typeface="Cambria Math" charset="0"/>
                            <a:ea typeface="Cambria Math"/>
                          </a:rPr>
                          <m:t>3</m:t>
                        </m:r>
                      </m:sub>
                    </m:sSub>
                    <m:r>
                      <a:rPr lang="en-US" sz="1600" i="1">
                        <a:latin typeface="Cambria Math" charset="0"/>
                        <a:ea typeface="Cambria Math"/>
                      </a:rPr>
                      <m:t>𝑒𝑏𝑎𝑡</m:t>
                    </m:r>
                  </m:oMath>
                </a14:m>
                <a:endParaRPr lang="en-US" sz="1600" dirty="0"/>
              </a:p>
            </p:txBody>
          </p:sp>
        </mc:Choice>
        <mc:Fallback xmlns="">
          <p:sp>
            <p:nvSpPr>
              <p:cNvPr id="13" name="Rectangle 12">
                <a:extLst>
                  <a:ext uri="{FF2B5EF4-FFF2-40B4-BE49-F238E27FC236}">
                    <a16:creationId xmlns:a16="http://schemas.microsoft.com/office/drawing/2014/main" id="{8918D4C9-42DC-41BF-9FE8-40AEF55B0F3B}"/>
                  </a:ext>
                </a:extLst>
              </p:cNvPr>
              <p:cNvSpPr>
                <a:spLocks noRot="1" noChangeAspect="1" noMove="1" noResize="1" noEditPoints="1" noAdjustHandles="1" noChangeArrowheads="1" noChangeShapeType="1" noTextEdit="1"/>
              </p:cNvSpPr>
              <p:nvPr/>
            </p:nvSpPr>
            <p:spPr>
              <a:xfrm>
                <a:off x="7509041" y="2533019"/>
                <a:ext cx="4073359" cy="351828"/>
              </a:xfrm>
              <a:prstGeom prst="rect">
                <a:avLst/>
              </a:prstGeom>
              <a:blipFill>
                <a:blip r:embed="rId8"/>
                <a:stretch>
                  <a:fillRect l="-150" b="-1403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3832D2C4-B80C-43A6-8C4E-0B7F9B41BF7E}"/>
                  </a:ext>
                </a:extLst>
              </p:cNvPr>
              <p:cNvSpPr txBox="1"/>
              <p:nvPr/>
            </p:nvSpPr>
            <p:spPr>
              <a:xfrm>
                <a:off x="1746956" y="5971289"/>
                <a:ext cx="2977445" cy="371577"/>
              </a:xfrm>
              <a:prstGeom prst="rect">
                <a:avLst/>
              </a:prstGeom>
              <a:noFill/>
            </p:spPr>
            <p:txBody>
              <a:bodyPr wrap="square" rtlCol="0">
                <a:noAutofit/>
              </a:bodyPr>
              <a:lstStyle/>
              <a:p>
                <a:pPr/>
                <a14:m>
                  <m:oMathPara xmlns:m="http://schemas.openxmlformats.org/officeDocument/2006/math">
                    <m:oMathParaPr>
                      <m:jc m:val="left"/>
                    </m:oMathParaPr>
                    <m:oMath xmlns:m="http://schemas.openxmlformats.org/officeDocument/2006/math">
                      <m:r>
                        <a:rPr lang="en-US" sz="1600" i="1">
                          <a:latin typeface="Cambria Math"/>
                        </a:rPr>
                        <m:t>𝑉𝑎𝑟</m:t>
                      </m:r>
                      <m:r>
                        <a:rPr lang="en-US" sz="1600" i="1">
                          <a:latin typeface="Cambria Math"/>
                        </a:rPr>
                        <m:t> </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r>
                        <a:rPr lang="en-US" sz="1600">
                          <a:latin typeface="Cambria Math" panose="02040503050406030204" pitchFamily="18" charset="0"/>
                          <a:ea typeface="Cambria Math" charset="0"/>
                          <a:cs typeface="Cambria Math" charset="0"/>
                        </a:rPr>
                        <m:t>=</m:t>
                      </m:r>
                      <m:r>
                        <a:rPr lang="en-US" sz="1600" i="1">
                          <a:latin typeface="Cambria Math" panose="02040503050406030204" pitchFamily="18" charset="0"/>
                        </a:rPr>
                        <m:t>0.024838</m:t>
                      </m:r>
                    </m:oMath>
                  </m:oMathPara>
                </a14:m>
                <a:endParaRPr lang="en-US" sz="1200" dirty="0"/>
              </a:p>
            </p:txBody>
          </p:sp>
        </mc:Choice>
        <mc:Fallback xmlns="">
          <p:sp>
            <p:nvSpPr>
              <p:cNvPr id="14" name="TextBox 13">
                <a:extLst>
                  <a:ext uri="{FF2B5EF4-FFF2-40B4-BE49-F238E27FC236}">
                    <a16:creationId xmlns:a16="http://schemas.microsoft.com/office/drawing/2014/main" id="{3832D2C4-B80C-43A6-8C4E-0B7F9B41BF7E}"/>
                  </a:ext>
                </a:extLst>
              </p:cNvPr>
              <p:cNvSpPr txBox="1">
                <a:spLocks noRot="1" noChangeAspect="1" noMove="1" noResize="1" noEditPoints="1" noAdjustHandles="1" noChangeArrowheads="1" noChangeShapeType="1" noTextEdit="1"/>
              </p:cNvSpPr>
              <p:nvPr/>
            </p:nvSpPr>
            <p:spPr>
              <a:xfrm>
                <a:off x="1746956" y="5971289"/>
                <a:ext cx="2977445" cy="371577"/>
              </a:xfrm>
              <a:prstGeom prst="rect">
                <a:avLst/>
              </a:prstGeom>
              <a:blipFill>
                <a:blip r:embed="rId9"/>
                <a:stretch>
                  <a:fillRect b="-8333"/>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2319F188-CD9A-48A7-BC45-C4041AA90822}"/>
                  </a:ext>
                </a:extLst>
              </p:cNvPr>
              <p:cNvSpPr txBox="1"/>
              <p:nvPr/>
            </p:nvSpPr>
            <p:spPr>
              <a:xfrm>
                <a:off x="1746954" y="6337135"/>
                <a:ext cx="4653846" cy="387350"/>
              </a:xfrm>
              <a:prstGeom prst="rect">
                <a:avLst/>
              </a:prstGeom>
              <a:noFill/>
            </p:spPr>
            <p:txBody>
              <a:bodyPr wrap="square" rtlCol="0">
                <a:noAutofit/>
              </a:bodyPr>
              <a:lstStyle/>
              <a:p>
                <a:pPr/>
                <a14:m>
                  <m:oMathPara xmlns:m="http://schemas.openxmlformats.org/officeDocument/2006/math">
                    <m:oMathParaPr>
                      <m:jc m:val="left"/>
                    </m:oMathParaPr>
                    <m:oMath xmlns:m="http://schemas.openxmlformats.org/officeDocument/2006/math">
                      <m:r>
                        <a:rPr lang="en-US" sz="1600" i="1">
                          <a:latin typeface="Cambria Math" panose="02040503050406030204" pitchFamily="18" charset="0"/>
                        </a:rPr>
                        <m:t>𝑆𝑡</m:t>
                      </m:r>
                      <m:r>
                        <a:rPr lang="en-US" sz="1600" i="1">
                          <a:latin typeface="Cambria Math" panose="02040503050406030204" pitchFamily="18" charset="0"/>
                        </a:rPr>
                        <m:t> </m:t>
                      </m:r>
                      <m:r>
                        <a:rPr lang="en-US" sz="1600" i="1">
                          <a:latin typeface="Cambria Math" panose="02040503050406030204" pitchFamily="18" charset="0"/>
                        </a:rPr>
                        <m:t>𝐸𝑟𝑟𝑜𝑟</m:t>
                      </m:r>
                      <m:r>
                        <a:rPr lang="en-US" sz="1600" i="1">
                          <a:latin typeface="Cambria Math"/>
                        </a:rPr>
                        <m:t> </m:t>
                      </m:r>
                      <m:d>
                        <m:dPr>
                          <m:ctrlPr>
                            <a:rPr lang="en-US" sz="1600" i="1">
                              <a:latin typeface="Cambria Math" panose="02040503050406030204" pitchFamily="18" charset="0"/>
                            </a:rPr>
                          </m:ctrlPr>
                        </m:dPr>
                        <m:e>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a:rPr>
                                <m:t>2</m:t>
                              </m:r>
                            </m:sub>
                          </m:sSub>
                          <m:r>
                            <a:rPr lang="en-US" sz="1600" i="1">
                              <a:latin typeface="Cambria Math" charset="0"/>
                            </a:rPr>
                            <m:t>−</m:t>
                          </m:r>
                          <m:sSub>
                            <m:sSubPr>
                              <m:ctrlPr>
                                <a:rPr lang="en-US" sz="1600" i="1">
                                  <a:latin typeface="Cambria Math" panose="02040503050406030204" pitchFamily="18" charset="0"/>
                                </a:rPr>
                              </m:ctrlPr>
                            </m:sSubPr>
                            <m:e>
                              <m:acc>
                                <m:accPr>
                                  <m:chr m:val="̂"/>
                                  <m:ctrlPr>
                                    <a:rPr lang="en-US" sz="1600" i="1">
                                      <a:latin typeface="Cambria Math" panose="02040503050406030204" pitchFamily="18" charset="0"/>
                                    </a:rPr>
                                  </m:ctrlPr>
                                </m:accPr>
                                <m:e>
                                  <m:r>
                                    <a:rPr lang="en-US" sz="1600" i="1">
                                      <a:latin typeface="Cambria Math" charset="0"/>
                                      <a:ea typeface="Cambria Math" charset="0"/>
                                      <a:cs typeface="Cambria Math" charset="0"/>
                                    </a:rPr>
                                    <m:t>𝛽</m:t>
                                  </m:r>
                                </m:e>
                              </m:acc>
                            </m:e>
                            <m:sub>
                              <m:r>
                                <a:rPr lang="en-US" sz="1600" i="1">
                                  <a:latin typeface="Cambria Math" charset="0"/>
                                  <a:ea typeface="Cambria Math" charset="0"/>
                                  <a:cs typeface="Cambria Math" charset="0"/>
                                </a:rPr>
                                <m:t>3</m:t>
                              </m:r>
                            </m:sub>
                          </m:sSub>
                        </m:e>
                      </m:d>
                      <m:r>
                        <a:rPr lang="en-US" sz="1600">
                          <a:latin typeface="Cambria Math" panose="02040503050406030204" pitchFamily="18" charset="0"/>
                          <a:ea typeface="Cambria Math" charset="0"/>
                          <a:cs typeface="Cambria Math" charset="0"/>
                        </a:rPr>
                        <m:t>=</m:t>
                      </m:r>
                      <m:rad>
                        <m:radPr>
                          <m:degHide m:val="on"/>
                          <m:ctrlPr>
                            <a:rPr lang="en-US" sz="1600" i="1">
                              <a:latin typeface="Cambria Math" panose="02040503050406030204" pitchFamily="18" charset="0"/>
                              <a:ea typeface="Cambria Math" charset="0"/>
                            </a:rPr>
                          </m:ctrlPr>
                        </m:radPr>
                        <m:deg/>
                        <m:e>
                          <m:r>
                            <a:rPr lang="en-US" sz="1600" i="1">
                              <a:latin typeface="Cambria Math" panose="02040503050406030204" pitchFamily="18" charset="0"/>
                            </a:rPr>
                            <m:t>0.024838</m:t>
                          </m:r>
                        </m:e>
                      </m:rad>
                      <m:r>
                        <a:rPr lang="en-US" sz="1600" i="1">
                          <a:latin typeface="Cambria Math" panose="02040503050406030204" pitchFamily="18" charset="0"/>
                          <a:ea typeface="Cambria Math" charset="0"/>
                        </a:rPr>
                        <m:t>=0.1576</m:t>
                      </m:r>
                    </m:oMath>
                  </m:oMathPara>
                </a14:m>
                <a:endParaRPr lang="en-US" sz="1200" dirty="0"/>
              </a:p>
            </p:txBody>
          </p:sp>
        </mc:Choice>
        <mc:Fallback xmlns="">
          <p:sp>
            <p:nvSpPr>
              <p:cNvPr id="15" name="TextBox 14">
                <a:extLst>
                  <a:ext uri="{FF2B5EF4-FFF2-40B4-BE49-F238E27FC236}">
                    <a16:creationId xmlns:a16="http://schemas.microsoft.com/office/drawing/2014/main" id="{2319F188-CD9A-48A7-BC45-C4041AA90822}"/>
                  </a:ext>
                </a:extLst>
              </p:cNvPr>
              <p:cNvSpPr txBox="1">
                <a:spLocks noRot="1" noChangeAspect="1" noMove="1" noResize="1" noEditPoints="1" noAdjustHandles="1" noChangeArrowheads="1" noChangeShapeType="1" noTextEdit="1"/>
              </p:cNvSpPr>
              <p:nvPr/>
            </p:nvSpPr>
            <p:spPr>
              <a:xfrm>
                <a:off x="1746954" y="6337135"/>
                <a:ext cx="4653846" cy="387350"/>
              </a:xfrm>
              <a:prstGeom prst="rect">
                <a:avLst/>
              </a:prstGeom>
              <a:blipFill>
                <a:blip r:embed="rId10"/>
                <a:stretch>
                  <a:fillRect b="-6349"/>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8CBD1C89-205C-41DC-AFEE-BE3F8A43C97F}"/>
              </a:ext>
            </a:extLst>
          </p:cNvPr>
          <p:cNvCxnSpPr>
            <a:cxnSpLocks/>
            <a:stCxn id="10" idx="1"/>
          </p:cNvCxnSpPr>
          <p:nvPr/>
        </p:nvCxnSpPr>
        <p:spPr>
          <a:xfrm flipH="1">
            <a:off x="6842760" y="4746351"/>
            <a:ext cx="2736563" cy="98388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5CFA75A1-9CCE-4960-B16E-B728EA319514}"/>
              </a:ext>
            </a:extLst>
          </p:cNvPr>
          <p:cNvSpPr/>
          <p:nvPr/>
        </p:nvSpPr>
        <p:spPr>
          <a:xfrm>
            <a:off x="9589902" y="4841551"/>
            <a:ext cx="800100" cy="21124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Arrow Connector 20">
            <a:extLst>
              <a:ext uri="{FF2B5EF4-FFF2-40B4-BE49-F238E27FC236}">
                <a16:creationId xmlns:a16="http://schemas.microsoft.com/office/drawing/2014/main" id="{35EB8C55-79E8-417C-A218-62D89AFDD4E0}"/>
              </a:ext>
            </a:extLst>
          </p:cNvPr>
          <p:cNvCxnSpPr>
            <a:cxnSpLocks/>
            <a:stCxn id="20" idx="2"/>
          </p:cNvCxnSpPr>
          <p:nvPr/>
        </p:nvCxnSpPr>
        <p:spPr>
          <a:xfrm flipH="1">
            <a:off x="5257800" y="5052795"/>
            <a:ext cx="4732152" cy="65951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74C2AF6-D23B-434E-B781-A896271901EF}"/>
              </a:ext>
            </a:extLst>
          </p:cNvPr>
          <p:cNvSpPr/>
          <p:nvPr/>
        </p:nvSpPr>
        <p:spPr>
          <a:xfrm>
            <a:off x="8703023" y="4630307"/>
            <a:ext cx="800100" cy="21124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3" name="Straight Arrow Connector 22">
            <a:extLst>
              <a:ext uri="{FF2B5EF4-FFF2-40B4-BE49-F238E27FC236}">
                <a16:creationId xmlns:a16="http://schemas.microsoft.com/office/drawing/2014/main" id="{58B531BC-DC65-44D5-8E99-AD54035BDF05}"/>
              </a:ext>
            </a:extLst>
          </p:cNvPr>
          <p:cNvCxnSpPr>
            <a:cxnSpLocks/>
            <a:stCxn id="22" idx="1"/>
          </p:cNvCxnSpPr>
          <p:nvPr/>
        </p:nvCxnSpPr>
        <p:spPr>
          <a:xfrm flipH="1">
            <a:off x="3886200" y="4735929"/>
            <a:ext cx="4816823" cy="97637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1F7060-28AE-4A12-8976-0037F3ADA187}"/>
              </a:ext>
            </a:extLst>
          </p:cNvPr>
          <p:cNvSpPr txBox="1"/>
          <p:nvPr/>
        </p:nvSpPr>
        <p:spPr>
          <a:xfrm>
            <a:off x="7152074" y="5680101"/>
            <a:ext cx="2362202" cy="378683"/>
          </a:xfrm>
          <a:prstGeom prst="rect">
            <a:avLst/>
          </a:prstGeom>
          <a:noFill/>
        </p:spPr>
        <p:txBody>
          <a:bodyPr wrap="square" rtlCol="0">
            <a:noAutofit/>
          </a:bodyPr>
          <a:lstStyle/>
          <a:p>
            <a:r>
              <a:rPr lang="en-US" sz="1400" dirty="0"/>
              <a:t>Note: </a:t>
            </a:r>
          </a:p>
          <a:p>
            <a:r>
              <a:rPr lang="en-US" sz="1400" dirty="0" err="1"/>
              <a:t>Cov</a:t>
            </a:r>
            <a:r>
              <a:rPr lang="en-US" sz="1400" dirty="0"/>
              <a:t>(X,X) = Var(X)</a:t>
            </a:r>
          </a:p>
        </p:txBody>
      </p:sp>
      <p:cxnSp>
        <p:nvCxnSpPr>
          <p:cNvPr id="24" name="Straight Arrow Connector 23">
            <a:extLst>
              <a:ext uri="{FF2B5EF4-FFF2-40B4-BE49-F238E27FC236}">
                <a16:creationId xmlns:a16="http://schemas.microsoft.com/office/drawing/2014/main" id="{C949480D-420F-4E5B-98E8-F5D7072CEFB1}"/>
              </a:ext>
            </a:extLst>
          </p:cNvPr>
          <p:cNvCxnSpPr>
            <a:cxnSpLocks/>
          </p:cNvCxnSpPr>
          <p:nvPr/>
        </p:nvCxnSpPr>
        <p:spPr>
          <a:xfrm flipH="1">
            <a:off x="3810000" y="2847254"/>
            <a:ext cx="6225984" cy="286505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833AA1B-FB5B-46DE-A2B2-CC07D8E304DE}"/>
              </a:ext>
            </a:extLst>
          </p:cNvPr>
          <p:cNvCxnSpPr>
            <a:cxnSpLocks/>
          </p:cNvCxnSpPr>
          <p:nvPr/>
        </p:nvCxnSpPr>
        <p:spPr>
          <a:xfrm flipH="1">
            <a:off x="5110275" y="2844472"/>
            <a:ext cx="5787833" cy="286783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916233E-8B74-4C6D-97CC-B570B0D27FE2}"/>
              </a:ext>
            </a:extLst>
          </p:cNvPr>
          <p:cNvCxnSpPr>
            <a:cxnSpLocks/>
          </p:cNvCxnSpPr>
          <p:nvPr/>
        </p:nvCxnSpPr>
        <p:spPr>
          <a:xfrm flipH="1">
            <a:off x="6850380" y="2884847"/>
            <a:ext cx="4047728" cy="282253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DBA4517-C85E-4413-848A-84D14FA3043D}"/>
              </a:ext>
            </a:extLst>
          </p:cNvPr>
          <p:cNvCxnSpPr>
            <a:cxnSpLocks/>
          </p:cNvCxnSpPr>
          <p:nvPr/>
        </p:nvCxnSpPr>
        <p:spPr>
          <a:xfrm flipH="1">
            <a:off x="6873240" y="2857352"/>
            <a:ext cx="3162744" cy="28347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FD00D6B-7013-7D4C-AA83-3D53964BBA0B}"/>
              </a:ext>
            </a:extLst>
          </p:cNvPr>
          <p:cNvSpPr txBox="1"/>
          <p:nvPr/>
        </p:nvSpPr>
        <p:spPr>
          <a:xfrm>
            <a:off x="9295629" y="5288340"/>
            <a:ext cx="2462170" cy="1569660"/>
          </a:xfrm>
          <a:prstGeom prst="rect">
            <a:avLst/>
          </a:prstGeom>
          <a:noFill/>
        </p:spPr>
        <p:txBody>
          <a:bodyPr wrap="square" rtlCol="0">
            <a:noAutofit/>
          </a:bodyPr>
          <a:lstStyle/>
          <a:p>
            <a:r>
              <a:rPr lang="en-US" sz="1400" b="1" dirty="0">
                <a:solidFill>
                  <a:srgbClr val="FF0000"/>
                </a:solidFill>
              </a:rPr>
              <a:t>df = 16 (n = 20)</a:t>
            </a:r>
          </a:p>
          <a:p>
            <a:r>
              <a:rPr lang="en-US" sz="1400" b="1" dirty="0">
                <a:solidFill>
                  <a:srgbClr val="FF0000"/>
                </a:solidFill>
              </a:rPr>
              <a:t>MOE = t</a:t>
            </a:r>
            <a:r>
              <a:rPr lang="en-US" sz="1400" b="1" baseline="-25000" dirty="0">
                <a:solidFill>
                  <a:srgbClr val="FF0000"/>
                </a:solidFill>
              </a:rPr>
              <a:t>16,.975 </a:t>
            </a:r>
            <a:r>
              <a:rPr lang="en-US" sz="1400" b="1" dirty="0">
                <a:solidFill>
                  <a:srgbClr val="FF0000"/>
                </a:solidFill>
              </a:rPr>
              <a:t>* SE </a:t>
            </a:r>
          </a:p>
          <a:p>
            <a:r>
              <a:rPr lang="en-US" sz="1400" b="1" dirty="0">
                <a:solidFill>
                  <a:srgbClr val="FF0000"/>
                </a:solidFill>
              </a:rPr>
              <a:t>MOE = 2.12 * .1576</a:t>
            </a:r>
          </a:p>
          <a:p>
            <a:r>
              <a:rPr lang="en-US" sz="1400" b="1" dirty="0">
                <a:solidFill>
                  <a:srgbClr val="FF0000"/>
                </a:solidFill>
              </a:rPr>
              <a:t>MOE = .3341</a:t>
            </a:r>
          </a:p>
          <a:p>
            <a:r>
              <a:rPr lang="en-US" sz="1400" b="1" dirty="0">
                <a:solidFill>
                  <a:srgbClr val="FF0000"/>
                </a:solidFill>
              </a:rPr>
              <a:t>95% CI: (.0236 ± .3341) </a:t>
            </a:r>
          </a:p>
          <a:p>
            <a:r>
              <a:rPr lang="en-US" sz="1400" b="1" dirty="0">
                <a:solidFill>
                  <a:srgbClr val="FF0000"/>
                </a:solidFill>
              </a:rPr>
              <a:t>95% CI: (−.3105, .3577)</a:t>
            </a:r>
          </a:p>
        </p:txBody>
      </p:sp>
      <p:cxnSp>
        <p:nvCxnSpPr>
          <p:cNvPr id="29" name="Straight Arrow Connector 28">
            <a:extLst>
              <a:ext uri="{FF2B5EF4-FFF2-40B4-BE49-F238E27FC236}">
                <a16:creationId xmlns:a16="http://schemas.microsoft.com/office/drawing/2014/main" id="{C85A9468-A3B5-9D48-B96A-CDF9118F18BE}"/>
              </a:ext>
            </a:extLst>
          </p:cNvPr>
          <p:cNvCxnSpPr>
            <a:cxnSpLocks/>
          </p:cNvCxnSpPr>
          <p:nvPr/>
        </p:nvCxnSpPr>
        <p:spPr>
          <a:xfrm flipV="1">
            <a:off x="5638801" y="5894604"/>
            <a:ext cx="4887913" cy="635043"/>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632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5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3">
                                            <p:txEl>
                                              <p:pRg st="10" end="10"/>
                                            </p:txEl>
                                          </p:spTgt>
                                        </p:tgtEl>
                                        <p:attrNameLst>
                                          <p:attrName>style.visibility</p:attrName>
                                        </p:attrNameLst>
                                      </p:cBhvr>
                                      <p:to>
                                        <p:strVal val="visible"/>
                                      </p:to>
                                    </p:set>
                                    <p:animEffect transition="in" filter="fade">
                                      <p:cBhvr>
                                        <p:cTn id="30" dur="500"/>
                                        <p:tgtEl>
                                          <p:spTgt spid="3">
                                            <p:txEl>
                                              <p:pRg st="10" end="10"/>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par>
                                <p:cTn id="34" presetID="1" presetClass="entr" presetSubtype="0" fill="hold" grpId="0" nodeType="withEffect">
                                  <p:stCondLst>
                                    <p:cond delay="0"/>
                                  </p:stCondLst>
                                  <p:childTnLst>
                                    <p:set>
                                      <p:cBhvr>
                                        <p:cTn id="35" dur="1" fill="hold">
                                          <p:stCondLst>
                                            <p:cond delay="0"/>
                                          </p:stCondLst>
                                        </p:cTn>
                                        <p:tgtEl>
                                          <p:spTgt spid="9"/>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7"/>
                                        </p:tgtEl>
                                        <p:attrNameLst>
                                          <p:attrName>style.visibility</p:attrName>
                                        </p:attrNameLst>
                                      </p:cBhvr>
                                      <p:to>
                                        <p:strVal val="visible"/>
                                      </p:to>
                                    </p:set>
                                  </p:childTnLst>
                                </p:cTn>
                              </p:par>
                              <p:par>
                                <p:cTn id="38" presetID="10" presetClass="entr" presetSubtype="0"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4"/>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grpId="1" nodeType="clickEffect">
                                  <p:stCondLst>
                                    <p:cond delay="0"/>
                                  </p:stCondLst>
                                  <p:childTnLst>
                                    <p:set>
                                      <p:cBhvr>
                                        <p:cTn id="64" dur="1" fill="hold">
                                          <p:stCondLst>
                                            <p:cond delay="0"/>
                                          </p:stCondLst>
                                        </p:cTn>
                                        <p:tgtEl>
                                          <p:spTgt spid="22"/>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23"/>
                                        </p:tgtEl>
                                        <p:attrNameLst>
                                          <p:attrName>style.visibility</p:attrName>
                                        </p:attrNameLst>
                                      </p:cBhvr>
                                      <p:to>
                                        <p:strVal val="hidden"/>
                                      </p:to>
                                    </p:set>
                                  </p:childTnLst>
                                </p:cTn>
                              </p:par>
                              <p:par>
                                <p:cTn id="67" presetID="1" presetClass="exit" presetSubtype="0" fill="hold" nodeType="withEffect">
                                  <p:stCondLst>
                                    <p:cond delay="0"/>
                                  </p:stCondLst>
                                  <p:childTnLst>
                                    <p:set>
                                      <p:cBhvr>
                                        <p:cTn id="68" dur="1" fill="hold">
                                          <p:stCondLst>
                                            <p:cond delay="0"/>
                                          </p:stCondLst>
                                        </p:cTn>
                                        <p:tgtEl>
                                          <p:spTgt spid="24"/>
                                        </p:tgtEl>
                                        <p:attrNameLst>
                                          <p:attrName>style.visibility</p:attrName>
                                        </p:attrNameLst>
                                      </p:cBhvr>
                                      <p:to>
                                        <p:strVal val="hidden"/>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25"/>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grpId="1" nodeType="clickEffect">
                                  <p:stCondLst>
                                    <p:cond delay="0"/>
                                  </p:stCondLst>
                                  <p:childTnLst>
                                    <p:set>
                                      <p:cBhvr>
                                        <p:cTn id="78" dur="1" fill="hold">
                                          <p:stCondLst>
                                            <p:cond delay="0"/>
                                          </p:stCondLst>
                                        </p:cTn>
                                        <p:tgtEl>
                                          <p:spTgt spid="20"/>
                                        </p:tgtEl>
                                        <p:attrNameLst>
                                          <p:attrName>style.visibility</p:attrName>
                                        </p:attrNameLst>
                                      </p:cBhvr>
                                      <p:to>
                                        <p:strVal val="hidden"/>
                                      </p:to>
                                    </p:set>
                                  </p:childTnLst>
                                </p:cTn>
                              </p:par>
                              <p:par>
                                <p:cTn id="79" presetID="1" presetClass="exit" presetSubtype="0" fill="hold" nodeType="withEffect">
                                  <p:stCondLst>
                                    <p:cond delay="0"/>
                                  </p:stCondLst>
                                  <p:childTnLst>
                                    <p:set>
                                      <p:cBhvr>
                                        <p:cTn id="80" dur="1" fill="hold">
                                          <p:stCondLst>
                                            <p:cond delay="0"/>
                                          </p:stCondLst>
                                        </p:cTn>
                                        <p:tgtEl>
                                          <p:spTgt spid="21"/>
                                        </p:tgtEl>
                                        <p:attrNameLst>
                                          <p:attrName>style.visibility</p:attrName>
                                        </p:attrNameLst>
                                      </p:cBhvr>
                                      <p:to>
                                        <p:strVal val="hidden"/>
                                      </p:to>
                                    </p:set>
                                  </p:childTnLst>
                                </p:cTn>
                              </p:par>
                              <p:par>
                                <p:cTn id="81" presetID="1" presetClass="exit" presetSubtype="0" fill="hold" nodeType="withEffect">
                                  <p:stCondLst>
                                    <p:cond delay="0"/>
                                  </p:stCondLst>
                                  <p:childTnLst>
                                    <p:set>
                                      <p:cBhvr>
                                        <p:cTn id="82" dur="1" fill="hold">
                                          <p:stCondLst>
                                            <p:cond delay="0"/>
                                          </p:stCondLst>
                                        </p:cTn>
                                        <p:tgtEl>
                                          <p:spTgt spid="25"/>
                                        </p:tgtEl>
                                        <p:attrNameLst>
                                          <p:attrName>style.visibility</p:attrName>
                                        </p:attrNameLst>
                                      </p:cBhvr>
                                      <p:to>
                                        <p:strVal val="hidden"/>
                                      </p:to>
                                    </p:set>
                                  </p:childTnLst>
                                </p:cTn>
                              </p:par>
                              <p:par>
                                <p:cTn id="83" presetID="1" presetClass="entr" presetSubtype="0" fill="hold" grpId="0" nodeType="withEffect">
                                  <p:stCondLst>
                                    <p:cond delay="0"/>
                                  </p:stCondLst>
                                  <p:childTnLst>
                                    <p:set>
                                      <p:cBhvr>
                                        <p:cTn id="84" dur="1" fill="hold">
                                          <p:stCondLst>
                                            <p:cond delay="0"/>
                                          </p:stCondLst>
                                        </p:cTn>
                                        <p:tgtEl>
                                          <p:spTgt spid="10"/>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2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xit" presetSubtype="0" fill="hold" grpId="1" nodeType="clickEffect">
                                  <p:stCondLst>
                                    <p:cond delay="0"/>
                                  </p:stCondLst>
                                  <p:childTnLst>
                                    <p:set>
                                      <p:cBhvr>
                                        <p:cTn id="94" dur="1" fill="hold">
                                          <p:stCondLst>
                                            <p:cond delay="0"/>
                                          </p:stCondLst>
                                        </p:cTn>
                                        <p:tgtEl>
                                          <p:spTgt spid="10"/>
                                        </p:tgtEl>
                                        <p:attrNameLst>
                                          <p:attrName>style.visibility</p:attrName>
                                        </p:attrNameLst>
                                      </p:cBhvr>
                                      <p:to>
                                        <p:strVal val="hidden"/>
                                      </p:to>
                                    </p:set>
                                  </p:childTnLst>
                                </p:cTn>
                              </p:par>
                              <p:par>
                                <p:cTn id="95" presetID="1" presetClass="exit" presetSubtype="0" fill="hold" nodeType="withEffect">
                                  <p:stCondLst>
                                    <p:cond delay="0"/>
                                  </p:stCondLst>
                                  <p:childTnLst>
                                    <p:set>
                                      <p:cBhvr>
                                        <p:cTn id="96" dur="1" fill="hold">
                                          <p:stCondLst>
                                            <p:cond delay="0"/>
                                          </p:stCondLst>
                                        </p:cTn>
                                        <p:tgtEl>
                                          <p:spTgt spid="18"/>
                                        </p:tgtEl>
                                        <p:attrNameLst>
                                          <p:attrName>style.visibility</p:attrName>
                                        </p:attrNameLst>
                                      </p:cBhvr>
                                      <p:to>
                                        <p:strVal val="hidden"/>
                                      </p:to>
                                    </p:set>
                                  </p:childTnLst>
                                </p:cTn>
                              </p:par>
                              <p:par>
                                <p:cTn id="97" presetID="1" presetClass="exit" presetSubtype="0" fill="hold" nodeType="withEffect">
                                  <p:stCondLst>
                                    <p:cond delay="0"/>
                                  </p:stCondLst>
                                  <p:childTnLst>
                                    <p:set>
                                      <p:cBhvr>
                                        <p:cTn id="98" dur="1" fill="hold">
                                          <p:stCondLst>
                                            <p:cond delay="0"/>
                                          </p:stCondLst>
                                        </p:cTn>
                                        <p:tgtEl>
                                          <p:spTgt spid="27"/>
                                        </p:tgtEl>
                                        <p:attrNameLst>
                                          <p:attrName>style.visibility</p:attrName>
                                        </p:attrNameLst>
                                      </p:cBhvr>
                                      <p:to>
                                        <p:strVal val="hidden"/>
                                      </p:to>
                                    </p:set>
                                  </p:childTnLst>
                                </p:cTn>
                              </p:par>
                              <p:par>
                                <p:cTn id="99" presetID="1" presetClass="exit" presetSubtype="0" fill="hold" nodeType="withEffect">
                                  <p:stCondLst>
                                    <p:cond delay="0"/>
                                  </p:stCondLst>
                                  <p:childTnLst>
                                    <p:set>
                                      <p:cBhvr>
                                        <p:cTn id="100" dur="1" fill="hold">
                                          <p:stCondLst>
                                            <p:cond delay="0"/>
                                          </p:stCondLst>
                                        </p:cTn>
                                        <p:tgtEl>
                                          <p:spTgt spid="28"/>
                                        </p:tgtEl>
                                        <p:attrNameLst>
                                          <p:attrName>style.visibility</p:attrName>
                                        </p:attrNameLst>
                                      </p:cBhvr>
                                      <p:to>
                                        <p:strVal val="hidden"/>
                                      </p:to>
                                    </p:set>
                                  </p:childTnLst>
                                </p:cTn>
                              </p:par>
                              <p:par>
                                <p:cTn id="101" presetID="1" presetClass="entr" presetSubtype="0" fill="hold" grpId="0" nodeType="withEffect">
                                  <p:stCondLst>
                                    <p:cond delay="0"/>
                                  </p:stCondLst>
                                  <p:childTnLst>
                                    <p:set>
                                      <p:cBhvr>
                                        <p:cTn id="102" dur="1" fill="hold">
                                          <p:stCondLst>
                                            <p:cond delay="0"/>
                                          </p:stCondLst>
                                        </p:cTn>
                                        <p:tgtEl>
                                          <p:spTgt spid="14"/>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15"/>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6"/>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0" presetClass="entr" presetSubtype="0" fill="hold" nodeType="clickEffect">
                                  <p:stCondLst>
                                    <p:cond delay="0"/>
                                  </p:stCondLst>
                                  <p:childTnLst>
                                    <p:set>
                                      <p:cBhvr>
                                        <p:cTn id="114" dur="1" fill="hold">
                                          <p:stCondLst>
                                            <p:cond delay="0"/>
                                          </p:stCondLst>
                                        </p:cTn>
                                        <p:tgtEl>
                                          <p:spTgt spid="29"/>
                                        </p:tgtEl>
                                        <p:attrNameLst>
                                          <p:attrName>style.visibility</p:attrName>
                                        </p:attrNameLst>
                                      </p:cBhvr>
                                      <p:to>
                                        <p:strVal val="visible"/>
                                      </p:to>
                                    </p:set>
                                    <p:animEffect transition="in" filter="fade">
                                      <p:cBhvr>
                                        <p:cTn id="11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0" grpId="1" animBg="1"/>
      <p:bldP spid="11" grpId="0"/>
      <p:bldP spid="12" grpId="0"/>
      <p:bldP spid="13" grpId="0"/>
      <p:bldP spid="14" grpId="0"/>
      <p:bldP spid="15" grpId="0"/>
      <p:bldP spid="20" grpId="0" animBg="1"/>
      <p:bldP spid="20" grpId="1" animBg="1"/>
      <p:bldP spid="22" grpId="0" animBg="1"/>
      <p:bldP spid="22" grpId="1" animBg="1"/>
      <p:bldP spid="5" grpId="0"/>
      <p:bldP spid="26"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Energy Cost of Echolocation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600204"/>
                <a:ext cx="10972800" cy="2062159"/>
              </a:xfrm>
            </p:spPr>
            <p:txBody>
              <a:bodyPr/>
              <a:lstStyle/>
              <a:p>
                <a:r>
                  <a:rPr lang="en-US" sz="1600" dirty="0"/>
                  <a:t>Find a 95% confidence interval for the difference in the </a:t>
                </a:r>
                <a:r>
                  <a:rPr lang="en-US" sz="1600" dirty="0">
                    <a:solidFill>
                      <a:srgbClr val="0070C0"/>
                    </a:solidFill>
                  </a:rPr>
                  <a:t>intercepts</a:t>
                </a:r>
                <a:r>
                  <a:rPr lang="en-US" sz="1600" dirty="0"/>
                  <a:t> between </a:t>
                </a:r>
                <a:r>
                  <a:rPr lang="en-US" sz="1600" b="1" dirty="0">
                    <a:solidFill>
                      <a:srgbClr val="00B050"/>
                    </a:solidFill>
                  </a:rPr>
                  <a:t>non-echolocating birds and echolocating bats.</a:t>
                </a:r>
              </a:p>
              <a:p>
                <a:pPr marL="0" indent="0">
                  <a:buNone/>
                </a:pPr>
                <a14:m>
                  <m:oMathPara xmlns:m="http://schemas.openxmlformats.org/officeDocument/2006/math">
                    <m:oMathParaPr>
                      <m:jc m:val="centerGroup"/>
                    </m:oMathParaPr>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charset="0"/>
                          <a:ea typeface="Cambria Math" charset="0"/>
                          <a:cs typeface="Cambria Math" charset="0"/>
                        </a:rPr>
                        <m:t>}= </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2</m:t>
                          </m:r>
                        </m:sub>
                      </m:sSub>
                      <m:r>
                        <a:rPr lang="en-US" sz="1600" i="1">
                          <a:latin typeface="Cambria Math" panose="02040503050406030204" pitchFamily="18" charset="0"/>
                          <a:ea typeface="Cambria Math" charset="0"/>
                          <a:cs typeface="Cambria Math" charset="0"/>
                        </a:rPr>
                        <m:t>𝑛</m:t>
                      </m:r>
                      <m:r>
                        <a:rPr lang="en-US" sz="1600" i="1">
                          <a:latin typeface="Cambria Math" charset="0"/>
                          <a:ea typeface="Cambria Math" charset="0"/>
                          <a:cs typeface="Cambria Math" charset="0"/>
                        </a:rPr>
                        <m:t>𝑒𝑏𝑎𝑡</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3</m:t>
                          </m:r>
                        </m:sub>
                      </m:sSub>
                      <m:r>
                        <a:rPr lang="en-US" sz="1600" i="1">
                          <a:latin typeface="Cambria Math" charset="0"/>
                          <a:ea typeface="Cambria Math" charset="0"/>
                          <a:cs typeface="Cambria Math" charset="0"/>
                        </a:rPr>
                        <m:t>𝑏𝑖𝑟𝑑</m:t>
                      </m:r>
                    </m:oMath>
                  </m:oMathPara>
                </a14:m>
                <a:endParaRPr lang="en-US" sz="1600" i="1" dirty="0">
                  <a:ea typeface="Cambria Math" charset="0"/>
                  <a:cs typeface="Cambria Math" charset="0"/>
                </a:endParaRPr>
              </a:p>
              <a:p>
                <a:r>
                  <a:rPr lang="en-US" sz="1600" dirty="0"/>
                  <a:t>Individual regression equations for each relevant value of TYPE:</a:t>
                </a:r>
              </a:p>
              <a:p>
                <a:pPr marL="0" indent="0" algn="ctr">
                  <a:buNone/>
                </a:pPr>
                <a14:m>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panose="02040503050406030204" pitchFamily="18" charset="0"/>
                        <a:ea typeface="Cambria Math" charset="0"/>
                        <a:cs typeface="Cambria Math" charset="0"/>
                      </a:rPr>
                      <m:t>=</m:t>
                    </m:r>
                    <m:r>
                      <a:rPr lang="en-US" sz="1600" b="1" i="1">
                        <a:latin typeface="Cambria Math" panose="02040503050406030204" pitchFamily="18" charset="0"/>
                        <a:ea typeface="Cambria Math" charset="0"/>
                        <a:cs typeface="Cambria Math" charset="0"/>
                      </a:rPr>
                      <m:t>𝒃𝒊𝒓𝒅𝒔</m:t>
                    </m:r>
                    <m:r>
                      <a:rPr lang="en-US" sz="1600" i="1">
                        <a:latin typeface="Cambria Math" charset="0"/>
                        <a:ea typeface="Cambria Math" charset="0"/>
                        <a:cs typeface="Cambria Math" charset="0"/>
                      </a:rPr>
                      <m:t>}=</m:t>
                    </m:r>
                    <m:r>
                      <a:rPr lang="en-US" sz="1600" i="1">
                        <a:latin typeface="Cambria Math" panose="02040503050406030204" pitchFamily="18" charset="0"/>
                        <a:ea typeface="Cambria Math" charset="0"/>
                        <a:cs typeface="Cambria Math" charset="0"/>
                      </a:rPr>
                      <m:t>(</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𝟎</m:t>
                        </m:r>
                      </m:sub>
                    </m:sSub>
                    <m:r>
                      <a:rPr lang="en-US" sz="1600" b="1" i="1">
                        <a:latin typeface="Cambria Math" panose="02040503050406030204" pitchFamily="18" charset="0"/>
                        <a:ea typeface="Cambria Math" charset="0"/>
                        <a:cs typeface="Cambria Math" charset="0"/>
                      </a:rPr>
                      <m:t>+</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panose="02040503050406030204" pitchFamily="18" charset="0"/>
                            <a:ea typeface="Cambria Math" charset="0"/>
                            <a:cs typeface="Cambria Math" charset="0"/>
                          </a:rPr>
                          <m:t>𝟑</m:t>
                        </m:r>
                      </m:sub>
                    </m:sSub>
                    <m:r>
                      <a:rPr lang="en-US" sz="1600"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oMath>
                </a14:m>
                <a:r>
                  <a:rPr lang="en-US" sz="1600" i="1" dirty="0"/>
                  <a:t>: </a:t>
                </a:r>
                <a:r>
                  <a:rPr lang="en-US" sz="1600" i="1" dirty="0">
                    <a:solidFill>
                      <a:srgbClr val="0070C0"/>
                    </a:solidFill>
                  </a:rPr>
                  <a:t>intercept</a:t>
                </a:r>
                <a:r>
                  <a:rPr lang="en-US" sz="1600" i="1" dirty="0"/>
                  <a:t> =</a:t>
                </a:r>
                <a14:m>
                  <m:oMath xmlns:m="http://schemas.openxmlformats.org/officeDocument/2006/math">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panose="02040503050406030204" pitchFamily="18" charset="0"/>
                            <a:ea typeface="Cambria Math" charset="0"/>
                            <a:cs typeface="Cambria Math" charset="0"/>
                          </a:rPr>
                          <m:t>𝟎</m:t>
                        </m:r>
                      </m:sub>
                    </m:sSub>
                    <m:r>
                      <a:rPr lang="en-US" sz="1600" b="1" i="1">
                        <a:latin typeface="Cambria Math" panose="02040503050406030204" pitchFamily="18" charset="0"/>
                        <a:ea typeface="Cambria Math" charset="0"/>
                        <a:cs typeface="Cambria Math" charset="0"/>
                      </a:rPr>
                      <m:t>+</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panose="02040503050406030204" pitchFamily="18" charset="0"/>
                            <a:ea typeface="Cambria Math" charset="0"/>
                            <a:cs typeface="Cambria Math" charset="0"/>
                          </a:rPr>
                          <m:t>𝟑</m:t>
                        </m:r>
                      </m:sub>
                    </m:sSub>
                  </m:oMath>
                </a14:m>
                <a:endParaRPr lang="en-US" sz="1600" i="1" dirty="0"/>
              </a:p>
              <a:p>
                <a:pPr marL="0" indent="0" algn="ctr">
                  <a:buNone/>
                </a:pPr>
                <a14:m>
                  <m:oMath xmlns:m="http://schemas.openxmlformats.org/officeDocument/2006/math">
                    <m:r>
                      <a:rPr lang="en-US" sz="1600" i="1">
                        <a:latin typeface="Cambria Math" charset="0"/>
                        <a:ea typeface="Cambria Math" charset="0"/>
                        <a:cs typeface="Cambria Math" charset="0"/>
                      </a:rPr>
                      <m:t>𝜇</m:t>
                    </m:r>
                    <m:d>
                      <m:dPr>
                        <m:begChr m:val="{"/>
                        <m:endChr m:val="|"/>
                        <m:ctrlPr>
                          <a:rPr lang="en-US" sz="1600" i="1">
                            <a:latin typeface="Cambria Math" panose="02040503050406030204" pitchFamily="18" charset="0"/>
                            <a:ea typeface="Cambria Math" charset="0"/>
                            <a:cs typeface="Cambria Math" charset="0"/>
                          </a:rPr>
                        </m:ctrlPr>
                      </m:dPr>
                      <m:e>
                        <m:r>
                          <a:rPr lang="en-US" sz="1600" i="1">
                            <a:latin typeface="Cambria Math" charset="0"/>
                            <a:ea typeface="Cambria Math" charset="0"/>
                            <a:cs typeface="Cambria Math" charset="0"/>
                          </a:rPr>
                          <m:t>𝑙𝑒𝑛𝑒𝑟</m:t>
                        </m:r>
                        <m:r>
                          <a:rPr lang="en-US" sz="1600" i="1">
                            <a:latin typeface="Cambria Math" panose="02040503050406030204" pitchFamily="18" charset="0"/>
                            <a:ea typeface="Cambria Math" charset="0"/>
                            <a:cs typeface="Cambria Math" charset="0"/>
                          </a:rPr>
                          <m:t>𝑔</m:t>
                        </m:r>
                        <m:r>
                          <a:rPr lang="en-US" sz="1600" i="1">
                            <a:latin typeface="Cambria Math" charset="0"/>
                            <a:ea typeface="Cambria Math" charset="0"/>
                            <a:cs typeface="Cambria Math" charset="0"/>
                          </a:rPr>
                          <m:t>𝑦</m:t>
                        </m:r>
                        <m:r>
                          <a:rPr lang="en-US" sz="1600" i="1">
                            <a:latin typeface="Cambria Math" charset="0"/>
                            <a:ea typeface="Cambria Math" charset="0"/>
                            <a:cs typeface="Cambria Math" charset="0"/>
                          </a:rPr>
                          <m:t> </m:t>
                        </m:r>
                      </m:e>
                    </m:d>
                    <m:r>
                      <a:rPr lang="en-US" sz="1600" i="1">
                        <a:latin typeface="Cambria Math" charset="0"/>
                        <a:ea typeface="Cambria Math" charset="0"/>
                        <a:cs typeface="Cambria Math" charset="0"/>
                      </a:rPr>
                      <m:t>𝑙𝑚𝑎𝑠𝑠</m:t>
                    </m:r>
                    <m:r>
                      <a:rPr lang="en-US" sz="1600" i="1">
                        <a:latin typeface="Cambria Math" charset="0"/>
                        <a:ea typeface="Cambria Math" charset="0"/>
                        <a:cs typeface="Cambria Math" charset="0"/>
                      </a:rPr>
                      <m:t>, </m:t>
                    </m:r>
                    <m:r>
                      <a:rPr lang="en-US" sz="1600" i="1">
                        <a:latin typeface="Cambria Math" charset="0"/>
                        <a:ea typeface="Cambria Math" charset="0"/>
                        <a:cs typeface="Cambria Math" charset="0"/>
                      </a:rPr>
                      <m:t>𝑇𝑌𝑃𝐸</m:t>
                    </m:r>
                    <m:r>
                      <a:rPr lang="en-US" sz="1600" i="1">
                        <a:latin typeface="Cambria Math" panose="02040503050406030204" pitchFamily="18" charset="0"/>
                        <a:ea typeface="Cambria Math" charset="0"/>
                        <a:cs typeface="Cambria Math" charset="0"/>
                      </a:rPr>
                      <m:t>=</m:t>
                    </m:r>
                    <m:r>
                      <a:rPr lang="en-US" sz="1600" b="1" i="1">
                        <a:latin typeface="Cambria Math" panose="02040503050406030204" pitchFamily="18" charset="0"/>
                        <a:ea typeface="Cambria Math" charset="0"/>
                        <a:cs typeface="Cambria Math" charset="0"/>
                      </a:rPr>
                      <m:t>𝒆𝒃𝒂𝒕</m:t>
                    </m:r>
                    <m:r>
                      <a:rPr lang="en-US" sz="1600" i="1">
                        <a:latin typeface="Cambria Math" charset="0"/>
                        <a:ea typeface="Cambria Math" charset="0"/>
                        <a:cs typeface="Cambria Math" charset="0"/>
                      </a:rPr>
                      <m:t>}=</m:t>
                    </m:r>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charset="0"/>
                            <a:ea typeface="Cambria Math" charset="0"/>
                            <a:cs typeface="Cambria Math" charset="0"/>
                          </a:rPr>
                          <m:t>𝟎</m:t>
                        </m:r>
                      </m:sub>
                    </m:sSub>
                    <m:r>
                      <a:rPr lang="en-US" sz="1600" b="1"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charset="0"/>
                            <a:ea typeface="Cambria Math" charset="0"/>
                            <a:cs typeface="Cambria Math" charset="0"/>
                          </a:rPr>
                          <m:t>1</m:t>
                        </m:r>
                      </m:sub>
                    </m:sSub>
                    <m:r>
                      <a:rPr lang="en-US" sz="1600" i="1">
                        <a:latin typeface="Cambria Math" charset="0"/>
                        <a:ea typeface="Cambria Math" charset="0"/>
                        <a:cs typeface="Cambria Math" charset="0"/>
                      </a:rPr>
                      <m:t>𝑙𝑚𝑎𝑠𝑠</m:t>
                    </m:r>
                  </m:oMath>
                </a14:m>
                <a:r>
                  <a:rPr lang="en-US" sz="1600" i="1" dirty="0"/>
                  <a:t> : </a:t>
                </a:r>
                <a:r>
                  <a:rPr lang="en-US" sz="1600" i="1" dirty="0">
                    <a:solidFill>
                      <a:srgbClr val="0070C0"/>
                    </a:solidFill>
                  </a:rPr>
                  <a:t>intercept</a:t>
                </a:r>
                <a:r>
                  <a:rPr lang="en-US" sz="1600" i="1" dirty="0"/>
                  <a:t> =</a:t>
                </a:r>
                <a:r>
                  <a:rPr lang="en-US" sz="1600" b="1" dirty="0">
                    <a:ea typeface="Cambria Math" charset="0"/>
                    <a:cs typeface="Cambria Math" charset="0"/>
                  </a:rPr>
                  <a:t> </a:t>
                </a:r>
                <a14:m>
                  <m:oMath xmlns:m="http://schemas.openxmlformats.org/officeDocument/2006/math">
                    <m:sSub>
                      <m:sSubPr>
                        <m:ctrlPr>
                          <a:rPr lang="en-US" sz="1600" b="1" i="1">
                            <a:latin typeface="Cambria Math" panose="02040503050406030204" pitchFamily="18" charset="0"/>
                            <a:ea typeface="Cambria Math" charset="0"/>
                            <a:cs typeface="Cambria Math" charset="0"/>
                          </a:rPr>
                        </m:ctrlPr>
                      </m:sSubPr>
                      <m:e>
                        <m:r>
                          <a:rPr lang="en-US" sz="1600" b="1" i="1">
                            <a:latin typeface="Cambria Math" charset="0"/>
                            <a:ea typeface="Cambria Math" charset="0"/>
                            <a:cs typeface="Cambria Math" charset="0"/>
                          </a:rPr>
                          <m:t>𝜷</m:t>
                        </m:r>
                      </m:e>
                      <m:sub>
                        <m:r>
                          <a:rPr lang="en-US" sz="1600" b="1" i="1">
                            <a:latin typeface="Cambria Math" panose="02040503050406030204" pitchFamily="18" charset="0"/>
                            <a:ea typeface="Cambria Math" charset="0"/>
                            <a:cs typeface="Cambria Math" charset="0"/>
                          </a:rPr>
                          <m:t>𝟎</m:t>
                        </m:r>
                      </m:sub>
                    </m:sSub>
                  </m:oMath>
                </a14:m>
                <a:endParaRPr lang="en-US" sz="1600" i="1" dirty="0">
                  <a:ea typeface="Cambria Math" charset="0"/>
                  <a:cs typeface="Cambria Math" charset="0"/>
                </a:endParaRPr>
              </a:p>
              <a:p>
                <a:r>
                  <a:rPr lang="en-US" sz="1600" dirty="0"/>
                  <a:t>The difference in intercepts is </a:t>
                </a:r>
                <a14:m>
                  <m:oMath xmlns:m="http://schemas.openxmlformats.org/officeDocument/2006/math">
                    <m:d>
                      <m:dPr>
                        <m:ctrlPr>
                          <a:rPr lang="en-US" sz="1600" i="1">
                            <a:latin typeface="Cambria Math" panose="02040503050406030204" pitchFamily="18" charset="0"/>
                            <a:ea typeface="Cambria Math" charset="0"/>
                            <a:cs typeface="Cambria Math" charset="0"/>
                          </a:rPr>
                        </m:ctrlPr>
                      </m:dPr>
                      <m:e>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panose="02040503050406030204" pitchFamily="18" charset="0"/>
                                <a:ea typeface="Cambria Math" charset="0"/>
                                <a:cs typeface="Cambria Math" charset="0"/>
                              </a:rPr>
                              <m:t>0</m:t>
                            </m:r>
                          </m:sub>
                        </m:sSub>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m:t>
                            </m:r>
                            <m:r>
                              <a:rPr lang="en-US" sz="1600" i="1">
                                <a:latin typeface="Cambria Math" charset="0"/>
                                <a:ea typeface="Cambria Math" charset="0"/>
                                <a:cs typeface="Cambria Math" charset="0"/>
                              </a:rPr>
                              <m:t>𝛽</m:t>
                            </m:r>
                          </m:e>
                          <m:sub>
                            <m:r>
                              <a:rPr lang="en-US" sz="1600" i="1">
                                <a:latin typeface="Cambria Math" panose="02040503050406030204" pitchFamily="18" charset="0"/>
                                <a:ea typeface="Cambria Math" charset="0"/>
                                <a:cs typeface="Cambria Math" charset="0"/>
                              </a:rPr>
                              <m:t>3</m:t>
                            </m:r>
                          </m:sub>
                        </m:sSub>
                      </m:e>
                    </m:d>
                    <m:r>
                      <a:rPr lang="en-US" sz="1600"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panose="02040503050406030204" pitchFamily="18" charset="0"/>
                            <a:ea typeface="Cambria Math" charset="0"/>
                            <a:cs typeface="Cambria Math" charset="0"/>
                          </a:rPr>
                          <m:t>0</m:t>
                        </m:r>
                      </m:sub>
                    </m:sSub>
                    <m:r>
                      <a:rPr lang="en-US" sz="1600" i="1">
                        <a:latin typeface="Cambria Math" panose="02040503050406030204" pitchFamily="18" charset="0"/>
                        <a:ea typeface="Cambria Math" charset="0"/>
                        <a:cs typeface="Cambria Math" charset="0"/>
                      </a:rPr>
                      <m:t>=</m:t>
                    </m:r>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panose="02040503050406030204" pitchFamily="18" charset="0"/>
                            <a:ea typeface="Cambria Math" charset="0"/>
                            <a:cs typeface="Cambria Math" charset="0"/>
                          </a:rPr>
                          <m:t>3</m:t>
                        </m:r>
                      </m:sub>
                    </m:sSub>
                  </m:oMath>
                </a14:m>
                <a:r>
                  <a:rPr lang="en-US" sz="16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600204"/>
                <a:ext cx="10972800" cy="2062159"/>
              </a:xfrm>
              <a:blipFill>
                <a:blip r:embed="rId3"/>
                <a:stretch>
                  <a:fillRect l="-222" t="-888" b="-5621"/>
                </a:stretch>
              </a:blipFill>
            </p:spPr>
            <p:txBody>
              <a:bodyPr/>
              <a:lstStyle/>
              <a:p>
                <a:r>
                  <a:rPr lang="en-US">
                    <a:noFill/>
                  </a:rPr>
                  <a:t> </a:t>
                </a:r>
              </a:p>
            </p:txBody>
          </p:sp>
        </mc:Fallback>
      </mc:AlternateContent>
      <p:sp>
        <p:nvSpPr>
          <p:cNvPr id="4" name="TextBox 3"/>
          <p:cNvSpPr txBox="1"/>
          <p:nvPr/>
        </p:nvSpPr>
        <p:spPr>
          <a:xfrm>
            <a:off x="605971" y="4656305"/>
            <a:ext cx="2462170" cy="1569660"/>
          </a:xfrm>
          <a:prstGeom prst="rect">
            <a:avLst/>
          </a:prstGeom>
          <a:noFill/>
        </p:spPr>
        <p:txBody>
          <a:bodyPr wrap="square" rtlCol="0">
            <a:noAutofit/>
          </a:bodyPr>
          <a:lstStyle/>
          <a:p>
            <a:r>
              <a:rPr lang="en-US" sz="1600" b="1" dirty="0">
                <a:solidFill>
                  <a:srgbClr val="FF0000"/>
                </a:solidFill>
              </a:rPr>
              <a:t>df = 16 (n = 20)</a:t>
            </a:r>
          </a:p>
          <a:p>
            <a:r>
              <a:rPr lang="en-US" sz="1600" b="1" dirty="0">
                <a:solidFill>
                  <a:srgbClr val="FF0000"/>
                </a:solidFill>
              </a:rPr>
              <a:t>MOE = t</a:t>
            </a:r>
            <a:r>
              <a:rPr lang="en-US" sz="1600" b="1" baseline="-25000" dirty="0">
                <a:solidFill>
                  <a:srgbClr val="FF0000"/>
                </a:solidFill>
              </a:rPr>
              <a:t>16,.975 </a:t>
            </a:r>
            <a:r>
              <a:rPr lang="en-US" sz="1600" b="1" dirty="0">
                <a:solidFill>
                  <a:srgbClr val="FF0000"/>
                </a:solidFill>
              </a:rPr>
              <a:t>* SE </a:t>
            </a:r>
          </a:p>
          <a:p>
            <a:r>
              <a:rPr lang="en-US" sz="1600" b="1" dirty="0">
                <a:solidFill>
                  <a:srgbClr val="FF0000"/>
                </a:solidFill>
              </a:rPr>
              <a:t>MOE = 2.12 * .1576</a:t>
            </a:r>
          </a:p>
          <a:p>
            <a:r>
              <a:rPr lang="en-US" sz="1600" b="1" dirty="0">
                <a:solidFill>
                  <a:srgbClr val="FF0000"/>
                </a:solidFill>
              </a:rPr>
              <a:t>MOE = .3341</a:t>
            </a:r>
          </a:p>
          <a:p>
            <a:r>
              <a:rPr lang="en-US" sz="1600" b="1" dirty="0">
                <a:solidFill>
                  <a:srgbClr val="FF0000"/>
                </a:solidFill>
              </a:rPr>
              <a:t>95% CI: (.0236 ± .3341) </a:t>
            </a:r>
          </a:p>
          <a:p>
            <a:r>
              <a:rPr lang="en-US" sz="1600" b="1" dirty="0">
                <a:solidFill>
                  <a:srgbClr val="FF0000"/>
                </a:solidFill>
              </a:rPr>
              <a:t>95% CI: (−.3105, .3577)</a:t>
            </a:r>
          </a:p>
        </p:txBody>
      </p:sp>
      <p:pic>
        <p:nvPicPr>
          <p:cNvPr id="10242" name="Picture 2"/>
          <p:cNvPicPr>
            <a:picLocks noChangeAspect="1" noChangeArrowheads="1"/>
          </p:cNvPicPr>
          <p:nvPr/>
        </p:nvPicPr>
        <p:blipFill rotWithShape="1">
          <a:blip r:embed="rId4">
            <a:extLst>
              <a:ext uri="{28A0092B-C50C-407E-A947-70E740481C1C}">
                <a14:useLocalDpi xmlns:a14="http://schemas.microsoft.com/office/drawing/2010/main" val="0"/>
              </a:ext>
            </a:extLst>
          </a:blip>
          <a:srcRect l="1496" t="2551" r="875" b="2389"/>
          <a:stretch/>
        </p:blipFill>
        <p:spPr bwMode="auto">
          <a:xfrm>
            <a:off x="6172200" y="3857028"/>
            <a:ext cx="3794125" cy="15120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4463" y="5632237"/>
            <a:ext cx="3794125" cy="7514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p:nvPr/>
        </p:nvSpPr>
        <p:spPr>
          <a:xfrm>
            <a:off x="9144000" y="2115437"/>
            <a:ext cx="2438400" cy="338554"/>
          </a:xfrm>
          <a:prstGeom prst="rect">
            <a:avLst/>
          </a:prstGeom>
          <a:noFill/>
        </p:spPr>
        <p:txBody>
          <a:bodyPr wrap="square" rtlCol="0">
            <a:noAutofit/>
          </a:bodyPr>
          <a:lstStyle/>
          <a:p>
            <a:r>
              <a:rPr lang="en-US" sz="1600" dirty="0"/>
              <a:t>Ref = echolocating bat</a:t>
            </a:r>
          </a:p>
        </p:txBody>
      </p:sp>
      <p:cxnSp>
        <p:nvCxnSpPr>
          <p:cNvPr id="13" name="Straight Arrow Connector 12">
            <a:extLst>
              <a:ext uri="{FF2B5EF4-FFF2-40B4-BE49-F238E27FC236}">
                <a16:creationId xmlns:a16="http://schemas.microsoft.com/office/drawing/2014/main" id="{DE6C72E9-EBFC-4E61-9261-52DA5B515FF6}"/>
              </a:ext>
            </a:extLst>
          </p:cNvPr>
          <p:cNvCxnSpPr>
            <a:cxnSpLocks/>
            <a:stCxn id="17" idx="1"/>
          </p:cNvCxnSpPr>
          <p:nvPr/>
        </p:nvCxnSpPr>
        <p:spPr>
          <a:xfrm flipH="1">
            <a:off x="2438400" y="4992213"/>
            <a:ext cx="5665464" cy="34178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E61507FC-3633-420B-A27D-5332FDED3887}"/>
              </a:ext>
            </a:extLst>
          </p:cNvPr>
          <p:cNvSpPr/>
          <p:nvPr/>
        </p:nvSpPr>
        <p:spPr>
          <a:xfrm>
            <a:off x="7086600" y="4876479"/>
            <a:ext cx="841093" cy="22241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7" name="Rectangle 16">
            <a:extLst>
              <a:ext uri="{FF2B5EF4-FFF2-40B4-BE49-F238E27FC236}">
                <a16:creationId xmlns:a16="http://schemas.microsoft.com/office/drawing/2014/main" id="{3B626D29-5764-4593-9ADA-AC19844EB8BA}"/>
              </a:ext>
            </a:extLst>
          </p:cNvPr>
          <p:cNvSpPr/>
          <p:nvPr/>
        </p:nvSpPr>
        <p:spPr>
          <a:xfrm>
            <a:off x="8103864" y="4876479"/>
            <a:ext cx="887736" cy="231468"/>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cxnSp>
        <p:nvCxnSpPr>
          <p:cNvPr id="19" name="Straight Arrow Connector 18">
            <a:extLst>
              <a:ext uri="{FF2B5EF4-FFF2-40B4-BE49-F238E27FC236}">
                <a16:creationId xmlns:a16="http://schemas.microsoft.com/office/drawing/2014/main" id="{279E15B6-8748-4DE7-BBC0-06E9E658D112}"/>
              </a:ext>
            </a:extLst>
          </p:cNvPr>
          <p:cNvCxnSpPr>
            <a:cxnSpLocks/>
            <a:stCxn id="16" idx="1"/>
          </p:cNvCxnSpPr>
          <p:nvPr/>
        </p:nvCxnSpPr>
        <p:spPr>
          <a:xfrm flipH="1">
            <a:off x="2057402" y="4987687"/>
            <a:ext cx="5029198" cy="733932"/>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26"/>
              <p:cNvSpPr/>
              <p:nvPr/>
            </p:nvSpPr>
            <p:spPr>
              <a:xfrm>
                <a:off x="609600" y="3857028"/>
                <a:ext cx="5715000" cy="830997"/>
              </a:xfrm>
              <a:prstGeom prst="rect">
                <a:avLst/>
              </a:prstGeom>
            </p:spPr>
            <p:txBody>
              <a:bodyPr wrap="square">
                <a:noAutofit/>
              </a:bodyPr>
              <a:lstStyle/>
              <a:p>
                <a:pPr marL="285750" indent="-285750">
                  <a:buFont typeface="Arial" panose="020B0604020202020204" pitchFamily="34" charset="0"/>
                  <a:buChar char="•"/>
                </a:pPr>
                <a:r>
                  <a:rPr lang="en-US" sz="1600" dirty="0"/>
                  <a:t>To find a confidence interval for the difference in intercepts for these two categories, we just need a confidence interval for </a:t>
                </a:r>
                <a14:m>
                  <m:oMath xmlns:m="http://schemas.openxmlformats.org/officeDocument/2006/math">
                    <m:sSub>
                      <m:sSubPr>
                        <m:ctrlPr>
                          <a:rPr lang="en-US" sz="1600" i="1">
                            <a:latin typeface="Cambria Math" panose="02040503050406030204" pitchFamily="18" charset="0"/>
                            <a:ea typeface="Cambria Math" charset="0"/>
                            <a:cs typeface="Cambria Math" charset="0"/>
                          </a:rPr>
                        </m:ctrlPr>
                      </m:sSubPr>
                      <m:e>
                        <m:r>
                          <a:rPr lang="en-US" sz="1600" i="1">
                            <a:latin typeface="Cambria Math" charset="0"/>
                            <a:ea typeface="Cambria Math" charset="0"/>
                            <a:cs typeface="Cambria Math" charset="0"/>
                          </a:rPr>
                          <m:t>𝛽</m:t>
                        </m:r>
                      </m:e>
                      <m:sub>
                        <m:r>
                          <a:rPr lang="en-US" sz="1600" i="1">
                            <a:latin typeface="Cambria Math" panose="02040503050406030204" pitchFamily="18" charset="0"/>
                            <a:ea typeface="Cambria Math" charset="0"/>
                            <a:cs typeface="Cambria Math" charset="0"/>
                          </a:rPr>
                          <m:t>3</m:t>
                        </m:r>
                      </m:sub>
                    </m:sSub>
                  </m:oMath>
                </a14:m>
                <a:r>
                  <a:rPr lang="en-US" sz="1600" dirty="0"/>
                  <a:t>.</a:t>
                </a:r>
              </a:p>
            </p:txBody>
          </p:sp>
        </mc:Choice>
        <mc:Fallback xmlns="">
          <p:sp>
            <p:nvSpPr>
              <p:cNvPr id="27" name="Rectangle 26"/>
              <p:cNvSpPr>
                <a:spLocks noRot="1" noChangeAspect="1" noMove="1" noResize="1" noEditPoints="1" noAdjustHandles="1" noChangeArrowheads="1" noChangeShapeType="1" noTextEdit="1"/>
              </p:cNvSpPr>
              <p:nvPr/>
            </p:nvSpPr>
            <p:spPr>
              <a:xfrm>
                <a:off x="609600" y="3857028"/>
                <a:ext cx="5715000" cy="830997"/>
              </a:xfrm>
              <a:prstGeom prst="rect">
                <a:avLst/>
              </a:prstGeom>
              <a:blipFill>
                <a:blip r:embed="rId6"/>
                <a:stretch>
                  <a:fillRect l="-426" t="-2206" b="-8824"/>
                </a:stretch>
              </a:blipFill>
            </p:spPr>
            <p:txBody>
              <a:bodyPr/>
              <a:lstStyle/>
              <a:p>
                <a:r>
                  <a:rPr lang="en-US">
                    <a:noFill/>
                  </a:rPr>
                  <a:t> </a:t>
                </a:r>
              </a:p>
            </p:txBody>
          </p:sp>
        </mc:Fallback>
      </mc:AlternateContent>
    </p:spTree>
    <p:extLst>
      <p:ext uri="{BB962C8B-B14F-4D97-AF65-F5344CB8AC3E}">
        <p14:creationId xmlns:p14="http://schemas.microsoft.com/office/powerpoint/2010/main" val="4225366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02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02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grpId="1" nodeType="clickEffect">
                                  <p:stCondLst>
                                    <p:cond delay="0"/>
                                  </p:stCondLst>
                                  <p:childTnLst>
                                    <p:set>
                                      <p:cBhvr>
                                        <p:cTn id="46" dur="1" fill="hold">
                                          <p:stCondLst>
                                            <p:cond delay="0"/>
                                          </p:stCondLst>
                                        </p:cTn>
                                        <p:tgtEl>
                                          <p:spTgt spid="17"/>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1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1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nodeType="clickEffect">
                                  <p:stCondLst>
                                    <p:cond delay="0"/>
                                  </p:stCondLst>
                                  <p:childTnLst>
                                    <p:set>
                                      <p:cBhvr>
                                        <p:cTn id="58" dur="1" fill="hold">
                                          <p:stCondLst>
                                            <p:cond delay="0"/>
                                          </p:stCondLst>
                                        </p:cTn>
                                        <p:tgtEl>
                                          <p:spTgt spid="19"/>
                                        </p:tgtEl>
                                        <p:attrNameLst>
                                          <p:attrName>style.visibility</p:attrName>
                                        </p:attrNameLst>
                                      </p:cBhvr>
                                      <p:to>
                                        <p:strVal val="hidden"/>
                                      </p:to>
                                    </p:set>
                                  </p:childTnLst>
                                </p:cTn>
                              </p:par>
                              <p:par>
                                <p:cTn id="59" presetID="1" presetClass="exit" presetSubtype="0" fill="hold" grpId="1" nodeType="withEffect">
                                  <p:stCondLst>
                                    <p:cond delay="0"/>
                                  </p:stCondLst>
                                  <p:childTnLst>
                                    <p:set>
                                      <p:cBhvr>
                                        <p:cTn id="60" dur="1" fill="hold">
                                          <p:stCondLst>
                                            <p:cond delay="0"/>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7" grpId="0"/>
      <p:bldP spid="16" grpId="0" animBg="1"/>
      <p:bldP spid="16" grpId="1" animBg="1"/>
      <p:bldP spid="17" grpId="0" animBg="1"/>
      <p:bldP spid="17"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46B75-D385-2543-9AC1-4CF064E3DA57}"/>
              </a:ext>
            </a:extLst>
          </p:cNvPr>
          <p:cNvSpPr>
            <a:spLocks noGrp="1"/>
          </p:cNvSpPr>
          <p:nvPr>
            <p:ph type="title"/>
          </p:nvPr>
        </p:nvSpPr>
        <p:spPr/>
        <p:txBody>
          <a:bodyPr/>
          <a:lstStyle/>
          <a:p>
            <a:r>
              <a:rPr lang="en-US" dirty="0"/>
              <a:t>Interpretation</a:t>
            </a:r>
          </a:p>
        </p:txBody>
      </p:sp>
      <p:sp>
        <p:nvSpPr>
          <p:cNvPr id="4" name="Content Placeholder 2">
            <a:extLst>
              <a:ext uri="{FF2B5EF4-FFF2-40B4-BE49-F238E27FC236}">
                <a16:creationId xmlns:a16="http://schemas.microsoft.com/office/drawing/2014/main" id="{B021A06E-EF30-284C-908C-BAE85D8007C1}"/>
              </a:ext>
            </a:extLst>
          </p:cNvPr>
          <p:cNvSpPr txBox="1">
            <a:spLocks/>
          </p:cNvSpPr>
          <p:nvPr/>
        </p:nvSpPr>
        <p:spPr>
          <a:xfrm>
            <a:off x="609600" y="1600205"/>
            <a:ext cx="10972800" cy="685796"/>
          </a:xfrm>
          <a:prstGeom prst="rect">
            <a:avLst/>
          </a:prstGeom>
        </p:spPr>
        <p:txBody>
          <a:bodyPr vert="horz" lIns="91440" tIns="45720" rIns="91440" bIns="45720" rtlCol="0">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US" sz="1600" dirty="0"/>
              <a:t>Find a 95% confidence interval for the difference in the </a:t>
            </a:r>
            <a:r>
              <a:rPr lang="en-US" sz="1600" dirty="0">
                <a:solidFill>
                  <a:srgbClr val="0070C0"/>
                </a:solidFill>
              </a:rPr>
              <a:t>intercepts</a:t>
            </a:r>
            <a:r>
              <a:rPr lang="en-US" sz="1600" dirty="0"/>
              <a:t> between </a:t>
            </a:r>
            <a:r>
              <a:rPr lang="en-US" sz="1600" b="1" dirty="0">
                <a:solidFill>
                  <a:srgbClr val="00B050"/>
                </a:solidFill>
              </a:rPr>
              <a:t>non-echolocating birds and echolocating bats.</a:t>
            </a:r>
          </a:p>
          <a:p>
            <a:pPr marL="0" indent="0">
              <a:buFont typeface="Arial" charset="0"/>
              <a:buNone/>
            </a:pPr>
            <a:endParaRPr lang="en-US" sz="1600" dirty="0"/>
          </a:p>
        </p:txBody>
      </p:sp>
      <p:pic>
        <p:nvPicPr>
          <p:cNvPr id="5" name="Picture 4">
            <a:extLst>
              <a:ext uri="{FF2B5EF4-FFF2-40B4-BE49-F238E27FC236}">
                <a16:creationId xmlns:a16="http://schemas.microsoft.com/office/drawing/2014/main" id="{F8B17903-B8C9-574C-A550-31509F002B49}"/>
              </a:ext>
            </a:extLst>
          </p:cNvPr>
          <p:cNvPicPr>
            <a:picLocks noChangeAspect="1"/>
          </p:cNvPicPr>
          <p:nvPr/>
        </p:nvPicPr>
        <p:blipFill>
          <a:blip r:embed="rId2"/>
          <a:stretch>
            <a:fillRect/>
          </a:stretch>
        </p:blipFill>
        <p:spPr>
          <a:xfrm>
            <a:off x="2743200" y="2189504"/>
            <a:ext cx="6464300" cy="2992096"/>
          </a:xfrm>
          <a:prstGeom prst="rect">
            <a:avLst/>
          </a:prstGeom>
        </p:spPr>
      </p:pic>
      <p:pic>
        <p:nvPicPr>
          <p:cNvPr id="15" name="Picture 14">
            <a:extLst>
              <a:ext uri="{FF2B5EF4-FFF2-40B4-BE49-F238E27FC236}">
                <a16:creationId xmlns:a16="http://schemas.microsoft.com/office/drawing/2014/main" id="{CC672FF8-FA41-8A23-EF3E-CB9B18ACEB1B}"/>
              </a:ext>
            </a:extLst>
          </p:cNvPr>
          <p:cNvPicPr>
            <a:picLocks noChangeAspect="1"/>
          </p:cNvPicPr>
          <p:nvPr/>
        </p:nvPicPr>
        <p:blipFill>
          <a:blip r:embed="rId3"/>
          <a:stretch>
            <a:fillRect/>
          </a:stretch>
        </p:blipFill>
        <p:spPr>
          <a:xfrm>
            <a:off x="6248557" y="2908626"/>
            <a:ext cx="533243" cy="291774"/>
          </a:xfrm>
          <a:prstGeom prst="rect">
            <a:avLst/>
          </a:prstGeom>
        </p:spPr>
      </p:pic>
      <p:pic>
        <p:nvPicPr>
          <p:cNvPr id="14" name="Picture 13">
            <a:extLst>
              <a:ext uri="{FF2B5EF4-FFF2-40B4-BE49-F238E27FC236}">
                <a16:creationId xmlns:a16="http://schemas.microsoft.com/office/drawing/2014/main" id="{9EF057FC-AB4D-CED8-1FA5-A68F5590C24B}"/>
              </a:ext>
            </a:extLst>
          </p:cNvPr>
          <p:cNvPicPr>
            <a:picLocks noChangeAspect="1"/>
          </p:cNvPicPr>
          <p:nvPr/>
        </p:nvPicPr>
        <p:blipFill>
          <a:blip r:embed="rId3"/>
          <a:stretch>
            <a:fillRect/>
          </a:stretch>
        </p:blipFill>
        <p:spPr>
          <a:xfrm>
            <a:off x="5661660" y="3406689"/>
            <a:ext cx="398549" cy="218074"/>
          </a:xfrm>
          <a:prstGeom prst="rect">
            <a:avLst/>
          </a:prstGeom>
        </p:spPr>
      </p:pic>
      <p:pic>
        <p:nvPicPr>
          <p:cNvPr id="10" name="Picture 9">
            <a:extLst>
              <a:ext uri="{FF2B5EF4-FFF2-40B4-BE49-F238E27FC236}">
                <a16:creationId xmlns:a16="http://schemas.microsoft.com/office/drawing/2014/main" id="{71A72028-1C41-C24A-A375-E9FF04A23CDE}"/>
              </a:ext>
            </a:extLst>
          </p:cNvPr>
          <p:cNvPicPr>
            <a:picLocks noChangeAspect="1"/>
          </p:cNvPicPr>
          <p:nvPr/>
        </p:nvPicPr>
        <p:blipFill>
          <a:blip r:embed="rId3"/>
          <a:stretch>
            <a:fillRect/>
          </a:stretch>
        </p:blipFill>
        <p:spPr>
          <a:xfrm>
            <a:off x="5175678" y="3972926"/>
            <a:ext cx="398549" cy="218074"/>
          </a:xfrm>
          <a:prstGeom prst="rect">
            <a:avLst/>
          </a:prstGeom>
        </p:spPr>
      </p:pic>
      <p:pic>
        <p:nvPicPr>
          <p:cNvPr id="3" name="Picture 2">
            <a:extLst>
              <a:ext uri="{FF2B5EF4-FFF2-40B4-BE49-F238E27FC236}">
                <a16:creationId xmlns:a16="http://schemas.microsoft.com/office/drawing/2014/main" id="{85C79789-48EE-9809-CA6D-35AC264F2FB1}"/>
              </a:ext>
            </a:extLst>
          </p:cNvPr>
          <p:cNvPicPr>
            <a:picLocks noChangeAspect="1"/>
          </p:cNvPicPr>
          <p:nvPr/>
        </p:nvPicPr>
        <p:blipFill>
          <a:blip r:embed="rId3"/>
          <a:stretch>
            <a:fillRect/>
          </a:stretch>
        </p:blipFill>
        <p:spPr>
          <a:xfrm>
            <a:off x="3467099" y="3361699"/>
            <a:ext cx="986883" cy="1403185"/>
          </a:xfrm>
          <a:prstGeom prst="rect">
            <a:avLst/>
          </a:prstGeom>
        </p:spPr>
      </p:pic>
      <p:sp>
        <p:nvSpPr>
          <p:cNvPr id="6" name="Rectangle 5">
            <a:extLst>
              <a:ext uri="{FF2B5EF4-FFF2-40B4-BE49-F238E27FC236}">
                <a16:creationId xmlns:a16="http://schemas.microsoft.com/office/drawing/2014/main" id="{52868BE8-5E7A-5741-8072-FB49FB58ABDC}"/>
              </a:ext>
            </a:extLst>
          </p:cNvPr>
          <p:cNvSpPr/>
          <p:nvPr/>
        </p:nvSpPr>
        <p:spPr>
          <a:xfrm>
            <a:off x="0" y="5537200"/>
            <a:ext cx="12192000" cy="1200329"/>
          </a:xfrm>
          <a:prstGeom prst="rect">
            <a:avLst/>
          </a:prstGeom>
        </p:spPr>
        <p:txBody>
          <a:bodyPr wrap="square">
            <a:spAutoFit/>
          </a:bodyPr>
          <a:lstStyle/>
          <a:p>
            <a:r>
              <a:rPr lang="en-US" b="1" dirty="0">
                <a:solidFill>
                  <a:srgbClr val="FF0000"/>
                </a:solidFill>
              </a:rPr>
              <a:t>Since we are assuming the lines are parallel, we are 95% confident that the true difference in mean log energy expenditure is contained in the interval (−.3105, .3577). Since zero is in the interval, it is plausible given the data that there is not a difference in the means (and thus there is not a Significant difference in the median energy expenditure between the non-echolocating birds and echolocating bats.</a:t>
            </a:r>
          </a:p>
        </p:txBody>
      </p:sp>
      <p:pic>
        <p:nvPicPr>
          <p:cNvPr id="7" name="Picture 6">
            <a:extLst>
              <a:ext uri="{FF2B5EF4-FFF2-40B4-BE49-F238E27FC236}">
                <a16:creationId xmlns:a16="http://schemas.microsoft.com/office/drawing/2014/main" id="{9A434DC1-A536-9C43-86D5-A904D8C57639}"/>
              </a:ext>
            </a:extLst>
          </p:cNvPr>
          <p:cNvPicPr>
            <a:picLocks noChangeAspect="1"/>
          </p:cNvPicPr>
          <p:nvPr/>
        </p:nvPicPr>
        <p:blipFill>
          <a:blip r:embed="rId4"/>
          <a:stretch>
            <a:fillRect/>
          </a:stretch>
        </p:blipFill>
        <p:spPr>
          <a:xfrm>
            <a:off x="3603083" y="4040985"/>
            <a:ext cx="850900" cy="355600"/>
          </a:xfrm>
          <a:prstGeom prst="rect">
            <a:avLst/>
          </a:prstGeom>
        </p:spPr>
      </p:pic>
      <p:pic>
        <p:nvPicPr>
          <p:cNvPr id="8" name="Picture 7">
            <a:extLst>
              <a:ext uri="{FF2B5EF4-FFF2-40B4-BE49-F238E27FC236}">
                <a16:creationId xmlns:a16="http://schemas.microsoft.com/office/drawing/2014/main" id="{E6130102-8726-5844-8827-96D78912307C}"/>
              </a:ext>
            </a:extLst>
          </p:cNvPr>
          <p:cNvPicPr>
            <a:picLocks noChangeAspect="1"/>
          </p:cNvPicPr>
          <p:nvPr/>
        </p:nvPicPr>
        <p:blipFill>
          <a:blip r:embed="rId5"/>
          <a:stretch>
            <a:fillRect/>
          </a:stretch>
        </p:blipFill>
        <p:spPr>
          <a:xfrm>
            <a:off x="3657600" y="4396585"/>
            <a:ext cx="800100" cy="368300"/>
          </a:xfrm>
          <a:prstGeom prst="rect">
            <a:avLst/>
          </a:prstGeom>
        </p:spPr>
      </p:pic>
      <p:pic>
        <p:nvPicPr>
          <p:cNvPr id="9" name="Picture 8">
            <a:extLst>
              <a:ext uri="{FF2B5EF4-FFF2-40B4-BE49-F238E27FC236}">
                <a16:creationId xmlns:a16="http://schemas.microsoft.com/office/drawing/2014/main" id="{696E31B4-28A3-554C-86FC-D4F92D5F8C44}"/>
              </a:ext>
            </a:extLst>
          </p:cNvPr>
          <p:cNvPicPr>
            <a:picLocks noChangeAspect="1"/>
          </p:cNvPicPr>
          <p:nvPr/>
        </p:nvPicPr>
        <p:blipFill>
          <a:blip r:embed="rId6"/>
          <a:stretch>
            <a:fillRect/>
          </a:stretch>
        </p:blipFill>
        <p:spPr>
          <a:xfrm>
            <a:off x="3276600" y="3495052"/>
            <a:ext cx="1054100" cy="381000"/>
          </a:xfrm>
          <a:prstGeom prst="rect">
            <a:avLst/>
          </a:prstGeom>
        </p:spPr>
      </p:pic>
      <p:pic>
        <p:nvPicPr>
          <p:cNvPr id="11" name="Picture 10">
            <a:extLst>
              <a:ext uri="{FF2B5EF4-FFF2-40B4-BE49-F238E27FC236}">
                <a16:creationId xmlns:a16="http://schemas.microsoft.com/office/drawing/2014/main" id="{9FD9EC36-4AEB-764F-8FC0-E9862680B5E5}"/>
              </a:ext>
            </a:extLst>
          </p:cNvPr>
          <p:cNvPicPr>
            <a:picLocks noChangeAspect="1"/>
          </p:cNvPicPr>
          <p:nvPr/>
        </p:nvPicPr>
        <p:blipFill>
          <a:blip r:embed="rId7"/>
          <a:stretch>
            <a:fillRect/>
          </a:stretch>
        </p:blipFill>
        <p:spPr>
          <a:xfrm>
            <a:off x="5671479" y="3361702"/>
            <a:ext cx="279400" cy="266700"/>
          </a:xfrm>
          <a:prstGeom prst="rect">
            <a:avLst/>
          </a:prstGeom>
        </p:spPr>
      </p:pic>
      <p:pic>
        <p:nvPicPr>
          <p:cNvPr id="12" name="Picture 11">
            <a:extLst>
              <a:ext uri="{FF2B5EF4-FFF2-40B4-BE49-F238E27FC236}">
                <a16:creationId xmlns:a16="http://schemas.microsoft.com/office/drawing/2014/main" id="{17185B87-ABC1-954E-BE38-E75B8AFBF5FD}"/>
              </a:ext>
            </a:extLst>
          </p:cNvPr>
          <p:cNvPicPr>
            <a:picLocks noChangeAspect="1"/>
          </p:cNvPicPr>
          <p:nvPr/>
        </p:nvPicPr>
        <p:blipFill>
          <a:blip r:embed="rId8"/>
          <a:stretch>
            <a:fillRect/>
          </a:stretch>
        </p:blipFill>
        <p:spPr>
          <a:xfrm>
            <a:off x="5181600" y="3972926"/>
            <a:ext cx="436148" cy="218074"/>
          </a:xfrm>
          <a:prstGeom prst="rect">
            <a:avLst/>
          </a:prstGeom>
        </p:spPr>
      </p:pic>
      <p:pic>
        <p:nvPicPr>
          <p:cNvPr id="13" name="Picture 12">
            <a:extLst>
              <a:ext uri="{FF2B5EF4-FFF2-40B4-BE49-F238E27FC236}">
                <a16:creationId xmlns:a16="http://schemas.microsoft.com/office/drawing/2014/main" id="{12BF0770-22DB-4245-A825-A6AE0D8BF8E4}"/>
              </a:ext>
            </a:extLst>
          </p:cNvPr>
          <p:cNvPicPr>
            <a:picLocks noChangeAspect="1"/>
          </p:cNvPicPr>
          <p:nvPr/>
        </p:nvPicPr>
        <p:blipFill>
          <a:blip r:embed="rId9"/>
          <a:stretch>
            <a:fillRect/>
          </a:stretch>
        </p:blipFill>
        <p:spPr>
          <a:xfrm>
            <a:off x="6248557" y="2933700"/>
            <a:ext cx="533243" cy="281033"/>
          </a:xfrm>
          <a:prstGeom prst="rect">
            <a:avLst/>
          </a:prstGeom>
        </p:spPr>
      </p:pic>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A0F3FFF0-D30D-5130-0717-807D283DF4CB}"/>
                  </a:ext>
                </a:extLst>
              </p:cNvPr>
              <p:cNvSpPr txBox="1"/>
              <p:nvPr/>
            </p:nvSpPr>
            <p:spPr>
              <a:xfrm>
                <a:off x="1860707" y="5126318"/>
                <a:ext cx="8775699" cy="369332"/>
              </a:xfrm>
              <a:prstGeom prst="rect">
                <a:avLst/>
              </a:prstGeom>
              <a:noFill/>
            </p:spPr>
            <p:txBody>
              <a:bodyPr wrap="square">
                <a:spAutoFit/>
              </a:bodyPr>
              <a:lstStyle/>
              <a:p>
                <a:pPr marL="0" indent="0">
                  <a:buNone/>
                </a:pPr>
                <a14:m>
                  <m:oMathPara xmlns:m="http://schemas.openxmlformats.org/officeDocument/2006/math">
                    <m:oMathParaPr>
                      <m:jc m:val="centerGroup"/>
                    </m:oMathParaPr>
                    <m:oMath xmlns:m="http://schemas.openxmlformats.org/officeDocument/2006/math">
                      <m:r>
                        <a:rPr lang="en-US" sz="1800" i="1" smtClean="0">
                          <a:latin typeface="Cambria Math" charset="0"/>
                          <a:ea typeface="Cambria Math" charset="0"/>
                          <a:cs typeface="Cambria Math" charset="0"/>
                        </a:rPr>
                        <m:t>𝜇</m:t>
                      </m:r>
                      <m:d>
                        <m:dPr>
                          <m:begChr m:val="{"/>
                          <m:endChr m:val="|"/>
                          <m:ctrlPr>
                            <a:rPr lang="en-US" sz="1800" i="1">
                              <a:latin typeface="Cambria Math" panose="02040503050406030204" pitchFamily="18" charset="0"/>
                              <a:ea typeface="Cambria Math" charset="0"/>
                              <a:cs typeface="Cambria Math" charset="0"/>
                            </a:rPr>
                          </m:ctrlPr>
                        </m:dPr>
                        <m:e>
                          <m:r>
                            <a:rPr lang="en-US" sz="1800" i="1">
                              <a:latin typeface="Cambria Math" charset="0"/>
                              <a:ea typeface="Cambria Math" charset="0"/>
                              <a:cs typeface="Cambria Math" charset="0"/>
                            </a:rPr>
                            <m:t>𝑙𝑒𝑛𝑒𝑟</m:t>
                          </m:r>
                          <m:r>
                            <a:rPr lang="en-US" sz="1800" i="1">
                              <a:latin typeface="Cambria Math" panose="02040503050406030204" pitchFamily="18" charset="0"/>
                              <a:ea typeface="Cambria Math" charset="0"/>
                              <a:cs typeface="Cambria Math" charset="0"/>
                            </a:rPr>
                            <m:t>𝑔</m:t>
                          </m:r>
                          <m:r>
                            <a:rPr lang="en-US" sz="1800" i="1">
                              <a:latin typeface="Cambria Math" charset="0"/>
                              <a:ea typeface="Cambria Math" charset="0"/>
                              <a:cs typeface="Cambria Math" charset="0"/>
                            </a:rPr>
                            <m:t>𝑦</m:t>
                          </m:r>
                          <m:r>
                            <a:rPr lang="en-US" sz="1800" i="1">
                              <a:latin typeface="Cambria Math" charset="0"/>
                              <a:ea typeface="Cambria Math" charset="0"/>
                              <a:cs typeface="Cambria Math" charset="0"/>
                            </a:rPr>
                            <m:t> </m:t>
                          </m:r>
                        </m:e>
                      </m:d>
                      <m:r>
                        <a:rPr lang="en-US" sz="1800" i="1">
                          <a:latin typeface="Cambria Math" charset="0"/>
                          <a:ea typeface="Cambria Math" charset="0"/>
                          <a:cs typeface="Cambria Math" charset="0"/>
                        </a:rPr>
                        <m:t>𝑙𝑚𝑎𝑠𝑠</m:t>
                      </m:r>
                      <m:r>
                        <a:rPr lang="en-US" sz="1800" i="1">
                          <a:latin typeface="Cambria Math" charset="0"/>
                          <a:ea typeface="Cambria Math" charset="0"/>
                          <a:cs typeface="Cambria Math" charset="0"/>
                        </a:rPr>
                        <m:t>, </m:t>
                      </m:r>
                      <m:r>
                        <a:rPr lang="en-US" sz="1800" i="1">
                          <a:latin typeface="Cambria Math" charset="0"/>
                          <a:ea typeface="Cambria Math" charset="0"/>
                          <a:cs typeface="Cambria Math" charset="0"/>
                        </a:rPr>
                        <m:t>𝑇𝑌𝑃𝐸</m:t>
                      </m:r>
                      <m:r>
                        <a:rPr lang="en-US" sz="1800" i="1">
                          <a:latin typeface="Cambria Math" charset="0"/>
                          <a:ea typeface="Cambria Math" charset="0"/>
                          <a:cs typeface="Cambria Math" charset="0"/>
                        </a:rPr>
                        <m:t>}= </m:t>
                      </m:r>
                      <m:sSub>
                        <m:sSubPr>
                          <m:ctrlPr>
                            <a:rPr lang="en-US" sz="1800" i="1">
                              <a:latin typeface="Cambria Math" panose="02040503050406030204" pitchFamily="18" charset="0"/>
                              <a:ea typeface="Cambria Math" charset="0"/>
                              <a:cs typeface="Cambria Math" charset="0"/>
                            </a:rPr>
                          </m:ctrlPr>
                        </m:sSubPr>
                        <m:e>
                          <m:r>
                            <a:rPr lang="en-US" sz="1800" i="1">
                              <a:latin typeface="Cambria Math" charset="0"/>
                              <a:ea typeface="Cambria Math" charset="0"/>
                              <a:cs typeface="Cambria Math" charset="0"/>
                            </a:rPr>
                            <m:t>𝛽</m:t>
                          </m:r>
                        </m:e>
                        <m:sub>
                          <m:r>
                            <a:rPr lang="en-US" sz="1800" i="1">
                              <a:latin typeface="Cambria Math" charset="0"/>
                              <a:ea typeface="Cambria Math" charset="0"/>
                              <a:cs typeface="Cambria Math" charset="0"/>
                            </a:rPr>
                            <m:t>0</m:t>
                          </m:r>
                        </m:sub>
                      </m:sSub>
                      <m:sSub>
                        <m:sSubPr>
                          <m:ctrlPr>
                            <a:rPr lang="en-US" sz="1800" i="1">
                              <a:latin typeface="Cambria Math" panose="02040503050406030204" pitchFamily="18" charset="0"/>
                              <a:ea typeface="Cambria Math" charset="0"/>
                              <a:cs typeface="Cambria Math" charset="0"/>
                            </a:rPr>
                          </m:ctrlPr>
                        </m:sSubPr>
                        <m:e>
                          <m:r>
                            <a:rPr lang="en-US" sz="1800" i="1">
                              <a:latin typeface="Cambria Math" charset="0"/>
                              <a:ea typeface="Cambria Math" charset="0"/>
                              <a:cs typeface="Cambria Math" charset="0"/>
                            </a:rPr>
                            <m:t>+</m:t>
                          </m:r>
                          <m:r>
                            <a:rPr lang="en-US" sz="1800" i="1">
                              <a:latin typeface="Cambria Math" charset="0"/>
                              <a:ea typeface="Cambria Math" charset="0"/>
                              <a:cs typeface="Cambria Math" charset="0"/>
                            </a:rPr>
                            <m:t>𝛽</m:t>
                          </m:r>
                        </m:e>
                        <m:sub>
                          <m:r>
                            <a:rPr lang="en-US" sz="1800" i="1">
                              <a:latin typeface="Cambria Math" charset="0"/>
                              <a:ea typeface="Cambria Math" charset="0"/>
                              <a:cs typeface="Cambria Math" charset="0"/>
                            </a:rPr>
                            <m:t>1</m:t>
                          </m:r>
                        </m:sub>
                      </m:sSub>
                      <m:r>
                        <a:rPr lang="en-US" sz="1800" i="1">
                          <a:latin typeface="Cambria Math" charset="0"/>
                          <a:ea typeface="Cambria Math" charset="0"/>
                          <a:cs typeface="Cambria Math" charset="0"/>
                        </a:rPr>
                        <m:t>𝑙𝑚𝑎𝑠𝑠</m:t>
                      </m:r>
                      <m:sSub>
                        <m:sSubPr>
                          <m:ctrlPr>
                            <a:rPr lang="en-US" sz="1800" i="1">
                              <a:latin typeface="Cambria Math" panose="02040503050406030204" pitchFamily="18" charset="0"/>
                              <a:ea typeface="Cambria Math" charset="0"/>
                              <a:cs typeface="Cambria Math" charset="0"/>
                            </a:rPr>
                          </m:ctrlPr>
                        </m:sSubPr>
                        <m:e>
                          <m:r>
                            <a:rPr lang="en-US" sz="1800" i="1">
                              <a:latin typeface="Cambria Math" charset="0"/>
                              <a:ea typeface="Cambria Math" charset="0"/>
                              <a:cs typeface="Cambria Math" charset="0"/>
                            </a:rPr>
                            <m:t>+</m:t>
                          </m:r>
                          <m:r>
                            <a:rPr lang="en-US" sz="1800" i="1">
                              <a:latin typeface="Cambria Math" charset="0"/>
                              <a:ea typeface="Cambria Math" charset="0"/>
                              <a:cs typeface="Cambria Math" charset="0"/>
                            </a:rPr>
                            <m:t>𝛽</m:t>
                          </m:r>
                        </m:e>
                        <m:sub>
                          <m:r>
                            <a:rPr lang="en-US" sz="1800" i="1">
                              <a:latin typeface="Cambria Math" charset="0"/>
                              <a:ea typeface="Cambria Math" charset="0"/>
                              <a:cs typeface="Cambria Math" charset="0"/>
                            </a:rPr>
                            <m:t>2</m:t>
                          </m:r>
                        </m:sub>
                      </m:sSub>
                      <m:r>
                        <a:rPr lang="en-US" sz="1800" i="1">
                          <a:latin typeface="Cambria Math" panose="02040503050406030204" pitchFamily="18" charset="0"/>
                          <a:ea typeface="Cambria Math" charset="0"/>
                          <a:cs typeface="Cambria Math" charset="0"/>
                        </a:rPr>
                        <m:t>𝑛</m:t>
                      </m:r>
                      <m:r>
                        <a:rPr lang="en-US" sz="1800" i="1">
                          <a:latin typeface="Cambria Math" charset="0"/>
                          <a:ea typeface="Cambria Math" charset="0"/>
                          <a:cs typeface="Cambria Math" charset="0"/>
                        </a:rPr>
                        <m:t>𝑒𝑏𝑎𝑡</m:t>
                      </m:r>
                      <m:sSub>
                        <m:sSubPr>
                          <m:ctrlPr>
                            <a:rPr lang="en-US" sz="1800" i="1">
                              <a:latin typeface="Cambria Math" panose="02040503050406030204" pitchFamily="18" charset="0"/>
                              <a:ea typeface="Cambria Math" charset="0"/>
                              <a:cs typeface="Cambria Math" charset="0"/>
                            </a:rPr>
                          </m:ctrlPr>
                        </m:sSubPr>
                        <m:e>
                          <m:r>
                            <a:rPr lang="en-US" sz="1800" i="1">
                              <a:latin typeface="Cambria Math" charset="0"/>
                              <a:ea typeface="Cambria Math" charset="0"/>
                              <a:cs typeface="Cambria Math" charset="0"/>
                            </a:rPr>
                            <m:t>+</m:t>
                          </m:r>
                          <m:r>
                            <a:rPr lang="en-US" sz="1800" i="1">
                              <a:latin typeface="Cambria Math" charset="0"/>
                              <a:ea typeface="Cambria Math" charset="0"/>
                              <a:cs typeface="Cambria Math" charset="0"/>
                            </a:rPr>
                            <m:t>𝛽</m:t>
                          </m:r>
                        </m:e>
                        <m:sub>
                          <m:r>
                            <a:rPr lang="en-US" sz="1800" i="1">
                              <a:latin typeface="Cambria Math" charset="0"/>
                              <a:ea typeface="Cambria Math" charset="0"/>
                              <a:cs typeface="Cambria Math" charset="0"/>
                            </a:rPr>
                            <m:t>3</m:t>
                          </m:r>
                        </m:sub>
                      </m:sSub>
                      <m:r>
                        <a:rPr lang="en-US" sz="1800" i="1">
                          <a:latin typeface="Cambria Math" charset="0"/>
                          <a:ea typeface="Cambria Math" charset="0"/>
                          <a:cs typeface="Cambria Math" charset="0"/>
                        </a:rPr>
                        <m:t>𝑏𝑖𝑟𝑑</m:t>
                      </m:r>
                    </m:oMath>
                  </m:oMathPara>
                </a14:m>
                <a:endParaRPr lang="en-US" sz="1800" i="1" dirty="0">
                  <a:ea typeface="Cambria Math" charset="0"/>
                  <a:cs typeface="Cambria Math" charset="0"/>
                </a:endParaRPr>
              </a:p>
            </p:txBody>
          </p:sp>
        </mc:Choice>
        <mc:Fallback xmlns="">
          <p:sp>
            <p:nvSpPr>
              <p:cNvPr id="17" name="TextBox 16">
                <a:extLst>
                  <a:ext uri="{FF2B5EF4-FFF2-40B4-BE49-F238E27FC236}">
                    <a16:creationId xmlns:a16="http://schemas.microsoft.com/office/drawing/2014/main" id="{A0F3FFF0-D30D-5130-0717-807D283DF4CB}"/>
                  </a:ext>
                </a:extLst>
              </p:cNvPr>
              <p:cNvSpPr txBox="1">
                <a:spLocks noRot="1" noChangeAspect="1" noMove="1" noResize="1" noEditPoints="1" noAdjustHandles="1" noChangeArrowheads="1" noChangeShapeType="1" noTextEdit="1"/>
              </p:cNvSpPr>
              <p:nvPr/>
            </p:nvSpPr>
            <p:spPr>
              <a:xfrm>
                <a:off x="1860707" y="5126318"/>
                <a:ext cx="8775699" cy="369332"/>
              </a:xfrm>
              <a:prstGeom prst="rect">
                <a:avLst/>
              </a:prstGeom>
              <a:blipFill>
                <a:blip r:embed="rId10"/>
                <a:stretch>
                  <a:fillRect b="-20000"/>
                </a:stretch>
              </a:blipFill>
            </p:spPr>
            <p:txBody>
              <a:bodyPr/>
              <a:lstStyle/>
              <a:p>
                <a:r>
                  <a:rPr lang="en-US">
                    <a:noFill/>
                  </a:rPr>
                  <a:t> </a:t>
                </a:r>
              </a:p>
            </p:txBody>
          </p:sp>
        </mc:Fallback>
      </mc:AlternateContent>
      <p:sp>
        <p:nvSpPr>
          <p:cNvPr id="18" name="TextBox 17">
            <a:extLst>
              <a:ext uri="{FF2B5EF4-FFF2-40B4-BE49-F238E27FC236}">
                <a16:creationId xmlns:a16="http://schemas.microsoft.com/office/drawing/2014/main" id="{7FFC71D6-BCDA-A17E-DF55-4C4647046AE1}"/>
              </a:ext>
            </a:extLst>
          </p:cNvPr>
          <p:cNvSpPr txBox="1"/>
          <p:nvPr/>
        </p:nvSpPr>
        <p:spPr>
          <a:xfrm>
            <a:off x="9753600" y="5147846"/>
            <a:ext cx="2438400" cy="338554"/>
          </a:xfrm>
          <a:prstGeom prst="rect">
            <a:avLst/>
          </a:prstGeom>
          <a:noFill/>
        </p:spPr>
        <p:txBody>
          <a:bodyPr wrap="square" rtlCol="0">
            <a:noAutofit/>
          </a:bodyPr>
          <a:lstStyle/>
          <a:p>
            <a:r>
              <a:rPr lang="en-US" sz="1600" dirty="0"/>
              <a:t>Ref = echolocating bat</a:t>
            </a:r>
          </a:p>
        </p:txBody>
      </p:sp>
    </p:spTree>
    <p:extLst>
      <p:ext uri="{BB962C8B-B14F-4D97-AF65-F5344CB8AC3E}">
        <p14:creationId xmlns:p14="http://schemas.microsoft.com/office/powerpoint/2010/main" val="1789511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1"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B57100FE-94EC-4532-B595-1C98FA7018C9}"/>
              </a:ext>
            </a:extLst>
          </p:cNvPr>
          <p:cNvSpPr>
            <a:spLocks noGrp="1"/>
          </p:cNvSpPr>
          <p:nvPr>
            <p:ph idx="4294967295"/>
          </p:nvPr>
        </p:nvSpPr>
        <p:spPr>
          <a:xfrm>
            <a:off x="281776" y="685802"/>
            <a:ext cx="10972800" cy="986404"/>
          </a:xfrm>
        </p:spPr>
        <p:txBody>
          <a:bodyPr/>
          <a:lstStyle/>
          <a:p>
            <a:r>
              <a:rPr lang="en-US" sz="1800" dirty="0"/>
              <a:t>Find a 95% confidence interval for the difference in the intercepts between </a:t>
            </a:r>
            <a:r>
              <a:rPr lang="en-US" sz="1800" b="1" dirty="0">
                <a:solidFill>
                  <a:srgbClr val="00B050"/>
                </a:solidFill>
              </a:rPr>
              <a:t>non-echolocating birds and echolocating bats</a:t>
            </a:r>
            <a:r>
              <a:rPr lang="en-US" sz="1800" b="1" dirty="0"/>
              <a:t>.</a:t>
            </a:r>
            <a:r>
              <a:rPr lang="en-US" sz="1800" dirty="0"/>
              <a:t> </a:t>
            </a:r>
          </a:p>
          <a:p>
            <a:r>
              <a:rPr lang="en-US" sz="1800" dirty="0"/>
              <a:t>Two ways:</a:t>
            </a:r>
          </a:p>
        </p:txBody>
      </p:sp>
      <p:sp>
        <p:nvSpPr>
          <p:cNvPr id="9" name="TextBox 8">
            <a:extLst>
              <a:ext uri="{FF2B5EF4-FFF2-40B4-BE49-F238E27FC236}">
                <a16:creationId xmlns:a16="http://schemas.microsoft.com/office/drawing/2014/main" id="{EC362FC2-56EC-4339-BDB8-219F047C5CCD}"/>
              </a:ext>
            </a:extLst>
          </p:cNvPr>
          <p:cNvSpPr txBox="1"/>
          <p:nvPr/>
        </p:nvSpPr>
        <p:spPr>
          <a:xfrm>
            <a:off x="914400" y="5695956"/>
            <a:ext cx="5919333" cy="369332"/>
          </a:xfrm>
          <a:prstGeom prst="rect">
            <a:avLst/>
          </a:prstGeom>
          <a:noFill/>
        </p:spPr>
        <p:txBody>
          <a:bodyPr wrap="square" rtlCol="0">
            <a:noAutofit/>
          </a:bodyPr>
          <a:lstStyle/>
          <a:p>
            <a:r>
              <a:rPr lang="en-US" sz="1600" dirty="0"/>
              <a:t>Make one of the types of interest a reference level.</a:t>
            </a:r>
          </a:p>
        </p:txBody>
      </p:sp>
      <p:sp>
        <p:nvSpPr>
          <p:cNvPr id="13" name="Content Placeholder 2">
            <a:extLst>
              <a:ext uri="{FF2B5EF4-FFF2-40B4-BE49-F238E27FC236}">
                <a16:creationId xmlns:a16="http://schemas.microsoft.com/office/drawing/2014/main" id="{B57100FE-94EC-4532-B595-1C98FA7018C9}"/>
              </a:ext>
            </a:extLst>
          </p:cNvPr>
          <p:cNvSpPr txBox="1">
            <a:spLocks/>
          </p:cNvSpPr>
          <p:nvPr/>
        </p:nvSpPr>
        <p:spPr>
          <a:xfrm>
            <a:off x="281776" y="1828800"/>
            <a:ext cx="10972800" cy="536780"/>
          </a:xfrm>
          <a:prstGeom prst="rect">
            <a:avLst/>
          </a:prstGeom>
        </p:spPr>
        <p:txBody>
          <a:bodyPr vert="horz" lIns="91440" tIns="45720" rIns="91440" bIns="45720" rtlCol="0">
            <a:noAutofit/>
          </a:bodyPr>
          <a:lstStyle>
            <a:lvl1pPr marL="342900" indent="-342900" algn="l" defTabSz="914400" rtl="0" eaLnBrk="1" latinLnBrk="0" hangingPunct="1">
              <a:spcBef>
                <a:spcPts val="600"/>
              </a:spcBef>
              <a:buFont typeface="Arial" charset="0"/>
              <a:buChar char="•"/>
              <a:defRPr sz="3200" kern="1200">
                <a:solidFill>
                  <a:schemeClr val="tx1"/>
                </a:solidFill>
                <a:latin typeface="+mn-lt"/>
                <a:ea typeface="+mn-ea"/>
                <a:cs typeface="+mn-cs"/>
              </a:defRPr>
            </a:lvl1pPr>
            <a:lvl2pPr marL="742950" indent="-285750" algn="l" defTabSz="914400" rtl="0" eaLnBrk="1" latinLnBrk="0" hangingPunct="1">
              <a:spcBef>
                <a:spcPts val="600"/>
              </a:spcBef>
              <a:buFont typeface="Arial" charset="0"/>
              <a:buChar char="•"/>
              <a:defRPr sz="2800" b="0" i="0" u="none" kern="1200">
                <a:solidFill>
                  <a:schemeClr val="tx1"/>
                </a:solidFill>
                <a:latin typeface="+mn-lt"/>
                <a:ea typeface="+mn-ea"/>
                <a:cs typeface="+mn-cs"/>
              </a:defRPr>
            </a:lvl2pPr>
            <a:lvl3pPr marL="1143000" indent="-228600" algn="l" defTabSz="914400" rtl="0" eaLnBrk="1" latinLnBrk="0" hangingPunct="1">
              <a:spcBef>
                <a:spcPts val="600"/>
              </a:spcBef>
              <a:buFont typeface="Arial" charset="0"/>
              <a:buChar char="•"/>
              <a:defRPr sz="2400" kern="1200">
                <a:solidFill>
                  <a:schemeClr val="tx1"/>
                </a:solidFill>
                <a:latin typeface="+mn-lt"/>
                <a:ea typeface="+mn-ea"/>
                <a:cs typeface="+mn-cs"/>
              </a:defRPr>
            </a:lvl3pPr>
            <a:lvl4pPr marL="1600200" indent="-228600" algn="l" defTabSz="914400" rtl="0" eaLnBrk="1" latinLnBrk="0" hangingPunct="1">
              <a:spcBef>
                <a:spcPts val="600"/>
              </a:spcBef>
              <a:buFont typeface="Arial"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00050" lvl="1" indent="0">
              <a:buNone/>
            </a:pPr>
            <a:r>
              <a:rPr lang="en-US" sz="1600" dirty="0"/>
              <a:t>A.  Using the Variance/Covariance Method in proc reg. (Hint: You will have had to adjust the data … use the following output below to think about how you would construct this interval.)</a:t>
            </a:r>
          </a:p>
        </p:txBody>
      </p:sp>
      <p:sp>
        <p:nvSpPr>
          <p:cNvPr id="3" name="Rectangle 2">
            <a:extLst>
              <a:ext uri="{FF2B5EF4-FFF2-40B4-BE49-F238E27FC236}">
                <a16:creationId xmlns:a16="http://schemas.microsoft.com/office/drawing/2014/main" id="{4FA15342-70C0-ED4C-BC50-55170AB907F5}"/>
              </a:ext>
            </a:extLst>
          </p:cNvPr>
          <p:cNvSpPr/>
          <p:nvPr/>
        </p:nvSpPr>
        <p:spPr>
          <a:xfrm>
            <a:off x="648111" y="5357402"/>
            <a:ext cx="4397358" cy="338554"/>
          </a:xfrm>
          <a:prstGeom prst="rect">
            <a:avLst/>
          </a:prstGeom>
        </p:spPr>
        <p:txBody>
          <a:bodyPr wrap="none">
            <a:spAutoFit/>
          </a:bodyPr>
          <a:lstStyle/>
          <a:p>
            <a:pPr marL="114300" lvl="1"/>
            <a:r>
              <a:rPr lang="en-US" sz="1600" dirty="0"/>
              <a:t>B.  Using the Reference Method in proc </a:t>
            </a:r>
            <a:r>
              <a:rPr lang="en-US" sz="1600" dirty="0" err="1"/>
              <a:t>glm</a:t>
            </a:r>
            <a:r>
              <a:rPr lang="en-US" sz="1600" dirty="0"/>
              <a:t>. </a:t>
            </a:r>
          </a:p>
        </p:txBody>
      </p:sp>
      <p:pic>
        <p:nvPicPr>
          <p:cNvPr id="12" name="Picture 2">
            <a:extLst>
              <a:ext uri="{FF2B5EF4-FFF2-40B4-BE49-F238E27FC236}">
                <a16:creationId xmlns:a16="http://schemas.microsoft.com/office/drawing/2014/main" id="{F0DEB9FB-8B83-2849-B355-B8E8E46C232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96" t="2551" r="875" b="2389"/>
          <a:stretch/>
        </p:blipFill>
        <p:spPr bwMode="auto">
          <a:xfrm>
            <a:off x="6033772" y="5402012"/>
            <a:ext cx="2202287" cy="8776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 name="Picture 3">
            <a:extLst>
              <a:ext uri="{FF2B5EF4-FFF2-40B4-BE49-F238E27FC236}">
                <a16:creationId xmlns:a16="http://schemas.microsoft.com/office/drawing/2014/main" id="{F5A03F41-50FE-9240-951D-0FA606AD86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98238" y="6341475"/>
            <a:ext cx="1808688" cy="358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32716913-2FDA-FB43-AEF0-83EEF9631C96}"/>
              </a:ext>
            </a:extLst>
          </p:cNvPr>
          <p:cNvPicPr>
            <a:picLocks noChangeAspect="1"/>
          </p:cNvPicPr>
          <p:nvPr/>
        </p:nvPicPr>
        <p:blipFill>
          <a:blip r:embed="rId5"/>
          <a:stretch>
            <a:fillRect/>
          </a:stretch>
        </p:blipFill>
        <p:spPr>
          <a:xfrm>
            <a:off x="8964565" y="5473527"/>
            <a:ext cx="1771041" cy="1153473"/>
          </a:xfrm>
          <a:prstGeom prst="rect">
            <a:avLst/>
          </a:prstGeom>
        </p:spPr>
      </p:pic>
      <p:pic>
        <p:nvPicPr>
          <p:cNvPr id="7" name="Picture 6">
            <a:extLst>
              <a:ext uri="{FF2B5EF4-FFF2-40B4-BE49-F238E27FC236}">
                <a16:creationId xmlns:a16="http://schemas.microsoft.com/office/drawing/2014/main" id="{24F31245-549A-DE49-9C34-73EE14B9D251}"/>
              </a:ext>
            </a:extLst>
          </p:cNvPr>
          <p:cNvPicPr>
            <a:picLocks noChangeAspect="1"/>
          </p:cNvPicPr>
          <p:nvPr/>
        </p:nvPicPr>
        <p:blipFill>
          <a:blip r:embed="rId6"/>
          <a:stretch>
            <a:fillRect/>
          </a:stretch>
        </p:blipFill>
        <p:spPr>
          <a:xfrm>
            <a:off x="5034442" y="2779879"/>
            <a:ext cx="1953516" cy="1206500"/>
          </a:xfrm>
          <a:prstGeom prst="rect">
            <a:avLst/>
          </a:prstGeom>
        </p:spPr>
      </p:pic>
      <p:pic>
        <p:nvPicPr>
          <p:cNvPr id="16" name="Picture 15">
            <a:extLst>
              <a:ext uri="{FF2B5EF4-FFF2-40B4-BE49-F238E27FC236}">
                <a16:creationId xmlns:a16="http://schemas.microsoft.com/office/drawing/2014/main" id="{F2A969ED-7FB3-D348-847D-CA89EF31C535}"/>
              </a:ext>
            </a:extLst>
          </p:cNvPr>
          <p:cNvPicPr>
            <a:picLocks noChangeAspect="1"/>
          </p:cNvPicPr>
          <p:nvPr/>
        </p:nvPicPr>
        <p:blipFill rotWithShape="1">
          <a:blip r:embed="rId7"/>
          <a:srcRect t="7847" b="2061"/>
          <a:stretch/>
        </p:blipFill>
        <p:spPr>
          <a:xfrm>
            <a:off x="2590800" y="2499629"/>
            <a:ext cx="6704276" cy="2301546"/>
          </a:xfrm>
          <a:prstGeom prst="rect">
            <a:avLst/>
          </a:prstGeom>
        </p:spPr>
      </p:pic>
    </p:spTree>
    <p:extLst>
      <p:ext uri="{BB962C8B-B14F-4D97-AF65-F5344CB8AC3E}">
        <p14:creationId xmlns:p14="http://schemas.microsoft.com/office/powerpoint/2010/main" val="814814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xEl>
                                              <p:pRg st="0" end="0"/>
                                            </p:txEl>
                                          </p:spTgt>
                                        </p:tgtEl>
                                        <p:attrNameLst>
                                          <p:attrName>style.visibility</p:attrName>
                                        </p:attrNameLst>
                                      </p:cBhvr>
                                      <p:to>
                                        <p:strVal val="visible"/>
                                      </p:to>
                                    </p:set>
                                    <p:animEffect transition="in" filter="fade">
                                      <p:cBhvr>
                                        <p:cTn id="17" dur="500"/>
                                        <p:tgtEl>
                                          <p:spTgt spid="1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5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500"/>
                                        <p:tgtEl>
                                          <p:spTgt spid="14"/>
                                        </p:tgtEl>
                                      </p:cBhvr>
                                    </p:animEffect>
                                  </p:childTnLst>
                                </p:cTn>
                              </p:par>
                              <p:par>
                                <p:cTn id="39" presetID="10" presetClass="entr" presetSubtype="0" fill="hold" nodeType="with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6AFEF-57B9-AA47-8535-F15021ECC1B3}"/>
              </a:ext>
            </a:extLst>
          </p:cNvPr>
          <p:cNvSpPr>
            <a:spLocks noGrp="1"/>
          </p:cNvSpPr>
          <p:nvPr>
            <p:ph type="title"/>
          </p:nvPr>
        </p:nvSpPr>
        <p:spPr>
          <a:xfrm>
            <a:off x="609600" y="2590800"/>
            <a:ext cx="10972800" cy="1143000"/>
          </a:xfrm>
        </p:spPr>
        <p:txBody>
          <a:bodyPr/>
          <a:lstStyle/>
          <a:p>
            <a:r>
              <a:rPr lang="en-US" dirty="0"/>
              <a:t>Breakout 3</a:t>
            </a:r>
          </a:p>
        </p:txBody>
      </p:sp>
    </p:spTree>
    <p:extLst>
      <p:ext uri="{BB962C8B-B14F-4D97-AF65-F5344CB8AC3E}">
        <p14:creationId xmlns:p14="http://schemas.microsoft.com/office/powerpoint/2010/main" val="256264915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93748FC-6650-6B4F-90CD-09E8E1336CC2}"/>
              </a:ext>
            </a:extLst>
          </p:cNvPr>
          <p:cNvPicPr>
            <a:picLocks noChangeAspect="1"/>
          </p:cNvPicPr>
          <p:nvPr/>
        </p:nvPicPr>
        <p:blipFill>
          <a:blip r:embed="rId3"/>
          <a:stretch>
            <a:fillRect/>
          </a:stretch>
        </p:blipFill>
        <p:spPr>
          <a:xfrm>
            <a:off x="410630" y="1016753"/>
            <a:ext cx="11247969" cy="635000"/>
          </a:xfrm>
          <a:prstGeom prst="rect">
            <a:avLst/>
          </a:prstGeom>
        </p:spPr>
      </p:pic>
      <p:sp>
        <p:nvSpPr>
          <p:cNvPr id="3" name="Title 2"/>
          <p:cNvSpPr>
            <a:spLocks noGrp="1"/>
          </p:cNvSpPr>
          <p:nvPr>
            <p:ph type="title"/>
          </p:nvPr>
        </p:nvSpPr>
        <p:spPr>
          <a:xfrm>
            <a:off x="228600" y="1676400"/>
            <a:ext cx="11049000" cy="914400"/>
          </a:xfrm>
        </p:spPr>
        <p:txBody>
          <a:bodyPr>
            <a:noAutofit/>
          </a:bodyPr>
          <a:lstStyle/>
          <a:p>
            <a:pPr algn="l"/>
            <a:br>
              <a:rPr lang="en-US" sz="2800" dirty="0"/>
            </a:br>
            <a:br>
              <a:rPr lang="en-US" sz="2800" dirty="0"/>
            </a:br>
            <a:r>
              <a:rPr lang="en-US" sz="2000" dirty="0"/>
              <a:t>A.  Using the Reference method in proc glm. Just think about what you would do.</a:t>
            </a:r>
            <a:br>
              <a:rPr lang="en-US" sz="2000" dirty="0"/>
            </a:br>
            <a:br>
              <a:rPr lang="en-US" sz="2000" dirty="0"/>
            </a:br>
            <a:br>
              <a:rPr lang="en-US" sz="2000" dirty="0"/>
            </a:br>
            <a:r>
              <a:rPr lang="en-US" sz="2000" dirty="0"/>
              <a:t>B.  Using the Variance / Covariance Method in proc reg.  (Hint: You will have had to adjust the data </a:t>
            </a:r>
            <a:r>
              <a:rPr lang="is-IS" sz="2000" dirty="0"/>
              <a:t>… use the following output below to think about </a:t>
            </a:r>
            <a:r>
              <a:rPr lang="en-US" sz="2000" dirty="0"/>
              <a:t>how you would construct this interval.)</a:t>
            </a:r>
          </a:p>
        </p:txBody>
      </p:sp>
      <p:pic>
        <p:nvPicPr>
          <p:cNvPr id="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31981" y="3581400"/>
            <a:ext cx="3886200" cy="15063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82126" y="5257800"/>
            <a:ext cx="2585910" cy="144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81200" y="3586843"/>
            <a:ext cx="3774818" cy="25139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extBox 1"/>
          <p:cNvSpPr txBox="1"/>
          <p:nvPr/>
        </p:nvSpPr>
        <p:spPr>
          <a:xfrm>
            <a:off x="457200" y="6100761"/>
            <a:ext cx="5535386" cy="646331"/>
          </a:xfrm>
          <a:prstGeom prst="rect">
            <a:avLst/>
          </a:prstGeom>
          <a:noFill/>
        </p:spPr>
        <p:txBody>
          <a:bodyPr wrap="square" rtlCol="0">
            <a:spAutoFit/>
          </a:bodyPr>
          <a:lstStyle/>
          <a:p>
            <a:r>
              <a:rPr lang="en-US" dirty="0"/>
              <a:t>Note: The animals have been recoded.  The reference has changed. </a:t>
            </a:r>
          </a:p>
        </p:txBody>
      </p:sp>
      <p:sp>
        <p:nvSpPr>
          <p:cNvPr id="7" name="TextBox 6">
            <a:extLst>
              <a:ext uri="{FF2B5EF4-FFF2-40B4-BE49-F238E27FC236}">
                <a16:creationId xmlns:a16="http://schemas.microsoft.com/office/drawing/2014/main" id="{D49EF9FA-1D08-4599-8333-5CAFA20D5A5A}"/>
              </a:ext>
            </a:extLst>
          </p:cNvPr>
          <p:cNvSpPr txBox="1"/>
          <p:nvPr/>
        </p:nvSpPr>
        <p:spPr>
          <a:xfrm>
            <a:off x="1676400" y="1241060"/>
            <a:ext cx="5181600" cy="461665"/>
          </a:xfrm>
          <a:prstGeom prst="rect">
            <a:avLst/>
          </a:prstGeom>
          <a:noFill/>
        </p:spPr>
        <p:txBody>
          <a:bodyPr wrap="square" rtlCol="0">
            <a:spAutoFit/>
          </a:bodyPr>
          <a:lstStyle/>
          <a:p>
            <a:r>
              <a:rPr lang="en-US" sz="2400" dirty="0"/>
              <a:t>Two ways:</a:t>
            </a:r>
          </a:p>
        </p:txBody>
      </p:sp>
      <p:sp>
        <p:nvSpPr>
          <p:cNvPr id="8" name="Content Placeholder 2">
            <a:extLst>
              <a:ext uri="{FF2B5EF4-FFF2-40B4-BE49-F238E27FC236}">
                <a16:creationId xmlns:a16="http://schemas.microsoft.com/office/drawing/2014/main" id="{B57100FE-94EC-4532-B595-1C98FA7018C9}"/>
              </a:ext>
            </a:extLst>
          </p:cNvPr>
          <p:cNvSpPr>
            <a:spLocks noGrp="1"/>
          </p:cNvSpPr>
          <p:nvPr>
            <p:ph idx="1"/>
          </p:nvPr>
        </p:nvSpPr>
        <p:spPr>
          <a:xfrm>
            <a:off x="0" y="391040"/>
            <a:ext cx="12192000" cy="956920"/>
          </a:xfrm>
        </p:spPr>
        <p:txBody>
          <a:bodyPr>
            <a:normAutofit/>
          </a:bodyPr>
          <a:lstStyle/>
          <a:p>
            <a:pPr marL="0" indent="0" algn="ctr">
              <a:buNone/>
            </a:pPr>
            <a:r>
              <a:rPr lang="en-US" sz="2000" dirty="0"/>
              <a:t>Find a 95% confidence interval for the difference in the intercepts between </a:t>
            </a:r>
            <a:r>
              <a:rPr lang="en-US" sz="2000" b="1" dirty="0">
                <a:solidFill>
                  <a:srgbClr val="00B050"/>
                </a:solidFill>
              </a:rPr>
              <a:t>non-echolocating birds and NON-echolocating bats</a:t>
            </a:r>
            <a:r>
              <a:rPr lang="en-US" sz="2000" dirty="0"/>
              <a:t>. (Categories of interest have changed!)</a:t>
            </a:r>
          </a:p>
        </p:txBody>
      </p:sp>
      <p:sp>
        <p:nvSpPr>
          <p:cNvPr id="9" name="TextBox 8">
            <a:extLst>
              <a:ext uri="{FF2B5EF4-FFF2-40B4-BE49-F238E27FC236}">
                <a16:creationId xmlns:a16="http://schemas.microsoft.com/office/drawing/2014/main" id="{EC362FC2-56EC-4339-BDB8-219F047C5CCD}"/>
              </a:ext>
            </a:extLst>
          </p:cNvPr>
          <p:cNvSpPr txBox="1"/>
          <p:nvPr/>
        </p:nvSpPr>
        <p:spPr>
          <a:xfrm>
            <a:off x="1607764" y="2209800"/>
            <a:ext cx="5486400" cy="381000"/>
          </a:xfrm>
          <a:prstGeom prst="rect">
            <a:avLst/>
          </a:prstGeom>
          <a:noFill/>
        </p:spPr>
        <p:txBody>
          <a:bodyPr wrap="square" rtlCol="0">
            <a:spAutoFit/>
          </a:bodyPr>
          <a:lstStyle/>
          <a:p>
            <a:r>
              <a:rPr lang="en-US" dirty="0"/>
              <a:t>Make one of the types of interest a reference level.</a:t>
            </a:r>
          </a:p>
        </p:txBody>
      </p:sp>
    </p:spTree>
    <p:extLst>
      <p:ext uri="{BB962C8B-B14F-4D97-AF65-F5344CB8AC3E}">
        <p14:creationId xmlns:p14="http://schemas.microsoft.com/office/powerpoint/2010/main" val="281089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E33A590-A17C-CF4E-8898-872362678F4E}"/>
              </a:ext>
            </a:extLst>
          </p:cNvPr>
          <p:cNvPicPr>
            <a:picLocks noChangeAspect="1"/>
          </p:cNvPicPr>
          <p:nvPr/>
        </p:nvPicPr>
        <p:blipFill>
          <a:blip r:embed="rId3"/>
          <a:stretch>
            <a:fillRect/>
          </a:stretch>
        </p:blipFill>
        <p:spPr>
          <a:xfrm>
            <a:off x="410630" y="1016753"/>
            <a:ext cx="11247969" cy="635000"/>
          </a:xfrm>
          <a:prstGeom prst="rect">
            <a:avLst/>
          </a:prstGeom>
        </p:spPr>
      </p:pic>
      <mc:AlternateContent xmlns:mc="http://schemas.openxmlformats.org/markup-compatibility/2006" xmlns:a14="http://schemas.microsoft.com/office/drawing/2010/main">
        <mc:Choice Requires="a14">
          <p:sp>
            <p:nvSpPr>
              <p:cNvPr id="2" name="Title 1"/>
              <p:cNvSpPr>
                <a:spLocks noGrp="1"/>
              </p:cNvSpPr>
              <p:nvPr>
                <p:ph type="title"/>
              </p:nvPr>
            </p:nvSpPr>
            <p:spPr>
              <a:xfrm>
                <a:off x="1981200" y="762000"/>
                <a:ext cx="8229600" cy="563562"/>
              </a:xfrm>
            </p:spPr>
            <p:txBody>
              <a:bodyPr>
                <a:normAutofit fontScale="90000"/>
              </a:bodyPr>
              <a:lstStyle/>
              <a:p>
                <a:r>
                  <a:rPr lang="en-US" sz="3600" dirty="0"/>
                  <a:t>A.  Using the Reference method in proc glm.</a:t>
                </a:r>
                <a:br>
                  <a:rPr lang="en-US" dirty="0"/>
                </a:br>
                <a:r>
                  <a:rPr lang="en-US" sz="2000" dirty="0"/>
                  <a:t>Find a 95% confidence interval for the difference between the intercepts for the non-echolocating bats and birds.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ea typeface="Cambria Math"/>
                          </a:rPr>
                          <m:t>𝛽</m:t>
                        </m:r>
                      </m:e>
                      <m:sub>
                        <m:r>
                          <a:rPr lang="en-US" sz="2000" i="1">
                            <a:latin typeface="Cambria Math"/>
                          </a:rPr>
                          <m:t>2</m:t>
                        </m:r>
                      </m:sub>
                    </m:sSub>
                  </m:oMath>
                </a14:m>
                <a:r>
                  <a:rPr lang="en-US" sz="2000" dirty="0"/>
                  <a:t>)</a:t>
                </a:r>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1981200" y="762000"/>
                <a:ext cx="8229600" cy="563562"/>
              </a:xfrm>
              <a:blipFill>
                <a:blip r:embed="rId4"/>
                <a:stretch>
                  <a:fillRect l="-1541" t="-64444" r="-1387" b="-66667"/>
                </a:stretch>
              </a:blipFill>
            </p:spPr>
            <p:txBody>
              <a:bodyPr/>
              <a:lstStyle/>
              <a:p>
                <a:r>
                  <a:rPr lang="en-US">
                    <a:noFill/>
                  </a:rPr>
                  <a:t> </a:t>
                </a:r>
              </a:p>
            </p:txBody>
          </p:sp>
        </mc:Fallback>
      </mc:AlternateContent>
      <p:pic>
        <p:nvPicPr>
          <p:cNvPr id="1433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1933436"/>
            <a:ext cx="512569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Box 4"/>
          <p:cNvSpPr txBox="1"/>
          <p:nvPr/>
        </p:nvSpPr>
        <p:spPr>
          <a:xfrm>
            <a:off x="3925830" y="4448037"/>
            <a:ext cx="4035540" cy="2031325"/>
          </a:xfrm>
          <a:prstGeom prst="rect">
            <a:avLst/>
          </a:prstGeom>
          <a:noFill/>
        </p:spPr>
        <p:txBody>
          <a:bodyPr wrap="square" rtlCol="0">
            <a:spAutoFit/>
          </a:bodyPr>
          <a:lstStyle/>
          <a:p>
            <a:r>
              <a:rPr lang="en-US" b="1" dirty="0">
                <a:solidFill>
                  <a:srgbClr val="FF0000"/>
                </a:solidFill>
              </a:rPr>
              <a:t>df = 16 (n=20)</a:t>
            </a:r>
          </a:p>
          <a:p>
            <a:r>
              <a:rPr lang="en-US" b="1" dirty="0">
                <a:solidFill>
                  <a:srgbClr val="FF0000"/>
                </a:solidFill>
              </a:rPr>
              <a:t>MOE = t</a:t>
            </a:r>
            <a:r>
              <a:rPr lang="en-US" b="1" baseline="-25000" dirty="0">
                <a:solidFill>
                  <a:srgbClr val="FF0000"/>
                </a:solidFill>
              </a:rPr>
              <a:t>16,.975</a:t>
            </a:r>
            <a:r>
              <a:rPr lang="en-US" b="1" dirty="0">
                <a:solidFill>
                  <a:srgbClr val="FF0000"/>
                </a:solidFill>
              </a:rPr>
              <a:t>*SE</a:t>
            </a:r>
          </a:p>
          <a:p>
            <a:r>
              <a:rPr lang="en-US" b="1" dirty="0">
                <a:solidFill>
                  <a:srgbClr val="FF0000"/>
                </a:solidFill>
              </a:rPr>
              <a:t>MOE = 2.12 * .1142</a:t>
            </a:r>
          </a:p>
          <a:p>
            <a:r>
              <a:rPr lang="en-US" b="1" dirty="0">
                <a:solidFill>
                  <a:srgbClr val="FF0000"/>
                </a:solidFill>
              </a:rPr>
              <a:t>MOE = .2421</a:t>
            </a:r>
          </a:p>
          <a:p>
            <a:r>
              <a:rPr lang="en-US" b="1" dirty="0">
                <a:solidFill>
                  <a:srgbClr val="FF0000"/>
                </a:solidFill>
              </a:rPr>
              <a:t>95% CI:  (.10226 ± .2421) </a:t>
            </a:r>
          </a:p>
          <a:p>
            <a:r>
              <a:rPr lang="en-US" b="1" dirty="0">
                <a:solidFill>
                  <a:srgbClr val="FF0000"/>
                </a:solidFill>
              </a:rPr>
              <a:t>95% CI:  (-.13944, .34436)</a:t>
            </a:r>
          </a:p>
          <a:p>
            <a:endParaRPr lang="en-US" b="1" dirty="0">
              <a:solidFill>
                <a:srgbClr val="FF0000"/>
              </a:solidFill>
            </a:endParaRPr>
          </a:p>
        </p:txBody>
      </p:sp>
      <mc:AlternateContent xmlns:mc="http://schemas.openxmlformats.org/markup-compatibility/2006" xmlns:a14="http://schemas.microsoft.com/office/drawing/2010/main">
        <mc:Choice Requires="a14">
          <p:sp>
            <p:nvSpPr>
              <p:cNvPr id="6" name="TextBox 5"/>
              <p:cNvSpPr txBox="1"/>
              <p:nvPr/>
            </p:nvSpPr>
            <p:spPr>
              <a:xfrm>
                <a:off x="2569822" y="1552436"/>
                <a:ext cx="499495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a:rPr>
                            <m:t>𝑙𝑒𝑛𝑒𝑟𝑔𝑦</m:t>
                          </m:r>
                        </m:e>
                      </m:d>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𝑙𝑚𝑎𝑠𝑠</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𝑏𝑖𝑟𝑑</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panose="02040503050406030204" pitchFamily="18" charset="0"/>
                              <a:ea typeface="Cambria Math"/>
                            </a:rPr>
                            <m:t>3</m:t>
                          </m:r>
                        </m:sub>
                      </m:sSub>
                      <m:r>
                        <a:rPr lang="en-US" i="1">
                          <a:latin typeface="Cambria Math"/>
                        </a:rPr>
                        <m:t>𝑒𝑏𝑎𝑡</m:t>
                      </m:r>
                    </m:oMath>
                  </m:oMathPara>
                </a14:m>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2569822" y="1552436"/>
                <a:ext cx="4994957" cy="369332"/>
              </a:xfrm>
              <a:prstGeom prst="rect">
                <a:avLst/>
              </a:prstGeom>
              <a:blipFill>
                <a:blip r:embed="rId6"/>
                <a:stretch>
                  <a:fillRect b="-16667"/>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BF95DD91-BB65-4CF2-8738-03A2C1850D93}"/>
              </a:ext>
            </a:extLst>
          </p:cNvPr>
          <p:cNvSpPr txBox="1"/>
          <p:nvPr/>
        </p:nvSpPr>
        <p:spPr>
          <a:xfrm>
            <a:off x="8005678" y="1564104"/>
            <a:ext cx="3232999" cy="369332"/>
          </a:xfrm>
          <a:prstGeom prst="rect">
            <a:avLst/>
          </a:prstGeom>
          <a:noFill/>
        </p:spPr>
        <p:txBody>
          <a:bodyPr wrap="square" rtlCol="0">
            <a:spAutoFit/>
          </a:bodyPr>
          <a:lstStyle/>
          <a:p>
            <a:r>
              <a:rPr lang="en-US" dirty="0"/>
              <a:t>Ref = non-echolocating bat</a:t>
            </a:r>
          </a:p>
        </p:txBody>
      </p:sp>
      <p:cxnSp>
        <p:nvCxnSpPr>
          <p:cNvPr id="8" name="Straight Arrow Connector 7">
            <a:extLst>
              <a:ext uri="{FF2B5EF4-FFF2-40B4-BE49-F238E27FC236}">
                <a16:creationId xmlns:a16="http://schemas.microsoft.com/office/drawing/2014/main" id="{0A2F88EC-4CBA-462E-B7D0-831E840959F5}"/>
              </a:ext>
            </a:extLst>
          </p:cNvPr>
          <p:cNvCxnSpPr>
            <a:cxnSpLocks/>
            <a:stCxn id="10" idx="2"/>
          </p:cNvCxnSpPr>
          <p:nvPr/>
        </p:nvCxnSpPr>
        <p:spPr>
          <a:xfrm>
            <a:off x="5067302" y="3302719"/>
            <a:ext cx="190499" cy="229331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9B41933-8FAC-42FB-9694-77988FAB3E4A}"/>
              </a:ext>
            </a:extLst>
          </p:cNvPr>
          <p:cNvSpPr/>
          <p:nvPr/>
        </p:nvSpPr>
        <p:spPr>
          <a:xfrm>
            <a:off x="5943600" y="3000416"/>
            <a:ext cx="1143000" cy="30075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FC40961-CDFF-445C-94DF-DB17326DF5BD}"/>
              </a:ext>
            </a:extLst>
          </p:cNvPr>
          <p:cNvSpPr/>
          <p:nvPr/>
        </p:nvSpPr>
        <p:spPr>
          <a:xfrm>
            <a:off x="4495802" y="3001962"/>
            <a:ext cx="1142999" cy="30075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1" name="Straight Arrow Connector 10">
            <a:extLst>
              <a:ext uri="{FF2B5EF4-FFF2-40B4-BE49-F238E27FC236}">
                <a16:creationId xmlns:a16="http://schemas.microsoft.com/office/drawing/2014/main" id="{72D252F3-998D-48B7-911D-55F37E241908}"/>
              </a:ext>
            </a:extLst>
          </p:cNvPr>
          <p:cNvCxnSpPr>
            <a:cxnSpLocks/>
          </p:cNvCxnSpPr>
          <p:nvPr/>
        </p:nvCxnSpPr>
        <p:spPr>
          <a:xfrm flipH="1">
            <a:off x="5638801" y="3318548"/>
            <a:ext cx="876301" cy="166461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1651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1"/>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xit" presetSubtype="0" fill="hold" nodeType="clickEffect">
                                  <p:stCondLst>
                                    <p:cond delay="0"/>
                                  </p:stCondLst>
                                  <p:childTnLst>
                                    <p:set>
                                      <p:cBhvr>
                                        <p:cTn id="17" dur="1" fill="hold">
                                          <p:stCondLst>
                                            <p:cond delay="0"/>
                                          </p:stCondLst>
                                        </p:cTn>
                                        <p:tgtEl>
                                          <p:spTgt spid="11"/>
                                        </p:tgtEl>
                                        <p:attrNameLst>
                                          <p:attrName>style.visibility</p:attrName>
                                        </p:attrNameLst>
                                      </p:cBhvr>
                                      <p:to>
                                        <p:strVal val="hidden"/>
                                      </p:to>
                                    </p:set>
                                  </p:childTnLst>
                                </p:cTn>
                              </p:par>
                              <p:par>
                                <p:cTn id="18" presetID="1" presetClass="exit" presetSubtype="0" fill="hold" grpId="1" nodeType="withEffect">
                                  <p:stCondLst>
                                    <p:cond delay="0"/>
                                  </p:stCondLst>
                                  <p:childTnLst>
                                    <p:set>
                                      <p:cBhvr>
                                        <p:cTn id="19" dur="1" fill="hold">
                                          <p:stCondLst>
                                            <p:cond delay="0"/>
                                          </p:stCondLst>
                                        </p:cTn>
                                        <p:tgtEl>
                                          <p:spTgt spid="9"/>
                                        </p:tgtEl>
                                        <p:attrNameLst>
                                          <p:attrName>style.visibility</p:attrName>
                                        </p:attrNameLst>
                                      </p:cBhvr>
                                      <p:to>
                                        <p:strVal val="hidden"/>
                                      </p:to>
                                    </p:se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xit" presetSubtype="0" fill="hold" nodeType="clickEffect">
                                  <p:stCondLst>
                                    <p:cond delay="0"/>
                                  </p:stCondLst>
                                  <p:childTnLst>
                                    <p:set>
                                      <p:cBhvr>
                                        <p:cTn id="27" dur="1" fill="hold">
                                          <p:stCondLst>
                                            <p:cond delay="0"/>
                                          </p:stCondLst>
                                        </p:cTn>
                                        <p:tgtEl>
                                          <p:spTgt spid="8"/>
                                        </p:tgtEl>
                                        <p:attrNameLst>
                                          <p:attrName>style.visibility</p:attrName>
                                        </p:attrNameLst>
                                      </p:cBhvr>
                                      <p:to>
                                        <p:strVal val="hidden"/>
                                      </p:to>
                                    </p:set>
                                  </p:childTnLst>
                                </p:cTn>
                              </p:par>
                              <p:par>
                                <p:cTn id="28" presetID="1" presetClass="exit" presetSubtype="0" fill="hold" grpId="1" nodeType="withEffect">
                                  <p:stCondLst>
                                    <p:cond delay="0"/>
                                  </p:stCondLst>
                                  <p:childTnLst>
                                    <p:set>
                                      <p:cBhvr>
                                        <p:cTn id="29"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9" grpId="1" animBg="1"/>
      <p:bldP spid="10" grpId="0" animBg="1"/>
      <p:bldP spid="10"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 name="Picture 6">
            <a:extLst>
              <a:ext uri="{FF2B5EF4-FFF2-40B4-BE49-F238E27FC236}">
                <a16:creationId xmlns:a16="http://schemas.microsoft.com/office/drawing/2014/main" id="{FD204C8C-5124-3F49-9B54-4027C49DD1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8491" y="5018319"/>
            <a:ext cx="3069612" cy="1695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 name="Picture 40">
            <a:extLst>
              <a:ext uri="{FF2B5EF4-FFF2-40B4-BE49-F238E27FC236}">
                <a16:creationId xmlns:a16="http://schemas.microsoft.com/office/drawing/2014/main" id="{F6AD1598-579C-FD4C-90A5-A6907240F5A7}"/>
              </a:ext>
            </a:extLst>
          </p:cNvPr>
          <p:cNvPicPr>
            <a:picLocks noChangeAspect="1"/>
          </p:cNvPicPr>
          <p:nvPr/>
        </p:nvPicPr>
        <p:blipFill>
          <a:blip r:embed="rId4"/>
          <a:stretch>
            <a:fillRect/>
          </a:stretch>
        </p:blipFill>
        <p:spPr>
          <a:xfrm>
            <a:off x="410630" y="1016753"/>
            <a:ext cx="11247969" cy="635000"/>
          </a:xfrm>
          <a:prstGeom prst="rect">
            <a:avLst/>
          </a:prstGeom>
        </p:spPr>
      </p:pic>
      <p:pic>
        <p:nvPicPr>
          <p:cNvPr id="13316"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36143" y="1229551"/>
            <a:ext cx="5451780" cy="2113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7"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2600" y="1203553"/>
            <a:ext cx="3227240" cy="214924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76200" y="152400"/>
            <a:ext cx="12115800" cy="914400"/>
          </a:xfrm>
        </p:spPr>
        <p:txBody>
          <a:bodyPr>
            <a:noAutofit/>
          </a:bodyPr>
          <a:lstStyle/>
          <a:p>
            <a:r>
              <a:rPr lang="en-US" sz="2400" dirty="0"/>
              <a:t>B.  Using the Variance / Covariance Method in proc reg.  </a:t>
            </a:r>
            <a:br>
              <a:rPr lang="en-US" sz="2400" dirty="0"/>
            </a:br>
            <a:r>
              <a:rPr lang="en-US" sz="2000" dirty="0"/>
              <a:t>(Hint: You will have to adjust the data!)</a:t>
            </a:r>
            <a:endParaRPr lang="en-US" sz="2400" dirty="0"/>
          </a:p>
        </p:txBody>
      </p:sp>
      <p:sp>
        <p:nvSpPr>
          <p:cNvPr id="6" name="Rectangle 5"/>
          <p:cNvSpPr/>
          <p:nvPr/>
        </p:nvSpPr>
        <p:spPr>
          <a:xfrm>
            <a:off x="3848100" y="1239610"/>
            <a:ext cx="4191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9" name="TextBox 8"/>
              <p:cNvSpPr txBox="1"/>
              <p:nvPr/>
            </p:nvSpPr>
            <p:spPr>
              <a:xfrm>
                <a:off x="1673493" y="3294020"/>
                <a:ext cx="6036140" cy="4414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𝑉𝑎𝑟</m:t>
                      </m:r>
                      <m:r>
                        <a:rPr lang="en-US" sz="2000" i="1">
                          <a:latin typeface="Cambria Math"/>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e>
                      </m:d>
                      <m:r>
                        <a:rPr lang="en-US" sz="2000" i="1">
                          <a:latin typeface="Cambria Math"/>
                        </a:rPr>
                        <m:t>=</m:t>
                      </m:r>
                      <m:r>
                        <a:rPr lang="en-US" sz="2000" i="1">
                          <a:latin typeface="Cambria Math"/>
                        </a:rPr>
                        <m:t>𝑉𝑎𝑟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e>
                      </m:d>
                      <m:r>
                        <a:rPr lang="en-US" sz="2000" i="1">
                          <a:latin typeface="Cambria Math"/>
                        </a:rPr>
                        <m:t>+</m:t>
                      </m:r>
                      <m:r>
                        <a:rPr lang="en-US" sz="2000" i="1">
                          <a:latin typeface="Cambria Math"/>
                        </a:rPr>
                        <m:t>𝑉𝑎𝑟</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e>
                      </m:d>
                      <m:r>
                        <a:rPr lang="en-US" sz="2000" i="1">
                          <a:latin typeface="Cambria Math"/>
                        </a:rPr>
                        <m:t>−2</m:t>
                      </m:r>
                      <m:r>
                        <a:rPr lang="en-US" sz="2000" i="1">
                          <a:latin typeface="Cambria Math"/>
                        </a:rPr>
                        <m:t>𝐶𝑜𝑣</m:t>
                      </m:r>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r>
                        <a:rPr lang="en-US" sz="2000" i="1">
                          <a:latin typeface="Cambria Math"/>
                        </a:rPr>
                        <m:t>)</m:t>
                      </m:r>
                    </m:oMath>
                  </m:oMathPara>
                </a14:m>
                <a:endParaRPr lang="en-US" sz="2000" dirty="0"/>
              </a:p>
            </p:txBody>
          </p:sp>
        </mc:Choice>
        <mc:Fallback xmlns="">
          <p:sp>
            <p:nvSpPr>
              <p:cNvPr id="9" name="TextBox 8"/>
              <p:cNvSpPr txBox="1">
                <a:spLocks noRot="1" noChangeAspect="1" noMove="1" noResize="1" noEditPoints="1" noAdjustHandles="1" noChangeArrowheads="1" noChangeShapeType="1" noTextEdit="1"/>
              </p:cNvSpPr>
              <p:nvPr/>
            </p:nvSpPr>
            <p:spPr>
              <a:xfrm>
                <a:off x="1673493" y="3294020"/>
                <a:ext cx="6036140" cy="441468"/>
              </a:xfrm>
              <a:prstGeom prst="rect">
                <a:avLst/>
              </a:prstGeom>
              <a:blipFill>
                <a:blip r:embed="rId7"/>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686927" y="3676710"/>
                <a:ext cx="5446491" cy="4414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𝑉𝑎𝑟</m:t>
                      </m:r>
                      <m:r>
                        <a:rPr lang="en-US" sz="2000" i="1">
                          <a:latin typeface="Cambria Math"/>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e>
                      </m:d>
                      <m:r>
                        <a:rPr lang="en-US" sz="2000" i="1">
                          <a:latin typeface="Cambria Math"/>
                        </a:rPr>
                        <m:t>=.02484+.04108−2(.02644)</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686927" y="3676710"/>
                <a:ext cx="5446491" cy="441468"/>
              </a:xfrm>
              <a:prstGeom prst="rect">
                <a:avLst/>
              </a:prstGeom>
              <a:blipFill>
                <a:blip r:embed="rId8"/>
                <a:stretch>
                  <a:fillRect b="-1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p:cNvSpPr txBox="1"/>
              <p:nvPr/>
            </p:nvSpPr>
            <p:spPr>
              <a:xfrm>
                <a:off x="1681203" y="4076820"/>
                <a:ext cx="3003130" cy="44146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i="1">
                          <a:latin typeface="Cambria Math"/>
                        </a:rPr>
                        <m:t>𝑉𝑎𝑟</m:t>
                      </m:r>
                      <m:r>
                        <a:rPr lang="en-US" sz="2000" i="1">
                          <a:latin typeface="Cambria Math"/>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e>
                      </m:d>
                      <m:r>
                        <a:rPr lang="en-US" sz="2000" i="1">
                          <a:latin typeface="Cambria Math"/>
                        </a:rPr>
                        <m:t>= .01304</m:t>
                      </m:r>
                    </m:oMath>
                  </m:oMathPara>
                </a14:m>
                <a:endParaRPr lang="en-US" dirty="0"/>
              </a:p>
            </p:txBody>
          </p:sp>
        </mc:Choice>
        <mc:Fallback xmlns="">
          <p:sp>
            <p:nvSpPr>
              <p:cNvPr id="12" name="TextBox 11"/>
              <p:cNvSpPr txBox="1">
                <a:spLocks noRot="1" noChangeAspect="1" noMove="1" noResize="1" noEditPoints="1" noAdjustHandles="1" noChangeArrowheads="1" noChangeShapeType="1" noTextEdit="1"/>
              </p:cNvSpPr>
              <p:nvPr/>
            </p:nvSpPr>
            <p:spPr>
              <a:xfrm>
                <a:off x="1681203" y="4076820"/>
                <a:ext cx="3003130" cy="441468"/>
              </a:xfrm>
              <a:prstGeom prst="rect">
                <a:avLst/>
              </a:prstGeom>
              <a:blipFill>
                <a:blip r:embed="rId9"/>
                <a:stretch>
                  <a:fillRect b="-1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1798490" y="4482986"/>
                <a:ext cx="3922356" cy="453714"/>
              </a:xfrm>
              <a:prstGeom prst="rect">
                <a:avLst/>
              </a:prstGeom>
              <a:noFill/>
            </p:spPr>
            <p:txBody>
              <a:bodyPr wrap="none" rtlCol="0">
                <a:spAutoFit/>
              </a:bodyPr>
              <a:lstStyle/>
              <a:p>
                <a:r>
                  <a:rPr lang="en-US" sz="2000" dirty="0"/>
                  <a:t>SE</a:t>
                </a:r>
                <a14:m>
                  <m:oMath xmlns:m="http://schemas.openxmlformats.org/officeDocument/2006/math">
                    <m:r>
                      <a:rPr lang="en-US" sz="2000" i="1">
                        <a:latin typeface="Cambria Math"/>
                      </a:rPr>
                      <m:t> </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a:rPr>
                              <m:t>2</m:t>
                            </m:r>
                          </m:sub>
                        </m:sSub>
                        <m:r>
                          <a:rPr lang="en-US" sz="2000" i="1">
                            <a:latin typeface="Cambria Math"/>
                          </a:rPr>
                          <m:t>−</m:t>
                        </m:r>
                        <m:sSub>
                          <m:sSubPr>
                            <m:ctrlPr>
                              <a:rPr lang="en-US" sz="2000" i="1">
                                <a:latin typeface="Cambria Math" panose="02040503050406030204" pitchFamily="18" charset="0"/>
                              </a:rPr>
                            </m:ctrlPr>
                          </m:sSubPr>
                          <m:e>
                            <m:acc>
                              <m:accPr>
                                <m:chr m:val="̂"/>
                                <m:ctrlPr>
                                  <a:rPr lang="en-US" sz="2000" i="1">
                                    <a:latin typeface="Cambria Math" panose="02040503050406030204" pitchFamily="18" charset="0"/>
                                  </a:rPr>
                                </m:ctrlPr>
                              </m:accPr>
                              <m:e>
                                <m:r>
                                  <a:rPr lang="en-US" sz="2000" i="1">
                                    <a:latin typeface="Cambria Math"/>
                                    <a:ea typeface="Cambria Math"/>
                                  </a:rPr>
                                  <m:t>𝛽</m:t>
                                </m:r>
                              </m:e>
                            </m:acc>
                          </m:e>
                          <m:sub>
                            <m:r>
                              <a:rPr lang="en-US" sz="2000" i="1">
                                <a:latin typeface="Cambria Math" charset="0"/>
                                <a:ea typeface="Cambria Math"/>
                              </a:rPr>
                              <m:t>3</m:t>
                            </m:r>
                          </m:sub>
                        </m:sSub>
                      </m:e>
                    </m:d>
                    <m:r>
                      <a:rPr lang="en-US" sz="2000" i="1">
                        <a:latin typeface="Cambria Math"/>
                      </a:rPr>
                      <m:t>= </m:t>
                    </m:r>
                    <m:rad>
                      <m:radPr>
                        <m:degHide m:val="on"/>
                        <m:ctrlPr>
                          <a:rPr lang="en-US" sz="2000" i="1">
                            <a:latin typeface="Cambria Math" panose="02040503050406030204" pitchFamily="18" charset="0"/>
                          </a:rPr>
                        </m:ctrlPr>
                      </m:radPr>
                      <m:deg/>
                      <m:e>
                        <m:r>
                          <a:rPr lang="en-US" sz="2000" i="1">
                            <a:latin typeface="Cambria Math" panose="02040503050406030204" pitchFamily="18" charset="0"/>
                          </a:rPr>
                          <m:t>.01304</m:t>
                        </m:r>
                      </m:e>
                    </m:rad>
                    <m:r>
                      <a:rPr lang="en-US" sz="2000" i="1">
                        <a:latin typeface="Cambria Math" panose="02040503050406030204" pitchFamily="18" charset="0"/>
                      </a:rPr>
                      <m:t>=</m:t>
                    </m:r>
                    <m:r>
                      <a:rPr lang="en-US" sz="2000" i="1">
                        <a:latin typeface="Cambria Math"/>
                      </a:rPr>
                      <m:t>.1142</m:t>
                    </m:r>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1798490" y="4482986"/>
                <a:ext cx="3922356" cy="453714"/>
              </a:xfrm>
              <a:prstGeom prst="rect">
                <a:avLst/>
              </a:prstGeom>
              <a:blipFill>
                <a:blip r:embed="rId10"/>
                <a:stretch>
                  <a:fillRect l="-1613" b="-18919"/>
                </a:stretch>
              </a:blipFill>
            </p:spPr>
            <p:txBody>
              <a:bodyPr/>
              <a:lstStyle/>
              <a:p>
                <a:r>
                  <a:rPr lang="en-US">
                    <a:noFill/>
                  </a:rPr>
                  <a:t> </a:t>
                </a:r>
              </a:p>
            </p:txBody>
          </p:sp>
        </mc:Fallback>
      </mc:AlternateContent>
      <p:sp>
        <p:nvSpPr>
          <p:cNvPr id="15" name="TextBox 14"/>
          <p:cNvSpPr txBox="1"/>
          <p:nvPr/>
        </p:nvSpPr>
        <p:spPr>
          <a:xfrm>
            <a:off x="5943600" y="4951275"/>
            <a:ext cx="4035540" cy="2031325"/>
          </a:xfrm>
          <a:prstGeom prst="rect">
            <a:avLst/>
          </a:prstGeom>
          <a:noFill/>
        </p:spPr>
        <p:txBody>
          <a:bodyPr wrap="square" rtlCol="0">
            <a:spAutoFit/>
          </a:bodyPr>
          <a:lstStyle/>
          <a:p>
            <a:r>
              <a:rPr lang="en-US" b="1" dirty="0">
                <a:solidFill>
                  <a:srgbClr val="FF0000"/>
                </a:solidFill>
              </a:rPr>
              <a:t>df = 16 (n=20)</a:t>
            </a:r>
          </a:p>
          <a:p>
            <a:r>
              <a:rPr lang="en-US" b="1" dirty="0">
                <a:solidFill>
                  <a:srgbClr val="FF0000"/>
                </a:solidFill>
              </a:rPr>
              <a:t>MOE = t</a:t>
            </a:r>
            <a:r>
              <a:rPr lang="en-US" b="1" baseline="-25000" dirty="0">
                <a:solidFill>
                  <a:srgbClr val="FF0000"/>
                </a:solidFill>
              </a:rPr>
              <a:t>16,.975</a:t>
            </a:r>
            <a:r>
              <a:rPr lang="en-US" b="1" dirty="0">
                <a:solidFill>
                  <a:srgbClr val="FF0000"/>
                </a:solidFill>
              </a:rPr>
              <a:t>*SE</a:t>
            </a:r>
          </a:p>
          <a:p>
            <a:r>
              <a:rPr lang="en-US" b="1" dirty="0">
                <a:solidFill>
                  <a:srgbClr val="FF0000"/>
                </a:solidFill>
              </a:rPr>
              <a:t>MOE=2.12* .1142</a:t>
            </a:r>
          </a:p>
          <a:p>
            <a:r>
              <a:rPr lang="en-US" b="1" dirty="0">
                <a:solidFill>
                  <a:srgbClr val="FF0000"/>
                </a:solidFill>
              </a:rPr>
              <a:t>MOE = .2421</a:t>
            </a:r>
          </a:p>
          <a:p>
            <a:r>
              <a:rPr lang="en-US" b="1" dirty="0">
                <a:solidFill>
                  <a:srgbClr val="FF0000"/>
                </a:solidFill>
              </a:rPr>
              <a:t>95% CI:  (.10226 ± .2421) </a:t>
            </a:r>
          </a:p>
          <a:p>
            <a:r>
              <a:rPr lang="en-US" b="1" dirty="0">
                <a:solidFill>
                  <a:srgbClr val="FF0000"/>
                </a:solidFill>
              </a:rPr>
              <a:t>95% CI:  (-.13944, .34436)</a:t>
            </a:r>
          </a:p>
          <a:p>
            <a:endParaRPr lang="en-US" b="1" dirty="0">
              <a:solidFill>
                <a:srgbClr val="FF0000"/>
              </a:solidFill>
            </a:endParaRPr>
          </a:p>
        </p:txBody>
      </p:sp>
      <mc:AlternateContent xmlns:mc="http://schemas.openxmlformats.org/markup-compatibility/2006" xmlns:a14="http://schemas.microsoft.com/office/drawing/2010/main">
        <mc:Choice Requires="a14">
          <p:sp>
            <p:nvSpPr>
              <p:cNvPr id="8" name="TextBox 7"/>
              <p:cNvSpPr txBox="1"/>
              <p:nvPr/>
            </p:nvSpPr>
            <p:spPr>
              <a:xfrm>
                <a:off x="5491396" y="4284858"/>
                <a:ext cx="4551439" cy="384336"/>
              </a:xfrm>
              <a:prstGeom prst="rect">
                <a:avLst/>
              </a:prstGeom>
              <a:noFill/>
            </p:spPr>
            <p:txBody>
              <a:bodyPr wrap="none" rtlCol="0">
                <a:spAutoFit/>
              </a:bodyPr>
              <a:lstStyle/>
              <a:p>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a:rPr>
                          <m:t>2</m:t>
                        </m:r>
                      </m:sub>
                    </m:sSub>
                    <m:r>
                      <a:rPr lang="en-US" i="1">
                        <a:latin typeface="Cambria Math"/>
                      </a:rPr>
                      <m:t>−</m:t>
                    </m:r>
                  </m:oMath>
                </a14:m>
                <a:r>
                  <a:rPr lang="en-US" dirty="0"/>
                  <a:t> </a:t>
                </a:r>
                <a14:m>
                  <m:oMath xmlns:m="http://schemas.openxmlformats.org/officeDocument/2006/math">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charset="0"/>
                                <a:ea typeface="Cambria Math" charset="0"/>
                                <a:cs typeface="Cambria Math" charset="0"/>
                              </a:rPr>
                              <m:t>𝛽</m:t>
                            </m:r>
                          </m:e>
                        </m:acc>
                      </m:e>
                      <m:sub>
                        <m:r>
                          <a:rPr lang="en-US" i="1">
                            <a:latin typeface="Cambria Math" charset="0"/>
                            <a:ea typeface="Cambria Math" charset="0"/>
                            <a:cs typeface="Cambria Math" charset="0"/>
                          </a:rPr>
                          <m:t>3</m:t>
                        </m:r>
                      </m:sub>
                    </m:sSub>
                    <m:r>
                      <a:rPr lang="en-US" i="1">
                        <a:latin typeface="Cambria Math"/>
                      </a:rPr>
                      <m:t>= .02360 −  </m:t>
                    </m:r>
                    <m:d>
                      <m:dPr>
                        <m:ctrlPr>
                          <a:rPr lang="en-US" i="1">
                            <a:latin typeface="Cambria Math" panose="02040503050406030204" pitchFamily="18" charset="0"/>
                          </a:rPr>
                        </m:ctrlPr>
                      </m:dPr>
                      <m:e>
                        <m:r>
                          <a:rPr lang="en-US" i="1">
                            <a:latin typeface="Cambria Math"/>
                          </a:rPr>
                          <m:t>−.07866</m:t>
                        </m:r>
                      </m:e>
                    </m:d>
                    <m:r>
                      <a:rPr lang="en-US" i="1">
                        <a:latin typeface="Cambria Math" charset="0"/>
                      </a:rPr>
                      <m:t>= .10266</m:t>
                    </m:r>
                  </m:oMath>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5491396" y="4284858"/>
                <a:ext cx="4551439" cy="384336"/>
              </a:xfrm>
              <a:prstGeom prst="rect">
                <a:avLst/>
              </a:prstGeom>
              <a:blipFill>
                <a:blip r:embed="rId11"/>
                <a:stretch>
                  <a:fillRect l="-279" t="-3226" b="-193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3064474" y="880610"/>
                <a:ext cx="512800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a:rPr>
                            <m:t>𝑙𝑒𝑛𝑒𝑟𝑔𝑦</m:t>
                          </m:r>
                        </m:e>
                      </m:d>
                      <m:r>
                        <a:rPr lang="en-US" i="1">
                          <a:latin typeface="Cambria Math"/>
                        </a:rPr>
                        <m:t>= </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1</m:t>
                          </m:r>
                        </m:sub>
                      </m:sSub>
                      <m:r>
                        <a:rPr lang="en-US" i="1">
                          <a:latin typeface="Cambria Math"/>
                        </a:rPr>
                        <m:t>𝑙𝑚𝑎𝑠𝑠</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2</m:t>
                          </m:r>
                        </m:sub>
                      </m:sSub>
                      <m:r>
                        <a:rPr lang="en-US" i="1">
                          <a:latin typeface="Cambria Math"/>
                        </a:rPr>
                        <m:t>𝑏𝑖𝑟𝑑</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panose="02040503050406030204" pitchFamily="18" charset="0"/>
                              <a:ea typeface="Cambria Math"/>
                            </a:rPr>
                            <m:t>3</m:t>
                          </m:r>
                        </m:sub>
                      </m:sSub>
                      <m:r>
                        <a:rPr lang="en-US" i="1">
                          <a:latin typeface="Cambria Math" charset="0"/>
                        </a:rPr>
                        <m:t>𝑛</m:t>
                      </m:r>
                      <m:r>
                        <a:rPr lang="en-US" i="1">
                          <a:latin typeface="Cambria Math"/>
                        </a:rPr>
                        <m:t>𝑒𝑏𝑎𝑡</m:t>
                      </m:r>
                    </m:oMath>
                  </m:oMathPara>
                </a14:m>
                <a:endParaRPr lang="en-US" dirty="0"/>
              </a:p>
            </p:txBody>
          </p:sp>
        </mc:Choice>
        <mc:Fallback xmlns="">
          <p:sp>
            <p:nvSpPr>
              <p:cNvPr id="14" name="TextBox 13"/>
              <p:cNvSpPr txBox="1">
                <a:spLocks noRot="1" noChangeAspect="1" noMove="1" noResize="1" noEditPoints="1" noAdjustHandles="1" noChangeArrowheads="1" noChangeShapeType="1" noTextEdit="1"/>
              </p:cNvSpPr>
              <p:nvPr/>
            </p:nvSpPr>
            <p:spPr>
              <a:xfrm>
                <a:off x="3064474" y="880610"/>
                <a:ext cx="5128007" cy="369332"/>
              </a:xfrm>
              <a:prstGeom prst="rect">
                <a:avLst/>
              </a:prstGeom>
              <a:blipFill>
                <a:blip r:embed="rId12"/>
                <a:stretch>
                  <a:fillRect b="-20000"/>
                </a:stretch>
              </a:blipFill>
            </p:spPr>
            <p:txBody>
              <a:bodyPr/>
              <a:lstStyle/>
              <a:p>
                <a:r>
                  <a:rPr lang="en-US">
                    <a:noFill/>
                  </a:rPr>
                  <a:t> </a:t>
                </a:r>
              </a:p>
            </p:txBody>
          </p:sp>
        </mc:Fallback>
      </mc:AlternateContent>
      <p:sp>
        <p:nvSpPr>
          <p:cNvPr id="3" name="Rectangle 2">
            <a:extLst>
              <a:ext uri="{FF2B5EF4-FFF2-40B4-BE49-F238E27FC236}">
                <a16:creationId xmlns:a16="http://schemas.microsoft.com/office/drawing/2014/main" id="{7007445A-EEC8-4E81-918B-9D7BF0C2761A}"/>
              </a:ext>
            </a:extLst>
          </p:cNvPr>
          <p:cNvSpPr/>
          <p:nvPr/>
        </p:nvSpPr>
        <p:spPr>
          <a:xfrm>
            <a:off x="11611" y="1555271"/>
            <a:ext cx="1866900" cy="861774"/>
          </a:xfrm>
          <a:prstGeom prst="rect">
            <a:avLst/>
          </a:prstGeom>
        </p:spPr>
        <p:txBody>
          <a:bodyPr wrap="square">
            <a:spAutoFit/>
          </a:bodyPr>
          <a:lstStyle/>
          <a:p>
            <a:r>
              <a:rPr lang="en-US" sz="1000" dirty="0"/>
              <a:t>Find a 95% confidence interval for the difference between the intercepts for the non-echolocating bats and birds. </a:t>
            </a:r>
          </a:p>
        </p:txBody>
      </p:sp>
      <p:sp>
        <p:nvSpPr>
          <p:cNvPr id="19" name="TextBox 18">
            <a:extLst>
              <a:ext uri="{FF2B5EF4-FFF2-40B4-BE49-F238E27FC236}">
                <a16:creationId xmlns:a16="http://schemas.microsoft.com/office/drawing/2014/main" id="{967C3D35-ACFD-4A99-9BEF-CC6812AE62AB}"/>
              </a:ext>
            </a:extLst>
          </p:cNvPr>
          <p:cNvSpPr txBox="1"/>
          <p:nvPr/>
        </p:nvSpPr>
        <p:spPr>
          <a:xfrm>
            <a:off x="8182602" y="908940"/>
            <a:ext cx="2713998" cy="369332"/>
          </a:xfrm>
          <a:prstGeom prst="rect">
            <a:avLst/>
          </a:prstGeom>
          <a:noFill/>
        </p:spPr>
        <p:txBody>
          <a:bodyPr wrap="square" rtlCol="0">
            <a:spAutoFit/>
          </a:bodyPr>
          <a:lstStyle/>
          <a:p>
            <a:r>
              <a:rPr lang="en-US" dirty="0"/>
              <a:t>Ref = echolocating bat</a:t>
            </a:r>
          </a:p>
        </p:txBody>
      </p:sp>
      <p:cxnSp>
        <p:nvCxnSpPr>
          <p:cNvPr id="22" name="Straight Arrow Connector 21">
            <a:extLst>
              <a:ext uri="{FF2B5EF4-FFF2-40B4-BE49-F238E27FC236}">
                <a16:creationId xmlns:a16="http://schemas.microsoft.com/office/drawing/2014/main" id="{2E2E0B27-2563-40EB-BAEE-E1FCC960D934}"/>
              </a:ext>
            </a:extLst>
          </p:cNvPr>
          <p:cNvCxnSpPr>
            <a:cxnSpLocks/>
            <a:stCxn id="23" idx="1"/>
          </p:cNvCxnSpPr>
          <p:nvPr/>
        </p:nvCxnSpPr>
        <p:spPr>
          <a:xfrm flipH="1">
            <a:off x="4147822" y="2817856"/>
            <a:ext cx="4129760" cy="992145"/>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5D95DFC-0EE5-47E4-8AA6-D0FF36441D51}"/>
              </a:ext>
            </a:extLst>
          </p:cNvPr>
          <p:cNvSpPr/>
          <p:nvPr/>
        </p:nvSpPr>
        <p:spPr>
          <a:xfrm>
            <a:off x="8277583" y="2667477"/>
            <a:ext cx="1142999" cy="30075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4" name="Straight Arrow Connector 23">
            <a:extLst>
              <a:ext uri="{FF2B5EF4-FFF2-40B4-BE49-F238E27FC236}">
                <a16:creationId xmlns:a16="http://schemas.microsoft.com/office/drawing/2014/main" id="{995F490E-4905-44CF-A53E-C7977946DAF8}"/>
              </a:ext>
            </a:extLst>
          </p:cNvPr>
          <p:cNvCxnSpPr>
            <a:cxnSpLocks/>
            <a:stCxn id="25" idx="2"/>
          </p:cNvCxnSpPr>
          <p:nvPr/>
        </p:nvCxnSpPr>
        <p:spPr>
          <a:xfrm flipH="1">
            <a:off x="5315707" y="3272556"/>
            <a:ext cx="4676375" cy="62488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9DAF64A8-94F0-491C-B209-FA46D765E5A0}"/>
              </a:ext>
            </a:extLst>
          </p:cNvPr>
          <p:cNvSpPr/>
          <p:nvPr/>
        </p:nvSpPr>
        <p:spPr>
          <a:xfrm>
            <a:off x="9420582" y="2971800"/>
            <a:ext cx="1142999" cy="30075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Arrow Connector 25">
            <a:extLst>
              <a:ext uri="{FF2B5EF4-FFF2-40B4-BE49-F238E27FC236}">
                <a16:creationId xmlns:a16="http://schemas.microsoft.com/office/drawing/2014/main" id="{B5B7F850-FFCE-410E-B9E1-D5CCDDEB2A14}"/>
              </a:ext>
            </a:extLst>
          </p:cNvPr>
          <p:cNvCxnSpPr>
            <a:cxnSpLocks/>
            <a:stCxn id="27" idx="2"/>
          </p:cNvCxnSpPr>
          <p:nvPr/>
        </p:nvCxnSpPr>
        <p:spPr>
          <a:xfrm flipH="1">
            <a:off x="6601376" y="3294020"/>
            <a:ext cx="2257975" cy="51598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31CD8E4-6DF4-48DF-81E9-0146E95EEC43}"/>
              </a:ext>
            </a:extLst>
          </p:cNvPr>
          <p:cNvSpPr/>
          <p:nvPr/>
        </p:nvSpPr>
        <p:spPr>
          <a:xfrm>
            <a:off x="8287851" y="2993264"/>
            <a:ext cx="1142999" cy="30075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4" name="Straight Arrow Connector 33">
            <a:extLst>
              <a:ext uri="{FF2B5EF4-FFF2-40B4-BE49-F238E27FC236}">
                <a16:creationId xmlns:a16="http://schemas.microsoft.com/office/drawing/2014/main" id="{309BBFBB-C10F-4669-93E7-507A3A29E264}"/>
              </a:ext>
            </a:extLst>
          </p:cNvPr>
          <p:cNvCxnSpPr>
            <a:cxnSpLocks/>
            <a:stCxn id="35" idx="0"/>
          </p:cNvCxnSpPr>
          <p:nvPr/>
        </p:nvCxnSpPr>
        <p:spPr>
          <a:xfrm flipV="1">
            <a:off x="3021550" y="4669196"/>
            <a:ext cx="3836450" cy="150300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BA130388-6FFE-4835-A284-D57AD518DB56}"/>
              </a:ext>
            </a:extLst>
          </p:cNvPr>
          <p:cNvSpPr/>
          <p:nvPr/>
        </p:nvSpPr>
        <p:spPr>
          <a:xfrm>
            <a:off x="2676880" y="6172200"/>
            <a:ext cx="689341" cy="20997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6" name="Straight Arrow Connector 35">
            <a:extLst>
              <a:ext uri="{FF2B5EF4-FFF2-40B4-BE49-F238E27FC236}">
                <a16:creationId xmlns:a16="http://schemas.microsoft.com/office/drawing/2014/main" id="{88C1010A-A1D0-421D-AE40-2926A2101E0B}"/>
              </a:ext>
            </a:extLst>
          </p:cNvPr>
          <p:cNvCxnSpPr>
            <a:cxnSpLocks/>
            <a:stCxn id="37" idx="3"/>
          </p:cNvCxnSpPr>
          <p:nvPr/>
        </p:nvCxnSpPr>
        <p:spPr>
          <a:xfrm flipV="1">
            <a:off x="3366220" y="4587577"/>
            <a:ext cx="4911362" cy="1922254"/>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C424EA3C-B6E9-4D01-8057-A7A6973AE82E}"/>
              </a:ext>
            </a:extLst>
          </p:cNvPr>
          <p:cNvSpPr/>
          <p:nvPr/>
        </p:nvSpPr>
        <p:spPr>
          <a:xfrm>
            <a:off x="2676880" y="6404844"/>
            <a:ext cx="689341" cy="209974"/>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Oval 42">
            <a:extLst>
              <a:ext uri="{FF2B5EF4-FFF2-40B4-BE49-F238E27FC236}">
                <a16:creationId xmlns:a16="http://schemas.microsoft.com/office/drawing/2014/main" id="{DDEBB345-DBA6-4287-B9C9-BCDF2FE0F5E4}"/>
              </a:ext>
            </a:extLst>
          </p:cNvPr>
          <p:cNvSpPr/>
          <p:nvPr/>
        </p:nvSpPr>
        <p:spPr>
          <a:xfrm>
            <a:off x="4800601" y="4573851"/>
            <a:ext cx="868581" cy="39806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5" name="Straight Arrow Connector 44">
            <a:extLst>
              <a:ext uri="{FF2B5EF4-FFF2-40B4-BE49-F238E27FC236}">
                <a16:creationId xmlns:a16="http://schemas.microsoft.com/office/drawing/2014/main" id="{50F14B95-5987-4D15-934D-6B97AC9924F8}"/>
              </a:ext>
            </a:extLst>
          </p:cNvPr>
          <p:cNvCxnSpPr>
            <a:stCxn id="43" idx="6"/>
          </p:cNvCxnSpPr>
          <p:nvPr/>
        </p:nvCxnSpPr>
        <p:spPr>
          <a:xfrm>
            <a:off x="5669182" y="4772883"/>
            <a:ext cx="1646019" cy="855567"/>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49" name="Oval 48">
            <a:extLst>
              <a:ext uri="{FF2B5EF4-FFF2-40B4-BE49-F238E27FC236}">
                <a16:creationId xmlns:a16="http://schemas.microsoft.com/office/drawing/2014/main" id="{A1919619-E33B-4FDE-AF33-181A3AD74B69}"/>
              </a:ext>
            </a:extLst>
          </p:cNvPr>
          <p:cNvSpPr/>
          <p:nvPr/>
        </p:nvSpPr>
        <p:spPr>
          <a:xfrm>
            <a:off x="9084645" y="4291375"/>
            <a:ext cx="868581" cy="398063"/>
          </a:xfrm>
          <a:prstGeom prst="ellipse">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0" name="Straight Arrow Connector 49">
            <a:extLst>
              <a:ext uri="{FF2B5EF4-FFF2-40B4-BE49-F238E27FC236}">
                <a16:creationId xmlns:a16="http://schemas.microsoft.com/office/drawing/2014/main" id="{6BA93D41-3445-4F4E-8C60-1D845C9E0990}"/>
              </a:ext>
            </a:extLst>
          </p:cNvPr>
          <p:cNvCxnSpPr>
            <a:cxnSpLocks/>
            <a:stCxn id="49" idx="4"/>
          </p:cNvCxnSpPr>
          <p:nvPr/>
        </p:nvCxnSpPr>
        <p:spPr>
          <a:xfrm flipH="1">
            <a:off x="7202671" y="4689438"/>
            <a:ext cx="2316265" cy="1482763"/>
          </a:xfrm>
          <a:prstGeom prst="straightConnector1">
            <a:avLst/>
          </a:prstGeom>
          <a:ln w="190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D6AA2D4D-B2BB-4C82-AA04-EDD5D769CD5F}"/>
              </a:ext>
            </a:extLst>
          </p:cNvPr>
          <p:cNvSpPr txBox="1"/>
          <p:nvPr/>
        </p:nvSpPr>
        <p:spPr>
          <a:xfrm>
            <a:off x="8639802" y="5588197"/>
            <a:ext cx="1828800" cy="646331"/>
          </a:xfrm>
          <a:prstGeom prst="rect">
            <a:avLst/>
          </a:prstGeom>
          <a:noFill/>
        </p:spPr>
        <p:txBody>
          <a:bodyPr wrap="square" rtlCol="0">
            <a:spAutoFit/>
          </a:bodyPr>
          <a:lstStyle/>
          <a:p>
            <a:r>
              <a:rPr lang="en-US" dirty="0"/>
              <a:t>Same as before!</a:t>
            </a:r>
          </a:p>
        </p:txBody>
      </p:sp>
      <p:cxnSp>
        <p:nvCxnSpPr>
          <p:cNvPr id="32" name="Straight Arrow Connector 31">
            <a:extLst>
              <a:ext uri="{FF2B5EF4-FFF2-40B4-BE49-F238E27FC236}">
                <a16:creationId xmlns:a16="http://schemas.microsoft.com/office/drawing/2014/main" id="{E7CC8945-323E-4829-A542-70645086071A}"/>
              </a:ext>
            </a:extLst>
          </p:cNvPr>
          <p:cNvCxnSpPr>
            <a:cxnSpLocks/>
          </p:cNvCxnSpPr>
          <p:nvPr/>
        </p:nvCxnSpPr>
        <p:spPr>
          <a:xfrm flipH="1">
            <a:off x="4147823" y="1239608"/>
            <a:ext cx="2252231" cy="257929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DFD3E08F-AC0C-4D3C-9119-2C3C6B763275}"/>
              </a:ext>
            </a:extLst>
          </p:cNvPr>
          <p:cNvCxnSpPr>
            <a:cxnSpLocks/>
          </p:cNvCxnSpPr>
          <p:nvPr/>
        </p:nvCxnSpPr>
        <p:spPr>
          <a:xfrm>
            <a:off x="6479306" y="1209309"/>
            <a:ext cx="179915" cy="2595469"/>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292BA03-0F98-44C2-A761-5A42F9071535}"/>
              </a:ext>
            </a:extLst>
          </p:cNvPr>
          <p:cNvCxnSpPr>
            <a:cxnSpLocks/>
          </p:cNvCxnSpPr>
          <p:nvPr/>
        </p:nvCxnSpPr>
        <p:spPr>
          <a:xfrm flipH="1">
            <a:off x="6659220" y="1209307"/>
            <a:ext cx="670818" cy="259547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1C6A016-15C9-47E6-AC36-77E13BFCF700}"/>
              </a:ext>
            </a:extLst>
          </p:cNvPr>
          <p:cNvCxnSpPr>
            <a:cxnSpLocks/>
          </p:cNvCxnSpPr>
          <p:nvPr/>
        </p:nvCxnSpPr>
        <p:spPr>
          <a:xfrm flipH="1">
            <a:off x="5315706" y="1238896"/>
            <a:ext cx="1999494" cy="264750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0264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317"/>
                                        </p:tgtEl>
                                        <p:attrNameLst>
                                          <p:attrName>style.visibility</p:attrName>
                                        </p:attrNameLst>
                                      </p:cBhvr>
                                      <p:to>
                                        <p:strVal val="visible"/>
                                      </p:to>
                                    </p:set>
                                    <p:animEffect transition="in" filter="fade">
                                      <p:cBhvr>
                                        <p:cTn id="7" dur="500"/>
                                        <p:tgtEl>
                                          <p:spTgt spid="133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316"/>
                                        </p:tgtEl>
                                        <p:attrNameLst>
                                          <p:attrName>style.visibility</p:attrName>
                                        </p:attrNameLst>
                                      </p:cBhvr>
                                      <p:to>
                                        <p:strVal val="visible"/>
                                      </p:to>
                                    </p:set>
                                    <p:animEffect transition="in" filter="fade">
                                      <p:cBhvr>
                                        <p:cTn id="17" dur="500"/>
                                        <p:tgtEl>
                                          <p:spTgt spid="1331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2"/>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23"/>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22"/>
                                        </p:tgtEl>
                                        <p:attrNameLst>
                                          <p:attrName>style.visibility</p:attrName>
                                        </p:attrNameLst>
                                      </p:cBhvr>
                                      <p:to>
                                        <p:strVal val="hidden"/>
                                      </p:to>
                                    </p:set>
                                  </p:childTnLst>
                                </p:cTn>
                              </p:par>
                              <p:par>
                                <p:cTn id="38" presetID="1" presetClass="exit" presetSubtype="0" fill="hold" grpId="1" nodeType="withEffect">
                                  <p:stCondLst>
                                    <p:cond delay="0"/>
                                  </p:stCondLst>
                                  <p:childTnLst>
                                    <p:set>
                                      <p:cBhvr>
                                        <p:cTn id="39" dur="1" fill="hold">
                                          <p:stCondLst>
                                            <p:cond delay="0"/>
                                          </p:stCondLst>
                                        </p:cTn>
                                        <p:tgtEl>
                                          <p:spTgt spid="23"/>
                                        </p:tgtEl>
                                        <p:attrNameLst>
                                          <p:attrName>style.visibility</p:attrName>
                                        </p:attrNameLst>
                                      </p:cBhvr>
                                      <p:to>
                                        <p:strVal val="hidden"/>
                                      </p:to>
                                    </p:set>
                                  </p:childTnLst>
                                </p:cTn>
                              </p:par>
                              <p:par>
                                <p:cTn id="40" presetID="1" presetClass="exit" presetSubtype="0" fill="hold" nodeType="withEffect">
                                  <p:stCondLst>
                                    <p:cond delay="0"/>
                                  </p:stCondLst>
                                  <p:childTnLst>
                                    <p:set>
                                      <p:cBhvr>
                                        <p:cTn id="41" dur="1" fill="hold">
                                          <p:stCondLst>
                                            <p:cond delay="0"/>
                                          </p:stCondLst>
                                        </p:cTn>
                                        <p:tgtEl>
                                          <p:spTgt spid="32"/>
                                        </p:tgtEl>
                                        <p:attrNameLst>
                                          <p:attrName>style.visibility</p:attrName>
                                        </p:attrNameLst>
                                      </p:cBhvr>
                                      <p:to>
                                        <p:strVal val="hidden"/>
                                      </p:to>
                                    </p:set>
                                  </p:childTnLst>
                                </p:cTn>
                              </p:par>
                              <p:par>
                                <p:cTn id="42" presetID="1"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4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nodeType="clickEffect">
                                  <p:stCondLst>
                                    <p:cond delay="0"/>
                                  </p:stCondLst>
                                  <p:childTnLst>
                                    <p:set>
                                      <p:cBhvr>
                                        <p:cTn id="51" dur="1" fill="hold">
                                          <p:stCondLst>
                                            <p:cond delay="0"/>
                                          </p:stCondLst>
                                        </p:cTn>
                                        <p:tgtEl>
                                          <p:spTgt spid="24"/>
                                        </p:tgtEl>
                                        <p:attrNameLst>
                                          <p:attrName>style.visibility</p:attrName>
                                        </p:attrNameLst>
                                      </p:cBhvr>
                                      <p:to>
                                        <p:strVal val="hidden"/>
                                      </p:to>
                                    </p:set>
                                  </p:childTnLst>
                                </p:cTn>
                              </p:par>
                              <p:par>
                                <p:cTn id="52" presetID="1" presetClass="exit" presetSubtype="0" fill="hold" grpId="1" nodeType="withEffect">
                                  <p:stCondLst>
                                    <p:cond delay="0"/>
                                  </p:stCondLst>
                                  <p:childTnLst>
                                    <p:set>
                                      <p:cBhvr>
                                        <p:cTn id="53" dur="1" fill="hold">
                                          <p:stCondLst>
                                            <p:cond delay="0"/>
                                          </p:stCondLst>
                                        </p:cTn>
                                        <p:tgtEl>
                                          <p:spTgt spid="25"/>
                                        </p:tgtEl>
                                        <p:attrNameLst>
                                          <p:attrName>style.visibility</p:attrName>
                                        </p:attrNameLst>
                                      </p:cBhvr>
                                      <p:to>
                                        <p:strVal val="hidden"/>
                                      </p:to>
                                    </p:set>
                                  </p:childTnLst>
                                </p:cTn>
                              </p:par>
                              <p:par>
                                <p:cTn id="54" presetID="1" presetClass="exit" presetSubtype="0" fill="hold" nodeType="withEffect">
                                  <p:stCondLst>
                                    <p:cond delay="0"/>
                                  </p:stCondLst>
                                  <p:childTnLst>
                                    <p:set>
                                      <p:cBhvr>
                                        <p:cTn id="55" dur="1" fill="hold">
                                          <p:stCondLst>
                                            <p:cond delay="0"/>
                                          </p:stCondLst>
                                        </p:cTn>
                                        <p:tgtEl>
                                          <p:spTgt spid="40"/>
                                        </p:tgtEl>
                                        <p:attrNameLst>
                                          <p:attrName>style.visibility</p:attrName>
                                        </p:attrNameLst>
                                      </p:cBhvr>
                                      <p:to>
                                        <p:strVal val="hidden"/>
                                      </p:to>
                                    </p:set>
                                  </p:childTnLst>
                                </p:cTn>
                              </p:par>
                              <p:par>
                                <p:cTn id="56" presetID="1" presetClass="entr" presetSubtype="0" fill="hold" nodeType="withEffect">
                                  <p:stCondLst>
                                    <p:cond delay="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nodeType="withEffect">
                                  <p:stCondLst>
                                    <p:cond delay="0"/>
                                  </p:stCondLst>
                                  <p:childTnLst>
                                    <p:set>
                                      <p:cBhvr>
                                        <p:cTn id="59" dur="1" fill="hold">
                                          <p:stCondLst>
                                            <p:cond delay="0"/>
                                          </p:stCondLst>
                                        </p:cTn>
                                        <p:tgtEl>
                                          <p:spTgt spid="26"/>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39"/>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xit" presetSubtype="0" fill="hold" nodeType="clickEffect">
                                  <p:stCondLst>
                                    <p:cond delay="0"/>
                                  </p:stCondLst>
                                  <p:childTnLst>
                                    <p:set>
                                      <p:cBhvr>
                                        <p:cTn id="67" dur="1" fill="hold">
                                          <p:stCondLst>
                                            <p:cond delay="0"/>
                                          </p:stCondLst>
                                        </p:cTn>
                                        <p:tgtEl>
                                          <p:spTgt spid="26"/>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27"/>
                                        </p:tgtEl>
                                        <p:attrNameLst>
                                          <p:attrName>style.visibility</p:attrName>
                                        </p:attrNameLst>
                                      </p:cBhvr>
                                      <p:to>
                                        <p:strVal val="hidden"/>
                                      </p:to>
                                    </p:set>
                                  </p:childTnLst>
                                </p:cTn>
                              </p:par>
                              <p:par>
                                <p:cTn id="70" presetID="1" presetClass="exit" presetSubtype="0" fill="hold" nodeType="withEffect">
                                  <p:stCondLst>
                                    <p:cond delay="0"/>
                                  </p:stCondLst>
                                  <p:childTnLst>
                                    <p:set>
                                      <p:cBhvr>
                                        <p:cTn id="71" dur="1" fill="hold">
                                          <p:stCondLst>
                                            <p:cond delay="0"/>
                                          </p:stCondLst>
                                        </p:cTn>
                                        <p:tgtEl>
                                          <p:spTgt spid="38"/>
                                        </p:tgtEl>
                                        <p:attrNameLst>
                                          <p:attrName>style.visibility</p:attrName>
                                        </p:attrNameLst>
                                      </p:cBhvr>
                                      <p:to>
                                        <p:strVal val="hidden"/>
                                      </p:to>
                                    </p:set>
                                  </p:childTnLst>
                                </p:cTn>
                              </p:par>
                              <p:par>
                                <p:cTn id="72" presetID="1" presetClass="exit" presetSubtype="0" fill="hold" nodeType="withEffect">
                                  <p:stCondLst>
                                    <p:cond delay="0"/>
                                  </p:stCondLst>
                                  <p:childTnLst>
                                    <p:set>
                                      <p:cBhvr>
                                        <p:cTn id="73" dur="1" fill="hold">
                                          <p:stCondLst>
                                            <p:cond delay="0"/>
                                          </p:stCondLst>
                                        </p:cTn>
                                        <p:tgtEl>
                                          <p:spTgt spid="39"/>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13"/>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44"/>
                                        </p:tgtEl>
                                        <p:attrNameLst>
                                          <p:attrName>style.visibility</p:attrName>
                                        </p:attrNameLst>
                                      </p:cBhvr>
                                      <p:to>
                                        <p:strVal val="visible"/>
                                      </p:to>
                                    </p:set>
                                    <p:animEffect transition="in" filter="fade">
                                      <p:cBhvr>
                                        <p:cTn id="84" dur="500"/>
                                        <p:tgtEl>
                                          <p:spTgt spid="44"/>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8"/>
                                        </p:tgtEl>
                                        <p:attrNameLst>
                                          <p:attrName>style.visibility</p:attrName>
                                        </p:attrNameLst>
                                      </p:cBhvr>
                                      <p:to>
                                        <p:strVal val="visible"/>
                                      </p:to>
                                    </p:set>
                                    <p:animEffect transition="in" filter="fade">
                                      <p:cBhvr>
                                        <p:cTn id="89" dur="500"/>
                                        <p:tgtEl>
                                          <p:spTgt spid="8"/>
                                        </p:tgtEl>
                                      </p:cBhvr>
                                    </p:animEffect>
                                  </p:childTnLst>
                                </p:cTn>
                              </p:par>
                              <p:par>
                                <p:cTn id="90" presetID="1" presetClass="entr" presetSubtype="0" fill="hold" nodeType="withEffect">
                                  <p:stCondLst>
                                    <p:cond delay="0"/>
                                  </p:stCondLst>
                                  <p:childTnLst>
                                    <p:set>
                                      <p:cBhvr>
                                        <p:cTn id="91" dur="1" fill="hold">
                                          <p:stCondLst>
                                            <p:cond delay="0"/>
                                          </p:stCondLst>
                                        </p:cTn>
                                        <p:tgtEl>
                                          <p:spTgt spid="34"/>
                                        </p:tgtEl>
                                        <p:attrNameLst>
                                          <p:attrName>style.visibility</p:attrName>
                                        </p:attrNameLst>
                                      </p:cBhvr>
                                      <p:to>
                                        <p:strVal val="visible"/>
                                      </p:to>
                                    </p:set>
                                  </p:childTnLst>
                                </p:cTn>
                              </p:par>
                              <p:par>
                                <p:cTn id="92" presetID="1" presetClass="entr" presetSubtype="0" fill="hold" grpId="0" nodeType="withEffect">
                                  <p:stCondLst>
                                    <p:cond delay="0"/>
                                  </p:stCondLst>
                                  <p:childTnLst>
                                    <p:set>
                                      <p:cBhvr>
                                        <p:cTn id="93" dur="1" fill="hold">
                                          <p:stCondLst>
                                            <p:cond delay="0"/>
                                          </p:stCondLst>
                                        </p:cTn>
                                        <p:tgtEl>
                                          <p:spTgt spid="35"/>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xit" presetSubtype="0" fill="hold" nodeType="clickEffect">
                                  <p:stCondLst>
                                    <p:cond delay="0"/>
                                  </p:stCondLst>
                                  <p:childTnLst>
                                    <p:set>
                                      <p:cBhvr>
                                        <p:cTn id="97" dur="1" fill="hold">
                                          <p:stCondLst>
                                            <p:cond delay="0"/>
                                          </p:stCondLst>
                                        </p:cTn>
                                        <p:tgtEl>
                                          <p:spTgt spid="34"/>
                                        </p:tgtEl>
                                        <p:attrNameLst>
                                          <p:attrName>style.visibility</p:attrName>
                                        </p:attrNameLst>
                                      </p:cBhvr>
                                      <p:to>
                                        <p:strVal val="hidden"/>
                                      </p:to>
                                    </p:set>
                                  </p:childTnLst>
                                </p:cTn>
                              </p:par>
                              <p:par>
                                <p:cTn id="98" presetID="1" presetClass="entr" presetSubtype="0" fill="hold" nodeType="withEffect">
                                  <p:stCondLst>
                                    <p:cond delay="0"/>
                                  </p:stCondLst>
                                  <p:childTnLst>
                                    <p:set>
                                      <p:cBhvr>
                                        <p:cTn id="99" dur="1" fill="hold">
                                          <p:stCondLst>
                                            <p:cond delay="0"/>
                                          </p:stCondLst>
                                        </p:cTn>
                                        <p:tgtEl>
                                          <p:spTgt spid="36"/>
                                        </p:tgtEl>
                                        <p:attrNameLst>
                                          <p:attrName>style.visibility</p:attrName>
                                        </p:attrNameLst>
                                      </p:cBhvr>
                                      <p:to>
                                        <p:strVal val="visible"/>
                                      </p:to>
                                    </p:set>
                                  </p:childTnLst>
                                </p:cTn>
                              </p:par>
                              <p:par>
                                <p:cTn id="100" presetID="1" presetClass="entr" presetSubtype="0" fill="hold" grpId="0" nodeType="withEffect">
                                  <p:stCondLst>
                                    <p:cond delay="0"/>
                                  </p:stCondLst>
                                  <p:childTnLst>
                                    <p:set>
                                      <p:cBhvr>
                                        <p:cTn id="101" dur="1" fill="hold">
                                          <p:stCondLst>
                                            <p:cond delay="0"/>
                                          </p:stCondLst>
                                        </p:cTn>
                                        <p:tgtEl>
                                          <p:spTgt spid="37"/>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xit" presetSubtype="0" fill="hold" nodeType="clickEffect">
                                  <p:stCondLst>
                                    <p:cond delay="0"/>
                                  </p:stCondLst>
                                  <p:childTnLst>
                                    <p:set>
                                      <p:cBhvr>
                                        <p:cTn id="105" dur="1" fill="hold">
                                          <p:stCondLst>
                                            <p:cond delay="0"/>
                                          </p:stCondLst>
                                        </p:cTn>
                                        <p:tgtEl>
                                          <p:spTgt spid="36"/>
                                        </p:tgtEl>
                                        <p:attrNameLst>
                                          <p:attrName>style.visibility</p:attrName>
                                        </p:attrNameLst>
                                      </p:cBhvr>
                                      <p:to>
                                        <p:strVal val="hidden"/>
                                      </p:to>
                                    </p:set>
                                  </p:childTnLst>
                                </p:cTn>
                              </p:par>
                              <p:par>
                                <p:cTn id="106" presetID="10" presetClass="entr" presetSubtype="0" fill="hold" grpId="0" nodeType="withEffect">
                                  <p:stCondLst>
                                    <p:cond delay="0"/>
                                  </p:stCondLst>
                                  <p:childTnLst>
                                    <p:set>
                                      <p:cBhvr>
                                        <p:cTn id="107" dur="1" fill="hold">
                                          <p:stCondLst>
                                            <p:cond delay="0"/>
                                          </p:stCondLst>
                                        </p:cTn>
                                        <p:tgtEl>
                                          <p:spTgt spid="15"/>
                                        </p:tgtEl>
                                        <p:attrNameLst>
                                          <p:attrName>style.visibility</p:attrName>
                                        </p:attrNameLst>
                                      </p:cBhvr>
                                      <p:to>
                                        <p:strVal val="visible"/>
                                      </p:to>
                                    </p:set>
                                    <p:animEffect transition="in" filter="fade">
                                      <p:cBhvr>
                                        <p:cTn id="108" dur="500"/>
                                        <p:tgtEl>
                                          <p:spTgt spid="15"/>
                                        </p:tgtEl>
                                      </p:cBhvr>
                                    </p:animEffec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grpId="0" nodeType="clickEffect">
                                  <p:stCondLst>
                                    <p:cond delay="0"/>
                                  </p:stCondLst>
                                  <p:childTnLst>
                                    <p:set>
                                      <p:cBhvr>
                                        <p:cTn id="112" dur="1" fill="hold">
                                          <p:stCondLst>
                                            <p:cond delay="0"/>
                                          </p:stCondLst>
                                        </p:cTn>
                                        <p:tgtEl>
                                          <p:spTgt spid="43"/>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4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xit" presetSubtype="0" fill="hold" grpId="1" nodeType="clickEffect">
                                  <p:stCondLst>
                                    <p:cond delay="0"/>
                                  </p:stCondLst>
                                  <p:childTnLst>
                                    <p:set>
                                      <p:cBhvr>
                                        <p:cTn id="118" dur="1" fill="hold">
                                          <p:stCondLst>
                                            <p:cond delay="0"/>
                                          </p:stCondLst>
                                        </p:cTn>
                                        <p:tgtEl>
                                          <p:spTgt spid="43"/>
                                        </p:tgtEl>
                                        <p:attrNameLst>
                                          <p:attrName>style.visibility</p:attrName>
                                        </p:attrNameLst>
                                      </p:cBhvr>
                                      <p:to>
                                        <p:strVal val="hidden"/>
                                      </p:to>
                                    </p:set>
                                  </p:childTnLst>
                                </p:cTn>
                              </p:par>
                              <p:par>
                                <p:cTn id="119" presetID="1" presetClass="exit" presetSubtype="0" fill="hold" nodeType="withEffect">
                                  <p:stCondLst>
                                    <p:cond delay="0"/>
                                  </p:stCondLst>
                                  <p:childTnLst>
                                    <p:set>
                                      <p:cBhvr>
                                        <p:cTn id="120" dur="1" fill="hold">
                                          <p:stCondLst>
                                            <p:cond delay="0"/>
                                          </p:stCondLst>
                                        </p:cTn>
                                        <p:tgtEl>
                                          <p:spTgt spid="45"/>
                                        </p:tgtEl>
                                        <p:attrNameLst>
                                          <p:attrName>style.visibility</p:attrName>
                                        </p:attrNameLst>
                                      </p:cBhvr>
                                      <p:to>
                                        <p:strVal val="hidden"/>
                                      </p:to>
                                    </p:set>
                                  </p:childTnLst>
                                </p:cTn>
                              </p:par>
                              <p:par>
                                <p:cTn id="121" presetID="1" presetClass="entr" presetSubtype="0" fill="hold" grpId="0" nodeType="withEffect">
                                  <p:stCondLst>
                                    <p:cond delay="0"/>
                                  </p:stCondLst>
                                  <p:childTnLst>
                                    <p:set>
                                      <p:cBhvr>
                                        <p:cTn id="122" dur="1" fill="hold">
                                          <p:stCondLst>
                                            <p:cond delay="0"/>
                                          </p:stCondLst>
                                        </p:cTn>
                                        <p:tgtEl>
                                          <p:spTgt spid="49"/>
                                        </p:tgtEl>
                                        <p:attrNameLst>
                                          <p:attrName>style.visibility</p:attrName>
                                        </p:attrNameLst>
                                      </p:cBhvr>
                                      <p:to>
                                        <p:strVal val="visible"/>
                                      </p:to>
                                    </p:set>
                                  </p:childTnLst>
                                </p:cTn>
                              </p:par>
                              <p:par>
                                <p:cTn id="123" presetID="1" presetClass="entr" presetSubtype="0" fill="hold" nodeType="withEffect">
                                  <p:stCondLst>
                                    <p:cond delay="0"/>
                                  </p:stCondLst>
                                  <p:childTnLst>
                                    <p:set>
                                      <p:cBhvr>
                                        <p:cTn id="124" dur="1" fill="hold">
                                          <p:stCondLst>
                                            <p:cond delay="0"/>
                                          </p:stCondLst>
                                        </p:cTn>
                                        <p:tgtEl>
                                          <p:spTgt spid="50"/>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xit" presetSubtype="0" fill="hold" grpId="1" nodeType="clickEffect">
                                  <p:stCondLst>
                                    <p:cond delay="0"/>
                                  </p:stCondLst>
                                  <p:childTnLst>
                                    <p:set>
                                      <p:cBhvr>
                                        <p:cTn id="128" dur="1" fill="hold">
                                          <p:stCondLst>
                                            <p:cond delay="0"/>
                                          </p:stCondLst>
                                        </p:cTn>
                                        <p:tgtEl>
                                          <p:spTgt spid="49"/>
                                        </p:tgtEl>
                                        <p:attrNameLst>
                                          <p:attrName>style.visibility</p:attrName>
                                        </p:attrNameLst>
                                      </p:cBhvr>
                                      <p:to>
                                        <p:strVal val="hidden"/>
                                      </p:to>
                                    </p:set>
                                  </p:childTnLst>
                                </p:cTn>
                              </p:par>
                              <p:par>
                                <p:cTn id="129" presetID="1" presetClass="exit" presetSubtype="0" fill="hold" nodeType="withEffect">
                                  <p:stCondLst>
                                    <p:cond delay="0"/>
                                  </p:stCondLst>
                                  <p:childTnLst>
                                    <p:set>
                                      <p:cBhvr>
                                        <p:cTn id="130" dur="1" fill="hold">
                                          <p:stCondLst>
                                            <p:cond delay="0"/>
                                          </p:stCondLst>
                                        </p:cTn>
                                        <p:tgtEl>
                                          <p:spTgt spid="50"/>
                                        </p:tgtEl>
                                        <p:attrNameLst>
                                          <p:attrName>style.visibility</p:attrName>
                                        </p:attrNameLst>
                                      </p:cBhvr>
                                      <p:to>
                                        <p:strVal val="hidden"/>
                                      </p:to>
                                    </p:set>
                                  </p:childTnLst>
                                </p:cTn>
                              </p:par>
                              <p:par>
                                <p:cTn id="131" presetID="1" presetClass="entr" presetSubtype="0" fill="hold" grpId="0" nodeType="withEffect">
                                  <p:stCondLst>
                                    <p:cond delay="0"/>
                                  </p:stCondLst>
                                  <p:childTnLst>
                                    <p:set>
                                      <p:cBhvr>
                                        <p:cTn id="13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p:bldP spid="11" grpId="0"/>
      <p:bldP spid="12" grpId="0"/>
      <p:bldP spid="13" grpId="0"/>
      <p:bldP spid="15" grpId="0"/>
      <p:bldP spid="8" grpId="0"/>
      <p:bldP spid="23" grpId="0" animBg="1"/>
      <p:bldP spid="23" grpId="1" animBg="1"/>
      <p:bldP spid="25" grpId="0" animBg="1"/>
      <p:bldP spid="25" grpId="1" animBg="1"/>
      <p:bldP spid="27" grpId="0" animBg="1"/>
      <p:bldP spid="27" grpId="1" animBg="1"/>
      <p:bldP spid="35" grpId="0" animBg="1"/>
      <p:bldP spid="37" grpId="0" animBg="1"/>
      <p:bldP spid="43" grpId="0" animBg="1"/>
      <p:bldP spid="43" grpId="1" animBg="1"/>
      <p:bldP spid="49" grpId="0" animBg="1"/>
      <p:bldP spid="49" grpId="1" animBg="1"/>
      <p:bldP spid="31"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31D53-8A71-102A-533B-EF6F97CB157B}"/>
              </a:ext>
            </a:extLst>
          </p:cNvPr>
          <p:cNvSpPr>
            <a:spLocks noGrp="1"/>
          </p:cNvSpPr>
          <p:nvPr>
            <p:ph type="title"/>
          </p:nvPr>
        </p:nvSpPr>
        <p:spPr/>
        <p:txBody>
          <a:bodyPr/>
          <a:lstStyle/>
          <a:p>
            <a:r>
              <a:rPr lang="en-US" dirty="0"/>
              <a:t>Variance Covariance Matrix in R</a:t>
            </a:r>
          </a:p>
        </p:txBody>
      </p:sp>
      <p:pic>
        <p:nvPicPr>
          <p:cNvPr id="4" name="Picture 3">
            <a:extLst>
              <a:ext uri="{FF2B5EF4-FFF2-40B4-BE49-F238E27FC236}">
                <a16:creationId xmlns:a16="http://schemas.microsoft.com/office/drawing/2014/main" id="{715E4157-0B06-0B90-0DF7-5EE04959BF2B}"/>
              </a:ext>
            </a:extLst>
          </p:cNvPr>
          <p:cNvPicPr>
            <a:picLocks noChangeAspect="1"/>
          </p:cNvPicPr>
          <p:nvPr/>
        </p:nvPicPr>
        <p:blipFill>
          <a:blip r:embed="rId2"/>
          <a:stretch>
            <a:fillRect/>
          </a:stretch>
        </p:blipFill>
        <p:spPr>
          <a:xfrm>
            <a:off x="762000" y="1404160"/>
            <a:ext cx="7772400" cy="5033361"/>
          </a:xfrm>
          <a:prstGeom prst="rect">
            <a:avLst/>
          </a:prstGeom>
        </p:spPr>
      </p:pic>
      <p:pic>
        <p:nvPicPr>
          <p:cNvPr id="5" name="Picture 4">
            <a:extLst>
              <a:ext uri="{FF2B5EF4-FFF2-40B4-BE49-F238E27FC236}">
                <a16:creationId xmlns:a16="http://schemas.microsoft.com/office/drawing/2014/main" id="{085F922C-8317-5FDB-8581-7120681ADB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524000"/>
            <a:ext cx="5451780" cy="21131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1983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26B2CBAC-E1AA-E447-AD54-8DE20561DD30}"/>
              </a:ext>
            </a:extLst>
          </p:cNvPr>
          <p:cNvPicPr>
            <a:picLocks noChangeAspect="1"/>
          </p:cNvPicPr>
          <p:nvPr/>
        </p:nvPicPr>
        <p:blipFill>
          <a:blip r:embed="rId2"/>
          <a:stretch>
            <a:fillRect/>
          </a:stretch>
        </p:blipFill>
        <p:spPr>
          <a:xfrm>
            <a:off x="410630" y="1016753"/>
            <a:ext cx="11247969" cy="635000"/>
          </a:xfrm>
          <a:prstGeom prst="rect">
            <a:avLst/>
          </a:prstGeom>
        </p:spPr>
      </p:pic>
      <p:pic>
        <p:nvPicPr>
          <p:cNvPr id="7" name="Picture 6">
            <a:extLst>
              <a:ext uri="{FF2B5EF4-FFF2-40B4-BE49-F238E27FC236}">
                <a16:creationId xmlns:a16="http://schemas.microsoft.com/office/drawing/2014/main" id="{22630F94-9673-4130-B8B8-B77A2C9C9492}"/>
              </a:ext>
            </a:extLst>
          </p:cNvPr>
          <p:cNvPicPr>
            <a:picLocks noChangeAspect="1"/>
          </p:cNvPicPr>
          <p:nvPr/>
        </p:nvPicPr>
        <p:blipFill>
          <a:blip r:embed="rId3"/>
          <a:stretch>
            <a:fillRect/>
          </a:stretch>
        </p:blipFill>
        <p:spPr>
          <a:xfrm>
            <a:off x="1676401" y="2950067"/>
            <a:ext cx="3179887" cy="946082"/>
          </a:xfrm>
          <a:prstGeom prst="rect">
            <a:avLst/>
          </a:prstGeom>
        </p:spPr>
      </p:pic>
      <p:pic>
        <p:nvPicPr>
          <p:cNvPr id="19" name="Picture 18">
            <a:extLst>
              <a:ext uri="{FF2B5EF4-FFF2-40B4-BE49-F238E27FC236}">
                <a16:creationId xmlns:a16="http://schemas.microsoft.com/office/drawing/2014/main" id="{8AC860FE-66CA-47DB-B0BE-0517146A270D}"/>
              </a:ext>
            </a:extLst>
          </p:cNvPr>
          <p:cNvPicPr>
            <a:picLocks noChangeAspect="1"/>
          </p:cNvPicPr>
          <p:nvPr/>
        </p:nvPicPr>
        <p:blipFill>
          <a:blip r:embed="rId4"/>
          <a:stretch>
            <a:fillRect/>
          </a:stretch>
        </p:blipFill>
        <p:spPr>
          <a:xfrm>
            <a:off x="1731589" y="4315890"/>
            <a:ext cx="5816651" cy="1133330"/>
          </a:xfrm>
          <a:prstGeom prst="rect">
            <a:avLst/>
          </a:prstGeom>
        </p:spPr>
      </p:pic>
      <p:sp>
        <p:nvSpPr>
          <p:cNvPr id="2" name="Title 1"/>
          <p:cNvSpPr>
            <a:spLocks noGrp="1"/>
          </p:cNvSpPr>
          <p:nvPr>
            <p:ph type="title"/>
          </p:nvPr>
        </p:nvSpPr>
        <p:spPr>
          <a:xfrm>
            <a:off x="0" y="621268"/>
            <a:ext cx="12192000" cy="369332"/>
          </a:xfrm>
        </p:spPr>
        <p:txBody>
          <a:bodyPr>
            <a:noAutofit/>
          </a:bodyPr>
          <a:lstStyle/>
          <a:p>
            <a:r>
              <a:rPr lang="en-US" sz="3200" dirty="0"/>
              <a:t>Another Example: Metabolism Study</a:t>
            </a:r>
            <a:br>
              <a:rPr lang="en-US" sz="3200" dirty="0"/>
            </a:br>
            <a:r>
              <a:rPr lang="en-US" sz="3200" dirty="0"/>
              <a:t>Variance / Covariance Method</a:t>
            </a:r>
          </a:p>
        </p:txBody>
      </p:sp>
      <p:sp>
        <p:nvSpPr>
          <p:cNvPr id="4" name="Rectangle 3"/>
          <p:cNvSpPr/>
          <p:nvPr/>
        </p:nvSpPr>
        <p:spPr>
          <a:xfrm>
            <a:off x="2070795" y="4537454"/>
            <a:ext cx="5477444" cy="142164"/>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8" name="TextBox 7"/>
              <p:cNvSpPr txBox="1"/>
              <p:nvPr/>
            </p:nvSpPr>
            <p:spPr>
              <a:xfrm>
                <a:off x="3484134" y="1949174"/>
                <a:ext cx="514127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𝑙𝑖𝑓𝑒</m:t>
                                  </m:r>
                                </m:e>
                              </m:d>
                            </m:e>
                          </m:func>
                        </m:e>
                      </m:d>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1</m:t>
                          </m:r>
                        </m:sub>
                      </m:sSub>
                      <m:r>
                        <m:rPr>
                          <m:sty m:val="p"/>
                        </m:rPr>
                        <a:rPr lang="en-US">
                          <a:latin typeface="Cambria Math"/>
                        </a:rPr>
                        <m:t>log</m:t>
                      </m:r>
                      <m:r>
                        <a:rPr lang="en-US" i="1">
                          <a:latin typeface="Cambria Math"/>
                        </a:rPr>
                        <m:t>⁡(</m:t>
                      </m:r>
                      <m:r>
                        <a:rPr lang="en-US" i="1">
                          <a:latin typeface="Cambria Math"/>
                        </a:rPr>
                        <m:t>𝑚𝑒𝑡𝑎𝑏</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panose="02040503050406030204" pitchFamily="18" charset="0"/>
                              <a:ea typeface="Cambria Math"/>
                            </a:rPr>
                            <m:t>2</m:t>
                          </m:r>
                        </m:sub>
                      </m:sSub>
                      <m:r>
                        <m:rPr>
                          <m:sty m:val="p"/>
                        </m:rPr>
                        <a:rPr lang="en-US">
                          <a:latin typeface="Cambria Math"/>
                        </a:rPr>
                        <m:t>log</m:t>
                      </m:r>
                      <m:r>
                        <a:rPr lang="en-US" i="1">
                          <a:latin typeface="Cambria Math"/>
                        </a:rPr>
                        <m:t>⁡(</m:t>
                      </m:r>
                      <m:r>
                        <a:rPr lang="en-US" i="1">
                          <a:latin typeface="Cambria Math"/>
                        </a:rPr>
                        <m:t>𝑚𝑎𝑠𝑠</m:t>
                      </m:r>
                      <m:r>
                        <a:rPr lang="en-US" i="1">
                          <a:latin typeface="Cambria Math"/>
                        </a:rPr>
                        <m:t>)</m:t>
                      </m:r>
                    </m:oMath>
                  </m:oMathPara>
                </a14:m>
                <a:endParaRPr lang="en-US" dirty="0"/>
              </a:p>
            </p:txBody>
          </p:sp>
        </mc:Choice>
        <mc:Fallback xmlns="">
          <p:sp>
            <p:nvSpPr>
              <p:cNvPr id="8" name="TextBox 7"/>
              <p:cNvSpPr txBox="1">
                <a:spLocks noRot="1" noChangeAspect="1" noMove="1" noResize="1" noEditPoints="1" noAdjustHandles="1" noChangeArrowheads="1" noChangeShapeType="1" noTextEdit="1"/>
              </p:cNvSpPr>
              <p:nvPr/>
            </p:nvSpPr>
            <p:spPr>
              <a:xfrm>
                <a:off x="3484134" y="1949174"/>
                <a:ext cx="5141279" cy="369332"/>
              </a:xfrm>
              <a:prstGeom prst="rect">
                <a:avLst/>
              </a:prstGeom>
              <a:blipFill>
                <a:blip r:embed="rId5"/>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4742008" y="2906590"/>
                <a:ext cx="5590313" cy="64633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𝑙𝑖𝑓𝑒</m:t>
                                  </m:r>
                                </m:e>
                              </m:d>
                            </m:e>
                          </m:func>
                          <m:r>
                            <a:rPr lang="en-US" i="1">
                              <a:latin typeface="Cambria Math" panose="02040503050406030204" pitchFamily="18" charset="0"/>
                            </a:rPr>
                            <m:t>|</m:t>
                          </m:r>
                          <m:r>
                            <a:rPr lang="en-US" i="1">
                              <a:latin typeface="Cambria Math" panose="02040503050406030204" pitchFamily="18" charset="0"/>
                            </a:rPr>
                            <m:t>𝑙𝑜𝑔𝑚𝑎𝑠𝑠</m:t>
                          </m:r>
                          <m:r>
                            <a:rPr lang="en-US" i="1">
                              <a:latin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𝟗𝟏𝟔𝟐𝟗</m:t>
                          </m:r>
                          <m:r>
                            <a:rPr lang="en-US" i="1">
                              <a:latin typeface="Cambria Math" panose="02040503050406030204" pitchFamily="18" charset="0"/>
                            </a:rPr>
                            <m:t>, </m:t>
                          </m:r>
                          <m:r>
                            <a:rPr lang="en-US" i="1">
                              <a:latin typeface="Cambria Math" panose="02040503050406030204" pitchFamily="18" charset="0"/>
                            </a:rPr>
                            <m:t>𝑙𝑜𝑔𝑚𝑒𝑡𝑎𝑏</m:t>
                          </m:r>
                          <m:r>
                            <a:rPr lang="en-US" i="1">
                              <a:latin typeface="Cambria Math" panose="02040503050406030204" pitchFamily="18" charset="0"/>
                            </a:rPr>
                            <m:t>=</m:t>
                          </m:r>
                          <m:r>
                            <a:rPr lang="en-US" b="1" i="1">
                              <a:solidFill>
                                <a:srgbClr val="00B050"/>
                              </a:solidFill>
                              <a:latin typeface="Cambria Math" panose="02040503050406030204" pitchFamily="18" charset="0"/>
                            </a:rPr>
                            <m:t>𝟓</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𝟕𝟏𝟎𝟒</m:t>
                          </m:r>
                        </m:e>
                      </m:d>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=3.7193−0.3161∗</m:t>
                      </m:r>
                      <m:r>
                        <a:rPr lang="en-US" b="1" i="1">
                          <a:solidFill>
                            <a:srgbClr val="00B050"/>
                          </a:solidFill>
                          <a:latin typeface="Cambria Math" panose="02040503050406030204" pitchFamily="18" charset="0"/>
                        </a:rPr>
                        <m:t>𝟓</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𝟕𝟏𝟎𝟒</m:t>
                      </m:r>
                      <m:r>
                        <a:rPr lang="en-US" i="1">
                          <a:latin typeface="Cambria Math" panose="02040503050406030204" pitchFamily="18" charset="0"/>
                        </a:rPr>
                        <m:t>+</m:t>
                      </m:r>
                      <m:r>
                        <a:rPr lang="en-US">
                          <a:latin typeface="Cambria Math" panose="02040503050406030204" pitchFamily="18" charset="0"/>
                        </a:rPr>
                        <m:t>0.5346∗</m:t>
                      </m:r>
                      <m:r>
                        <a:rPr lang="en-US" b="1">
                          <a:solidFill>
                            <a:srgbClr val="7030A0"/>
                          </a:solidFill>
                          <a:latin typeface="Cambria Math" panose="02040503050406030204" pitchFamily="18" charset="0"/>
                        </a:rPr>
                        <m:t>𝟎</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𝟗𝟏𝟔𝟐𝟗</m:t>
                      </m:r>
                    </m:oMath>
                  </m:oMathPara>
                </a14:m>
                <a:endParaRPr lang="en-US" b="1" dirty="0"/>
              </a:p>
            </p:txBody>
          </p:sp>
        </mc:Choice>
        <mc:Fallback xmlns="">
          <p:sp>
            <p:nvSpPr>
              <p:cNvPr id="9" name="TextBox 8"/>
              <p:cNvSpPr txBox="1">
                <a:spLocks noRot="1" noChangeAspect="1" noMove="1" noResize="1" noEditPoints="1" noAdjustHandles="1" noChangeArrowheads="1" noChangeShapeType="1" noTextEdit="1"/>
              </p:cNvSpPr>
              <p:nvPr/>
            </p:nvSpPr>
            <p:spPr>
              <a:xfrm>
                <a:off x="4742008" y="2906590"/>
                <a:ext cx="5590313" cy="646331"/>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4461319" y="3870470"/>
                <a:ext cx="6250750" cy="369332"/>
              </a:xfrm>
              <a:prstGeom prst="rect">
                <a:avLst/>
              </a:prstGeom>
              <a:noFill/>
            </p:spPr>
            <p:txBody>
              <a:bodyPr wrap="none" rtlCol="0">
                <a:spAutoFit/>
              </a:bodyPr>
              <a:lstStyle/>
              <a:p>
                <a14:m>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𝑙𝑖𝑓𝑒</m:t>
                                </m:r>
                              </m:e>
                            </m:d>
                          </m:e>
                        </m:func>
                        <m:r>
                          <a:rPr lang="en-US" i="1">
                            <a:latin typeface="Cambria Math" panose="02040503050406030204" pitchFamily="18" charset="0"/>
                          </a:rPr>
                          <m:t>|</m:t>
                        </m:r>
                        <m:r>
                          <a:rPr lang="en-US" i="1">
                            <a:latin typeface="Cambria Math" panose="02040503050406030204" pitchFamily="18" charset="0"/>
                          </a:rPr>
                          <m:t>𝑙𝑜𝑔𝑚𝑎𝑠𝑠</m:t>
                        </m:r>
                        <m:r>
                          <a:rPr lang="en-US" i="1">
                            <a:latin typeface="Cambria Math" panose="02040503050406030204" pitchFamily="18" charset="0"/>
                          </a:rPr>
                          <m:t>=</m:t>
                        </m:r>
                        <m:r>
                          <a:rPr lang="en-US" b="1" i="1">
                            <a:solidFill>
                              <a:srgbClr val="7030A0"/>
                            </a:solidFill>
                            <a:latin typeface="Cambria Math" panose="02040503050406030204" pitchFamily="18" charset="0"/>
                          </a:rPr>
                          <m:t>.</m:t>
                        </m:r>
                        <m:r>
                          <a:rPr lang="en-US" b="1" i="1">
                            <a:solidFill>
                              <a:srgbClr val="7030A0"/>
                            </a:solidFill>
                            <a:latin typeface="Cambria Math" panose="02040503050406030204" pitchFamily="18" charset="0"/>
                          </a:rPr>
                          <m:t>𝟗𝟏𝟔𝟐𝟗</m:t>
                        </m:r>
                        <m:r>
                          <a:rPr lang="en-US" i="1">
                            <a:latin typeface="Cambria Math" panose="02040503050406030204" pitchFamily="18" charset="0"/>
                          </a:rPr>
                          <m:t>, </m:t>
                        </m:r>
                        <m:r>
                          <a:rPr lang="en-US" i="1">
                            <a:latin typeface="Cambria Math" panose="02040503050406030204" pitchFamily="18" charset="0"/>
                          </a:rPr>
                          <m:t>𝑙𝑜𝑔𝑚𝑒𝑡𝑎𝑏</m:t>
                        </m:r>
                        <m:r>
                          <a:rPr lang="en-US" i="1">
                            <a:latin typeface="Cambria Math" panose="02040503050406030204" pitchFamily="18" charset="0"/>
                          </a:rPr>
                          <m:t>=</m:t>
                        </m:r>
                        <m:r>
                          <a:rPr lang="en-US" b="1" i="1">
                            <a:solidFill>
                              <a:srgbClr val="00B050"/>
                            </a:solidFill>
                            <a:latin typeface="Cambria Math" panose="02040503050406030204" pitchFamily="18" charset="0"/>
                          </a:rPr>
                          <m:t>𝟓</m:t>
                        </m:r>
                        <m:r>
                          <a:rPr lang="en-US" b="1" i="1">
                            <a:solidFill>
                              <a:srgbClr val="00B050"/>
                            </a:solidFill>
                            <a:latin typeface="Cambria Math" panose="02040503050406030204" pitchFamily="18" charset="0"/>
                          </a:rPr>
                          <m:t>.</m:t>
                        </m:r>
                        <m:r>
                          <a:rPr lang="en-US" b="1" i="1">
                            <a:solidFill>
                              <a:srgbClr val="00B050"/>
                            </a:solidFill>
                            <a:latin typeface="Cambria Math" panose="02040503050406030204" pitchFamily="18" charset="0"/>
                          </a:rPr>
                          <m:t>𝟕𝟏𝟎𝟒</m:t>
                        </m:r>
                      </m:e>
                    </m:d>
                  </m:oMath>
                </a14:m>
                <a:r>
                  <a:rPr lang="en-US" dirty="0"/>
                  <a:t>=2.404</a:t>
                </a:r>
              </a:p>
            </p:txBody>
          </p:sp>
        </mc:Choice>
        <mc:Fallback xmlns="">
          <p:sp>
            <p:nvSpPr>
              <p:cNvPr id="11" name="TextBox 10"/>
              <p:cNvSpPr txBox="1">
                <a:spLocks noRot="1" noChangeAspect="1" noMove="1" noResize="1" noEditPoints="1" noAdjustHandles="1" noChangeArrowheads="1" noChangeShapeType="1" noTextEdit="1"/>
              </p:cNvSpPr>
              <p:nvPr/>
            </p:nvSpPr>
            <p:spPr>
              <a:xfrm>
                <a:off x="4461319" y="3870470"/>
                <a:ext cx="6250750" cy="369332"/>
              </a:xfrm>
              <a:prstGeom prst="rect">
                <a:avLst/>
              </a:prstGeom>
              <a:blipFill>
                <a:blip r:embed="rId7"/>
                <a:stretch>
                  <a:fillRect t="-6452"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2290921" y="5625998"/>
                <a:ext cx="7889019" cy="85100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a:rPr>
                        <m:t>𝑉𝑎𝑟</m:t>
                      </m:r>
                      <m:r>
                        <a:rPr lang="en-US" sz="2400" i="1">
                          <a:latin typeface="Cambria Math"/>
                        </a:rPr>
                        <m:t>(</m:t>
                      </m:r>
                      <m:r>
                        <m:rPr>
                          <m:nor/>
                        </m:rPr>
                        <a:rPr lang="en-US" sz="2400">
                          <a:latin typeface="Cambria Math" panose="02040503050406030204" pitchFamily="18" charset="0"/>
                          <a:ea typeface="Cambria Math" panose="02040503050406030204" pitchFamily="18" charset="0"/>
                        </a:rPr>
                        <m:t>𝜇</m:t>
                      </m:r>
                      <m:r>
                        <m:rPr>
                          <m:nor/>
                        </m:rPr>
                        <a:rPr lang="en-US" sz="2400">
                          <a:latin typeface="Cambria Math" panose="02040503050406030204" pitchFamily="18" charset="0"/>
                          <a:ea typeface="Cambria Math" panose="02040503050406030204" pitchFamily="18" charset="0"/>
                        </a:rPr>
                        <m:t>{</m:t>
                      </m:r>
                      <m:r>
                        <m:rPr>
                          <m:nor/>
                        </m:rPr>
                        <a:rPr lang="en-US" sz="2400">
                          <a:latin typeface="Cambria Math"/>
                        </a:rPr>
                        <m:t>log</m:t>
                      </m:r>
                      <m:r>
                        <m:rPr>
                          <m:nor/>
                        </m:rPr>
                        <a:rPr lang="en-US" sz="2400">
                          <a:latin typeface="Cambria Math" panose="02040503050406030204" pitchFamily="18" charset="0"/>
                        </a:rPr>
                        <m:t>(</m:t>
                      </m:r>
                      <m:r>
                        <m:rPr>
                          <m:nor/>
                        </m:rPr>
                        <a:rPr lang="en-US" sz="2400">
                          <a:latin typeface="Cambria Math"/>
                        </a:rPr>
                        <m:t>𝑙𝑖𝑓𝑒</m:t>
                      </m:r>
                      <m:r>
                        <m:rPr>
                          <m:nor/>
                        </m:rPr>
                        <a:rPr lang="en-US" sz="2400">
                          <a:latin typeface="Cambria Math" panose="02040503050406030204" pitchFamily="18" charset="0"/>
                        </a:rPr>
                        <m:t>) |</m:t>
                      </m:r>
                      <m:r>
                        <m:rPr>
                          <m:nor/>
                        </m:rPr>
                        <a:rPr lang="en-US" sz="2400">
                          <a:latin typeface="Cambria Math" panose="02040503050406030204" pitchFamily="18" charset="0"/>
                        </a:rPr>
                        <m:t>𝑙𝑜𝑔𝑚𝑎𝑠𝑠</m:t>
                      </m:r>
                      <m:r>
                        <m:rPr>
                          <m:nor/>
                        </m:rPr>
                        <a:rPr lang="en-US" sz="2400">
                          <a:latin typeface="Cambria Math" panose="02040503050406030204" pitchFamily="18" charset="0"/>
                        </a:rPr>
                        <m:t>=</m:t>
                      </m:r>
                      <m:r>
                        <m:rPr>
                          <m:nor/>
                        </m:rPr>
                        <a:rPr lang="en-US" sz="2400" b="1">
                          <a:solidFill>
                            <a:srgbClr val="7030A0"/>
                          </a:solidFill>
                          <a:latin typeface="Cambria Math" panose="02040503050406030204" pitchFamily="18" charset="0"/>
                        </a:rPr>
                        <m:t>.91629</m:t>
                      </m:r>
                      <m:r>
                        <m:rPr>
                          <m:nor/>
                        </m:rPr>
                        <a:rPr lang="en-US" sz="2400">
                          <a:latin typeface="Cambria Math" panose="02040503050406030204" pitchFamily="18" charset="0"/>
                        </a:rPr>
                        <m:t>, </m:t>
                      </m:r>
                      <m:r>
                        <m:rPr>
                          <m:nor/>
                        </m:rPr>
                        <a:rPr lang="en-US" sz="2400">
                          <a:latin typeface="Cambria Math" panose="02040503050406030204" pitchFamily="18" charset="0"/>
                        </a:rPr>
                        <m:t>𝑙𝑜𝑔𝑚𝑒𝑡𝑎𝑏</m:t>
                      </m:r>
                      <m:r>
                        <m:rPr>
                          <m:nor/>
                        </m:rPr>
                        <a:rPr lang="en-US" sz="2400">
                          <a:latin typeface="Cambria Math" panose="02040503050406030204" pitchFamily="18" charset="0"/>
                        </a:rPr>
                        <m:t>=</m:t>
                      </m:r>
                      <m:r>
                        <m:rPr>
                          <m:nor/>
                        </m:rPr>
                        <a:rPr lang="en-US" sz="2400" b="1">
                          <a:solidFill>
                            <a:srgbClr val="00B050"/>
                          </a:solidFill>
                          <a:latin typeface="Cambria Math" panose="02040503050406030204" pitchFamily="18" charset="0"/>
                        </a:rPr>
                        <m:t>5.7104</m:t>
                      </m:r>
                      <m:r>
                        <m:rPr>
                          <m:nor/>
                        </m:rPr>
                        <a:rPr lang="en-US" sz="2400">
                          <a:latin typeface="Cambria Math" panose="02040503050406030204" pitchFamily="18" charset="0"/>
                        </a:rPr>
                        <m:t>}</m:t>
                      </m:r>
                      <m:r>
                        <a:rPr lang="en-US" sz="2400" i="1">
                          <a:latin typeface="Cambria Math"/>
                        </a:rPr>
                        <m:t>)</m:t>
                      </m:r>
                    </m:oMath>
                  </m:oMathPara>
                </a14:m>
                <a:endParaRPr lang="en-US" sz="2400" i="1" dirty="0">
                  <a:latin typeface="Cambria Math"/>
                </a:endParaRPr>
              </a:p>
              <a:p>
                <a:pPr/>
                <a14:m>
                  <m:oMathPara xmlns:m="http://schemas.openxmlformats.org/officeDocument/2006/math">
                    <m:oMathParaPr>
                      <m:jc m:val="centerGroup"/>
                    </m:oMathParaPr>
                    <m:oMath xmlns:m="http://schemas.openxmlformats.org/officeDocument/2006/math">
                      <m:r>
                        <a:rPr lang="en-US" sz="2400" i="1">
                          <a:latin typeface="Cambria Math"/>
                        </a:rPr>
                        <m:t>=</m:t>
                      </m:r>
                      <m:r>
                        <a:rPr lang="en-US" sz="2400" i="1">
                          <a:latin typeface="Cambria Math"/>
                        </a:rPr>
                        <m:t>𝑉𝑎𝑟</m:t>
                      </m:r>
                      <m:r>
                        <a:rPr lang="en-US" sz="2400" i="1">
                          <a:latin typeface="Cambria Math"/>
                        </a:rPr>
                        <m:t>(</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a:ea typeface="Cambria Math"/>
                                </a:rPr>
                                <m:t>𝛽</m:t>
                              </m:r>
                            </m:e>
                          </m:acc>
                        </m:e>
                        <m:sub>
                          <m:r>
                            <a:rPr lang="en-US" sz="2400" i="1">
                              <a:latin typeface="Cambria Math"/>
                              <a:ea typeface="Cambria Math"/>
                            </a:rPr>
                            <m:t>0</m:t>
                          </m:r>
                        </m:sub>
                      </m:sSub>
                      <m:r>
                        <a:rPr lang="en-US" sz="2400" i="1">
                          <a:latin typeface="Cambria Math"/>
                        </a:rPr>
                        <m:t>+</m:t>
                      </m:r>
                      <m:r>
                        <a:rPr lang="en-US" sz="2400" b="1" i="1">
                          <a:solidFill>
                            <a:srgbClr val="00B050"/>
                          </a:solidFill>
                          <a:latin typeface="Cambria Math"/>
                        </a:rPr>
                        <m:t>𝟓</m:t>
                      </m:r>
                      <m:r>
                        <a:rPr lang="en-US" sz="2400" b="1" i="1">
                          <a:solidFill>
                            <a:srgbClr val="00B050"/>
                          </a:solidFill>
                          <a:latin typeface="Cambria Math"/>
                        </a:rPr>
                        <m:t>.</m:t>
                      </m:r>
                      <m:r>
                        <a:rPr lang="en-US" sz="2400" b="1" i="1">
                          <a:solidFill>
                            <a:srgbClr val="00B050"/>
                          </a:solidFill>
                          <a:latin typeface="Cambria Math"/>
                        </a:rPr>
                        <m:t>𝟕𝟏𝟎𝟒</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a:ea typeface="Cambria Math"/>
                                </a:rPr>
                                <m:t>𝛽</m:t>
                              </m:r>
                            </m:e>
                          </m:acc>
                        </m:e>
                        <m:sub>
                          <m:r>
                            <a:rPr lang="en-US" sz="2400" i="1">
                              <a:latin typeface="Cambria Math" panose="02040503050406030204" pitchFamily="18" charset="0"/>
                              <a:ea typeface="Cambria Math"/>
                            </a:rPr>
                            <m:t>1</m:t>
                          </m:r>
                        </m:sub>
                      </m:sSub>
                      <m:r>
                        <a:rPr lang="en-US" sz="2400" i="1">
                          <a:latin typeface="Cambria Math"/>
                        </a:rPr>
                        <m:t>+</m:t>
                      </m:r>
                      <m:r>
                        <a:rPr lang="en-US" sz="2400" b="1" i="1">
                          <a:solidFill>
                            <a:srgbClr val="7030A0"/>
                          </a:solidFill>
                          <a:latin typeface="Cambria Math"/>
                        </a:rPr>
                        <m:t>.</m:t>
                      </m:r>
                      <m:r>
                        <a:rPr lang="en-US" sz="2400" b="1" i="1">
                          <a:solidFill>
                            <a:srgbClr val="7030A0"/>
                          </a:solidFill>
                          <a:latin typeface="Cambria Math"/>
                        </a:rPr>
                        <m:t>𝟗𝟏𝟔𝟐𝟗</m:t>
                      </m:r>
                      <m:sSub>
                        <m:sSubPr>
                          <m:ctrlPr>
                            <a:rPr lang="en-US" sz="2400" i="1">
                              <a:latin typeface="Cambria Math" panose="02040503050406030204" pitchFamily="18" charset="0"/>
                            </a:rPr>
                          </m:ctrlPr>
                        </m:sSubPr>
                        <m:e>
                          <m:acc>
                            <m:accPr>
                              <m:chr m:val="̂"/>
                              <m:ctrlPr>
                                <a:rPr lang="en-US" sz="2400" i="1">
                                  <a:latin typeface="Cambria Math" panose="02040503050406030204" pitchFamily="18" charset="0"/>
                                </a:rPr>
                              </m:ctrlPr>
                            </m:accPr>
                            <m:e>
                              <m:r>
                                <a:rPr lang="en-US" sz="2400" i="1">
                                  <a:latin typeface="Cambria Math"/>
                                  <a:ea typeface="Cambria Math"/>
                                </a:rPr>
                                <m:t>𝛽</m:t>
                              </m:r>
                            </m:e>
                          </m:acc>
                        </m:e>
                        <m:sub>
                          <m:r>
                            <a:rPr lang="en-US" sz="2400" i="1">
                              <a:latin typeface="Cambria Math" panose="02040503050406030204" pitchFamily="18" charset="0"/>
                              <a:ea typeface="Cambria Math"/>
                            </a:rPr>
                            <m:t>2</m:t>
                          </m:r>
                        </m:sub>
                      </m:sSub>
                      <m:r>
                        <a:rPr lang="en-US" sz="2400" i="1">
                          <a:latin typeface="Cambria Math"/>
                          <a:ea typeface="Cambria Math"/>
                        </a:rPr>
                        <m:t>)</m:t>
                      </m:r>
                    </m:oMath>
                  </m:oMathPara>
                </a14:m>
                <a:endParaRPr lang="en-US" sz="2400" dirty="0"/>
              </a:p>
            </p:txBody>
          </p:sp>
        </mc:Choice>
        <mc:Fallback xmlns="">
          <p:sp>
            <p:nvSpPr>
              <p:cNvPr id="5" name="TextBox 4"/>
              <p:cNvSpPr txBox="1">
                <a:spLocks noRot="1" noChangeAspect="1" noMove="1" noResize="1" noEditPoints="1" noAdjustHandles="1" noChangeArrowheads="1" noChangeShapeType="1" noTextEdit="1"/>
              </p:cNvSpPr>
              <p:nvPr/>
            </p:nvSpPr>
            <p:spPr>
              <a:xfrm>
                <a:off x="2290921" y="5625998"/>
                <a:ext cx="7889019" cy="851002"/>
              </a:xfrm>
              <a:prstGeom prst="rect">
                <a:avLst/>
              </a:prstGeom>
              <a:blipFill>
                <a:blip r:embed="rId8"/>
                <a:stretch>
                  <a:fillRect b="-8824"/>
                </a:stretch>
              </a:blipFill>
            </p:spPr>
            <p:txBody>
              <a:bodyPr/>
              <a:lstStyle/>
              <a:p>
                <a:r>
                  <a:rPr lang="en-US">
                    <a:noFill/>
                  </a:rPr>
                  <a:t> </a:t>
                </a:r>
              </a:p>
            </p:txBody>
          </p:sp>
        </mc:Fallback>
      </mc:AlternateContent>
      <p:sp>
        <p:nvSpPr>
          <p:cNvPr id="3" name="TextBox 2"/>
          <p:cNvSpPr txBox="1"/>
          <p:nvPr/>
        </p:nvSpPr>
        <p:spPr>
          <a:xfrm>
            <a:off x="1676400" y="1364456"/>
            <a:ext cx="8534400" cy="646331"/>
          </a:xfrm>
          <a:prstGeom prst="rect">
            <a:avLst/>
          </a:prstGeom>
          <a:noFill/>
        </p:spPr>
        <p:txBody>
          <a:bodyPr wrap="square" rtlCol="0">
            <a:spAutoFit/>
          </a:bodyPr>
          <a:lstStyle/>
          <a:p>
            <a:pPr algn="ctr"/>
            <a:r>
              <a:rPr lang="en-US" dirty="0"/>
              <a:t>Find a 95% confidence interval for the expected log lifespan of the Echidna given its log metabolism and its log mass.  </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F429F72-70E1-4144-BF65-106EEC87C188}"/>
                  </a:ext>
                </a:extLst>
              </p:cNvPr>
              <p:cNvSpPr txBox="1"/>
              <p:nvPr/>
            </p:nvSpPr>
            <p:spPr>
              <a:xfrm>
                <a:off x="3430847" y="2237082"/>
                <a:ext cx="662027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𝑙𝑖𝑓𝑒</m:t>
                                  </m:r>
                                </m:e>
                              </m:d>
                            </m:e>
                          </m:func>
                        </m:e>
                      </m:d>
                      <m:r>
                        <a:rPr lang="en-US" i="1">
                          <a:latin typeface="Cambria Math"/>
                        </a:rPr>
                        <m:t>=</m:t>
                      </m:r>
                      <m:r>
                        <a:rPr lang="en-US" i="1">
                          <a:latin typeface="Cambria Math" panose="02040503050406030204" pitchFamily="18" charset="0"/>
                        </a:rPr>
                        <m:t>3.7193−0.3161</m:t>
                      </m:r>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𝑚𝑒𝑡𝑎𝑏</m:t>
                              </m:r>
                            </m:e>
                          </m:d>
                        </m:e>
                      </m:func>
                      <m:r>
                        <a:rPr lang="en-US" i="1">
                          <a:latin typeface="Cambria Math" panose="02040503050406030204" pitchFamily="18" charset="0"/>
                        </a:rPr>
                        <m:t>+</m:t>
                      </m:r>
                      <m:r>
                        <a:rPr lang="en-US">
                          <a:latin typeface="Cambria Math" panose="02040503050406030204" pitchFamily="18" charset="0"/>
                        </a:rPr>
                        <m:t>0.5346 </m:t>
                      </m:r>
                      <m:r>
                        <m:rPr>
                          <m:sty m:val="p"/>
                        </m:rPr>
                        <a:rPr lang="en-US">
                          <a:latin typeface="Cambria Math"/>
                        </a:rPr>
                        <m:t>log</m:t>
                      </m:r>
                      <m:r>
                        <a:rPr lang="en-US" i="1">
                          <a:latin typeface="Cambria Math"/>
                        </a:rPr>
                        <m:t>⁡(</m:t>
                      </m:r>
                      <m:r>
                        <a:rPr lang="en-US" i="1">
                          <a:latin typeface="Cambria Math"/>
                        </a:rPr>
                        <m:t>𝑚𝑎𝑠𝑠</m:t>
                      </m:r>
                      <m:r>
                        <a:rPr lang="en-US" i="1">
                          <a:latin typeface="Cambria Math"/>
                        </a:rPr>
                        <m:t>)</m:t>
                      </m:r>
                    </m:oMath>
                  </m:oMathPara>
                </a14:m>
                <a:endParaRPr lang="en-US" dirty="0"/>
              </a:p>
            </p:txBody>
          </p:sp>
        </mc:Choice>
        <mc:Fallback xmlns="">
          <p:sp>
            <p:nvSpPr>
              <p:cNvPr id="12" name="TextBox 11">
                <a:extLst>
                  <a:ext uri="{FF2B5EF4-FFF2-40B4-BE49-F238E27FC236}">
                    <a16:creationId xmlns:a16="http://schemas.microsoft.com/office/drawing/2014/main" id="{6F429F72-70E1-4144-BF65-106EEC87C188}"/>
                  </a:ext>
                </a:extLst>
              </p:cNvPr>
              <p:cNvSpPr txBox="1">
                <a:spLocks noRot="1" noChangeAspect="1" noMove="1" noResize="1" noEditPoints="1" noAdjustHandles="1" noChangeArrowheads="1" noChangeShapeType="1" noTextEdit="1"/>
              </p:cNvSpPr>
              <p:nvPr/>
            </p:nvSpPr>
            <p:spPr>
              <a:xfrm>
                <a:off x="3430847" y="2237082"/>
                <a:ext cx="6620274" cy="369332"/>
              </a:xfrm>
              <a:prstGeom prst="rect">
                <a:avLst/>
              </a:prstGeom>
              <a:blipFill>
                <a:blip r:embed="rId9"/>
                <a:stretch>
                  <a:fillRect b="-20000"/>
                </a:stretch>
              </a:blipFill>
            </p:spPr>
            <p:txBody>
              <a:bodyPr/>
              <a:lstStyle/>
              <a:p>
                <a:r>
                  <a:rPr lang="en-US">
                    <a:noFill/>
                  </a:rPr>
                  <a:t> </a:t>
                </a:r>
              </a:p>
            </p:txBody>
          </p:sp>
        </mc:Fallback>
      </mc:AlternateContent>
      <p:cxnSp>
        <p:nvCxnSpPr>
          <p:cNvPr id="13" name="Straight Arrow Connector 12">
            <a:extLst>
              <a:ext uri="{FF2B5EF4-FFF2-40B4-BE49-F238E27FC236}">
                <a16:creationId xmlns:a16="http://schemas.microsoft.com/office/drawing/2014/main" id="{942E0A06-19CC-4162-9F50-6F504ADB7818}"/>
              </a:ext>
            </a:extLst>
          </p:cNvPr>
          <p:cNvCxnSpPr>
            <a:cxnSpLocks/>
            <a:stCxn id="14" idx="0"/>
          </p:cNvCxnSpPr>
          <p:nvPr/>
        </p:nvCxnSpPr>
        <p:spPr>
          <a:xfrm flipV="1">
            <a:off x="2709331" y="2553720"/>
            <a:ext cx="2424194" cy="713068"/>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0E1573D0-8C55-41ED-AC42-E155BDA5EF63}"/>
              </a:ext>
            </a:extLst>
          </p:cNvPr>
          <p:cNvSpPr/>
          <p:nvPr/>
        </p:nvSpPr>
        <p:spPr>
          <a:xfrm>
            <a:off x="2290921" y="3266789"/>
            <a:ext cx="836821" cy="19084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5" name="Straight Arrow Connector 14">
            <a:extLst>
              <a:ext uri="{FF2B5EF4-FFF2-40B4-BE49-F238E27FC236}">
                <a16:creationId xmlns:a16="http://schemas.microsoft.com/office/drawing/2014/main" id="{B128C4A8-8930-4E37-99D1-7DB46C6B942A}"/>
              </a:ext>
            </a:extLst>
          </p:cNvPr>
          <p:cNvCxnSpPr>
            <a:cxnSpLocks/>
            <a:stCxn id="16" idx="3"/>
          </p:cNvCxnSpPr>
          <p:nvPr/>
        </p:nvCxnSpPr>
        <p:spPr>
          <a:xfrm flipV="1">
            <a:off x="3131618" y="2580357"/>
            <a:ext cx="5323761" cy="102738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61C67DA3-A2C0-4AA3-B231-51877358316B}"/>
              </a:ext>
            </a:extLst>
          </p:cNvPr>
          <p:cNvSpPr/>
          <p:nvPr/>
        </p:nvSpPr>
        <p:spPr>
          <a:xfrm>
            <a:off x="2290921" y="3512315"/>
            <a:ext cx="840696" cy="190845"/>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7" name="Straight Arrow Connector 16">
            <a:extLst>
              <a:ext uri="{FF2B5EF4-FFF2-40B4-BE49-F238E27FC236}">
                <a16:creationId xmlns:a16="http://schemas.microsoft.com/office/drawing/2014/main" id="{F4439D1A-9D2C-45E8-A2BE-227CD18B55AF}"/>
              </a:ext>
            </a:extLst>
          </p:cNvPr>
          <p:cNvCxnSpPr>
            <a:cxnSpLocks/>
          </p:cNvCxnSpPr>
          <p:nvPr/>
        </p:nvCxnSpPr>
        <p:spPr>
          <a:xfrm flipV="1">
            <a:off x="3145474" y="2544803"/>
            <a:ext cx="3255327" cy="1237070"/>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E0ECB42F-F560-4C1D-AAAD-D25658B7C5AE}"/>
              </a:ext>
            </a:extLst>
          </p:cNvPr>
          <p:cNvSpPr/>
          <p:nvPr/>
        </p:nvSpPr>
        <p:spPr>
          <a:xfrm>
            <a:off x="2290921" y="3699770"/>
            <a:ext cx="840696" cy="190846"/>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FE71771B-8C2F-4658-9B13-E5BC7904FB1D}"/>
              </a:ext>
            </a:extLst>
          </p:cNvPr>
          <p:cNvSpPr txBox="1"/>
          <p:nvPr/>
        </p:nvSpPr>
        <p:spPr>
          <a:xfrm>
            <a:off x="7668022" y="4494963"/>
            <a:ext cx="2436251" cy="923330"/>
          </a:xfrm>
          <a:prstGeom prst="rect">
            <a:avLst/>
          </a:prstGeom>
          <a:noFill/>
        </p:spPr>
        <p:txBody>
          <a:bodyPr wrap="square" rtlCol="0">
            <a:spAutoFit/>
          </a:bodyPr>
          <a:lstStyle/>
          <a:p>
            <a:r>
              <a:rPr lang="en-US" dirty="0"/>
              <a:t>Point estimate (center) for confidence interval</a:t>
            </a:r>
          </a:p>
        </p:txBody>
      </p:sp>
      <p:cxnSp>
        <p:nvCxnSpPr>
          <p:cNvPr id="10" name="Straight Arrow Connector 9">
            <a:extLst>
              <a:ext uri="{FF2B5EF4-FFF2-40B4-BE49-F238E27FC236}">
                <a16:creationId xmlns:a16="http://schemas.microsoft.com/office/drawing/2014/main" id="{D5B03662-933A-42CD-BD58-BF81980F8A10}"/>
              </a:ext>
            </a:extLst>
          </p:cNvPr>
          <p:cNvCxnSpPr>
            <a:cxnSpLocks/>
          </p:cNvCxnSpPr>
          <p:nvPr/>
        </p:nvCxnSpPr>
        <p:spPr>
          <a:xfrm flipV="1">
            <a:off x="9220201" y="4239024"/>
            <a:ext cx="810177" cy="25029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74F03750-ED23-42C9-A76F-78A8B5F22E11}"/>
              </a:ext>
            </a:extLst>
          </p:cNvPr>
          <p:cNvCxnSpPr>
            <a:cxnSpLocks/>
          </p:cNvCxnSpPr>
          <p:nvPr/>
        </p:nvCxnSpPr>
        <p:spPr>
          <a:xfrm flipV="1">
            <a:off x="6247503" y="3206817"/>
            <a:ext cx="1625983" cy="132745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7488B47C-20C6-4459-8D83-6C672308A424}"/>
              </a:ext>
            </a:extLst>
          </p:cNvPr>
          <p:cNvCxnSpPr>
            <a:cxnSpLocks/>
          </p:cNvCxnSpPr>
          <p:nvPr/>
        </p:nvCxnSpPr>
        <p:spPr>
          <a:xfrm flipV="1">
            <a:off x="6784213" y="3186361"/>
            <a:ext cx="3126382" cy="134312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882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3"/>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xit" presetSubtype="0" fill="hold" nodeType="clickEffect">
                                  <p:stCondLst>
                                    <p:cond delay="0"/>
                                  </p:stCondLst>
                                  <p:childTnLst>
                                    <p:set>
                                      <p:cBhvr>
                                        <p:cTn id="34" dur="1" fill="hold">
                                          <p:stCondLst>
                                            <p:cond delay="0"/>
                                          </p:stCondLst>
                                        </p:cTn>
                                        <p:tgtEl>
                                          <p:spTgt spid="15"/>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par>
                                <p:cTn id="43" presetID="10" presetClass="entr" presetSubtype="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childTnLst>
                                </p:cTn>
                              </p:par>
                              <p:par>
                                <p:cTn id="46" presetID="1" presetClass="exit" presetSubtype="0" fill="hold" nodeType="withEffect">
                                  <p:stCondLst>
                                    <p:cond delay="0"/>
                                  </p:stCondLst>
                                  <p:childTnLst>
                                    <p:set>
                                      <p:cBhvr>
                                        <p:cTn id="47" dur="1" fill="hold">
                                          <p:stCondLst>
                                            <p:cond delay="0"/>
                                          </p:stCondLst>
                                        </p:cTn>
                                        <p:tgtEl>
                                          <p:spTgt spid="17"/>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fade">
                                      <p:cBhvr>
                                        <p:cTn id="52" dur="5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28"/>
                                        </p:tgtEl>
                                        <p:attrNameLst>
                                          <p:attrName>style.visibility</p:attrName>
                                        </p:attrNameLst>
                                      </p:cBhvr>
                                      <p:to>
                                        <p:strVal val="visible"/>
                                      </p:to>
                                    </p:set>
                                  </p:childTnLst>
                                </p:cTn>
                              </p:par>
                              <p:par>
                                <p:cTn id="61" presetID="1" presetClass="exit" presetSubtype="0" fill="hold" nodeType="withEffect">
                                  <p:stCondLst>
                                    <p:cond delay="0"/>
                                  </p:stCondLst>
                                  <p:childTnLst>
                                    <p:set>
                                      <p:cBhvr>
                                        <p:cTn id="62" dur="1" fill="hold">
                                          <p:stCondLst>
                                            <p:cond delay="0"/>
                                          </p:stCondLst>
                                        </p:cTn>
                                        <p:tgtEl>
                                          <p:spTgt spid="25"/>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fade">
                                      <p:cBhvr>
                                        <p:cTn id="67" dur="500"/>
                                        <p:tgtEl>
                                          <p:spTgt spid="11"/>
                                        </p:tgtEl>
                                      </p:cBhvr>
                                    </p:animEffect>
                                  </p:childTnLst>
                                </p:cTn>
                              </p:par>
                              <p:par>
                                <p:cTn id="68" presetID="1" presetClass="exit" presetSubtype="0" fill="hold" nodeType="withEffect">
                                  <p:stCondLst>
                                    <p:cond delay="0"/>
                                  </p:stCondLst>
                                  <p:childTnLst>
                                    <p:set>
                                      <p:cBhvr>
                                        <p:cTn id="69" dur="1" fill="hold">
                                          <p:stCondLst>
                                            <p:cond delay="0"/>
                                          </p:stCondLst>
                                        </p:cTn>
                                        <p:tgtEl>
                                          <p:spTgt spid="28"/>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nodeType="clickEffect">
                                  <p:stCondLst>
                                    <p:cond delay="0"/>
                                  </p:stCondLst>
                                  <p:childTnLst>
                                    <p:set>
                                      <p:cBhvr>
                                        <p:cTn id="73" dur="1" fill="hold">
                                          <p:stCondLst>
                                            <p:cond delay="0"/>
                                          </p:stCondLst>
                                        </p:cTn>
                                        <p:tgtEl>
                                          <p:spTgt spid="10"/>
                                        </p:tgtEl>
                                        <p:attrNameLst>
                                          <p:attrName>style.visibility</p:attrName>
                                        </p:attrNameLst>
                                      </p:cBhvr>
                                      <p:to>
                                        <p:strVal val="visible"/>
                                      </p:to>
                                    </p:set>
                                  </p:childTnLst>
                                </p:cTn>
                              </p:par>
                              <p:par>
                                <p:cTn id="74" presetID="1" presetClass="entr" presetSubtype="0" fill="hold" grpId="0" nodeType="withEffect">
                                  <p:stCondLst>
                                    <p:cond delay="0"/>
                                  </p:stCondLst>
                                  <p:childTnLst>
                                    <p:set>
                                      <p:cBhvr>
                                        <p:cTn id="75" dur="1" fill="hold">
                                          <p:stCondLst>
                                            <p:cond delay="0"/>
                                          </p:stCondLst>
                                        </p:cTn>
                                        <p:tgtEl>
                                          <p:spTgt spid="6"/>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5"/>
                                        </p:tgtEl>
                                        <p:attrNameLst>
                                          <p:attrName>style.visibility</p:attrName>
                                        </p:attrNameLst>
                                      </p:cBhvr>
                                      <p:to>
                                        <p:strVal val="visible"/>
                                      </p:to>
                                    </p:set>
                                    <p:animEffect transition="in" filter="fade">
                                      <p:cBhvr>
                                        <p:cTn id="8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p:bldP spid="9" grpId="0"/>
      <p:bldP spid="11" grpId="0"/>
      <p:bldP spid="5" grpId="0"/>
      <p:bldP spid="12" grpId="0"/>
      <p:bldP spid="14" grpId="0" animBg="1"/>
      <p:bldP spid="16" grpId="0" animBg="1"/>
      <p:bldP spid="18" grpId="0" animBg="1"/>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2DB7EC-0571-2944-9630-C2E4EC35CD0C}"/>
              </a:ext>
            </a:extLst>
          </p:cNvPr>
          <p:cNvSpPr>
            <a:spLocks noGrp="1"/>
          </p:cNvSpPr>
          <p:nvPr>
            <p:ph type="title"/>
          </p:nvPr>
        </p:nvSpPr>
        <p:spPr/>
        <p:txBody>
          <a:bodyPr/>
          <a:lstStyle/>
          <a:p>
            <a:r>
              <a:rPr lang="en-US" dirty="0"/>
              <a:t>Another Example!</a:t>
            </a:r>
          </a:p>
        </p:txBody>
      </p:sp>
      <p:sp>
        <p:nvSpPr>
          <p:cNvPr id="3" name="Content Placeholder 2">
            <a:extLst>
              <a:ext uri="{FF2B5EF4-FFF2-40B4-BE49-F238E27FC236}">
                <a16:creationId xmlns:a16="http://schemas.microsoft.com/office/drawing/2014/main" id="{5237E96D-F40D-DC43-8DE2-D8BD8879F8AC}"/>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6877021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53E0B9E8-E03E-1F4F-89B9-37798BEAEDBA}"/>
              </a:ext>
            </a:extLst>
          </p:cNvPr>
          <p:cNvPicPr>
            <a:picLocks noChangeAspect="1"/>
          </p:cNvPicPr>
          <p:nvPr/>
        </p:nvPicPr>
        <p:blipFill>
          <a:blip r:embed="rId2"/>
          <a:stretch>
            <a:fillRect/>
          </a:stretch>
        </p:blipFill>
        <p:spPr>
          <a:xfrm>
            <a:off x="410630" y="1016753"/>
            <a:ext cx="11247969" cy="635000"/>
          </a:xfrm>
          <a:prstGeom prst="rect">
            <a:avLst/>
          </a:prstGeom>
        </p:spPr>
      </p:pic>
      <mc:AlternateContent xmlns:mc="http://schemas.openxmlformats.org/markup-compatibility/2006" xmlns:a14="http://schemas.microsoft.com/office/drawing/2010/main">
        <mc:Choice Requires="a14">
          <p:sp>
            <p:nvSpPr>
              <p:cNvPr id="4" name="TextBox 3"/>
              <p:cNvSpPr txBox="1"/>
              <p:nvPr/>
            </p:nvSpPr>
            <p:spPr>
              <a:xfrm>
                <a:off x="1681784" y="1473542"/>
                <a:ext cx="386387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a:latin typeface="Cambria Math"/>
                        </a:rPr>
                        <m:t>𝑉𝑎𝑟</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a:ea typeface="Cambria Math"/>
                                </a:rPr>
                                <m:t>𝛽</m:t>
                              </m:r>
                            </m:e>
                            <m:sub>
                              <m:r>
                                <a:rPr lang="en-US" sz="2800" i="1">
                                  <a:latin typeface="Cambria Math"/>
                                </a:rPr>
                                <m:t>0</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𝑎</m:t>
                              </m:r>
                              <m:r>
                                <a:rPr lang="en-US" sz="2800" i="1">
                                  <a:latin typeface="Cambria Math"/>
                                  <a:ea typeface="Cambria Math"/>
                                </a:rPr>
                                <m:t>𝛽</m:t>
                              </m:r>
                            </m:e>
                            <m:sub>
                              <m:r>
                                <a:rPr lang="en-US" sz="2800" i="1">
                                  <a:latin typeface="Cambria Math"/>
                                  <a:ea typeface="Cambria Math"/>
                                </a:rPr>
                                <m:t>1</m:t>
                              </m:r>
                            </m:sub>
                          </m:sSub>
                          <m:r>
                            <a:rPr lang="en-US" sz="2800" i="1">
                              <a:latin typeface="Cambria Math"/>
                            </a:rPr>
                            <m:t>+</m:t>
                          </m:r>
                          <m:sSub>
                            <m:sSubPr>
                              <m:ctrlPr>
                                <a:rPr lang="en-US" sz="2800" i="1">
                                  <a:latin typeface="Cambria Math" panose="02040503050406030204" pitchFamily="18" charset="0"/>
                                </a:rPr>
                              </m:ctrlPr>
                            </m:sSubPr>
                            <m:e>
                              <m:r>
                                <a:rPr lang="en-US" sz="2800" i="1">
                                  <a:latin typeface="Cambria Math"/>
                                </a:rPr>
                                <m:t>𝑏</m:t>
                              </m:r>
                              <m:r>
                                <a:rPr lang="en-US" sz="2800" i="1">
                                  <a:latin typeface="Cambria Math"/>
                                  <a:ea typeface="Cambria Math"/>
                                </a:rPr>
                                <m:t>𝛽</m:t>
                              </m:r>
                            </m:e>
                            <m:sub>
                              <m:r>
                                <a:rPr lang="en-US" sz="2800" i="1">
                                  <a:latin typeface="Cambria Math"/>
                                  <a:ea typeface="Cambria Math"/>
                                </a:rPr>
                                <m:t>2</m:t>
                              </m:r>
                            </m:sub>
                          </m:sSub>
                        </m:e>
                      </m:d>
                      <m:r>
                        <a:rPr lang="en-US" sz="2800" i="1">
                          <a:latin typeface="Cambria Math"/>
                        </a:rPr>
                        <m:t>=</m:t>
                      </m:r>
                    </m:oMath>
                  </m:oMathPara>
                </a14:m>
                <a:endParaRPr lang="en-US" sz="2800" dirty="0"/>
              </a:p>
            </p:txBody>
          </p:sp>
        </mc:Choice>
        <mc:Fallback xmlns="">
          <p:sp>
            <p:nvSpPr>
              <p:cNvPr id="4" name="TextBox 3"/>
              <p:cNvSpPr txBox="1">
                <a:spLocks noRot="1" noChangeAspect="1" noMove="1" noResize="1" noEditPoints="1" noAdjustHandles="1" noChangeArrowheads="1" noChangeShapeType="1" noTextEdit="1"/>
              </p:cNvSpPr>
              <p:nvPr/>
            </p:nvSpPr>
            <p:spPr>
              <a:xfrm>
                <a:off x="1681784" y="1473542"/>
                <a:ext cx="3863878" cy="523220"/>
              </a:xfrm>
              <a:prstGeom prst="rect">
                <a:avLst/>
              </a:prstGeom>
              <a:blipFill>
                <a:blip r:embed="rId3"/>
                <a:stretch>
                  <a:fillRect b="-214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1629256" y="2012356"/>
                <a:ext cx="9181744" cy="68358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a:rPr>
                                <m:t>0</m:t>
                              </m:r>
                            </m:sub>
                          </m:sSub>
                        </m:e>
                      </m:d>
                      <m:r>
                        <a:rPr lang="en-US" i="1">
                          <a:latin typeface="Cambria Math"/>
                        </a:rPr>
                        <m:t>+</m:t>
                      </m:r>
                      <m:sSup>
                        <m:sSupPr>
                          <m:ctrlPr>
                            <a:rPr lang="en-US" i="1">
                              <a:latin typeface="Cambria Math" panose="02040503050406030204" pitchFamily="18" charset="0"/>
                            </a:rPr>
                          </m:ctrlPr>
                        </m:sSupPr>
                        <m:e>
                          <m:r>
                            <a:rPr lang="en-US" i="1">
                              <a:latin typeface="Cambria Math"/>
                            </a:rPr>
                            <m:t>𝑎</m:t>
                          </m:r>
                        </m:e>
                        <m:sup>
                          <m:r>
                            <a:rPr lang="en-US" i="1">
                              <a:latin typeface="Cambria Math"/>
                            </a:rPr>
                            <m:t>2</m:t>
                          </m:r>
                        </m:sup>
                      </m:sSup>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1</m:t>
                              </m:r>
                            </m:sub>
                          </m:sSub>
                        </m:e>
                      </m:d>
                      <m:r>
                        <a:rPr lang="en-US" i="1">
                          <a:latin typeface="Cambria Math"/>
                        </a:rPr>
                        <m:t>+</m:t>
                      </m:r>
                      <m:sSup>
                        <m:sSupPr>
                          <m:ctrlPr>
                            <a:rPr lang="en-US" i="1">
                              <a:latin typeface="Cambria Math" panose="02040503050406030204" pitchFamily="18" charset="0"/>
                            </a:rPr>
                          </m:ctrlPr>
                        </m:sSupPr>
                        <m:e>
                          <m:r>
                            <a:rPr lang="en-US" i="1">
                              <a:latin typeface="Cambria Math"/>
                            </a:rPr>
                            <m:t>𝑏</m:t>
                          </m:r>
                        </m:e>
                        <m:sup>
                          <m:r>
                            <a:rPr lang="en-US" i="1">
                              <a:latin typeface="Cambria Math"/>
                            </a:rPr>
                            <m:t>2</m:t>
                          </m:r>
                        </m:sup>
                      </m:sSup>
                      <m:r>
                        <a:rPr lang="en-US" i="1">
                          <a:latin typeface="Cambria Math"/>
                        </a:rPr>
                        <m:t>𝑉𝑎𝑟</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2</m:t>
                              </m:r>
                            </m:sub>
                          </m:sSub>
                        </m:e>
                      </m:d>
                      <m:r>
                        <a:rPr lang="en-US" i="1">
                          <a:latin typeface="Cambria Math"/>
                        </a:rPr>
                        <m:t>+ 2</m:t>
                      </m:r>
                      <m:r>
                        <a:rPr lang="en-US" i="1">
                          <a:latin typeface="Cambria Math"/>
                        </a:rPr>
                        <m:t>𝑎𝐶𝑜𝑣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1</m:t>
                              </m:r>
                            </m:sub>
                          </m:sSub>
                        </m:e>
                      </m:d>
                      <m:r>
                        <a:rPr lang="en-US" i="1">
                          <a:latin typeface="Cambria Math"/>
                        </a:rPr>
                        <m:t>+2</m:t>
                      </m:r>
                      <m:r>
                        <a:rPr lang="en-US" i="1">
                          <a:latin typeface="Cambria Math"/>
                        </a:rPr>
                        <m:t>𝑏𝐶𝑜𝑣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2</m:t>
                              </m:r>
                            </m:sub>
                          </m:sSub>
                        </m:e>
                      </m:d>
                      <m:r>
                        <a:rPr lang="en-US" i="1">
                          <a:latin typeface="Cambria Math"/>
                        </a:rPr>
                        <m:t>+2</m:t>
                      </m:r>
                      <m:r>
                        <a:rPr lang="en-US" i="1">
                          <a:latin typeface="Cambria Math"/>
                        </a:rPr>
                        <m:t>𝑎𝑏𝐶𝑜𝑣</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1</m:t>
                              </m:r>
                            </m:sub>
                          </m:sSub>
                          <m:r>
                            <a:rPr lang="en-US" i="1">
                              <a:latin typeface="Cambria Math"/>
                              <a:ea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2</m:t>
                              </m:r>
                            </m:sub>
                          </m:sSub>
                        </m:e>
                      </m:d>
                    </m:oMath>
                  </m:oMathPara>
                </a14:m>
                <a:endParaRPr lang="en-US" dirty="0"/>
              </a:p>
              <a:p>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1629256" y="2012356"/>
                <a:ext cx="9181744" cy="683585"/>
              </a:xfrm>
              <a:prstGeom prst="rect">
                <a:avLst/>
              </a:prstGeom>
              <a:blipFill>
                <a:blip r:embed="rId4"/>
                <a:stretch>
                  <a:fillRect t="-18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1629257" y="3711916"/>
                <a:ext cx="9067443" cy="91730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𝑉𝑎𝑟</m:t>
                      </m:r>
                      <m:r>
                        <a:rPr lang="en-US" i="1">
                          <a:latin typeface="Cambria Math"/>
                        </a:rPr>
                        <m:t>(</m:t>
                      </m:r>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𝑙𝑜𝑔𝑚𝑎𝑠𝑠</m:t>
                      </m:r>
                      <m:r>
                        <m:rPr>
                          <m:nor/>
                        </m:rPr>
                        <a:rPr lang="en-US">
                          <a:latin typeface="Cambria Math" panose="02040503050406030204" pitchFamily="18" charset="0"/>
                        </a:rPr>
                        <m:t>=</m:t>
                      </m:r>
                      <m:r>
                        <m:rPr>
                          <m:nor/>
                        </m:rPr>
                        <a:rPr lang="en-US" b="1">
                          <a:solidFill>
                            <a:srgbClr val="7030A0"/>
                          </a:solidFill>
                          <a:latin typeface="Cambria Math" panose="02040503050406030204" pitchFamily="18" charset="0"/>
                        </a:rPr>
                        <m:t>.91629</m:t>
                      </m:r>
                      <m:r>
                        <m:rPr>
                          <m:nor/>
                        </m:rPr>
                        <a:rPr lang="en-US">
                          <a:latin typeface="Cambria Math" panose="02040503050406030204" pitchFamily="18" charset="0"/>
                        </a:rPr>
                        <m:t>, </m:t>
                      </m:r>
                      <m:r>
                        <m:rPr>
                          <m:nor/>
                        </m:rPr>
                        <a:rPr lang="en-US">
                          <a:latin typeface="Cambria Math" panose="02040503050406030204" pitchFamily="18" charset="0"/>
                        </a:rPr>
                        <m:t>𝑙𝑜𝑔𝑚𝑒𝑡𝑎𝑏</m:t>
                      </m:r>
                      <m:r>
                        <m:rPr>
                          <m:nor/>
                        </m:rPr>
                        <a:rPr lang="en-US">
                          <a:latin typeface="Cambria Math" panose="02040503050406030204" pitchFamily="18" charset="0"/>
                        </a:rPr>
                        <m:t>=</m:t>
                      </m:r>
                      <m:r>
                        <m:rPr>
                          <m:nor/>
                        </m:rPr>
                        <a:rPr lang="en-US" b="1">
                          <a:solidFill>
                            <a:srgbClr val="00B050"/>
                          </a:solidFill>
                          <a:latin typeface="Cambria Math" panose="02040503050406030204" pitchFamily="18" charset="0"/>
                        </a:rPr>
                        <m:t>5.7104</m:t>
                      </m:r>
                      <m:r>
                        <m:rPr>
                          <m:nor/>
                        </m:rPr>
                        <a:rPr lang="en-US">
                          <a:latin typeface="Cambria Math" panose="02040503050406030204" pitchFamily="18" charset="0"/>
                        </a:rPr>
                        <m:t>})</m:t>
                      </m:r>
                      <m:r>
                        <a:rPr lang="en-US" i="1">
                          <a:latin typeface="Cambria Math"/>
                        </a:rPr>
                        <m:t>=</m:t>
                      </m:r>
                      <m:sSup>
                        <m:sSupPr>
                          <m:ctrlPr>
                            <a:rPr lang="en-US" i="1">
                              <a:latin typeface="Cambria Math" panose="02040503050406030204" pitchFamily="18" charset="0"/>
                            </a:rPr>
                          </m:ctrlPr>
                        </m:sSupPr>
                        <m:e>
                          <m:r>
                            <a:rPr lang="en-US" i="1">
                              <a:latin typeface="Cambria Math"/>
                            </a:rPr>
                            <m:t>.234</m:t>
                          </m:r>
                          <m:r>
                            <a:rPr lang="en-US" i="1">
                              <a:latin typeface="Cambria Math" panose="02040503050406030204" pitchFamily="18" charset="0"/>
                            </a:rPr>
                            <m:t>3</m:t>
                          </m:r>
                          <m:r>
                            <a:rPr lang="en-US" i="1">
                              <a:latin typeface="Cambria Math"/>
                            </a:rPr>
                            <m:t>+</m:t>
                          </m:r>
                          <m:d>
                            <m:dPr>
                              <m:ctrlPr>
                                <a:rPr lang="en-US" i="1">
                                  <a:latin typeface="Cambria Math" panose="02040503050406030204" pitchFamily="18" charset="0"/>
                                </a:rPr>
                              </m:ctrlPr>
                            </m:dPr>
                            <m:e>
                              <m:r>
                                <a:rPr lang="en-US" b="1" i="1">
                                  <a:solidFill>
                                    <a:srgbClr val="00B050"/>
                                  </a:solidFill>
                                  <a:latin typeface="Cambria Math"/>
                                </a:rPr>
                                <m:t>𝟓</m:t>
                              </m:r>
                              <m:r>
                                <a:rPr lang="en-US" b="1" i="1">
                                  <a:solidFill>
                                    <a:srgbClr val="00B050"/>
                                  </a:solidFill>
                                  <a:latin typeface="Cambria Math"/>
                                </a:rPr>
                                <m:t>.</m:t>
                              </m:r>
                              <m:r>
                                <a:rPr lang="en-US" b="1" i="1">
                                  <a:solidFill>
                                    <a:srgbClr val="00B050"/>
                                  </a:solidFill>
                                  <a:latin typeface="Cambria Math"/>
                                </a:rPr>
                                <m:t>𝟕𝟏𝟎𝟒</m:t>
                              </m:r>
                            </m:e>
                          </m:d>
                        </m:e>
                        <m:sup>
                          <m:r>
                            <a:rPr lang="en-US" i="1">
                              <a:latin typeface="Cambria Math"/>
                            </a:rPr>
                            <m:t>2</m:t>
                          </m:r>
                        </m:sup>
                      </m:sSup>
                      <m:r>
                        <a:rPr lang="en-US" i="1">
                          <a:latin typeface="Cambria Math"/>
                        </a:rPr>
                        <m:t>(.00</m:t>
                      </m:r>
                      <m:r>
                        <a:rPr lang="en-US" i="1">
                          <a:latin typeface="Cambria Math" panose="02040503050406030204" pitchFamily="18" charset="0"/>
                        </a:rPr>
                        <m:t>73</m:t>
                      </m:r>
                      <m:r>
                        <a:rPr lang="en-US" i="1">
                          <a:latin typeface="Cambria Math"/>
                        </a:rPr>
                        <m:t>)</m:t>
                      </m:r>
                      <m:sSup>
                        <m:sSupPr>
                          <m:ctrlPr>
                            <a:rPr lang="en-US" i="1">
                              <a:latin typeface="Cambria Math" panose="02040503050406030204" pitchFamily="18" charset="0"/>
                            </a:rPr>
                          </m:ctrlPr>
                        </m:sSupPr>
                        <m:e>
                          <m:r>
                            <a:rPr lang="en-US" i="1">
                              <a:latin typeface="Cambria Math"/>
                            </a:rPr>
                            <m:t>+ </m:t>
                          </m:r>
                          <m:d>
                            <m:dPr>
                              <m:ctrlPr>
                                <a:rPr lang="en-US" i="1">
                                  <a:latin typeface="Cambria Math" panose="02040503050406030204" pitchFamily="18" charset="0"/>
                                </a:rPr>
                              </m:ctrlPr>
                            </m:dPr>
                            <m:e>
                              <m:r>
                                <a:rPr lang="en-US" b="1" i="1">
                                  <a:solidFill>
                                    <a:srgbClr val="7030A0"/>
                                  </a:solidFill>
                                  <a:latin typeface="Cambria Math"/>
                                </a:rPr>
                                <m:t>.</m:t>
                              </m:r>
                              <m:r>
                                <a:rPr lang="en-US" b="1" i="1">
                                  <a:solidFill>
                                    <a:srgbClr val="7030A0"/>
                                  </a:solidFill>
                                  <a:latin typeface="Cambria Math"/>
                                </a:rPr>
                                <m:t>𝟗𝟏𝟔𝟐𝟗</m:t>
                              </m:r>
                            </m:e>
                          </m:d>
                        </m:e>
                        <m:sup>
                          <m:r>
                            <a:rPr lang="en-US" i="1">
                              <a:latin typeface="Cambria Math"/>
                            </a:rPr>
                            <m:t>2</m:t>
                          </m:r>
                        </m:sup>
                      </m:sSup>
                      <m:d>
                        <m:dPr>
                          <m:ctrlPr>
                            <a:rPr lang="en-US" i="1">
                              <a:latin typeface="Cambria Math" panose="02040503050406030204" pitchFamily="18" charset="0"/>
                            </a:rPr>
                          </m:ctrlPr>
                        </m:dPr>
                        <m:e>
                          <m:r>
                            <a:rPr lang="en-US" i="1">
                              <a:latin typeface="Cambria Math"/>
                            </a:rPr>
                            <m:t>.00</m:t>
                          </m:r>
                          <m:r>
                            <a:rPr lang="en-US" i="1">
                              <a:latin typeface="Cambria Math" panose="02040503050406030204" pitchFamily="18" charset="0"/>
                            </a:rPr>
                            <m:t>4</m:t>
                          </m:r>
                          <m:r>
                            <a:rPr lang="en-US" i="1">
                              <a:latin typeface="Cambria Math"/>
                            </a:rPr>
                            <m:t>1</m:t>
                          </m:r>
                        </m:e>
                      </m:d>
                    </m:oMath>
                  </m:oMathPara>
                </a14:m>
                <a:endParaRPr lang="en-US" i="1" dirty="0">
                  <a:latin typeface="Cambria Math"/>
                </a:endParaRPr>
              </a:p>
              <a:p>
                <a:pPr/>
                <a14:m>
                  <m:oMathPara xmlns:m="http://schemas.openxmlformats.org/officeDocument/2006/math">
                    <m:oMathParaPr>
                      <m:jc m:val="centerGroup"/>
                    </m:oMathParaPr>
                    <m:oMath xmlns:m="http://schemas.openxmlformats.org/officeDocument/2006/math">
                      <m:r>
                        <a:rPr lang="en-US" i="1">
                          <a:latin typeface="Cambria Math"/>
                        </a:rPr>
                        <m:t> +2</m:t>
                      </m:r>
                      <m:d>
                        <m:dPr>
                          <m:ctrlPr>
                            <a:rPr lang="en-US" i="1">
                              <a:latin typeface="Cambria Math" panose="02040503050406030204" pitchFamily="18" charset="0"/>
                            </a:rPr>
                          </m:ctrlPr>
                        </m:dPr>
                        <m:e>
                          <m:r>
                            <a:rPr lang="en-US" b="1" i="1">
                              <a:solidFill>
                                <a:srgbClr val="00B050"/>
                              </a:solidFill>
                              <a:latin typeface="Cambria Math"/>
                            </a:rPr>
                            <m:t>𝟓</m:t>
                          </m:r>
                          <m:r>
                            <a:rPr lang="en-US" b="1" i="1">
                              <a:solidFill>
                                <a:srgbClr val="00B050"/>
                              </a:solidFill>
                              <a:latin typeface="Cambria Math"/>
                            </a:rPr>
                            <m:t>.</m:t>
                          </m:r>
                          <m:r>
                            <a:rPr lang="en-US" b="1" i="1">
                              <a:solidFill>
                                <a:srgbClr val="00B050"/>
                              </a:solidFill>
                              <a:latin typeface="Cambria Math"/>
                            </a:rPr>
                            <m:t>𝟕𝟏𝟎𝟒</m:t>
                          </m:r>
                        </m:e>
                      </m:d>
                      <m:d>
                        <m:dPr>
                          <m:ctrlPr>
                            <a:rPr lang="en-US" i="1">
                              <a:latin typeface="Cambria Math" panose="02040503050406030204" pitchFamily="18" charset="0"/>
                            </a:rPr>
                          </m:ctrlPr>
                        </m:dPr>
                        <m:e>
                          <m:r>
                            <a:rPr lang="en-US" i="1">
                              <a:latin typeface="Cambria Math"/>
                            </a:rPr>
                            <m:t>−.04</m:t>
                          </m:r>
                          <m:r>
                            <a:rPr lang="en-US" i="1">
                              <a:latin typeface="Cambria Math" panose="02040503050406030204" pitchFamily="18" charset="0"/>
                            </a:rPr>
                            <m:t>129</m:t>
                          </m:r>
                        </m:e>
                      </m:d>
                      <m:r>
                        <a:rPr lang="en-US" i="1">
                          <a:latin typeface="Cambria Math"/>
                        </a:rPr>
                        <m:t>+2</m:t>
                      </m:r>
                      <m:d>
                        <m:dPr>
                          <m:ctrlPr>
                            <a:rPr lang="en-US" i="1">
                              <a:latin typeface="Cambria Math" panose="02040503050406030204" pitchFamily="18" charset="0"/>
                            </a:rPr>
                          </m:ctrlPr>
                        </m:dPr>
                        <m:e>
                          <m:r>
                            <a:rPr lang="en-US" b="1" i="1">
                              <a:solidFill>
                                <a:srgbClr val="7030A0"/>
                              </a:solidFill>
                              <a:latin typeface="Cambria Math"/>
                            </a:rPr>
                            <m:t>.</m:t>
                          </m:r>
                          <m:r>
                            <a:rPr lang="en-US" b="1" i="1">
                              <a:solidFill>
                                <a:srgbClr val="7030A0"/>
                              </a:solidFill>
                              <a:latin typeface="Cambria Math"/>
                            </a:rPr>
                            <m:t>𝟗𝟏𝟔𝟐𝟗</m:t>
                          </m:r>
                        </m:e>
                      </m:d>
                      <m:d>
                        <m:dPr>
                          <m:ctrlPr>
                            <a:rPr lang="en-US" i="1">
                              <a:latin typeface="Cambria Math" panose="02040503050406030204" pitchFamily="18" charset="0"/>
                            </a:rPr>
                          </m:ctrlPr>
                        </m:dPr>
                        <m:e>
                          <m:r>
                            <a:rPr lang="en-US" i="1">
                              <a:latin typeface="Cambria Math"/>
                            </a:rPr>
                            <m:t>.03</m:t>
                          </m:r>
                          <m:r>
                            <a:rPr lang="en-US" i="1">
                              <a:latin typeface="Cambria Math" panose="02040503050406030204" pitchFamily="18" charset="0"/>
                            </a:rPr>
                            <m:t>046</m:t>
                          </m:r>
                        </m:e>
                      </m:d>
                      <m:r>
                        <a:rPr lang="en-US" i="1">
                          <a:latin typeface="Cambria Math"/>
                        </a:rPr>
                        <m:t>+2</m:t>
                      </m:r>
                      <m:d>
                        <m:dPr>
                          <m:ctrlPr>
                            <a:rPr lang="en-US" i="1">
                              <a:latin typeface="Cambria Math" panose="02040503050406030204" pitchFamily="18" charset="0"/>
                            </a:rPr>
                          </m:ctrlPr>
                        </m:dPr>
                        <m:e>
                          <m:r>
                            <a:rPr lang="en-US" b="1" i="1">
                              <a:solidFill>
                                <a:srgbClr val="00B050"/>
                              </a:solidFill>
                              <a:latin typeface="Cambria Math"/>
                            </a:rPr>
                            <m:t>𝟓</m:t>
                          </m:r>
                          <m:r>
                            <a:rPr lang="en-US" b="1" i="1">
                              <a:solidFill>
                                <a:srgbClr val="00B050"/>
                              </a:solidFill>
                              <a:latin typeface="Cambria Math"/>
                            </a:rPr>
                            <m:t>.</m:t>
                          </m:r>
                          <m:r>
                            <a:rPr lang="en-US" b="1" i="1">
                              <a:solidFill>
                                <a:srgbClr val="00B050"/>
                              </a:solidFill>
                              <a:latin typeface="Cambria Math"/>
                            </a:rPr>
                            <m:t>𝟕𝟏𝟎𝟒</m:t>
                          </m:r>
                        </m:e>
                      </m:d>
                      <m:r>
                        <a:rPr lang="en-US" i="1">
                          <a:latin typeface="Cambria Math"/>
                        </a:rPr>
                        <m:t>(</m:t>
                      </m:r>
                      <m:r>
                        <a:rPr lang="en-US" b="1" i="1">
                          <a:solidFill>
                            <a:srgbClr val="7030A0"/>
                          </a:solidFill>
                          <a:latin typeface="Cambria Math"/>
                        </a:rPr>
                        <m:t>.</m:t>
                      </m:r>
                      <m:r>
                        <a:rPr lang="en-US" b="1" i="1">
                          <a:solidFill>
                            <a:srgbClr val="7030A0"/>
                          </a:solidFill>
                          <a:latin typeface="Cambria Math"/>
                        </a:rPr>
                        <m:t>𝟗𝟏𝟔𝟐𝟗</m:t>
                      </m:r>
                      <m:r>
                        <a:rPr lang="en-US" i="1">
                          <a:latin typeface="Cambria Math"/>
                        </a:rPr>
                        <m:t>)(−.00</m:t>
                      </m:r>
                      <m:r>
                        <a:rPr lang="en-US" i="1">
                          <a:latin typeface="Cambria Math" panose="02040503050406030204" pitchFamily="18" charset="0"/>
                        </a:rPr>
                        <m:t>541</m:t>
                      </m:r>
                      <m:r>
                        <a:rPr lang="en-US" i="1">
                          <a:latin typeface="Cambria Math"/>
                        </a:rPr>
                        <m:t>)</m:t>
                      </m:r>
                    </m:oMath>
                  </m:oMathPara>
                </a14:m>
                <a:endParaRPr lang="en-US" dirty="0"/>
              </a:p>
            </p:txBody>
          </p:sp>
        </mc:Choice>
        <mc:Fallback xmlns="">
          <p:sp>
            <p:nvSpPr>
              <p:cNvPr id="10" name="TextBox 9"/>
              <p:cNvSpPr txBox="1">
                <a:spLocks noRot="1" noChangeAspect="1" noMove="1" noResize="1" noEditPoints="1" noAdjustHandles="1" noChangeArrowheads="1" noChangeShapeType="1" noTextEdit="1"/>
              </p:cNvSpPr>
              <p:nvPr/>
            </p:nvSpPr>
            <p:spPr>
              <a:xfrm>
                <a:off x="1629257" y="3711916"/>
                <a:ext cx="9067443" cy="917302"/>
              </a:xfrm>
              <a:prstGeom prst="rect">
                <a:avLst/>
              </a:prstGeom>
              <a:blipFill>
                <a:blip r:embed="rId5"/>
                <a:stretch>
                  <a:fillRect b="-68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228600" y="968253"/>
                <a:ext cx="12191999" cy="6613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𝑉𝑎𝑟</m:t>
                      </m:r>
                      <m:r>
                        <a:rPr lang="en-US" i="1">
                          <a:latin typeface="Cambria Math"/>
                        </a:rPr>
                        <m:t>(</m:t>
                      </m:r>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𝑙𝑜𝑔𝑚𝑎𝑠𝑠</m:t>
                      </m:r>
                      <m:r>
                        <m:rPr>
                          <m:nor/>
                        </m:rPr>
                        <a:rPr lang="en-US">
                          <a:latin typeface="Cambria Math" panose="02040503050406030204" pitchFamily="18" charset="0"/>
                        </a:rPr>
                        <m:t>=</m:t>
                      </m:r>
                      <m:r>
                        <m:rPr>
                          <m:nor/>
                        </m:rPr>
                        <a:rPr lang="en-US" b="1">
                          <a:solidFill>
                            <a:srgbClr val="7030A0"/>
                          </a:solidFill>
                          <a:latin typeface="Cambria Math" panose="02040503050406030204" pitchFamily="18" charset="0"/>
                        </a:rPr>
                        <m:t>.91629</m:t>
                      </m:r>
                      <m:r>
                        <m:rPr>
                          <m:nor/>
                        </m:rPr>
                        <a:rPr lang="en-US">
                          <a:latin typeface="Cambria Math" panose="02040503050406030204" pitchFamily="18" charset="0"/>
                        </a:rPr>
                        <m:t>, </m:t>
                      </m:r>
                      <m:r>
                        <m:rPr>
                          <m:nor/>
                        </m:rPr>
                        <a:rPr lang="en-US">
                          <a:latin typeface="Cambria Math" panose="02040503050406030204" pitchFamily="18" charset="0"/>
                        </a:rPr>
                        <m:t>𝑙𝑜𝑔𝑚𝑒𝑡𝑎𝑏</m:t>
                      </m:r>
                      <m:r>
                        <m:rPr>
                          <m:nor/>
                        </m:rPr>
                        <a:rPr lang="en-US">
                          <a:latin typeface="Cambria Math" panose="02040503050406030204" pitchFamily="18" charset="0"/>
                        </a:rPr>
                        <m:t>=</m:t>
                      </m:r>
                      <m:r>
                        <m:rPr>
                          <m:nor/>
                        </m:rPr>
                        <a:rPr lang="en-US" b="1">
                          <a:solidFill>
                            <a:srgbClr val="00B050"/>
                          </a:solidFill>
                          <a:latin typeface="Cambria Math" panose="02040503050406030204" pitchFamily="18" charset="0"/>
                        </a:rPr>
                        <m:t>5.7104</m:t>
                      </m:r>
                      <m:r>
                        <m:rPr>
                          <m:nor/>
                        </m:rPr>
                        <a:rPr lang="en-US">
                          <a:latin typeface="Cambria Math" panose="02040503050406030204" pitchFamily="18" charset="0"/>
                        </a:rPr>
                        <m:t>})</m:t>
                      </m:r>
                    </m:oMath>
                  </m:oMathPara>
                </a14:m>
                <a:endParaRPr lang="en-US" i="1" dirty="0">
                  <a:latin typeface="Cambria Math"/>
                </a:endParaRPr>
              </a:p>
              <a:p>
                <a:pPr/>
                <a14:m>
                  <m:oMathPara xmlns:m="http://schemas.openxmlformats.org/officeDocument/2006/math">
                    <m:oMathParaPr>
                      <m:jc m:val="centerGroup"/>
                    </m:oMathParaPr>
                    <m:oMath xmlns:m="http://schemas.openxmlformats.org/officeDocument/2006/math">
                      <m:r>
                        <a:rPr lang="en-US" i="1">
                          <a:latin typeface="Cambria Math"/>
                        </a:rPr>
                        <m:t>=</m:t>
                      </m:r>
                      <m:r>
                        <a:rPr lang="en-US" i="1">
                          <a:latin typeface="Cambria Math"/>
                        </a:rPr>
                        <m:t>𝑉𝑎𝑟</m:t>
                      </m:r>
                      <m:r>
                        <a:rPr lang="en-US" i="1">
                          <a:latin typeface="Cambria Math"/>
                        </a:rPr>
                        <m:t>(</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a:rPr>
                            <m:t>0</m:t>
                          </m:r>
                        </m:sub>
                      </m:sSub>
                      <m:r>
                        <a:rPr lang="en-US" i="1">
                          <a:latin typeface="Cambria Math"/>
                        </a:rPr>
                        <m:t>+</m:t>
                      </m:r>
                      <m:r>
                        <a:rPr lang="en-US" b="1" i="1">
                          <a:solidFill>
                            <a:srgbClr val="00B050"/>
                          </a:solidFill>
                          <a:latin typeface="Cambria Math"/>
                        </a:rPr>
                        <m:t>𝟓</m:t>
                      </m:r>
                      <m:r>
                        <a:rPr lang="en-US" b="1" i="1">
                          <a:solidFill>
                            <a:srgbClr val="00B050"/>
                          </a:solidFill>
                          <a:latin typeface="Cambria Math"/>
                        </a:rPr>
                        <m:t>.</m:t>
                      </m:r>
                      <m:r>
                        <a:rPr lang="en-US" b="1" i="1">
                          <a:solidFill>
                            <a:srgbClr val="00B050"/>
                          </a:solidFill>
                          <a:latin typeface="Cambria Math"/>
                        </a:rPr>
                        <m:t>𝟕𝟏𝟎𝟒</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1</m:t>
                          </m:r>
                        </m:sub>
                      </m:sSub>
                      <m:r>
                        <a:rPr lang="en-US" i="1">
                          <a:latin typeface="Cambria Math"/>
                        </a:rPr>
                        <m:t>+</m:t>
                      </m:r>
                      <m:r>
                        <a:rPr lang="en-US" b="1" i="1">
                          <a:solidFill>
                            <a:srgbClr val="7030A0"/>
                          </a:solidFill>
                          <a:latin typeface="Cambria Math"/>
                        </a:rPr>
                        <m:t>.</m:t>
                      </m:r>
                      <m:r>
                        <a:rPr lang="en-US" b="1" i="1">
                          <a:solidFill>
                            <a:srgbClr val="7030A0"/>
                          </a:solidFill>
                          <a:latin typeface="Cambria Math"/>
                        </a:rPr>
                        <m:t>𝟗𝟏𝟔𝟐𝟗</m:t>
                      </m:r>
                      <m:sSub>
                        <m:sSubPr>
                          <m:ctrlPr>
                            <a:rPr lang="en-US" i="1">
                              <a:latin typeface="Cambria Math" panose="02040503050406030204" pitchFamily="18" charset="0"/>
                            </a:rPr>
                          </m:ctrlPr>
                        </m:sSubPr>
                        <m:e>
                          <m:acc>
                            <m:accPr>
                              <m:chr m:val="̂"/>
                              <m:ctrlPr>
                                <a:rPr lang="en-US" i="1">
                                  <a:latin typeface="Cambria Math" panose="02040503050406030204" pitchFamily="18" charset="0"/>
                                </a:rPr>
                              </m:ctrlPr>
                            </m:accPr>
                            <m:e>
                              <m:r>
                                <a:rPr lang="en-US" i="1">
                                  <a:latin typeface="Cambria Math"/>
                                  <a:ea typeface="Cambria Math"/>
                                </a:rPr>
                                <m:t>𝛽</m:t>
                              </m:r>
                            </m:e>
                          </m:acc>
                        </m:e>
                        <m:sub>
                          <m:r>
                            <a:rPr lang="en-US" i="1">
                              <a:latin typeface="Cambria Math" panose="02040503050406030204" pitchFamily="18" charset="0"/>
                              <a:ea typeface="Cambria Math"/>
                            </a:rPr>
                            <m:t>2</m:t>
                          </m:r>
                        </m:sub>
                      </m:sSub>
                      <m:r>
                        <a:rPr lang="en-US" i="1">
                          <a:latin typeface="Cambria Math"/>
                          <a:ea typeface="Cambria Math"/>
                        </a:rPr>
                        <m:t>)</m:t>
                      </m:r>
                    </m:oMath>
                  </m:oMathPara>
                </a14:m>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228600" y="968253"/>
                <a:ext cx="12191999" cy="661335"/>
              </a:xfrm>
              <a:prstGeom prst="rect">
                <a:avLst/>
              </a:prstGeom>
              <a:blipFill>
                <a:blip r:embed="rId6"/>
                <a:stretch>
                  <a:fillRect b="-75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1670898" y="4544323"/>
                <a:ext cx="8192820" cy="679289"/>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latin typeface="Cambria Math"/>
                        </a:rPr>
                        <m:t>𝑉𝑎𝑟</m:t>
                      </m:r>
                      <m:d>
                        <m:dPr>
                          <m:ctrlPr>
                            <a:rPr lang="en-US" i="1">
                              <a:latin typeface="Cambria Math" panose="02040503050406030204" pitchFamily="18" charset="0"/>
                            </a:rPr>
                          </m:ctrlPr>
                        </m:dPr>
                        <m:e>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𝑙𝑜𝑔𝑚𝑎𝑠𝑠</m:t>
                          </m:r>
                          <m:r>
                            <m:rPr>
                              <m:nor/>
                            </m:rPr>
                            <a:rPr lang="en-US">
                              <a:latin typeface="Cambria Math" panose="02040503050406030204" pitchFamily="18" charset="0"/>
                            </a:rPr>
                            <m:t>=</m:t>
                          </m:r>
                          <m:r>
                            <m:rPr>
                              <m:nor/>
                            </m:rPr>
                            <a:rPr lang="en-US" b="1">
                              <a:solidFill>
                                <a:srgbClr val="7030A0"/>
                              </a:solidFill>
                              <a:latin typeface="Cambria Math" panose="02040503050406030204" pitchFamily="18" charset="0"/>
                            </a:rPr>
                            <m:t>.91629</m:t>
                          </m:r>
                          <m:r>
                            <m:rPr>
                              <m:nor/>
                            </m:rPr>
                            <a:rPr lang="en-US">
                              <a:latin typeface="Cambria Math" panose="02040503050406030204" pitchFamily="18" charset="0"/>
                            </a:rPr>
                            <m:t>, </m:t>
                          </m:r>
                          <m:r>
                            <m:rPr>
                              <m:nor/>
                            </m:rPr>
                            <a:rPr lang="en-US">
                              <a:latin typeface="Cambria Math" panose="02040503050406030204" pitchFamily="18" charset="0"/>
                            </a:rPr>
                            <m:t>𝑙𝑜𝑔𝑚𝑒𝑡𝑎𝑏</m:t>
                          </m:r>
                          <m:r>
                            <m:rPr>
                              <m:nor/>
                            </m:rPr>
                            <a:rPr lang="en-US">
                              <a:latin typeface="Cambria Math" panose="02040503050406030204" pitchFamily="18" charset="0"/>
                            </a:rPr>
                            <m:t>=</m:t>
                          </m:r>
                          <m:r>
                            <m:rPr>
                              <m:nor/>
                            </m:rPr>
                            <a:rPr lang="en-US" b="1">
                              <a:solidFill>
                                <a:srgbClr val="00B050"/>
                              </a:solidFill>
                              <a:latin typeface="Cambria Math" panose="02040503050406030204" pitchFamily="18" charset="0"/>
                            </a:rPr>
                            <m:t>5.7104</m:t>
                          </m:r>
                          <m:r>
                            <m:rPr>
                              <m:nor/>
                            </m:rPr>
                            <a:rPr lang="en-US">
                              <a:latin typeface="Cambria Math" panose="02040503050406030204" pitchFamily="18" charset="0"/>
                            </a:rPr>
                            <m:t>}</m:t>
                          </m:r>
                        </m:e>
                      </m:d>
                      <m:r>
                        <a:rPr lang="en-US" i="1">
                          <a:latin typeface="Cambria Math"/>
                        </a:rPr>
                        <m:t>=.00</m:t>
                      </m:r>
                      <m:r>
                        <a:rPr lang="en-US" i="1">
                          <a:latin typeface="Cambria Math" panose="02040503050406030204" pitchFamily="18" charset="0"/>
                        </a:rPr>
                        <m:t>4236</m:t>
                      </m:r>
                    </m:oMath>
                  </m:oMathPara>
                </a14:m>
                <a:endParaRPr lang="en-US"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i="1">
                          <a:latin typeface="Cambria Math"/>
                        </a:rPr>
                        <m:t> </m:t>
                      </m:r>
                      <m:r>
                        <a:rPr lang="en-US" i="1">
                          <a:latin typeface="Cambria Math"/>
                          <a:ea typeface="Cambria Math"/>
                        </a:rPr>
                        <m:t>→</m:t>
                      </m:r>
                      <m:r>
                        <a:rPr lang="en-US" i="1">
                          <a:latin typeface="Cambria Math"/>
                          <a:ea typeface="Cambria Math"/>
                        </a:rPr>
                        <m:t>𝑆𝐸</m:t>
                      </m:r>
                      <m:d>
                        <m:dPr>
                          <m:ctrlPr>
                            <a:rPr lang="en-US" i="1">
                              <a:latin typeface="Cambria Math" panose="02040503050406030204" pitchFamily="18" charset="0"/>
                            </a:rPr>
                          </m:ctrlPr>
                        </m:dPr>
                        <m:e>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𝑙𝑜𝑔𝑚𝑎𝑠𝑠</m:t>
                          </m:r>
                          <m:r>
                            <m:rPr>
                              <m:nor/>
                            </m:rPr>
                            <a:rPr lang="en-US">
                              <a:latin typeface="Cambria Math" panose="02040503050406030204" pitchFamily="18" charset="0"/>
                            </a:rPr>
                            <m:t>=</m:t>
                          </m:r>
                          <m:r>
                            <m:rPr>
                              <m:nor/>
                            </m:rPr>
                            <a:rPr lang="en-US" b="1">
                              <a:solidFill>
                                <a:srgbClr val="7030A0"/>
                              </a:solidFill>
                              <a:latin typeface="Cambria Math" panose="02040503050406030204" pitchFamily="18" charset="0"/>
                            </a:rPr>
                            <m:t>.91629</m:t>
                          </m:r>
                          <m:r>
                            <m:rPr>
                              <m:nor/>
                            </m:rPr>
                            <a:rPr lang="en-US">
                              <a:latin typeface="Cambria Math" panose="02040503050406030204" pitchFamily="18" charset="0"/>
                            </a:rPr>
                            <m:t>, </m:t>
                          </m:r>
                          <m:r>
                            <m:rPr>
                              <m:nor/>
                            </m:rPr>
                            <a:rPr lang="en-US">
                              <a:latin typeface="Cambria Math" panose="02040503050406030204" pitchFamily="18" charset="0"/>
                            </a:rPr>
                            <m:t>𝑙𝑜𝑔𝑚𝑒𝑡𝑎𝑏</m:t>
                          </m:r>
                          <m:r>
                            <m:rPr>
                              <m:nor/>
                            </m:rPr>
                            <a:rPr lang="en-US">
                              <a:latin typeface="Cambria Math" panose="02040503050406030204" pitchFamily="18" charset="0"/>
                            </a:rPr>
                            <m:t>=</m:t>
                          </m:r>
                          <m:r>
                            <m:rPr>
                              <m:nor/>
                            </m:rPr>
                            <a:rPr lang="en-US" b="1">
                              <a:solidFill>
                                <a:srgbClr val="00B050"/>
                              </a:solidFill>
                              <a:latin typeface="Cambria Math" panose="02040503050406030204" pitchFamily="18" charset="0"/>
                            </a:rPr>
                            <m:t>5.7104</m:t>
                          </m:r>
                          <m:r>
                            <m:rPr>
                              <m:nor/>
                            </m:rPr>
                            <a:rPr lang="en-US">
                              <a:latin typeface="Cambria Math" panose="02040503050406030204" pitchFamily="18" charset="0"/>
                            </a:rPr>
                            <m:t>}</m:t>
                          </m:r>
                        </m:e>
                      </m:d>
                      <m:r>
                        <a:rPr lang="en-US" i="1">
                          <a:latin typeface="Cambria Math"/>
                          <a:ea typeface="Cambria Math"/>
                        </a:rPr>
                        <m:t>= </m:t>
                      </m:r>
                      <m:rad>
                        <m:radPr>
                          <m:degHide m:val="on"/>
                          <m:ctrlPr>
                            <a:rPr lang="en-US" i="1">
                              <a:latin typeface="Cambria Math" panose="02040503050406030204" pitchFamily="18" charset="0"/>
                              <a:ea typeface="Cambria Math"/>
                            </a:rPr>
                          </m:ctrlPr>
                        </m:radPr>
                        <m:deg/>
                        <m:e>
                          <m:r>
                            <a:rPr lang="en-US" i="1">
                              <a:latin typeface="Cambria Math" panose="02040503050406030204" pitchFamily="18" charset="0"/>
                              <a:ea typeface="Cambria Math"/>
                            </a:rPr>
                            <m:t>.0042</m:t>
                          </m:r>
                        </m:e>
                      </m:rad>
                      <m:r>
                        <a:rPr lang="en-US" i="1">
                          <a:latin typeface="Cambria Math" panose="02040503050406030204" pitchFamily="18" charset="0"/>
                          <a:ea typeface="Cambria Math"/>
                        </a:rPr>
                        <m:t>=</m:t>
                      </m:r>
                      <m:r>
                        <a:rPr lang="en-US" i="1">
                          <a:latin typeface="Cambria Math"/>
                          <a:ea typeface="Cambria Math"/>
                        </a:rPr>
                        <m:t>.0</m:t>
                      </m:r>
                      <m:r>
                        <a:rPr lang="en-US" i="1">
                          <a:latin typeface="Cambria Math" panose="02040503050406030204" pitchFamily="18" charset="0"/>
                          <a:ea typeface="Cambria Math"/>
                        </a:rPr>
                        <m:t>6509</m:t>
                      </m:r>
                    </m:oMath>
                  </m:oMathPara>
                </a14:m>
                <a:endParaRPr lang="en-US" dirty="0"/>
              </a:p>
            </p:txBody>
          </p:sp>
        </mc:Choice>
        <mc:Fallback xmlns="">
          <p:sp>
            <p:nvSpPr>
              <p:cNvPr id="9" name="TextBox 8"/>
              <p:cNvSpPr txBox="1">
                <a:spLocks noRot="1" noChangeAspect="1" noMove="1" noResize="1" noEditPoints="1" noAdjustHandles="1" noChangeArrowheads="1" noChangeShapeType="1" noTextEdit="1"/>
              </p:cNvSpPr>
              <p:nvPr/>
            </p:nvSpPr>
            <p:spPr>
              <a:xfrm>
                <a:off x="1670898" y="4544323"/>
                <a:ext cx="8192820" cy="679289"/>
              </a:xfrm>
              <a:prstGeom prst="rect">
                <a:avLst/>
              </a:prstGeom>
              <a:blipFill>
                <a:blip r:embed="rId7"/>
                <a:stretch>
                  <a:fillRect b="-9091"/>
                </a:stretch>
              </a:blipFill>
            </p:spPr>
            <p:txBody>
              <a:bodyPr/>
              <a:lstStyle/>
              <a:p>
                <a:r>
                  <a:rPr lang="en-US">
                    <a:noFill/>
                  </a:rPr>
                  <a:t> </a:t>
                </a:r>
              </a:p>
            </p:txBody>
          </p:sp>
        </mc:Fallback>
      </mc:AlternateContent>
      <p:sp>
        <p:nvSpPr>
          <p:cNvPr id="13" name="Rectangle 12"/>
          <p:cNvSpPr/>
          <p:nvPr/>
        </p:nvSpPr>
        <p:spPr>
          <a:xfrm>
            <a:off x="8808029" y="4907637"/>
            <a:ext cx="1038756" cy="27660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16" name="TextBox 15"/>
              <p:cNvSpPr txBox="1"/>
              <p:nvPr/>
            </p:nvSpPr>
            <p:spPr>
              <a:xfrm>
                <a:off x="4334032" y="5135719"/>
                <a:ext cx="5038568" cy="1754326"/>
              </a:xfrm>
              <a:prstGeom prst="rect">
                <a:avLst/>
              </a:prstGeom>
              <a:noFill/>
            </p:spPr>
            <p:txBody>
              <a:bodyPr wrap="square" rtlCol="0">
                <a:spAutoFit/>
              </a:bodyPr>
              <a:lstStyle/>
              <a:p>
                <a:r>
                  <a:rPr lang="en-US" b="1" dirty="0">
                    <a:solidFill>
                      <a:srgbClr val="FF0000"/>
                    </a:solidFill>
                  </a:rPr>
                  <a:t>df = 92 (n=95)</a:t>
                </a:r>
              </a:p>
              <a:p>
                <a:r>
                  <a:rPr lang="en-US" b="1" dirty="0">
                    <a:solidFill>
                      <a:srgbClr val="FF0000"/>
                    </a:solidFill>
                  </a:rPr>
                  <a:t>MOE = t</a:t>
                </a:r>
                <a:r>
                  <a:rPr lang="en-US" b="1" baseline="-25000" dirty="0">
                    <a:solidFill>
                      <a:srgbClr val="FF0000"/>
                    </a:solidFill>
                  </a:rPr>
                  <a:t>92,.975</a:t>
                </a:r>
                <a:r>
                  <a:rPr lang="en-US" b="1" dirty="0">
                    <a:solidFill>
                      <a:srgbClr val="FF0000"/>
                    </a:solidFill>
                  </a:rPr>
                  <a:t> * </a:t>
                </a:r>
                <a14:m>
                  <m:oMath xmlns:m="http://schemas.openxmlformats.org/officeDocument/2006/math">
                    <m:r>
                      <a:rPr lang="en-US" sz="1400" b="1" i="1">
                        <a:solidFill>
                          <a:srgbClr val="FF0000"/>
                        </a:solidFill>
                        <a:latin typeface="Cambria Math" panose="02040503050406030204" pitchFamily="18" charset="0"/>
                      </a:rPr>
                      <m:t>𝑺𝑬</m:t>
                    </m:r>
                  </m:oMath>
                </a14:m>
                <a:endParaRPr lang="en-US" b="1" dirty="0">
                  <a:solidFill>
                    <a:srgbClr val="FF0000"/>
                  </a:solidFill>
                </a:endParaRPr>
              </a:p>
              <a:p>
                <a:r>
                  <a:rPr lang="en-US" b="1" dirty="0">
                    <a:solidFill>
                      <a:srgbClr val="FF0000"/>
                    </a:solidFill>
                  </a:rPr>
                  <a:t>MOE = 1.986 * .06509</a:t>
                </a:r>
              </a:p>
              <a:p>
                <a:r>
                  <a:rPr lang="en-US" b="1" dirty="0">
                    <a:solidFill>
                      <a:srgbClr val="FF0000"/>
                    </a:solidFill>
                  </a:rPr>
                  <a:t>MOE = 0.129</a:t>
                </a:r>
              </a:p>
              <a:p>
                <a:r>
                  <a:rPr lang="en-US" b="1" dirty="0">
                    <a:solidFill>
                      <a:srgbClr val="FF0000"/>
                    </a:solidFill>
                  </a:rPr>
                  <a:t>95% CI:  (2.404 ± 0.129) </a:t>
                </a:r>
              </a:p>
              <a:p>
                <a:r>
                  <a:rPr lang="en-US" b="1" dirty="0">
                    <a:solidFill>
                      <a:srgbClr val="FF0000"/>
                    </a:solidFill>
                  </a:rPr>
                  <a:t>95% CI:  (2.275, 2.533)</a:t>
                </a:r>
              </a:p>
            </p:txBody>
          </p:sp>
        </mc:Choice>
        <mc:Fallback xmlns="">
          <p:sp>
            <p:nvSpPr>
              <p:cNvPr id="16" name="TextBox 15"/>
              <p:cNvSpPr txBox="1">
                <a:spLocks noRot="1" noChangeAspect="1" noMove="1" noResize="1" noEditPoints="1" noAdjustHandles="1" noChangeArrowheads="1" noChangeShapeType="1" noTextEdit="1"/>
              </p:cNvSpPr>
              <p:nvPr/>
            </p:nvSpPr>
            <p:spPr>
              <a:xfrm>
                <a:off x="4334032" y="5135719"/>
                <a:ext cx="5038568" cy="1754326"/>
              </a:xfrm>
              <a:prstGeom prst="rect">
                <a:avLst/>
              </a:prstGeom>
              <a:blipFill>
                <a:blip r:embed="rId8"/>
                <a:stretch>
                  <a:fillRect l="-1005" t="-1439" b="-5036"/>
                </a:stretch>
              </a:blipFill>
            </p:spPr>
            <p:txBody>
              <a:bodyPr/>
              <a:lstStyle/>
              <a:p>
                <a:r>
                  <a:rPr lang="en-US">
                    <a:noFill/>
                  </a:rPr>
                  <a:t> </a:t>
                </a:r>
              </a:p>
            </p:txBody>
          </p:sp>
        </mc:Fallback>
      </mc:AlternateContent>
      <p:sp>
        <p:nvSpPr>
          <p:cNvPr id="12" name="TextBox 11"/>
          <p:cNvSpPr txBox="1"/>
          <p:nvPr/>
        </p:nvSpPr>
        <p:spPr>
          <a:xfrm>
            <a:off x="-152400" y="323398"/>
            <a:ext cx="12482592" cy="369332"/>
          </a:xfrm>
          <a:prstGeom prst="rect">
            <a:avLst/>
          </a:prstGeom>
          <a:noFill/>
        </p:spPr>
        <p:txBody>
          <a:bodyPr wrap="square" rtlCol="0">
            <a:spAutoFit/>
          </a:bodyPr>
          <a:lstStyle/>
          <a:p>
            <a:pPr algn="ctr"/>
            <a:r>
              <a:rPr lang="en-US" dirty="0"/>
              <a:t>Find a </a:t>
            </a:r>
            <a:r>
              <a:rPr lang="en-US" b="1" dirty="0">
                <a:solidFill>
                  <a:srgbClr val="00B050"/>
                </a:solidFill>
              </a:rPr>
              <a:t>95% confidence interval</a:t>
            </a:r>
            <a:r>
              <a:rPr lang="en-US" dirty="0">
                <a:solidFill>
                  <a:srgbClr val="00B050"/>
                </a:solidFill>
              </a:rPr>
              <a:t> </a:t>
            </a:r>
            <a:r>
              <a:rPr lang="en-US" dirty="0"/>
              <a:t>for the expected log lifespan of the Echidna given its log metabolism and its log mass.  </a:t>
            </a:r>
          </a:p>
        </p:txBody>
      </p:sp>
      <p:sp>
        <p:nvSpPr>
          <p:cNvPr id="17" name="Rectangle 16"/>
          <p:cNvSpPr/>
          <p:nvPr/>
        </p:nvSpPr>
        <p:spPr>
          <a:xfrm>
            <a:off x="5181601" y="6553201"/>
            <a:ext cx="1396963" cy="265551"/>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p:cNvSpPr txBox="1"/>
          <p:nvPr/>
        </p:nvSpPr>
        <p:spPr>
          <a:xfrm>
            <a:off x="8448785" y="5103819"/>
            <a:ext cx="1795800" cy="369332"/>
          </a:xfrm>
          <a:prstGeom prst="rect">
            <a:avLst/>
          </a:prstGeom>
          <a:noFill/>
        </p:spPr>
        <p:txBody>
          <a:bodyPr wrap="square" rtlCol="0">
            <a:spAutoFit/>
          </a:bodyPr>
          <a:lstStyle/>
          <a:p>
            <a:r>
              <a:rPr lang="en-US" dirty="0"/>
              <a:t>Remember this!</a:t>
            </a:r>
          </a:p>
        </p:txBody>
      </p:sp>
      <p:sp>
        <p:nvSpPr>
          <p:cNvPr id="18" name="TextBox 17"/>
          <p:cNvSpPr txBox="1"/>
          <p:nvPr/>
        </p:nvSpPr>
        <p:spPr>
          <a:xfrm>
            <a:off x="6612430" y="6472373"/>
            <a:ext cx="1795800" cy="369332"/>
          </a:xfrm>
          <a:prstGeom prst="rect">
            <a:avLst/>
          </a:prstGeom>
          <a:noFill/>
        </p:spPr>
        <p:txBody>
          <a:bodyPr wrap="square" rtlCol="0">
            <a:spAutoFit/>
          </a:bodyPr>
          <a:lstStyle/>
          <a:p>
            <a:r>
              <a:rPr lang="en-US" dirty="0"/>
              <a:t>Remember this!</a:t>
            </a:r>
          </a:p>
        </p:txBody>
      </p:sp>
      <p:pic>
        <p:nvPicPr>
          <p:cNvPr id="14" name="Picture 13">
            <a:extLst>
              <a:ext uri="{FF2B5EF4-FFF2-40B4-BE49-F238E27FC236}">
                <a16:creationId xmlns:a16="http://schemas.microsoft.com/office/drawing/2014/main" id="{45991E46-28A1-4570-9FF4-C9C1691CA835}"/>
              </a:ext>
            </a:extLst>
          </p:cNvPr>
          <p:cNvPicPr>
            <a:picLocks noChangeAspect="1"/>
          </p:cNvPicPr>
          <p:nvPr/>
        </p:nvPicPr>
        <p:blipFill>
          <a:blip r:embed="rId9"/>
          <a:stretch>
            <a:fillRect/>
          </a:stretch>
        </p:blipFill>
        <p:spPr>
          <a:xfrm>
            <a:off x="6048710" y="2438400"/>
            <a:ext cx="3857291" cy="1238580"/>
          </a:xfrm>
          <a:prstGeom prst="rect">
            <a:avLst/>
          </a:prstGeom>
        </p:spPr>
      </p:pic>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76CB3234-2A87-4834-83F0-0CCB985B52D1}"/>
                  </a:ext>
                </a:extLst>
              </p:cNvPr>
              <p:cNvSpPr/>
              <p:nvPr/>
            </p:nvSpPr>
            <p:spPr>
              <a:xfrm>
                <a:off x="1681785" y="595461"/>
                <a:ext cx="7972091"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ea typeface="Cambria Math" panose="02040503050406030204" pitchFamily="18" charset="0"/>
                        </a:rPr>
                        <m:t>𝜇</m:t>
                      </m:r>
                      <m:d>
                        <m:dPr>
                          <m:begChr m:val="{"/>
                          <m:endChr m:val="}"/>
                          <m:ctrlPr>
                            <a:rPr lang="en-US" i="1">
                              <a:latin typeface="Cambria Math" panose="02040503050406030204" pitchFamily="18" charset="0"/>
                              <a:ea typeface="Cambria Math" panose="02040503050406030204" pitchFamily="18" charset="0"/>
                            </a:rPr>
                          </m:ctrlPr>
                        </m:dPr>
                        <m:e>
                          <m:func>
                            <m:funcPr>
                              <m:ctrlPr>
                                <a:rPr lang="en-US" i="1">
                                  <a:latin typeface="Cambria Math" panose="02040503050406030204" pitchFamily="18" charset="0"/>
                                </a:rPr>
                              </m:ctrlPr>
                            </m:funcPr>
                            <m:fName>
                              <m:r>
                                <m:rPr>
                                  <m:sty m:val="p"/>
                                </m:rPr>
                                <a:rPr lang="en-US">
                                  <a:latin typeface="Cambria Math"/>
                                </a:rPr>
                                <m:t>log</m:t>
                              </m:r>
                            </m:fName>
                            <m:e>
                              <m:d>
                                <m:dPr>
                                  <m:ctrlPr>
                                    <a:rPr lang="en-US" i="1">
                                      <a:latin typeface="Cambria Math" panose="02040503050406030204" pitchFamily="18" charset="0"/>
                                    </a:rPr>
                                  </m:ctrlPr>
                                </m:dPr>
                                <m:e>
                                  <m:r>
                                    <a:rPr lang="en-US" i="1">
                                      <a:latin typeface="Cambria Math"/>
                                    </a:rPr>
                                    <m:t>𝑙𝑖𝑓𝑒</m:t>
                                  </m:r>
                                </m:e>
                              </m:d>
                            </m:e>
                          </m:func>
                        </m:e>
                      </m:d>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1</m:t>
                          </m:r>
                        </m:sub>
                      </m:sSub>
                      <m:r>
                        <m:rPr>
                          <m:sty m:val="p"/>
                        </m:rPr>
                        <a:rPr lang="en-US">
                          <a:latin typeface="Cambria Math"/>
                        </a:rPr>
                        <m:t>log</m:t>
                      </m:r>
                      <m:r>
                        <a:rPr lang="en-US" i="1">
                          <a:latin typeface="Cambria Math"/>
                        </a:rPr>
                        <m:t>⁡(</m:t>
                      </m:r>
                      <m:r>
                        <a:rPr lang="en-US" i="1">
                          <a:latin typeface="Cambria Math"/>
                        </a:rPr>
                        <m:t>𝑚𝑒𝑡𝑎𝑏</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panose="02040503050406030204" pitchFamily="18" charset="0"/>
                              <a:ea typeface="Cambria Math"/>
                            </a:rPr>
                            <m:t>2</m:t>
                          </m:r>
                        </m:sub>
                      </m:sSub>
                      <m:r>
                        <m:rPr>
                          <m:sty m:val="p"/>
                        </m:rPr>
                        <a:rPr lang="en-US">
                          <a:latin typeface="Cambria Math"/>
                        </a:rPr>
                        <m:t>log</m:t>
                      </m:r>
                      <m:r>
                        <a:rPr lang="en-US" i="1">
                          <a:latin typeface="Cambria Math"/>
                        </a:rPr>
                        <m:t>⁡(</m:t>
                      </m:r>
                      <m:r>
                        <a:rPr lang="en-US" i="1">
                          <a:latin typeface="Cambria Math"/>
                        </a:rPr>
                        <m:t>𝑚𝑎𝑠𝑠</m:t>
                      </m:r>
                      <m:r>
                        <a:rPr lang="en-US" i="1">
                          <a:latin typeface="Cambria Math"/>
                        </a:rPr>
                        <m:t>)</m:t>
                      </m:r>
                    </m:oMath>
                  </m:oMathPara>
                </a14:m>
                <a:endParaRPr lang="en-US" dirty="0"/>
              </a:p>
            </p:txBody>
          </p:sp>
        </mc:Choice>
        <mc:Fallback xmlns="">
          <p:sp>
            <p:nvSpPr>
              <p:cNvPr id="5" name="Rectangle 4">
                <a:extLst>
                  <a:ext uri="{FF2B5EF4-FFF2-40B4-BE49-F238E27FC236}">
                    <a16:creationId xmlns:a16="http://schemas.microsoft.com/office/drawing/2014/main" id="{76CB3234-2A87-4834-83F0-0CCB985B52D1}"/>
                  </a:ext>
                </a:extLst>
              </p:cNvPr>
              <p:cNvSpPr>
                <a:spLocks noRot="1" noChangeAspect="1" noMove="1" noResize="1" noEditPoints="1" noAdjustHandles="1" noChangeArrowheads="1" noChangeShapeType="1" noTextEdit="1"/>
              </p:cNvSpPr>
              <p:nvPr/>
            </p:nvSpPr>
            <p:spPr>
              <a:xfrm>
                <a:off x="1681785" y="595461"/>
                <a:ext cx="7972091" cy="369332"/>
              </a:xfrm>
              <a:prstGeom prst="rect">
                <a:avLst/>
              </a:prstGeom>
              <a:blipFill>
                <a:blip r:embed="rId10"/>
                <a:stretch>
                  <a:fillRect b="-20690"/>
                </a:stretch>
              </a:blipFill>
            </p:spPr>
            <p:txBody>
              <a:bodyPr/>
              <a:lstStyle/>
              <a:p>
                <a:r>
                  <a:rPr lang="en-US">
                    <a:noFill/>
                  </a:rPr>
                  <a:t> </a:t>
                </a:r>
              </a:p>
            </p:txBody>
          </p:sp>
        </mc:Fallback>
      </mc:AlternateContent>
    </p:spTree>
    <p:extLst>
      <p:ext uri="{BB962C8B-B14F-4D97-AF65-F5344CB8AC3E}">
        <p14:creationId xmlns:p14="http://schemas.microsoft.com/office/powerpoint/2010/main" val="2217099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500"/>
                                        <p:tgtEl>
                                          <p:spTgt spid="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500"/>
                                        <p:tgtEl>
                                          <p:spTgt spid="3"/>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fade">
                                      <p:cBhvr>
                                        <p:cTn id="46" dur="5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0" grpId="0"/>
      <p:bldP spid="11" grpId="0"/>
      <p:bldP spid="9" grpId="0"/>
      <p:bldP spid="13" grpId="0" animBg="1"/>
      <p:bldP spid="16" grpId="0"/>
      <p:bldP spid="17" grpId="0" animBg="1"/>
      <p:bldP spid="3" grpId="0"/>
      <p:bldP spid="18" grpId="0"/>
      <p:bldP spid="5" grpId="0"/>
    </p:bld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A2B5E96F-B748-BE40-9B53-70F0178F6E05}"/>
              </a:ext>
            </a:extLst>
          </p:cNvPr>
          <p:cNvPicPr>
            <a:picLocks noChangeAspect="1"/>
          </p:cNvPicPr>
          <p:nvPr/>
        </p:nvPicPr>
        <p:blipFill>
          <a:blip r:embed="rId3"/>
          <a:stretch>
            <a:fillRect/>
          </a:stretch>
        </p:blipFill>
        <p:spPr>
          <a:xfrm>
            <a:off x="410630" y="1016753"/>
            <a:ext cx="11247969" cy="635000"/>
          </a:xfrm>
          <a:prstGeom prst="rect">
            <a:avLst/>
          </a:prstGeom>
        </p:spPr>
      </p:pic>
      <p:pic>
        <p:nvPicPr>
          <p:cNvPr id="5" name="Picture 4">
            <a:extLst>
              <a:ext uri="{FF2B5EF4-FFF2-40B4-BE49-F238E27FC236}">
                <a16:creationId xmlns:a16="http://schemas.microsoft.com/office/drawing/2014/main" id="{4DC27DC7-AABF-4B08-BC38-A02FADA99ECC}"/>
              </a:ext>
            </a:extLst>
          </p:cNvPr>
          <p:cNvPicPr>
            <a:picLocks noChangeAspect="1"/>
          </p:cNvPicPr>
          <p:nvPr/>
        </p:nvPicPr>
        <p:blipFill>
          <a:blip r:embed="rId4"/>
          <a:stretch>
            <a:fillRect/>
          </a:stretch>
        </p:blipFill>
        <p:spPr>
          <a:xfrm>
            <a:off x="5498637" y="4398874"/>
            <a:ext cx="4920507" cy="1793935"/>
          </a:xfrm>
          <a:prstGeom prst="rect">
            <a:avLst/>
          </a:prstGeom>
        </p:spPr>
      </p:pic>
      <p:pic>
        <p:nvPicPr>
          <p:cNvPr id="4" name="Picture 3">
            <a:extLst>
              <a:ext uri="{FF2B5EF4-FFF2-40B4-BE49-F238E27FC236}">
                <a16:creationId xmlns:a16="http://schemas.microsoft.com/office/drawing/2014/main" id="{1C7C3E1D-A766-48A0-863B-43209DDDA446}"/>
              </a:ext>
            </a:extLst>
          </p:cNvPr>
          <p:cNvPicPr>
            <a:picLocks noChangeAspect="1"/>
          </p:cNvPicPr>
          <p:nvPr/>
        </p:nvPicPr>
        <p:blipFill>
          <a:blip r:embed="rId5"/>
          <a:stretch>
            <a:fillRect/>
          </a:stretch>
        </p:blipFill>
        <p:spPr>
          <a:xfrm>
            <a:off x="536310" y="2186721"/>
            <a:ext cx="2400300" cy="819150"/>
          </a:xfrm>
          <a:prstGeom prst="rect">
            <a:avLst/>
          </a:prstGeom>
        </p:spPr>
      </p:pic>
      <p:sp>
        <p:nvSpPr>
          <p:cNvPr id="17" name="Title 1">
            <a:extLst>
              <a:ext uri="{FF2B5EF4-FFF2-40B4-BE49-F238E27FC236}">
                <a16:creationId xmlns:a16="http://schemas.microsoft.com/office/drawing/2014/main" id="{D99721F7-9765-4E21-AFD2-42352500DAAA}"/>
              </a:ext>
            </a:extLst>
          </p:cNvPr>
          <p:cNvSpPr txBox="1">
            <a:spLocks/>
          </p:cNvSpPr>
          <p:nvPr/>
        </p:nvSpPr>
        <p:spPr>
          <a:xfrm>
            <a:off x="2247900" y="454536"/>
            <a:ext cx="8229600" cy="639762"/>
          </a:xfrm>
          <a:prstGeom prst="rect">
            <a:avLst/>
          </a:prstGeom>
        </p:spPr>
        <p:txBody>
          <a:bodyPr vert="horz" lIns="91440" tIns="45720" rIns="91440" bIns="45720" rtlCol="0" anchor="ctr">
            <a:normAutofit fontScale="450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dirty="0"/>
              <a:t>Example: Metabolism Study</a:t>
            </a:r>
            <a:br>
              <a:rPr lang="en-US" dirty="0"/>
            </a:br>
            <a:r>
              <a:rPr lang="en-US" dirty="0"/>
              <a:t>Re-centering method</a:t>
            </a:r>
          </a:p>
        </p:txBody>
      </p:sp>
      <p:sp>
        <p:nvSpPr>
          <p:cNvPr id="18" name="TextBox 17">
            <a:extLst>
              <a:ext uri="{FF2B5EF4-FFF2-40B4-BE49-F238E27FC236}">
                <a16:creationId xmlns:a16="http://schemas.microsoft.com/office/drawing/2014/main" id="{9CB4111F-FC09-4667-9B51-244BAB1251EA}"/>
              </a:ext>
            </a:extLst>
          </p:cNvPr>
          <p:cNvSpPr txBox="1"/>
          <p:nvPr/>
        </p:nvSpPr>
        <p:spPr>
          <a:xfrm>
            <a:off x="0" y="317365"/>
            <a:ext cx="4495800" cy="923330"/>
          </a:xfrm>
          <a:prstGeom prst="rect">
            <a:avLst/>
          </a:prstGeom>
          <a:noFill/>
        </p:spPr>
        <p:txBody>
          <a:bodyPr wrap="square" rtlCol="0">
            <a:spAutoFit/>
          </a:bodyPr>
          <a:lstStyle/>
          <a:p>
            <a:pPr algn="ctr"/>
            <a:r>
              <a:rPr lang="en-US" dirty="0"/>
              <a:t>Find a 95% confidence interval for the expected log lifespan of the Echidna given its log metabolism and its log mass.  </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FA920BB-A1A1-40D1-B7A5-B40D02EA1839}"/>
                  </a:ext>
                </a:extLst>
              </p:cNvPr>
              <p:cNvSpPr txBox="1"/>
              <p:nvPr/>
            </p:nvSpPr>
            <p:spPr>
              <a:xfrm>
                <a:off x="3008640" y="1323518"/>
                <a:ext cx="6342185" cy="338554"/>
              </a:xfrm>
              <a:prstGeom prst="rect">
                <a:avLst/>
              </a:prstGeom>
              <a:noFill/>
            </p:spPr>
            <p:txBody>
              <a:bodyPr wrap="none" rtlCol="0">
                <a:spAutoFit/>
              </a:bodyPr>
              <a:lstStyle/>
              <a:p>
                <a:r>
                  <a:rPr lang="en-US" sz="1600" dirty="0"/>
                  <a:t>Want a 95% CI for</a:t>
                </a:r>
                <a14:m>
                  <m:oMath xmlns:m="http://schemas.openxmlformats.org/officeDocument/2006/math">
                    <m:r>
                      <m:rPr>
                        <m:nor/>
                      </m:rPr>
                      <a:rPr lang="en-US" sz="1600">
                        <a:latin typeface="Cambria Math" panose="02040503050406030204" pitchFamily="18" charset="0"/>
                        <a:ea typeface="Cambria Math" panose="02040503050406030204" pitchFamily="18" charset="0"/>
                      </a:rPr>
                      <m:t>𝜇</m:t>
                    </m:r>
                    <m:r>
                      <m:rPr>
                        <m:nor/>
                      </m:rPr>
                      <a:rPr lang="en-US" sz="1600">
                        <a:latin typeface="Cambria Math" panose="02040503050406030204" pitchFamily="18" charset="0"/>
                        <a:ea typeface="Cambria Math" panose="02040503050406030204" pitchFamily="18" charset="0"/>
                      </a:rPr>
                      <m:t>{</m:t>
                    </m:r>
                    <m:r>
                      <m:rPr>
                        <m:nor/>
                      </m:rPr>
                      <a:rPr lang="en-US" sz="1600">
                        <a:latin typeface="Cambria Math"/>
                      </a:rPr>
                      <m:t>log</m:t>
                    </m:r>
                    <m:r>
                      <m:rPr>
                        <m:nor/>
                      </m:rPr>
                      <a:rPr lang="en-US" sz="1600">
                        <a:latin typeface="Cambria Math" panose="02040503050406030204" pitchFamily="18" charset="0"/>
                      </a:rPr>
                      <m:t>(</m:t>
                    </m:r>
                    <m:r>
                      <m:rPr>
                        <m:nor/>
                      </m:rPr>
                      <a:rPr lang="en-US" sz="1600">
                        <a:latin typeface="Cambria Math"/>
                      </a:rPr>
                      <m:t>𝑙𝑖𝑓𝑒</m:t>
                    </m:r>
                    <m:r>
                      <m:rPr>
                        <m:nor/>
                      </m:rPr>
                      <a:rPr lang="en-US" sz="1600">
                        <a:latin typeface="Cambria Math" panose="02040503050406030204" pitchFamily="18" charset="0"/>
                      </a:rPr>
                      <m:t>) |</m:t>
                    </m:r>
                    <m:r>
                      <m:rPr>
                        <m:nor/>
                      </m:rPr>
                      <a:rPr lang="en-US" sz="1600">
                        <a:latin typeface="Cambria Math" panose="02040503050406030204" pitchFamily="18" charset="0"/>
                      </a:rPr>
                      <m:t>𝑙𝑜𝑔𝑚𝑎𝑠𝑠</m:t>
                    </m:r>
                    <m:r>
                      <m:rPr>
                        <m:nor/>
                      </m:rPr>
                      <a:rPr lang="en-US" sz="1600">
                        <a:latin typeface="Cambria Math" panose="02040503050406030204" pitchFamily="18" charset="0"/>
                      </a:rPr>
                      <m:t>=</m:t>
                    </m:r>
                    <m:r>
                      <m:rPr>
                        <m:nor/>
                      </m:rPr>
                      <a:rPr lang="en-US" sz="1600" b="1">
                        <a:solidFill>
                          <a:srgbClr val="7030A0"/>
                        </a:solidFill>
                        <a:latin typeface="Cambria Math" panose="02040503050406030204" pitchFamily="18" charset="0"/>
                      </a:rPr>
                      <m:t>.91629</m:t>
                    </m:r>
                    <m:r>
                      <m:rPr>
                        <m:nor/>
                      </m:rPr>
                      <a:rPr lang="en-US" sz="1600">
                        <a:latin typeface="Cambria Math" panose="02040503050406030204" pitchFamily="18" charset="0"/>
                      </a:rPr>
                      <m:t>, </m:t>
                    </m:r>
                    <m:r>
                      <m:rPr>
                        <m:nor/>
                      </m:rPr>
                      <a:rPr lang="en-US" sz="1600">
                        <a:latin typeface="Cambria Math" panose="02040503050406030204" pitchFamily="18" charset="0"/>
                      </a:rPr>
                      <m:t>𝑙𝑜𝑔𝑚𝑒𝑡𝑎𝑏</m:t>
                    </m:r>
                    <m:r>
                      <m:rPr>
                        <m:nor/>
                      </m:rPr>
                      <a:rPr lang="en-US" sz="1600">
                        <a:latin typeface="Cambria Math" panose="02040503050406030204" pitchFamily="18" charset="0"/>
                      </a:rPr>
                      <m:t>=</m:t>
                    </m:r>
                    <m:r>
                      <m:rPr>
                        <m:nor/>
                      </m:rPr>
                      <a:rPr lang="en-US" sz="1600" b="1">
                        <a:solidFill>
                          <a:srgbClr val="00B050"/>
                        </a:solidFill>
                        <a:latin typeface="Cambria Math" panose="02040503050406030204" pitchFamily="18" charset="0"/>
                      </a:rPr>
                      <m:t>5.7104</m:t>
                    </m:r>
                    <m:r>
                      <m:rPr>
                        <m:nor/>
                      </m:rPr>
                      <a:rPr lang="en-US" sz="1600">
                        <a:latin typeface="Cambria Math" panose="02040503050406030204" pitchFamily="18" charset="0"/>
                      </a:rPr>
                      <m:t>}</m:t>
                    </m:r>
                  </m:oMath>
                </a14:m>
                <a:r>
                  <a:rPr lang="en-US" sz="1600" dirty="0"/>
                  <a:t>.</a:t>
                </a:r>
              </a:p>
            </p:txBody>
          </p:sp>
        </mc:Choice>
        <mc:Fallback xmlns="">
          <p:sp>
            <p:nvSpPr>
              <p:cNvPr id="19" name="TextBox 18">
                <a:extLst>
                  <a:ext uri="{FF2B5EF4-FFF2-40B4-BE49-F238E27FC236}">
                    <a16:creationId xmlns:a16="http://schemas.microsoft.com/office/drawing/2014/main" id="{AFA920BB-A1A1-40D1-B7A5-B40D02EA1839}"/>
                  </a:ext>
                </a:extLst>
              </p:cNvPr>
              <p:cNvSpPr txBox="1">
                <a:spLocks noRot="1" noChangeAspect="1" noMove="1" noResize="1" noEditPoints="1" noAdjustHandles="1" noChangeArrowheads="1" noChangeShapeType="1" noTextEdit="1"/>
              </p:cNvSpPr>
              <p:nvPr/>
            </p:nvSpPr>
            <p:spPr>
              <a:xfrm>
                <a:off x="3008640" y="1323518"/>
                <a:ext cx="6342185" cy="338554"/>
              </a:xfrm>
              <a:prstGeom prst="rect">
                <a:avLst/>
              </a:prstGeom>
              <a:blipFill>
                <a:blip r:embed="rId6"/>
                <a:stretch>
                  <a:fillRect l="-600" t="-7143" b="-21429"/>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315518F7-0D13-4094-AF56-6D340E26A56D}"/>
              </a:ext>
            </a:extLst>
          </p:cNvPr>
          <p:cNvSpPr txBox="1"/>
          <p:nvPr/>
        </p:nvSpPr>
        <p:spPr>
          <a:xfrm>
            <a:off x="990600" y="1664150"/>
            <a:ext cx="9692669" cy="369332"/>
          </a:xfrm>
          <a:prstGeom prst="rect">
            <a:avLst/>
          </a:prstGeom>
          <a:noFill/>
        </p:spPr>
        <p:txBody>
          <a:bodyPr wrap="square" rtlCol="0">
            <a:spAutoFit/>
          </a:bodyPr>
          <a:lstStyle/>
          <a:p>
            <a:r>
              <a:rPr lang="en-US" dirty="0"/>
              <a:t>Create new variables so that the values of independent variables of interest will equal 0.</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4609E5F-42FF-48AC-B778-ACA7E2884FB4}"/>
                  </a:ext>
                </a:extLst>
              </p:cNvPr>
              <p:cNvSpPr txBox="1"/>
              <p:nvPr/>
            </p:nvSpPr>
            <p:spPr>
              <a:xfrm>
                <a:off x="1599343" y="2895600"/>
                <a:ext cx="8731365" cy="338554"/>
              </a:xfrm>
              <a:prstGeom prst="rect">
                <a:avLst/>
              </a:prstGeom>
              <a:noFill/>
            </p:spPr>
            <p:txBody>
              <a:bodyPr wrap="none" rtlCol="0">
                <a:spAutoFit/>
              </a:bodyPr>
              <a:lstStyle/>
              <a:p>
                <a:r>
                  <a:rPr lang="en-US" sz="1600" dirty="0"/>
                  <a:t>So, </a:t>
                </a:r>
                <a14:m>
                  <m:oMath xmlns:m="http://schemas.openxmlformats.org/officeDocument/2006/math">
                    <m:r>
                      <m:rPr>
                        <m:nor/>
                      </m:rPr>
                      <a:rPr lang="en-US" sz="1600">
                        <a:latin typeface="Cambria Math" panose="02040503050406030204" pitchFamily="18" charset="0"/>
                        <a:ea typeface="Cambria Math" panose="02040503050406030204" pitchFamily="18" charset="0"/>
                      </a:rPr>
                      <m:t>𝜇</m:t>
                    </m:r>
                    <m:r>
                      <m:rPr>
                        <m:nor/>
                      </m:rPr>
                      <a:rPr lang="en-US" sz="1600">
                        <a:latin typeface="Cambria Math" panose="02040503050406030204" pitchFamily="18" charset="0"/>
                        <a:ea typeface="Cambria Math" panose="02040503050406030204" pitchFamily="18" charset="0"/>
                      </a:rPr>
                      <m:t>{</m:t>
                    </m:r>
                    <m:r>
                      <m:rPr>
                        <m:nor/>
                      </m:rPr>
                      <a:rPr lang="en-US" sz="1600">
                        <a:latin typeface="Cambria Math"/>
                      </a:rPr>
                      <m:t>log</m:t>
                    </m:r>
                    <m:r>
                      <m:rPr>
                        <m:nor/>
                      </m:rPr>
                      <a:rPr lang="en-US" sz="1600">
                        <a:latin typeface="Cambria Math" panose="02040503050406030204" pitchFamily="18" charset="0"/>
                      </a:rPr>
                      <m:t>(</m:t>
                    </m:r>
                    <m:r>
                      <m:rPr>
                        <m:nor/>
                      </m:rPr>
                      <a:rPr lang="en-US" sz="1600">
                        <a:latin typeface="Cambria Math"/>
                      </a:rPr>
                      <m:t>𝑙𝑖𝑓𝑒</m:t>
                    </m:r>
                    <m:r>
                      <m:rPr>
                        <m:nor/>
                      </m:rPr>
                      <a:rPr lang="en-US" sz="1600">
                        <a:latin typeface="Cambria Math" panose="02040503050406030204" pitchFamily="18" charset="0"/>
                      </a:rPr>
                      <m:t>) |</m:t>
                    </m:r>
                    <m:r>
                      <m:rPr>
                        <m:nor/>
                      </m:rPr>
                      <a:rPr lang="en-US" sz="1600">
                        <a:latin typeface="Cambria Math" panose="02040503050406030204" pitchFamily="18" charset="0"/>
                      </a:rPr>
                      <m:t>𝑙𝑜𝑔𝑚𝑎𝑠𝑠</m:t>
                    </m:r>
                    <m:r>
                      <m:rPr>
                        <m:nor/>
                      </m:rPr>
                      <a:rPr lang="en-US" sz="1600">
                        <a:latin typeface="Cambria Math" panose="02040503050406030204" pitchFamily="18" charset="0"/>
                      </a:rPr>
                      <m:t>=</m:t>
                    </m:r>
                    <m:r>
                      <m:rPr>
                        <m:nor/>
                      </m:rPr>
                      <a:rPr lang="en-US" sz="1600" b="1">
                        <a:solidFill>
                          <a:srgbClr val="7030A0"/>
                        </a:solidFill>
                        <a:latin typeface="Cambria Math" panose="02040503050406030204" pitchFamily="18" charset="0"/>
                      </a:rPr>
                      <m:t>.91629</m:t>
                    </m:r>
                    <m:r>
                      <m:rPr>
                        <m:nor/>
                      </m:rPr>
                      <a:rPr lang="en-US" sz="1600">
                        <a:latin typeface="Cambria Math" panose="02040503050406030204" pitchFamily="18" charset="0"/>
                      </a:rPr>
                      <m:t>, </m:t>
                    </m:r>
                    <m:r>
                      <m:rPr>
                        <m:nor/>
                      </m:rPr>
                      <a:rPr lang="en-US" sz="1600">
                        <a:latin typeface="Cambria Math" panose="02040503050406030204" pitchFamily="18" charset="0"/>
                      </a:rPr>
                      <m:t>𝑙𝑜𝑔𝑚𝑒𝑡𝑎𝑏</m:t>
                    </m:r>
                    <m:r>
                      <m:rPr>
                        <m:nor/>
                      </m:rPr>
                      <a:rPr lang="en-US" sz="1600">
                        <a:latin typeface="Cambria Math" panose="02040503050406030204" pitchFamily="18" charset="0"/>
                      </a:rPr>
                      <m:t>=</m:t>
                    </m:r>
                    <m:r>
                      <m:rPr>
                        <m:nor/>
                      </m:rPr>
                      <a:rPr lang="en-US" sz="1600" b="1">
                        <a:solidFill>
                          <a:srgbClr val="00B050"/>
                        </a:solidFill>
                        <a:latin typeface="Cambria Math" panose="02040503050406030204" pitchFamily="18" charset="0"/>
                      </a:rPr>
                      <m:t>5.7104</m:t>
                    </m:r>
                    <m:r>
                      <m:rPr>
                        <m:nor/>
                      </m:rPr>
                      <a:rPr lang="en-US" sz="1600">
                        <a:latin typeface="Cambria Math" panose="02040503050406030204" pitchFamily="18" charset="0"/>
                      </a:rPr>
                      <m:t>}=</m:t>
                    </m:r>
                    <m:r>
                      <m:rPr>
                        <m:nor/>
                      </m:rPr>
                      <a:rPr lang="en-US" sz="1600">
                        <a:latin typeface="Cambria Math" panose="02040503050406030204" pitchFamily="18" charset="0"/>
                        <a:ea typeface="Cambria Math" panose="02040503050406030204" pitchFamily="18" charset="0"/>
                      </a:rPr>
                      <m:t>𝜇</m:t>
                    </m:r>
                    <m:r>
                      <m:rPr>
                        <m:nor/>
                      </m:rPr>
                      <a:rPr lang="en-US" sz="1600">
                        <a:latin typeface="Cambria Math" panose="02040503050406030204" pitchFamily="18" charset="0"/>
                        <a:ea typeface="Cambria Math" panose="02040503050406030204" pitchFamily="18" charset="0"/>
                      </a:rPr>
                      <m:t>{</m:t>
                    </m:r>
                    <m:r>
                      <m:rPr>
                        <m:nor/>
                      </m:rPr>
                      <a:rPr lang="en-US" sz="1600">
                        <a:latin typeface="Cambria Math"/>
                      </a:rPr>
                      <m:t>log</m:t>
                    </m:r>
                    <m:r>
                      <m:rPr>
                        <m:nor/>
                      </m:rPr>
                      <a:rPr lang="en-US" sz="1600">
                        <a:latin typeface="Cambria Math" panose="02040503050406030204" pitchFamily="18" charset="0"/>
                      </a:rPr>
                      <m:t>(</m:t>
                    </m:r>
                    <m:r>
                      <m:rPr>
                        <m:nor/>
                      </m:rPr>
                      <a:rPr lang="en-US" sz="1600">
                        <a:latin typeface="Cambria Math"/>
                      </a:rPr>
                      <m:t>𝑙𝑖𝑓𝑒</m:t>
                    </m:r>
                    <m:r>
                      <m:rPr>
                        <m:nor/>
                      </m:rPr>
                      <a:rPr lang="en-US" sz="1600">
                        <a:latin typeface="Cambria Math" panose="02040503050406030204" pitchFamily="18" charset="0"/>
                      </a:rPr>
                      <m:t>) |</m:t>
                    </m:r>
                    <m:r>
                      <m:rPr>
                        <m:nor/>
                      </m:rPr>
                      <a:rPr lang="en-US" sz="1600">
                        <a:latin typeface="Cambria Math" panose="02040503050406030204" pitchFamily="18" charset="0"/>
                      </a:rPr>
                      <m:t>n</m:t>
                    </m:r>
                    <m:r>
                      <m:rPr>
                        <m:nor/>
                      </m:rPr>
                      <a:rPr lang="en-US" sz="1600">
                        <a:latin typeface="Cambria Math" panose="02040503050406030204" pitchFamily="18" charset="0"/>
                      </a:rPr>
                      <m:t>𝑙𝑜𝑔𝑚𝑎𝑠𝑠</m:t>
                    </m:r>
                    <m:r>
                      <m:rPr>
                        <m:nor/>
                      </m:rPr>
                      <a:rPr lang="en-US" sz="1600">
                        <a:latin typeface="Cambria Math" panose="02040503050406030204" pitchFamily="18" charset="0"/>
                      </a:rPr>
                      <m:t>=0, </m:t>
                    </m:r>
                    <m:r>
                      <m:rPr>
                        <m:nor/>
                      </m:rPr>
                      <a:rPr lang="en-US" sz="1600">
                        <a:latin typeface="Cambria Math" panose="02040503050406030204" pitchFamily="18" charset="0"/>
                      </a:rPr>
                      <m:t>n</m:t>
                    </m:r>
                    <m:r>
                      <m:rPr>
                        <m:nor/>
                      </m:rPr>
                      <a:rPr lang="en-US" sz="1600">
                        <a:latin typeface="Cambria Math" panose="02040503050406030204" pitchFamily="18" charset="0"/>
                      </a:rPr>
                      <m:t>𝑙𝑜𝑔𝑚𝑒𝑡𝑎𝑏</m:t>
                    </m:r>
                    <m:r>
                      <m:rPr>
                        <m:nor/>
                      </m:rPr>
                      <a:rPr lang="en-US" sz="1600">
                        <a:latin typeface="Cambria Math" panose="02040503050406030204" pitchFamily="18" charset="0"/>
                      </a:rPr>
                      <m:t>=0}</m:t>
                    </m:r>
                  </m:oMath>
                </a14:m>
                <a:endParaRPr lang="en-US" sz="1600" dirty="0"/>
              </a:p>
            </p:txBody>
          </p:sp>
        </mc:Choice>
        <mc:Fallback xmlns="">
          <p:sp>
            <p:nvSpPr>
              <p:cNvPr id="20" name="TextBox 19">
                <a:extLst>
                  <a:ext uri="{FF2B5EF4-FFF2-40B4-BE49-F238E27FC236}">
                    <a16:creationId xmlns:a16="http://schemas.microsoft.com/office/drawing/2014/main" id="{64609E5F-42FF-48AC-B778-ACA7E2884FB4}"/>
                  </a:ext>
                </a:extLst>
              </p:cNvPr>
              <p:cNvSpPr txBox="1">
                <a:spLocks noRot="1" noChangeAspect="1" noMove="1" noResize="1" noEditPoints="1" noAdjustHandles="1" noChangeArrowheads="1" noChangeShapeType="1" noTextEdit="1"/>
              </p:cNvSpPr>
              <p:nvPr/>
            </p:nvSpPr>
            <p:spPr>
              <a:xfrm>
                <a:off x="1599343" y="2895600"/>
                <a:ext cx="8731365" cy="338554"/>
              </a:xfrm>
              <a:prstGeom prst="rect">
                <a:avLst/>
              </a:prstGeom>
              <a:blipFill>
                <a:blip r:embed="rId7"/>
                <a:stretch>
                  <a:fillRect l="-290" t="-7407" b="-25926"/>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9C101583-0FFB-4710-A377-E319F0455C5E}"/>
              </a:ext>
            </a:extLst>
          </p:cNvPr>
          <p:cNvSpPr txBox="1"/>
          <p:nvPr/>
        </p:nvSpPr>
        <p:spPr>
          <a:xfrm>
            <a:off x="3307848" y="2053530"/>
            <a:ext cx="8503152" cy="369332"/>
          </a:xfrm>
          <a:prstGeom prst="rect">
            <a:avLst/>
          </a:prstGeom>
          <a:noFill/>
        </p:spPr>
        <p:txBody>
          <a:bodyPr wrap="square" rtlCol="0">
            <a:spAutoFit/>
          </a:bodyPr>
          <a:lstStyle/>
          <a:p>
            <a:r>
              <a:rPr lang="en-US" dirty="0"/>
              <a:t>When logmass = </a:t>
            </a:r>
            <a:r>
              <a:rPr lang="en-US" b="1" dirty="0">
                <a:solidFill>
                  <a:srgbClr val="7030A0"/>
                </a:solidFill>
              </a:rPr>
              <a:t>.91629</a:t>
            </a:r>
            <a:r>
              <a:rPr lang="en-US" dirty="0"/>
              <a:t>, nlogmass = logmass - </a:t>
            </a:r>
            <a:r>
              <a:rPr lang="en-US" b="1" dirty="0">
                <a:solidFill>
                  <a:srgbClr val="7030A0"/>
                </a:solidFill>
              </a:rPr>
              <a:t>.91629</a:t>
            </a:r>
            <a:r>
              <a:rPr lang="en-US" dirty="0"/>
              <a:t>=</a:t>
            </a:r>
            <a:r>
              <a:rPr lang="en-US" b="1" dirty="0">
                <a:solidFill>
                  <a:srgbClr val="7030A0"/>
                </a:solidFill>
              </a:rPr>
              <a:t>.91629</a:t>
            </a:r>
            <a:r>
              <a:rPr lang="en-US" dirty="0"/>
              <a:t>-</a:t>
            </a:r>
            <a:r>
              <a:rPr lang="en-US" b="1" dirty="0">
                <a:solidFill>
                  <a:srgbClr val="7030A0"/>
                </a:solidFill>
              </a:rPr>
              <a:t>.91629</a:t>
            </a:r>
            <a:r>
              <a:rPr lang="en-US" dirty="0"/>
              <a:t>=0</a:t>
            </a:r>
          </a:p>
        </p:txBody>
      </p:sp>
      <p:sp>
        <p:nvSpPr>
          <p:cNvPr id="22" name="TextBox 21">
            <a:extLst>
              <a:ext uri="{FF2B5EF4-FFF2-40B4-BE49-F238E27FC236}">
                <a16:creationId xmlns:a16="http://schemas.microsoft.com/office/drawing/2014/main" id="{45FB9C16-1735-4387-82D1-A6AAA68D09DB}"/>
              </a:ext>
            </a:extLst>
          </p:cNvPr>
          <p:cNvSpPr txBox="1"/>
          <p:nvPr/>
        </p:nvSpPr>
        <p:spPr>
          <a:xfrm>
            <a:off x="3307848" y="2471844"/>
            <a:ext cx="8141676" cy="369332"/>
          </a:xfrm>
          <a:prstGeom prst="rect">
            <a:avLst/>
          </a:prstGeom>
          <a:noFill/>
        </p:spPr>
        <p:txBody>
          <a:bodyPr wrap="square" rtlCol="0">
            <a:spAutoFit/>
          </a:bodyPr>
          <a:lstStyle/>
          <a:p>
            <a:r>
              <a:rPr lang="en-US" dirty="0"/>
              <a:t>When logmetab = </a:t>
            </a:r>
            <a:r>
              <a:rPr lang="en-US" b="1" dirty="0">
                <a:solidFill>
                  <a:srgbClr val="00B050"/>
                </a:solidFill>
              </a:rPr>
              <a:t>5.7104</a:t>
            </a:r>
            <a:r>
              <a:rPr lang="en-US" dirty="0"/>
              <a:t>, nlogmetab = logmetab – </a:t>
            </a:r>
            <a:r>
              <a:rPr lang="en-US" b="1" dirty="0">
                <a:solidFill>
                  <a:srgbClr val="00B050"/>
                </a:solidFill>
              </a:rPr>
              <a:t>5.7104</a:t>
            </a:r>
            <a:r>
              <a:rPr lang="en-US" dirty="0"/>
              <a:t>=</a:t>
            </a:r>
            <a:r>
              <a:rPr lang="en-US" b="1" dirty="0">
                <a:solidFill>
                  <a:srgbClr val="00B050"/>
                </a:solidFill>
              </a:rPr>
              <a:t>5.7104</a:t>
            </a:r>
            <a:r>
              <a:rPr lang="en-US" dirty="0"/>
              <a:t>-</a:t>
            </a:r>
            <a:r>
              <a:rPr lang="en-US" b="1" dirty="0">
                <a:solidFill>
                  <a:srgbClr val="00B050"/>
                </a:solidFill>
              </a:rPr>
              <a:t>5.7104</a:t>
            </a:r>
            <a:r>
              <a:rPr lang="en-US" dirty="0"/>
              <a:t>=0</a:t>
            </a:r>
          </a:p>
        </p:txBody>
      </p:sp>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D9E40E8C-155A-42B3-9E5C-9541497ABD88}"/>
                  </a:ext>
                </a:extLst>
              </p:cNvPr>
              <p:cNvSpPr/>
              <p:nvPr/>
            </p:nvSpPr>
            <p:spPr>
              <a:xfrm>
                <a:off x="1703752" y="3211198"/>
                <a:ext cx="758977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n</m:t>
                      </m:r>
                      <m:r>
                        <m:rPr>
                          <m:nor/>
                        </m:rPr>
                        <a:rPr lang="en-US">
                          <a:latin typeface="Cambria Math" panose="02040503050406030204" pitchFamily="18" charset="0"/>
                        </a:rPr>
                        <m:t>𝑙𝑜𝑔𝑚𝑎𝑠𝑠</m:t>
                      </m:r>
                      <m:r>
                        <m:rPr>
                          <m:nor/>
                        </m:rPr>
                        <a:rPr lang="en-US">
                          <a:latin typeface="Cambria Math" panose="02040503050406030204" pitchFamily="18" charset="0"/>
                        </a:rPr>
                        <m:t>, </m:t>
                      </m:r>
                      <m:r>
                        <m:rPr>
                          <m:nor/>
                        </m:rPr>
                        <a:rPr lang="en-US">
                          <a:latin typeface="Cambria Math" panose="02040503050406030204" pitchFamily="18" charset="0"/>
                        </a:rPr>
                        <m:t>n</m:t>
                      </m:r>
                      <m:r>
                        <m:rPr>
                          <m:nor/>
                        </m:rPr>
                        <a:rPr lang="en-US">
                          <a:latin typeface="Cambria Math" panose="02040503050406030204" pitchFamily="18" charset="0"/>
                        </a:rPr>
                        <m:t>𝑙𝑜𝑔𝑚𝑒𝑡𝑎𝑏</m:t>
                      </m:r>
                      <m:r>
                        <m:rPr>
                          <m:nor/>
                        </m:rP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ea typeface="Cambria Math"/>
                            </a:rPr>
                            <m:t>1</m:t>
                          </m:r>
                        </m:sub>
                      </m:sSub>
                      <m:r>
                        <m:rPr>
                          <m:sty m:val="p"/>
                        </m:rPr>
                        <a:rPr lang="en-US">
                          <a:latin typeface="Cambria Math" panose="02040503050406030204" pitchFamily="18" charset="0"/>
                          <a:ea typeface="Cambria Math"/>
                        </a:rPr>
                        <m:t>nlogmetab</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panose="02040503050406030204" pitchFamily="18" charset="0"/>
                              <a:ea typeface="Cambria Math"/>
                            </a:rPr>
                            <m:t>2</m:t>
                          </m:r>
                        </m:sub>
                      </m:sSub>
                      <m:r>
                        <a:rPr lang="en-US" i="1">
                          <a:latin typeface="Cambria Math" panose="02040503050406030204" pitchFamily="18" charset="0"/>
                        </a:rPr>
                        <m:t>𝑛𝑙𝑜𝑔𝑚𝑎𝑠𝑠</m:t>
                      </m:r>
                    </m:oMath>
                  </m:oMathPara>
                </a14:m>
                <a:endParaRPr lang="en-US" dirty="0"/>
              </a:p>
            </p:txBody>
          </p:sp>
        </mc:Choice>
        <mc:Fallback xmlns="">
          <p:sp>
            <p:nvSpPr>
              <p:cNvPr id="6" name="Rectangle 5">
                <a:extLst>
                  <a:ext uri="{FF2B5EF4-FFF2-40B4-BE49-F238E27FC236}">
                    <a16:creationId xmlns:a16="http://schemas.microsoft.com/office/drawing/2014/main" id="{D9E40E8C-155A-42B3-9E5C-9541497ABD88}"/>
                  </a:ext>
                </a:extLst>
              </p:cNvPr>
              <p:cNvSpPr>
                <a:spLocks noRot="1" noChangeAspect="1" noMove="1" noResize="1" noEditPoints="1" noAdjustHandles="1" noChangeArrowheads="1" noChangeShapeType="1" noTextEdit="1"/>
              </p:cNvSpPr>
              <p:nvPr/>
            </p:nvSpPr>
            <p:spPr>
              <a:xfrm>
                <a:off x="1703752" y="3211198"/>
                <a:ext cx="7589770" cy="369332"/>
              </a:xfrm>
              <a:prstGeom prst="rect">
                <a:avLst/>
              </a:prstGeom>
              <a:blipFill>
                <a:blip r:embed="rId8"/>
                <a:stretch>
                  <a:fillRect b="-20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Rectangle 22">
                <a:extLst>
                  <a:ext uri="{FF2B5EF4-FFF2-40B4-BE49-F238E27FC236}">
                    <a16:creationId xmlns:a16="http://schemas.microsoft.com/office/drawing/2014/main" id="{5790EC71-1B06-4124-987D-DFF6750E0125}"/>
                  </a:ext>
                </a:extLst>
              </p:cNvPr>
              <p:cNvSpPr/>
              <p:nvPr/>
            </p:nvSpPr>
            <p:spPr>
              <a:xfrm>
                <a:off x="1691260" y="3555289"/>
                <a:ext cx="7442807" cy="39626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n</m:t>
                      </m:r>
                      <m:r>
                        <m:rPr>
                          <m:nor/>
                        </m:rPr>
                        <a:rPr lang="en-US">
                          <a:latin typeface="Cambria Math" panose="02040503050406030204" pitchFamily="18" charset="0"/>
                        </a:rPr>
                        <m:t>𝑙𝑜𝑔𝑚𝑎𝑠𝑠</m:t>
                      </m:r>
                      <m:r>
                        <m:rPr>
                          <m:nor/>
                        </m:rPr>
                        <a:rPr lang="en-US">
                          <a:latin typeface="Cambria Math" panose="02040503050406030204" pitchFamily="18" charset="0"/>
                        </a:rPr>
                        <m:t>=0, </m:t>
                      </m:r>
                      <m:r>
                        <m:rPr>
                          <m:nor/>
                        </m:rPr>
                        <a:rPr lang="en-US">
                          <a:latin typeface="Cambria Math" panose="02040503050406030204" pitchFamily="18" charset="0"/>
                        </a:rPr>
                        <m:t>n</m:t>
                      </m:r>
                      <m:r>
                        <m:rPr>
                          <m:nor/>
                        </m:rPr>
                        <a:rPr lang="en-US">
                          <a:latin typeface="Cambria Math" panose="02040503050406030204" pitchFamily="18" charset="0"/>
                        </a:rPr>
                        <m:t>𝑙𝑜𝑔𝑚𝑒𝑡𝑎𝑏</m:t>
                      </m:r>
                      <m:r>
                        <m:rPr>
                          <m:nor/>
                        </m:rPr>
                        <a:rPr lang="en-US">
                          <a:latin typeface="Cambria Math" panose="02040503050406030204" pitchFamily="18" charset="0"/>
                        </a:rPr>
                        <m:t>=0}</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ea typeface="Cambria Math"/>
                            </a:rPr>
                            <m:t>1</m:t>
                          </m:r>
                        </m:sub>
                      </m:sSub>
                      <m:r>
                        <a:rPr lang="en-US">
                          <a:latin typeface="Cambria Math" panose="02040503050406030204" pitchFamily="18" charset="0"/>
                          <a:ea typeface="Cambria Math"/>
                        </a:rPr>
                        <m:t>∗0</m:t>
                      </m:r>
                      <m:r>
                        <a:rPr lang="en-US" i="1">
                          <a:latin typeface="Cambria Math"/>
                        </a:rPr>
                        <m:t>+</m:t>
                      </m:r>
                      <m:sSub>
                        <m:sSubPr>
                          <m:ctrlPr>
                            <a:rPr lang="en-US" i="1">
                              <a:latin typeface="Cambria Math" panose="02040503050406030204" pitchFamily="18" charset="0"/>
                            </a:rPr>
                          </m:ctrlPr>
                        </m:sSubPr>
                        <m:e>
                          <m:sSup>
                            <m:sSupPr>
                              <m:ctrlPr>
                                <a:rPr lang="en-US" i="1">
                                  <a:latin typeface="Cambria Math" panose="02040503050406030204" pitchFamily="18" charset="0"/>
                                  <a:ea typeface="Cambria Math"/>
                                </a:rPr>
                              </m:ctrlPr>
                            </m:sSupPr>
                            <m:e>
                              <m:r>
                                <a:rPr lang="en-US" i="1">
                                  <a:latin typeface="Cambria Math"/>
                                  <a:ea typeface="Cambria Math"/>
                                </a:rPr>
                                <m:t>𝛽</m:t>
                              </m:r>
                            </m:e>
                            <m:sup>
                              <m:r>
                                <a:rPr lang="en-US" i="1">
                                  <a:latin typeface="Cambria Math" panose="02040503050406030204" pitchFamily="18" charset="0"/>
                                  <a:ea typeface="Cambria Math"/>
                                </a:rPr>
                                <m:t>′</m:t>
                              </m:r>
                            </m:sup>
                          </m:sSup>
                        </m:e>
                        <m:sub>
                          <m:r>
                            <a:rPr lang="en-US" i="1">
                              <a:latin typeface="Cambria Math" panose="02040503050406030204" pitchFamily="18" charset="0"/>
                              <a:ea typeface="Cambria Math"/>
                            </a:rPr>
                            <m:t>2</m:t>
                          </m:r>
                        </m:sub>
                      </m:sSub>
                      <m:r>
                        <a:rPr lang="en-US" i="1">
                          <a:latin typeface="Cambria Math" panose="02040503050406030204" pitchFamily="18" charset="0"/>
                        </a:rPr>
                        <m:t>∗0</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rPr>
                            <m:t>0</m:t>
                          </m:r>
                        </m:sub>
                      </m:sSub>
                    </m:oMath>
                  </m:oMathPara>
                </a14:m>
                <a:endParaRPr lang="en-US" dirty="0"/>
              </a:p>
            </p:txBody>
          </p:sp>
        </mc:Choice>
        <mc:Fallback xmlns="">
          <p:sp>
            <p:nvSpPr>
              <p:cNvPr id="23" name="Rectangle 22">
                <a:extLst>
                  <a:ext uri="{FF2B5EF4-FFF2-40B4-BE49-F238E27FC236}">
                    <a16:creationId xmlns:a16="http://schemas.microsoft.com/office/drawing/2014/main" id="{5790EC71-1B06-4124-987D-DFF6750E0125}"/>
                  </a:ext>
                </a:extLst>
              </p:cNvPr>
              <p:cNvSpPr>
                <a:spLocks noRot="1" noChangeAspect="1" noMove="1" noResize="1" noEditPoints="1" noAdjustHandles="1" noChangeArrowheads="1" noChangeShapeType="1" noTextEdit="1"/>
              </p:cNvSpPr>
              <p:nvPr/>
            </p:nvSpPr>
            <p:spPr>
              <a:xfrm>
                <a:off x="1691260" y="3555289"/>
                <a:ext cx="7442807" cy="396262"/>
              </a:xfrm>
              <a:prstGeom prst="rect">
                <a:avLst/>
              </a:prstGeom>
              <a:blipFill>
                <a:blip r:embed="rId9"/>
                <a:stretch>
                  <a:fillRect b="-60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B80C9CD-979D-4664-8D06-D67D42E74037}"/>
                  </a:ext>
                </a:extLst>
              </p:cNvPr>
              <p:cNvSpPr/>
              <p:nvPr/>
            </p:nvSpPr>
            <p:spPr>
              <a:xfrm>
                <a:off x="1656830" y="3955028"/>
                <a:ext cx="7524817" cy="369332"/>
              </a:xfrm>
              <a:prstGeom prst="rect">
                <a:avLst/>
              </a:prstGeom>
            </p:spPr>
            <p:txBody>
              <a:bodyPr wrap="none">
                <a:spAutoFit/>
              </a:bodyPr>
              <a:lstStyle/>
              <a:p>
                <a:r>
                  <a:rPr lang="en-US" dirty="0"/>
                  <a:t>A 95% CI for</a:t>
                </a:r>
                <a14:m>
                  <m:oMath xmlns:m="http://schemas.openxmlformats.org/officeDocument/2006/math">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 |</m:t>
                    </m:r>
                    <m:r>
                      <m:rPr>
                        <m:nor/>
                      </m:rPr>
                      <a:rPr lang="en-US">
                        <a:latin typeface="Cambria Math" panose="02040503050406030204" pitchFamily="18" charset="0"/>
                      </a:rPr>
                      <m:t>n</m:t>
                    </m:r>
                    <m:r>
                      <m:rPr>
                        <m:nor/>
                      </m:rPr>
                      <a:rPr lang="en-US">
                        <a:latin typeface="Cambria Math" panose="02040503050406030204" pitchFamily="18" charset="0"/>
                      </a:rPr>
                      <m:t>𝑙𝑜𝑔𝑚𝑎𝑠𝑠</m:t>
                    </m:r>
                    <m:r>
                      <m:rPr>
                        <m:nor/>
                      </m:rPr>
                      <a:rPr lang="en-US">
                        <a:latin typeface="Cambria Math" panose="02040503050406030204" pitchFamily="18" charset="0"/>
                      </a:rPr>
                      <m:t>=0, </m:t>
                    </m:r>
                    <m:r>
                      <m:rPr>
                        <m:nor/>
                      </m:rPr>
                      <a:rPr lang="en-US">
                        <a:latin typeface="Cambria Math" panose="02040503050406030204" pitchFamily="18" charset="0"/>
                      </a:rPr>
                      <m:t>n</m:t>
                    </m:r>
                    <m:r>
                      <m:rPr>
                        <m:nor/>
                      </m:rPr>
                      <a:rPr lang="en-US">
                        <a:latin typeface="Cambria Math" panose="02040503050406030204" pitchFamily="18" charset="0"/>
                      </a:rPr>
                      <m:t>𝑙𝑜𝑔𝑚𝑒𝑡𝑎𝑏</m:t>
                    </m:r>
                    <m:r>
                      <m:rPr>
                        <m:nor/>
                      </m:rPr>
                      <a:rPr lang="en-US">
                        <a:latin typeface="Cambria Math" panose="02040503050406030204" pitchFamily="18" charset="0"/>
                      </a:rPr>
                      <m:t>=0}</m:t>
                    </m:r>
                  </m:oMath>
                </a14:m>
                <a:r>
                  <a:rPr lang="en-US" dirty="0"/>
                  <a:t>= a 95% CI for </a:t>
                </a:r>
                <a14:m>
                  <m:oMath xmlns:m="http://schemas.openxmlformats.org/officeDocument/2006/math">
                    <m:sSub>
                      <m:sSubPr>
                        <m:ctrlPr>
                          <a:rPr lang="en-US" i="1">
                            <a:latin typeface="Cambria Math" panose="02040503050406030204" pitchFamily="18" charset="0"/>
                          </a:rPr>
                        </m:ctrlPr>
                      </m:sSubPr>
                      <m:e>
                        <m:r>
                          <a:rPr lang="en-US" i="1">
                            <a:latin typeface="Cambria Math"/>
                            <a:ea typeface="Cambria Math"/>
                          </a:rPr>
                          <m:t>𝛽</m:t>
                        </m:r>
                        <m:r>
                          <a:rPr lang="en-US" i="1">
                            <a:latin typeface="Cambria Math" panose="02040503050406030204" pitchFamily="18" charset="0"/>
                            <a:ea typeface="Cambria Math"/>
                          </a:rPr>
                          <m:t>′</m:t>
                        </m:r>
                      </m:e>
                      <m:sub>
                        <m:r>
                          <a:rPr lang="en-US" i="1">
                            <a:latin typeface="Cambria Math"/>
                          </a:rPr>
                          <m:t>0</m:t>
                        </m:r>
                      </m:sub>
                    </m:sSub>
                  </m:oMath>
                </a14:m>
                <a:r>
                  <a:rPr lang="en-US" dirty="0"/>
                  <a:t>.</a:t>
                </a:r>
              </a:p>
            </p:txBody>
          </p:sp>
        </mc:Choice>
        <mc:Fallback xmlns="">
          <p:sp>
            <p:nvSpPr>
              <p:cNvPr id="24" name="Rectangle 23">
                <a:extLst>
                  <a:ext uri="{FF2B5EF4-FFF2-40B4-BE49-F238E27FC236}">
                    <a16:creationId xmlns:a16="http://schemas.microsoft.com/office/drawing/2014/main" id="{4B80C9CD-979D-4664-8D06-D67D42E74037}"/>
                  </a:ext>
                </a:extLst>
              </p:cNvPr>
              <p:cNvSpPr>
                <a:spLocks noRot="1" noChangeAspect="1" noMove="1" noResize="1" noEditPoints="1" noAdjustHandles="1" noChangeArrowheads="1" noChangeShapeType="1" noTextEdit="1"/>
              </p:cNvSpPr>
              <p:nvPr/>
            </p:nvSpPr>
            <p:spPr>
              <a:xfrm>
                <a:off x="1656830" y="3955028"/>
                <a:ext cx="7524817" cy="369332"/>
              </a:xfrm>
              <a:prstGeom prst="rect">
                <a:avLst/>
              </a:prstGeom>
              <a:blipFill>
                <a:blip r:embed="rId10"/>
                <a:stretch>
                  <a:fillRect l="-675" t="-6667" b="-26667"/>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CA6E7472-410B-4EE3-9710-C2EBB02C1AE0}"/>
              </a:ext>
            </a:extLst>
          </p:cNvPr>
          <p:cNvSpPr txBox="1"/>
          <p:nvPr/>
        </p:nvSpPr>
        <p:spPr>
          <a:xfrm>
            <a:off x="1797365" y="4993527"/>
            <a:ext cx="4362111" cy="1754326"/>
          </a:xfrm>
          <a:prstGeom prst="rect">
            <a:avLst/>
          </a:prstGeom>
          <a:noFill/>
        </p:spPr>
        <p:txBody>
          <a:bodyPr wrap="square" rtlCol="0">
            <a:spAutoFit/>
          </a:bodyPr>
          <a:lstStyle/>
          <a:p>
            <a:r>
              <a:rPr lang="en-US" b="1" dirty="0">
                <a:solidFill>
                  <a:srgbClr val="FF0000"/>
                </a:solidFill>
              </a:rPr>
              <a:t>df = 92 (n=95)</a:t>
            </a:r>
          </a:p>
          <a:p>
            <a:r>
              <a:rPr lang="en-US" b="1" dirty="0">
                <a:solidFill>
                  <a:srgbClr val="FF0000"/>
                </a:solidFill>
              </a:rPr>
              <a:t>MOE = t</a:t>
            </a:r>
            <a:r>
              <a:rPr lang="en-US" b="1" baseline="-25000" dirty="0">
                <a:solidFill>
                  <a:srgbClr val="FF0000"/>
                </a:solidFill>
              </a:rPr>
              <a:t>92,.975</a:t>
            </a:r>
            <a:r>
              <a:rPr lang="en-US" b="1" dirty="0">
                <a:solidFill>
                  <a:srgbClr val="FF0000"/>
                </a:solidFill>
              </a:rPr>
              <a:t> * SE</a:t>
            </a:r>
          </a:p>
          <a:p>
            <a:r>
              <a:rPr lang="en-US" b="1" dirty="0">
                <a:solidFill>
                  <a:srgbClr val="FF0000"/>
                </a:solidFill>
              </a:rPr>
              <a:t>MOE = 1.986 * .06509</a:t>
            </a:r>
          </a:p>
          <a:p>
            <a:r>
              <a:rPr lang="en-US" b="1" dirty="0">
                <a:solidFill>
                  <a:srgbClr val="FF0000"/>
                </a:solidFill>
              </a:rPr>
              <a:t>MOE = 0.129</a:t>
            </a:r>
          </a:p>
          <a:p>
            <a:r>
              <a:rPr lang="en-US" b="1" dirty="0">
                <a:solidFill>
                  <a:srgbClr val="FF0000"/>
                </a:solidFill>
              </a:rPr>
              <a:t>95% CI:  (2.404 ± 0.129) </a:t>
            </a:r>
          </a:p>
          <a:p>
            <a:r>
              <a:rPr lang="en-US" b="1" dirty="0">
                <a:solidFill>
                  <a:srgbClr val="FF0000"/>
                </a:solidFill>
              </a:rPr>
              <a:t>95% CI:  (2.275, 2.533)</a:t>
            </a:r>
          </a:p>
        </p:txBody>
      </p:sp>
      <p:cxnSp>
        <p:nvCxnSpPr>
          <p:cNvPr id="26" name="Straight Arrow Connector 25">
            <a:extLst>
              <a:ext uri="{FF2B5EF4-FFF2-40B4-BE49-F238E27FC236}">
                <a16:creationId xmlns:a16="http://schemas.microsoft.com/office/drawing/2014/main" id="{37742244-70D8-48B5-A70C-B56537B3CE13}"/>
              </a:ext>
            </a:extLst>
          </p:cNvPr>
          <p:cNvCxnSpPr>
            <a:cxnSpLocks/>
            <a:stCxn id="27" idx="1"/>
          </p:cNvCxnSpPr>
          <p:nvPr/>
        </p:nvCxnSpPr>
        <p:spPr>
          <a:xfrm flipH="1">
            <a:off x="4030067" y="5354845"/>
            <a:ext cx="3950677" cy="387687"/>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DFBC180A-15EE-44B2-8BE6-3B717BF46CC7}"/>
              </a:ext>
            </a:extLst>
          </p:cNvPr>
          <p:cNvSpPr/>
          <p:nvPr/>
        </p:nvSpPr>
        <p:spPr>
          <a:xfrm>
            <a:off x="7980744" y="5202209"/>
            <a:ext cx="929073" cy="30527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8" name="Straight Arrow Connector 27">
            <a:extLst>
              <a:ext uri="{FF2B5EF4-FFF2-40B4-BE49-F238E27FC236}">
                <a16:creationId xmlns:a16="http://schemas.microsoft.com/office/drawing/2014/main" id="{0D28F1A0-532A-4BC0-9A11-F93FE80771F7}"/>
              </a:ext>
            </a:extLst>
          </p:cNvPr>
          <p:cNvCxnSpPr>
            <a:cxnSpLocks/>
            <a:stCxn id="29" idx="2"/>
          </p:cNvCxnSpPr>
          <p:nvPr/>
        </p:nvCxnSpPr>
        <p:spPr>
          <a:xfrm flipH="1">
            <a:off x="3004317" y="5502965"/>
            <a:ext cx="4481126" cy="707741"/>
          </a:xfrm>
          <a:prstGeom prst="straightConnector1">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2A12CDF4-2D03-4C04-B6D7-235EE556822A}"/>
              </a:ext>
            </a:extLst>
          </p:cNvPr>
          <p:cNvSpPr/>
          <p:nvPr/>
        </p:nvSpPr>
        <p:spPr>
          <a:xfrm>
            <a:off x="6990143" y="5197694"/>
            <a:ext cx="990600" cy="305271"/>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62874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26"/>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2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26"/>
                                        </p:tgtEl>
                                        <p:attrNameLst>
                                          <p:attrName>style.visibility</p:attrName>
                                        </p:attrNameLst>
                                      </p:cBhvr>
                                      <p:to>
                                        <p:strVal val="hidden"/>
                                      </p:to>
                                    </p:set>
                                  </p:childTnLst>
                                </p:cTn>
                              </p:par>
                              <p:par>
                                <p:cTn id="54" presetID="1" presetClass="entr" presetSubtype="0" fill="hold" nodeType="withEffect">
                                  <p:stCondLst>
                                    <p:cond delay="0"/>
                                  </p:stCondLst>
                                  <p:childTnLst>
                                    <p:set>
                                      <p:cBhvr>
                                        <p:cTn id="55" dur="1" fill="hold">
                                          <p:stCondLst>
                                            <p:cond delay="0"/>
                                          </p:stCondLst>
                                        </p:cTn>
                                        <p:tgtEl>
                                          <p:spTgt spid="28"/>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xit" presetSubtype="0" fill="hold" nodeType="clickEffect">
                                  <p:stCondLst>
                                    <p:cond delay="0"/>
                                  </p:stCondLst>
                                  <p:childTnLst>
                                    <p:set>
                                      <p:cBhvr>
                                        <p:cTn id="61" dur="1" fill="hold">
                                          <p:stCondLst>
                                            <p:cond delay="0"/>
                                          </p:stCondLst>
                                        </p:cTn>
                                        <p:tgtEl>
                                          <p:spTgt spid="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0" grpId="0"/>
      <p:bldP spid="3" grpId="0"/>
      <p:bldP spid="22" grpId="0"/>
      <p:bldP spid="6" grpId="0"/>
      <p:bldP spid="23" grpId="0"/>
      <p:bldP spid="24" grpId="0"/>
      <p:bldP spid="25" grpId="0"/>
      <p:bldP spid="27" grpId="0" animBg="1"/>
      <p:bldP spid="29" grpId="0" animBg="1"/>
    </p:bld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CA867AA-34AE-C54E-A122-53990F119A53}"/>
              </a:ext>
            </a:extLst>
          </p:cNvPr>
          <p:cNvPicPr>
            <a:picLocks noChangeAspect="1"/>
          </p:cNvPicPr>
          <p:nvPr/>
        </p:nvPicPr>
        <p:blipFill>
          <a:blip r:embed="rId2"/>
          <a:stretch>
            <a:fillRect/>
          </a:stretch>
        </p:blipFill>
        <p:spPr>
          <a:xfrm>
            <a:off x="410630" y="1016753"/>
            <a:ext cx="11247969" cy="635000"/>
          </a:xfrm>
          <a:prstGeom prst="rect">
            <a:avLst/>
          </a:prstGeom>
        </p:spPr>
      </p:pic>
      <p:sp>
        <p:nvSpPr>
          <p:cNvPr id="2" name="Title 1"/>
          <p:cNvSpPr>
            <a:spLocks noGrp="1"/>
          </p:cNvSpPr>
          <p:nvPr>
            <p:ph type="title"/>
          </p:nvPr>
        </p:nvSpPr>
        <p:spPr>
          <a:xfrm>
            <a:off x="-41476" y="439215"/>
            <a:ext cx="12192000" cy="639762"/>
          </a:xfrm>
        </p:spPr>
        <p:txBody>
          <a:bodyPr>
            <a:noAutofit/>
          </a:bodyPr>
          <a:lstStyle/>
          <a:p>
            <a:r>
              <a:rPr lang="en-US" sz="3600" dirty="0"/>
              <a:t>Example: Metabolism Study: Re-centering method</a:t>
            </a:r>
          </a:p>
        </p:txBody>
      </p:sp>
      <p:sp>
        <p:nvSpPr>
          <p:cNvPr id="6" name="TextBox 5"/>
          <p:cNvSpPr txBox="1"/>
          <p:nvPr/>
        </p:nvSpPr>
        <p:spPr>
          <a:xfrm>
            <a:off x="1828800" y="2715440"/>
            <a:ext cx="914400" cy="369332"/>
          </a:xfrm>
          <a:prstGeom prst="rect">
            <a:avLst/>
          </a:prstGeom>
          <a:noFill/>
        </p:spPr>
        <p:txBody>
          <a:bodyPr wrap="square" rtlCol="0">
            <a:spAutoFit/>
          </a:bodyPr>
          <a:lstStyle/>
          <a:p>
            <a:r>
              <a:rPr lang="en-US" dirty="0"/>
              <a:t>n = 95</a:t>
            </a:r>
          </a:p>
        </p:txBody>
      </p:sp>
      <mc:AlternateContent xmlns:mc="http://schemas.openxmlformats.org/markup-compatibility/2006" xmlns:a14="http://schemas.microsoft.com/office/drawing/2010/main">
        <mc:Choice Requires="a14">
          <p:sp>
            <p:nvSpPr>
              <p:cNvPr id="7" name="TextBox 6"/>
              <p:cNvSpPr txBox="1"/>
              <p:nvPr/>
            </p:nvSpPr>
            <p:spPr>
              <a:xfrm>
                <a:off x="3461143" y="1368944"/>
                <a:ext cx="526971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a:latin typeface="Cambria Math" panose="02040503050406030204" pitchFamily="18" charset="0"/>
                          <a:ea typeface="Cambria Math" panose="02040503050406030204" pitchFamily="18" charset="0"/>
                        </a:rPr>
                        <m:t>𝜇</m:t>
                      </m:r>
                      <m:r>
                        <m:rPr>
                          <m:nor/>
                        </m:rPr>
                        <a:rPr lang="en-US">
                          <a:latin typeface="Cambria Math" panose="02040503050406030204" pitchFamily="18" charset="0"/>
                          <a:ea typeface="Cambria Math" panose="02040503050406030204" pitchFamily="18" charset="0"/>
                        </a:rPr>
                        <m:t>{</m:t>
                      </m:r>
                      <m:r>
                        <m:rPr>
                          <m:nor/>
                        </m:rPr>
                        <a:rPr lang="en-US">
                          <a:latin typeface="Cambria Math"/>
                        </a:rPr>
                        <m:t>log</m:t>
                      </m:r>
                      <m:r>
                        <m:rPr>
                          <m:nor/>
                        </m:rPr>
                        <a:rPr lang="en-US">
                          <a:latin typeface="Cambria Math" panose="02040503050406030204" pitchFamily="18" charset="0"/>
                        </a:rPr>
                        <m:t>(</m:t>
                      </m:r>
                      <m:r>
                        <m:rPr>
                          <m:nor/>
                        </m:rPr>
                        <a:rPr lang="en-US">
                          <a:latin typeface="Cambria Math"/>
                        </a:rPr>
                        <m:t>𝑙𝑖𝑓𝑒</m:t>
                      </m:r>
                      <m:r>
                        <m:rPr>
                          <m:nor/>
                        </m:rPr>
                        <a:rPr lang="en-US">
                          <a:latin typeface="Cambria Math" panose="02040503050406030204" pitchFamily="18" charset="0"/>
                        </a:rPr>
                        <m:t>)}</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rPr>
                            <m:t>0</m:t>
                          </m:r>
                        </m:sub>
                      </m:sSub>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a:ea typeface="Cambria Math"/>
                            </a:rPr>
                            <m:t>1</m:t>
                          </m:r>
                        </m:sub>
                      </m:sSub>
                      <m:r>
                        <m:rPr>
                          <m:sty m:val="p"/>
                        </m:rPr>
                        <a:rPr lang="en-US">
                          <a:latin typeface="Cambria Math"/>
                        </a:rPr>
                        <m:t>log</m:t>
                      </m:r>
                      <m:r>
                        <a:rPr lang="en-US" i="1">
                          <a:latin typeface="Cambria Math"/>
                        </a:rPr>
                        <m:t>⁡(</m:t>
                      </m:r>
                      <m:r>
                        <a:rPr lang="en-US" i="1">
                          <a:latin typeface="Cambria Math"/>
                        </a:rPr>
                        <m:t>𝑚𝑒𝑡𝑎𝑏</m:t>
                      </m:r>
                      <m:r>
                        <a:rPr lang="en-US" i="1">
                          <a:latin typeface="Cambria Math"/>
                        </a:rPr>
                        <m:t>)+</m:t>
                      </m:r>
                      <m:sSub>
                        <m:sSubPr>
                          <m:ctrlPr>
                            <a:rPr lang="en-US" i="1">
                              <a:latin typeface="Cambria Math" panose="02040503050406030204" pitchFamily="18" charset="0"/>
                            </a:rPr>
                          </m:ctrlPr>
                        </m:sSubPr>
                        <m:e>
                          <m:r>
                            <a:rPr lang="en-US" i="1">
                              <a:latin typeface="Cambria Math"/>
                              <a:ea typeface="Cambria Math"/>
                            </a:rPr>
                            <m:t>𝛽</m:t>
                          </m:r>
                        </m:e>
                        <m:sub>
                          <m:r>
                            <a:rPr lang="en-US" i="1">
                              <a:latin typeface="Cambria Math" panose="02040503050406030204" pitchFamily="18" charset="0"/>
                              <a:ea typeface="Cambria Math"/>
                            </a:rPr>
                            <m:t>2</m:t>
                          </m:r>
                        </m:sub>
                      </m:sSub>
                      <m:r>
                        <m:rPr>
                          <m:sty m:val="p"/>
                        </m:rPr>
                        <a:rPr lang="en-US">
                          <a:latin typeface="Cambria Math"/>
                        </a:rPr>
                        <m:t>log</m:t>
                      </m:r>
                      <m:r>
                        <a:rPr lang="en-US" i="1">
                          <a:latin typeface="Cambria Math"/>
                        </a:rPr>
                        <m:t>⁡(</m:t>
                      </m:r>
                      <m:r>
                        <a:rPr lang="en-US" i="1">
                          <a:latin typeface="Cambria Math"/>
                        </a:rPr>
                        <m:t>𝑚𝑎𝑠𝑠</m:t>
                      </m:r>
                      <m:r>
                        <a:rPr lang="en-US" i="1">
                          <a:latin typeface="Cambria Math"/>
                        </a:rPr>
                        <m:t>)</m:t>
                      </m:r>
                    </m:oMath>
                  </m:oMathPara>
                </a14:m>
                <a:endParaRPr lang="en-US" dirty="0"/>
              </a:p>
            </p:txBody>
          </p:sp>
        </mc:Choice>
        <mc:Fallback xmlns="">
          <p:sp>
            <p:nvSpPr>
              <p:cNvPr id="7" name="TextBox 6"/>
              <p:cNvSpPr txBox="1">
                <a:spLocks noRot="1" noChangeAspect="1" noMove="1" noResize="1" noEditPoints="1" noAdjustHandles="1" noChangeArrowheads="1" noChangeShapeType="1" noTextEdit="1"/>
              </p:cNvSpPr>
              <p:nvPr/>
            </p:nvSpPr>
            <p:spPr>
              <a:xfrm>
                <a:off x="3461143" y="1368944"/>
                <a:ext cx="5269711" cy="369332"/>
              </a:xfrm>
              <a:prstGeom prst="rect">
                <a:avLst/>
              </a:prstGeom>
              <a:blipFill>
                <a:blip r:embed="rId3"/>
                <a:stretch>
                  <a:fillRect b="-20690"/>
                </a:stretch>
              </a:blipFill>
            </p:spPr>
            <p:txBody>
              <a:bodyPr/>
              <a:lstStyle/>
              <a:p>
                <a:r>
                  <a:rPr lang="en-US">
                    <a:noFill/>
                  </a:rPr>
                  <a:t> </a:t>
                </a:r>
              </a:p>
            </p:txBody>
          </p:sp>
        </mc:Fallback>
      </mc:AlternateContent>
      <p:sp>
        <p:nvSpPr>
          <p:cNvPr id="3" name="TextBox 2"/>
          <p:cNvSpPr txBox="1"/>
          <p:nvPr/>
        </p:nvSpPr>
        <p:spPr>
          <a:xfrm>
            <a:off x="1436393" y="4800600"/>
            <a:ext cx="9559724" cy="1200329"/>
          </a:xfrm>
          <a:prstGeom prst="rect">
            <a:avLst/>
          </a:prstGeom>
          <a:noFill/>
        </p:spPr>
        <p:txBody>
          <a:bodyPr wrap="square" rtlCol="0">
            <a:spAutoFit/>
          </a:bodyPr>
          <a:lstStyle/>
          <a:p>
            <a:r>
              <a:rPr lang="en-US" dirty="0"/>
              <a:t>When logmass = </a:t>
            </a:r>
            <a:r>
              <a:rPr lang="en-US" b="1" dirty="0">
                <a:solidFill>
                  <a:srgbClr val="7030A0"/>
                </a:solidFill>
              </a:rPr>
              <a:t>.91629</a:t>
            </a:r>
            <a:r>
              <a:rPr lang="en-US" dirty="0"/>
              <a:t> and logmetab = </a:t>
            </a:r>
            <a:r>
              <a:rPr lang="en-US" b="1" dirty="0">
                <a:solidFill>
                  <a:srgbClr val="00B050"/>
                </a:solidFill>
              </a:rPr>
              <a:t>5.7104</a:t>
            </a:r>
            <a:r>
              <a:rPr lang="en-US" dirty="0"/>
              <a:t>, the expected mean log(life) is </a:t>
            </a:r>
            <a:r>
              <a:rPr lang="en-US" b="1" dirty="0">
                <a:solidFill>
                  <a:srgbClr val="92D050"/>
                </a:solidFill>
              </a:rPr>
              <a:t>2.404</a:t>
            </a:r>
            <a:r>
              <a:rPr lang="en-US" dirty="0"/>
              <a:t> and a 95% CI is (</a:t>
            </a:r>
            <a:r>
              <a:rPr lang="en-US" b="1" dirty="0">
                <a:solidFill>
                  <a:srgbClr val="FF0000"/>
                </a:solidFill>
              </a:rPr>
              <a:t>2.275</a:t>
            </a:r>
            <a:r>
              <a:rPr lang="en-US" dirty="0"/>
              <a:t>, </a:t>
            </a:r>
            <a:r>
              <a:rPr lang="en-US" b="1" dirty="0">
                <a:solidFill>
                  <a:srgbClr val="00B0F0"/>
                </a:solidFill>
              </a:rPr>
              <a:t>2.533</a:t>
            </a:r>
            <a:r>
              <a:rPr lang="en-US" dirty="0"/>
              <a:t>). On the original scale, for a mammal with a mass of 2.5 kg and a metabolism of 302 units, the expected median lifespan is e</a:t>
            </a:r>
            <a:r>
              <a:rPr lang="en-US" b="1" baseline="30000" dirty="0">
                <a:solidFill>
                  <a:srgbClr val="92D050"/>
                </a:solidFill>
              </a:rPr>
              <a:t>2.404</a:t>
            </a:r>
            <a:r>
              <a:rPr lang="en-US" baseline="30000" dirty="0"/>
              <a:t> </a:t>
            </a:r>
            <a:r>
              <a:rPr lang="en-US" dirty="0"/>
              <a:t>=11.07 years.  A 95% CI for the median lifespan for a mammal with these attributes  is (e</a:t>
            </a:r>
            <a:r>
              <a:rPr lang="en-US" b="1" baseline="30000" dirty="0">
                <a:solidFill>
                  <a:srgbClr val="FF0000"/>
                </a:solidFill>
              </a:rPr>
              <a:t>2.275</a:t>
            </a:r>
            <a:r>
              <a:rPr lang="en-US" dirty="0"/>
              <a:t>,e</a:t>
            </a:r>
            <a:r>
              <a:rPr lang="en-US" b="1" baseline="30000" dirty="0">
                <a:solidFill>
                  <a:srgbClr val="00B0F0"/>
                </a:solidFill>
              </a:rPr>
              <a:t>2.533</a:t>
            </a:r>
            <a:r>
              <a:rPr lang="en-US" dirty="0"/>
              <a:t>) = (9.73, 12.59) years.</a:t>
            </a:r>
          </a:p>
        </p:txBody>
      </p:sp>
      <p:pic>
        <p:nvPicPr>
          <p:cNvPr id="9" name="Picture 8">
            <a:extLst>
              <a:ext uri="{FF2B5EF4-FFF2-40B4-BE49-F238E27FC236}">
                <a16:creationId xmlns:a16="http://schemas.microsoft.com/office/drawing/2014/main" id="{38692F67-BBAB-4207-B897-EEB2447A261D}"/>
              </a:ext>
            </a:extLst>
          </p:cNvPr>
          <p:cNvPicPr>
            <a:picLocks noChangeAspect="1"/>
          </p:cNvPicPr>
          <p:nvPr/>
        </p:nvPicPr>
        <p:blipFill>
          <a:blip r:embed="rId4"/>
          <a:stretch>
            <a:fillRect/>
          </a:stretch>
        </p:blipFill>
        <p:spPr>
          <a:xfrm>
            <a:off x="3635746" y="2532032"/>
            <a:ext cx="4920507" cy="1793935"/>
          </a:xfrm>
          <a:prstGeom prst="rect">
            <a:avLst/>
          </a:prstGeom>
        </p:spPr>
      </p:pic>
    </p:spTree>
    <p:extLst>
      <p:ext uri="{BB962C8B-B14F-4D97-AF65-F5344CB8AC3E}">
        <p14:creationId xmlns:p14="http://schemas.microsoft.com/office/powerpoint/2010/main" val="2957797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2: Takeaways!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533400" y="1825625"/>
            <a:ext cx="9657945" cy="4351338"/>
          </a:xfrm>
        </p:spPr>
        <p:txBody>
          <a:bodyPr>
            <a:normAutofit fontScale="92500" lnSpcReduction="10000"/>
          </a:bodyPr>
          <a:lstStyle/>
          <a:p>
            <a:pPr marL="0" indent="0">
              <a:buNone/>
            </a:pPr>
            <a:r>
              <a:rPr lang="en-US" dirty="0"/>
              <a:t>Please provide at least 4 takeaways from this section and any questions that you may have.  These questions will help design the live session for this unit.</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275141839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76CAF-641E-A545-AB1E-A0BE7A1FF036}"/>
              </a:ext>
            </a:extLst>
          </p:cNvPr>
          <p:cNvSpPr>
            <a:spLocks noGrp="1"/>
          </p:cNvSpPr>
          <p:nvPr>
            <p:ph type="title"/>
          </p:nvPr>
        </p:nvSpPr>
        <p:spPr/>
        <p:txBody>
          <a:bodyPr/>
          <a:lstStyle/>
          <a:p>
            <a:pPr algn="l"/>
            <a:r>
              <a:rPr lang="en-US" dirty="0"/>
              <a:t>Question 3: Questions!</a:t>
            </a:r>
          </a:p>
        </p:txBody>
      </p:sp>
      <p:sp>
        <p:nvSpPr>
          <p:cNvPr id="3" name="Content Placeholder 2">
            <a:extLst>
              <a:ext uri="{FF2B5EF4-FFF2-40B4-BE49-F238E27FC236}">
                <a16:creationId xmlns:a16="http://schemas.microsoft.com/office/drawing/2014/main" id="{1E3CA146-5F00-F544-97FC-4BDA5AA35C64}"/>
              </a:ext>
            </a:extLst>
          </p:cNvPr>
          <p:cNvSpPr>
            <a:spLocks noGrp="1"/>
          </p:cNvSpPr>
          <p:nvPr>
            <p:ph idx="1"/>
          </p:nvPr>
        </p:nvSpPr>
        <p:spPr>
          <a:xfrm>
            <a:off x="609600" y="1905000"/>
            <a:ext cx="10820400" cy="4351338"/>
          </a:xfrm>
        </p:spPr>
        <p:txBody>
          <a:bodyPr>
            <a:normAutofit/>
          </a:bodyPr>
          <a:lstStyle/>
          <a:p>
            <a:pPr marL="0" indent="0">
              <a:buNone/>
            </a:pPr>
            <a:r>
              <a:rPr lang="en-US" dirty="0"/>
              <a:t>Please provide any question or topics of discussion that came up in this Unit!  These will help help us optimize our live session for maximum learning and takeaways!  </a:t>
            </a:r>
          </a:p>
          <a:p>
            <a:pPr marL="0" indent="0">
              <a:buNone/>
            </a:pPr>
            <a:r>
              <a:rPr lang="en-US" dirty="0"/>
              <a:t> </a:t>
            </a:r>
          </a:p>
          <a:p>
            <a:pPr marL="0" indent="0">
              <a:buNone/>
            </a:pPr>
            <a:r>
              <a:rPr lang="en-US" sz="2000" i="1" dirty="0"/>
              <a:t>This question will be the last question of every For Live Session Assignment. The idea is that this deck will serve as a document that you can reference in the future to remember what was covered in this section.  For instance, this may come in handy for the Capstone and will hopefully become useful in your career.  Most immediately, it may become handy as a quick reference for your Midterm and Final!  Some students find it very useful and spend a few slides summarizing the </a:t>
            </a:r>
            <a:r>
              <a:rPr lang="en-US" sz="2000" i="1" dirty="0" err="1"/>
              <a:t>asynch</a:t>
            </a:r>
            <a:r>
              <a:rPr lang="en-US" sz="2000" i="1" dirty="0"/>
              <a:t> material while others learn different ways and only had the minimum 4 takeaways.  Either is fine and will earn you full credit for this question.  </a:t>
            </a:r>
          </a:p>
          <a:p>
            <a:pPr marL="0" indent="0">
              <a:buNone/>
            </a:pPr>
            <a:endParaRPr lang="en-US" dirty="0"/>
          </a:p>
        </p:txBody>
      </p:sp>
    </p:spTree>
    <p:extLst>
      <p:ext uri="{BB962C8B-B14F-4D97-AF65-F5344CB8AC3E}">
        <p14:creationId xmlns:p14="http://schemas.microsoft.com/office/powerpoint/2010/main" val="196003993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1C948-A4A3-5946-B047-076635D43652}"/>
              </a:ext>
            </a:extLst>
          </p:cNvPr>
          <p:cNvSpPr>
            <a:spLocks noGrp="1"/>
          </p:cNvSpPr>
          <p:nvPr>
            <p:ph type="title"/>
          </p:nvPr>
        </p:nvSpPr>
        <p:spPr>
          <a:xfrm>
            <a:off x="1695450" y="2819400"/>
            <a:ext cx="8801100" cy="1450757"/>
          </a:xfrm>
        </p:spPr>
        <p:txBody>
          <a:bodyPr/>
          <a:lstStyle/>
          <a:p>
            <a:pPr algn="ctr"/>
            <a:r>
              <a:rPr lang="en-US" dirty="0"/>
              <a:t>End For Live Session Assignment </a:t>
            </a:r>
            <a:r>
              <a:rPr lang="en-US"/>
              <a:t>Unit 12!</a:t>
            </a:r>
            <a:endParaRPr lang="en-US" dirty="0"/>
          </a:p>
        </p:txBody>
      </p:sp>
      <p:sp>
        <p:nvSpPr>
          <p:cNvPr id="4" name="Slide Number Placeholder 3">
            <a:extLst>
              <a:ext uri="{FF2B5EF4-FFF2-40B4-BE49-F238E27FC236}">
                <a16:creationId xmlns:a16="http://schemas.microsoft.com/office/drawing/2014/main" id="{C89C5DF8-9726-8A40-B8E3-D578C82B8DDF}"/>
              </a:ext>
            </a:extLst>
          </p:cNvPr>
          <p:cNvSpPr>
            <a:spLocks noGrp="1"/>
          </p:cNvSpPr>
          <p:nvPr>
            <p:ph type="sldNum" sz="quarter" idx="12"/>
          </p:nvPr>
        </p:nvSpPr>
        <p:spPr>
          <a:xfrm>
            <a:off x="7425345" y="6459789"/>
            <a:ext cx="984019" cy="365125"/>
          </a:xfrm>
          <a:prstGeom prst="rect">
            <a:avLst/>
          </a:prstGeom>
        </p:spPr>
        <p:txBody>
          <a:bodyPr vert="horz" lIns="91440" tIns="45720" rIns="91440" bIns="45720" rtlCol="0" anchor="ctr"/>
          <a:lstStyle>
            <a:defPPr>
              <a:defRPr lang="en-US"/>
            </a:defPPr>
            <a:lvl1pPr marL="0" algn="r" defTabSz="914400" rtl="0" eaLnBrk="1" latinLnBrk="0" hangingPunct="1">
              <a:defRPr sz="1050" kern="1200">
                <a:solidFill>
                  <a:srgbClr val="FFFFFF"/>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85BC5B7D-D6B0-4550-9BAF-D21F2647AC79}" type="slidenum">
              <a:rPr lang="en-US" altLang="en-US" smtClean="0"/>
              <a:pPr>
                <a:defRPr/>
              </a:pPr>
              <a:t>74</a:t>
            </a:fld>
            <a:endParaRPr lang="en-US" altLang="en-US" dirty="0"/>
          </a:p>
        </p:txBody>
      </p:sp>
    </p:spTree>
    <p:extLst>
      <p:ext uri="{BB962C8B-B14F-4D97-AF65-F5344CB8AC3E}">
        <p14:creationId xmlns:p14="http://schemas.microsoft.com/office/powerpoint/2010/main" val="29353905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34"/>
  <p:tag name="MMPROD_UIDATA" val="&lt;database version=&quot;11.0&quot;&gt;&lt;object type=&quot;1&quot; unique_id=&quot;10001&quot;&gt;&lt;object type=&quot;2&quot; unique_id=&quot;47998&quot;&gt;&lt;object type=&quot;3&quot; unique_id=&quot;47999&quot;&gt;&lt;property id=&quot;20148&quot; value=&quot;5&quot;/&gt;&lt;property id=&quot;20300&quot; value=&quot;Slide 1 - &amp;quot;Insert Title Here&amp;quot;&quot;/&gt;&lt;property id=&quot;20307&quot; value=&quot;269&quot;/&gt;&lt;/object&gt;&lt;object type=&quot;3&quot; unique_id=&quot;48000&quot;&gt;&lt;property id=&quot;20148&quot; value=&quot;5&quot;/&gt;&lt;property id=&quot;20300&quot; value=&quot;Slide 2 - &amp;quot;Header&amp;quot;&quot;/&gt;&lt;property id=&quot;20307&quot; value=&quot;266&quot;/&gt;&lt;/object&gt;&lt;object type=&quot;3&quot; unique_id=&quot;48001&quot;&gt;&lt;property id=&quot;20148&quot; value=&quot;5&quot;/&gt;&lt;property id=&quot;20300&quot; value=&quot;Slide 7&quot;/&gt;&lt;property id=&quot;20307&quot; value=&quot;267&quot;/&gt;&lt;/object&gt;&lt;object type=&quot;3&quot; unique_id=&quot;48032&quot;&gt;&lt;property id=&quot;20148&quot; value=&quot;5&quot;/&gt;&lt;property id=&quot;20300&quot; value=&quot;Slide 3&quot;/&gt;&lt;property id=&quot;20307&quot; value=&quot;270&quot;/&gt;&lt;/object&gt;&lt;object type=&quot;3&quot; unique_id=&quot;48033&quot;&gt;&lt;property id=&quot;20148&quot; value=&quot;5&quot;/&gt;&lt;property id=&quot;20300&quot; value=&quot;Slide 4&quot;/&gt;&lt;property id=&quot;20307&quot; value=&quot;271&quot;/&gt;&lt;/object&gt;&lt;object type=&quot;3&quot; unique_id=&quot;48034&quot;&gt;&lt;property id=&quot;20148&quot; value=&quot;5&quot;/&gt;&lt;property id=&quot;20300&quot; value=&quot;Slide 5&quot;/&gt;&lt;property id=&quot;20307&quot; value=&quot;272&quot;/&gt;&lt;/object&gt;&lt;object type=&quot;3&quot; unique_id=&quot;48035&quot;&gt;&lt;property id=&quot;20148&quot; value=&quot;5&quot;/&gt;&lt;property id=&quot;20300&quot; value=&quot;Slide 6&quot;/&gt;&lt;property id=&quot;20307&quot; value=&quot;273&quot;/&gt;&lt;/object&gt;&lt;/object&gt;&lt;object type=&quot;8&quot; unique_id=&quot;48006&quot;&gt;&lt;/object&gt;&lt;/object&gt;&lt;/database&gt;"/>
  <p:tag name="SECTOMILLISECCONVERTED" val="1"/>
</p:tagLst>
</file>

<file path=ppt/theme/theme1.xml><?xml version="1.0" encoding="utf-8"?>
<a:theme xmlns:a="http://schemas.openxmlformats.org/drawingml/2006/main" name="1_Body Slides">
  <a:themeElements>
    <a:clrScheme name="Southern Methodist University palette">
      <a:dk1>
        <a:srgbClr val="000000"/>
      </a:dk1>
      <a:lt1>
        <a:srgbClr val="FFFFFF"/>
      </a:lt1>
      <a:dk2>
        <a:srgbClr val="303651"/>
      </a:dk2>
      <a:lt2>
        <a:srgbClr val="8EB8E5"/>
      </a:lt2>
      <a:accent1>
        <a:srgbClr val="344CA1"/>
      </a:accent1>
      <a:accent2>
        <a:srgbClr val="DDCBA3"/>
      </a:accent2>
      <a:accent3>
        <a:srgbClr val="CC0034"/>
      </a:accent3>
      <a:accent4>
        <a:srgbClr val="928981"/>
      </a:accent4>
      <a:accent5>
        <a:srgbClr val="F9CA12"/>
      </a:accent5>
      <a:accent6>
        <a:srgbClr val="404041"/>
      </a:accent6>
      <a:hlink>
        <a:srgbClr val="0562C1"/>
      </a:hlink>
      <a:folHlink>
        <a:srgbClr val="0563C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50885</TotalTime>
  <Words>5251</Words>
  <Application>Microsoft Macintosh PowerPoint</Application>
  <PresentationFormat>Widescreen</PresentationFormat>
  <Paragraphs>674</Paragraphs>
  <Slides>74</Slides>
  <Notes>22</Notes>
  <HiddenSlides>5</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74</vt:i4>
      </vt:variant>
    </vt:vector>
  </HeadingPairs>
  <TitlesOfParts>
    <vt:vector size="81" baseType="lpstr">
      <vt:lpstr>Arial</vt:lpstr>
      <vt:lpstr>Calibri</vt:lpstr>
      <vt:lpstr>Cambria Math</vt:lpstr>
      <vt:lpstr>Helvetica</vt:lpstr>
      <vt:lpstr>Proxima Nova</vt:lpstr>
      <vt:lpstr>Wingdings</vt:lpstr>
      <vt:lpstr>1_Body Slides</vt:lpstr>
      <vt:lpstr>For Live Session Assignment (FLS) </vt:lpstr>
      <vt:lpstr>Quick Quiz Questions</vt:lpstr>
      <vt:lpstr>Quick Quiz Questions</vt:lpstr>
      <vt:lpstr>Quick Quiz Questions</vt:lpstr>
      <vt:lpstr>Quick Quiz Questions</vt:lpstr>
      <vt:lpstr>Quick Quiz Questions</vt:lpstr>
      <vt:lpstr>Overfitting</vt:lpstr>
      <vt:lpstr>Break Out</vt:lpstr>
      <vt:lpstr> Influential Points: Leverage, Studentized Residuals and Cook’s D</vt:lpstr>
      <vt:lpstr>Example:  Leverage, Studentized Residuals and Cook’s D</vt:lpstr>
      <vt:lpstr>Data Set 1 (Excluded)</vt:lpstr>
      <vt:lpstr>Data Set 2 (Included)</vt:lpstr>
      <vt:lpstr>Excluded vs. Included</vt:lpstr>
      <vt:lpstr>The Idea of Leverage</vt:lpstr>
      <vt:lpstr>Definition of Leverage (one explanatory variable)</vt:lpstr>
      <vt:lpstr>Studentized Residual</vt:lpstr>
      <vt:lpstr>Cook’s Distance (D)</vt:lpstr>
      <vt:lpstr>Cook’s D!</vt:lpstr>
      <vt:lpstr>Break Out</vt:lpstr>
      <vt:lpstr>Identify the dark dot as having high or low: leverage, residual and Cook’s D. </vt:lpstr>
      <vt:lpstr>Studentized Residuals, Leverage and Cook’s D!</vt:lpstr>
      <vt:lpstr>PROC REG or GLM</vt:lpstr>
      <vt:lpstr>Proc Reg or GLM</vt:lpstr>
      <vt:lpstr>Break Out</vt:lpstr>
      <vt:lpstr>PowerPoint Presentation</vt:lpstr>
      <vt:lpstr>End Quick Quiz Questions</vt:lpstr>
      <vt:lpstr>Question 1</vt:lpstr>
      <vt:lpstr>Chalk Talk</vt:lpstr>
      <vt:lpstr>Break Out</vt:lpstr>
      <vt:lpstr>PowerPoint Presentation</vt:lpstr>
      <vt:lpstr>PowerPoint Presentation</vt:lpstr>
      <vt:lpstr>Simply Answer the Question in 13.12 on 2DS!</vt:lpstr>
      <vt:lpstr>Break Out</vt:lpstr>
      <vt:lpstr>Sub Question 1</vt:lpstr>
      <vt:lpstr>Sub Question 2</vt:lpstr>
      <vt:lpstr>Sub Question 3</vt:lpstr>
      <vt:lpstr>Sub Question 4</vt:lpstr>
      <vt:lpstr>Sub Question 5</vt:lpstr>
      <vt:lpstr>Review</vt:lpstr>
      <vt:lpstr>Echolocation!!!</vt:lpstr>
      <vt:lpstr>Echolocation!!!</vt:lpstr>
      <vt:lpstr>Echolocation!!!</vt:lpstr>
      <vt:lpstr>Echolocation!!!</vt:lpstr>
      <vt:lpstr>Echolocation!!!</vt:lpstr>
      <vt:lpstr>Echolocation!!!</vt:lpstr>
      <vt:lpstr>Echolocation!!!</vt:lpstr>
      <vt:lpstr>Break Out 2</vt:lpstr>
      <vt:lpstr>Breakout!: Try it! </vt:lpstr>
      <vt:lpstr>Example Sum of Squares Test</vt:lpstr>
      <vt:lpstr>Example Sum of Squares Test</vt:lpstr>
      <vt:lpstr>Example Sum of Squares Test</vt:lpstr>
      <vt:lpstr>Example Sum of Squares Test</vt:lpstr>
      <vt:lpstr>Example Sum of Squares Test</vt:lpstr>
      <vt:lpstr>Example Sum of Squares Test</vt:lpstr>
      <vt:lpstr>Confidence Intervals for Linear Combinations of Coefficients</vt:lpstr>
      <vt:lpstr>Confidence Interval for a Difference in Parameters</vt:lpstr>
      <vt:lpstr>Confidence Interval for a Difference in Parameters</vt:lpstr>
      <vt:lpstr>How to Find the Var/Cov Matrix in SAS?</vt:lpstr>
      <vt:lpstr>Energy Cost of Echolocation</vt:lpstr>
      <vt:lpstr>Interpretation</vt:lpstr>
      <vt:lpstr>PowerPoint Presentation</vt:lpstr>
      <vt:lpstr>Breakout 3</vt:lpstr>
      <vt:lpstr>  A.  Using the Reference method in proc glm. Just think about what you would do.   B.  Using the Variance / Covariance Method in proc reg.  (Hint: You will have had to adjust the data … use the following output below to think about how you would construct this interval.)</vt:lpstr>
      <vt:lpstr>A.  Using the Reference method in proc glm. Find a 95% confidence interval for the difference between the intercepts for the non-echolocating bats and birds. (β_2)</vt:lpstr>
      <vt:lpstr>B.  Using the Variance / Covariance Method in proc reg.   (Hint: You will have to adjust the data!)</vt:lpstr>
      <vt:lpstr>Variance Covariance Matrix in R</vt:lpstr>
      <vt:lpstr>Another Example: Metabolism Study Variance / Covariance Method</vt:lpstr>
      <vt:lpstr>Another Example!</vt:lpstr>
      <vt:lpstr>PowerPoint Presentation</vt:lpstr>
      <vt:lpstr>PowerPoint Presentation</vt:lpstr>
      <vt:lpstr>Example: Metabolism Study: Re-centering method</vt:lpstr>
      <vt:lpstr>Question 2: Takeaways!</vt:lpstr>
      <vt:lpstr>Question 3: Questions!</vt:lpstr>
      <vt:lpstr>End For Live Session Assignment Unit 12!</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Southern Methodist University</dc:title>
  <dc:subject/>
  <dc:creator>Administrator</dc:creator>
  <cp:keywords/>
  <dc:description/>
  <cp:lastModifiedBy>Sadler, Bivin Philip</cp:lastModifiedBy>
  <cp:revision>348</cp:revision>
  <cp:lastPrinted>2020-09-21T07:53:02Z</cp:lastPrinted>
  <dcterms:created xsi:type="dcterms:W3CDTF">2016-03-21T14:12:59Z</dcterms:created>
  <dcterms:modified xsi:type="dcterms:W3CDTF">2025-04-04T01:25:47Z</dcterms:modified>
  <cp:category/>
</cp:coreProperties>
</file>