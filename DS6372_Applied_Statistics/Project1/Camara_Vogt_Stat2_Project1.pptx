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61" r:id="rId3"/>
    <p:sldId id="257" r:id="rId4"/>
    <p:sldId id="258" r:id="rId5"/>
    <p:sldId id="262" r:id="rId6"/>
    <p:sldId id="274" r:id="rId7"/>
    <p:sldId id="282" r:id="rId8"/>
    <p:sldId id="259" r:id="rId9"/>
    <p:sldId id="260" r:id="rId10"/>
    <p:sldId id="296" r:id="rId11"/>
    <p:sldId id="276" r:id="rId12"/>
    <p:sldId id="277" r:id="rId13"/>
    <p:sldId id="278" r:id="rId14"/>
    <p:sldId id="279" r:id="rId15"/>
    <p:sldId id="280" r:id="rId16"/>
    <p:sldId id="297" r:id="rId17"/>
    <p:sldId id="299" r:id="rId18"/>
    <p:sldId id="283" r:id="rId19"/>
    <p:sldId id="301" r:id="rId20"/>
    <p:sldId id="302" r:id="rId21"/>
    <p:sldId id="284" r:id="rId22"/>
    <p:sldId id="285" r:id="rId23"/>
    <p:sldId id="289" r:id="rId24"/>
    <p:sldId id="291" r:id="rId25"/>
  </p:sldIdLst>
  <p:sldSz cx="9144000" cy="6858000" type="screen4x3"/>
  <p:notesSz cx="6858000" cy="9144000"/>
  <p:embeddedFontLst>
    <p:embeddedFont>
      <p:font typeface="Arial MT Pro" panose="020B0604020202020204" charset="0"/>
      <p:regular r:id="rId26"/>
    </p:embeddedFont>
    <p:embeddedFont>
      <p:font typeface="HK Modular" panose="020B0604020202020204" charset="0"/>
      <p:regular r:id="rId27"/>
    </p:embeddedFont>
    <p:embeddedFont>
      <p:font typeface="Open Sans" panose="020B0606030504020204" pitchFamily="34" charset="0"/>
      <p:regular r:id="rId28"/>
      <p:bold r:id="rId29"/>
      <p:italic r:id="rId30"/>
      <p:boldItalic r:id="rId31"/>
    </p:embeddedFont>
    <p:embeddedFont>
      <p:font typeface="Raleway" pitchFamily="2" charset="0"/>
      <p:regular r:id="rId32"/>
      <p:bold r:id="rId33"/>
      <p:italic r:id="rId34"/>
      <p:boldItalic r:id="rId35"/>
    </p:embeddedFont>
    <p:embeddedFont>
      <p:font typeface="Raleway Bold" pitchFamily="2" charset="0"/>
      <p:regular r:id="rId36"/>
      <p:bold r:id="rId37"/>
    </p:embeddedFont>
    <p:embeddedFont>
      <p:font typeface="Raleway Bold Italics" panose="020B0604020202020204" charset="0"/>
      <p:regular r:id="rId3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440" userDrawn="1">
          <p15:clr>
            <a:srgbClr val="A4A3A4"/>
          </p15:clr>
        </p15:guide>
        <p15:guide id="2" pos="14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6495F01-E114-2C0A-FB6C-837FE707C215}" v="11163" dt="2025-09-25T03:11:29.92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1440"/>
        <p:guide pos="144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font" Target="fonts/font9.fntdata"/><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4.fntdata"/><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37" Type="http://schemas.openxmlformats.org/officeDocument/2006/relationships/font" Target="fonts/font12.fntdata"/><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font" Target="fonts/font11.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font" Target="fonts/font10.fntdata"/><Relationship Id="rId43" Type="http://schemas.microsoft.com/office/2015/10/relationships/revisionInfo" Target="revisionInfo.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8.fntdata"/><Relationship Id="rId38" Type="http://schemas.openxmlformats.org/officeDocument/2006/relationships/font" Target="fonts/font13.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42900" y="1420283"/>
            <a:ext cx="3886200" cy="980017"/>
          </a:xfrm>
        </p:spPr>
        <p:txBody>
          <a:bodyPr/>
          <a:lstStyle/>
          <a:p>
            <a:r>
              <a:rPr lang="en-US"/>
              <a:t>Click to edit Master title style</a:t>
            </a:r>
          </a:p>
        </p:txBody>
      </p:sp>
      <p:sp>
        <p:nvSpPr>
          <p:cNvPr id="3" name="Subtitle 2"/>
          <p:cNvSpPr>
            <a:spLocks noGrp="1"/>
          </p:cNvSpPr>
          <p:nvPr>
            <p:ph type="subTitle" idx="1"/>
          </p:nvPr>
        </p:nvSpPr>
        <p:spPr>
          <a:xfrm>
            <a:off x="685800" y="2590800"/>
            <a:ext cx="3200400" cy="1168400"/>
          </a:xfrm>
        </p:spPr>
        <p:txBody>
          <a:bodyPr/>
          <a:lstStyle>
            <a:lvl1pPr marL="0" indent="0" algn="ctr">
              <a:buNone/>
              <a:defRPr>
                <a:solidFill>
                  <a:schemeClr val="tx1">
                    <a:tint val="75000"/>
                  </a:schemeClr>
                </a:solidFill>
              </a:defRPr>
            </a:lvl1pPr>
            <a:lvl2pPr marL="228600" indent="0" algn="ctr">
              <a:buNone/>
              <a:defRPr>
                <a:solidFill>
                  <a:schemeClr val="tx1">
                    <a:tint val="75000"/>
                  </a:schemeClr>
                </a:solidFill>
              </a:defRPr>
            </a:lvl2pPr>
            <a:lvl3pPr marL="457200" indent="0" algn="ctr">
              <a:buNone/>
              <a:defRPr>
                <a:solidFill>
                  <a:schemeClr val="tx1">
                    <a:tint val="75000"/>
                  </a:schemeClr>
                </a:solidFill>
              </a:defRPr>
            </a:lvl3pPr>
            <a:lvl4pPr marL="685800" indent="0" algn="ctr">
              <a:buNone/>
              <a:defRPr>
                <a:solidFill>
                  <a:schemeClr val="tx1">
                    <a:tint val="75000"/>
                  </a:schemeClr>
                </a:solidFill>
              </a:defRPr>
            </a:lvl4pPr>
            <a:lvl5pPr marL="914400" indent="0" algn="ctr">
              <a:buNone/>
              <a:defRPr>
                <a:solidFill>
                  <a:schemeClr val="tx1">
                    <a:tint val="75000"/>
                  </a:schemeClr>
                </a:solidFill>
              </a:defRPr>
            </a:lvl5pPr>
            <a:lvl6pPr marL="1143000" indent="0" algn="ctr">
              <a:buNone/>
              <a:defRPr>
                <a:solidFill>
                  <a:schemeClr val="tx1">
                    <a:tint val="75000"/>
                  </a:schemeClr>
                </a:solidFill>
              </a:defRPr>
            </a:lvl6pPr>
            <a:lvl7pPr marL="1371600" indent="0" algn="ctr">
              <a:buNone/>
              <a:defRPr>
                <a:solidFill>
                  <a:schemeClr val="tx1">
                    <a:tint val="75000"/>
                  </a:schemeClr>
                </a:solidFill>
              </a:defRPr>
            </a:lvl7pPr>
            <a:lvl8pPr marL="1600200" indent="0" algn="ctr">
              <a:buNone/>
              <a:defRPr>
                <a:solidFill>
                  <a:schemeClr val="tx1">
                    <a:tint val="75000"/>
                  </a:schemeClr>
                </a:solidFill>
              </a:defRPr>
            </a:lvl8pPr>
            <a:lvl9pPr marL="18288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61157" y="2937934"/>
            <a:ext cx="3886200" cy="908050"/>
          </a:xfrm>
        </p:spPr>
        <p:txBody>
          <a:bodyPr anchor="t"/>
          <a:lstStyle>
            <a:lvl1pPr algn="l">
              <a:defRPr sz="2000" b="1" cap="all"/>
            </a:lvl1pPr>
          </a:lstStyle>
          <a:p>
            <a:r>
              <a:rPr lang="en-US"/>
              <a:t>Click to edit Master title style</a:t>
            </a:r>
          </a:p>
        </p:txBody>
      </p:sp>
      <p:sp>
        <p:nvSpPr>
          <p:cNvPr id="3" name="Text Placeholder 2"/>
          <p:cNvSpPr>
            <a:spLocks noGrp="1"/>
          </p:cNvSpPr>
          <p:nvPr>
            <p:ph type="body" idx="1"/>
          </p:nvPr>
        </p:nvSpPr>
        <p:spPr>
          <a:xfrm>
            <a:off x="361157" y="1937809"/>
            <a:ext cx="3886200" cy="1000125"/>
          </a:xfrm>
        </p:spPr>
        <p:txBody>
          <a:bodyPr anchor="b"/>
          <a:lstStyle>
            <a:lvl1pPr marL="0" indent="0">
              <a:buNone/>
              <a:defRPr sz="1000">
                <a:solidFill>
                  <a:schemeClr val="tx1">
                    <a:tint val="75000"/>
                  </a:schemeClr>
                </a:solidFill>
              </a:defRPr>
            </a:lvl1pPr>
            <a:lvl2pPr marL="228600" indent="0">
              <a:buNone/>
              <a:defRPr sz="900">
                <a:solidFill>
                  <a:schemeClr val="tx1">
                    <a:tint val="75000"/>
                  </a:schemeClr>
                </a:solidFill>
              </a:defRPr>
            </a:lvl2pPr>
            <a:lvl3pPr marL="457200" indent="0">
              <a:buNone/>
              <a:defRPr sz="800">
                <a:solidFill>
                  <a:schemeClr val="tx1">
                    <a:tint val="75000"/>
                  </a:schemeClr>
                </a:solidFill>
              </a:defRPr>
            </a:lvl3pPr>
            <a:lvl4pPr marL="685800" indent="0">
              <a:buNone/>
              <a:defRPr sz="700">
                <a:solidFill>
                  <a:schemeClr val="tx1">
                    <a:tint val="75000"/>
                  </a:schemeClr>
                </a:solidFill>
              </a:defRPr>
            </a:lvl4pPr>
            <a:lvl5pPr marL="914400" indent="0">
              <a:buNone/>
              <a:defRPr sz="700">
                <a:solidFill>
                  <a:schemeClr val="tx1">
                    <a:tint val="75000"/>
                  </a:schemeClr>
                </a:solidFill>
              </a:defRPr>
            </a:lvl5pPr>
            <a:lvl6pPr marL="1143000" indent="0">
              <a:buNone/>
              <a:defRPr sz="700">
                <a:solidFill>
                  <a:schemeClr val="tx1">
                    <a:tint val="75000"/>
                  </a:schemeClr>
                </a:solidFill>
              </a:defRPr>
            </a:lvl6pPr>
            <a:lvl7pPr marL="1371600" indent="0">
              <a:buNone/>
              <a:defRPr sz="700">
                <a:solidFill>
                  <a:schemeClr val="tx1">
                    <a:tint val="75000"/>
                  </a:schemeClr>
                </a:solidFill>
              </a:defRPr>
            </a:lvl7pPr>
            <a:lvl8pPr marL="1600200" indent="0">
              <a:buNone/>
              <a:defRPr sz="700">
                <a:solidFill>
                  <a:schemeClr val="tx1">
                    <a:tint val="75000"/>
                  </a:schemeClr>
                </a:solidFill>
              </a:defRPr>
            </a:lvl8pPr>
            <a:lvl9pPr marL="1828800" indent="0">
              <a:buNone/>
              <a:defRPr sz="7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28600" y="1066800"/>
            <a:ext cx="2019300" cy="3017309"/>
          </a:xfrm>
        </p:spPr>
        <p:txBody>
          <a:bodyPr/>
          <a:lstStyle>
            <a:lvl1pPr>
              <a:defRPr sz="1400"/>
            </a:lvl1pPr>
            <a:lvl2pPr>
              <a:defRPr sz="1200"/>
            </a:lvl2pPr>
            <a:lvl3pPr>
              <a:defRPr sz="100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2324100" y="1066800"/>
            <a:ext cx="2019300" cy="3017309"/>
          </a:xfrm>
        </p:spPr>
        <p:txBody>
          <a:bodyPr/>
          <a:lstStyle>
            <a:lvl1pPr>
              <a:defRPr sz="1400"/>
            </a:lvl1pPr>
            <a:lvl2pPr>
              <a:defRPr sz="1200"/>
            </a:lvl2pPr>
            <a:lvl3pPr>
              <a:defRPr sz="100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228600" y="1023409"/>
            <a:ext cx="2020094" cy="426508"/>
          </a:xfrm>
        </p:spPr>
        <p:txBody>
          <a:bodyPr anchor="b"/>
          <a:lstStyle>
            <a:lvl1pPr marL="0" indent="0">
              <a:buNone/>
              <a:defRPr sz="1200" b="1"/>
            </a:lvl1pPr>
            <a:lvl2pPr marL="228600" indent="0">
              <a:buNone/>
              <a:defRPr sz="1000" b="1"/>
            </a:lvl2pPr>
            <a:lvl3pPr marL="457200" indent="0">
              <a:buNone/>
              <a:defRPr sz="900" b="1"/>
            </a:lvl3pPr>
            <a:lvl4pPr marL="685800" indent="0">
              <a:buNone/>
              <a:defRPr sz="800" b="1"/>
            </a:lvl4pPr>
            <a:lvl5pPr marL="914400" indent="0">
              <a:buNone/>
              <a:defRPr sz="800" b="1"/>
            </a:lvl5pPr>
            <a:lvl6pPr marL="1143000" indent="0">
              <a:buNone/>
              <a:defRPr sz="800" b="1"/>
            </a:lvl6pPr>
            <a:lvl7pPr marL="1371600" indent="0">
              <a:buNone/>
              <a:defRPr sz="800" b="1"/>
            </a:lvl7pPr>
            <a:lvl8pPr marL="1600200" indent="0">
              <a:buNone/>
              <a:defRPr sz="800" b="1"/>
            </a:lvl8pPr>
            <a:lvl9pPr marL="1828800" indent="0">
              <a:buNone/>
              <a:defRPr sz="800" b="1"/>
            </a:lvl9pPr>
          </a:lstStyle>
          <a:p>
            <a:pPr lvl="0"/>
            <a:r>
              <a:rPr lang="en-US"/>
              <a:t>Click to edit Master text styles</a:t>
            </a:r>
          </a:p>
        </p:txBody>
      </p:sp>
      <p:sp>
        <p:nvSpPr>
          <p:cNvPr id="4" name="Content Placeholder 3"/>
          <p:cNvSpPr>
            <a:spLocks noGrp="1"/>
          </p:cNvSpPr>
          <p:nvPr>
            <p:ph sz="half" idx="2"/>
          </p:nvPr>
        </p:nvSpPr>
        <p:spPr>
          <a:xfrm>
            <a:off x="228600" y="1449917"/>
            <a:ext cx="2020094" cy="2634192"/>
          </a:xfrm>
        </p:spPr>
        <p:txBody>
          <a:bodyPr/>
          <a:lstStyle>
            <a:lvl1pPr>
              <a:defRPr sz="1200"/>
            </a:lvl1pPr>
            <a:lvl2pPr>
              <a:defRPr sz="1000"/>
            </a:lvl2pPr>
            <a:lvl3pPr>
              <a:defRPr sz="900"/>
            </a:lvl3pPr>
            <a:lvl4pPr>
              <a:defRPr sz="800"/>
            </a:lvl4pPr>
            <a:lvl5pPr>
              <a:defRPr sz="800"/>
            </a:lvl5pPr>
            <a:lvl6pPr>
              <a:defRPr sz="800"/>
            </a:lvl6pPr>
            <a:lvl7pPr>
              <a:defRPr sz="800"/>
            </a:lvl7pPr>
            <a:lvl8pPr>
              <a:defRPr sz="800"/>
            </a:lvl8pPr>
            <a:lvl9pPr>
              <a:defRPr sz="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2322513" y="1023409"/>
            <a:ext cx="2020888" cy="426508"/>
          </a:xfrm>
        </p:spPr>
        <p:txBody>
          <a:bodyPr anchor="b"/>
          <a:lstStyle>
            <a:lvl1pPr marL="0" indent="0">
              <a:buNone/>
              <a:defRPr sz="1200" b="1"/>
            </a:lvl1pPr>
            <a:lvl2pPr marL="228600" indent="0">
              <a:buNone/>
              <a:defRPr sz="1000" b="1"/>
            </a:lvl2pPr>
            <a:lvl3pPr marL="457200" indent="0">
              <a:buNone/>
              <a:defRPr sz="900" b="1"/>
            </a:lvl3pPr>
            <a:lvl4pPr marL="685800" indent="0">
              <a:buNone/>
              <a:defRPr sz="800" b="1"/>
            </a:lvl4pPr>
            <a:lvl5pPr marL="914400" indent="0">
              <a:buNone/>
              <a:defRPr sz="800" b="1"/>
            </a:lvl5pPr>
            <a:lvl6pPr marL="1143000" indent="0">
              <a:buNone/>
              <a:defRPr sz="800" b="1"/>
            </a:lvl6pPr>
            <a:lvl7pPr marL="1371600" indent="0">
              <a:buNone/>
              <a:defRPr sz="800" b="1"/>
            </a:lvl7pPr>
            <a:lvl8pPr marL="1600200" indent="0">
              <a:buNone/>
              <a:defRPr sz="800" b="1"/>
            </a:lvl8pPr>
            <a:lvl9pPr marL="1828800" indent="0">
              <a:buNone/>
              <a:defRPr sz="800" b="1"/>
            </a:lvl9pPr>
          </a:lstStyle>
          <a:p>
            <a:pPr lvl="0"/>
            <a:r>
              <a:rPr lang="en-US"/>
              <a:t>Click to edit Master text styles</a:t>
            </a:r>
          </a:p>
        </p:txBody>
      </p:sp>
      <p:sp>
        <p:nvSpPr>
          <p:cNvPr id="6" name="Content Placeholder 5"/>
          <p:cNvSpPr>
            <a:spLocks noGrp="1"/>
          </p:cNvSpPr>
          <p:nvPr>
            <p:ph sz="quarter" idx="4"/>
          </p:nvPr>
        </p:nvSpPr>
        <p:spPr>
          <a:xfrm>
            <a:off x="2322513" y="1449917"/>
            <a:ext cx="2020888" cy="2634192"/>
          </a:xfrm>
        </p:spPr>
        <p:txBody>
          <a:bodyPr/>
          <a:lstStyle>
            <a:lvl1pPr>
              <a:defRPr sz="1200"/>
            </a:lvl1pPr>
            <a:lvl2pPr>
              <a:defRPr sz="1000"/>
            </a:lvl2pPr>
            <a:lvl3pPr>
              <a:defRPr sz="900"/>
            </a:lvl3pPr>
            <a:lvl4pPr>
              <a:defRPr sz="800"/>
            </a:lvl4pPr>
            <a:lvl5pPr>
              <a:defRPr sz="800"/>
            </a:lvl5pPr>
            <a:lvl6pPr>
              <a:defRPr sz="800"/>
            </a:lvl6pPr>
            <a:lvl7pPr>
              <a:defRPr sz="800"/>
            </a:lvl7pPr>
            <a:lvl8pPr>
              <a:defRPr sz="800"/>
            </a:lvl8pPr>
            <a:lvl9pPr>
              <a:defRPr sz="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9/24/2025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9/24/2025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9/24/2025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28600" y="182033"/>
            <a:ext cx="1504157" cy="774700"/>
          </a:xfrm>
        </p:spPr>
        <p:txBody>
          <a:bodyPr anchor="b"/>
          <a:lstStyle>
            <a:lvl1pPr algn="l">
              <a:defRPr sz="1000" b="1"/>
            </a:lvl1pPr>
          </a:lstStyle>
          <a:p>
            <a:r>
              <a:rPr lang="en-US"/>
              <a:t>Click to edit Master title style</a:t>
            </a:r>
          </a:p>
        </p:txBody>
      </p:sp>
      <p:sp>
        <p:nvSpPr>
          <p:cNvPr id="3" name="Content Placeholder 2"/>
          <p:cNvSpPr>
            <a:spLocks noGrp="1"/>
          </p:cNvSpPr>
          <p:nvPr>
            <p:ph idx="1"/>
          </p:nvPr>
        </p:nvSpPr>
        <p:spPr>
          <a:xfrm>
            <a:off x="1787525" y="182034"/>
            <a:ext cx="2555875" cy="3902075"/>
          </a:xfrm>
        </p:spPr>
        <p:txBody>
          <a:bodyPr/>
          <a:lstStyle>
            <a:lvl1pPr>
              <a:defRPr sz="1600"/>
            </a:lvl1pPr>
            <a:lvl2pPr>
              <a:defRPr sz="1400"/>
            </a:lvl2pPr>
            <a:lvl3pPr>
              <a:defRPr sz="1200"/>
            </a:lvl3pPr>
            <a:lvl4pPr>
              <a:defRPr sz="1000"/>
            </a:lvl4pPr>
            <a:lvl5pPr>
              <a:defRPr sz="1000"/>
            </a:lvl5pPr>
            <a:lvl6pPr>
              <a:defRPr sz="1000"/>
            </a:lvl6pPr>
            <a:lvl7pPr>
              <a:defRPr sz="1000"/>
            </a:lvl7pPr>
            <a:lvl8pPr>
              <a:defRPr sz="1000"/>
            </a:lvl8pPr>
            <a:lvl9pPr>
              <a:defRPr sz="1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28600" y="956734"/>
            <a:ext cx="1504157" cy="3127375"/>
          </a:xfrm>
        </p:spPr>
        <p:txBody>
          <a:bodyPr/>
          <a:lstStyle>
            <a:lvl1pPr marL="0" indent="0">
              <a:buNone/>
              <a:defRPr sz="700"/>
            </a:lvl1pPr>
            <a:lvl2pPr marL="228600" indent="0">
              <a:buNone/>
              <a:defRPr sz="600"/>
            </a:lvl2pPr>
            <a:lvl3pPr marL="457200" indent="0">
              <a:buNone/>
              <a:defRPr sz="500"/>
            </a:lvl3pPr>
            <a:lvl4pPr marL="685800" indent="0">
              <a:buNone/>
              <a:defRPr sz="450"/>
            </a:lvl4pPr>
            <a:lvl5pPr marL="914400" indent="0">
              <a:buNone/>
              <a:defRPr sz="450"/>
            </a:lvl5pPr>
            <a:lvl6pPr marL="1143000" indent="0">
              <a:buNone/>
              <a:defRPr sz="450"/>
            </a:lvl6pPr>
            <a:lvl7pPr marL="1371600" indent="0">
              <a:buNone/>
              <a:defRPr sz="450"/>
            </a:lvl7pPr>
            <a:lvl8pPr marL="1600200" indent="0">
              <a:buNone/>
              <a:defRPr sz="450"/>
            </a:lvl8pPr>
            <a:lvl9pPr marL="1828800" indent="0">
              <a:buNone/>
              <a:defRPr sz="45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96144" y="3200400"/>
            <a:ext cx="2743200" cy="377825"/>
          </a:xfrm>
        </p:spPr>
        <p:txBody>
          <a:bodyPr anchor="b"/>
          <a:lstStyle>
            <a:lvl1pPr algn="l">
              <a:defRPr sz="1000" b="1"/>
            </a:lvl1pPr>
          </a:lstStyle>
          <a:p>
            <a:r>
              <a:rPr lang="en-US"/>
              <a:t>Click to edit Master title style</a:t>
            </a:r>
          </a:p>
        </p:txBody>
      </p:sp>
      <p:sp>
        <p:nvSpPr>
          <p:cNvPr id="3" name="Picture Placeholder 2"/>
          <p:cNvSpPr>
            <a:spLocks noGrp="1"/>
          </p:cNvSpPr>
          <p:nvPr>
            <p:ph type="pic" idx="1"/>
          </p:nvPr>
        </p:nvSpPr>
        <p:spPr>
          <a:xfrm>
            <a:off x="896144" y="408517"/>
            <a:ext cx="2743200" cy="2743200"/>
          </a:xfrm>
        </p:spPr>
        <p:txBody>
          <a:bodyPr/>
          <a:lstStyle>
            <a:lvl1pPr marL="0" indent="0">
              <a:buNone/>
              <a:defRPr sz="1600"/>
            </a:lvl1pPr>
            <a:lvl2pPr marL="228600" indent="0">
              <a:buNone/>
              <a:defRPr sz="1400"/>
            </a:lvl2pPr>
            <a:lvl3pPr marL="457200" indent="0">
              <a:buNone/>
              <a:defRPr sz="1200"/>
            </a:lvl3pPr>
            <a:lvl4pPr marL="685800" indent="0">
              <a:buNone/>
              <a:defRPr sz="1000"/>
            </a:lvl4pPr>
            <a:lvl5pPr marL="914400" indent="0">
              <a:buNone/>
              <a:defRPr sz="1000"/>
            </a:lvl5pPr>
            <a:lvl6pPr marL="1143000" indent="0">
              <a:buNone/>
              <a:defRPr sz="1000"/>
            </a:lvl6pPr>
            <a:lvl7pPr marL="1371600" indent="0">
              <a:buNone/>
              <a:defRPr sz="1000"/>
            </a:lvl7pPr>
            <a:lvl8pPr marL="1600200" indent="0">
              <a:buNone/>
              <a:defRPr sz="1000"/>
            </a:lvl8pPr>
            <a:lvl9pPr marL="1828800" indent="0">
              <a:buNone/>
              <a:defRPr sz="1000"/>
            </a:lvl9pPr>
          </a:lstStyle>
          <a:p>
            <a:endParaRPr lang="en-US"/>
          </a:p>
        </p:txBody>
      </p:sp>
      <p:sp>
        <p:nvSpPr>
          <p:cNvPr id="4" name="Text Placeholder 3"/>
          <p:cNvSpPr>
            <a:spLocks noGrp="1"/>
          </p:cNvSpPr>
          <p:nvPr>
            <p:ph type="body" sz="half" idx="2"/>
          </p:nvPr>
        </p:nvSpPr>
        <p:spPr>
          <a:xfrm>
            <a:off x="896144" y="3578225"/>
            <a:ext cx="2743200" cy="536575"/>
          </a:xfrm>
        </p:spPr>
        <p:txBody>
          <a:bodyPr/>
          <a:lstStyle>
            <a:lvl1pPr marL="0" indent="0">
              <a:buNone/>
              <a:defRPr sz="700"/>
            </a:lvl1pPr>
            <a:lvl2pPr marL="228600" indent="0">
              <a:buNone/>
              <a:defRPr sz="600"/>
            </a:lvl2pPr>
            <a:lvl3pPr marL="457200" indent="0">
              <a:buNone/>
              <a:defRPr sz="500"/>
            </a:lvl3pPr>
            <a:lvl4pPr marL="685800" indent="0">
              <a:buNone/>
              <a:defRPr sz="450"/>
            </a:lvl4pPr>
            <a:lvl5pPr marL="914400" indent="0">
              <a:buNone/>
              <a:defRPr sz="450"/>
            </a:lvl5pPr>
            <a:lvl6pPr marL="1143000" indent="0">
              <a:buNone/>
              <a:defRPr sz="450"/>
            </a:lvl6pPr>
            <a:lvl7pPr marL="1371600" indent="0">
              <a:buNone/>
              <a:defRPr sz="450"/>
            </a:lvl7pPr>
            <a:lvl8pPr marL="1600200" indent="0">
              <a:buNone/>
              <a:defRPr sz="450"/>
            </a:lvl8pPr>
            <a:lvl9pPr marL="1828800" indent="0">
              <a:buNone/>
              <a:defRPr sz="45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314700" y="183092"/>
            <a:ext cx="1028700" cy="390101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28600" y="183092"/>
            <a:ext cx="3009900" cy="39010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28600" y="183092"/>
            <a:ext cx="4114800" cy="762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228600" y="1066800"/>
            <a:ext cx="4114800" cy="301730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228600" y="4237567"/>
            <a:ext cx="1066800" cy="243417"/>
          </a:xfrm>
          <a:prstGeom prst="rect">
            <a:avLst/>
          </a:prstGeom>
        </p:spPr>
        <p:txBody>
          <a:bodyPr vert="horz" lIns="91440" tIns="45720" rIns="91440" bIns="45720" rtlCol="0" anchor="ctr"/>
          <a:lstStyle>
            <a:lvl1pPr algn="l">
              <a:defRPr sz="600">
                <a:solidFill>
                  <a:schemeClr val="tx1">
                    <a:tint val="75000"/>
                  </a:schemeClr>
                </a:solidFill>
              </a:defRPr>
            </a:lvl1pPr>
          </a:lstStyle>
          <a:p>
            <a:fld id="{1D8BD707-D9CF-40AE-B4C6-C98DA3205C09}" type="datetimeFigureOut">
              <a:rPr lang="en-US" smtClean="0"/>
              <a:pPr/>
              <a:t>9/24/2025</a:t>
            </a:fld>
            <a:endParaRPr lang="en-US"/>
          </a:p>
        </p:txBody>
      </p:sp>
      <p:sp>
        <p:nvSpPr>
          <p:cNvPr id="5" name="Footer Placeholder 4"/>
          <p:cNvSpPr>
            <a:spLocks noGrp="1"/>
          </p:cNvSpPr>
          <p:nvPr>
            <p:ph type="ftr" sz="quarter" idx="3"/>
          </p:nvPr>
        </p:nvSpPr>
        <p:spPr>
          <a:xfrm>
            <a:off x="1562100" y="4237567"/>
            <a:ext cx="1447800" cy="243417"/>
          </a:xfrm>
          <a:prstGeom prst="rect">
            <a:avLst/>
          </a:prstGeom>
        </p:spPr>
        <p:txBody>
          <a:bodyPr vert="horz" lIns="91440" tIns="45720" rIns="91440" bIns="45720" rtlCol="0" anchor="ctr"/>
          <a:lstStyle>
            <a:lvl1pPr algn="ctr">
              <a:defRPr sz="6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3276600" y="4237567"/>
            <a:ext cx="1066800" cy="243417"/>
          </a:xfrm>
          <a:prstGeom prst="rect">
            <a:avLst/>
          </a:prstGeom>
        </p:spPr>
        <p:txBody>
          <a:bodyPr vert="horz" lIns="91440" tIns="45720" rIns="91440" bIns="45720" rtlCol="0" anchor="ctr"/>
          <a:lstStyle>
            <a:lvl1pPr algn="r">
              <a:defRPr sz="6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8" Type="http://schemas.openxmlformats.org/officeDocument/2006/relationships/image" Target="../media/image12.svg"/><Relationship Id="rId13" Type="http://schemas.openxmlformats.org/officeDocument/2006/relationships/image" Target="../media/image17.png"/><Relationship Id="rId3" Type="http://schemas.openxmlformats.org/officeDocument/2006/relationships/image" Target="../media/image7.svg"/><Relationship Id="rId7" Type="http://schemas.openxmlformats.org/officeDocument/2006/relationships/image" Target="../media/image11.png"/><Relationship Id="rId12" Type="http://schemas.openxmlformats.org/officeDocument/2006/relationships/image" Target="../media/image16.sv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svg"/><Relationship Id="rId11" Type="http://schemas.openxmlformats.org/officeDocument/2006/relationships/image" Target="../media/image15.png"/><Relationship Id="rId5" Type="http://schemas.openxmlformats.org/officeDocument/2006/relationships/image" Target="../media/image9.png"/><Relationship Id="rId10" Type="http://schemas.openxmlformats.org/officeDocument/2006/relationships/image" Target="../media/image14.svg"/><Relationship Id="rId4" Type="http://schemas.openxmlformats.org/officeDocument/2006/relationships/image" Target="../media/image8.jpeg"/><Relationship Id="rId9" Type="http://schemas.openxmlformats.org/officeDocument/2006/relationships/image" Target="../media/image13.png"/><Relationship Id="rId14" Type="http://schemas.openxmlformats.org/officeDocument/2006/relationships/image" Target="../media/image18.svg"/></Relationships>
</file>

<file path=ppt/slides/_rels/slide4.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7.svg"/><Relationship Id="rId7" Type="http://schemas.openxmlformats.org/officeDocument/2006/relationships/image" Target="../media/image15.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svg"/><Relationship Id="rId5" Type="http://schemas.openxmlformats.org/officeDocument/2006/relationships/image" Target="../media/image9.png"/><Relationship Id="rId10" Type="http://schemas.openxmlformats.org/officeDocument/2006/relationships/image" Target="../media/image18.svg"/><Relationship Id="rId4" Type="http://schemas.openxmlformats.org/officeDocument/2006/relationships/image" Target="../media/image8.jpeg"/><Relationship Id="rId9" Type="http://schemas.openxmlformats.org/officeDocument/2006/relationships/image" Target="../media/image1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26.png"/><Relationship Id="rId13" Type="http://schemas.openxmlformats.org/officeDocument/2006/relationships/image" Target="../media/image31.svg"/><Relationship Id="rId3" Type="http://schemas.openxmlformats.org/officeDocument/2006/relationships/image" Target="../media/image23.svg"/><Relationship Id="rId7" Type="http://schemas.openxmlformats.org/officeDocument/2006/relationships/image" Target="../media/image7.svg"/><Relationship Id="rId12" Type="http://schemas.openxmlformats.org/officeDocument/2006/relationships/image" Target="../media/image30.png"/><Relationship Id="rId2" Type="http://schemas.openxmlformats.org/officeDocument/2006/relationships/image" Target="../media/image22.png"/><Relationship Id="rId1" Type="http://schemas.openxmlformats.org/officeDocument/2006/relationships/slideLayout" Target="../slideLayouts/slideLayout7.xml"/><Relationship Id="rId6" Type="http://schemas.openxmlformats.org/officeDocument/2006/relationships/image" Target="../media/image6.png"/><Relationship Id="rId11" Type="http://schemas.openxmlformats.org/officeDocument/2006/relationships/image" Target="../media/image29.svg"/><Relationship Id="rId5" Type="http://schemas.openxmlformats.org/officeDocument/2006/relationships/image" Target="../media/image25.svg"/><Relationship Id="rId10" Type="http://schemas.openxmlformats.org/officeDocument/2006/relationships/image" Target="../media/image28.png"/><Relationship Id="rId4" Type="http://schemas.openxmlformats.org/officeDocument/2006/relationships/image" Target="../media/image24.png"/><Relationship Id="rId9" Type="http://schemas.openxmlformats.org/officeDocument/2006/relationships/image" Target="../media/image27.svg"/><Relationship Id="rId14" Type="http://schemas.openxmlformats.org/officeDocument/2006/relationships/image" Target="../media/image32.png"/></Relationships>
</file>

<file path=ppt/slides/_rels/slide9.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7.svg"/><Relationship Id="rId7" Type="http://schemas.openxmlformats.org/officeDocument/2006/relationships/image" Target="../media/image34.sv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33.png"/><Relationship Id="rId5" Type="http://schemas.openxmlformats.org/officeDocument/2006/relationships/image" Target="../media/image10.svg"/><Relationship Id="rId4" Type="http://schemas.openxmlformats.org/officeDocument/2006/relationships/image" Target="../media/image9.png"/><Relationship Id="rId9" Type="http://schemas.openxmlformats.org/officeDocument/2006/relationships/image" Target="../media/image36.svg"/></Relationships>
</file>

<file path=ppt/slides/_rels/slide10.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7.svg"/><Relationship Id="rId7" Type="http://schemas.openxmlformats.org/officeDocument/2006/relationships/image" Target="../media/image34.sv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33.png"/><Relationship Id="rId5" Type="http://schemas.openxmlformats.org/officeDocument/2006/relationships/image" Target="../media/image10.svg"/><Relationship Id="rId4" Type="http://schemas.openxmlformats.org/officeDocument/2006/relationships/image" Target="../media/image9.png"/><Relationship Id="rId9" Type="http://schemas.openxmlformats.org/officeDocument/2006/relationships/image" Target="../media/image36.svg"/></Relationships>
</file>

<file path=ppt/slides/_rels/slide1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 Id="rId5" Type="http://schemas.openxmlformats.org/officeDocument/2006/relationships/image" Target="../media/image49.png"/><Relationship Id="rId4" Type="http://schemas.openxmlformats.org/officeDocument/2006/relationships/image" Target="../media/image48.png"/></Relationships>
</file>

<file path=ppt/slides/_rels/slide21.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90909"/>
        </a:solidFill>
        <a:effectLst/>
      </p:bgPr>
    </p:bg>
    <p:spTree>
      <p:nvGrpSpPr>
        <p:cNvPr id="1" name=""/>
        <p:cNvGrpSpPr/>
        <p:nvPr/>
      </p:nvGrpSpPr>
      <p:grpSpPr>
        <a:xfrm>
          <a:off x="0" y="0"/>
          <a:ext cx="0" cy="0"/>
          <a:chOff x="0" y="0"/>
          <a:chExt cx="0" cy="0"/>
        </a:xfrm>
      </p:grpSpPr>
      <p:sp>
        <p:nvSpPr>
          <p:cNvPr id="2" name="Freeform 2"/>
          <p:cNvSpPr/>
          <p:nvPr/>
        </p:nvSpPr>
        <p:spPr>
          <a:xfrm flipH="1">
            <a:off x="1661575" y="857250"/>
            <a:ext cx="7474149" cy="5143500"/>
          </a:xfrm>
          <a:custGeom>
            <a:avLst/>
            <a:gdLst/>
            <a:ahLst/>
            <a:cxnLst/>
            <a:rect l="l" t="t" r="r" b="b"/>
            <a:pathLst>
              <a:path w="14948297" h="10287000">
                <a:moveTo>
                  <a:pt x="14948297" y="0"/>
                </a:moveTo>
                <a:lnTo>
                  <a:pt x="0" y="0"/>
                </a:lnTo>
                <a:lnTo>
                  <a:pt x="0" y="10287000"/>
                </a:lnTo>
                <a:lnTo>
                  <a:pt x="14948297" y="10287000"/>
                </a:lnTo>
                <a:lnTo>
                  <a:pt x="14948297" y="0"/>
                </a:lnTo>
                <a:close/>
              </a:path>
            </a:pathLst>
          </a:custGeom>
          <a:blipFill>
            <a:blip r:embed="rId2"/>
            <a:stretch>
              <a:fillRect l="-1621" r="-1603"/>
            </a:stretch>
          </a:blipFill>
        </p:spPr>
      </p:sp>
      <p:sp>
        <p:nvSpPr>
          <p:cNvPr id="3" name="Freeform 3"/>
          <p:cNvSpPr/>
          <p:nvPr/>
        </p:nvSpPr>
        <p:spPr>
          <a:xfrm>
            <a:off x="482599" y="1339849"/>
            <a:ext cx="343548" cy="272487"/>
          </a:xfrm>
          <a:custGeom>
            <a:avLst/>
            <a:gdLst/>
            <a:ahLst/>
            <a:cxnLst/>
            <a:rect l="l" t="t" r="r" b="b"/>
            <a:pathLst>
              <a:path w="687095" h="544973">
                <a:moveTo>
                  <a:pt x="0" y="0"/>
                </a:moveTo>
                <a:lnTo>
                  <a:pt x="687095" y="0"/>
                </a:lnTo>
                <a:lnTo>
                  <a:pt x="687095" y="544973"/>
                </a:lnTo>
                <a:lnTo>
                  <a:pt x="0" y="54497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a:off x="-28761" y="823975"/>
            <a:ext cx="9204508" cy="5208523"/>
          </a:xfrm>
          <a:custGeom>
            <a:avLst/>
            <a:gdLst/>
            <a:ahLst/>
            <a:cxnLst/>
            <a:rect l="l" t="t" r="r" b="b"/>
            <a:pathLst>
              <a:path w="18409015" h="10417045">
                <a:moveTo>
                  <a:pt x="0" y="0"/>
                </a:moveTo>
                <a:lnTo>
                  <a:pt x="18409015" y="0"/>
                </a:lnTo>
                <a:lnTo>
                  <a:pt x="18409015" y="10417045"/>
                </a:lnTo>
                <a:lnTo>
                  <a:pt x="0" y="10417045"/>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TextBox 5"/>
          <p:cNvSpPr txBox="1"/>
          <p:nvPr/>
        </p:nvSpPr>
        <p:spPr>
          <a:xfrm>
            <a:off x="243993" y="3106212"/>
            <a:ext cx="7141312" cy="731482"/>
          </a:xfrm>
          <a:prstGeom prst="rect">
            <a:avLst/>
          </a:prstGeom>
        </p:spPr>
        <p:txBody>
          <a:bodyPr wrap="square" lIns="0" tIns="0" rIns="0" bIns="0" rtlCol="0" anchor="t">
            <a:spAutoFit/>
          </a:bodyPr>
          <a:lstStyle>
            <a:defPPr>
              <a:defRPr lang="en-US"/>
            </a:defPPr>
            <a:lvl1pPr marL="0" algn="l" defTabSz="512064" rtl="0" eaLnBrk="1" latinLnBrk="0" hangingPunct="1">
              <a:defRPr sz="1008" kern="1200">
                <a:solidFill>
                  <a:schemeClr val="tx1"/>
                </a:solidFill>
                <a:latin typeface="+mn-lt"/>
                <a:ea typeface="+mn-ea"/>
                <a:cs typeface="+mn-cs"/>
              </a:defRPr>
            </a:lvl1pPr>
            <a:lvl2pPr marL="256032" algn="l" defTabSz="512064" rtl="0" eaLnBrk="1" latinLnBrk="0" hangingPunct="1">
              <a:defRPr sz="1008" kern="1200">
                <a:solidFill>
                  <a:schemeClr val="tx1"/>
                </a:solidFill>
                <a:latin typeface="+mn-lt"/>
                <a:ea typeface="+mn-ea"/>
                <a:cs typeface="+mn-cs"/>
              </a:defRPr>
            </a:lvl2pPr>
            <a:lvl3pPr marL="512064" algn="l" defTabSz="512064" rtl="0" eaLnBrk="1" latinLnBrk="0" hangingPunct="1">
              <a:defRPr sz="1008" kern="1200">
                <a:solidFill>
                  <a:schemeClr val="tx1"/>
                </a:solidFill>
                <a:latin typeface="+mn-lt"/>
                <a:ea typeface="+mn-ea"/>
                <a:cs typeface="+mn-cs"/>
              </a:defRPr>
            </a:lvl3pPr>
            <a:lvl4pPr marL="768096" algn="l" defTabSz="512064" rtl="0" eaLnBrk="1" latinLnBrk="0" hangingPunct="1">
              <a:defRPr sz="1008" kern="1200">
                <a:solidFill>
                  <a:schemeClr val="tx1"/>
                </a:solidFill>
                <a:latin typeface="+mn-lt"/>
                <a:ea typeface="+mn-ea"/>
                <a:cs typeface="+mn-cs"/>
              </a:defRPr>
            </a:lvl4pPr>
            <a:lvl5pPr marL="1024128" algn="l" defTabSz="512064" rtl="0" eaLnBrk="1" latinLnBrk="0" hangingPunct="1">
              <a:defRPr sz="1008" kern="1200">
                <a:solidFill>
                  <a:schemeClr val="tx1"/>
                </a:solidFill>
                <a:latin typeface="+mn-lt"/>
                <a:ea typeface="+mn-ea"/>
                <a:cs typeface="+mn-cs"/>
              </a:defRPr>
            </a:lvl5pPr>
            <a:lvl6pPr marL="1280160" algn="l" defTabSz="512064" rtl="0" eaLnBrk="1" latinLnBrk="0" hangingPunct="1">
              <a:defRPr sz="1008" kern="1200">
                <a:solidFill>
                  <a:schemeClr val="tx1"/>
                </a:solidFill>
                <a:latin typeface="+mn-lt"/>
                <a:ea typeface="+mn-ea"/>
                <a:cs typeface="+mn-cs"/>
              </a:defRPr>
            </a:lvl6pPr>
            <a:lvl7pPr marL="1536192" algn="l" defTabSz="512064" rtl="0" eaLnBrk="1" latinLnBrk="0" hangingPunct="1">
              <a:defRPr sz="1008" kern="1200">
                <a:solidFill>
                  <a:schemeClr val="tx1"/>
                </a:solidFill>
                <a:latin typeface="+mn-lt"/>
                <a:ea typeface="+mn-ea"/>
                <a:cs typeface="+mn-cs"/>
              </a:defRPr>
            </a:lvl7pPr>
            <a:lvl8pPr marL="1792224" algn="l" defTabSz="512064" rtl="0" eaLnBrk="1" latinLnBrk="0" hangingPunct="1">
              <a:defRPr sz="1008" kern="1200">
                <a:solidFill>
                  <a:schemeClr val="tx1"/>
                </a:solidFill>
                <a:latin typeface="+mn-lt"/>
                <a:ea typeface="+mn-ea"/>
                <a:cs typeface="+mn-cs"/>
              </a:defRPr>
            </a:lvl8pPr>
            <a:lvl9pPr marL="2048256" algn="l" defTabSz="512064" rtl="0" eaLnBrk="1" latinLnBrk="0" hangingPunct="1">
              <a:defRPr sz="1008" kern="1200">
                <a:solidFill>
                  <a:schemeClr val="tx1"/>
                </a:solidFill>
                <a:latin typeface="+mn-lt"/>
                <a:ea typeface="+mn-ea"/>
                <a:cs typeface="+mn-cs"/>
              </a:defRPr>
            </a:lvl9pPr>
          </a:lstStyle>
          <a:p>
            <a:pPr algn="l">
              <a:lnSpc>
                <a:spcPts val="2776"/>
              </a:lnSpc>
            </a:pPr>
            <a:r>
              <a:rPr lang="en-US" sz="2776" b="1">
                <a:solidFill>
                  <a:srgbClr val="FFFFFF"/>
                </a:solidFill>
                <a:latin typeface="HK Modular"/>
                <a:ea typeface="HK Modular"/>
                <a:cs typeface="HK Modular"/>
                <a:sym typeface="HK Modular"/>
              </a:rPr>
              <a:t>“Under the Hood:  What Drives Car Prices?”</a:t>
            </a:r>
          </a:p>
        </p:txBody>
      </p:sp>
      <p:sp>
        <p:nvSpPr>
          <p:cNvPr id="6" name="TextBox 6"/>
          <p:cNvSpPr txBox="1"/>
          <p:nvPr/>
        </p:nvSpPr>
        <p:spPr>
          <a:xfrm>
            <a:off x="2800231" y="4311672"/>
            <a:ext cx="6152079" cy="320344"/>
          </a:xfrm>
          <a:prstGeom prst="rect">
            <a:avLst/>
          </a:prstGeom>
        </p:spPr>
        <p:txBody>
          <a:bodyPr wrap="square" lIns="0" tIns="0" rIns="0" bIns="0" rtlCol="0" anchor="t">
            <a:spAutoFit/>
          </a:bodyPr>
          <a:lstStyle>
            <a:defPPr>
              <a:defRPr lang="en-US"/>
            </a:defPPr>
            <a:lvl1pPr marL="0" algn="l" defTabSz="512064" rtl="0" eaLnBrk="1" latinLnBrk="0" hangingPunct="1">
              <a:defRPr sz="1008" kern="1200">
                <a:solidFill>
                  <a:schemeClr val="tx1"/>
                </a:solidFill>
                <a:latin typeface="+mn-lt"/>
                <a:ea typeface="+mn-ea"/>
                <a:cs typeface="+mn-cs"/>
              </a:defRPr>
            </a:lvl1pPr>
            <a:lvl2pPr marL="256032" algn="l" defTabSz="512064" rtl="0" eaLnBrk="1" latinLnBrk="0" hangingPunct="1">
              <a:defRPr sz="1008" kern="1200">
                <a:solidFill>
                  <a:schemeClr val="tx1"/>
                </a:solidFill>
                <a:latin typeface="+mn-lt"/>
                <a:ea typeface="+mn-ea"/>
                <a:cs typeface="+mn-cs"/>
              </a:defRPr>
            </a:lvl2pPr>
            <a:lvl3pPr marL="512064" algn="l" defTabSz="512064" rtl="0" eaLnBrk="1" latinLnBrk="0" hangingPunct="1">
              <a:defRPr sz="1008" kern="1200">
                <a:solidFill>
                  <a:schemeClr val="tx1"/>
                </a:solidFill>
                <a:latin typeface="+mn-lt"/>
                <a:ea typeface="+mn-ea"/>
                <a:cs typeface="+mn-cs"/>
              </a:defRPr>
            </a:lvl3pPr>
            <a:lvl4pPr marL="768096" algn="l" defTabSz="512064" rtl="0" eaLnBrk="1" latinLnBrk="0" hangingPunct="1">
              <a:defRPr sz="1008" kern="1200">
                <a:solidFill>
                  <a:schemeClr val="tx1"/>
                </a:solidFill>
                <a:latin typeface="+mn-lt"/>
                <a:ea typeface="+mn-ea"/>
                <a:cs typeface="+mn-cs"/>
              </a:defRPr>
            </a:lvl4pPr>
            <a:lvl5pPr marL="1024128" algn="l" defTabSz="512064" rtl="0" eaLnBrk="1" latinLnBrk="0" hangingPunct="1">
              <a:defRPr sz="1008" kern="1200">
                <a:solidFill>
                  <a:schemeClr val="tx1"/>
                </a:solidFill>
                <a:latin typeface="+mn-lt"/>
                <a:ea typeface="+mn-ea"/>
                <a:cs typeface="+mn-cs"/>
              </a:defRPr>
            </a:lvl5pPr>
            <a:lvl6pPr marL="1280160" algn="l" defTabSz="512064" rtl="0" eaLnBrk="1" latinLnBrk="0" hangingPunct="1">
              <a:defRPr sz="1008" kern="1200">
                <a:solidFill>
                  <a:schemeClr val="tx1"/>
                </a:solidFill>
                <a:latin typeface="+mn-lt"/>
                <a:ea typeface="+mn-ea"/>
                <a:cs typeface="+mn-cs"/>
              </a:defRPr>
            </a:lvl6pPr>
            <a:lvl7pPr marL="1536192" algn="l" defTabSz="512064" rtl="0" eaLnBrk="1" latinLnBrk="0" hangingPunct="1">
              <a:defRPr sz="1008" kern="1200">
                <a:solidFill>
                  <a:schemeClr val="tx1"/>
                </a:solidFill>
                <a:latin typeface="+mn-lt"/>
                <a:ea typeface="+mn-ea"/>
                <a:cs typeface="+mn-cs"/>
              </a:defRPr>
            </a:lvl7pPr>
            <a:lvl8pPr marL="1792224" algn="l" defTabSz="512064" rtl="0" eaLnBrk="1" latinLnBrk="0" hangingPunct="1">
              <a:defRPr sz="1008" kern="1200">
                <a:solidFill>
                  <a:schemeClr val="tx1"/>
                </a:solidFill>
                <a:latin typeface="+mn-lt"/>
                <a:ea typeface="+mn-ea"/>
                <a:cs typeface="+mn-cs"/>
              </a:defRPr>
            </a:lvl8pPr>
            <a:lvl9pPr marL="2048256" algn="l" defTabSz="512064" rtl="0" eaLnBrk="1" latinLnBrk="0" hangingPunct="1">
              <a:defRPr sz="1008" kern="1200">
                <a:solidFill>
                  <a:schemeClr val="tx1"/>
                </a:solidFill>
                <a:latin typeface="+mn-lt"/>
                <a:ea typeface="+mn-ea"/>
                <a:cs typeface="+mn-cs"/>
              </a:defRPr>
            </a:lvl9pPr>
          </a:lstStyle>
          <a:p>
            <a:pPr algn="l">
              <a:lnSpc>
                <a:spcPts val="2948"/>
              </a:lnSpc>
            </a:pPr>
            <a:r>
              <a:rPr lang="en-US" sz="1350" b="1" i="1" spc="246">
                <a:solidFill>
                  <a:srgbClr val="A6A6A6"/>
                </a:solidFill>
                <a:latin typeface="Raleway Bold Italics"/>
                <a:ea typeface="Raleway Bold Italics"/>
                <a:cs typeface="Raleway Bold Italics"/>
                <a:sym typeface="Raleway Bold Italics"/>
              </a:rPr>
              <a:t>“WHERE AUTOMOTIVE SPECS MEET PREDICTIVE POWER.”</a:t>
            </a:r>
          </a:p>
        </p:txBody>
      </p:sp>
      <p:sp>
        <p:nvSpPr>
          <p:cNvPr id="7" name="TextBox 7"/>
          <p:cNvSpPr txBox="1"/>
          <p:nvPr/>
        </p:nvSpPr>
        <p:spPr>
          <a:xfrm>
            <a:off x="3300160" y="4686072"/>
            <a:ext cx="4998401" cy="320344"/>
          </a:xfrm>
          <a:prstGeom prst="rect">
            <a:avLst/>
          </a:prstGeom>
        </p:spPr>
        <p:txBody>
          <a:bodyPr wrap="square" lIns="0" tIns="0" rIns="0" bIns="0" rtlCol="0" anchor="t">
            <a:spAutoFit/>
          </a:bodyPr>
          <a:lstStyle>
            <a:defPPr>
              <a:defRPr lang="en-US"/>
            </a:defPPr>
            <a:lvl1pPr marL="0" algn="l" defTabSz="512064" rtl="0" eaLnBrk="1" latinLnBrk="0" hangingPunct="1">
              <a:defRPr sz="1008" kern="1200">
                <a:solidFill>
                  <a:schemeClr val="tx1"/>
                </a:solidFill>
                <a:latin typeface="+mn-lt"/>
                <a:ea typeface="+mn-ea"/>
                <a:cs typeface="+mn-cs"/>
              </a:defRPr>
            </a:lvl1pPr>
            <a:lvl2pPr marL="256032" algn="l" defTabSz="512064" rtl="0" eaLnBrk="1" latinLnBrk="0" hangingPunct="1">
              <a:defRPr sz="1008" kern="1200">
                <a:solidFill>
                  <a:schemeClr val="tx1"/>
                </a:solidFill>
                <a:latin typeface="+mn-lt"/>
                <a:ea typeface="+mn-ea"/>
                <a:cs typeface="+mn-cs"/>
              </a:defRPr>
            </a:lvl2pPr>
            <a:lvl3pPr marL="512064" algn="l" defTabSz="512064" rtl="0" eaLnBrk="1" latinLnBrk="0" hangingPunct="1">
              <a:defRPr sz="1008" kern="1200">
                <a:solidFill>
                  <a:schemeClr val="tx1"/>
                </a:solidFill>
                <a:latin typeface="+mn-lt"/>
                <a:ea typeface="+mn-ea"/>
                <a:cs typeface="+mn-cs"/>
              </a:defRPr>
            </a:lvl3pPr>
            <a:lvl4pPr marL="768096" algn="l" defTabSz="512064" rtl="0" eaLnBrk="1" latinLnBrk="0" hangingPunct="1">
              <a:defRPr sz="1008" kern="1200">
                <a:solidFill>
                  <a:schemeClr val="tx1"/>
                </a:solidFill>
                <a:latin typeface="+mn-lt"/>
                <a:ea typeface="+mn-ea"/>
                <a:cs typeface="+mn-cs"/>
              </a:defRPr>
            </a:lvl4pPr>
            <a:lvl5pPr marL="1024128" algn="l" defTabSz="512064" rtl="0" eaLnBrk="1" latinLnBrk="0" hangingPunct="1">
              <a:defRPr sz="1008" kern="1200">
                <a:solidFill>
                  <a:schemeClr val="tx1"/>
                </a:solidFill>
                <a:latin typeface="+mn-lt"/>
                <a:ea typeface="+mn-ea"/>
                <a:cs typeface="+mn-cs"/>
              </a:defRPr>
            </a:lvl5pPr>
            <a:lvl6pPr marL="1280160" algn="l" defTabSz="512064" rtl="0" eaLnBrk="1" latinLnBrk="0" hangingPunct="1">
              <a:defRPr sz="1008" kern="1200">
                <a:solidFill>
                  <a:schemeClr val="tx1"/>
                </a:solidFill>
                <a:latin typeface="+mn-lt"/>
                <a:ea typeface="+mn-ea"/>
                <a:cs typeface="+mn-cs"/>
              </a:defRPr>
            </a:lvl6pPr>
            <a:lvl7pPr marL="1536192" algn="l" defTabSz="512064" rtl="0" eaLnBrk="1" latinLnBrk="0" hangingPunct="1">
              <a:defRPr sz="1008" kern="1200">
                <a:solidFill>
                  <a:schemeClr val="tx1"/>
                </a:solidFill>
                <a:latin typeface="+mn-lt"/>
                <a:ea typeface="+mn-ea"/>
                <a:cs typeface="+mn-cs"/>
              </a:defRPr>
            </a:lvl7pPr>
            <a:lvl8pPr marL="1792224" algn="l" defTabSz="512064" rtl="0" eaLnBrk="1" latinLnBrk="0" hangingPunct="1">
              <a:defRPr sz="1008" kern="1200">
                <a:solidFill>
                  <a:schemeClr val="tx1"/>
                </a:solidFill>
                <a:latin typeface="+mn-lt"/>
                <a:ea typeface="+mn-ea"/>
                <a:cs typeface="+mn-cs"/>
              </a:defRPr>
            </a:lvl8pPr>
            <a:lvl9pPr marL="2048256" algn="l" defTabSz="512064" rtl="0" eaLnBrk="1" latinLnBrk="0" hangingPunct="1">
              <a:defRPr sz="1008" kern="1200">
                <a:solidFill>
                  <a:schemeClr val="tx1"/>
                </a:solidFill>
                <a:latin typeface="+mn-lt"/>
                <a:ea typeface="+mn-ea"/>
                <a:cs typeface="+mn-cs"/>
              </a:defRPr>
            </a:lvl9pPr>
          </a:lstStyle>
          <a:p>
            <a:pPr algn="l">
              <a:lnSpc>
                <a:spcPts val="2948"/>
              </a:lnSpc>
            </a:pPr>
            <a:r>
              <a:rPr lang="en-US" sz="1350" b="1" i="1" spc="246">
                <a:solidFill>
                  <a:srgbClr val="A6A6A6"/>
                </a:solidFill>
                <a:latin typeface="Raleway Bold Italics"/>
                <a:ea typeface="Raleway Bold Italics"/>
                <a:cs typeface="Raleway Bold Italics"/>
                <a:sym typeface="Raleway Bold Italics"/>
              </a:rPr>
              <a:t>PRESENTED BY: SUE CAMARA &amp; JOHNNY VOGT</a:t>
            </a:r>
          </a:p>
        </p:txBody>
      </p:sp>
      <p:sp>
        <p:nvSpPr>
          <p:cNvPr id="8" name="TextBox 8"/>
          <p:cNvSpPr txBox="1"/>
          <p:nvPr/>
        </p:nvSpPr>
        <p:spPr>
          <a:xfrm>
            <a:off x="891712" y="1351622"/>
            <a:ext cx="1245913" cy="176459"/>
          </a:xfrm>
          <a:prstGeom prst="rect">
            <a:avLst/>
          </a:prstGeom>
        </p:spPr>
        <p:txBody>
          <a:bodyPr wrap="square" lIns="0" tIns="0" rIns="0" bIns="0" rtlCol="0" anchor="t">
            <a:spAutoFit/>
          </a:bodyPr>
          <a:lstStyle>
            <a:defPPr>
              <a:defRPr lang="en-US"/>
            </a:defPPr>
            <a:lvl1pPr marL="0" algn="l" defTabSz="512064" rtl="0" eaLnBrk="1" latinLnBrk="0" hangingPunct="1">
              <a:defRPr sz="1008" kern="1200">
                <a:solidFill>
                  <a:schemeClr val="tx1"/>
                </a:solidFill>
                <a:latin typeface="+mn-lt"/>
                <a:ea typeface="+mn-ea"/>
                <a:cs typeface="+mn-cs"/>
              </a:defRPr>
            </a:lvl1pPr>
            <a:lvl2pPr marL="256032" algn="l" defTabSz="512064" rtl="0" eaLnBrk="1" latinLnBrk="0" hangingPunct="1">
              <a:defRPr sz="1008" kern="1200">
                <a:solidFill>
                  <a:schemeClr val="tx1"/>
                </a:solidFill>
                <a:latin typeface="+mn-lt"/>
                <a:ea typeface="+mn-ea"/>
                <a:cs typeface="+mn-cs"/>
              </a:defRPr>
            </a:lvl2pPr>
            <a:lvl3pPr marL="512064" algn="l" defTabSz="512064" rtl="0" eaLnBrk="1" latinLnBrk="0" hangingPunct="1">
              <a:defRPr sz="1008" kern="1200">
                <a:solidFill>
                  <a:schemeClr val="tx1"/>
                </a:solidFill>
                <a:latin typeface="+mn-lt"/>
                <a:ea typeface="+mn-ea"/>
                <a:cs typeface="+mn-cs"/>
              </a:defRPr>
            </a:lvl3pPr>
            <a:lvl4pPr marL="768096" algn="l" defTabSz="512064" rtl="0" eaLnBrk="1" latinLnBrk="0" hangingPunct="1">
              <a:defRPr sz="1008" kern="1200">
                <a:solidFill>
                  <a:schemeClr val="tx1"/>
                </a:solidFill>
                <a:latin typeface="+mn-lt"/>
                <a:ea typeface="+mn-ea"/>
                <a:cs typeface="+mn-cs"/>
              </a:defRPr>
            </a:lvl4pPr>
            <a:lvl5pPr marL="1024128" algn="l" defTabSz="512064" rtl="0" eaLnBrk="1" latinLnBrk="0" hangingPunct="1">
              <a:defRPr sz="1008" kern="1200">
                <a:solidFill>
                  <a:schemeClr val="tx1"/>
                </a:solidFill>
                <a:latin typeface="+mn-lt"/>
                <a:ea typeface="+mn-ea"/>
                <a:cs typeface="+mn-cs"/>
              </a:defRPr>
            </a:lvl5pPr>
            <a:lvl6pPr marL="1280160" algn="l" defTabSz="512064" rtl="0" eaLnBrk="1" latinLnBrk="0" hangingPunct="1">
              <a:defRPr sz="1008" kern="1200">
                <a:solidFill>
                  <a:schemeClr val="tx1"/>
                </a:solidFill>
                <a:latin typeface="+mn-lt"/>
                <a:ea typeface="+mn-ea"/>
                <a:cs typeface="+mn-cs"/>
              </a:defRPr>
            </a:lvl6pPr>
            <a:lvl7pPr marL="1536192" algn="l" defTabSz="512064" rtl="0" eaLnBrk="1" latinLnBrk="0" hangingPunct="1">
              <a:defRPr sz="1008" kern="1200">
                <a:solidFill>
                  <a:schemeClr val="tx1"/>
                </a:solidFill>
                <a:latin typeface="+mn-lt"/>
                <a:ea typeface="+mn-ea"/>
                <a:cs typeface="+mn-cs"/>
              </a:defRPr>
            </a:lvl7pPr>
            <a:lvl8pPr marL="1792224" algn="l" defTabSz="512064" rtl="0" eaLnBrk="1" latinLnBrk="0" hangingPunct="1">
              <a:defRPr sz="1008" kern="1200">
                <a:solidFill>
                  <a:schemeClr val="tx1"/>
                </a:solidFill>
                <a:latin typeface="+mn-lt"/>
                <a:ea typeface="+mn-ea"/>
                <a:cs typeface="+mn-cs"/>
              </a:defRPr>
            </a:lvl8pPr>
            <a:lvl9pPr marL="2048256" algn="l" defTabSz="512064" rtl="0" eaLnBrk="1" latinLnBrk="0" hangingPunct="1">
              <a:defRPr sz="1008" kern="1200">
                <a:solidFill>
                  <a:schemeClr val="tx1"/>
                </a:solidFill>
                <a:latin typeface="+mn-lt"/>
                <a:ea typeface="+mn-ea"/>
                <a:cs typeface="+mn-cs"/>
              </a:defRPr>
            </a:lvl9pPr>
          </a:lstStyle>
          <a:p>
            <a:pPr algn="l">
              <a:lnSpc>
                <a:spcPts val="1469"/>
              </a:lnSpc>
            </a:pPr>
            <a:r>
              <a:rPr lang="en-US" sz="1050" b="1">
                <a:solidFill>
                  <a:srgbClr val="FFFFFF"/>
                </a:solidFill>
                <a:latin typeface="Raleway Bold"/>
                <a:ea typeface="Raleway Bold"/>
                <a:cs typeface="Raleway Bold"/>
                <a:sym typeface="Raleway Bold"/>
              </a:rPr>
              <a:t>GearShift Analytics</a:t>
            </a:r>
          </a:p>
        </p:txBody>
      </p:sp>
      <p:sp>
        <p:nvSpPr>
          <p:cNvPr id="9" name="TextBox 9"/>
          <p:cNvSpPr txBox="1"/>
          <p:nvPr/>
        </p:nvSpPr>
        <p:spPr>
          <a:xfrm>
            <a:off x="6878750" y="1346435"/>
            <a:ext cx="1483443" cy="201017"/>
          </a:xfrm>
          <a:prstGeom prst="rect">
            <a:avLst/>
          </a:prstGeom>
        </p:spPr>
        <p:txBody>
          <a:bodyPr wrap="square" lIns="0" tIns="0" rIns="0" bIns="0" rtlCol="0" anchor="t">
            <a:spAutoFit/>
          </a:bodyPr>
          <a:lstStyle>
            <a:defPPr>
              <a:defRPr lang="en-US"/>
            </a:defPPr>
            <a:lvl1pPr marL="0" algn="l" defTabSz="512064" rtl="0" eaLnBrk="1" latinLnBrk="0" hangingPunct="1">
              <a:defRPr sz="1008" kern="1200">
                <a:solidFill>
                  <a:schemeClr val="tx1"/>
                </a:solidFill>
                <a:latin typeface="+mn-lt"/>
                <a:ea typeface="+mn-ea"/>
                <a:cs typeface="+mn-cs"/>
              </a:defRPr>
            </a:lvl1pPr>
            <a:lvl2pPr marL="256032" algn="l" defTabSz="512064" rtl="0" eaLnBrk="1" latinLnBrk="0" hangingPunct="1">
              <a:defRPr sz="1008" kern="1200">
                <a:solidFill>
                  <a:schemeClr val="tx1"/>
                </a:solidFill>
                <a:latin typeface="+mn-lt"/>
                <a:ea typeface="+mn-ea"/>
                <a:cs typeface="+mn-cs"/>
              </a:defRPr>
            </a:lvl2pPr>
            <a:lvl3pPr marL="512064" algn="l" defTabSz="512064" rtl="0" eaLnBrk="1" latinLnBrk="0" hangingPunct="1">
              <a:defRPr sz="1008" kern="1200">
                <a:solidFill>
                  <a:schemeClr val="tx1"/>
                </a:solidFill>
                <a:latin typeface="+mn-lt"/>
                <a:ea typeface="+mn-ea"/>
                <a:cs typeface="+mn-cs"/>
              </a:defRPr>
            </a:lvl3pPr>
            <a:lvl4pPr marL="768096" algn="l" defTabSz="512064" rtl="0" eaLnBrk="1" latinLnBrk="0" hangingPunct="1">
              <a:defRPr sz="1008" kern="1200">
                <a:solidFill>
                  <a:schemeClr val="tx1"/>
                </a:solidFill>
                <a:latin typeface="+mn-lt"/>
                <a:ea typeface="+mn-ea"/>
                <a:cs typeface="+mn-cs"/>
              </a:defRPr>
            </a:lvl4pPr>
            <a:lvl5pPr marL="1024128" algn="l" defTabSz="512064" rtl="0" eaLnBrk="1" latinLnBrk="0" hangingPunct="1">
              <a:defRPr sz="1008" kern="1200">
                <a:solidFill>
                  <a:schemeClr val="tx1"/>
                </a:solidFill>
                <a:latin typeface="+mn-lt"/>
                <a:ea typeface="+mn-ea"/>
                <a:cs typeface="+mn-cs"/>
              </a:defRPr>
            </a:lvl5pPr>
            <a:lvl6pPr marL="1280160" algn="l" defTabSz="512064" rtl="0" eaLnBrk="1" latinLnBrk="0" hangingPunct="1">
              <a:defRPr sz="1008" kern="1200">
                <a:solidFill>
                  <a:schemeClr val="tx1"/>
                </a:solidFill>
                <a:latin typeface="+mn-lt"/>
                <a:ea typeface="+mn-ea"/>
                <a:cs typeface="+mn-cs"/>
              </a:defRPr>
            </a:lvl6pPr>
            <a:lvl7pPr marL="1536192" algn="l" defTabSz="512064" rtl="0" eaLnBrk="1" latinLnBrk="0" hangingPunct="1">
              <a:defRPr sz="1008" kern="1200">
                <a:solidFill>
                  <a:schemeClr val="tx1"/>
                </a:solidFill>
                <a:latin typeface="+mn-lt"/>
                <a:ea typeface="+mn-ea"/>
                <a:cs typeface="+mn-cs"/>
              </a:defRPr>
            </a:lvl7pPr>
            <a:lvl8pPr marL="1792224" algn="l" defTabSz="512064" rtl="0" eaLnBrk="1" latinLnBrk="0" hangingPunct="1">
              <a:defRPr sz="1008" kern="1200">
                <a:solidFill>
                  <a:schemeClr val="tx1"/>
                </a:solidFill>
                <a:latin typeface="+mn-lt"/>
                <a:ea typeface="+mn-ea"/>
                <a:cs typeface="+mn-cs"/>
              </a:defRPr>
            </a:lvl8pPr>
            <a:lvl9pPr marL="2048256" algn="l" defTabSz="512064" rtl="0" eaLnBrk="1" latinLnBrk="0" hangingPunct="1">
              <a:defRPr sz="1008" kern="1200">
                <a:solidFill>
                  <a:schemeClr val="tx1"/>
                </a:solidFill>
                <a:latin typeface="+mn-lt"/>
                <a:ea typeface="+mn-ea"/>
                <a:cs typeface="+mn-cs"/>
              </a:defRPr>
            </a:lvl9pPr>
          </a:lstStyle>
          <a:p>
            <a:pPr algn="l">
              <a:lnSpc>
                <a:spcPts val="1711"/>
              </a:lnSpc>
            </a:pPr>
            <a:r>
              <a:rPr lang="en-US" sz="1222" b="1">
                <a:solidFill>
                  <a:srgbClr val="FFFFFF"/>
                </a:solidFill>
                <a:latin typeface="Raleway Bold"/>
                <a:ea typeface="Raleway Bold"/>
                <a:cs typeface="Raleway Bold"/>
                <a:sym typeface="Raleway Bold"/>
              </a:rPr>
              <a:t>www.gearshift.com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93AC4C-ADAC-5D33-70E3-A369DCA9D845}"/>
              </a:ext>
            </a:extLst>
          </p:cNvPr>
          <p:cNvSpPr>
            <a:spLocks noGrp="1"/>
          </p:cNvSpPr>
          <p:nvPr>
            <p:ph type="title"/>
          </p:nvPr>
        </p:nvSpPr>
        <p:spPr>
          <a:xfrm>
            <a:off x="228600" y="183092"/>
            <a:ext cx="8686800" cy="885743"/>
          </a:xfrm>
        </p:spPr>
        <p:txBody>
          <a:bodyPr/>
          <a:lstStyle/>
          <a:p>
            <a:r>
              <a:rPr lang="en-US" dirty="0">
                <a:ea typeface="Calibri"/>
                <a:cs typeface="Calibri"/>
              </a:rPr>
              <a:t>Who we are</a:t>
            </a:r>
            <a:endParaRPr lang="en-US" dirty="0"/>
          </a:p>
        </p:txBody>
      </p:sp>
      <p:sp>
        <p:nvSpPr>
          <p:cNvPr id="3" name="Content Placeholder 2">
            <a:extLst>
              <a:ext uri="{FF2B5EF4-FFF2-40B4-BE49-F238E27FC236}">
                <a16:creationId xmlns:a16="http://schemas.microsoft.com/office/drawing/2014/main" id="{37213AC2-01E3-2EE5-C6A6-04B9B8C217C5}"/>
              </a:ext>
            </a:extLst>
          </p:cNvPr>
          <p:cNvSpPr>
            <a:spLocks noGrp="1"/>
          </p:cNvSpPr>
          <p:nvPr>
            <p:ph sz="half" idx="1"/>
          </p:nvPr>
        </p:nvSpPr>
        <p:spPr>
          <a:xfrm>
            <a:off x="280703" y="1464082"/>
            <a:ext cx="4201094" cy="4899514"/>
          </a:xfrm>
        </p:spPr>
        <p:txBody>
          <a:bodyPr vert="horz" lIns="91440" tIns="45720" rIns="91440" bIns="45720" rtlCol="0" anchor="t">
            <a:normAutofit/>
          </a:bodyPr>
          <a:lstStyle/>
          <a:p>
            <a:r>
              <a:rPr lang="en-US" dirty="0">
                <a:ea typeface="Calibri"/>
                <a:cs typeface="Calibri"/>
              </a:rPr>
              <a:t>Johnny Vogt</a:t>
            </a:r>
          </a:p>
          <a:p>
            <a:pPr lvl="1">
              <a:buFont typeface="Courier New" pitchFamily="34" charset="0"/>
              <a:buChar char="o"/>
            </a:pPr>
            <a:r>
              <a:rPr lang="en-US" dirty="0">
                <a:ea typeface="Calibri"/>
                <a:cs typeface="Calibri"/>
              </a:rPr>
              <a:t>SMU Data Science Student</a:t>
            </a:r>
          </a:p>
          <a:p>
            <a:pPr lvl="1">
              <a:buFont typeface="Courier New" pitchFamily="34" charset="0"/>
              <a:buChar char="o"/>
            </a:pPr>
            <a:r>
              <a:rPr lang="en-US" dirty="0">
                <a:ea typeface="Calibri"/>
                <a:cs typeface="Calibri"/>
              </a:rPr>
              <a:t>13 Years of Experience in the IT Field</a:t>
            </a:r>
          </a:p>
          <a:p>
            <a:pPr lvl="2">
              <a:buFont typeface="Wingdings" pitchFamily="34" charset="0"/>
              <a:buChar char="§"/>
            </a:pPr>
            <a:r>
              <a:rPr lang="en-US">
                <a:ea typeface="Calibri"/>
                <a:cs typeface="Calibri"/>
              </a:rPr>
              <a:t>6 Years in the Army</a:t>
            </a:r>
          </a:p>
          <a:p>
            <a:pPr lvl="2">
              <a:buFont typeface="Wingdings" pitchFamily="34" charset="0"/>
              <a:buChar char="§"/>
            </a:pPr>
            <a:r>
              <a:rPr lang="en-US" dirty="0">
                <a:ea typeface="Calibri"/>
                <a:cs typeface="Calibri"/>
              </a:rPr>
              <a:t>7 Years with Raytheon</a:t>
            </a:r>
          </a:p>
        </p:txBody>
      </p:sp>
      <p:sp>
        <p:nvSpPr>
          <p:cNvPr id="4" name="Content Placeholder 3">
            <a:extLst>
              <a:ext uri="{FF2B5EF4-FFF2-40B4-BE49-F238E27FC236}">
                <a16:creationId xmlns:a16="http://schemas.microsoft.com/office/drawing/2014/main" id="{D1E15A86-CFFD-CA95-A8E1-5A8B6B3D9E0D}"/>
              </a:ext>
            </a:extLst>
          </p:cNvPr>
          <p:cNvSpPr>
            <a:spLocks noGrp="1"/>
          </p:cNvSpPr>
          <p:nvPr>
            <p:ph sz="half" idx="2"/>
          </p:nvPr>
        </p:nvSpPr>
        <p:spPr>
          <a:xfrm>
            <a:off x="4571023" y="1464082"/>
            <a:ext cx="4350888" cy="4899514"/>
          </a:xfrm>
        </p:spPr>
        <p:txBody>
          <a:bodyPr vert="horz" lIns="91440" tIns="45720" rIns="91440" bIns="45720" rtlCol="0" anchor="t">
            <a:normAutofit/>
          </a:bodyPr>
          <a:lstStyle/>
          <a:p>
            <a:r>
              <a:rPr lang="en-US" dirty="0">
                <a:ea typeface="Calibri"/>
                <a:cs typeface="Calibri"/>
              </a:rPr>
              <a:t>Sue Camara</a:t>
            </a:r>
          </a:p>
          <a:p>
            <a:pPr lvl="1">
              <a:buFont typeface="Courier New" pitchFamily="34" charset="0"/>
              <a:buChar char="o"/>
            </a:pPr>
            <a:r>
              <a:rPr lang="en-US" dirty="0">
                <a:ea typeface="Calibri"/>
                <a:cs typeface="Calibri"/>
              </a:rPr>
              <a:t>SMU Data Science Student</a:t>
            </a:r>
          </a:p>
          <a:p>
            <a:pPr lvl="1">
              <a:buFont typeface="Courier New" pitchFamily="34" charset="0"/>
              <a:buChar char="o"/>
            </a:pPr>
            <a:r>
              <a:rPr lang="en-US" dirty="0">
                <a:ea typeface="Calibri"/>
                <a:cs typeface="Calibri"/>
              </a:rPr>
              <a:t>Logistics and Supply Chain (Postal Service)</a:t>
            </a:r>
          </a:p>
          <a:p>
            <a:pPr lvl="1">
              <a:buFont typeface="Courier New" pitchFamily="34" charset="0"/>
              <a:buChar char="o"/>
            </a:pPr>
            <a:r>
              <a:rPr lang="en-US" dirty="0" err="1">
                <a:ea typeface="Calibri"/>
                <a:cs typeface="Calibri"/>
              </a:rPr>
              <a:t>Resteraunteur</a:t>
            </a:r>
            <a:endParaRPr lang="en-US" dirty="0">
              <a:ea typeface="Calibri"/>
              <a:cs typeface="Calibri"/>
            </a:endParaRPr>
          </a:p>
          <a:p>
            <a:pPr lvl="1">
              <a:buFont typeface="Courier New" pitchFamily="34" charset="0"/>
              <a:buChar char="o"/>
            </a:pPr>
            <a:r>
              <a:rPr lang="en-US" dirty="0">
                <a:ea typeface="Calibri"/>
                <a:cs typeface="Calibri"/>
              </a:rPr>
              <a:t>Charity Organizer</a:t>
            </a:r>
          </a:p>
        </p:txBody>
      </p:sp>
    </p:spTree>
    <p:extLst>
      <p:ext uri="{BB962C8B-B14F-4D97-AF65-F5344CB8AC3E}">
        <p14:creationId xmlns:p14="http://schemas.microsoft.com/office/powerpoint/2010/main" val="39842353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90909"/>
        </a:solidFill>
        <a:effectLst/>
      </p:bgPr>
    </p:bg>
    <p:spTree>
      <p:nvGrpSpPr>
        <p:cNvPr id="1" name=""/>
        <p:cNvGrpSpPr/>
        <p:nvPr/>
      </p:nvGrpSpPr>
      <p:grpSpPr>
        <a:xfrm>
          <a:off x="0" y="0"/>
          <a:ext cx="0" cy="0"/>
          <a:chOff x="0" y="0"/>
          <a:chExt cx="0" cy="0"/>
        </a:xfrm>
      </p:grpSpPr>
      <p:sp>
        <p:nvSpPr>
          <p:cNvPr id="2" name="Freeform 2"/>
          <p:cNvSpPr/>
          <p:nvPr/>
        </p:nvSpPr>
        <p:spPr>
          <a:xfrm>
            <a:off x="514350" y="1267125"/>
            <a:ext cx="280021" cy="208931"/>
          </a:xfrm>
          <a:custGeom>
            <a:avLst/>
            <a:gdLst/>
            <a:ahLst/>
            <a:cxnLst/>
            <a:rect l="l" t="t" r="r" b="b"/>
            <a:pathLst>
              <a:path w="560041" h="417862">
                <a:moveTo>
                  <a:pt x="0" y="0"/>
                </a:moveTo>
                <a:lnTo>
                  <a:pt x="560041" y="0"/>
                </a:lnTo>
                <a:lnTo>
                  <a:pt x="560041" y="417862"/>
                </a:lnTo>
                <a:lnTo>
                  <a:pt x="0" y="41786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a:grpSpLocks noChangeAspect="1"/>
          </p:cNvGrpSpPr>
          <p:nvPr/>
        </p:nvGrpSpPr>
        <p:grpSpPr>
          <a:xfrm>
            <a:off x="4402865" y="1592799"/>
            <a:ext cx="4741136" cy="4407951"/>
            <a:chOff x="0" y="0"/>
            <a:chExt cx="12643028" cy="11754536"/>
          </a:xfrm>
        </p:grpSpPr>
        <p:sp>
          <p:nvSpPr>
            <p:cNvPr id="4" name="Freeform 4"/>
            <p:cNvSpPr/>
            <p:nvPr/>
          </p:nvSpPr>
          <p:spPr>
            <a:xfrm>
              <a:off x="0" y="0"/>
              <a:ext cx="12642977" cy="11754485"/>
            </a:xfrm>
            <a:custGeom>
              <a:avLst/>
              <a:gdLst/>
              <a:ahLst/>
              <a:cxnLst/>
              <a:rect l="l" t="t" r="r" b="b"/>
              <a:pathLst>
                <a:path w="12642977" h="11754485">
                  <a:moveTo>
                    <a:pt x="6066409" y="0"/>
                  </a:moveTo>
                  <a:lnTo>
                    <a:pt x="0" y="11754485"/>
                  </a:lnTo>
                  <a:lnTo>
                    <a:pt x="12642977" y="11754485"/>
                  </a:lnTo>
                  <a:lnTo>
                    <a:pt x="12642977" y="0"/>
                  </a:lnTo>
                  <a:close/>
                </a:path>
              </a:pathLst>
            </a:custGeom>
            <a:blipFill>
              <a:blip r:embed="rId4"/>
              <a:stretch>
                <a:fillRect l="-7897" r="-88217"/>
              </a:stretch>
            </a:blipFill>
          </p:spPr>
        </p:sp>
      </p:grpSp>
      <p:sp>
        <p:nvSpPr>
          <p:cNvPr id="5" name="Freeform 5"/>
          <p:cNvSpPr/>
          <p:nvPr/>
        </p:nvSpPr>
        <p:spPr>
          <a:xfrm>
            <a:off x="514350" y="1267106"/>
            <a:ext cx="280050" cy="208988"/>
          </a:xfrm>
          <a:custGeom>
            <a:avLst/>
            <a:gdLst/>
            <a:ahLst/>
            <a:cxnLst/>
            <a:rect l="l" t="t" r="r" b="b"/>
            <a:pathLst>
              <a:path w="560099" h="417976">
                <a:moveTo>
                  <a:pt x="0" y="0"/>
                </a:moveTo>
                <a:lnTo>
                  <a:pt x="560099" y="0"/>
                </a:lnTo>
                <a:lnTo>
                  <a:pt x="560099" y="417976"/>
                </a:lnTo>
                <a:lnTo>
                  <a:pt x="0" y="41797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1" name="Freeform 11"/>
          <p:cNvSpPr/>
          <p:nvPr/>
        </p:nvSpPr>
        <p:spPr>
          <a:xfrm>
            <a:off x="657225" y="2926714"/>
            <a:ext cx="47625" cy="47625"/>
          </a:xfrm>
          <a:custGeom>
            <a:avLst/>
            <a:gdLst/>
            <a:ahLst/>
            <a:cxnLst/>
            <a:rect l="l" t="t" r="r" b="b"/>
            <a:pathLst>
              <a:path w="95250" h="95250">
                <a:moveTo>
                  <a:pt x="0" y="0"/>
                </a:moveTo>
                <a:lnTo>
                  <a:pt x="95250" y="0"/>
                </a:lnTo>
                <a:lnTo>
                  <a:pt x="95250" y="95250"/>
                </a:lnTo>
                <a:lnTo>
                  <a:pt x="0" y="9525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2" name="Freeform 12"/>
          <p:cNvSpPr/>
          <p:nvPr/>
        </p:nvSpPr>
        <p:spPr>
          <a:xfrm>
            <a:off x="657225" y="3145789"/>
            <a:ext cx="47625" cy="47625"/>
          </a:xfrm>
          <a:custGeom>
            <a:avLst/>
            <a:gdLst/>
            <a:ahLst/>
            <a:cxnLst/>
            <a:rect l="l" t="t" r="r" b="b"/>
            <a:pathLst>
              <a:path w="95250" h="95250">
                <a:moveTo>
                  <a:pt x="0" y="0"/>
                </a:moveTo>
                <a:lnTo>
                  <a:pt x="95250" y="0"/>
                </a:lnTo>
                <a:lnTo>
                  <a:pt x="95250" y="95250"/>
                </a:lnTo>
                <a:lnTo>
                  <a:pt x="0" y="95250"/>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13" name="Freeform 13"/>
          <p:cNvSpPr/>
          <p:nvPr/>
        </p:nvSpPr>
        <p:spPr>
          <a:xfrm>
            <a:off x="3364359" y="2682440"/>
            <a:ext cx="1239393" cy="96836"/>
          </a:xfrm>
          <a:custGeom>
            <a:avLst/>
            <a:gdLst/>
            <a:ahLst/>
            <a:cxnLst/>
            <a:rect l="l" t="t" r="r" b="b"/>
            <a:pathLst>
              <a:path w="2478786" h="193672">
                <a:moveTo>
                  <a:pt x="0" y="0"/>
                </a:moveTo>
                <a:lnTo>
                  <a:pt x="2478786" y="0"/>
                </a:lnTo>
                <a:lnTo>
                  <a:pt x="2478786" y="193672"/>
                </a:lnTo>
                <a:lnTo>
                  <a:pt x="0" y="193672"/>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grpSp>
        <p:nvGrpSpPr>
          <p:cNvPr id="14" name="Group 14"/>
          <p:cNvGrpSpPr>
            <a:grpSpLocks noChangeAspect="1"/>
          </p:cNvGrpSpPr>
          <p:nvPr/>
        </p:nvGrpSpPr>
        <p:grpSpPr>
          <a:xfrm>
            <a:off x="5012179" y="1019928"/>
            <a:ext cx="2461975" cy="1694264"/>
            <a:chOff x="0" y="0"/>
            <a:chExt cx="4923955" cy="3388525"/>
          </a:xfrm>
        </p:grpSpPr>
        <p:sp>
          <p:nvSpPr>
            <p:cNvPr id="15" name="Freeform 15"/>
            <p:cNvSpPr/>
            <p:nvPr/>
          </p:nvSpPr>
          <p:spPr>
            <a:xfrm>
              <a:off x="0" y="0"/>
              <a:ext cx="4923917" cy="3388487"/>
            </a:xfrm>
            <a:custGeom>
              <a:avLst/>
              <a:gdLst/>
              <a:ahLst/>
              <a:cxnLst/>
              <a:rect l="l" t="t" r="r" b="b"/>
              <a:pathLst>
                <a:path w="4923917" h="3388487">
                  <a:moveTo>
                    <a:pt x="1725803" y="0"/>
                  </a:moveTo>
                  <a:lnTo>
                    <a:pt x="0" y="3388487"/>
                  </a:lnTo>
                  <a:lnTo>
                    <a:pt x="3204083" y="3388487"/>
                  </a:lnTo>
                  <a:lnTo>
                    <a:pt x="4923917" y="11811"/>
                  </a:lnTo>
                  <a:lnTo>
                    <a:pt x="4923917" y="0"/>
                  </a:lnTo>
                  <a:close/>
                </a:path>
              </a:pathLst>
            </a:custGeom>
            <a:solidFill>
              <a:srgbClr val="FF1D25"/>
            </a:solidFill>
          </p:spPr>
        </p:sp>
      </p:grpSp>
      <p:sp>
        <p:nvSpPr>
          <p:cNvPr id="16" name="Freeform 16"/>
          <p:cNvSpPr/>
          <p:nvPr/>
        </p:nvSpPr>
        <p:spPr>
          <a:xfrm>
            <a:off x="6822691" y="5378782"/>
            <a:ext cx="2079879" cy="396759"/>
          </a:xfrm>
          <a:custGeom>
            <a:avLst/>
            <a:gdLst/>
            <a:ahLst/>
            <a:cxnLst/>
            <a:rect l="l" t="t" r="r" b="b"/>
            <a:pathLst>
              <a:path w="4159758" h="793518">
                <a:moveTo>
                  <a:pt x="0" y="0"/>
                </a:moveTo>
                <a:lnTo>
                  <a:pt x="4159758" y="0"/>
                </a:lnTo>
                <a:lnTo>
                  <a:pt x="4159758" y="793518"/>
                </a:lnTo>
                <a:lnTo>
                  <a:pt x="0" y="793518"/>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sp>
      <p:sp>
        <p:nvSpPr>
          <p:cNvPr id="17" name="TextBox 17"/>
          <p:cNvSpPr txBox="1"/>
          <p:nvPr/>
        </p:nvSpPr>
        <p:spPr>
          <a:xfrm>
            <a:off x="848154" y="1249085"/>
            <a:ext cx="6702390" cy="709818"/>
          </a:xfrm>
          <a:prstGeom prst="rect">
            <a:avLst/>
          </a:prstGeom>
        </p:spPr>
        <p:txBody>
          <a:bodyPr wrap="square" lIns="0" tIns="0" rIns="0" bIns="0" rtlCol="0" anchor="t">
            <a:spAutoFit/>
          </a:bodyPr>
          <a:lstStyle>
            <a:defPPr>
              <a:defRPr lang="en-US"/>
            </a:defPPr>
            <a:lvl1pPr marL="0" algn="l" defTabSz="512064" rtl="0" eaLnBrk="1" latinLnBrk="0" hangingPunct="1">
              <a:defRPr sz="1008" kern="1200">
                <a:solidFill>
                  <a:schemeClr val="tx1"/>
                </a:solidFill>
                <a:latin typeface="+mn-lt"/>
                <a:ea typeface="+mn-ea"/>
                <a:cs typeface="+mn-cs"/>
              </a:defRPr>
            </a:lvl1pPr>
            <a:lvl2pPr marL="256032" algn="l" defTabSz="512064" rtl="0" eaLnBrk="1" latinLnBrk="0" hangingPunct="1">
              <a:defRPr sz="1008" kern="1200">
                <a:solidFill>
                  <a:schemeClr val="tx1"/>
                </a:solidFill>
                <a:latin typeface="+mn-lt"/>
                <a:ea typeface="+mn-ea"/>
                <a:cs typeface="+mn-cs"/>
              </a:defRPr>
            </a:lvl2pPr>
            <a:lvl3pPr marL="512064" algn="l" defTabSz="512064" rtl="0" eaLnBrk="1" latinLnBrk="0" hangingPunct="1">
              <a:defRPr sz="1008" kern="1200">
                <a:solidFill>
                  <a:schemeClr val="tx1"/>
                </a:solidFill>
                <a:latin typeface="+mn-lt"/>
                <a:ea typeface="+mn-ea"/>
                <a:cs typeface="+mn-cs"/>
              </a:defRPr>
            </a:lvl3pPr>
            <a:lvl4pPr marL="768096" algn="l" defTabSz="512064" rtl="0" eaLnBrk="1" latinLnBrk="0" hangingPunct="1">
              <a:defRPr sz="1008" kern="1200">
                <a:solidFill>
                  <a:schemeClr val="tx1"/>
                </a:solidFill>
                <a:latin typeface="+mn-lt"/>
                <a:ea typeface="+mn-ea"/>
                <a:cs typeface="+mn-cs"/>
              </a:defRPr>
            </a:lvl4pPr>
            <a:lvl5pPr marL="1024128" algn="l" defTabSz="512064" rtl="0" eaLnBrk="1" latinLnBrk="0" hangingPunct="1">
              <a:defRPr sz="1008" kern="1200">
                <a:solidFill>
                  <a:schemeClr val="tx1"/>
                </a:solidFill>
                <a:latin typeface="+mn-lt"/>
                <a:ea typeface="+mn-ea"/>
                <a:cs typeface="+mn-cs"/>
              </a:defRPr>
            </a:lvl5pPr>
            <a:lvl6pPr marL="1280160" algn="l" defTabSz="512064" rtl="0" eaLnBrk="1" latinLnBrk="0" hangingPunct="1">
              <a:defRPr sz="1008" kern="1200">
                <a:solidFill>
                  <a:schemeClr val="tx1"/>
                </a:solidFill>
                <a:latin typeface="+mn-lt"/>
                <a:ea typeface="+mn-ea"/>
                <a:cs typeface="+mn-cs"/>
              </a:defRPr>
            </a:lvl6pPr>
            <a:lvl7pPr marL="1536192" algn="l" defTabSz="512064" rtl="0" eaLnBrk="1" latinLnBrk="0" hangingPunct="1">
              <a:defRPr sz="1008" kern="1200">
                <a:solidFill>
                  <a:schemeClr val="tx1"/>
                </a:solidFill>
                <a:latin typeface="+mn-lt"/>
                <a:ea typeface="+mn-ea"/>
                <a:cs typeface="+mn-cs"/>
              </a:defRPr>
            </a:lvl7pPr>
            <a:lvl8pPr marL="1792224" algn="l" defTabSz="512064" rtl="0" eaLnBrk="1" latinLnBrk="0" hangingPunct="1">
              <a:defRPr sz="1008" kern="1200">
                <a:solidFill>
                  <a:schemeClr val="tx1"/>
                </a:solidFill>
                <a:latin typeface="+mn-lt"/>
                <a:ea typeface="+mn-ea"/>
                <a:cs typeface="+mn-cs"/>
              </a:defRPr>
            </a:lvl8pPr>
            <a:lvl9pPr marL="2048256" algn="l" defTabSz="512064" rtl="0" eaLnBrk="1" latinLnBrk="0" hangingPunct="1">
              <a:defRPr sz="1008" kern="1200">
                <a:solidFill>
                  <a:schemeClr val="tx1"/>
                </a:solidFill>
                <a:latin typeface="+mn-lt"/>
                <a:ea typeface="+mn-ea"/>
                <a:cs typeface="+mn-cs"/>
              </a:defRPr>
            </a:lvl9pPr>
          </a:lstStyle>
          <a:p>
            <a:pPr algn="l">
              <a:lnSpc>
                <a:spcPts val="1782"/>
              </a:lnSpc>
            </a:pPr>
            <a:r>
              <a:rPr lang="en-US" sz="1025" b="1" dirty="0">
                <a:solidFill>
                  <a:srgbClr val="FFFFFF"/>
                </a:solidFill>
                <a:latin typeface="Raleway Bold"/>
                <a:ea typeface="Raleway Bold"/>
                <a:cs typeface="Raleway Bold"/>
                <a:sym typeface="Raleway Bold"/>
              </a:rPr>
              <a:t>Gear Shift Analytics</a:t>
            </a:r>
          </a:p>
          <a:p>
            <a:pPr>
              <a:lnSpc>
                <a:spcPts val="4160"/>
              </a:lnSpc>
            </a:pPr>
            <a:r>
              <a:rPr lang="en-US" sz="2400" b="1" dirty="0">
                <a:solidFill>
                  <a:srgbClr val="FFFFFF"/>
                </a:solidFill>
                <a:latin typeface="HK Modular"/>
                <a:ea typeface="HK Modular"/>
                <a:cs typeface="HK Modular"/>
                <a:sym typeface="HK Modular"/>
              </a:rPr>
              <a:t>Objectives</a:t>
            </a:r>
            <a:endParaRPr lang="en-US" sz="2425" b="1" dirty="0">
              <a:solidFill>
                <a:srgbClr val="FFFFFF"/>
              </a:solidFill>
              <a:latin typeface="HK Modular"/>
              <a:ea typeface="HK Modular"/>
              <a:cs typeface="HK Modular"/>
            </a:endParaRPr>
          </a:p>
        </p:txBody>
      </p:sp>
      <p:sp>
        <p:nvSpPr>
          <p:cNvPr id="18" name="TextBox 18"/>
          <p:cNvSpPr txBox="1"/>
          <p:nvPr/>
        </p:nvSpPr>
        <p:spPr>
          <a:xfrm>
            <a:off x="514350" y="2554562"/>
            <a:ext cx="699497" cy="236860"/>
          </a:xfrm>
          <a:prstGeom prst="rect">
            <a:avLst/>
          </a:prstGeom>
        </p:spPr>
        <p:txBody>
          <a:bodyPr wrap="square" lIns="0" tIns="0" rIns="0" bIns="0" rtlCol="0" anchor="t">
            <a:spAutoFit/>
          </a:bodyPr>
          <a:lstStyle>
            <a:defPPr>
              <a:defRPr lang="en-US"/>
            </a:defPPr>
            <a:lvl1pPr marL="0" algn="l" defTabSz="512064" rtl="0" eaLnBrk="1" latinLnBrk="0" hangingPunct="1">
              <a:defRPr sz="1008" kern="1200">
                <a:solidFill>
                  <a:schemeClr val="tx1"/>
                </a:solidFill>
                <a:latin typeface="+mn-lt"/>
                <a:ea typeface="+mn-ea"/>
                <a:cs typeface="+mn-cs"/>
              </a:defRPr>
            </a:lvl1pPr>
            <a:lvl2pPr marL="256032" algn="l" defTabSz="512064" rtl="0" eaLnBrk="1" latinLnBrk="0" hangingPunct="1">
              <a:defRPr sz="1008" kern="1200">
                <a:solidFill>
                  <a:schemeClr val="tx1"/>
                </a:solidFill>
                <a:latin typeface="+mn-lt"/>
                <a:ea typeface="+mn-ea"/>
                <a:cs typeface="+mn-cs"/>
              </a:defRPr>
            </a:lvl2pPr>
            <a:lvl3pPr marL="512064" algn="l" defTabSz="512064" rtl="0" eaLnBrk="1" latinLnBrk="0" hangingPunct="1">
              <a:defRPr sz="1008" kern="1200">
                <a:solidFill>
                  <a:schemeClr val="tx1"/>
                </a:solidFill>
                <a:latin typeface="+mn-lt"/>
                <a:ea typeface="+mn-ea"/>
                <a:cs typeface="+mn-cs"/>
              </a:defRPr>
            </a:lvl3pPr>
            <a:lvl4pPr marL="768096" algn="l" defTabSz="512064" rtl="0" eaLnBrk="1" latinLnBrk="0" hangingPunct="1">
              <a:defRPr sz="1008" kern="1200">
                <a:solidFill>
                  <a:schemeClr val="tx1"/>
                </a:solidFill>
                <a:latin typeface="+mn-lt"/>
                <a:ea typeface="+mn-ea"/>
                <a:cs typeface="+mn-cs"/>
              </a:defRPr>
            </a:lvl4pPr>
            <a:lvl5pPr marL="1024128" algn="l" defTabSz="512064" rtl="0" eaLnBrk="1" latinLnBrk="0" hangingPunct="1">
              <a:defRPr sz="1008" kern="1200">
                <a:solidFill>
                  <a:schemeClr val="tx1"/>
                </a:solidFill>
                <a:latin typeface="+mn-lt"/>
                <a:ea typeface="+mn-ea"/>
                <a:cs typeface="+mn-cs"/>
              </a:defRPr>
            </a:lvl5pPr>
            <a:lvl6pPr marL="1280160" algn="l" defTabSz="512064" rtl="0" eaLnBrk="1" latinLnBrk="0" hangingPunct="1">
              <a:defRPr sz="1008" kern="1200">
                <a:solidFill>
                  <a:schemeClr val="tx1"/>
                </a:solidFill>
                <a:latin typeface="+mn-lt"/>
                <a:ea typeface="+mn-ea"/>
                <a:cs typeface="+mn-cs"/>
              </a:defRPr>
            </a:lvl6pPr>
            <a:lvl7pPr marL="1536192" algn="l" defTabSz="512064" rtl="0" eaLnBrk="1" latinLnBrk="0" hangingPunct="1">
              <a:defRPr sz="1008" kern="1200">
                <a:solidFill>
                  <a:schemeClr val="tx1"/>
                </a:solidFill>
                <a:latin typeface="+mn-lt"/>
                <a:ea typeface="+mn-ea"/>
                <a:cs typeface="+mn-cs"/>
              </a:defRPr>
            </a:lvl7pPr>
            <a:lvl8pPr marL="1792224" algn="l" defTabSz="512064" rtl="0" eaLnBrk="1" latinLnBrk="0" hangingPunct="1">
              <a:defRPr sz="1008" kern="1200">
                <a:solidFill>
                  <a:schemeClr val="tx1"/>
                </a:solidFill>
                <a:latin typeface="+mn-lt"/>
                <a:ea typeface="+mn-ea"/>
                <a:cs typeface="+mn-cs"/>
              </a:defRPr>
            </a:lvl8pPr>
            <a:lvl9pPr marL="2048256" algn="l" defTabSz="512064" rtl="0" eaLnBrk="1" latinLnBrk="0" hangingPunct="1">
              <a:defRPr sz="1008" kern="1200">
                <a:solidFill>
                  <a:schemeClr val="tx1"/>
                </a:solidFill>
                <a:latin typeface="+mn-lt"/>
                <a:ea typeface="+mn-ea"/>
                <a:cs typeface="+mn-cs"/>
              </a:defRPr>
            </a:lvl9pPr>
          </a:lstStyle>
          <a:p>
            <a:pPr algn="l">
              <a:lnSpc>
                <a:spcPts val="2030"/>
              </a:lnSpc>
            </a:pPr>
            <a:r>
              <a:rPr lang="en-US" sz="1450" b="1">
                <a:solidFill>
                  <a:srgbClr val="FFFFFF"/>
                </a:solidFill>
                <a:latin typeface="Raleway Bold"/>
                <a:ea typeface="Raleway Bold"/>
                <a:cs typeface="Raleway Bold"/>
                <a:sym typeface="Raleway Bold"/>
              </a:rPr>
              <a:t>Dataset</a:t>
            </a:r>
          </a:p>
        </p:txBody>
      </p:sp>
      <p:sp>
        <p:nvSpPr>
          <p:cNvPr id="20" name="TextBox 20"/>
          <p:cNvSpPr txBox="1"/>
          <p:nvPr/>
        </p:nvSpPr>
        <p:spPr>
          <a:xfrm>
            <a:off x="923454" y="4742469"/>
            <a:ext cx="37448" cy="188706"/>
          </a:xfrm>
          <a:prstGeom prst="rect">
            <a:avLst/>
          </a:prstGeom>
        </p:spPr>
        <p:txBody>
          <a:bodyPr wrap="square" lIns="0" tIns="0" rIns="0" bIns="0" rtlCol="0" anchor="t">
            <a:spAutoFit/>
          </a:bodyPr>
          <a:lstStyle>
            <a:defPPr>
              <a:defRPr lang="en-US"/>
            </a:defPPr>
            <a:lvl1pPr marL="0" algn="l" defTabSz="512064" rtl="0" eaLnBrk="1" latinLnBrk="0" hangingPunct="1">
              <a:defRPr sz="1008" kern="1200">
                <a:solidFill>
                  <a:schemeClr val="tx1"/>
                </a:solidFill>
                <a:latin typeface="+mn-lt"/>
                <a:ea typeface="+mn-ea"/>
                <a:cs typeface="+mn-cs"/>
              </a:defRPr>
            </a:lvl1pPr>
            <a:lvl2pPr marL="256032" algn="l" defTabSz="512064" rtl="0" eaLnBrk="1" latinLnBrk="0" hangingPunct="1">
              <a:defRPr sz="1008" kern="1200">
                <a:solidFill>
                  <a:schemeClr val="tx1"/>
                </a:solidFill>
                <a:latin typeface="+mn-lt"/>
                <a:ea typeface="+mn-ea"/>
                <a:cs typeface="+mn-cs"/>
              </a:defRPr>
            </a:lvl2pPr>
            <a:lvl3pPr marL="512064" algn="l" defTabSz="512064" rtl="0" eaLnBrk="1" latinLnBrk="0" hangingPunct="1">
              <a:defRPr sz="1008" kern="1200">
                <a:solidFill>
                  <a:schemeClr val="tx1"/>
                </a:solidFill>
                <a:latin typeface="+mn-lt"/>
                <a:ea typeface="+mn-ea"/>
                <a:cs typeface="+mn-cs"/>
              </a:defRPr>
            </a:lvl3pPr>
            <a:lvl4pPr marL="768096" algn="l" defTabSz="512064" rtl="0" eaLnBrk="1" latinLnBrk="0" hangingPunct="1">
              <a:defRPr sz="1008" kern="1200">
                <a:solidFill>
                  <a:schemeClr val="tx1"/>
                </a:solidFill>
                <a:latin typeface="+mn-lt"/>
                <a:ea typeface="+mn-ea"/>
                <a:cs typeface="+mn-cs"/>
              </a:defRPr>
            </a:lvl4pPr>
            <a:lvl5pPr marL="1024128" algn="l" defTabSz="512064" rtl="0" eaLnBrk="1" latinLnBrk="0" hangingPunct="1">
              <a:defRPr sz="1008" kern="1200">
                <a:solidFill>
                  <a:schemeClr val="tx1"/>
                </a:solidFill>
                <a:latin typeface="+mn-lt"/>
                <a:ea typeface="+mn-ea"/>
                <a:cs typeface="+mn-cs"/>
              </a:defRPr>
            </a:lvl5pPr>
            <a:lvl6pPr marL="1280160" algn="l" defTabSz="512064" rtl="0" eaLnBrk="1" latinLnBrk="0" hangingPunct="1">
              <a:defRPr sz="1008" kern="1200">
                <a:solidFill>
                  <a:schemeClr val="tx1"/>
                </a:solidFill>
                <a:latin typeface="+mn-lt"/>
                <a:ea typeface="+mn-ea"/>
                <a:cs typeface="+mn-cs"/>
              </a:defRPr>
            </a:lvl6pPr>
            <a:lvl7pPr marL="1536192" algn="l" defTabSz="512064" rtl="0" eaLnBrk="1" latinLnBrk="0" hangingPunct="1">
              <a:defRPr sz="1008" kern="1200">
                <a:solidFill>
                  <a:schemeClr val="tx1"/>
                </a:solidFill>
                <a:latin typeface="+mn-lt"/>
                <a:ea typeface="+mn-ea"/>
                <a:cs typeface="+mn-cs"/>
              </a:defRPr>
            </a:lvl7pPr>
            <a:lvl8pPr marL="1792224" algn="l" defTabSz="512064" rtl="0" eaLnBrk="1" latinLnBrk="0" hangingPunct="1">
              <a:defRPr sz="1008" kern="1200">
                <a:solidFill>
                  <a:schemeClr val="tx1"/>
                </a:solidFill>
                <a:latin typeface="+mn-lt"/>
                <a:ea typeface="+mn-ea"/>
                <a:cs typeface="+mn-cs"/>
              </a:defRPr>
            </a:lvl8pPr>
            <a:lvl9pPr marL="2048256" algn="l" defTabSz="512064" rtl="0" eaLnBrk="1" latinLnBrk="0" hangingPunct="1">
              <a:defRPr sz="1008" kern="1200">
                <a:solidFill>
                  <a:schemeClr val="tx1"/>
                </a:solidFill>
                <a:latin typeface="+mn-lt"/>
                <a:ea typeface="+mn-ea"/>
                <a:cs typeface="+mn-cs"/>
              </a:defRPr>
            </a:lvl9pPr>
          </a:lstStyle>
          <a:p>
            <a:pPr algn="l">
              <a:lnSpc>
                <a:spcPts val="1631"/>
              </a:lnSpc>
            </a:pPr>
            <a:r>
              <a:rPr lang="en-US" sz="1134">
                <a:solidFill>
                  <a:srgbClr val="FFFFFF"/>
                </a:solidFill>
                <a:latin typeface="Raleway"/>
                <a:ea typeface="Raleway"/>
                <a:cs typeface="Raleway"/>
                <a:sym typeface="Raleway"/>
              </a:rPr>
              <a:t> </a:t>
            </a:r>
          </a:p>
        </p:txBody>
      </p:sp>
      <p:sp>
        <p:nvSpPr>
          <p:cNvPr id="22" name="TextBox 22"/>
          <p:cNvSpPr txBox="1"/>
          <p:nvPr/>
        </p:nvSpPr>
        <p:spPr>
          <a:xfrm>
            <a:off x="1100543" y="3685194"/>
            <a:ext cx="37448" cy="188706"/>
          </a:xfrm>
          <a:prstGeom prst="rect">
            <a:avLst/>
          </a:prstGeom>
        </p:spPr>
        <p:txBody>
          <a:bodyPr wrap="square" lIns="0" tIns="0" rIns="0" bIns="0" rtlCol="0" anchor="t">
            <a:spAutoFit/>
          </a:bodyPr>
          <a:lstStyle>
            <a:defPPr>
              <a:defRPr lang="en-US"/>
            </a:defPPr>
            <a:lvl1pPr marL="0" algn="l" defTabSz="512064" rtl="0" eaLnBrk="1" latinLnBrk="0" hangingPunct="1">
              <a:defRPr sz="1008" kern="1200">
                <a:solidFill>
                  <a:schemeClr val="tx1"/>
                </a:solidFill>
                <a:latin typeface="+mn-lt"/>
                <a:ea typeface="+mn-ea"/>
                <a:cs typeface="+mn-cs"/>
              </a:defRPr>
            </a:lvl1pPr>
            <a:lvl2pPr marL="256032" algn="l" defTabSz="512064" rtl="0" eaLnBrk="1" latinLnBrk="0" hangingPunct="1">
              <a:defRPr sz="1008" kern="1200">
                <a:solidFill>
                  <a:schemeClr val="tx1"/>
                </a:solidFill>
                <a:latin typeface="+mn-lt"/>
                <a:ea typeface="+mn-ea"/>
                <a:cs typeface="+mn-cs"/>
              </a:defRPr>
            </a:lvl2pPr>
            <a:lvl3pPr marL="512064" algn="l" defTabSz="512064" rtl="0" eaLnBrk="1" latinLnBrk="0" hangingPunct="1">
              <a:defRPr sz="1008" kern="1200">
                <a:solidFill>
                  <a:schemeClr val="tx1"/>
                </a:solidFill>
                <a:latin typeface="+mn-lt"/>
                <a:ea typeface="+mn-ea"/>
                <a:cs typeface="+mn-cs"/>
              </a:defRPr>
            </a:lvl3pPr>
            <a:lvl4pPr marL="768096" algn="l" defTabSz="512064" rtl="0" eaLnBrk="1" latinLnBrk="0" hangingPunct="1">
              <a:defRPr sz="1008" kern="1200">
                <a:solidFill>
                  <a:schemeClr val="tx1"/>
                </a:solidFill>
                <a:latin typeface="+mn-lt"/>
                <a:ea typeface="+mn-ea"/>
                <a:cs typeface="+mn-cs"/>
              </a:defRPr>
            </a:lvl4pPr>
            <a:lvl5pPr marL="1024128" algn="l" defTabSz="512064" rtl="0" eaLnBrk="1" latinLnBrk="0" hangingPunct="1">
              <a:defRPr sz="1008" kern="1200">
                <a:solidFill>
                  <a:schemeClr val="tx1"/>
                </a:solidFill>
                <a:latin typeface="+mn-lt"/>
                <a:ea typeface="+mn-ea"/>
                <a:cs typeface="+mn-cs"/>
              </a:defRPr>
            </a:lvl5pPr>
            <a:lvl6pPr marL="1280160" algn="l" defTabSz="512064" rtl="0" eaLnBrk="1" latinLnBrk="0" hangingPunct="1">
              <a:defRPr sz="1008" kern="1200">
                <a:solidFill>
                  <a:schemeClr val="tx1"/>
                </a:solidFill>
                <a:latin typeface="+mn-lt"/>
                <a:ea typeface="+mn-ea"/>
                <a:cs typeface="+mn-cs"/>
              </a:defRPr>
            </a:lvl6pPr>
            <a:lvl7pPr marL="1536192" algn="l" defTabSz="512064" rtl="0" eaLnBrk="1" latinLnBrk="0" hangingPunct="1">
              <a:defRPr sz="1008" kern="1200">
                <a:solidFill>
                  <a:schemeClr val="tx1"/>
                </a:solidFill>
                <a:latin typeface="+mn-lt"/>
                <a:ea typeface="+mn-ea"/>
                <a:cs typeface="+mn-cs"/>
              </a:defRPr>
            </a:lvl7pPr>
            <a:lvl8pPr marL="1792224" algn="l" defTabSz="512064" rtl="0" eaLnBrk="1" latinLnBrk="0" hangingPunct="1">
              <a:defRPr sz="1008" kern="1200">
                <a:solidFill>
                  <a:schemeClr val="tx1"/>
                </a:solidFill>
                <a:latin typeface="+mn-lt"/>
                <a:ea typeface="+mn-ea"/>
                <a:cs typeface="+mn-cs"/>
              </a:defRPr>
            </a:lvl8pPr>
            <a:lvl9pPr marL="2048256" algn="l" defTabSz="512064" rtl="0" eaLnBrk="1" latinLnBrk="0" hangingPunct="1">
              <a:defRPr sz="1008" kern="1200">
                <a:solidFill>
                  <a:schemeClr val="tx1"/>
                </a:solidFill>
                <a:latin typeface="+mn-lt"/>
                <a:ea typeface="+mn-ea"/>
                <a:cs typeface="+mn-cs"/>
              </a:defRPr>
            </a:lvl9pPr>
          </a:lstStyle>
          <a:p>
            <a:pPr algn="l">
              <a:lnSpc>
                <a:spcPts val="1631"/>
              </a:lnSpc>
            </a:pPr>
            <a:r>
              <a:rPr lang="en-US" sz="1134">
                <a:solidFill>
                  <a:srgbClr val="FFFFFF"/>
                </a:solidFill>
                <a:latin typeface="Raleway"/>
                <a:ea typeface="Raleway"/>
                <a:cs typeface="Raleway"/>
                <a:sym typeface="Raleway"/>
              </a:rPr>
              <a:t> </a:t>
            </a:r>
          </a:p>
        </p:txBody>
      </p:sp>
      <p:sp>
        <p:nvSpPr>
          <p:cNvPr id="23" name="TextBox 23"/>
          <p:cNvSpPr txBox="1"/>
          <p:nvPr/>
        </p:nvSpPr>
        <p:spPr>
          <a:xfrm>
            <a:off x="784174" y="2817076"/>
            <a:ext cx="5623417" cy="419859"/>
          </a:xfrm>
          <a:prstGeom prst="rect">
            <a:avLst/>
          </a:prstGeom>
        </p:spPr>
        <p:txBody>
          <a:bodyPr wrap="square" lIns="0" tIns="0" rIns="0" bIns="0" rtlCol="0" anchor="t">
            <a:spAutoFit/>
          </a:bodyPr>
          <a:lstStyle>
            <a:defPPr>
              <a:defRPr lang="en-US"/>
            </a:defPPr>
            <a:lvl1pPr marL="0" algn="l" defTabSz="512064" rtl="0" eaLnBrk="1" latinLnBrk="0" hangingPunct="1">
              <a:defRPr sz="1008" kern="1200">
                <a:solidFill>
                  <a:schemeClr val="tx1"/>
                </a:solidFill>
                <a:latin typeface="+mn-lt"/>
                <a:ea typeface="+mn-ea"/>
                <a:cs typeface="+mn-cs"/>
              </a:defRPr>
            </a:lvl1pPr>
            <a:lvl2pPr marL="256032" algn="l" defTabSz="512064" rtl="0" eaLnBrk="1" latinLnBrk="0" hangingPunct="1">
              <a:defRPr sz="1008" kern="1200">
                <a:solidFill>
                  <a:schemeClr val="tx1"/>
                </a:solidFill>
                <a:latin typeface="+mn-lt"/>
                <a:ea typeface="+mn-ea"/>
                <a:cs typeface="+mn-cs"/>
              </a:defRPr>
            </a:lvl2pPr>
            <a:lvl3pPr marL="512064" algn="l" defTabSz="512064" rtl="0" eaLnBrk="1" latinLnBrk="0" hangingPunct="1">
              <a:defRPr sz="1008" kern="1200">
                <a:solidFill>
                  <a:schemeClr val="tx1"/>
                </a:solidFill>
                <a:latin typeface="+mn-lt"/>
                <a:ea typeface="+mn-ea"/>
                <a:cs typeface="+mn-cs"/>
              </a:defRPr>
            </a:lvl3pPr>
            <a:lvl4pPr marL="768096" algn="l" defTabSz="512064" rtl="0" eaLnBrk="1" latinLnBrk="0" hangingPunct="1">
              <a:defRPr sz="1008" kern="1200">
                <a:solidFill>
                  <a:schemeClr val="tx1"/>
                </a:solidFill>
                <a:latin typeface="+mn-lt"/>
                <a:ea typeface="+mn-ea"/>
                <a:cs typeface="+mn-cs"/>
              </a:defRPr>
            </a:lvl4pPr>
            <a:lvl5pPr marL="1024128" algn="l" defTabSz="512064" rtl="0" eaLnBrk="1" latinLnBrk="0" hangingPunct="1">
              <a:defRPr sz="1008" kern="1200">
                <a:solidFill>
                  <a:schemeClr val="tx1"/>
                </a:solidFill>
                <a:latin typeface="+mn-lt"/>
                <a:ea typeface="+mn-ea"/>
                <a:cs typeface="+mn-cs"/>
              </a:defRPr>
            </a:lvl5pPr>
            <a:lvl6pPr marL="1280160" algn="l" defTabSz="512064" rtl="0" eaLnBrk="1" latinLnBrk="0" hangingPunct="1">
              <a:defRPr sz="1008" kern="1200">
                <a:solidFill>
                  <a:schemeClr val="tx1"/>
                </a:solidFill>
                <a:latin typeface="+mn-lt"/>
                <a:ea typeface="+mn-ea"/>
                <a:cs typeface="+mn-cs"/>
              </a:defRPr>
            </a:lvl6pPr>
            <a:lvl7pPr marL="1536192" algn="l" defTabSz="512064" rtl="0" eaLnBrk="1" latinLnBrk="0" hangingPunct="1">
              <a:defRPr sz="1008" kern="1200">
                <a:solidFill>
                  <a:schemeClr val="tx1"/>
                </a:solidFill>
                <a:latin typeface="+mn-lt"/>
                <a:ea typeface="+mn-ea"/>
                <a:cs typeface="+mn-cs"/>
              </a:defRPr>
            </a:lvl7pPr>
            <a:lvl8pPr marL="1792224" algn="l" defTabSz="512064" rtl="0" eaLnBrk="1" latinLnBrk="0" hangingPunct="1">
              <a:defRPr sz="1008" kern="1200">
                <a:solidFill>
                  <a:schemeClr val="tx1"/>
                </a:solidFill>
                <a:latin typeface="+mn-lt"/>
                <a:ea typeface="+mn-ea"/>
                <a:cs typeface="+mn-cs"/>
              </a:defRPr>
            </a:lvl8pPr>
            <a:lvl9pPr marL="2048256" algn="l" defTabSz="512064" rtl="0" eaLnBrk="1" latinLnBrk="0" hangingPunct="1">
              <a:defRPr sz="1008" kern="1200">
                <a:solidFill>
                  <a:schemeClr val="tx1"/>
                </a:solidFill>
                <a:latin typeface="+mn-lt"/>
                <a:ea typeface="+mn-ea"/>
                <a:cs typeface="+mn-cs"/>
              </a:defRPr>
            </a:lvl9pPr>
          </a:lstStyle>
          <a:p>
            <a:pPr algn="l">
              <a:lnSpc>
                <a:spcPts val="1725"/>
              </a:lnSpc>
            </a:pPr>
            <a:r>
              <a:rPr lang="en-US" sz="1250">
                <a:solidFill>
                  <a:srgbClr val="FFFFFF"/>
                </a:solidFill>
                <a:latin typeface="Raleway"/>
                <a:ea typeface="Raleway"/>
                <a:cs typeface="Raleway"/>
                <a:sym typeface="Raleway"/>
              </a:rPr>
              <a:t>Automobile MSRP dataset (~11,900 vehicles, 14 attributes) Includes specs (horsepower, cylinders, MPG, size, style, etc.) + price (MSRP).</a:t>
            </a:r>
          </a:p>
        </p:txBody>
      </p:sp>
      <p:sp>
        <p:nvSpPr>
          <p:cNvPr id="24" name="TextBox 24"/>
          <p:cNvSpPr txBox="1"/>
          <p:nvPr/>
        </p:nvSpPr>
        <p:spPr>
          <a:xfrm>
            <a:off x="7205144" y="5449791"/>
            <a:ext cx="1452977" cy="200311"/>
          </a:xfrm>
          <a:prstGeom prst="rect">
            <a:avLst/>
          </a:prstGeom>
        </p:spPr>
        <p:txBody>
          <a:bodyPr wrap="square" lIns="0" tIns="0" rIns="0" bIns="0" rtlCol="0" anchor="t">
            <a:spAutoFit/>
          </a:bodyPr>
          <a:lstStyle>
            <a:defPPr>
              <a:defRPr lang="en-US"/>
            </a:defPPr>
            <a:lvl1pPr marL="0" algn="l" defTabSz="512064" rtl="0" eaLnBrk="1" latinLnBrk="0" hangingPunct="1">
              <a:defRPr sz="1008" kern="1200">
                <a:solidFill>
                  <a:schemeClr val="tx1"/>
                </a:solidFill>
                <a:latin typeface="+mn-lt"/>
                <a:ea typeface="+mn-ea"/>
                <a:cs typeface="+mn-cs"/>
              </a:defRPr>
            </a:lvl1pPr>
            <a:lvl2pPr marL="256032" algn="l" defTabSz="512064" rtl="0" eaLnBrk="1" latinLnBrk="0" hangingPunct="1">
              <a:defRPr sz="1008" kern="1200">
                <a:solidFill>
                  <a:schemeClr val="tx1"/>
                </a:solidFill>
                <a:latin typeface="+mn-lt"/>
                <a:ea typeface="+mn-ea"/>
                <a:cs typeface="+mn-cs"/>
              </a:defRPr>
            </a:lvl2pPr>
            <a:lvl3pPr marL="512064" algn="l" defTabSz="512064" rtl="0" eaLnBrk="1" latinLnBrk="0" hangingPunct="1">
              <a:defRPr sz="1008" kern="1200">
                <a:solidFill>
                  <a:schemeClr val="tx1"/>
                </a:solidFill>
                <a:latin typeface="+mn-lt"/>
                <a:ea typeface="+mn-ea"/>
                <a:cs typeface="+mn-cs"/>
              </a:defRPr>
            </a:lvl3pPr>
            <a:lvl4pPr marL="768096" algn="l" defTabSz="512064" rtl="0" eaLnBrk="1" latinLnBrk="0" hangingPunct="1">
              <a:defRPr sz="1008" kern="1200">
                <a:solidFill>
                  <a:schemeClr val="tx1"/>
                </a:solidFill>
                <a:latin typeface="+mn-lt"/>
                <a:ea typeface="+mn-ea"/>
                <a:cs typeface="+mn-cs"/>
              </a:defRPr>
            </a:lvl4pPr>
            <a:lvl5pPr marL="1024128" algn="l" defTabSz="512064" rtl="0" eaLnBrk="1" latinLnBrk="0" hangingPunct="1">
              <a:defRPr sz="1008" kern="1200">
                <a:solidFill>
                  <a:schemeClr val="tx1"/>
                </a:solidFill>
                <a:latin typeface="+mn-lt"/>
                <a:ea typeface="+mn-ea"/>
                <a:cs typeface="+mn-cs"/>
              </a:defRPr>
            </a:lvl5pPr>
            <a:lvl6pPr marL="1280160" algn="l" defTabSz="512064" rtl="0" eaLnBrk="1" latinLnBrk="0" hangingPunct="1">
              <a:defRPr sz="1008" kern="1200">
                <a:solidFill>
                  <a:schemeClr val="tx1"/>
                </a:solidFill>
                <a:latin typeface="+mn-lt"/>
                <a:ea typeface="+mn-ea"/>
                <a:cs typeface="+mn-cs"/>
              </a:defRPr>
            </a:lvl6pPr>
            <a:lvl7pPr marL="1536192" algn="l" defTabSz="512064" rtl="0" eaLnBrk="1" latinLnBrk="0" hangingPunct="1">
              <a:defRPr sz="1008" kern="1200">
                <a:solidFill>
                  <a:schemeClr val="tx1"/>
                </a:solidFill>
                <a:latin typeface="+mn-lt"/>
                <a:ea typeface="+mn-ea"/>
                <a:cs typeface="+mn-cs"/>
              </a:defRPr>
            </a:lvl7pPr>
            <a:lvl8pPr marL="1792224" algn="l" defTabSz="512064" rtl="0" eaLnBrk="1" latinLnBrk="0" hangingPunct="1">
              <a:defRPr sz="1008" kern="1200">
                <a:solidFill>
                  <a:schemeClr val="tx1"/>
                </a:solidFill>
                <a:latin typeface="+mn-lt"/>
                <a:ea typeface="+mn-ea"/>
                <a:cs typeface="+mn-cs"/>
              </a:defRPr>
            </a:lvl8pPr>
            <a:lvl9pPr marL="2048256" algn="l" defTabSz="512064" rtl="0" eaLnBrk="1" latinLnBrk="0" hangingPunct="1">
              <a:defRPr sz="1008" kern="1200">
                <a:solidFill>
                  <a:schemeClr val="tx1"/>
                </a:solidFill>
                <a:latin typeface="+mn-lt"/>
                <a:ea typeface="+mn-ea"/>
                <a:cs typeface="+mn-cs"/>
              </a:defRPr>
            </a:lvl9pPr>
          </a:lstStyle>
          <a:p>
            <a:pPr algn="l">
              <a:lnSpc>
                <a:spcPts val="1680"/>
              </a:lnSpc>
            </a:pPr>
            <a:r>
              <a:rPr lang="en-US" sz="1200" b="1">
                <a:solidFill>
                  <a:srgbClr val="FFFFFF"/>
                </a:solidFill>
                <a:latin typeface="Raleway Bold"/>
                <a:ea typeface="Raleway Bold"/>
                <a:cs typeface="Raleway Bold"/>
                <a:sym typeface="Raleway Bold"/>
              </a:rPr>
              <a:t>LETS GET STARTED</a:t>
            </a:r>
          </a:p>
        </p:txBody>
      </p:sp>
      <p:sp>
        <p:nvSpPr>
          <p:cNvPr id="30" name="TextBox 29">
            <a:extLst>
              <a:ext uri="{FF2B5EF4-FFF2-40B4-BE49-F238E27FC236}">
                <a16:creationId xmlns:a16="http://schemas.microsoft.com/office/drawing/2014/main" id="{8EF0C3F7-24B1-F800-EE91-E98265A889BE}"/>
              </a:ext>
            </a:extLst>
          </p:cNvPr>
          <p:cNvSpPr txBox="1"/>
          <p:nvPr/>
        </p:nvSpPr>
        <p:spPr>
          <a:xfrm>
            <a:off x="651611" y="3361026"/>
            <a:ext cx="3437285" cy="116955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dirty="0">
                <a:solidFill>
                  <a:schemeClr val="bg1"/>
                </a:solidFill>
                <a:ea typeface="Calibri"/>
                <a:cs typeface="Calibri"/>
              </a:rPr>
              <a:t>Objective 1</a:t>
            </a:r>
          </a:p>
          <a:p>
            <a:pPr marL="285750" indent="-285750">
              <a:buFont typeface="Calibri"/>
              <a:buChar char="-"/>
            </a:pPr>
            <a:r>
              <a:rPr lang="en-US" sz="1400" dirty="0">
                <a:solidFill>
                  <a:schemeClr val="bg1"/>
                </a:solidFill>
                <a:ea typeface="Calibri"/>
                <a:cs typeface="Calibri"/>
              </a:rPr>
              <a:t>Identify variables and trends that affect MSRP </a:t>
            </a:r>
          </a:p>
          <a:p>
            <a:pPr marL="285750" indent="-285750">
              <a:buFont typeface="Calibri"/>
              <a:buChar char="-"/>
            </a:pPr>
            <a:r>
              <a:rPr lang="en-US" sz="1400" dirty="0">
                <a:solidFill>
                  <a:schemeClr val="bg1"/>
                </a:solidFill>
                <a:ea typeface="Calibri"/>
                <a:cs typeface="Calibri"/>
              </a:rPr>
              <a:t>Build a MLR based off the preliminary analysis</a:t>
            </a:r>
          </a:p>
        </p:txBody>
      </p:sp>
      <p:sp>
        <p:nvSpPr>
          <p:cNvPr id="29" name="TextBox 28">
            <a:extLst>
              <a:ext uri="{FF2B5EF4-FFF2-40B4-BE49-F238E27FC236}">
                <a16:creationId xmlns:a16="http://schemas.microsoft.com/office/drawing/2014/main" id="{0BABB142-0482-10FD-D8D3-A518A382EC93}"/>
              </a:ext>
            </a:extLst>
          </p:cNvPr>
          <p:cNvSpPr txBox="1"/>
          <p:nvPr/>
        </p:nvSpPr>
        <p:spPr>
          <a:xfrm>
            <a:off x="677332" y="4455932"/>
            <a:ext cx="3299673" cy="160043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dirty="0">
                <a:solidFill>
                  <a:schemeClr val="bg1"/>
                </a:solidFill>
                <a:ea typeface="Calibri"/>
                <a:cs typeface="Calibri"/>
              </a:rPr>
              <a:t>Objective 2</a:t>
            </a:r>
          </a:p>
          <a:p>
            <a:pPr marL="285750" indent="-285750">
              <a:buFont typeface="Calibri"/>
              <a:buChar char="-"/>
            </a:pPr>
            <a:r>
              <a:rPr lang="en-US" sz="1400" dirty="0">
                <a:solidFill>
                  <a:schemeClr val="bg1"/>
                </a:solidFill>
                <a:ea typeface="Calibri"/>
                <a:cs typeface="Calibri"/>
              </a:rPr>
              <a:t>Investigate interactions between variables and non-linear trends</a:t>
            </a:r>
          </a:p>
          <a:p>
            <a:pPr marL="285750" indent="-285750">
              <a:buFont typeface="Calibri"/>
              <a:buChar char="-"/>
            </a:pPr>
            <a:r>
              <a:rPr lang="en-US" sz="1400" dirty="0">
                <a:solidFill>
                  <a:schemeClr val="bg1"/>
                </a:solidFill>
                <a:ea typeface="Calibri"/>
                <a:cs typeface="Calibri"/>
              </a:rPr>
              <a:t>Fit two models</a:t>
            </a:r>
          </a:p>
          <a:p>
            <a:pPr marL="742950" lvl="1" indent="-285750">
              <a:buFont typeface="Courier New"/>
              <a:buChar char="o"/>
            </a:pPr>
            <a:r>
              <a:rPr lang="en-US" sz="1400" err="1">
                <a:solidFill>
                  <a:schemeClr val="bg1"/>
                </a:solidFill>
                <a:ea typeface="Calibri"/>
                <a:cs typeface="Calibri"/>
              </a:rPr>
              <a:t>Comples</a:t>
            </a:r>
            <a:r>
              <a:rPr lang="en-US" sz="1400" dirty="0">
                <a:solidFill>
                  <a:schemeClr val="bg1"/>
                </a:solidFill>
                <a:ea typeface="Calibri"/>
                <a:cs typeface="Calibri"/>
              </a:rPr>
              <a:t> MLR (Polynomials, Interactions)</a:t>
            </a:r>
          </a:p>
          <a:p>
            <a:pPr marL="742950" lvl="1" indent="-285750">
              <a:buFont typeface="Courier New"/>
              <a:buChar char="o"/>
            </a:pPr>
            <a:r>
              <a:rPr lang="en-US" sz="1400" dirty="0">
                <a:solidFill>
                  <a:schemeClr val="bg1"/>
                </a:solidFill>
                <a:ea typeface="Calibri"/>
                <a:cs typeface="Calibri"/>
              </a:rPr>
              <a:t>Non-parametric Models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90909"/>
        </a:solidFill>
        <a:effectLst/>
      </p:bgPr>
    </p:bg>
    <p:spTree>
      <p:nvGrpSpPr>
        <p:cNvPr id="1" name=""/>
        <p:cNvGrpSpPr/>
        <p:nvPr/>
      </p:nvGrpSpPr>
      <p:grpSpPr>
        <a:xfrm>
          <a:off x="0" y="0"/>
          <a:ext cx="0" cy="0"/>
          <a:chOff x="0" y="0"/>
          <a:chExt cx="0" cy="0"/>
        </a:xfrm>
      </p:grpSpPr>
      <p:sp>
        <p:nvSpPr>
          <p:cNvPr id="2" name="Freeform 2"/>
          <p:cNvSpPr/>
          <p:nvPr/>
        </p:nvSpPr>
        <p:spPr>
          <a:xfrm>
            <a:off x="514350" y="1267125"/>
            <a:ext cx="280021" cy="208931"/>
          </a:xfrm>
          <a:custGeom>
            <a:avLst/>
            <a:gdLst/>
            <a:ahLst/>
            <a:cxnLst/>
            <a:rect l="l" t="t" r="r" b="b"/>
            <a:pathLst>
              <a:path w="560041" h="417862">
                <a:moveTo>
                  <a:pt x="0" y="0"/>
                </a:moveTo>
                <a:lnTo>
                  <a:pt x="560041" y="0"/>
                </a:lnTo>
                <a:lnTo>
                  <a:pt x="560041" y="417862"/>
                </a:lnTo>
                <a:lnTo>
                  <a:pt x="0" y="41786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a:grpSpLocks noChangeAspect="1"/>
          </p:cNvGrpSpPr>
          <p:nvPr/>
        </p:nvGrpSpPr>
        <p:grpSpPr>
          <a:xfrm>
            <a:off x="4402865" y="1592799"/>
            <a:ext cx="4741136" cy="4407951"/>
            <a:chOff x="0" y="0"/>
            <a:chExt cx="12643028" cy="11754536"/>
          </a:xfrm>
        </p:grpSpPr>
        <p:sp>
          <p:nvSpPr>
            <p:cNvPr id="4" name="Freeform 4"/>
            <p:cNvSpPr/>
            <p:nvPr/>
          </p:nvSpPr>
          <p:spPr>
            <a:xfrm>
              <a:off x="0" y="0"/>
              <a:ext cx="12642977" cy="11754485"/>
            </a:xfrm>
            <a:custGeom>
              <a:avLst/>
              <a:gdLst/>
              <a:ahLst/>
              <a:cxnLst/>
              <a:rect l="l" t="t" r="r" b="b"/>
              <a:pathLst>
                <a:path w="12642977" h="11754485">
                  <a:moveTo>
                    <a:pt x="6066409" y="0"/>
                  </a:moveTo>
                  <a:lnTo>
                    <a:pt x="0" y="11754485"/>
                  </a:lnTo>
                  <a:lnTo>
                    <a:pt x="12642977" y="11754485"/>
                  </a:lnTo>
                  <a:lnTo>
                    <a:pt x="12642977" y="0"/>
                  </a:lnTo>
                  <a:close/>
                </a:path>
              </a:pathLst>
            </a:custGeom>
            <a:blipFill>
              <a:blip r:embed="rId4"/>
              <a:stretch>
                <a:fillRect l="-7897" r="-88217"/>
              </a:stretch>
            </a:blipFill>
          </p:spPr>
        </p:sp>
      </p:grpSp>
      <p:sp>
        <p:nvSpPr>
          <p:cNvPr id="5" name="Freeform 5"/>
          <p:cNvSpPr/>
          <p:nvPr/>
        </p:nvSpPr>
        <p:spPr>
          <a:xfrm>
            <a:off x="514350" y="1267106"/>
            <a:ext cx="280050" cy="208988"/>
          </a:xfrm>
          <a:custGeom>
            <a:avLst/>
            <a:gdLst/>
            <a:ahLst/>
            <a:cxnLst/>
            <a:rect l="l" t="t" r="r" b="b"/>
            <a:pathLst>
              <a:path w="560099" h="417976">
                <a:moveTo>
                  <a:pt x="0" y="0"/>
                </a:moveTo>
                <a:lnTo>
                  <a:pt x="560099" y="0"/>
                </a:lnTo>
                <a:lnTo>
                  <a:pt x="560099" y="417976"/>
                </a:lnTo>
                <a:lnTo>
                  <a:pt x="0" y="41797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8" name="Freeform 8"/>
          <p:cNvSpPr/>
          <p:nvPr/>
        </p:nvSpPr>
        <p:spPr>
          <a:xfrm>
            <a:off x="3804538" y="3273557"/>
            <a:ext cx="1239393" cy="96836"/>
          </a:xfrm>
          <a:custGeom>
            <a:avLst/>
            <a:gdLst/>
            <a:ahLst/>
            <a:cxnLst/>
            <a:rect l="l" t="t" r="r" b="b"/>
            <a:pathLst>
              <a:path w="2478786" h="193672">
                <a:moveTo>
                  <a:pt x="0" y="0"/>
                </a:moveTo>
                <a:lnTo>
                  <a:pt x="2478786" y="0"/>
                </a:lnTo>
                <a:lnTo>
                  <a:pt x="2478786" y="193671"/>
                </a:lnTo>
                <a:lnTo>
                  <a:pt x="0" y="193671"/>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grpSp>
        <p:nvGrpSpPr>
          <p:cNvPr id="9" name="Group 9"/>
          <p:cNvGrpSpPr>
            <a:grpSpLocks noChangeAspect="1"/>
          </p:cNvGrpSpPr>
          <p:nvPr/>
        </p:nvGrpSpPr>
        <p:grpSpPr>
          <a:xfrm>
            <a:off x="5012179" y="1019928"/>
            <a:ext cx="2461975" cy="1694264"/>
            <a:chOff x="0" y="0"/>
            <a:chExt cx="4923955" cy="3388525"/>
          </a:xfrm>
        </p:grpSpPr>
        <p:sp>
          <p:nvSpPr>
            <p:cNvPr id="10" name="Freeform 10"/>
            <p:cNvSpPr/>
            <p:nvPr/>
          </p:nvSpPr>
          <p:spPr>
            <a:xfrm>
              <a:off x="0" y="0"/>
              <a:ext cx="4923917" cy="3388487"/>
            </a:xfrm>
            <a:custGeom>
              <a:avLst/>
              <a:gdLst/>
              <a:ahLst/>
              <a:cxnLst/>
              <a:rect l="l" t="t" r="r" b="b"/>
              <a:pathLst>
                <a:path w="4923917" h="3388487">
                  <a:moveTo>
                    <a:pt x="1725803" y="0"/>
                  </a:moveTo>
                  <a:lnTo>
                    <a:pt x="0" y="3388487"/>
                  </a:lnTo>
                  <a:lnTo>
                    <a:pt x="3204083" y="3388487"/>
                  </a:lnTo>
                  <a:lnTo>
                    <a:pt x="4923917" y="11811"/>
                  </a:lnTo>
                  <a:lnTo>
                    <a:pt x="4923917" y="0"/>
                  </a:lnTo>
                  <a:close/>
                </a:path>
              </a:pathLst>
            </a:custGeom>
            <a:solidFill>
              <a:srgbClr val="FF1D25"/>
            </a:solidFill>
          </p:spPr>
        </p:sp>
      </p:grpSp>
      <p:sp>
        <p:nvSpPr>
          <p:cNvPr id="11" name="Freeform 11"/>
          <p:cNvSpPr/>
          <p:nvPr/>
        </p:nvSpPr>
        <p:spPr>
          <a:xfrm>
            <a:off x="6822691" y="5378782"/>
            <a:ext cx="2079879" cy="396759"/>
          </a:xfrm>
          <a:custGeom>
            <a:avLst/>
            <a:gdLst/>
            <a:ahLst/>
            <a:cxnLst/>
            <a:rect l="l" t="t" r="r" b="b"/>
            <a:pathLst>
              <a:path w="4159758" h="793518">
                <a:moveTo>
                  <a:pt x="0" y="0"/>
                </a:moveTo>
                <a:lnTo>
                  <a:pt x="4159758" y="0"/>
                </a:lnTo>
                <a:lnTo>
                  <a:pt x="4159758" y="793518"/>
                </a:lnTo>
                <a:lnTo>
                  <a:pt x="0" y="793518"/>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12" name="TextBox 12"/>
          <p:cNvSpPr txBox="1"/>
          <p:nvPr/>
        </p:nvSpPr>
        <p:spPr>
          <a:xfrm>
            <a:off x="848154" y="1277660"/>
            <a:ext cx="1278541" cy="176459"/>
          </a:xfrm>
          <a:prstGeom prst="rect">
            <a:avLst/>
          </a:prstGeom>
        </p:spPr>
        <p:txBody>
          <a:bodyPr wrap="square" lIns="0" tIns="0" rIns="0" bIns="0" rtlCol="0" anchor="t">
            <a:spAutoFit/>
          </a:bodyPr>
          <a:lstStyle>
            <a:defPPr>
              <a:defRPr lang="en-US"/>
            </a:defPPr>
            <a:lvl1pPr marL="0" algn="l" defTabSz="512064" rtl="0" eaLnBrk="1" latinLnBrk="0" hangingPunct="1">
              <a:defRPr sz="1008" kern="1200">
                <a:solidFill>
                  <a:schemeClr val="tx1"/>
                </a:solidFill>
                <a:latin typeface="+mn-lt"/>
                <a:ea typeface="+mn-ea"/>
                <a:cs typeface="+mn-cs"/>
              </a:defRPr>
            </a:lvl1pPr>
            <a:lvl2pPr marL="256032" algn="l" defTabSz="512064" rtl="0" eaLnBrk="1" latinLnBrk="0" hangingPunct="1">
              <a:defRPr sz="1008" kern="1200">
                <a:solidFill>
                  <a:schemeClr val="tx1"/>
                </a:solidFill>
                <a:latin typeface="+mn-lt"/>
                <a:ea typeface="+mn-ea"/>
                <a:cs typeface="+mn-cs"/>
              </a:defRPr>
            </a:lvl2pPr>
            <a:lvl3pPr marL="512064" algn="l" defTabSz="512064" rtl="0" eaLnBrk="1" latinLnBrk="0" hangingPunct="1">
              <a:defRPr sz="1008" kern="1200">
                <a:solidFill>
                  <a:schemeClr val="tx1"/>
                </a:solidFill>
                <a:latin typeface="+mn-lt"/>
                <a:ea typeface="+mn-ea"/>
                <a:cs typeface="+mn-cs"/>
              </a:defRPr>
            </a:lvl3pPr>
            <a:lvl4pPr marL="768096" algn="l" defTabSz="512064" rtl="0" eaLnBrk="1" latinLnBrk="0" hangingPunct="1">
              <a:defRPr sz="1008" kern="1200">
                <a:solidFill>
                  <a:schemeClr val="tx1"/>
                </a:solidFill>
                <a:latin typeface="+mn-lt"/>
                <a:ea typeface="+mn-ea"/>
                <a:cs typeface="+mn-cs"/>
              </a:defRPr>
            </a:lvl4pPr>
            <a:lvl5pPr marL="1024128" algn="l" defTabSz="512064" rtl="0" eaLnBrk="1" latinLnBrk="0" hangingPunct="1">
              <a:defRPr sz="1008" kern="1200">
                <a:solidFill>
                  <a:schemeClr val="tx1"/>
                </a:solidFill>
                <a:latin typeface="+mn-lt"/>
                <a:ea typeface="+mn-ea"/>
                <a:cs typeface="+mn-cs"/>
              </a:defRPr>
            </a:lvl5pPr>
            <a:lvl6pPr marL="1280160" algn="l" defTabSz="512064" rtl="0" eaLnBrk="1" latinLnBrk="0" hangingPunct="1">
              <a:defRPr sz="1008" kern="1200">
                <a:solidFill>
                  <a:schemeClr val="tx1"/>
                </a:solidFill>
                <a:latin typeface="+mn-lt"/>
                <a:ea typeface="+mn-ea"/>
                <a:cs typeface="+mn-cs"/>
              </a:defRPr>
            </a:lvl6pPr>
            <a:lvl7pPr marL="1536192" algn="l" defTabSz="512064" rtl="0" eaLnBrk="1" latinLnBrk="0" hangingPunct="1">
              <a:defRPr sz="1008" kern="1200">
                <a:solidFill>
                  <a:schemeClr val="tx1"/>
                </a:solidFill>
                <a:latin typeface="+mn-lt"/>
                <a:ea typeface="+mn-ea"/>
                <a:cs typeface="+mn-cs"/>
              </a:defRPr>
            </a:lvl7pPr>
            <a:lvl8pPr marL="1792224" algn="l" defTabSz="512064" rtl="0" eaLnBrk="1" latinLnBrk="0" hangingPunct="1">
              <a:defRPr sz="1008" kern="1200">
                <a:solidFill>
                  <a:schemeClr val="tx1"/>
                </a:solidFill>
                <a:latin typeface="+mn-lt"/>
                <a:ea typeface="+mn-ea"/>
                <a:cs typeface="+mn-cs"/>
              </a:defRPr>
            </a:lvl8pPr>
            <a:lvl9pPr marL="2048256" algn="l" defTabSz="512064" rtl="0" eaLnBrk="1" latinLnBrk="0" hangingPunct="1">
              <a:defRPr sz="1008" kern="1200">
                <a:solidFill>
                  <a:schemeClr val="tx1"/>
                </a:solidFill>
                <a:latin typeface="+mn-lt"/>
                <a:ea typeface="+mn-ea"/>
                <a:cs typeface="+mn-cs"/>
              </a:defRPr>
            </a:lvl9pPr>
          </a:lstStyle>
          <a:p>
            <a:pPr algn="l">
              <a:lnSpc>
                <a:spcPts val="1469"/>
              </a:lnSpc>
            </a:pPr>
            <a:r>
              <a:rPr lang="en-US" sz="1050" b="1">
                <a:solidFill>
                  <a:srgbClr val="FFFFFF"/>
                </a:solidFill>
                <a:latin typeface="Raleway Bold"/>
                <a:ea typeface="Raleway Bold"/>
                <a:cs typeface="Raleway Bold"/>
                <a:sym typeface="Raleway Bold"/>
              </a:rPr>
              <a:t>Gear Shift Analytics</a:t>
            </a:r>
          </a:p>
        </p:txBody>
      </p:sp>
      <p:sp>
        <p:nvSpPr>
          <p:cNvPr id="13" name="TextBox 13"/>
          <p:cNvSpPr txBox="1"/>
          <p:nvPr/>
        </p:nvSpPr>
        <p:spPr>
          <a:xfrm>
            <a:off x="514350" y="1967656"/>
            <a:ext cx="4627569" cy="446917"/>
          </a:xfrm>
          <a:prstGeom prst="rect">
            <a:avLst/>
          </a:prstGeom>
        </p:spPr>
        <p:txBody>
          <a:bodyPr wrap="square" lIns="0" tIns="0" rIns="0" bIns="0" rtlCol="0" anchor="t">
            <a:spAutoFit/>
          </a:bodyPr>
          <a:lstStyle>
            <a:defPPr>
              <a:defRPr lang="en-US"/>
            </a:defPPr>
            <a:lvl1pPr marL="0" algn="l" defTabSz="512064" rtl="0" eaLnBrk="1" latinLnBrk="0" hangingPunct="1">
              <a:defRPr sz="1008" kern="1200">
                <a:solidFill>
                  <a:schemeClr val="tx1"/>
                </a:solidFill>
                <a:latin typeface="+mn-lt"/>
                <a:ea typeface="+mn-ea"/>
                <a:cs typeface="+mn-cs"/>
              </a:defRPr>
            </a:lvl1pPr>
            <a:lvl2pPr marL="256032" algn="l" defTabSz="512064" rtl="0" eaLnBrk="1" latinLnBrk="0" hangingPunct="1">
              <a:defRPr sz="1008" kern="1200">
                <a:solidFill>
                  <a:schemeClr val="tx1"/>
                </a:solidFill>
                <a:latin typeface="+mn-lt"/>
                <a:ea typeface="+mn-ea"/>
                <a:cs typeface="+mn-cs"/>
              </a:defRPr>
            </a:lvl2pPr>
            <a:lvl3pPr marL="512064" algn="l" defTabSz="512064" rtl="0" eaLnBrk="1" latinLnBrk="0" hangingPunct="1">
              <a:defRPr sz="1008" kern="1200">
                <a:solidFill>
                  <a:schemeClr val="tx1"/>
                </a:solidFill>
                <a:latin typeface="+mn-lt"/>
                <a:ea typeface="+mn-ea"/>
                <a:cs typeface="+mn-cs"/>
              </a:defRPr>
            </a:lvl3pPr>
            <a:lvl4pPr marL="768096" algn="l" defTabSz="512064" rtl="0" eaLnBrk="1" latinLnBrk="0" hangingPunct="1">
              <a:defRPr sz="1008" kern="1200">
                <a:solidFill>
                  <a:schemeClr val="tx1"/>
                </a:solidFill>
                <a:latin typeface="+mn-lt"/>
                <a:ea typeface="+mn-ea"/>
                <a:cs typeface="+mn-cs"/>
              </a:defRPr>
            </a:lvl4pPr>
            <a:lvl5pPr marL="1024128" algn="l" defTabSz="512064" rtl="0" eaLnBrk="1" latinLnBrk="0" hangingPunct="1">
              <a:defRPr sz="1008" kern="1200">
                <a:solidFill>
                  <a:schemeClr val="tx1"/>
                </a:solidFill>
                <a:latin typeface="+mn-lt"/>
                <a:ea typeface="+mn-ea"/>
                <a:cs typeface="+mn-cs"/>
              </a:defRPr>
            </a:lvl5pPr>
            <a:lvl6pPr marL="1280160" algn="l" defTabSz="512064" rtl="0" eaLnBrk="1" latinLnBrk="0" hangingPunct="1">
              <a:defRPr sz="1008" kern="1200">
                <a:solidFill>
                  <a:schemeClr val="tx1"/>
                </a:solidFill>
                <a:latin typeface="+mn-lt"/>
                <a:ea typeface="+mn-ea"/>
                <a:cs typeface="+mn-cs"/>
              </a:defRPr>
            </a:lvl6pPr>
            <a:lvl7pPr marL="1536192" algn="l" defTabSz="512064" rtl="0" eaLnBrk="1" latinLnBrk="0" hangingPunct="1">
              <a:defRPr sz="1008" kern="1200">
                <a:solidFill>
                  <a:schemeClr val="tx1"/>
                </a:solidFill>
                <a:latin typeface="+mn-lt"/>
                <a:ea typeface="+mn-ea"/>
                <a:cs typeface="+mn-cs"/>
              </a:defRPr>
            </a:lvl7pPr>
            <a:lvl8pPr marL="1792224" algn="l" defTabSz="512064" rtl="0" eaLnBrk="1" latinLnBrk="0" hangingPunct="1">
              <a:defRPr sz="1008" kern="1200">
                <a:solidFill>
                  <a:schemeClr val="tx1"/>
                </a:solidFill>
                <a:latin typeface="+mn-lt"/>
                <a:ea typeface="+mn-ea"/>
                <a:cs typeface="+mn-cs"/>
              </a:defRPr>
            </a:lvl8pPr>
            <a:lvl9pPr marL="2048256" algn="l" defTabSz="512064" rtl="0" eaLnBrk="1" latinLnBrk="0" hangingPunct="1">
              <a:defRPr sz="1008" kern="1200">
                <a:solidFill>
                  <a:schemeClr val="tx1"/>
                </a:solidFill>
                <a:latin typeface="+mn-lt"/>
                <a:ea typeface="+mn-ea"/>
                <a:cs typeface="+mn-cs"/>
              </a:defRPr>
            </a:lvl9pPr>
          </a:lstStyle>
          <a:p>
            <a:pPr algn="l">
              <a:lnSpc>
                <a:spcPts val="3920"/>
              </a:lnSpc>
            </a:pPr>
            <a:r>
              <a:rPr lang="en-US" sz="2800" b="1">
                <a:solidFill>
                  <a:srgbClr val="FFFFFF"/>
                </a:solidFill>
                <a:latin typeface="HK Modular"/>
                <a:ea typeface="HK Modular"/>
                <a:cs typeface="HK Modular"/>
                <a:sym typeface="HK Modular"/>
              </a:rPr>
              <a:t>The Big picture </a:t>
            </a:r>
          </a:p>
        </p:txBody>
      </p:sp>
      <p:sp>
        <p:nvSpPr>
          <p:cNvPr id="14" name="TextBox 14"/>
          <p:cNvSpPr txBox="1"/>
          <p:nvPr/>
        </p:nvSpPr>
        <p:spPr>
          <a:xfrm>
            <a:off x="344272" y="3128053"/>
            <a:ext cx="1181215" cy="352573"/>
          </a:xfrm>
          <a:prstGeom prst="rect">
            <a:avLst/>
          </a:prstGeom>
        </p:spPr>
        <p:txBody>
          <a:bodyPr wrap="square" lIns="0" tIns="0" rIns="0" bIns="0" rtlCol="0" anchor="t">
            <a:spAutoFit/>
          </a:bodyPr>
          <a:lstStyle>
            <a:defPPr>
              <a:defRPr lang="en-US"/>
            </a:defPPr>
            <a:lvl1pPr marL="0" algn="l" defTabSz="512064" rtl="0" eaLnBrk="1" latinLnBrk="0" hangingPunct="1">
              <a:defRPr sz="1008" kern="1200">
                <a:solidFill>
                  <a:schemeClr val="tx1"/>
                </a:solidFill>
                <a:latin typeface="+mn-lt"/>
                <a:ea typeface="+mn-ea"/>
                <a:cs typeface="+mn-cs"/>
              </a:defRPr>
            </a:lvl1pPr>
            <a:lvl2pPr marL="256032" algn="l" defTabSz="512064" rtl="0" eaLnBrk="1" latinLnBrk="0" hangingPunct="1">
              <a:defRPr sz="1008" kern="1200">
                <a:solidFill>
                  <a:schemeClr val="tx1"/>
                </a:solidFill>
                <a:latin typeface="+mn-lt"/>
                <a:ea typeface="+mn-ea"/>
                <a:cs typeface="+mn-cs"/>
              </a:defRPr>
            </a:lvl2pPr>
            <a:lvl3pPr marL="512064" algn="l" defTabSz="512064" rtl="0" eaLnBrk="1" latinLnBrk="0" hangingPunct="1">
              <a:defRPr sz="1008" kern="1200">
                <a:solidFill>
                  <a:schemeClr val="tx1"/>
                </a:solidFill>
                <a:latin typeface="+mn-lt"/>
                <a:ea typeface="+mn-ea"/>
                <a:cs typeface="+mn-cs"/>
              </a:defRPr>
            </a:lvl3pPr>
            <a:lvl4pPr marL="768096" algn="l" defTabSz="512064" rtl="0" eaLnBrk="1" latinLnBrk="0" hangingPunct="1">
              <a:defRPr sz="1008" kern="1200">
                <a:solidFill>
                  <a:schemeClr val="tx1"/>
                </a:solidFill>
                <a:latin typeface="+mn-lt"/>
                <a:ea typeface="+mn-ea"/>
                <a:cs typeface="+mn-cs"/>
              </a:defRPr>
            </a:lvl4pPr>
            <a:lvl5pPr marL="1024128" algn="l" defTabSz="512064" rtl="0" eaLnBrk="1" latinLnBrk="0" hangingPunct="1">
              <a:defRPr sz="1008" kern="1200">
                <a:solidFill>
                  <a:schemeClr val="tx1"/>
                </a:solidFill>
                <a:latin typeface="+mn-lt"/>
                <a:ea typeface="+mn-ea"/>
                <a:cs typeface="+mn-cs"/>
              </a:defRPr>
            </a:lvl5pPr>
            <a:lvl6pPr marL="1280160" algn="l" defTabSz="512064" rtl="0" eaLnBrk="1" latinLnBrk="0" hangingPunct="1">
              <a:defRPr sz="1008" kern="1200">
                <a:solidFill>
                  <a:schemeClr val="tx1"/>
                </a:solidFill>
                <a:latin typeface="+mn-lt"/>
                <a:ea typeface="+mn-ea"/>
                <a:cs typeface="+mn-cs"/>
              </a:defRPr>
            </a:lvl6pPr>
            <a:lvl7pPr marL="1536192" algn="l" defTabSz="512064" rtl="0" eaLnBrk="1" latinLnBrk="0" hangingPunct="1">
              <a:defRPr sz="1008" kern="1200">
                <a:solidFill>
                  <a:schemeClr val="tx1"/>
                </a:solidFill>
                <a:latin typeface="+mn-lt"/>
                <a:ea typeface="+mn-ea"/>
                <a:cs typeface="+mn-cs"/>
              </a:defRPr>
            </a:lvl7pPr>
            <a:lvl8pPr marL="1792224" algn="l" defTabSz="512064" rtl="0" eaLnBrk="1" latinLnBrk="0" hangingPunct="1">
              <a:defRPr sz="1008" kern="1200">
                <a:solidFill>
                  <a:schemeClr val="tx1"/>
                </a:solidFill>
                <a:latin typeface="+mn-lt"/>
                <a:ea typeface="+mn-ea"/>
                <a:cs typeface="+mn-cs"/>
              </a:defRPr>
            </a:lvl8pPr>
            <a:lvl9pPr marL="2048256" algn="l" defTabSz="512064" rtl="0" eaLnBrk="1" latinLnBrk="0" hangingPunct="1">
              <a:defRPr sz="1008" kern="1200">
                <a:solidFill>
                  <a:schemeClr val="tx1"/>
                </a:solidFill>
                <a:latin typeface="+mn-lt"/>
                <a:ea typeface="+mn-ea"/>
                <a:cs typeface="+mn-cs"/>
              </a:defRPr>
            </a:lvl9pPr>
          </a:lstStyle>
          <a:p>
            <a:pPr algn="l">
              <a:lnSpc>
                <a:spcPts val="2861"/>
              </a:lnSpc>
            </a:pPr>
            <a:r>
              <a:rPr lang="en-US" sz="2043" b="1">
                <a:solidFill>
                  <a:srgbClr val="FFFFFF"/>
                </a:solidFill>
                <a:latin typeface="Raleway Bold"/>
                <a:ea typeface="Raleway Bold"/>
                <a:cs typeface="Raleway Bold"/>
                <a:sym typeface="Raleway Bold"/>
              </a:rPr>
              <a:t>Our Goal </a:t>
            </a:r>
          </a:p>
        </p:txBody>
      </p:sp>
      <p:sp>
        <p:nvSpPr>
          <p:cNvPr id="15" name="TextBox 15"/>
          <p:cNvSpPr txBox="1"/>
          <p:nvPr/>
        </p:nvSpPr>
        <p:spPr>
          <a:xfrm>
            <a:off x="512360" y="3597302"/>
            <a:ext cx="5772746" cy="900055"/>
          </a:xfrm>
          <a:prstGeom prst="rect">
            <a:avLst/>
          </a:prstGeom>
        </p:spPr>
        <p:txBody>
          <a:bodyPr wrap="square" lIns="0" tIns="0" rIns="0" bIns="0" rtlCol="0" anchor="t">
            <a:spAutoFit/>
          </a:bodyPr>
          <a:lstStyle>
            <a:defPPr>
              <a:defRPr lang="en-US"/>
            </a:defPPr>
            <a:lvl1pPr marL="0" algn="l" defTabSz="512064" rtl="0" eaLnBrk="1" latinLnBrk="0" hangingPunct="1">
              <a:defRPr sz="1008" kern="1200">
                <a:solidFill>
                  <a:schemeClr val="tx1"/>
                </a:solidFill>
                <a:latin typeface="+mn-lt"/>
                <a:ea typeface="+mn-ea"/>
                <a:cs typeface="+mn-cs"/>
              </a:defRPr>
            </a:lvl1pPr>
            <a:lvl2pPr marL="256032" algn="l" defTabSz="512064" rtl="0" eaLnBrk="1" latinLnBrk="0" hangingPunct="1">
              <a:defRPr sz="1008" kern="1200">
                <a:solidFill>
                  <a:schemeClr val="tx1"/>
                </a:solidFill>
                <a:latin typeface="+mn-lt"/>
                <a:ea typeface="+mn-ea"/>
                <a:cs typeface="+mn-cs"/>
              </a:defRPr>
            </a:lvl2pPr>
            <a:lvl3pPr marL="512064" algn="l" defTabSz="512064" rtl="0" eaLnBrk="1" latinLnBrk="0" hangingPunct="1">
              <a:defRPr sz="1008" kern="1200">
                <a:solidFill>
                  <a:schemeClr val="tx1"/>
                </a:solidFill>
                <a:latin typeface="+mn-lt"/>
                <a:ea typeface="+mn-ea"/>
                <a:cs typeface="+mn-cs"/>
              </a:defRPr>
            </a:lvl3pPr>
            <a:lvl4pPr marL="768096" algn="l" defTabSz="512064" rtl="0" eaLnBrk="1" latinLnBrk="0" hangingPunct="1">
              <a:defRPr sz="1008" kern="1200">
                <a:solidFill>
                  <a:schemeClr val="tx1"/>
                </a:solidFill>
                <a:latin typeface="+mn-lt"/>
                <a:ea typeface="+mn-ea"/>
                <a:cs typeface="+mn-cs"/>
              </a:defRPr>
            </a:lvl4pPr>
            <a:lvl5pPr marL="1024128" algn="l" defTabSz="512064" rtl="0" eaLnBrk="1" latinLnBrk="0" hangingPunct="1">
              <a:defRPr sz="1008" kern="1200">
                <a:solidFill>
                  <a:schemeClr val="tx1"/>
                </a:solidFill>
                <a:latin typeface="+mn-lt"/>
                <a:ea typeface="+mn-ea"/>
                <a:cs typeface="+mn-cs"/>
              </a:defRPr>
            </a:lvl5pPr>
            <a:lvl6pPr marL="1280160" algn="l" defTabSz="512064" rtl="0" eaLnBrk="1" latinLnBrk="0" hangingPunct="1">
              <a:defRPr sz="1008" kern="1200">
                <a:solidFill>
                  <a:schemeClr val="tx1"/>
                </a:solidFill>
                <a:latin typeface="+mn-lt"/>
                <a:ea typeface="+mn-ea"/>
                <a:cs typeface="+mn-cs"/>
              </a:defRPr>
            </a:lvl6pPr>
            <a:lvl7pPr marL="1536192" algn="l" defTabSz="512064" rtl="0" eaLnBrk="1" latinLnBrk="0" hangingPunct="1">
              <a:defRPr sz="1008" kern="1200">
                <a:solidFill>
                  <a:schemeClr val="tx1"/>
                </a:solidFill>
                <a:latin typeface="+mn-lt"/>
                <a:ea typeface="+mn-ea"/>
                <a:cs typeface="+mn-cs"/>
              </a:defRPr>
            </a:lvl7pPr>
            <a:lvl8pPr marL="1792224" algn="l" defTabSz="512064" rtl="0" eaLnBrk="1" latinLnBrk="0" hangingPunct="1">
              <a:defRPr sz="1008" kern="1200">
                <a:solidFill>
                  <a:schemeClr val="tx1"/>
                </a:solidFill>
                <a:latin typeface="+mn-lt"/>
                <a:ea typeface="+mn-ea"/>
                <a:cs typeface="+mn-cs"/>
              </a:defRPr>
            </a:lvl8pPr>
            <a:lvl9pPr marL="2048256" algn="l" defTabSz="512064" rtl="0" eaLnBrk="1" latinLnBrk="0" hangingPunct="1">
              <a:defRPr sz="1008" kern="1200">
                <a:solidFill>
                  <a:schemeClr val="tx1"/>
                </a:solidFill>
                <a:latin typeface="+mn-lt"/>
                <a:ea typeface="+mn-ea"/>
                <a:cs typeface="+mn-cs"/>
              </a:defRPr>
            </a:lvl9pPr>
          </a:lstStyle>
          <a:p>
            <a:pPr>
              <a:lnSpc>
                <a:spcPts val="2431"/>
              </a:lnSpc>
            </a:pPr>
            <a:r>
              <a:rPr lang="en-US" sz="1750" dirty="0">
                <a:solidFill>
                  <a:srgbClr val="FFFFFF"/>
                </a:solidFill>
                <a:latin typeface="Raleway"/>
                <a:ea typeface="Raleway"/>
                <a:cs typeface="Raleway"/>
                <a:sym typeface="Raleway"/>
              </a:rPr>
              <a:t>“Under the Hood: What Drives Car Prices?”</a:t>
            </a:r>
            <a:endParaRPr lang="en-US" sz="1750">
              <a:sym typeface="Raleway"/>
            </a:endParaRPr>
          </a:p>
          <a:p>
            <a:pPr marL="285750" indent="-285750">
              <a:lnSpc>
                <a:spcPts val="2431"/>
              </a:lnSpc>
              <a:buFont typeface="Calibri"/>
              <a:buChar char="-"/>
            </a:pPr>
            <a:r>
              <a:rPr lang="en-US" sz="1750" dirty="0">
                <a:solidFill>
                  <a:srgbClr val="FFFFFF"/>
                </a:solidFill>
                <a:latin typeface="Raleway"/>
                <a:ea typeface="Raleway"/>
                <a:cs typeface="Raleway"/>
              </a:rPr>
              <a:t>Using relevant variables, create models that accurately predict MSRP. </a:t>
            </a:r>
          </a:p>
        </p:txBody>
      </p:sp>
      <p:sp>
        <p:nvSpPr>
          <p:cNvPr id="16" name="TextBox 16"/>
          <p:cNvSpPr txBox="1"/>
          <p:nvPr/>
        </p:nvSpPr>
        <p:spPr>
          <a:xfrm>
            <a:off x="7205144" y="5449791"/>
            <a:ext cx="1315717" cy="200311"/>
          </a:xfrm>
          <a:prstGeom prst="rect">
            <a:avLst/>
          </a:prstGeom>
        </p:spPr>
        <p:txBody>
          <a:bodyPr wrap="square" lIns="0" tIns="0" rIns="0" bIns="0" rtlCol="0" anchor="t">
            <a:spAutoFit/>
          </a:bodyPr>
          <a:lstStyle>
            <a:defPPr>
              <a:defRPr lang="en-US"/>
            </a:defPPr>
            <a:lvl1pPr marL="0" algn="l" defTabSz="512064" rtl="0" eaLnBrk="1" latinLnBrk="0" hangingPunct="1">
              <a:defRPr sz="1008" kern="1200">
                <a:solidFill>
                  <a:schemeClr val="tx1"/>
                </a:solidFill>
                <a:latin typeface="+mn-lt"/>
                <a:ea typeface="+mn-ea"/>
                <a:cs typeface="+mn-cs"/>
              </a:defRPr>
            </a:lvl1pPr>
            <a:lvl2pPr marL="256032" algn="l" defTabSz="512064" rtl="0" eaLnBrk="1" latinLnBrk="0" hangingPunct="1">
              <a:defRPr sz="1008" kern="1200">
                <a:solidFill>
                  <a:schemeClr val="tx1"/>
                </a:solidFill>
                <a:latin typeface="+mn-lt"/>
                <a:ea typeface="+mn-ea"/>
                <a:cs typeface="+mn-cs"/>
              </a:defRPr>
            </a:lvl2pPr>
            <a:lvl3pPr marL="512064" algn="l" defTabSz="512064" rtl="0" eaLnBrk="1" latinLnBrk="0" hangingPunct="1">
              <a:defRPr sz="1008" kern="1200">
                <a:solidFill>
                  <a:schemeClr val="tx1"/>
                </a:solidFill>
                <a:latin typeface="+mn-lt"/>
                <a:ea typeface="+mn-ea"/>
                <a:cs typeface="+mn-cs"/>
              </a:defRPr>
            </a:lvl3pPr>
            <a:lvl4pPr marL="768096" algn="l" defTabSz="512064" rtl="0" eaLnBrk="1" latinLnBrk="0" hangingPunct="1">
              <a:defRPr sz="1008" kern="1200">
                <a:solidFill>
                  <a:schemeClr val="tx1"/>
                </a:solidFill>
                <a:latin typeface="+mn-lt"/>
                <a:ea typeface="+mn-ea"/>
                <a:cs typeface="+mn-cs"/>
              </a:defRPr>
            </a:lvl4pPr>
            <a:lvl5pPr marL="1024128" algn="l" defTabSz="512064" rtl="0" eaLnBrk="1" latinLnBrk="0" hangingPunct="1">
              <a:defRPr sz="1008" kern="1200">
                <a:solidFill>
                  <a:schemeClr val="tx1"/>
                </a:solidFill>
                <a:latin typeface="+mn-lt"/>
                <a:ea typeface="+mn-ea"/>
                <a:cs typeface="+mn-cs"/>
              </a:defRPr>
            </a:lvl5pPr>
            <a:lvl6pPr marL="1280160" algn="l" defTabSz="512064" rtl="0" eaLnBrk="1" latinLnBrk="0" hangingPunct="1">
              <a:defRPr sz="1008" kern="1200">
                <a:solidFill>
                  <a:schemeClr val="tx1"/>
                </a:solidFill>
                <a:latin typeface="+mn-lt"/>
                <a:ea typeface="+mn-ea"/>
                <a:cs typeface="+mn-cs"/>
              </a:defRPr>
            </a:lvl6pPr>
            <a:lvl7pPr marL="1536192" algn="l" defTabSz="512064" rtl="0" eaLnBrk="1" latinLnBrk="0" hangingPunct="1">
              <a:defRPr sz="1008" kern="1200">
                <a:solidFill>
                  <a:schemeClr val="tx1"/>
                </a:solidFill>
                <a:latin typeface="+mn-lt"/>
                <a:ea typeface="+mn-ea"/>
                <a:cs typeface="+mn-cs"/>
              </a:defRPr>
            </a:lvl7pPr>
            <a:lvl8pPr marL="1792224" algn="l" defTabSz="512064" rtl="0" eaLnBrk="1" latinLnBrk="0" hangingPunct="1">
              <a:defRPr sz="1008" kern="1200">
                <a:solidFill>
                  <a:schemeClr val="tx1"/>
                </a:solidFill>
                <a:latin typeface="+mn-lt"/>
                <a:ea typeface="+mn-ea"/>
                <a:cs typeface="+mn-cs"/>
              </a:defRPr>
            </a:lvl8pPr>
            <a:lvl9pPr marL="2048256" algn="l" defTabSz="512064" rtl="0" eaLnBrk="1" latinLnBrk="0" hangingPunct="1">
              <a:defRPr sz="1008" kern="1200">
                <a:solidFill>
                  <a:schemeClr val="tx1"/>
                </a:solidFill>
                <a:latin typeface="+mn-lt"/>
                <a:ea typeface="+mn-ea"/>
                <a:cs typeface="+mn-cs"/>
              </a:defRPr>
            </a:lvl9pPr>
          </a:lstStyle>
          <a:p>
            <a:pPr algn="l">
              <a:lnSpc>
                <a:spcPts val="1680"/>
              </a:lnSpc>
            </a:pPr>
            <a:r>
              <a:rPr lang="en-US" sz="1200" b="1">
                <a:solidFill>
                  <a:srgbClr val="FFFFFF"/>
                </a:solidFill>
                <a:latin typeface="Raleway Bold"/>
                <a:ea typeface="Raleway Bold"/>
                <a:cs typeface="Raleway Bold"/>
                <a:sym typeface="Raleway Bold"/>
              </a:rPr>
              <a:t>LET’S GOOOOOO!</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268165-FBBF-A2A3-C419-25D5D9E5A201}"/>
              </a:ext>
            </a:extLst>
          </p:cNvPr>
          <p:cNvSpPr>
            <a:spLocks noGrp="1"/>
          </p:cNvSpPr>
          <p:nvPr>
            <p:ph type="title"/>
          </p:nvPr>
        </p:nvSpPr>
        <p:spPr>
          <a:xfrm>
            <a:off x="-578990" y="222169"/>
            <a:ext cx="8600535" cy="1265208"/>
          </a:xfrm>
        </p:spPr>
        <p:txBody>
          <a:bodyPr>
            <a:normAutofit/>
          </a:bodyPr>
          <a:lstStyle/>
          <a:p>
            <a:r>
              <a:rPr lang="en-US" dirty="0">
                <a:ea typeface="Calibri"/>
                <a:cs typeface="Calibri"/>
              </a:rPr>
              <a:t>Cleaning up Data and Why </a:t>
            </a:r>
          </a:p>
        </p:txBody>
      </p:sp>
      <p:sp>
        <p:nvSpPr>
          <p:cNvPr id="3" name="Content Placeholder 2">
            <a:extLst>
              <a:ext uri="{FF2B5EF4-FFF2-40B4-BE49-F238E27FC236}">
                <a16:creationId xmlns:a16="http://schemas.microsoft.com/office/drawing/2014/main" id="{5DF5E035-BE3A-8EA5-3954-1521542AB514}"/>
              </a:ext>
            </a:extLst>
          </p:cNvPr>
          <p:cNvSpPr>
            <a:spLocks noGrp="1"/>
          </p:cNvSpPr>
          <p:nvPr>
            <p:ph idx="1"/>
          </p:nvPr>
        </p:nvSpPr>
        <p:spPr>
          <a:xfrm>
            <a:off x="228600" y="1713782"/>
            <a:ext cx="8600535" cy="4397535"/>
          </a:xfrm>
        </p:spPr>
        <p:txBody>
          <a:bodyPr vert="horz" lIns="91440" tIns="45720" rIns="91440" bIns="45720" rtlCol="0" anchor="t">
            <a:normAutofit fontScale="70000" lnSpcReduction="20000"/>
          </a:bodyPr>
          <a:lstStyle/>
          <a:p>
            <a:r>
              <a:rPr lang="en-US" dirty="0">
                <a:ea typeface="Calibri"/>
                <a:cs typeface="Calibri"/>
              </a:rPr>
              <a:t>Removed Variables</a:t>
            </a:r>
          </a:p>
          <a:p>
            <a:pPr lvl="1">
              <a:buFont typeface="Courier New" pitchFamily="34" charset="0"/>
              <a:buChar char="o"/>
            </a:pPr>
            <a:r>
              <a:rPr lang="en-US" dirty="0">
                <a:ea typeface="Calibri"/>
                <a:cs typeface="Calibri"/>
              </a:rPr>
              <a:t>Highway MPG, Engine Cylinder, Vehicle Size, No. Of Doors, Make</a:t>
            </a:r>
          </a:p>
          <a:p>
            <a:pPr lvl="2">
              <a:buFont typeface="Wingdings" pitchFamily="34" charset="0"/>
              <a:buChar char="§"/>
            </a:pPr>
            <a:r>
              <a:rPr lang="en-US" dirty="0" err="1">
                <a:ea typeface="Calibri"/>
                <a:cs typeface="Calibri"/>
              </a:rPr>
              <a:t>HighWay</a:t>
            </a:r>
            <a:r>
              <a:rPr lang="en-US" dirty="0">
                <a:ea typeface="Calibri"/>
                <a:cs typeface="Calibri"/>
              </a:rPr>
              <a:t> MPG was removed because City MPG </a:t>
            </a:r>
          </a:p>
          <a:p>
            <a:pPr lvl="2">
              <a:buFont typeface="Wingdings" pitchFamily="34" charset="0"/>
              <a:buChar char="§"/>
            </a:pPr>
            <a:r>
              <a:rPr lang="en-US" dirty="0">
                <a:ea typeface="Calibri"/>
                <a:cs typeface="Calibri"/>
              </a:rPr>
              <a:t>Eng. Cylinder was removed because of Eng. HP</a:t>
            </a:r>
          </a:p>
          <a:p>
            <a:pPr lvl="2">
              <a:buFont typeface="Wingdings" pitchFamily="34" charset="0"/>
              <a:buChar char="§"/>
            </a:pPr>
            <a:r>
              <a:rPr lang="en-US" dirty="0">
                <a:ea typeface="Calibri"/>
                <a:cs typeface="Calibri"/>
              </a:rPr>
              <a:t>Vehicle Size and No. Of Doors was removed because of Vehicle Style</a:t>
            </a:r>
          </a:p>
          <a:p>
            <a:pPr lvl="2">
              <a:buFont typeface="Wingdings" pitchFamily="34" charset="0"/>
              <a:buChar char="§"/>
            </a:pPr>
            <a:r>
              <a:rPr lang="en-US" dirty="0">
                <a:ea typeface="Calibri"/>
                <a:cs typeface="Calibri"/>
              </a:rPr>
              <a:t>Make was removed because of Market Category</a:t>
            </a:r>
          </a:p>
          <a:p>
            <a:r>
              <a:rPr lang="en-US" dirty="0">
                <a:ea typeface="Calibri"/>
                <a:cs typeface="Calibri"/>
              </a:rPr>
              <a:t>Removed Entries that had empty Values. (99 Entries)</a:t>
            </a:r>
          </a:p>
          <a:p>
            <a:pPr lvl="1">
              <a:buFont typeface="Courier New" pitchFamily="34" charset="0"/>
              <a:buChar char="o"/>
            </a:pPr>
            <a:r>
              <a:rPr lang="en-US" dirty="0">
                <a:ea typeface="Calibri"/>
                <a:cs typeface="Calibri"/>
              </a:rPr>
              <a:t>Considered them mistakes and error in collecting data</a:t>
            </a:r>
          </a:p>
          <a:p>
            <a:pPr lvl="1">
              <a:buFont typeface="Courier New" pitchFamily="34" charset="0"/>
              <a:buChar char="o"/>
            </a:pPr>
            <a:r>
              <a:rPr lang="en-US" dirty="0">
                <a:ea typeface="Calibri"/>
                <a:cs typeface="Calibri"/>
              </a:rPr>
              <a:t>Removed &lt;1% data</a:t>
            </a:r>
          </a:p>
          <a:p>
            <a:pPr lvl="2">
              <a:buFont typeface="Wingdings" pitchFamily="34" charset="0"/>
              <a:buChar char="§"/>
            </a:pPr>
            <a:r>
              <a:rPr lang="en-US" dirty="0">
                <a:ea typeface="Calibri"/>
                <a:cs typeface="Calibri"/>
              </a:rPr>
              <a:t>The data removed from visual standpoint seem to cover a spread of MSRPs</a:t>
            </a:r>
          </a:p>
          <a:p>
            <a:r>
              <a:rPr lang="en-US" dirty="0">
                <a:ea typeface="Calibri"/>
                <a:cs typeface="Calibri"/>
              </a:rPr>
              <a:t>Converted Year into a category (For Academic Curiosity)</a:t>
            </a:r>
          </a:p>
          <a:p>
            <a:pPr lvl="1">
              <a:buFont typeface="Courier New" pitchFamily="34" charset="0"/>
              <a:buChar char="o"/>
            </a:pPr>
            <a:r>
              <a:rPr lang="en-US" dirty="0">
                <a:ea typeface="Calibri"/>
                <a:cs typeface="Calibri"/>
              </a:rPr>
              <a:t>Pre-2001 and Post-2001</a:t>
            </a:r>
          </a:p>
          <a:p>
            <a:pPr lvl="2">
              <a:buFont typeface="Wingdings" pitchFamily="34" charset="0"/>
              <a:buChar char="§"/>
            </a:pPr>
            <a:r>
              <a:rPr lang="en-US" dirty="0">
                <a:ea typeface="Calibri"/>
                <a:cs typeface="Calibri"/>
              </a:rPr>
              <a:t>There is a stark contrast between these date and by converting it to a categorical variable could help the data better fit the models</a:t>
            </a:r>
          </a:p>
        </p:txBody>
      </p:sp>
    </p:spTree>
    <p:extLst>
      <p:ext uri="{BB962C8B-B14F-4D97-AF65-F5344CB8AC3E}">
        <p14:creationId xmlns:p14="http://schemas.microsoft.com/office/powerpoint/2010/main" val="598535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298AE9-38A3-70B5-C840-39728F9775AD}"/>
              </a:ext>
            </a:extLst>
          </p:cNvPr>
          <p:cNvSpPr>
            <a:spLocks noGrp="1"/>
          </p:cNvSpPr>
          <p:nvPr>
            <p:ph type="title"/>
          </p:nvPr>
        </p:nvSpPr>
        <p:spPr>
          <a:xfrm>
            <a:off x="228600" y="183092"/>
            <a:ext cx="8590344" cy="723418"/>
          </a:xfrm>
        </p:spPr>
        <p:txBody>
          <a:bodyPr>
            <a:normAutofit fontScale="90000"/>
          </a:bodyPr>
          <a:lstStyle/>
          <a:p>
            <a:r>
              <a:rPr lang="en-US" dirty="0">
                <a:ea typeface="Calibri"/>
                <a:cs typeface="Calibri"/>
              </a:rPr>
              <a:t>Removed Data Statistics</a:t>
            </a:r>
            <a:endParaRPr lang="en-US" dirty="0"/>
          </a:p>
        </p:txBody>
      </p:sp>
      <p:sp>
        <p:nvSpPr>
          <p:cNvPr id="3" name="Content Placeholder 2">
            <a:extLst>
              <a:ext uri="{FF2B5EF4-FFF2-40B4-BE49-F238E27FC236}">
                <a16:creationId xmlns:a16="http://schemas.microsoft.com/office/drawing/2014/main" id="{47C83658-11BC-5338-E192-D733FF869AFC}"/>
              </a:ext>
            </a:extLst>
          </p:cNvPr>
          <p:cNvSpPr>
            <a:spLocks noGrp="1"/>
          </p:cNvSpPr>
          <p:nvPr>
            <p:ph idx="1"/>
          </p:nvPr>
        </p:nvSpPr>
        <p:spPr>
          <a:xfrm>
            <a:off x="228600" y="1066800"/>
            <a:ext cx="8696445" cy="5611967"/>
          </a:xfrm>
        </p:spPr>
        <p:txBody>
          <a:bodyPr vert="horz" lIns="91440" tIns="45720" rIns="91440" bIns="45720" rtlCol="0" anchor="t">
            <a:normAutofit/>
          </a:bodyPr>
          <a:lstStyle/>
          <a:p>
            <a:r>
              <a:rPr lang="en-US" dirty="0">
                <a:ea typeface="Calibri"/>
                <a:cs typeface="Calibri"/>
              </a:rPr>
              <a:t>MSRP</a:t>
            </a:r>
          </a:p>
          <a:p>
            <a:pPr lvl="1">
              <a:buFont typeface="Courier New" pitchFamily="34" charset="0"/>
              <a:buChar char="o"/>
            </a:pPr>
            <a:r>
              <a:rPr lang="en-US" dirty="0">
                <a:ea typeface="Calibri"/>
                <a:cs typeface="Calibri"/>
              </a:rPr>
              <a:t>Range: 7523 – 295000</a:t>
            </a:r>
          </a:p>
          <a:p>
            <a:pPr lvl="1">
              <a:buFont typeface="Courier New" pitchFamily="34" charset="0"/>
              <a:buChar char="o"/>
            </a:pPr>
            <a:r>
              <a:rPr lang="en-US" dirty="0">
                <a:ea typeface="Calibri"/>
                <a:cs typeface="Calibri"/>
              </a:rPr>
              <a:t>Median:33950 Mean: 45413</a:t>
            </a:r>
          </a:p>
          <a:p>
            <a:r>
              <a:rPr lang="en-US" dirty="0">
                <a:ea typeface="Calibri"/>
                <a:cs typeface="Calibri"/>
              </a:rPr>
              <a:t>HP (69 N/A)</a:t>
            </a:r>
          </a:p>
          <a:p>
            <a:pPr lvl="1">
              <a:buFont typeface="Courier New" pitchFamily="34" charset="0"/>
              <a:buChar char="o"/>
            </a:pPr>
            <a:r>
              <a:rPr lang="en-US" dirty="0">
                <a:ea typeface="Calibri"/>
                <a:cs typeface="Calibri"/>
              </a:rPr>
              <a:t>Range 66 - 651</a:t>
            </a:r>
          </a:p>
          <a:p>
            <a:r>
              <a:rPr lang="en-US" dirty="0">
                <a:ea typeface="Calibri"/>
                <a:cs typeface="Calibri"/>
              </a:rPr>
              <a:t>Cylinder (30 N/A)</a:t>
            </a:r>
          </a:p>
          <a:p>
            <a:pPr lvl="1">
              <a:buFont typeface="Courier New" pitchFamily="34" charset="0"/>
              <a:buChar char="o"/>
            </a:pPr>
            <a:r>
              <a:rPr lang="en-US" dirty="0">
                <a:ea typeface="Calibri"/>
                <a:cs typeface="Calibri"/>
              </a:rPr>
              <a:t>Range 0 (Electric) - 12 </a:t>
            </a:r>
          </a:p>
          <a:p>
            <a:r>
              <a:rPr lang="en-US" dirty="0">
                <a:ea typeface="Calibri"/>
                <a:cs typeface="Calibri"/>
              </a:rPr>
              <a:t>Doors (6 N/A)</a:t>
            </a:r>
          </a:p>
          <a:p>
            <a:pPr lvl="1">
              <a:buFont typeface="Courier New" pitchFamily="34" charset="0"/>
              <a:buChar char="o"/>
            </a:pPr>
            <a:r>
              <a:rPr lang="en-US" dirty="0">
                <a:ea typeface="Calibri"/>
                <a:cs typeface="Calibri"/>
              </a:rPr>
              <a:t>Median: 4</a:t>
            </a:r>
          </a:p>
        </p:txBody>
      </p:sp>
    </p:spTree>
    <p:extLst>
      <p:ext uri="{BB962C8B-B14F-4D97-AF65-F5344CB8AC3E}">
        <p14:creationId xmlns:p14="http://schemas.microsoft.com/office/powerpoint/2010/main" val="41114210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659724-35FF-91DA-4281-0C56832F32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91C978-64A0-E1A4-BAD3-5B23DD74C996}"/>
              </a:ext>
            </a:extLst>
          </p:cNvPr>
          <p:cNvSpPr>
            <a:spLocks noGrp="1"/>
          </p:cNvSpPr>
          <p:nvPr>
            <p:ph type="title"/>
          </p:nvPr>
        </p:nvSpPr>
        <p:spPr>
          <a:xfrm>
            <a:off x="228600" y="183092"/>
            <a:ext cx="8590344" cy="723418"/>
          </a:xfrm>
        </p:spPr>
        <p:txBody>
          <a:bodyPr>
            <a:normAutofit fontScale="90000"/>
          </a:bodyPr>
          <a:lstStyle/>
          <a:p>
            <a:r>
              <a:rPr lang="en-US" dirty="0">
                <a:ea typeface="Calibri"/>
                <a:cs typeface="Calibri"/>
              </a:rPr>
              <a:t>Dealing with Outliers</a:t>
            </a:r>
            <a:endParaRPr lang="en-US" dirty="0"/>
          </a:p>
        </p:txBody>
      </p:sp>
      <p:sp>
        <p:nvSpPr>
          <p:cNvPr id="3" name="Content Placeholder 2">
            <a:extLst>
              <a:ext uri="{FF2B5EF4-FFF2-40B4-BE49-F238E27FC236}">
                <a16:creationId xmlns:a16="http://schemas.microsoft.com/office/drawing/2014/main" id="{5E56DC20-E000-127D-18E5-B99013B0219D}"/>
              </a:ext>
            </a:extLst>
          </p:cNvPr>
          <p:cNvSpPr>
            <a:spLocks noGrp="1"/>
          </p:cNvSpPr>
          <p:nvPr>
            <p:ph idx="1"/>
          </p:nvPr>
        </p:nvSpPr>
        <p:spPr>
          <a:xfrm>
            <a:off x="228600" y="1066800"/>
            <a:ext cx="8696445" cy="5611967"/>
          </a:xfrm>
        </p:spPr>
        <p:txBody>
          <a:bodyPr vert="horz" lIns="91440" tIns="45720" rIns="91440" bIns="45720" rtlCol="0" anchor="t">
            <a:normAutofit/>
          </a:bodyPr>
          <a:lstStyle/>
          <a:p>
            <a:r>
              <a:rPr lang="en-US" sz="1800" dirty="0">
                <a:ea typeface="Calibri"/>
                <a:cs typeface="Calibri"/>
              </a:rPr>
              <a:t>Due to MSRP having have a lot of outliers, some of them holding a lot of leverage. We created two data sets. </a:t>
            </a:r>
          </a:p>
          <a:p>
            <a:pPr lvl="1">
              <a:buFont typeface="Courier New" pitchFamily="34" charset="0"/>
              <a:buChar char="o"/>
            </a:pPr>
            <a:r>
              <a:rPr lang="en-US" sz="1800" dirty="0">
                <a:ea typeface="Calibri"/>
                <a:cs typeface="Calibri"/>
              </a:rPr>
              <a:t>Full Dataset (including Outliers)</a:t>
            </a:r>
          </a:p>
          <a:p>
            <a:pPr lvl="1">
              <a:buFont typeface="Courier New" pitchFamily="34" charset="0"/>
              <a:buChar char="o"/>
            </a:pPr>
            <a:r>
              <a:rPr lang="en-US" sz="1800" dirty="0">
                <a:ea typeface="Calibri"/>
                <a:cs typeface="Calibri"/>
              </a:rPr>
              <a:t>Reduced Dataset (excluding outliers that are past 3 standard deviations from the mean. </a:t>
            </a:r>
          </a:p>
          <a:p>
            <a:r>
              <a:rPr lang="en-US" sz="1800" dirty="0">
                <a:ea typeface="Calibri"/>
                <a:cs typeface="Calibri"/>
              </a:rPr>
              <a:t>All Plots will be shown without outliers or focused on majority of the data because the outliers heavily skew the data</a:t>
            </a:r>
          </a:p>
          <a:p>
            <a:pPr lvl="1">
              <a:buFont typeface="Courier New" pitchFamily="34" charset="0"/>
              <a:buChar char="o"/>
            </a:pPr>
            <a:r>
              <a:rPr lang="en-US" sz="1800" dirty="0">
                <a:ea typeface="Calibri"/>
                <a:cs typeface="Calibri"/>
              </a:rPr>
              <a:t>Plots below illustrate the effect that outliers have on the plot</a:t>
            </a:r>
            <a:endParaRPr lang="en-US" dirty="0"/>
          </a:p>
        </p:txBody>
      </p:sp>
      <p:pic>
        <p:nvPicPr>
          <p:cNvPr id="4" name="Picture 3">
            <a:extLst>
              <a:ext uri="{FF2B5EF4-FFF2-40B4-BE49-F238E27FC236}">
                <a16:creationId xmlns:a16="http://schemas.microsoft.com/office/drawing/2014/main" id="{1C20597D-9605-545D-7A7F-7C3F05091DAE}"/>
              </a:ext>
            </a:extLst>
          </p:cNvPr>
          <p:cNvPicPr>
            <a:picLocks noChangeAspect="1"/>
          </p:cNvPicPr>
          <p:nvPr/>
        </p:nvPicPr>
        <p:blipFill>
          <a:blip r:embed="rId2"/>
          <a:stretch>
            <a:fillRect/>
          </a:stretch>
        </p:blipFill>
        <p:spPr>
          <a:xfrm>
            <a:off x="997276" y="3605496"/>
            <a:ext cx="3658577" cy="2258647"/>
          </a:xfrm>
          <a:prstGeom prst="rect">
            <a:avLst/>
          </a:prstGeom>
        </p:spPr>
      </p:pic>
      <p:pic>
        <p:nvPicPr>
          <p:cNvPr id="5" name="Picture 4" descr="A graph with numbers and text&#10;&#10;AI-generated content may be incorrect.">
            <a:extLst>
              <a:ext uri="{FF2B5EF4-FFF2-40B4-BE49-F238E27FC236}">
                <a16:creationId xmlns:a16="http://schemas.microsoft.com/office/drawing/2014/main" id="{D3281435-E97A-2601-B319-3D31B073E675}"/>
              </a:ext>
            </a:extLst>
          </p:cNvPr>
          <p:cNvPicPr>
            <a:picLocks noChangeAspect="1"/>
          </p:cNvPicPr>
          <p:nvPr/>
        </p:nvPicPr>
        <p:blipFill>
          <a:blip r:embed="rId3"/>
          <a:stretch>
            <a:fillRect/>
          </a:stretch>
        </p:blipFill>
        <p:spPr>
          <a:xfrm>
            <a:off x="4919622" y="3607125"/>
            <a:ext cx="3652065" cy="2252134"/>
          </a:xfrm>
          <a:prstGeom prst="rect">
            <a:avLst/>
          </a:prstGeom>
        </p:spPr>
      </p:pic>
    </p:spTree>
    <p:extLst>
      <p:ext uri="{BB962C8B-B14F-4D97-AF65-F5344CB8AC3E}">
        <p14:creationId xmlns:p14="http://schemas.microsoft.com/office/powerpoint/2010/main" val="36953077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90909"/>
        </a:solidFill>
        <a:effectLst/>
      </p:bgPr>
    </p:bg>
    <p:spTree>
      <p:nvGrpSpPr>
        <p:cNvPr id="1" name=""/>
        <p:cNvGrpSpPr/>
        <p:nvPr/>
      </p:nvGrpSpPr>
      <p:grpSpPr>
        <a:xfrm>
          <a:off x="0" y="0"/>
          <a:ext cx="0" cy="0"/>
          <a:chOff x="0" y="0"/>
          <a:chExt cx="0" cy="0"/>
        </a:xfrm>
      </p:grpSpPr>
      <p:sp>
        <p:nvSpPr>
          <p:cNvPr id="2" name="Freeform 2"/>
          <p:cNvSpPr/>
          <p:nvPr/>
        </p:nvSpPr>
        <p:spPr>
          <a:xfrm>
            <a:off x="-1524" y="2276656"/>
            <a:ext cx="2753602" cy="2676544"/>
          </a:xfrm>
          <a:custGeom>
            <a:avLst/>
            <a:gdLst/>
            <a:ahLst/>
            <a:cxnLst/>
            <a:rect l="l" t="t" r="r" b="b"/>
            <a:pathLst>
              <a:path w="5507203" h="5353088">
                <a:moveTo>
                  <a:pt x="0" y="0"/>
                </a:moveTo>
                <a:lnTo>
                  <a:pt x="5507203" y="0"/>
                </a:lnTo>
                <a:lnTo>
                  <a:pt x="5507203" y="5353088"/>
                </a:lnTo>
                <a:lnTo>
                  <a:pt x="0" y="535308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482313" y="1981824"/>
            <a:ext cx="1175890" cy="33338"/>
          </a:xfrm>
          <a:custGeom>
            <a:avLst/>
            <a:gdLst/>
            <a:ahLst/>
            <a:cxnLst/>
            <a:rect l="l" t="t" r="r" b="b"/>
            <a:pathLst>
              <a:path w="2351780" h="66675">
                <a:moveTo>
                  <a:pt x="0" y="0"/>
                </a:moveTo>
                <a:lnTo>
                  <a:pt x="2351780" y="0"/>
                </a:lnTo>
                <a:lnTo>
                  <a:pt x="2351780" y="66675"/>
                </a:lnTo>
                <a:lnTo>
                  <a:pt x="0" y="6667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514350" y="1267125"/>
            <a:ext cx="280021" cy="208931"/>
          </a:xfrm>
          <a:custGeom>
            <a:avLst/>
            <a:gdLst/>
            <a:ahLst/>
            <a:cxnLst/>
            <a:rect l="l" t="t" r="r" b="b"/>
            <a:pathLst>
              <a:path w="560041" h="417862">
                <a:moveTo>
                  <a:pt x="0" y="0"/>
                </a:moveTo>
                <a:lnTo>
                  <a:pt x="560041" y="0"/>
                </a:lnTo>
                <a:lnTo>
                  <a:pt x="560041" y="417862"/>
                </a:lnTo>
                <a:lnTo>
                  <a:pt x="0" y="41786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a:off x="4475988" y="3022011"/>
            <a:ext cx="1719029" cy="2860572"/>
          </a:xfrm>
          <a:custGeom>
            <a:avLst/>
            <a:gdLst/>
            <a:ahLst/>
            <a:cxnLst/>
            <a:rect l="l" t="t" r="r" b="b"/>
            <a:pathLst>
              <a:path w="3438058" h="5721144">
                <a:moveTo>
                  <a:pt x="0" y="0"/>
                </a:moveTo>
                <a:lnTo>
                  <a:pt x="3438058" y="0"/>
                </a:lnTo>
                <a:lnTo>
                  <a:pt x="3438058" y="5721144"/>
                </a:lnTo>
                <a:lnTo>
                  <a:pt x="0" y="572114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6" name="Freeform 6"/>
          <p:cNvSpPr/>
          <p:nvPr/>
        </p:nvSpPr>
        <p:spPr>
          <a:xfrm>
            <a:off x="6757640" y="857250"/>
            <a:ext cx="1871991" cy="992986"/>
          </a:xfrm>
          <a:custGeom>
            <a:avLst/>
            <a:gdLst/>
            <a:ahLst/>
            <a:cxnLst/>
            <a:rect l="l" t="t" r="r" b="b"/>
            <a:pathLst>
              <a:path w="3743982" h="1985972">
                <a:moveTo>
                  <a:pt x="0" y="0"/>
                </a:moveTo>
                <a:lnTo>
                  <a:pt x="3743982" y="0"/>
                </a:lnTo>
                <a:lnTo>
                  <a:pt x="3743982" y="1985972"/>
                </a:lnTo>
                <a:lnTo>
                  <a:pt x="0" y="1985972"/>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7" name="Freeform 7"/>
          <p:cNvSpPr/>
          <p:nvPr/>
        </p:nvSpPr>
        <p:spPr>
          <a:xfrm>
            <a:off x="6510933" y="2990274"/>
            <a:ext cx="2442082" cy="2893319"/>
          </a:xfrm>
          <a:custGeom>
            <a:avLst/>
            <a:gdLst/>
            <a:ahLst/>
            <a:cxnLst/>
            <a:rect l="l" t="t" r="r" b="b"/>
            <a:pathLst>
              <a:path w="4884163" h="5786638">
                <a:moveTo>
                  <a:pt x="0" y="0"/>
                </a:moveTo>
                <a:lnTo>
                  <a:pt x="4884162" y="0"/>
                </a:lnTo>
                <a:lnTo>
                  <a:pt x="4884162" y="5786638"/>
                </a:lnTo>
                <a:lnTo>
                  <a:pt x="0" y="5786638"/>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8" name="Freeform 8"/>
          <p:cNvSpPr/>
          <p:nvPr/>
        </p:nvSpPr>
        <p:spPr>
          <a:xfrm>
            <a:off x="0" y="4000691"/>
            <a:ext cx="3967163" cy="2000060"/>
          </a:xfrm>
          <a:custGeom>
            <a:avLst/>
            <a:gdLst/>
            <a:ahLst/>
            <a:cxnLst/>
            <a:rect l="l" t="t" r="r" b="b"/>
            <a:pathLst>
              <a:path w="7934325" h="4000119">
                <a:moveTo>
                  <a:pt x="0" y="0"/>
                </a:moveTo>
                <a:lnTo>
                  <a:pt x="7934325" y="0"/>
                </a:lnTo>
                <a:lnTo>
                  <a:pt x="7934325" y="4000119"/>
                </a:lnTo>
                <a:lnTo>
                  <a:pt x="0" y="4000119"/>
                </a:lnTo>
                <a:lnTo>
                  <a:pt x="0" y="0"/>
                </a:lnTo>
                <a:close/>
              </a:path>
            </a:pathLst>
          </a:custGeom>
          <a:blipFill>
            <a:blip r:embed="rId14"/>
            <a:stretch>
              <a:fillRect b="-6914"/>
            </a:stretch>
          </a:blipFill>
        </p:spPr>
      </p:sp>
      <p:grpSp>
        <p:nvGrpSpPr>
          <p:cNvPr id="9" name="Group 9"/>
          <p:cNvGrpSpPr>
            <a:grpSpLocks noChangeAspect="1"/>
          </p:cNvGrpSpPr>
          <p:nvPr/>
        </p:nvGrpSpPr>
        <p:grpSpPr>
          <a:xfrm>
            <a:off x="482313" y="1981824"/>
            <a:ext cx="1175890" cy="33338"/>
            <a:chOff x="0" y="0"/>
            <a:chExt cx="2351786" cy="66675"/>
          </a:xfrm>
        </p:grpSpPr>
        <p:sp>
          <p:nvSpPr>
            <p:cNvPr id="10" name="Freeform 10"/>
            <p:cNvSpPr/>
            <p:nvPr/>
          </p:nvSpPr>
          <p:spPr>
            <a:xfrm>
              <a:off x="0" y="0"/>
              <a:ext cx="2351786" cy="66675"/>
            </a:xfrm>
            <a:custGeom>
              <a:avLst/>
              <a:gdLst/>
              <a:ahLst/>
              <a:cxnLst/>
              <a:rect l="l" t="t" r="r" b="b"/>
              <a:pathLst>
                <a:path w="2351786" h="66675">
                  <a:moveTo>
                    <a:pt x="0" y="66675"/>
                  </a:moveTo>
                  <a:lnTo>
                    <a:pt x="2351786" y="66675"/>
                  </a:lnTo>
                  <a:lnTo>
                    <a:pt x="2351786" y="0"/>
                  </a:lnTo>
                  <a:lnTo>
                    <a:pt x="0" y="0"/>
                  </a:lnTo>
                  <a:close/>
                </a:path>
              </a:pathLst>
            </a:custGeom>
            <a:solidFill>
              <a:srgbClr val="000000">
                <a:alpha val="0"/>
              </a:srgbClr>
            </a:solidFill>
          </p:spPr>
        </p:sp>
      </p:grpSp>
      <p:grpSp>
        <p:nvGrpSpPr>
          <p:cNvPr id="11" name="Group 11"/>
          <p:cNvGrpSpPr>
            <a:grpSpLocks noChangeAspect="1"/>
          </p:cNvGrpSpPr>
          <p:nvPr/>
        </p:nvGrpSpPr>
        <p:grpSpPr>
          <a:xfrm>
            <a:off x="514350" y="1267106"/>
            <a:ext cx="280050" cy="208988"/>
            <a:chOff x="0" y="0"/>
            <a:chExt cx="560095" cy="417970"/>
          </a:xfrm>
        </p:grpSpPr>
        <p:sp>
          <p:nvSpPr>
            <p:cNvPr id="12" name="Freeform 12"/>
            <p:cNvSpPr/>
            <p:nvPr/>
          </p:nvSpPr>
          <p:spPr>
            <a:xfrm>
              <a:off x="0" y="0"/>
              <a:ext cx="560070" cy="417957"/>
            </a:xfrm>
            <a:custGeom>
              <a:avLst/>
              <a:gdLst/>
              <a:ahLst/>
              <a:cxnLst/>
              <a:rect l="l" t="t" r="r" b="b"/>
              <a:pathLst>
                <a:path w="560070" h="417957">
                  <a:moveTo>
                    <a:pt x="0" y="417957"/>
                  </a:moveTo>
                  <a:lnTo>
                    <a:pt x="560070" y="417957"/>
                  </a:lnTo>
                  <a:lnTo>
                    <a:pt x="560070" y="0"/>
                  </a:lnTo>
                  <a:lnTo>
                    <a:pt x="0" y="0"/>
                  </a:lnTo>
                  <a:close/>
                </a:path>
              </a:pathLst>
            </a:custGeom>
            <a:solidFill>
              <a:srgbClr val="000000">
                <a:alpha val="0"/>
              </a:srgbClr>
            </a:solidFill>
          </p:spPr>
        </p:sp>
      </p:grpSp>
      <p:grpSp>
        <p:nvGrpSpPr>
          <p:cNvPr id="13" name="Group 13"/>
          <p:cNvGrpSpPr>
            <a:grpSpLocks noChangeAspect="1"/>
          </p:cNvGrpSpPr>
          <p:nvPr/>
        </p:nvGrpSpPr>
        <p:grpSpPr>
          <a:xfrm>
            <a:off x="7884890" y="5538988"/>
            <a:ext cx="543016" cy="133717"/>
            <a:chOff x="0" y="0"/>
            <a:chExt cx="1086028" cy="267437"/>
          </a:xfrm>
        </p:grpSpPr>
        <p:sp>
          <p:nvSpPr>
            <p:cNvPr id="14" name="Freeform 14"/>
            <p:cNvSpPr/>
            <p:nvPr/>
          </p:nvSpPr>
          <p:spPr>
            <a:xfrm>
              <a:off x="0" y="0"/>
              <a:ext cx="1085977" cy="267462"/>
            </a:xfrm>
            <a:custGeom>
              <a:avLst/>
              <a:gdLst/>
              <a:ahLst/>
              <a:cxnLst/>
              <a:rect l="l" t="t" r="r" b="b"/>
              <a:pathLst>
                <a:path w="1085977" h="267462">
                  <a:moveTo>
                    <a:pt x="0" y="267462"/>
                  </a:moveTo>
                  <a:lnTo>
                    <a:pt x="1085977" y="267462"/>
                  </a:lnTo>
                  <a:lnTo>
                    <a:pt x="1085977" y="0"/>
                  </a:lnTo>
                  <a:lnTo>
                    <a:pt x="0" y="0"/>
                  </a:lnTo>
                  <a:close/>
                </a:path>
              </a:pathLst>
            </a:custGeom>
            <a:solidFill>
              <a:srgbClr val="000000">
                <a:alpha val="0"/>
              </a:srgbClr>
            </a:solidFill>
          </p:spPr>
        </p:sp>
      </p:grpSp>
      <p:sp>
        <p:nvSpPr>
          <p:cNvPr id="15" name="TextBox 15"/>
          <p:cNvSpPr txBox="1"/>
          <p:nvPr/>
        </p:nvSpPr>
        <p:spPr>
          <a:xfrm>
            <a:off x="848154" y="1277660"/>
            <a:ext cx="1311207" cy="176459"/>
          </a:xfrm>
          <a:prstGeom prst="rect">
            <a:avLst/>
          </a:prstGeom>
        </p:spPr>
        <p:txBody>
          <a:bodyPr wrap="square" lIns="0" tIns="0" rIns="0" bIns="0" rtlCol="0" anchor="t">
            <a:spAutoFit/>
          </a:bodyPr>
          <a:lstStyle>
            <a:defPPr>
              <a:defRPr lang="en-US"/>
            </a:defPPr>
            <a:lvl1pPr marL="0" algn="l" defTabSz="512064" rtl="0" eaLnBrk="1" latinLnBrk="0" hangingPunct="1">
              <a:defRPr sz="1008" kern="1200">
                <a:solidFill>
                  <a:schemeClr val="tx1"/>
                </a:solidFill>
                <a:latin typeface="+mn-lt"/>
                <a:ea typeface="+mn-ea"/>
                <a:cs typeface="+mn-cs"/>
              </a:defRPr>
            </a:lvl1pPr>
            <a:lvl2pPr marL="256032" algn="l" defTabSz="512064" rtl="0" eaLnBrk="1" latinLnBrk="0" hangingPunct="1">
              <a:defRPr sz="1008" kern="1200">
                <a:solidFill>
                  <a:schemeClr val="tx1"/>
                </a:solidFill>
                <a:latin typeface="+mn-lt"/>
                <a:ea typeface="+mn-ea"/>
                <a:cs typeface="+mn-cs"/>
              </a:defRPr>
            </a:lvl2pPr>
            <a:lvl3pPr marL="512064" algn="l" defTabSz="512064" rtl="0" eaLnBrk="1" latinLnBrk="0" hangingPunct="1">
              <a:defRPr sz="1008" kern="1200">
                <a:solidFill>
                  <a:schemeClr val="tx1"/>
                </a:solidFill>
                <a:latin typeface="+mn-lt"/>
                <a:ea typeface="+mn-ea"/>
                <a:cs typeface="+mn-cs"/>
              </a:defRPr>
            </a:lvl3pPr>
            <a:lvl4pPr marL="768096" algn="l" defTabSz="512064" rtl="0" eaLnBrk="1" latinLnBrk="0" hangingPunct="1">
              <a:defRPr sz="1008" kern="1200">
                <a:solidFill>
                  <a:schemeClr val="tx1"/>
                </a:solidFill>
                <a:latin typeface="+mn-lt"/>
                <a:ea typeface="+mn-ea"/>
                <a:cs typeface="+mn-cs"/>
              </a:defRPr>
            </a:lvl4pPr>
            <a:lvl5pPr marL="1024128" algn="l" defTabSz="512064" rtl="0" eaLnBrk="1" latinLnBrk="0" hangingPunct="1">
              <a:defRPr sz="1008" kern="1200">
                <a:solidFill>
                  <a:schemeClr val="tx1"/>
                </a:solidFill>
                <a:latin typeface="+mn-lt"/>
                <a:ea typeface="+mn-ea"/>
                <a:cs typeface="+mn-cs"/>
              </a:defRPr>
            </a:lvl5pPr>
            <a:lvl6pPr marL="1280160" algn="l" defTabSz="512064" rtl="0" eaLnBrk="1" latinLnBrk="0" hangingPunct="1">
              <a:defRPr sz="1008" kern="1200">
                <a:solidFill>
                  <a:schemeClr val="tx1"/>
                </a:solidFill>
                <a:latin typeface="+mn-lt"/>
                <a:ea typeface="+mn-ea"/>
                <a:cs typeface="+mn-cs"/>
              </a:defRPr>
            </a:lvl6pPr>
            <a:lvl7pPr marL="1536192" algn="l" defTabSz="512064" rtl="0" eaLnBrk="1" latinLnBrk="0" hangingPunct="1">
              <a:defRPr sz="1008" kern="1200">
                <a:solidFill>
                  <a:schemeClr val="tx1"/>
                </a:solidFill>
                <a:latin typeface="+mn-lt"/>
                <a:ea typeface="+mn-ea"/>
                <a:cs typeface="+mn-cs"/>
              </a:defRPr>
            </a:lvl7pPr>
            <a:lvl8pPr marL="1792224" algn="l" defTabSz="512064" rtl="0" eaLnBrk="1" latinLnBrk="0" hangingPunct="1">
              <a:defRPr sz="1008" kern="1200">
                <a:solidFill>
                  <a:schemeClr val="tx1"/>
                </a:solidFill>
                <a:latin typeface="+mn-lt"/>
                <a:ea typeface="+mn-ea"/>
                <a:cs typeface="+mn-cs"/>
              </a:defRPr>
            </a:lvl8pPr>
            <a:lvl9pPr marL="2048256" algn="l" defTabSz="512064" rtl="0" eaLnBrk="1" latinLnBrk="0" hangingPunct="1">
              <a:defRPr sz="1008" kern="1200">
                <a:solidFill>
                  <a:schemeClr val="tx1"/>
                </a:solidFill>
                <a:latin typeface="+mn-lt"/>
                <a:ea typeface="+mn-ea"/>
                <a:cs typeface="+mn-cs"/>
              </a:defRPr>
            </a:lvl9pPr>
          </a:lstStyle>
          <a:p>
            <a:pPr algn="l">
              <a:lnSpc>
                <a:spcPts val="1469"/>
              </a:lnSpc>
            </a:pPr>
            <a:r>
              <a:rPr lang="en-US" sz="1050" b="1">
                <a:solidFill>
                  <a:srgbClr val="FFFFFF"/>
                </a:solidFill>
                <a:latin typeface="Raleway Bold"/>
                <a:ea typeface="Raleway Bold"/>
                <a:cs typeface="Raleway Bold"/>
                <a:sym typeface="Raleway Bold"/>
              </a:rPr>
              <a:t>Gear Shift Analytics </a:t>
            </a:r>
          </a:p>
        </p:txBody>
      </p:sp>
      <p:sp>
        <p:nvSpPr>
          <p:cNvPr id="16" name="TextBox 16"/>
          <p:cNvSpPr txBox="1"/>
          <p:nvPr/>
        </p:nvSpPr>
        <p:spPr>
          <a:xfrm>
            <a:off x="435359" y="2324362"/>
            <a:ext cx="3077294" cy="769441"/>
          </a:xfrm>
          <a:prstGeom prst="rect">
            <a:avLst/>
          </a:prstGeom>
        </p:spPr>
        <p:txBody>
          <a:bodyPr wrap="square" lIns="0" tIns="0" rIns="0" bIns="0" rtlCol="0" anchor="t">
            <a:spAutoFit/>
          </a:bodyPr>
          <a:lstStyle>
            <a:defPPr>
              <a:defRPr lang="en-US"/>
            </a:defPPr>
            <a:lvl1pPr marL="0" algn="l" defTabSz="512064" rtl="0" eaLnBrk="1" latinLnBrk="0" hangingPunct="1">
              <a:defRPr sz="1008" kern="1200">
                <a:solidFill>
                  <a:schemeClr val="tx1"/>
                </a:solidFill>
                <a:latin typeface="+mn-lt"/>
                <a:ea typeface="+mn-ea"/>
                <a:cs typeface="+mn-cs"/>
              </a:defRPr>
            </a:lvl1pPr>
            <a:lvl2pPr marL="256032" algn="l" defTabSz="512064" rtl="0" eaLnBrk="1" latinLnBrk="0" hangingPunct="1">
              <a:defRPr sz="1008" kern="1200">
                <a:solidFill>
                  <a:schemeClr val="tx1"/>
                </a:solidFill>
                <a:latin typeface="+mn-lt"/>
                <a:ea typeface="+mn-ea"/>
                <a:cs typeface="+mn-cs"/>
              </a:defRPr>
            </a:lvl2pPr>
            <a:lvl3pPr marL="512064" algn="l" defTabSz="512064" rtl="0" eaLnBrk="1" latinLnBrk="0" hangingPunct="1">
              <a:defRPr sz="1008" kern="1200">
                <a:solidFill>
                  <a:schemeClr val="tx1"/>
                </a:solidFill>
                <a:latin typeface="+mn-lt"/>
                <a:ea typeface="+mn-ea"/>
                <a:cs typeface="+mn-cs"/>
              </a:defRPr>
            </a:lvl3pPr>
            <a:lvl4pPr marL="768096" algn="l" defTabSz="512064" rtl="0" eaLnBrk="1" latinLnBrk="0" hangingPunct="1">
              <a:defRPr sz="1008" kern="1200">
                <a:solidFill>
                  <a:schemeClr val="tx1"/>
                </a:solidFill>
                <a:latin typeface="+mn-lt"/>
                <a:ea typeface="+mn-ea"/>
                <a:cs typeface="+mn-cs"/>
              </a:defRPr>
            </a:lvl4pPr>
            <a:lvl5pPr marL="1024128" algn="l" defTabSz="512064" rtl="0" eaLnBrk="1" latinLnBrk="0" hangingPunct="1">
              <a:defRPr sz="1008" kern="1200">
                <a:solidFill>
                  <a:schemeClr val="tx1"/>
                </a:solidFill>
                <a:latin typeface="+mn-lt"/>
                <a:ea typeface="+mn-ea"/>
                <a:cs typeface="+mn-cs"/>
              </a:defRPr>
            </a:lvl5pPr>
            <a:lvl6pPr marL="1280160" algn="l" defTabSz="512064" rtl="0" eaLnBrk="1" latinLnBrk="0" hangingPunct="1">
              <a:defRPr sz="1008" kern="1200">
                <a:solidFill>
                  <a:schemeClr val="tx1"/>
                </a:solidFill>
                <a:latin typeface="+mn-lt"/>
                <a:ea typeface="+mn-ea"/>
                <a:cs typeface="+mn-cs"/>
              </a:defRPr>
            </a:lvl6pPr>
            <a:lvl7pPr marL="1536192" algn="l" defTabSz="512064" rtl="0" eaLnBrk="1" latinLnBrk="0" hangingPunct="1">
              <a:defRPr sz="1008" kern="1200">
                <a:solidFill>
                  <a:schemeClr val="tx1"/>
                </a:solidFill>
                <a:latin typeface="+mn-lt"/>
                <a:ea typeface="+mn-ea"/>
                <a:cs typeface="+mn-cs"/>
              </a:defRPr>
            </a:lvl7pPr>
            <a:lvl8pPr marL="1792224" algn="l" defTabSz="512064" rtl="0" eaLnBrk="1" latinLnBrk="0" hangingPunct="1">
              <a:defRPr sz="1008" kern="1200">
                <a:solidFill>
                  <a:schemeClr val="tx1"/>
                </a:solidFill>
                <a:latin typeface="+mn-lt"/>
                <a:ea typeface="+mn-ea"/>
                <a:cs typeface="+mn-cs"/>
              </a:defRPr>
            </a:lvl8pPr>
            <a:lvl9pPr marL="2048256" algn="l" defTabSz="512064" rtl="0" eaLnBrk="1" latinLnBrk="0" hangingPunct="1">
              <a:defRPr sz="1008" kern="1200">
                <a:solidFill>
                  <a:schemeClr val="tx1"/>
                </a:solidFill>
                <a:latin typeface="+mn-lt"/>
                <a:ea typeface="+mn-ea"/>
                <a:cs typeface="+mn-cs"/>
              </a:defRPr>
            </a:lvl9pPr>
          </a:lstStyle>
          <a:p>
            <a:pPr algn="l">
              <a:lnSpc>
                <a:spcPts val="2964"/>
              </a:lnSpc>
            </a:pPr>
            <a:r>
              <a:rPr lang="en-US" sz="3000" b="1">
                <a:solidFill>
                  <a:srgbClr val="FFFFFF"/>
                </a:solidFill>
                <a:latin typeface="HK Modular"/>
                <a:ea typeface="HK Modular"/>
                <a:cs typeface="HK Modular"/>
                <a:sym typeface="HK Modular"/>
              </a:rPr>
              <a:t>table  of variables</a:t>
            </a:r>
          </a:p>
        </p:txBody>
      </p:sp>
      <p:sp>
        <p:nvSpPr>
          <p:cNvPr id="17" name="TextBox 17"/>
          <p:cNvSpPr txBox="1"/>
          <p:nvPr/>
        </p:nvSpPr>
        <p:spPr>
          <a:xfrm>
            <a:off x="4723237" y="3050254"/>
            <a:ext cx="1250695" cy="1355820"/>
          </a:xfrm>
          <a:prstGeom prst="rect">
            <a:avLst/>
          </a:prstGeom>
        </p:spPr>
        <p:txBody>
          <a:bodyPr wrap="square" lIns="0" tIns="0" rIns="0" bIns="0" rtlCol="0" anchor="t">
            <a:spAutoFit/>
          </a:bodyPr>
          <a:lstStyle>
            <a:defPPr>
              <a:defRPr lang="en-US"/>
            </a:defPPr>
            <a:lvl1pPr marL="0" algn="l" defTabSz="512064" rtl="0" eaLnBrk="1" latinLnBrk="0" hangingPunct="1">
              <a:defRPr sz="1008" kern="1200">
                <a:solidFill>
                  <a:schemeClr val="tx1"/>
                </a:solidFill>
                <a:latin typeface="+mn-lt"/>
                <a:ea typeface="+mn-ea"/>
                <a:cs typeface="+mn-cs"/>
              </a:defRPr>
            </a:lvl1pPr>
            <a:lvl2pPr marL="256032" algn="l" defTabSz="512064" rtl="0" eaLnBrk="1" latinLnBrk="0" hangingPunct="1">
              <a:defRPr sz="1008" kern="1200">
                <a:solidFill>
                  <a:schemeClr val="tx1"/>
                </a:solidFill>
                <a:latin typeface="+mn-lt"/>
                <a:ea typeface="+mn-ea"/>
                <a:cs typeface="+mn-cs"/>
              </a:defRPr>
            </a:lvl2pPr>
            <a:lvl3pPr marL="512064" algn="l" defTabSz="512064" rtl="0" eaLnBrk="1" latinLnBrk="0" hangingPunct="1">
              <a:defRPr sz="1008" kern="1200">
                <a:solidFill>
                  <a:schemeClr val="tx1"/>
                </a:solidFill>
                <a:latin typeface="+mn-lt"/>
                <a:ea typeface="+mn-ea"/>
                <a:cs typeface="+mn-cs"/>
              </a:defRPr>
            </a:lvl3pPr>
            <a:lvl4pPr marL="768096" algn="l" defTabSz="512064" rtl="0" eaLnBrk="1" latinLnBrk="0" hangingPunct="1">
              <a:defRPr sz="1008" kern="1200">
                <a:solidFill>
                  <a:schemeClr val="tx1"/>
                </a:solidFill>
                <a:latin typeface="+mn-lt"/>
                <a:ea typeface="+mn-ea"/>
                <a:cs typeface="+mn-cs"/>
              </a:defRPr>
            </a:lvl4pPr>
            <a:lvl5pPr marL="1024128" algn="l" defTabSz="512064" rtl="0" eaLnBrk="1" latinLnBrk="0" hangingPunct="1">
              <a:defRPr sz="1008" kern="1200">
                <a:solidFill>
                  <a:schemeClr val="tx1"/>
                </a:solidFill>
                <a:latin typeface="+mn-lt"/>
                <a:ea typeface="+mn-ea"/>
                <a:cs typeface="+mn-cs"/>
              </a:defRPr>
            </a:lvl5pPr>
            <a:lvl6pPr marL="1280160" algn="l" defTabSz="512064" rtl="0" eaLnBrk="1" latinLnBrk="0" hangingPunct="1">
              <a:defRPr sz="1008" kern="1200">
                <a:solidFill>
                  <a:schemeClr val="tx1"/>
                </a:solidFill>
                <a:latin typeface="+mn-lt"/>
                <a:ea typeface="+mn-ea"/>
                <a:cs typeface="+mn-cs"/>
              </a:defRPr>
            </a:lvl6pPr>
            <a:lvl7pPr marL="1536192" algn="l" defTabSz="512064" rtl="0" eaLnBrk="1" latinLnBrk="0" hangingPunct="1">
              <a:defRPr sz="1008" kern="1200">
                <a:solidFill>
                  <a:schemeClr val="tx1"/>
                </a:solidFill>
                <a:latin typeface="+mn-lt"/>
                <a:ea typeface="+mn-ea"/>
                <a:cs typeface="+mn-cs"/>
              </a:defRPr>
            </a:lvl7pPr>
            <a:lvl8pPr marL="1792224" algn="l" defTabSz="512064" rtl="0" eaLnBrk="1" latinLnBrk="0" hangingPunct="1">
              <a:defRPr sz="1008" kern="1200">
                <a:solidFill>
                  <a:schemeClr val="tx1"/>
                </a:solidFill>
                <a:latin typeface="+mn-lt"/>
                <a:ea typeface="+mn-ea"/>
                <a:cs typeface="+mn-cs"/>
              </a:defRPr>
            </a:lvl8pPr>
            <a:lvl9pPr marL="2048256" algn="l" defTabSz="512064" rtl="0" eaLnBrk="1" latinLnBrk="0" hangingPunct="1">
              <a:defRPr sz="1008" kern="1200">
                <a:solidFill>
                  <a:schemeClr val="tx1"/>
                </a:solidFill>
                <a:latin typeface="+mn-lt"/>
                <a:ea typeface="+mn-ea"/>
                <a:cs typeface="+mn-cs"/>
              </a:defRPr>
            </a:lvl9pPr>
          </a:lstStyle>
          <a:p>
            <a:pPr algn="ctr">
              <a:lnSpc>
                <a:spcPts val="2600"/>
              </a:lnSpc>
            </a:pPr>
            <a:r>
              <a:rPr lang="en-US" sz="1250" dirty="0">
                <a:solidFill>
                  <a:srgbClr val="FFFFFF"/>
                </a:solidFill>
                <a:latin typeface="Open Sans"/>
                <a:ea typeface="Open Sans"/>
                <a:cs typeface="Open Sans"/>
                <a:sym typeface="Open Sans"/>
              </a:rPr>
              <a:t>MSRP </a:t>
            </a:r>
            <a:endParaRPr lang="en-US" dirty="0">
              <a:sym typeface="Open Sans"/>
            </a:endParaRPr>
          </a:p>
          <a:p>
            <a:pPr algn="ctr">
              <a:lnSpc>
                <a:spcPts val="2600"/>
              </a:lnSpc>
            </a:pPr>
            <a:r>
              <a:rPr lang="en-US" sz="1250" dirty="0">
                <a:solidFill>
                  <a:srgbClr val="FFFFFF"/>
                </a:solidFill>
                <a:latin typeface="Open Sans"/>
                <a:ea typeface="Open Sans"/>
                <a:cs typeface="Open Sans"/>
                <a:sym typeface="Open Sans"/>
              </a:rPr>
              <a:t>Year</a:t>
            </a:r>
            <a:endParaRPr lang="en-US" dirty="0"/>
          </a:p>
          <a:p>
            <a:pPr algn="ctr">
              <a:lnSpc>
                <a:spcPts val="3050"/>
              </a:lnSpc>
            </a:pPr>
            <a:r>
              <a:rPr lang="en-US" sz="1250" dirty="0">
                <a:solidFill>
                  <a:srgbClr val="FFFFFF"/>
                </a:solidFill>
                <a:latin typeface="Open Sans"/>
                <a:ea typeface="Open Sans"/>
                <a:cs typeface="Open Sans"/>
                <a:sym typeface="Open Sans"/>
              </a:rPr>
              <a:t> </a:t>
            </a:r>
            <a:r>
              <a:rPr lang="en-US" sz="1250" err="1">
                <a:solidFill>
                  <a:srgbClr val="FFFFFF"/>
                </a:solidFill>
                <a:latin typeface="Open Sans"/>
                <a:ea typeface="Open Sans"/>
                <a:cs typeface="Open Sans"/>
                <a:sym typeface="Open Sans"/>
              </a:rPr>
              <a:t>HorsePower</a:t>
            </a:r>
            <a:endParaRPr lang="en-US" sz="1250" err="1">
              <a:solidFill>
                <a:srgbClr val="FFFFFF"/>
              </a:solidFill>
              <a:latin typeface="Open Sans"/>
              <a:ea typeface="Open Sans"/>
              <a:cs typeface="Open Sans"/>
            </a:endParaRPr>
          </a:p>
          <a:p>
            <a:pPr algn="ctr">
              <a:lnSpc>
                <a:spcPts val="2600"/>
              </a:lnSpc>
            </a:pPr>
            <a:endParaRPr lang="en-US" sz="1250" dirty="0">
              <a:solidFill>
                <a:srgbClr val="FFFFFF"/>
              </a:solidFill>
              <a:latin typeface="Open Sans"/>
              <a:ea typeface="Open Sans"/>
              <a:cs typeface="Open Sans"/>
            </a:endParaRPr>
          </a:p>
        </p:txBody>
      </p:sp>
      <p:sp>
        <p:nvSpPr>
          <p:cNvPr id="20" name="TextBox 20"/>
          <p:cNvSpPr txBox="1"/>
          <p:nvPr/>
        </p:nvSpPr>
        <p:spPr>
          <a:xfrm>
            <a:off x="6620472" y="3121854"/>
            <a:ext cx="1452753" cy="612027"/>
          </a:xfrm>
          <a:prstGeom prst="rect">
            <a:avLst/>
          </a:prstGeom>
        </p:spPr>
        <p:txBody>
          <a:bodyPr wrap="square" lIns="0" tIns="0" rIns="0" bIns="0" rtlCol="0" anchor="t">
            <a:spAutoFit/>
          </a:bodyPr>
          <a:lstStyle>
            <a:defPPr>
              <a:defRPr lang="en-US"/>
            </a:defPPr>
            <a:lvl1pPr marL="0" algn="l" defTabSz="512064" rtl="0" eaLnBrk="1" latinLnBrk="0" hangingPunct="1">
              <a:defRPr sz="1008" kern="1200">
                <a:solidFill>
                  <a:schemeClr val="tx1"/>
                </a:solidFill>
                <a:latin typeface="+mn-lt"/>
                <a:ea typeface="+mn-ea"/>
                <a:cs typeface="+mn-cs"/>
              </a:defRPr>
            </a:lvl1pPr>
            <a:lvl2pPr marL="256032" algn="l" defTabSz="512064" rtl="0" eaLnBrk="1" latinLnBrk="0" hangingPunct="1">
              <a:defRPr sz="1008" kern="1200">
                <a:solidFill>
                  <a:schemeClr val="tx1"/>
                </a:solidFill>
                <a:latin typeface="+mn-lt"/>
                <a:ea typeface="+mn-ea"/>
                <a:cs typeface="+mn-cs"/>
              </a:defRPr>
            </a:lvl2pPr>
            <a:lvl3pPr marL="512064" algn="l" defTabSz="512064" rtl="0" eaLnBrk="1" latinLnBrk="0" hangingPunct="1">
              <a:defRPr sz="1008" kern="1200">
                <a:solidFill>
                  <a:schemeClr val="tx1"/>
                </a:solidFill>
                <a:latin typeface="+mn-lt"/>
                <a:ea typeface="+mn-ea"/>
                <a:cs typeface="+mn-cs"/>
              </a:defRPr>
            </a:lvl3pPr>
            <a:lvl4pPr marL="768096" algn="l" defTabSz="512064" rtl="0" eaLnBrk="1" latinLnBrk="0" hangingPunct="1">
              <a:defRPr sz="1008" kern="1200">
                <a:solidFill>
                  <a:schemeClr val="tx1"/>
                </a:solidFill>
                <a:latin typeface="+mn-lt"/>
                <a:ea typeface="+mn-ea"/>
                <a:cs typeface="+mn-cs"/>
              </a:defRPr>
            </a:lvl4pPr>
            <a:lvl5pPr marL="1024128" algn="l" defTabSz="512064" rtl="0" eaLnBrk="1" latinLnBrk="0" hangingPunct="1">
              <a:defRPr sz="1008" kern="1200">
                <a:solidFill>
                  <a:schemeClr val="tx1"/>
                </a:solidFill>
                <a:latin typeface="+mn-lt"/>
                <a:ea typeface="+mn-ea"/>
                <a:cs typeface="+mn-cs"/>
              </a:defRPr>
            </a:lvl5pPr>
            <a:lvl6pPr marL="1280160" algn="l" defTabSz="512064" rtl="0" eaLnBrk="1" latinLnBrk="0" hangingPunct="1">
              <a:defRPr sz="1008" kern="1200">
                <a:solidFill>
                  <a:schemeClr val="tx1"/>
                </a:solidFill>
                <a:latin typeface="+mn-lt"/>
                <a:ea typeface="+mn-ea"/>
                <a:cs typeface="+mn-cs"/>
              </a:defRPr>
            </a:lvl6pPr>
            <a:lvl7pPr marL="1536192" algn="l" defTabSz="512064" rtl="0" eaLnBrk="1" latinLnBrk="0" hangingPunct="1">
              <a:defRPr sz="1008" kern="1200">
                <a:solidFill>
                  <a:schemeClr val="tx1"/>
                </a:solidFill>
                <a:latin typeface="+mn-lt"/>
                <a:ea typeface="+mn-ea"/>
                <a:cs typeface="+mn-cs"/>
              </a:defRPr>
            </a:lvl7pPr>
            <a:lvl8pPr marL="1792224" algn="l" defTabSz="512064" rtl="0" eaLnBrk="1" latinLnBrk="0" hangingPunct="1">
              <a:defRPr sz="1008" kern="1200">
                <a:solidFill>
                  <a:schemeClr val="tx1"/>
                </a:solidFill>
                <a:latin typeface="+mn-lt"/>
                <a:ea typeface="+mn-ea"/>
                <a:cs typeface="+mn-cs"/>
              </a:defRPr>
            </a:lvl8pPr>
            <a:lvl9pPr marL="2048256" algn="l" defTabSz="512064" rtl="0" eaLnBrk="1" latinLnBrk="0" hangingPunct="1">
              <a:defRPr sz="1008" kern="1200">
                <a:solidFill>
                  <a:schemeClr val="tx1"/>
                </a:solidFill>
                <a:latin typeface="+mn-lt"/>
                <a:ea typeface="+mn-ea"/>
                <a:cs typeface="+mn-cs"/>
              </a:defRPr>
            </a:lvl9pPr>
          </a:lstStyle>
          <a:p>
            <a:pPr algn="ctr">
              <a:lnSpc>
                <a:spcPts val="2162"/>
              </a:lnSpc>
            </a:pPr>
            <a:r>
              <a:rPr lang="en-US" sz="1250" dirty="0">
                <a:solidFill>
                  <a:srgbClr val="FFFFFF"/>
                </a:solidFill>
                <a:latin typeface="Open Sans"/>
                <a:ea typeface="Open Sans"/>
                <a:cs typeface="Open Sans"/>
                <a:sym typeface="Open Sans"/>
              </a:rPr>
              <a:t>Fuel Type</a:t>
            </a:r>
            <a:endParaRPr lang="en-US" sz="1250" dirty="0">
              <a:solidFill>
                <a:srgbClr val="FFFFFF"/>
              </a:solidFill>
              <a:latin typeface="Open Sans"/>
              <a:ea typeface="Open Sans"/>
              <a:cs typeface="Open Sans"/>
            </a:endParaRPr>
          </a:p>
          <a:p>
            <a:pPr algn="ctr">
              <a:lnSpc>
                <a:spcPts val="3037"/>
              </a:lnSpc>
            </a:pPr>
            <a:r>
              <a:rPr lang="en-US" sz="1250" dirty="0">
                <a:solidFill>
                  <a:srgbClr val="FFFFFF"/>
                </a:solidFill>
                <a:latin typeface="Open Sans"/>
                <a:ea typeface="Open Sans"/>
                <a:cs typeface="Open Sans"/>
                <a:sym typeface="Open Sans"/>
              </a:rPr>
              <a:t>Transmission</a:t>
            </a:r>
          </a:p>
        </p:txBody>
      </p:sp>
      <p:sp>
        <p:nvSpPr>
          <p:cNvPr id="21" name="TextBox 21"/>
          <p:cNvSpPr txBox="1"/>
          <p:nvPr/>
        </p:nvSpPr>
        <p:spPr>
          <a:xfrm>
            <a:off x="6722864" y="3811188"/>
            <a:ext cx="1252671" cy="1288494"/>
          </a:xfrm>
          <a:prstGeom prst="rect">
            <a:avLst/>
          </a:prstGeom>
        </p:spPr>
        <p:txBody>
          <a:bodyPr wrap="square" lIns="0" tIns="0" rIns="0" bIns="0" rtlCol="0" anchor="t">
            <a:spAutoFit/>
          </a:bodyPr>
          <a:lstStyle>
            <a:defPPr>
              <a:defRPr lang="en-US"/>
            </a:defPPr>
            <a:lvl1pPr marL="0" algn="l" defTabSz="512064" rtl="0" eaLnBrk="1" latinLnBrk="0" hangingPunct="1">
              <a:defRPr sz="1008" kern="1200">
                <a:solidFill>
                  <a:schemeClr val="tx1"/>
                </a:solidFill>
                <a:latin typeface="+mn-lt"/>
                <a:ea typeface="+mn-ea"/>
                <a:cs typeface="+mn-cs"/>
              </a:defRPr>
            </a:lvl1pPr>
            <a:lvl2pPr marL="256032" algn="l" defTabSz="512064" rtl="0" eaLnBrk="1" latinLnBrk="0" hangingPunct="1">
              <a:defRPr sz="1008" kern="1200">
                <a:solidFill>
                  <a:schemeClr val="tx1"/>
                </a:solidFill>
                <a:latin typeface="+mn-lt"/>
                <a:ea typeface="+mn-ea"/>
                <a:cs typeface="+mn-cs"/>
              </a:defRPr>
            </a:lvl2pPr>
            <a:lvl3pPr marL="512064" algn="l" defTabSz="512064" rtl="0" eaLnBrk="1" latinLnBrk="0" hangingPunct="1">
              <a:defRPr sz="1008" kern="1200">
                <a:solidFill>
                  <a:schemeClr val="tx1"/>
                </a:solidFill>
                <a:latin typeface="+mn-lt"/>
                <a:ea typeface="+mn-ea"/>
                <a:cs typeface="+mn-cs"/>
              </a:defRPr>
            </a:lvl3pPr>
            <a:lvl4pPr marL="768096" algn="l" defTabSz="512064" rtl="0" eaLnBrk="1" latinLnBrk="0" hangingPunct="1">
              <a:defRPr sz="1008" kern="1200">
                <a:solidFill>
                  <a:schemeClr val="tx1"/>
                </a:solidFill>
                <a:latin typeface="+mn-lt"/>
                <a:ea typeface="+mn-ea"/>
                <a:cs typeface="+mn-cs"/>
              </a:defRPr>
            </a:lvl4pPr>
            <a:lvl5pPr marL="1024128" algn="l" defTabSz="512064" rtl="0" eaLnBrk="1" latinLnBrk="0" hangingPunct="1">
              <a:defRPr sz="1008" kern="1200">
                <a:solidFill>
                  <a:schemeClr val="tx1"/>
                </a:solidFill>
                <a:latin typeface="+mn-lt"/>
                <a:ea typeface="+mn-ea"/>
                <a:cs typeface="+mn-cs"/>
              </a:defRPr>
            </a:lvl5pPr>
            <a:lvl6pPr marL="1280160" algn="l" defTabSz="512064" rtl="0" eaLnBrk="1" latinLnBrk="0" hangingPunct="1">
              <a:defRPr sz="1008" kern="1200">
                <a:solidFill>
                  <a:schemeClr val="tx1"/>
                </a:solidFill>
                <a:latin typeface="+mn-lt"/>
                <a:ea typeface="+mn-ea"/>
                <a:cs typeface="+mn-cs"/>
              </a:defRPr>
            </a:lvl6pPr>
            <a:lvl7pPr marL="1536192" algn="l" defTabSz="512064" rtl="0" eaLnBrk="1" latinLnBrk="0" hangingPunct="1">
              <a:defRPr sz="1008" kern="1200">
                <a:solidFill>
                  <a:schemeClr val="tx1"/>
                </a:solidFill>
                <a:latin typeface="+mn-lt"/>
                <a:ea typeface="+mn-ea"/>
                <a:cs typeface="+mn-cs"/>
              </a:defRPr>
            </a:lvl7pPr>
            <a:lvl8pPr marL="1792224" algn="l" defTabSz="512064" rtl="0" eaLnBrk="1" latinLnBrk="0" hangingPunct="1">
              <a:defRPr sz="1008" kern="1200">
                <a:solidFill>
                  <a:schemeClr val="tx1"/>
                </a:solidFill>
                <a:latin typeface="+mn-lt"/>
                <a:ea typeface="+mn-ea"/>
                <a:cs typeface="+mn-cs"/>
              </a:defRPr>
            </a:lvl8pPr>
            <a:lvl9pPr marL="2048256" algn="l" defTabSz="512064" rtl="0" eaLnBrk="1" latinLnBrk="0" hangingPunct="1">
              <a:defRPr sz="1008" kern="1200">
                <a:solidFill>
                  <a:schemeClr val="tx1"/>
                </a:solidFill>
                <a:latin typeface="+mn-lt"/>
                <a:ea typeface="+mn-ea"/>
                <a:cs typeface="+mn-cs"/>
              </a:defRPr>
            </a:lvl9pPr>
          </a:lstStyle>
          <a:p>
            <a:pPr algn="ctr">
              <a:lnSpc>
                <a:spcPts val="2162"/>
              </a:lnSpc>
            </a:pPr>
            <a:r>
              <a:rPr lang="en-US" sz="1250" dirty="0">
                <a:solidFill>
                  <a:srgbClr val="FFFFFF"/>
                </a:solidFill>
                <a:latin typeface="Open Sans"/>
                <a:ea typeface="Open Sans"/>
                <a:cs typeface="Open Sans"/>
                <a:sym typeface="Open Sans"/>
              </a:rPr>
              <a:t>Driven Wheels</a:t>
            </a:r>
          </a:p>
          <a:p>
            <a:pPr algn="ctr">
              <a:lnSpc>
                <a:spcPts val="3037"/>
              </a:lnSpc>
            </a:pPr>
            <a:r>
              <a:rPr lang="en-US" sz="1250" dirty="0">
                <a:solidFill>
                  <a:srgbClr val="FFFFFF"/>
                </a:solidFill>
                <a:latin typeface="Open Sans"/>
                <a:ea typeface="Open Sans"/>
                <a:cs typeface="Open Sans"/>
                <a:sym typeface="Open Sans"/>
              </a:rPr>
              <a:t>Market Category</a:t>
            </a:r>
          </a:p>
          <a:p>
            <a:pPr algn="ctr">
              <a:lnSpc>
                <a:spcPts val="2162"/>
              </a:lnSpc>
            </a:pPr>
            <a:r>
              <a:rPr lang="en-US" sz="1250" dirty="0">
                <a:solidFill>
                  <a:srgbClr val="FFFFFF"/>
                </a:solidFill>
                <a:latin typeface="Open Sans"/>
                <a:ea typeface="Open Sans"/>
                <a:cs typeface="Open Sans"/>
                <a:sym typeface="Open Sans"/>
              </a:rPr>
              <a:t>Vehicle Size</a:t>
            </a:r>
            <a:endParaRPr lang="en-US" sz="1250" dirty="0">
              <a:solidFill>
                <a:srgbClr val="FFFFFF"/>
              </a:solidFill>
              <a:latin typeface="Open Sans"/>
              <a:ea typeface="Open Sans"/>
              <a:cs typeface="Open Sans"/>
            </a:endParaRPr>
          </a:p>
          <a:p>
            <a:pPr algn="ctr">
              <a:lnSpc>
                <a:spcPts val="3052"/>
              </a:lnSpc>
            </a:pPr>
            <a:r>
              <a:rPr lang="en-US" sz="1250" dirty="0">
                <a:solidFill>
                  <a:srgbClr val="FFFFFF"/>
                </a:solidFill>
                <a:latin typeface="Open Sans"/>
                <a:ea typeface="Open Sans"/>
                <a:cs typeface="Open Sans"/>
                <a:sym typeface="Open Sans"/>
              </a:rPr>
              <a:t>Vehicle Style</a:t>
            </a:r>
            <a:endParaRPr lang="en-US" sz="1250" dirty="0">
              <a:solidFill>
                <a:srgbClr val="FFFFFF"/>
              </a:solidFill>
              <a:latin typeface="Open Sans"/>
              <a:ea typeface="Open Sans"/>
              <a:cs typeface="Open Sans"/>
            </a:endParaRPr>
          </a:p>
        </p:txBody>
      </p:sp>
      <p:sp>
        <p:nvSpPr>
          <p:cNvPr id="22" name="TextBox 22"/>
          <p:cNvSpPr txBox="1"/>
          <p:nvPr/>
        </p:nvSpPr>
        <p:spPr>
          <a:xfrm>
            <a:off x="4747951" y="2612446"/>
            <a:ext cx="1196950" cy="240450"/>
          </a:xfrm>
          <a:prstGeom prst="rect">
            <a:avLst/>
          </a:prstGeom>
        </p:spPr>
        <p:txBody>
          <a:bodyPr wrap="square" lIns="0" tIns="0" rIns="0" bIns="0" rtlCol="0" anchor="t">
            <a:spAutoFit/>
          </a:bodyPr>
          <a:lstStyle>
            <a:defPPr>
              <a:defRPr lang="en-US"/>
            </a:defPPr>
            <a:lvl1pPr marL="0" algn="l" defTabSz="512064" rtl="0" eaLnBrk="1" latinLnBrk="0" hangingPunct="1">
              <a:defRPr sz="1008" kern="1200">
                <a:solidFill>
                  <a:schemeClr val="tx1"/>
                </a:solidFill>
                <a:latin typeface="+mn-lt"/>
                <a:ea typeface="+mn-ea"/>
                <a:cs typeface="+mn-cs"/>
              </a:defRPr>
            </a:lvl1pPr>
            <a:lvl2pPr marL="256032" algn="l" defTabSz="512064" rtl="0" eaLnBrk="1" latinLnBrk="0" hangingPunct="1">
              <a:defRPr sz="1008" kern="1200">
                <a:solidFill>
                  <a:schemeClr val="tx1"/>
                </a:solidFill>
                <a:latin typeface="+mn-lt"/>
                <a:ea typeface="+mn-ea"/>
                <a:cs typeface="+mn-cs"/>
              </a:defRPr>
            </a:lvl2pPr>
            <a:lvl3pPr marL="512064" algn="l" defTabSz="512064" rtl="0" eaLnBrk="1" latinLnBrk="0" hangingPunct="1">
              <a:defRPr sz="1008" kern="1200">
                <a:solidFill>
                  <a:schemeClr val="tx1"/>
                </a:solidFill>
                <a:latin typeface="+mn-lt"/>
                <a:ea typeface="+mn-ea"/>
                <a:cs typeface="+mn-cs"/>
              </a:defRPr>
            </a:lvl3pPr>
            <a:lvl4pPr marL="768096" algn="l" defTabSz="512064" rtl="0" eaLnBrk="1" latinLnBrk="0" hangingPunct="1">
              <a:defRPr sz="1008" kern="1200">
                <a:solidFill>
                  <a:schemeClr val="tx1"/>
                </a:solidFill>
                <a:latin typeface="+mn-lt"/>
                <a:ea typeface="+mn-ea"/>
                <a:cs typeface="+mn-cs"/>
              </a:defRPr>
            </a:lvl4pPr>
            <a:lvl5pPr marL="1024128" algn="l" defTabSz="512064" rtl="0" eaLnBrk="1" latinLnBrk="0" hangingPunct="1">
              <a:defRPr sz="1008" kern="1200">
                <a:solidFill>
                  <a:schemeClr val="tx1"/>
                </a:solidFill>
                <a:latin typeface="+mn-lt"/>
                <a:ea typeface="+mn-ea"/>
                <a:cs typeface="+mn-cs"/>
              </a:defRPr>
            </a:lvl5pPr>
            <a:lvl6pPr marL="1280160" algn="l" defTabSz="512064" rtl="0" eaLnBrk="1" latinLnBrk="0" hangingPunct="1">
              <a:defRPr sz="1008" kern="1200">
                <a:solidFill>
                  <a:schemeClr val="tx1"/>
                </a:solidFill>
                <a:latin typeface="+mn-lt"/>
                <a:ea typeface="+mn-ea"/>
                <a:cs typeface="+mn-cs"/>
              </a:defRPr>
            </a:lvl6pPr>
            <a:lvl7pPr marL="1536192" algn="l" defTabSz="512064" rtl="0" eaLnBrk="1" latinLnBrk="0" hangingPunct="1">
              <a:defRPr sz="1008" kern="1200">
                <a:solidFill>
                  <a:schemeClr val="tx1"/>
                </a:solidFill>
                <a:latin typeface="+mn-lt"/>
                <a:ea typeface="+mn-ea"/>
                <a:cs typeface="+mn-cs"/>
              </a:defRPr>
            </a:lvl7pPr>
            <a:lvl8pPr marL="1792224" algn="l" defTabSz="512064" rtl="0" eaLnBrk="1" latinLnBrk="0" hangingPunct="1">
              <a:defRPr sz="1008" kern="1200">
                <a:solidFill>
                  <a:schemeClr val="tx1"/>
                </a:solidFill>
                <a:latin typeface="+mn-lt"/>
                <a:ea typeface="+mn-ea"/>
                <a:cs typeface="+mn-cs"/>
              </a:defRPr>
            </a:lvl8pPr>
            <a:lvl9pPr marL="2048256" algn="l" defTabSz="512064" rtl="0" eaLnBrk="1" latinLnBrk="0" hangingPunct="1">
              <a:defRPr sz="1008" kern="1200">
                <a:solidFill>
                  <a:schemeClr val="tx1"/>
                </a:solidFill>
                <a:latin typeface="+mn-lt"/>
                <a:ea typeface="+mn-ea"/>
                <a:cs typeface="+mn-cs"/>
              </a:defRPr>
            </a:lvl9pPr>
          </a:lstStyle>
          <a:p>
            <a:pPr algn="l">
              <a:lnSpc>
                <a:spcPts val="2100"/>
              </a:lnSpc>
            </a:pPr>
            <a:r>
              <a:rPr lang="en-US" sz="1500" b="1">
                <a:solidFill>
                  <a:srgbClr val="FFFFFF"/>
                </a:solidFill>
                <a:latin typeface="HK Modular"/>
                <a:ea typeface="HK Modular"/>
                <a:cs typeface="HK Modular"/>
                <a:sym typeface="HK Modular"/>
              </a:rPr>
              <a:t>Numeric</a:t>
            </a:r>
          </a:p>
        </p:txBody>
      </p:sp>
      <p:sp>
        <p:nvSpPr>
          <p:cNvPr id="23" name="TextBox 23"/>
          <p:cNvSpPr txBox="1"/>
          <p:nvPr/>
        </p:nvSpPr>
        <p:spPr>
          <a:xfrm>
            <a:off x="6509781" y="2612446"/>
            <a:ext cx="1966432" cy="240450"/>
          </a:xfrm>
          <a:prstGeom prst="rect">
            <a:avLst/>
          </a:prstGeom>
        </p:spPr>
        <p:txBody>
          <a:bodyPr wrap="square" lIns="0" tIns="0" rIns="0" bIns="0" rtlCol="0" anchor="t">
            <a:spAutoFit/>
          </a:bodyPr>
          <a:lstStyle>
            <a:defPPr>
              <a:defRPr lang="en-US"/>
            </a:defPPr>
            <a:lvl1pPr marL="0" algn="l" defTabSz="512064" rtl="0" eaLnBrk="1" latinLnBrk="0" hangingPunct="1">
              <a:defRPr sz="1008" kern="1200">
                <a:solidFill>
                  <a:schemeClr val="tx1"/>
                </a:solidFill>
                <a:latin typeface="+mn-lt"/>
                <a:ea typeface="+mn-ea"/>
                <a:cs typeface="+mn-cs"/>
              </a:defRPr>
            </a:lvl1pPr>
            <a:lvl2pPr marL="256032" algn="l" defTabSz="512064" rtl="0" eaLnBrk="1" latinLnBrk="0" hangingPunct="1">
              <a:defRPr sz="1008" kern="1200">
                <a:solidFill>
                  <a:schemeClr val="tx1"/>
                </a:solidFill>
                <a:latin typeface="+mn-lt"/>
                <a:ea typeface="+mn-ea"/>
                <a:cs typeface="+mn-cs"/>
              </a:defRPr>
            </a:lvl2pPr>
            <a:lvl3pPr marL="512064" algn="l" defTabSz="512064" rtl="0" eaLnBrk="1" latinLnBrk="0" hangingPunct="1">
              <a:defRPr sz="1008" kern="1200">
                <a:solidFill>
                  <a:schemeClr val="tx1"/>
                </a:solidFill>
                <a:latin typeface="+mn-lt"/>
                <a:ea typeface="+mn-ea"/>
                <a:cs typeface="+mn-cs"/>
              </a:defRPr>
            </a:lvl3pPr>
            <a:lvl4pPr marL="768096" algn="l" defTabSz="512064" rtl="0" eaLnBrk="1" latinLnBrk="0" hangingPunct="1">
              <a:defRPr sz="1008" kern="1200">
                <a:solidFill>
                  <a:schemeClr val="tx1"/>
                </a:solidFill>
                <a:latin typeface="+mn-lt"/>
                <a:ea typeface="+mn-ea"/>
                <a:cs typeface="+mn-cs"/>
              </a:defRPr>
            </a:lvl4pPr>
            <a:lvl5pPr marL="1024128" algn="l" defTabSz="512064" rtl="0" eaLnBrk="1" latinLnBrk="0" hangingPunct="1">
              <a:defRPr sz="1008" kern="1200">
                <a:solidFill>
                  <a:schemeClr val="tx1"/>
                </a:solidFill>
                <a:latin typeface="+mn-lt"/>
                <a:ea typeface="+mn-ea"/>
                <a:cs typeface="+mn-cs"/>
              </a:defRPr>
            </a:lvl5pPr>
            <a:lvl6pPr marL="1280160" algn="l" defTabSz="512064" rtl="0" eaLnBrk="1" latinLnBrk="0" hangingPunct="1">
              <a:defRPr sz="1008" kern="1200">
                <a:solidFill>
                  <a:schemeClr val="tx1"/>
                </a:solidFill>
                <a:latin typeface="+mn-lt"/>
                <a:ea typeface="+mn-ea"/>
                <a:cs typeface="+mn-cs"/>
              </a:defRPr>
            </a:lvl6pPr>
            <a:lvl7pPr marL="1536192" algn="l" defTabSz="512064" rtl="0" eaLnBrk="1" latinLnBrk="0" hangingPunct="1">
              <a:defRPr sz="1008" kern="1200">
                <a:solidFill>
                  <a:schemeClr val="tx1"/>
                </a:solidFill>
                <a:latin typeface="+mn-lt"/>
                <a:ea typeface="+mn-ea"/>
                <a:cs typeface="+mn-cs"/>
              </a:defRPr>
            </a:lvl7pPr>
            <a:lvl8pPr marL="1792224" algn="l" defTabSz="512064" rtl="0" eaLnBrk="1" latinLnBrk="0" hangingPunct="1">
              <a:defRPr sz="1008" kern="1200">
                <a:solidFill>
                  <a:schemeClr val="tx1"/>
                </a:solidFill>
                <a:latin typeface="+mn-lt"/>
                <a:ea typeface="+mn-ea"/>
                <a:cs typeface="+mn-cs"/>
              </a:defRPr>
            </a:lvl8pPr>
            <a:lvl9pPr marL="2048256" algn="l" defTabSz="512064" rtl="0" eaLnBrk="1" latinLnBrk="0" hangingPunct="1">
              <a:defRPr sz="1008" kern="1200">
                <a:solidFill>
                  <a:schemeClr val="tx1"/>
                </a:solidFill>
                <a:latin typeface="+mn-lt"/>
                <a:ea typeface="+mn-ea"/>
                <a:cs typeface="+mn-cs"/>
              </a:defRPr>
            </a:lvl9pPr>
          </a:lstStyle>
          <a:p>
            <a:pPr algn="l">
              <a:lnSpc>
                <a:spcPts val="2100"/>
              </a:lnSpc>
            </a:pPr>
            <a:r>
              <a:rPr lang="en-US" sz="1500" b="1">
                <a:solidFill>
                  <a:srgbClr val="FFFFFF"/>
                </a:solidFill>
                <a:latin typeface="HK Modular"/>
                <a:ea typeface="HK Modular"/>
                <a:cs typeface="HK Modular"/>
                <a:sym typeface="HK Modular"/>
              </a:rPr>
              <a:t>Categorical </a:t>
            </a:r>
          </a:p>
        </p:txBody>
      </p:sp>
      <p:sp>
        <p:nvSpPr>
          <p:cNvPr id="24" name="TextBox 24"/>
          <p:cNvSpPr txBox="1"/>
          <p:nvPr/>
        </p:nvSpPr>
        <p:spPr>
          <a:xfrm>
            <a:off x="2069435" y="5723482"/>
            <a:ext cx="227486" cy="72456"/>
          </a:xfrm>
          <a:prstGeom prst="rect">
            <a:avLst/>
          </a:prstGeom>
        </p:spPr>
        <p:txBody>
          <a:bodyPr wrap="square" lIns="0" tIns="0" rIns="0" bIns="0" rtlCol="0" anchor="t">
            <a:spAutoFit/>
          </a:bodyPr>
          <a:lstStyle>
            <a:defPPr>
              <a:defRPr lang="en-US"/>
            </a:defPPr>
            <a:lvl1pPr marL="0" algn="l" defTabSz="512064" rtl="0" eaLnBrk="1" latinLnBrk="0" hangingPunct="1">
              <a:defRPr sz="1008" kern="1200">
                <a:solidFill>
                  <a:schemeClr val="tx1"/>
                </a:solidFill>
                <a:latin typeface="+mn-lt"/>
                <a:ea typeface="+mn-ea"/>
                <a:cs typeface="+mn-cs"/>
              </a:defRPr>
            </a:lvl1pPr>
            <a:lvl2pPr marL="256032" algn="l" defTabSz="512064" rtl="0" eaLnBrk="1" latinLnBrk="0" hangingPunct="1">
              <a:defRPr sz="1008" kern="1200">
                <a:solidFill>
                  <a:schemeClr val="tx1"/>
                </a:solidFill>
                <a:latin typeface="+mn-lt"/>
                <a:ea typeface="+mn-ea"/>
                <a:cs typeface="+mn-cs"/>
              </a:defRPr>
            </a:lvl2pPr>
            <a:lvl3pPr marL="512064" algn="l" defTabSz="512064" rtl="0" eaLnBrk="1" latinLnBrk="0" hangingPunct="1">
              <a:defRPr sz="1008" kern="1200">
                <a:solidFill>
                  <a:schemeClr val="tx1"/>
                </a:solidFill>
                <a:latin typeface="+mn-lt"/>
                <a:ea typeface="+mn-ea"/>
                <a:cs typeface="+mn-cs"/>
              </a:defRPr>
            </a:lvl3pPr>
            <a:lvl4pPr marL="768096" algn="l" defTabSz="512064" rtl="0" eaLnBrk="1" latinLnBrk="0" hangingPunct="1">
              <a:defRPr sz="1008" kern="1200">
                <a:solidFill>
                  <a:schemeClr val="tx1"/>
                </a:solidFill>
                <a:latin typeface="+mn-lt"/>
                <a:ea typeface="+mn-ea"/>
                <a:cs typeface="+mn-cs"/>
              </a:defRPr>
            </a:lvl4pPr>
            <a:lvl5pPr marL="1024128" algn="l" defTabSz="512064" rtl="0" eaLnBrk="1" latinLnBrk="0" hangingPunct="1">
              <a:defRPr sz="1008" kern="1200">
                <a:solidFill>
                  <a:schemeClr val="tx1"/>
                </a:solidFill>
                <a:latin typeface="+mn-lt"/>
                <a:ea typeface="+mn-ea"/>
                <a:cs typeface="+mn-cs"/>
              </a:defRPr>
            </a:lvl5pPr>
            <a:lvl6pPr marL="1280160" algn="l" defTabSz="512064" rtl="0" eaLnBrk="1" latinLnBrk="0" hangingPunct="1">
              <a:defRPr sz="1008" kern="1200">
                <a:solidFill>
                  <a:schemeClr val="tx1"/>
                </a:solidFill>
                <a:latin typeface="+mn-lt"/>
                <a:ea typeface="+mn-ea"/>
                <a:cs typeface="+mn-cs"/>
              </a:defRPr>
            </a:lvl6pPr>
            <a:lvl7pPr marL="1536192" algn="l" defTabSz="512064" rtl="0" eaLnBrk="1" latinLnBrk="0" hangingPunct="1">
              <a:defRPr sz="1008" kern="1200">
                <a:solidFill>
                  <a:schemeClr val="tx1"/>
                </a:solidFill>
                <a:latin typeface="+mn-lt"/>
                <a:ea typeface="+mn-ea"/>
                <a:cs typeface="+mn-cs"/>
              </a:defRPr>
            </a:lvl7pPr>
            <a:lvl8pPr marL="1792224" algn="l" defTabSz="512064" rtl="0" eaLnBrk="1" latinLnBrk="0" hangingPunct="1">
              <a:defRPr sz="1008" kern="1200">
                <a:solidFill>
                  <a:schemeClr val="tx1"/>
                </a:solidFill>
                <a:latin typeface="+mn-lt"/>
                <a:ea typeface="+mn-ea"/>
                <a:cs typeface="+mn-cs"/>
              </a:defRPr>
            </a:lvl8pPr>
            <a:lvl9pPr marL="2048256" algn="l" defTabSz="512064" rtl="0" eaLnBrk="1" latinLnBrk="0" hangingPunct="1">
              <a:defRPr sz="1008" kern="1200">
                <a:solidFill>
                  <a:schemeClr val="tx1"/>
                </a:solidFill>
                <a:latin typeface="+mn-lt"/>
                <a:ea typeface="+mn-ea"/>
                <a:cs typeface="+mn-cs"/>
              </a:defRPr>
            </a:lvl9pPr>
          </a:lstStyle>
          <a:p>
            <a:pPr algn="l">
              <a:lnSpc>
                <a:spcPts val="624"/>
              </a:lnSpc>
            </a:pPr>
            <a:r>
              <a:rPr lang="en-US" sz="446">
                <a:solidFill>
                  <a:srgbClr val="424242"/>
                </a:solidFill>
                <a:latin typeface="Open Sans"/>
                <a:ea typeface="Open Sans"/>
                <a:cs typeface="Open Sans"/>
                <a:sym typeface="Open Sans"/>
              </a:rPr>
              <a:t>city.mpg</a:t>
            </a:r>
          </a:p>
        </p:txBody>
      </p:sp>
      <p:sp>
        <p:nvSpPr>
          <p:cNvPr id="25" name="TextBox 25"/>
          <p:cNvSpPr txBox="1"/>
          <p:nvPr/>
        </p:nvSpPr>
        <p:spPr>
          <a:xfrm>
            <a:off x="5897480" y="5258967"/>
            <a:ext cx="182071" cy="60209"/>
          </a:xfrm>
          <a:prstGeom prst="rect">
            <a:avLst/>
          </a:prstGeom>
        </p:spPr>
        <p:txBody>
          <a:bodyPr wrap="square" lIns="0" tIns="0" rIns="0" bIns="0" rtlCol="0" anchor="t">
            <a:spAutoFit/>
          </a:bodyPr>
          <a:lstStyle>
            <a:defPPr>
              <a:defRPr lang="en-US"/>
            </a:defPPr>
            <a:lvl1pPr marL="0" algn="l" defTabSz="512064" rtl="0" eaLnBrk="1" latinLnBrk="0" hangingPunct="1">
              <a:defRPr sz="1008" kern="1200">
                <a:solidFill>
                  <a:schemeClr val="tx1"/>
                </a:solidFill>
                <a:latin typeface="+mn-lt"/>
                <a:ea typeface="+mn-ea"/>
                <a:cs typeface="+mn-cs"/>
              </a:defRPr>
            </a:lvl1pPr>
            <a:lvl2pPr marL="256032" algn="l" defTabSz="512064" rtl="0" eaLnBrk="1" latinLnBrk="0" hangingPunct="1">
              <a:defRPr sz="1008" kern="1200">
                <a:solidFill>
                  <a:schemeClr val="tx1"/>
                </a:solidFill>
                <a:latin typeface="+mn-lt"/>
                <a:ea typeface="+mn-ea"/>
                <a:cs typeface="+mn-cs"/>
              </a:defRPr>
            </a:lvl2pPr>
            <a:lvl3pPr marL="512064" algn="l" defTabSz="512064" rtl="0" eaLnBrk="1" latinLnBrk="0" hangingPunct="1">
              <a:defRPr sz="1008" kern="1200">
                <a:solidFill>
                  <a:schemeClr val="tx1"/>
                </a:solidFill>
                <a:latin typeface="+mn-lt"/>
                <a:ea typeface="+mn-ea"/>
                <a:cs typeface="+mn-cs"/>
              </a:defRPr>
            </a:lvl3pPr>
            <a:lvl4pPr marL="768096" algn="l" defTabSz="512064" rtl="0" eaLnBrk="1" latinLnBrk="0" hangingPunct="1">
              <a:defRPr sz="1008" kern="1200">
                <a:solidFill>
                  <a:schemeClr val="tx1"/>
                </a:solidFill>
                <a:latin typeface="+mn-lt"/>
                <a:ea typeface="+mn-ea"/>
                <a:cs typeface="+mn-cs"/>
              </a:defRPr>
            </a:lvl4pPr>
            <a:lvl5pPr marL="1024128" algn="l" defTabSz="512064" rtl="0" eaLnBrk="1" latinLnBrk="0" hangingPunct="1">
              <a:defRPr sz="1008" kern="1200">
                <a:solidFill>
                  <a:schemeClr val="tx1"/>
                </a:solidFill>
                <a:latin typeface="+mn-lt"/>
                <a:ea typeface="+mn-ea"/>
                <a:cs typeface="+mn-cs"/>
              </a:defRPr>
            </a:lvl5pPr>
            <a:lvl6pPr marL="1280160" algn="l" defTabSz="512064" rtl="0" eaLnBrk="1" latinLnBrk="0" hangingPunct="1">
              <a:defRPr sz="1008" kern="1200">
                <a:solidFill>
                  <a:schemeClr val="tx1"/>
                </a:solidFill>
                <a:latin typeface="+mn-lt"/>
                <a:ea typeface="+mn-ea"/>
                <a:cs typeface="+mn-cs"/>
              </a:defRPr>
            </a:lvl6pPr>
            <a:lvl7pPr marL="1536192" algn="l" defTabSz="512064" rtl="0" eaLnBrk="1" latinLnBrk="0" hangingPunct="1">
              <a:defRPr sz="1008" kern="1200">
                <a:solidFill>
                  <a:schemeClr val="tx1"/>
                </a:solidFill>
                <a:latin typeface="+mn-lt"/>
                <a:ea typeface="+mn-ea"/>
                <a:cs typeface="+mn-cs"/>
              </a:defRPr>
            </a:lvl7pPr>
            <a:lvl8pPr marL="1792224" algn="l" defTabSz="512064" rtl="0" eaLnBrk="1" latinLnBrk="0" hangingPunct="1">
              <a:defRPr sz="1008" kern="1200">
                <a:solidFill>
                  <a:schemeClr val="tx1"/>
                </a:solidFill>
                <a:latin typeface="+mn-lt"/>
                <a:ea typeface="+mn-ea"/>
                <a:cs typeface="+mn-cs"/>
              </a:defRPr>
            </a:lvl8pPr>
            <a:lvl9pPr marL="2048256" algn="l" defTabSz="512064" rtl="0" eaLnBrk="1" latinLnBrk="0" hangingPunct="1">
              <a:defRPr sz="1008" kern="1200">
                <a:solidFill>
                  <a:schemeClr val="tx1"/>
                </a:solidFill>
                <a:latin typeface="+mn-lt"/>
                <a:ea typeface="+mn-ea"/>
                <a:cs typeface="+mn-cs"/>
              </a:defRPr>
            </a:lvl9pPr>
          </a:lstStyle>
          <a:p>
            <a:pPr algn="l">
              <a:lnSpc>
                <a:spcPts val="511"/>
              </a:lnSpc>
            </a:pPr>
            <a:r>
              <a:rPr lang="en-US" sz="365">
                <a:solidFill>
                  <a:srgbClr val="424242"/>
                </a:solidFill>
                <a:latin typeface="Open Sans"/>
                <a:ea typeface="Open Sans"/>
                <a:cs typeface="Open Sans"/>
                <a:sym typeface="Open Sans"/>
              </a:rPr>
              <a:t>numeric</a:t>
            </a:r>
          </a:p>
        </p:txBody>
      </p:sp>
      <p:sp>
        <p:nvSpPr>
          <p:cNvPr id="26" name="TextBox 26"/>
          <p:cNvSpPr txBox="1"/>
          <p:nvPr/>
        </p:nvSpPr>
        <p:spPr>
          <a:xfrm>
            <a:off x="6150374" y="5723330"/>
            <a:ext cx="728644" cy="86149"/>
          </a:xfrm>
          <a:prstGeom prst="rect">
            <a:avLst/>
          </a:prstGeom>
        </p:spPr>
        <p:txBody>
          <a:bodyPr wrap="square" lIns="0" tIns="0" rIns="0" bIns="0" rtlCol="0" anchor="t">
            <a:spAutoFit/>
          </a:bodyPr>
          <a:lstStyle>
            <a:defPPr>
              <a:defRPr lang="en-US"/>
            </a:defPPr>
            <a:lvl1pPr marL="0" algn="l" defTabSz="512064" rtl="0" eaLnBrk="1" latinLnBrk="0" hangingPunct="1">
              <a:defRPr sz="1008" kern="1200">
                <a:solidFill>
                  <a:schemeClr val="tx1"/>
                </a:solidFill>
                <a:latin typeface="+mn-lt"/>
                <a:ea typeface="+mn-ea"/>
                <a:cs typeface="+mn-cs"/>
              </a:defRPr>
            </a:lvl1pPr>
            <a:lvl2pPr marL="256032" algn="l" defTabSz="512064" rtl="0" eaLnBrk="1" latinLnBrk="0" hangingPunct="1">
              <a:defRPr sz="1008" kern="1200">
                <a:solidFill>
                  <a:schemeClr val="tx1"/>
                </a:solidFill>
                <a:latin typeface="+mn-lt"/>
                <a:ea typeface="+mn-ea"/>
                <a:cs typeface="+mn-cs"/>
              </a:defRPr>
            </a:lvl2pPr>
            <a:lvl3pPr marL="512064" algn="l" defTabSz="512064" rtl="0" eaLnBrk="1" latinLnBrk="0" hangingPunct="1">
              <a:defRPr sz="1008" kern="1200">
                <a:solidFill>
                  <a:schemeClr val="tx1"/>
                </a:solidFill>
                <a:latin typeface="+mn-lt"/>
                <a:ea typeface="+mn-ea"/>
                <a:cs typeface="+mn-cs"/>
              </a:defRPr>
            </a:lvl3pPr>
            <a:lvl4pPr marL="768096" algn="l" defTabSz="512064" rtl="0" eaLnBrk="1" latinLnBrk="0" hangingPunct="1">
              <a:defRPr sz="1008" kern="1200">
                <a:solidFill>
                  <a:schemeClr val="tx1"/>
                </a:solidFill>
                <a:latin typeface="+mn-lt"/>
                <a:ea typeface="+mn-ea"/>
                <a:cs typeface="+mn-cs"/>
              </a:defRPr>
            </a:lvl4pPr>
            <a:lvl5pPr marL="1024128" algn="l" defTabSz="512064" rtl="0" eaLnBrk="1" latinLnBrk="0" hangingPunct="1">
              <a:defRPr sz="1008" kern="1200">
                <a:solidFill>
                  <a:schemeClr val="tx1"/>
                </a:solidFill>
                <a:latin typeface="+mn-lt"/>
                <a:ea typeface="+mn-ea"/>
                <a:cs typeface="+mn-cs"/>
              </a:defRPr>
            </a:lvl5pPr>
            <a:lvl6pPr marL="1280160" algn="l" defTabSz="512064" rtl="0" eaLnBrk="1" latinLnBrk="0" hangingPunct="1">
              <a:defRPr sz="1008" kern="1200">
                <a:solidFill>
                  <a:schemeClr val="tx1"/>
                </a:solidFill>
                <a:latin typeface="+mn-lt"/>
                <a:ea typeface="+mn-ea"/>
                <a:cs typeface="+mn-cs"/>
              </a:defRPr>
            </a:lvl6pPr>
            <a:lvl7pPr marL="1536192" algn="l" defTabSz="512064" rtl="0" eaLnBrk="1" latinLnBrk="0" hangingPunct="1">
              <a:defRPr sz="1008" kern="1200">
                <a:solidFill>
                  <a:schemeClr val="tx1"/>
                </a:solidFill>
                <a:latin typeface="+mn-lt"/>
                <a:ea typeface="+mn-ea"/>
                <a:cs typeface="+mn-cs"/>
              </a:defRPr>
            </a:lvl7pPr>
            <a:lvl8pPr marL="1792224" algn="l" defTabSz="512064" rtl="0" eaLnBrk="1" latinLnBrk="0" hangingPunct="1">
              <a:defRPr sz="1008" kern="1200">
                <a:solidFill>
                  <a:schemeClr val="tx1"/>
                </a:solidFill>
                <a:latin typeface="+mn-lt"/>
                <a:ea typeface="+mn-ea"/>
                <a:cs typeface="+mn-cs"/>
              </a:defRPr>
            </a:lvl8pPr>
            <a:lvl9pPr marL="2048256" algn="l" defTabSz="512064" rtl="0" eaLnBrk="1" latinLnBrk="0" hangingPunct="1">
              <a:defRPr sz="1008" kern="1200">
                <a:solidFill>
                  <a:schemeClr val="tx1"/>
                </a:solidFill>
                <a:latin typeface="+mn-lt"/>
                <a:ea typeface="+mn-ea"/>
                <a:cs typeface="+mn-cs"/>
              </a:defRPr>
            </a:lvl9pPr>
          </a:lstStyle>
          <a:p>
            <a:pPr algn="l">
              <a:lnSpc>
                <a:spcPts val="681"/>
              </a:lnSpc>
            </a:pPr>
            <a:r>
              <a:rPr lang="en-US" sz="486">
                <a:solidFill>
                  <a:srgbClr val="424242"/>
                </a:solidFill>
                <a:latin typeface="Open Sans"/>
                <a:ea typeface="Open Sans"/>
                <a:cs typeface="Open Sans"/>
                <a:sym typeface="Open Sans"/>
              </a:rPr>
              <a:t>EPA city miles per gallon.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90909"/>
        </a:solidFill>
        <a:effectLst/>
      </p:bgPr>
    </p:bg>
    <p:spTree>
      <p:nvGrpSpPr>
        <p:cNvPr id="1" name=""/>
        <p:cNvGrpSpPr/>
        <p:nvPr/>
      </p:nvGrpSpPr>
      <p:grpSpPr>
        <a:xfrm>
          <a:off x="0" y="0"/>
          <a:ext cx="0" cy="0"/>
          <a:chOff x="0" y="0"/>
          <a:chExt cx="0" cy="0"/>
        </a:xfrm>
      </p:grpSpPr>
      <p:grpSp>
        <p:nvGrpSpPr>
          <p:cNvPr id="2" name="Group 2"/>
          <p:cNvGrpSpPr>
            <a:grpSpLocks noChangeAspect="1"/>
          </p:cNvGrpSpPr>
          <p:nvPr/>
        </p:nvGrpSpPr>
        <p:grpSpPr>
          <a:xfrm>
            <a:off x="-110381" y="3429000"/>
            <a:ext cx="2946907" cy="2573274"/>
            <a:chOff x="0" y="0"/>
            <a:chExt cx="5893816" cy="5146548"/>
          </a:xfrm>
        </p:grpSpPr>
        <p:sp>
          <p:nvSpPr>
            <p:cNvPr id="3" name="Freeform 3"/>
            <p:cNvSpPr/>
            <p:nvPr/>
          </p:nvSpPr>
          <p:spPr>
            <a:xfrm>
              <a:off x="3048" y="0"/>
              <a:ext cx="5890768" cy="5143500"/>
            </a:xfrm>
            <a:custGeom>
              <a:avLst/>
              <a:gdLst/>
              <a:ahLst/>
              <a:cxnLst/>
              <a:rect l="l" t="t" r="r" b="b"/>
              <a:pathLst>
                <a:path w="5890768" h="5143500">
                  <a:moveTo>
                    <a:pt x="2197735" y="0"/>
                  </a:moveTo>
                  <a:lnTo>
                    <a:pt x="0" y="4314952"/>
                  </a:lnTo>
                  <a:lnTo>
                    <a:pt x="0" y="5143500"/>
                  </a:lnTo>
                  <a:lnTo>
                    <a:pt x="3273298" y="5143500"/>
                  </a:lnTo>
                  <a:lnTo>
                    <a:pt x="5890768" y="4445"/>
                  </a:lnTo>
                  <a:lnTo>
                    <a:pt x="5890768" y="0"/>
                  </a:lnTo>
                  <a:close/>
                </a:path>
              </a:pathLst>
            </a:custGeom>
            <a:solidFill>
              <a:srgbClr val="FF1D25">
                <a:alpha val="35686"/>
              </a:srgbClr>
            </a:solidFill>
          </p:spPr>
        </p:sp>
      </p:grpSp>
      <p:sp>
        <p:nvSpPr>
          <p:cNvPr id="4" name="Freeform 4"/>
          <p:cNvSpPr/>
          <p:nvPr/>
        </p:nvSpPr>
        <p:spPr>
          <a:xfrm>
            <a:off x="514350" y="1267125"/>
            <a:ext cx="280021" cy="208931"/>
          </a:xfrm>
          <a:custGeom>
            <a:avLst/>
            <a:gdLst/>
            <a:ahLst/>
            <a:cxnLst/>
            <a:rect l="l" t="t" r="r" b="b"/>
            <a:pathLst>
              <a:path w="560041" h="417862">
                <a:moveTo>
                  <a:pt x="0" y="0"/>
                </a:moveTo>
                <a:lnTo>
                  <a:pt x="560041" y="0"/>
                </a:lnTo>
                <a:lnTo>
                  <a:pt x="560041" y="417862"/>
                </a:lnTo>
                <a:lnTo>
                  <a:pt x="0" y="417862"/>
                </a:lnTo>
                <a:lnTo>
                  <a:pt x="0" y="0"/>
                </a:lnTo>
                <a:close/>
              </a:path>
            </a:pathLst>
          </a:custGeom>
          <a:blipFill>
            <a:blip r:embed="rId2">
              <a:alphaModFix amt="36000"/>
              <a:extLst>
                <a:ext uri="{96DAC541-7B7A-43D3-8B79-37D633B846F1}">
                  <asvg:svgBlip xmlns:asvg="http://schemas.microsoft.com/office/drawing/2016/SVG/main" r:embed="rId3"/>
                </a:ext>
              </a:extLst>
            </a:blip>
            <a:stretch>
              <a:fillRect/>
            </a:stretch>
          </a:blipFill>
        </p:spPr>
      </p:sp>
      <p:grpSp>
        <p:nvGrpSpPr>
          <p:cNvPr id="5" name="Group 5"/>
          <p:cNvGrpSpPr>
            <a:grpSpLocks noChangeAspect="1"/>
          </p:cNvGrpSpPr>
          <p:nvPr/>
        </p:nvGrpSpPr>
        <p:grpSpPr>
          <a:xfrm>
            <a:off x="7853139" y="5507393"/>
            <a:ext cx="1099871" cy="196892"/>
            <a:chOff x="0" y="0"/>
            <a:chExt cx="2199742" cy="393789"/>
          </a:xfrm>
        </p:grpSpPr>
        <p:sp>
          <p:nvSpPr>
            <p:cNvPr id="6" name="Freeform 6"/>
            <p:cNvSpPr/>
            <p:nvPr/>
          </p:nvSpPr>
          <p:spPr>
            <a:xfrm>
              <a:off x="1050290" y="63500"/>
              <a:ext cx="299212" cy="266827"/>
            </a:xfrm>
            <a:custGeom>
              <a:avLst/>
              <a:gdLst/>
              <a:ahLst/>
              <a:cxnLst/>
              <a:rect l="l" t="t" r="r" b="b"/>
              <a:pathLst>
                <a:path w="299212" h="266827">
                  <a:moveTo>
                    <a:pt x="183769" y="0"/>
                  </a:moveTo>
                  <a:lnTo>
                    <a:pt x="0" y="266827"/>
                  </a:lnTo>
                  <a:lnTo>
                    <a:pt x="0" y="266827"/>
                  </a:lnTo>
                  <a:lnTo>
                    <a:pt x="115316" y="266827"/>
                  </a:lnTo>
                  <a:lnTo>
                    <a:pt x="299212" y="0"/>
                  </a:lnTo>
                  <a:close/>
                </a:path>
              </a:pathLst>
            </a:custGeom>
            <a:solidFill>
              <a:srgbClr val="FF1D25">
                <a:alpha val="35686"/>
              </a:srgbClr>
            </a:solidFill>
          </p:spPr>
        </p:sp>
        <p:sp>
          <p:nvSpPr>
            <p:cNvPr id="7" name="Freeform 7"/>
            <p:cNvSpPr/>
            <p:nvPr/>
          </p:nvSpPr>
          <p:spPr>
            <a:xfrm>
              <a:off x="1247013" y="63500"/>
              <a:ext cx="299212" cy="266827"/>
            </a:xfrm>
            <a:custGeom>
              <a:avLst/>
              <a:gdLst/>
              <a:ahLst/>
              <a:cxnLst/>
              <a:rect l="l" t="t" r="r" b="b"/>
              <a:pathLst>
                <a:path w="299212" h="266827">
                  <a:moveTo>
                    <a:pt x="115316" y="266827"/>
                  </a:moveTo>
                  <a:lnTo>
                    <a:pt x="0" y="266827"/>
                  </a:lnTo>
                  <a:lnTo>
                    <a:pt x="183769" y="0"/>
                  </a:lnTo>
                  <a:lnTo>
                    <a:pt x="299212" y="0"/>
                  </a:lnTo>
                  <a:lnTo>
                    <a:pt x="115316" y="266827"/>
                  </a:lnTo>
                  <a:close/>
                </a:path>
              </a:pathLst>
            </a:custGeom>
            <a:solidFill>
              <a:srgbClr val="FF1D25">
                <a:alpha val="35686"/>
              </a:srgbClr>
            </a:solidFill>
          </p:spPr>
        </p:sp>
        <p:sp>
          <p:nvSpPr>
            <p:cNvPr id="8" name="Freeform 8"/>
            <p:cNvSpPr/>
            <p:nvPr/>
          </p:nvSpPr>
          <p:spPr>
            <a:xfrm>
              <a:off x="1443609" y="63500"/>
              <a:ext cx="299339" cy="266827"/>
            </a:xfrm>
            <a:custGeom>
              <a:avLst/>
              <a:gdLst/>
              <a:ahLst/>
              <a:cxnLst/>
              <a:rect l="l" t="t" r="r" b="b"/>
              <a:pathLst>
                <a:path w="299339" h="266827">
                  <a:moveTo>
                    <a:pt x="115443" y="266827"/>
                  </a:moveTo>
                  <a:lnTo>
                    <a:pt x="0" y="266827"/>
                  </a:lnTo>
                  <a:lnTo>
                    <a:pt x="183896" y="0"/>
                  </a:lnTo>
                  <a:lnTo>
                    <a:pt x="299339" y="0"/>
                  </a:lnTo>
                  <a:lnTo>
                    <a:pt x="115443" y="266827"/>
                  </a:lnTo>
                  <a:close/>
                </a:path>
              </a:pathLst>
            </a:custGeom>
            <a:solidFill>
              <a:srgbClr val="FF1D25">
                <a:alpha val="35686"/>
              </a:srgbClr>
            </a:solidFill>
          </p:spPr>
        </p:sp>
        <p:sp>
          <p:nvSpPr>
            <p:cNvPr id="9" name="Freeform 9"/>
            <p:cNvSpPr/>
            <p:nvPr/>
          </p:nvSpPr>
          <p:spPr>
            <a:xfrm>
              <a:off x="1640332" y="63500"/>
              <a:ext cx="299339" cy="266827"/>
            </a:xfrm>
            <a:custGeom>
              <a:avLst/>
              <a:gdLst/>
              <a:ahLst/>
              <a:cxnLst/>
              <a:rect l="l" t="t" r="r" b="b"/>
              <a:pathLst>
                <a:path w="299339" h="266827">
                  <a:moveTo>
                    <a:pt x="115443" y="266827"/>
                  </a:moveTo>
                  <a:lnTo>
                    <a:pt x="0" y="266827"/>
                  </a:lnTo>
                  <a:lnTo>
                    <a:pt x="183896" y="0"/>
                  </a:lnTo>
                  <a:lnTo>
                    <a:pt x="299339" y="0"/>
                  </a:lnTo>
                  <a:lnTo>
                    <a:pt x="115443" y="266827"/>
                  </a:lnTo>
                  <a:close/>
                </a:path>
              </a:pathLst>
            </a:custGeom>
            <a:solidFill>
              <a:srgbClr val="FF1D25">
                <a:alpha val="35686"/>
              </a:srgbClr>
            </a:solidFill>
          </p:spPr>
        </p:sp>
        <p:sp>
          <p:nvSpPr>
            <p:cNvPr id="10" name="Freeform 10"/>
            <p:cNvSpPr/>
            <p:nvPr/>
          </p:nvSpPr>
          <p:spPr>
            <a:xfrm>
              <a:off x="1837055" y="63500"/>
              <a:ext cx="299212" cy="266827"/>
            </a:xfrm>
            <a:custGeom>
              <a:avLst/>
              <a:gdLst/>
              <a:ahLst/>
              <a:cxnLst/>
              <a:rect l="l" t="t" r="r" b="b"/>
              <a:pathLst>
                <a:path w="299212" h="266827">
                  <a:moveTo>
                    <a:pt x="115316" y="266827"/>
                  </a:moveTo>
                  <a:lnTo>
                    <a:pt x="0" y="266827"/>
                  </a:lnTo>
                  <a:lnTo>
                    <a:pt x="183769" y="0"/>
                  </a:lnTo>
                  <a:lnTo>
                    <a:pt x="299212" y="0"/>
                  </a:lnTo>
                  <a:lnTo>
                    <a:pt x="115316" y="266827"/>
                  </a:lnTo>
                  <a:close/>
                </a:path>
              </a:pathLst>
            </a:custGeom>
            <a:solidFill>
              <a:srgbClr val="FF1D25">
                <a:alpha val="35686"/>
              </a:srgbClr>
            </a:solidFill>
          </p:spPr>
        </p:sp>
        <p:sp>
          <p:nvSpPr>
            <p:cNvPr id="11" name="Freeform 11"/>
            <p:cNvSpPr/>
            <p:nvPr/>
          </p:nvSpPr>
          <p:spPr>
            <a:xfrm>
              <a:off x="63500" y="63500"/>
              <a:ext cx="299212" cy="266827"/>
            </a:xfrm>
            <a:custGeom>
              <a:avLst/>
              <a:gdLst/>
              <a:ahLst/>
              <a:cxnLst/>
              <a:rect l="l" t="t" r="r" b="b"/>
              <a:pathLst>
                <a:path w="299212" h="266827">
                  <a:moveTo>
                    <a:pt x="183769" y="0"/>
                  </a:moveTo>
                  <a:lnTo>
                    <a:pt x="0" y="266827"/>
                  </a:lnTo>
                  <a:lnTo>
                    <a:pt x="0" y="266827"/>
                  </a:lnTo>
                  <a:lnTo>
                    <a:pt x="115316" y="266827"/>
                  </a:lnTo>
                  <a:lnTo>
                    <a:pt x="299212" y="0"/>
                  </a:lnTo>
                  <a:close/>
                </a:path>
              </a:pathLst>
            </a:custGeom>
            <a:solidFill>
              <a:srgbClr val="FF1D25">
                <a:alpha val="35686"/>
              </a:srgbClr>
            </a:solidFill>
          </p:spPr>
        </p:sp>
        <p:sp>
          <p:nvSpPr>
            <p:cNvPr id="12" name="Freeform 12"/>
            <p:cNvSpPr/>
            <p:nvPr/>
          </p:nvSpPr>
          <p:spPr>
            <a:xfrm>
              <a:off x="260223" y="63500"/>
              <a:ext cx="299212" cy="266827"/>
            </a:xfrm>
            <a:custGeom>
              <a:avLst/>
              <a:gdLst/>
              <a:ahLst/>
              <a:cxnLst/>
              <a:rect l="l" t="t" r="r" b="b"/>
              <a:pathLst>
                <a:path w="299212" h="266827">
                  <a:moveTo>
                    <a:pt x="115316" y="266827"/>
                  </a:moveTo>
                  <a:lnTo>
                    <a:pt x="0" y="266827"/>
                  </a:lnTo>
                  <a:lnTo>
                    <a:pt x="183769" y="0"/>
                  </a:lnTo>
                  <a:lnTo>
                    <a:pt x="299212" y="0"/>
                  </a:lnTo>
                  <a:lnTo>
                    <a:pt x="115316" y="266827"/>
                  </a:lnTo>
                  <a:close/>
                </a:path>
              </a:pathLst>
            </a:custGeom>
            <a:solidFill>
              <a:srgbClr val="FF1D25">
                <a:alpha val="35686"/>
              </a:srgbClr>
            </a:solidFill>
          </p:spPr>
        </p:sp>
        <p:sp>
          <p:nvSpPr>
            <p:cNvPr id="13" name="Freeform 13"/>
            <p:cNvSpPr/>
            <p:nvPr/>
          </p:nvSpPr>
          <p:spPr>
            <a:xfrm>
              <a:off x="456946" y="63500"/>
              <a:ext cx="299212" cy="266827"/>
            </a:xfrm>
            <a:custGeom>
              <a:avLst/>
              <a:gdLst/>
              <a:ahLst/>
              <a:cxnLst/>
              <a:rect l="l" t="t" r="r" b="b"/>
              <a:pathLst>
                <a:path w="299212" h="266827">
                  <a:moveTo>
                    <a:pt x="115316" y="266827"/>
                  </a:moveTo>
                  <a:lnTo>
                    <a:pt x="0" y="266827"/>
                  </a:lnTo>
                  <a:lnTo>
                    <a:pt x="183769" y="0"/>
                  </a:lnTo>
                  <a:lnTo>
                    <a:pt x="299212" y="0"/>
                  </a:lnTo>
                  <a:lnTo>
                    <a:pt x="115316" y="266827"/>
                  </a:lnTo>
                  <a:close/>
                </a:path>
              </a:pathLst>
            </a:custGeom>
            <a:solidFill>
              <a:srgbClr val="FF1D25">
                <a:alpha val="35686"/>
              </a:srgbClr>
            </a:solidFill>
          </p:spPr>
        </p:sp>
        <p:sp>
          <p:nvSpPr>
            <p:cNvPr id="14" name="Freeform 14"/>
            <p:cNvSpPr/>
            <p:nvPr/>
          </p:nvSpPr>
          <p:spPr>
            <a:xfrm>
              <a:off x="653542" y="63500"/>
              <a:ext cx="299339" cy="266827"/>
            </a:xfrm>
            <a:custGeom>
              <a:avLst/>
              <a:gdLst/>
              <a:ahLst/>
              <a:cxnLst/>
              <a:rect l="l" t="t" r="r" b="b"/>
              <a:pathLst>
                <a:path w="299339" h="266827">
                  <a:moveTo>
                    <a:pt x="115443" y="266827"/>
                  </a:moveTo>
                  <a:lnTo>
                    <a:pt x="0" y="266827"/>
                  </a:lnTo>
                  <a:lnTo>
                    <a:pt x="183896" y="0"/>
                  </a:lnTo>
                  <a:lnTo>
                    <a:pt x="299339" y="0"/>
                  </a:lnTo>
                  <a:lnTo>
                    <a:pt x="115443" y="266827"/>
                  </a:lnTo>
                  <a:close/>
                </a:path>
              </a:pathLst>
            </a:custGeom>
            <a:solidFill>
              <a:srgbClr val="FF1D25">
                <a:alpha val="35686"/>
              </a:srgbClr>
            </a:solidFill>
          </p:spPr>
        </p:sp>
        <p:sp>
          <p:nvSpPr>
            <p:cNvPr id="15" name="Freeform 15"/>
            <p:cNvSpPr/>
            <p:nvPr/>
          </p:nvSpPr>
          <p:spPr>
            <a:xfrm>
              <a:off x="850265" y="63500"/>
              <a:ext cx="299212" cy="266827"/>
            </a:xfrm>
            <a:custGeom>
              <a:avLst/>
              <a:gdLst/>
              <a:ahLst/>
              <a:cxnLst/>
              <a:rect l="l" t="t" r="r" b="b"/>
              <a:pathLst>
                <a:path w="299212" h="266827">
                  <a:moveTo>
                    <a:pt x="115443" y="266827"/>
                  </a:moveTo>
                  <a:lnTo>
                    <a:pt x="0" y="266827"/>
                  </a:lnTo>
                  <a:lnTo>
                    <a:pt x="183769" y="0"/>
                  </a:lnTo>
                  <a:lnTo>
                    <a:pt x="299212" y="0"/>
                  </a:lnTo>
                  <a:lnTo>
                    <a:pt x="115443" y="266827"/>
                  </a:lnTo>
                  <a:close/>
                </a:path>
              </a:pathLst>
            </a:custGeom>
            <a:solidFill>
              <a:srgbClr val="FF1D25">
                <a:alpha val="35686"/>
              </a:srgbClr>
            </a:solidFill>
          </p:spPr>
        </p:sp>
      </p:grpSp>
      <p:sp>
        <p:nvSpPr>
          <p:cNvPr id="17" name="Freeform 17"/>
          <p:cNvSpPr/>
          <p:nvPr/>
        </p:nvSpPr>
        <p:spPr>
          <a:xfrm>
            <a:off x="514350" y="1267106"/>
            <a:ext cx="280050" cy="208988"/>
          </a:xfrm>
          <a:custGeom>
            <a:avLst/>
            <a:gdLst/>
            <a:ahLst/>
            <a:cxnLst/>
            <a:rect l="l" t="t" r="r" b="b"/>
            <a:pathLst>
              <a:path w="560099" h="417976">
                <a:moveTo>
                  <a:pt x="0" y="0"/>
                </a:moveTo>
                <a:lnTo>
                  <a:pt x="560099" y="0"/>
                </a:lnTo>
                <a:lnTo>
                  <a:pt x="560099" y="417976"/>
                </a:lnTo>
                <a:lnTo>
                  <a:pt x="0" y="41797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8" name="Freeform 18"/>
          <p:cNvSpPr/>
          <p:nvPr/>
        </p:nvSpPr>
        <p:spPr>
          <a:xfrm>
            <a:off x="851402" y="3205493"/>
            <a:ext cx="7545496" cy="96836"/>
          </a:xfrm>
          <a:custGeom>
            <a:avLst/>
            <a:gdLst/>
            <a:ahLst/>
            <a:cxnLst/>
            <a:rect l="l" t="t" r="r" b="b"/>
            <a:pathLst>
              <a:path w="15090991" h="193672">
                <a:moveTo>
                  <a:pt x="0" y="0"/>
                </a:moveTo>
                <a:lnTo>
                  <a:pt x="15090991" y="0"/>
                </a:lnTo>
                <a:lnTo>
                  <a:pt x="15090991" y="193672"/>
                </a:lnTo>
                <a:lnTo>
                  <a:pt x="0" y="19367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9" name="Freeform 19"/>
          <p:cNvSpPr/>
          <p:nvPr/>
        </p:nvSpPr>
        <p:spPr>
          <a:xfrm>
            <a:off x="7884890" y="5538988"/>
            <a:ext cx="543016" cy="133717"/>
          </a:xfrm>
          <a:custGeom>
            <a:avLst/>
            <a:gdLst/>
            <a:ahLst/>
            <a:cxnLst/>
            <a:rect l="l" t="t" r="r" b="b"/>
            <a:pathLst>
              <a:path w="1086031" h="267433">
                <a:moveTo>
                  <a:pt x="0" y="0"/>
                </a:moveTo>
                <a:lnTo>
                  <a:pt x="1086031" y="0"/>
                </a:lnTo>
                <a:lnTo>
                  <a:pt x="1086031" y="267433"/>
                </a:lnTo>
                <a:lnTo>
                  <a:pt x="0" y="267433"/>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20" name="TextBox 20"/>
          <p:cNvSpPr txBox="1"/>
          <p:nvPr/>
        </p:nvSpPr>
        <p:spPr>
          <a:xfrm>
            <a:off x="848154" y="1277660"/>
            <a:ext cx="1311207" cy="176459"/>
          </a:xfrm>
          <a:prstGeom prst="rect">
            <a:avLst/>
          </a:prstGeom>
        </p:spPr>
        <p:txBody>
          <a:bodyPr wrap="square" lIns="0" tIns="0" rIns="0" bIns="0" rtlCol="0" anchor="t">
            <a:spAutoFit/>
          </a:bodyPr>
          <a:lstStyle>
            <a:defPPr>
              <a:defRPr lang="en-US"/>
            </a:defPPr>
            <a:lvl1pPr marL="0" algn="l" defTabSz="512064" rtl="0" eaLnBrk="1" latinLnBrk="0" hangingPunct="1">
              <a:defRPr sz="1008" kern="1200">
                <a:solidFill>
                  <a:schemeClr val="tx1"/>
                </a:solidFill>
                <a:latin typeface="+mn-lt"/>
                <a:ea typeface="+mn-ea"/>
                <a:cs typeface="+mn-cs"/>
              </a:defRPr>
            </a:lvl1pPr>
            <a:lvl2pPr marL="256032" algn="l" defTabSz="512064" rtl="0" eaLnBrk="1" latinLnBrk="0" hangingPunct="1">
              <a:defRPr sz="1008" kern="1200">
                <a:solidFill>
                  <a:schemeClr val="tx1"/>
                </a:solidFill>
                <a:latin typeface="+mn-lt"/>
                <a:ea typeface="+mn-ea"/>
                <a:cs typeface="+mn-cs"/>
              </a:defRPr>
            </a:lvl2pPr>
            <a:lvl3pPr marL="512064" algn="l" defTabSz="512064" rtl="0" eaLnBrk="1" latinLnBrk="0" hangingPunct="1">
              <a:defRPr sz="1008" kern="1200">
                <a:solidFill>
                  <a:schemeClr val="tx1"/>
                </a:solidFill>
                <a:latin typeface="+mn-lt"/>
                <a:ea typeface="+mn-ea"/>
                <a:cs typeface="+mn-cs"/>
              </a:defRPr>
            </a:lvl3pPr>
            <a:lvl4pPr marL="768096" algn="l" defTabSz="512064" rtl="0" eaLnBrk="1" latinLnBrk="0" hangingPunct="1">
              <a:defRPr sz="1008" kern="1200">
                <a:solidFill>
                  <a:schemeClr val="tx1"/>
                </a:solidFill>
                <a:latin typeface="+mn-lt"/>
                <a:ea typeface="+mn-ea"/>
                <a:cs typeface="+mn-cs"/>
              </a:defRPr>
            </a:lvl4pPr>
            <a:lvl5pPr marL="1024128" algn="l" defTabSz="512064" rtl="0" eaLnBrk="1" latinLnBrk="0" hangingPunct="1">
              <a:defRPr sz="1008" kern="1200">
                <a:solidFill>
                  <a:schemeClr val="tx1"/>
                </a:solidFill>
                <a:latin typeface="+mn-lt"/>
                <a:ea typeface="+mn-ea"/>
                <a:cs typeface="+mn-cs"/>
              </a:defRPr>
            </a:lvl5pPr>
            <a:lvl6pPr marL="1280160" algn="l" defTabSz="512064" rtl="0" eaLnBrk="1" latinLnBrk="0" hangingPunct="1">
              <a:defRPr sz="1008" kern="1200">
                <a:solidFill>
                  <a:schemeClr val="tx1"/>
                </a:solidFill>
                <a:latin typeface="+mn-lt"/>
                <a:ea typeface="+mn-ea"/>
                <a:cs typeface="+mn-cs"/>
              </a:defRPr>
            </a:lvl6pPr>
            <a:lvl7pPr marL="1536192" algn="l" defTabSz="512064" rtl="0" eaLnBrk="1" latinLnBrk="0" hangingPunct="1">
              <a:defRPr sz="1008" kern="1200">
                <a:solidFill>
                  <a:schemeClr val="tx1"/>
                </a:solidFill>
                <a:latin typeface="+mn-lt"/>
                <a:ea typeface="+mn-ea"/>
                <a:cs typeface="+mn-cs"/>
              </a:defRPr>
            </a:lvl7pPr>
            <a:lvl8pPr marL="1792224" algn="l" defTabSz="512064" rtl="0" eaLnBrk="1" latinLnBrk="0" hangingPunct="1">
              <a:defRPr sz="1008" kern="1200">
                <a:solidFill>
                  <a:schemeClr val="tx1"/>
                </a:solidFill>
                <a:latin typeface="+mn-lt"/>
                <a:ea typeface="+mn-ea"/>
                <a:cs typeface="+mn-cs"/>
              </a:defRPr>
            </a:lvl8pPr>
            <a:lvl9pPr marL="2048256" algn="l" defTabSz="512064" rtl="0" eaLnBrk="1" latinLnBrk="0" hangingPunct="1">
              <a:defRPr sz="1008" kern="1200">
                <a:solidFill>
                  <a:schemeClr val="tx1"/>
                </a:solidFill>
                <a:latin typeface="+mn-lt"/>
                <a:ea typeface="+mn-ea"/>
                <a:cs typeface="+mn-cs"/>
              </a:defRPr>
            </a:lvl9pPr>
          </a:lstStyle>
          <a:p>
            <a:pPr algn="l">
              <a:lnSpc>
                <a:spcPts val="1469"/>
              </a:lnSpc>
            </a:pPr>
            <a:r>
              <a:rPr lang="en-US" sz="1050" b="1">
                <a:solidFill>
                  <a:srgbClr val="FFFFFF"/>
                </a:solidFill>
                <a:latin typeface="Raleway Bold"/>
                <a:ea typeface="Raleway Bold"/>
                <a:cs typeface="Raleway Bold"/>
                <a:sym typeface="Raleway Bold"/>
              </a:rPr>
              <a:t>Gear Shift Analytics </a:t>
            </a:r>
          </a:p>
        </p:txBody>
      </p:sp>
      <p:sp>
        <p:nvSpPr>
          <p:cNvPr id="21" name="TextBox 21"/>
          <p:cNvSpPr txBox="1"/>
          <p:nvPr/>
        </p:nvSpPr>
        <p:spPr>
          <a:xfrm>
            <a:off x="1061590" y="1909682"/>
            <a:ext cx="7009395" cy="384721"/>
          </a:xfrm>
          <a:prstGeom prst="rect">
            <a:avLst/>
          </a:prstGeom>
        </p:spPr>
        <p:txBody>
          <a:bodyPr wrap="square" lIns="0" tIns="0" rIns="0" bIns="0" rtlCol="0" anchor="t">
            <a:spAutoFit/>
          </a:bodyPr>
          <a:lstStyle>
            <a:defPPr>
              <a:defRPr lang="en-US"/>
            </a:defPPr>
            <a:lvl1pPr marL="0" algn="l" defTabSz="512064" rtl="0" eaLnBrk="1" latinLnBrk="0" hangingPunct="1">
              <a:defRPr sz="1008" kern="1200">
                <a:solidFill>
                  <a:schemeClr val="tx1"/>
                </a:solidFill>
                <a:latin typeface="+mn-lt"/>
                <a:ea typeface="+mn-ea"/>
                <a:cs typeface="+mn-cs"/>
              </a:defRPr>
            </a:lvl1pPr>
            <a:lvl2pPr marL="256032" algn="l" defTabSz="512064" rtl="0" eaLnBrk="1" latinLnBrk="0" hangingPunct="1">
              <a:defRPr sz="1008" kern="1200">
                <a:solidFill>
                  <a:schemeClr val="tx1"/>
                </a:solidFill>
                <a:latin typeface="+mn-lt"/>
                <a:ea typeface="+mn-ea"/>
                <a:cs typeface="+mn-cs"/>
              </a:defRPr>
            </a:lvl2pPr>
            <a:lvl3pPr marL="512064" algn="l" defTabSz="512064" rtl="0" eaLnBrk="1" latinLnBrk="0" hangingPunct="1">
              <a:defRPr sz="1008" kern="1200">
                <a:solidFill>
                  <a:schemeClr val="tx1"/>
                </a:solidFill>
                <a:latin typeface="+mn-lt"/>
                <a:ea typeface="+mn-ea"/>
                <a:cs typeface="+mn-cs"/>
              </a:defRPr>
            </a:lvl3pPr>
            <a:lvl4pPr marL="768096" algn="l" defTabSz="512064" rtl="0" eaLnBrk="1" latinLnBrk="0" hangingPunct="1">
              <a:defRPr sz="1008" kern="1200">
                <a:solidFill>
                  <a:schemeClr val="tx1"/>
                </a:solidFill>
                <a:latin typeface="+mn-lt"/>
                <a:ea typeface="+mn-ea"/>
                <a:cs typeface="+mn-cs"/>
              </a:defRPr>
            </a:lvl4pPr>
            <a:lvl5pPr marL="1024128" algn="l" defTabSz="512064" rtl="0" eaLnBrk="1" latinLnBrk="0" hangingPunct="1">
              <a:defRPr sz="1008" kern="1200">
                <a:solidFill>
                  <a:schemeClr val="tx1"/>
                </a:solidFill>
                <a:latin typeface="+mn-lt"/>
                <a:ea typeface="+mn-ea"/>
                <a:cs typeface="+mn-cs"/>
              </a:defRPr>
            </a:lvl5pPr>
            <a:lvl6pPr marL="1280160" algn="l" defTabSz="512064" rtl="0" eaLnBrk="1" latinLnBrk="0" hangingPunct="1">
              <a:defRPr sz="1008" kern="1200">
                <a:solidFill>
                  <a:schemeClr val="tx1"/>
                </a:solidFill>
                <a:latin typeface="+mn-lt"/>
                <a:ea typeface="+mn-ea"/>
                <a:cs typeface="+mn-cs"/>
              </a:defRPr>
            </a:lvl6pPr>
            <a:lvl7pPr marL="1536192" algn="l" defTabSz="512064" rtl="0" eaLnBrk="1" latinLnBrk="0" hangingPunct="1">
              <a:defRPr sz="1008" kern="1200">
                <a:solidFill>
                  <a:schemeClr val="tx1"/>
                </a:solidFill>
                <a:latin typeface="+mn-lt"/>
                <a:ea typeface="+mn-ea"/>
                <a:cs typeface="+mn-cs"/>
              </a:defRPr>
            </a:lvl7pPr>
            <a:lvl8pPr marL="1792224" algn="l" defTabSz="512064" rtl="0" eaLnBrk="1" latinLnBrk="0" hangingPunct="1">
              <a:defRPr sz="1008" kern="1200">
                <a:solidFill>
                  <a:schemeClr val="tx1"/>
                </a:solidFill>
                <a:latin typeface="+mn-lt"/>
                <a:ea typeface="+mn-ea"/>
                <a:cs typeface="+mn-cs"/>
              </a:defRPr>
            </a:lvl8pPr>
            <a:lvl9pPr marL="2048256" algn="l" defTabSz="512064" rtl="0" eaLnBrk="1" latinLnBrk="0" hangingPunct="1">
              <a:defRPr sz="1008" kern="1200">
                <a:solidFill>
                  <a:schemeClr val="tx1"/>
                </a:solidFill>
                <a:latin typeface="+mn-lt"/>
                <a:ea typeface="+mn-ea"/>
                <a:cs typeface="+mn-cs"/>
              </a:defRPr>
            </a:lvl9pPr>
          </a:lstStyle>
          <a:p>
            <a:pPr algn="l">
              <a:lnSpc>
                <a:spcPts val="2979"/>
              </a:lnSpc>
            </a:pPr>
            <a:r>
              <a:rPr lang="en-US" sz="3000" b="1">
                <a:solidFill>
                  <a:srgbClr val="FFFFFF"/>
                </a:solidFill>
                <a:latin typeface="HK Modular"/>
                <a:ea typeface="HK Modular"/>
                <a:cs typeface="HK Modular"/>
                <a:sym typeface="HK Modular"/>
              </a:rPr>
              <a:t>Summary of Statistics </a:t>
            </a:r>
          </a:p>
        </p:txBody>
      </p:sp>
      <p:sp>
        <p:nvSpPr>
          <p:cNvPr id="22" name="TextBox 22"/>
          <p:cNvSpPr txBox="1"/>
          <p:nvPr/>
        </p:nvSpPr>
        <p:spPr>
          <a:xfrm>
            <a:off x="2803141" y="2224135"/>
            <a:ext cx="3235705" cy="394210"/>
          </a:xfrm>
          <a:prstGeom prst="rect">
            <a:avLst/>
          </a:prstGeom>
        </p:spPr>
        <p:txBody>
          <a:bodyPr wrap="square" lIns="0" tIns="0" rIns="0" bIns="0" rtlCol="0" anchor="t">
            <a:spAutoFit/>
          </a:bodyPr>
          <a:lstStyle>
            <a:defPPr>
              <a:defRPr lang="en-US"/>
            </a:defPPr>
            <a:lvl1pPr marL="0" algn="l" defTabSz="512064" rtl="0" eaLnBrk="1" latinLnBrk="0" hangingPunct="1">
              <a:defRPr sz="1008" kern="1200">
                <a:solidFill>
                  <a:schemeClr val="tx1"/>
                </a:solidFill>
                <a:latin typeface="+mn-lt"/>
                <a:ea typeface="+mn-ea"/>
                <a:cs typeface="+mn-cs"/>
              </a:defRPr>
            </a:lvl1pPr>
            <a:lvl2pPr marL="256032" algn="l" defTabSz="512064" rtl="0" eaLnBrk="1" latinLnBrk="0" hangingPunct="1">
              <a:defRPr sz="1008" kern="1200">
                <a:solidFill>
                  <a:schemeClr val="tx1"/>
                </a:solidFill>
                <a:latin typeface="+mn-lt"/>
                <a:ea typeface="+mn-ea"/>
                <a:cs typeface="+mn-cs"/>
              </a:defRPr>
            </a:lvl2pPr>
            <a:lvl3pPr marL="512064" algn="l" defTabSz="512064" rtl="0" eaLnBrk="1" latinLnBrk="0" hangingPunct="1">
              <a:defRPr sz="1008" kern="1200">
                <a:solidFill>
                  <a:schemeClr val="tx1"/>
                </a:solidFill>
                <a:latin typeface="+mn-lt"/>
                <a:ea typeface="+mn-ea"/>
                <a:cs typeface="+mn-cs"/>
              </a:defRPr>
            </a:lvl3pPr>
            <a:lvl4pPr marL="768096" algn="l" defTabSz="512064" rtl="0" eaLnBrk="1" latinLnBrk="0" hangingPunct="1">
              <a:defRPr sz="1008" kern="1200">
                <a:solidFill>
                  <a:schemeClr val="tx1"/>
                </a:solidFill>
                <a:latin typeface="+mn-lt"/>
                <a:ea typeface="+mn-ea"/>
                <a:cs typeface="+mn-cs"/>
              </a:defRPr>
            </a:lvl4pPr>
            <a:lvl5pPr marL="1024128" algn="l" defTabSz="512064" rtl="0" eaLnBrk="1" latinLnBrk="0" hangingPunct="1">
              <a:defRPr sz="1008" kern="1200">
                <a:solidFill>
                  <a:schemeClr val="tx1"/>
                </a:solidFill>
                <a:latin typeface="+mn-lt"/>
                <a:ea typeface="+mn-ea"/>
                <a:cs typeface="+mn-cs"/>
              </a:defRPr>
            </a:lvl5pPr>
            <a:lvl6pPr marL="1280160" algn="l" defTabSz="512064" rtl="0" eaLnBrk="1" latinLnBrk="0" hangingPunct="1">
              <a:defRPr sz="1008" kern="1200">
                <a:solidFill>
                  <a:schemeClr val="tx1"/>
                </a:solidFill>
                <a:latin typeface="+mn-lt"/>
                <a:ea typeface="+mn-ea"/>
                <a:cs typeface="+mn-cs"/>
              </a:defRPr>
            </a:lvl6pPr>
            <a:lvl7pPr marL="1536192" algn="l" defTabSz="512064" rtl="0" eaLnBrk="1" latinLnBrk="0" hangingPunct="1">
              <a:defRPr sz="1008" kern="1200">
                <a:solidFill>
                  <a:schemeClr val="tx1"/>
                </a:solidFill>
                <a:latin typeface="+mn-lt"/>
                <a:ea typeface="+mn-ea"/>
                <a:cs typeface="+mn-cs"/>
              </a:defRPr>
            </a:lvl7pPr>
            <a:lvl8pPr marL="1792224" algn="l" defTabSz="512064" rtl="0" eaLnBrk="1" latinLnBrk="0" hangingPunct="1">
              <a:defRPr sz="1008" kern="1200">
                <a:solidFill>
                  <a:schemeClr val="tx1"/>
                </a:solidFill>
                <a:latin typeface="+mn-lt"/>
                <a:ea typeface="+mn-ea"/>
                <a:cs typeface="+mn-cs"/>
              </a:defRPr>
            </a:lvl8pPr>
            <a:lvl9pPr marL="2048256" algn="l" defTabSz="512064" rtl="0" eaLnBrk="1" latinLnBrk="0" hangingPunct="1">
              <a:defRPr sz="1008" kern="1200">
                <a:solidFill>
                  <a:schemeClr val="tx1"/>
                </a:solidFill>
                <a:latin typeface="+mn-lt"/>
                <a:ea typeface="+mn-ea"/>
                <a:cs typeface="+mn-cs"/>
              </a:defRPr>
            </a:lvl9pPr>
          </a:lstStyle>
          <a:p>
            <a:pPr algn="l">
              <a:lnSpc>
                <a:spcPts val="3735"/>
              </a:lnSpc>
            </a:pPr>
            <a:r>
              <a:rPr lang="en-US" sz="1494" b="1">
                <a:solidFill>
                  <a:srgbClr val="FFFFFF"/>
                </a:solidFill>
                <a:latin typeface="HK Modular"/>
                <a:ea typeface="HK Modular"/>
                <a:cs typeface="HK Modular"/>
                <a:sym typeface="HK Modular"/>
              </a:rPr>
              <a:t>Numerical variables </a:t>
            </a:r>
          </a:p>
        </p:txBody>
      </p:sp>
      <p:sp>
        <p:nvSpPr>
          <p:cNvPr id="23" name="TextBox 23"/>
          <p:cNvSpPr txBox="1"/>
          <p:nvPr/>
        </p:nvSpPr>
        <p:spPr>
          <a:xfrm>
            <a:off x="2069435" y="5723482"/>
            <a:ext cx="227486" cy="72456"/>
          </a:xfrm>
          <a:prstGeom prst="rect">
            <a:avLst/>
          </a:prstGeom>
        </p:spPr>
        <p:txBody>
          <a:bodyPr wrap="square" lIns="0" tIns="0" rIns="0" bIns="0" rtlCol="0" anchor="t">
            <a:spAutoFit/>
          </a:bodyPr>
          <a:lstStyle>
            <a:defPPr>
              <a:defRPr lang="en-US"/>
            </a:defPPr>
            <a:lvl1pPr marL="0" algn="l" defTabSz="512064" rtl="0" eaLnBrk="1" latinLnBrk="0" hangingPunct="1">
              <a:defRPr sz="1008" kern="1200">
                <a:solidFill>
                  <a:schemeClr val="tx1"/>
                </a:solidFill>
                <a:latin typeface="+mn-lt"/>
                <a:ea typeface="+mn-ea"/>
                <a:cs typeface="+mn-cs"/>
              </a:defRPr>
            </a:lvl1pPr>
            <a:lvl2pPr marL="256032" algn="l" defTabSz="512064" rtl="0" eaLnBrk="1" latinLnBrk="0" hangingPunct="1">
              <a:defRPr sz="1008" kern="1200">
                <a:solidFill>
                  <a:schemeClr val="tx1"/>
                </a:solidFill>
                <a:latin typeface="+mn-lt"/>
                <a:ea typeface="+mn-ea"/>
                <a:cs typeface="+mn-cs"/>
              </a:defRPr>
            </a:lvl2pPr>
            <a:lvl3pPr marL="512064" algn="l" defTabSz="512064" rtl="0" eaLnBrk="1" latinLnBrk="0" hangingPunct="1">
              <a:defRPr sz="1008" kern="1200">
                <a:solidFill>
                  <a:schemeClr val="tx1"/>
                </a:solidFill>
                <a:latin typeface="+mn-lt"/>
                <a:ea typeface="+mn-ea"/>
                <a:cs typeface="+mn-cs"/>
              </a:defRPr>
            </a:lvl3pPr>
            <a:lvl4pPr marL="768096" algn="l" defTabSz="512064" rtl="0" eaLnBrk="1" latinLnBrk="0" hangingPunct="1">
              <a:defRPr sz="1008" kern="1200">
                <a:solidFill>
                  <a:schemeClr val="tx1"/>
                </a:solidFill>
                <a:latin typeface="+mn-lt"/>
                <a:ea typeface="+mn-ea"/>
                <a:cs typeface="+mn-cs"/>
              </a:defRPr>
            </a:lvl4pPr>
            <a:lvl5pPr marL="1024128" algn="l" defTabSz="512064" rtl="0" eaLnBrk="1" latinLnBrk="0" hangingPunct="1">
              <a:defRPr sz="1008" kern="1200">
                <a:solidFill>
                  <a:schemeClr val="tx1"/>
                </a:solidFill>
                <a:latin typeface="+mn-lt"/>
                <a:ea typeface="+mn-ea"/>
                <a:cs typeface="+mn-cs"/>
              </a:defRPr>
            </a:lvl5pPr>
            <a:lvl6pPr marL="1280160" algn="l" defTabSz="512064" rtl="0" eaLnBrk="1" latinLnBrk="0" hangingPunct="1">
              <a:defRPr sz="1008" kern="1200">
                <a:solidFill>
                  <a:schemeClr val="tx1"/>
                </a:solidFill>
                <a:latin typeface="+mn-lt"/>
                <a:ea typeface="+mn-ea"/>
                <a:cs typeface="+mn-cs"/>
              </a:defRPr>
            </a:lvl6pPr>
            <a:lvl7pPr marL="1536192" algn="l" defTabSz="512064" rtl="0" eaLnBrk="1" latinLnBrk="0" hangingPunct="1">
              <a:defRPr sz="1008" kern="1200">
                <a:solidFill>
                  <a:schemeClr val="tx1"/>
                </a:solidFill>
                <a:latin typeface="+mn-lt"/>
                <a:ea typeface="+mn-ea"/>
                <a:cs typeface="+mn-cs"/>
              </a:defRPr>
            </a:lvl7pPr>
            <a:lvl8pPr marL="1792224" algn="l" defTabSz="512064" rtl="0" eaLnBrk="1" latinLnBrk="0" hangingPunct="1">
              <a:defRPr sz="1008" kern="1200">
                <a:solidFill>
                  <a:schemeClr val="tx1"/>
                </a:solidFill>
                <a:latin typeface="+mn-lt"/>
                <a:ea typeface="+mn-ea"/>
                <a:cs typeface="+mn-cs"/>
              </a:defRPr>
            </a:lvl8pPr>
            <a:lvl9pPr marL="2048256" algn="l" defTabSz="512064" rtl="0" eaLnBrk="1" latinLnBrk="0" hangingPunct="1">
              <a:defRPr sz="1008" kern="1200">
                <a:solidFill>
                  <a:schemeClr val="tx1"/>
                </a:solidFill>
                <a:latin typeface="+mn-lt"/>
                <a:ea typeface="+mn-ea"/>
                <a:cs typeface="+mn-cs"/>
              </a:defRPr>
            </a:lvl9pPr>
          </a:lstStyle>
          <a:p>
            <a:pPr algn="l">
              <a:lnSpc>
                <a:spcPts val="624"/>
              </a:lnSpc>
            </a:pPr>
            <a:r>
              <a:rPr lang="en-US" sz="446">
                <a:solidFill>
                  <a:srgbClr val="424242"/>
                </a:solidFill>
                <a:latin typeface="Open Sans"/>
                <a:ea typeface="Open Sans"/>
                <a:cs typeface="Open Sans"/>
                <a:sym typeface="Open Sans"/>
              </a:rPr>
              <a:t>city.mpg</a:t>
            </a:r>
          </a:p>
        </p:txBody>
      </p:sp>
      <p:sp>
        <p:nvSpPr>
          <p:cNvPr id="24" name="TextBox 24"/>
          <p:cNvSpPr txBox="1"/>
          <p:nvPr/>
        </p:nvSpPr>
        <p:spPr>
          <a:xfrm>
            <a:off x="6150374" y="5723330"/>
            <a:ext cx="728644" cy="86149"/>
          </a:xfrm>
          <a:prstGeom prst="rect">
            <a:avLst/>
          </a:prstGeom>
        </p:spPr>
        <p:txBody>
          <a:bodyPr wrap="square" lIns="0" tIns="0" rIns="0" bIns="0" rtlCol="0" anchor="t">
            <a:spAutoFit/>
          </a:bodyPr>
          <a:lstStyle>
            <a:defPPr>
              <a:defRPr lang="en-US"/>
            </a:defPPr>
            <a:lvl1pPr marL="0" algn="l" defTabSz="512064" rtl="0" eaLnBrk="1" latinLnBrk="0" hangingPunct="1">
              <a:defRPr sz="1008" kern="1200">
                <a:solidFill>
                  <a:schemeClr val="tx1"/>
                </a:solidFill>
                <a:latin typeface="+mn-lt"/>
                <a:ea typeface="+mn-ea"/>
                <a:cs typeface="+mn-cs"/>
              </a:defRPr>
            </a:lvl1pPr>
            <a:lvl2pPr marL="256032" algn="l" defTabSz="512064" rtl="0" eaLnBrk="1" latinLnBrk="0" hangingPunct="1">
              <a:defRPr sz="1008" kern="1200">
                <a:solidFill>
                  <a:schemeClr val="tx1"/>
                </a:solidFill>
                <a:latin typeface="+mn-lt"/>
                <a:ea typeface="+mn-ea"/>
                <a:cs typeface="+mn-cs"/>
              </a:defRPr>
            </a:lvl2pPr>
            <a:lvl3pPr marL="512064" algn="l" defTabSz="512064" rtl="0" eaLnBrk="1" latinLnBrk="0" hangingPunct="1">
              <a:defRPr sz="1008" kern="1200">
                <a:solidFill>
                  <a:schemeClr val="tx1"/>
                </a:solidFill>
                <a:latin typeface="+mn-lt"/>
                <a:ea typeface="+mn-ea"/>
                <a:cs typeface="+mn-cs"/>
              </a:defRPr>
            </a:lvl3pPr>
            <a:lvl4pPr marL="768096" algn="l" defTabSz="512064" rtl="0" eaLnBrk="1" latinLnBrk="0" hangingPunct="1">
              <a:defRPr sz="1008" kern="1200">
                <a:solidFill>
                  <a:schemeClr val="tx1"/>
                </a:solidFill>
                <a:latin typeface="+mn-lt"/>
                <a:ea typeface="+mn-ea"/>
                <a:cs typeface="+mn-cs"/>
              </a:defRPr>
            </a:lvl4pPr>
            <a:lvl5pPr marL="1024128" algn="l" defTabSz="512064" rtl="0" eaLnBrk="1" latinLnBrk="0" hangingPunct="1">
              <a:defRPr sz="1008" kern="1200">
                <a:solidFill>
                  <a:schemeClr val="tx1"/>
                </a:solidFill>
                <a:latin typeface="+mn-lt"/>
                <a:ea typeface="+mn-ea"/>
                <a:cs typeface="+mn-cs"/>
              </a:defRPr>
            </a:lvl5pPr>
            <a:lvl6pPr marL="1280160" algn="l" defTabSz="512064" rtl="0" eaLnBrk="1" latinLnBrk="0" hangingPunct="1">
              <a:defRPr sz="1008" kern="1200">
                <a:solidFill>
                  <a:schemeClr val="tx1"/>
                </a:solidFill>
                <a:latin typeface="+mn-lt"/>
                <a:ea typeface="+mn-ea"/>
                <a:cs typeface="+mn-cs"/>
              </a:defRPr>
            </a:lvl6pPr>
            <a:lvl7pPr marL="1536192" algn="l" defTabSz="512064" rtl="0" eaLnBrk="1" latinLnBrk="0" hangingPunct="1">
              <a:defRPr sz="1008" kern="1200">
                <a:solidFill>
                  <a:schemeClr val="tx1"/>
                </a:solidFill>
                <a:latin typeface="+mn-lt"/>
                <a:ea typeface="+mn-ea"/>
                <a:cs typeface="+mn-cs"/>
              </a:defRPr>
            </a:lvl7pPr>
            <a:lvl8pPr marL="1792224" algn="l" defTabSz="512064" rtl="0" eaLnBrk="1" latinLnBrk="0" hangingPunct="1">
              <a:defRPr sz="1008" kern="1200">
                <a:solidFill>
                  <a:schemeClr val="tx1"/>
                </a:solidFill>
                <a:latin typeface="+mn-lt"/>
                <a:ea typeface="+mn-ea"/>
                <a:cs typeface="+mn-cs"/>
              </a:defRPr>
            </a:lvl8pPr>
            <a:lvl9pPr marL="2048256" algn="l" defTabSz="512064" rtl="0" eaLnBrk="1" latinLnBrk="0" hangingPunct="1">
              <a:defRPr sz="1008" kern="1200">
                <a:solidFill>
                  <a:schemeClr val="tx1"/>
                </a:solidFill>
                <a:latin typeface="+mn-lt"/>
                <a:ea typeface="+mn-ea"/>
                <a:cs typeface="+mn-cs"/>
              </a:defRPr>
            </a:lvl9pPr>
          </a:lstStyle>
          <a:p>
            <a:pPr algn="l">
              <a:lnSpc>
                <a:spcPts val="681"/>
              </a:lnSpc>
            </a:pPr>
            <a:r>
              <a:rPr lang="en-US" sz="486">
                <a:solidFill>
                  <a:srgbClr val="424242"/>
                </a:solidFill>
                <a:latin typeface="Open Sans"/>
                <a:ea typeface="Open Sans"/>
                <a:cs typeface="Open Sans"/>
                <a:sym typeface="Open Sans"/>
              </a:rPr>
              <a:t>EPA city miles per gallon.</a:t>
            </a:r>
          </a:p>
        </p:txBody>
      </p:sp>
      <p:sp>
        <p:nvSpPr>
          <p:cNvPr id="25" name="TextBox 25"/>
          <p:cNvSpPr txBox="1"/>
          <p:nvPr/>
        </p:nvSpPr>
        <p:spPr>
          <a:xfrm>
            <a:off x="961825" y="2764912"/>
            <a:ext cx="665126" cy="241541"/>
          </a:xfrm>
          <a:prstGeom prst="rect">
            <a:avLst/>
          </a:prstGeom>
        </p:spPr>
        <p:txBody>
          <a:bodyPr wrap="square" lIns="0" tIns="0" rIns="0" bIns="0" rtlCol="0" anchor="t">
            <a:spAutoFit/>
          </a:bodyPr>
          <a:lstStyle>
            <a:defPPr>
              <a:defRPr lang="en-US"/>
            </a:defPPr>
            <a:lvl1pPr marL="0" algn="l" defTabSz="512064" rtl="0" eaLnBrk="1" latinLnBrk="0" hangingPunct="1">
              <a:defRPr sz="1008" kern="1200">
                <a:solidFill>
                  <a:schemeClr val="tx1"/>
                </a:solidFill>
                <a:latin typeface="+mn-lt"/>
                <a:ea typeface="+mn-ea"/>
                <a:cs typeface="+mn-cs"/>
              </a:defRPr>
            </a:lvl1pPr>
            <a:lvl2pPr marL="256032" algn="l" defTabSz="512064" rtl="0" eaLnBrk="1" latinLnBrk="0" hangingPunct="1">
              <a:defRPr sz="1008" kern="1200">
                <a:solidFill>
                  <a:schemeClr val="tx1"/>
                </a:solidFill>
                <a:latin typeface="+mn-lt"/>
                <a:ea typeface="+mn-ea"/>
                <a:cs typeface="+mn-cs"/>
              </a:defRPr>
            </a:lvl2pPr>
            <a:lvl3pPr marL="512064" algn="l" defTabSz="512064" rtl="0" eaLnBrk="1" latinLnBrk="0" hangingPunct="1">
              <a:defRPr sz="1008" kern="1200">
                <a:solidFill>
                  <a:schemeClr val="tx1"/>
                </a:solidFill>
                <a:latin typeface="+mn-lt"/>
                <a:ea typeface="+mn-ea"/>
                <a:cs typeface="+mn-cs"/>
              </a:defRPr>
            </a:lvl3pPr>
            <a:lvl4pPr marL="768096" algn="l" defTabSz="512064" rtl="0" eaLnBrk="1" latinLnBrk="0" hangingPunct="1">
              <a:defRPr sz="1008" kern="1200">
                <a:solidFill>
                  <a:schemeClr val="tx1"/>
                </a:solidFill>
                <a:latin typeface="+mn-lt"/>
                <a:ea typeface="+mn-ea"/>
                <a:cs typeface="+mn-cs"/>
              </a:defRPr>
            </a:lvl4pPr>
            <a:lvl5pPr marL="1024128" algn="l" defTabSz="512064" rtl="0" eaLnBrk="1" latinLnBrk="0" hangingPunct="1">
              <a:defRPr sz="1008" kern="1200">
                <a:solidFill>
                  <a:schemeClr val="tx1"/>
                </a:solidFill>
                <a:latin typeface="+mn-lt"/>
                <a:ea typeface="+mn-ea"/>
                <a:cs typeface="+mn-cs"/>
              </a:defRPr>
            </a:lvl5pPr>
            <a:lvl6pPr marL="1280160" algn="l" defTabSz="512064" rtl="0" eaLnBrk="1" latinLnBrk="0" hangingPunct="1">
              <a:defRPr sz="1008" kern="1200">
                <a:solidFill>
                  <a:schemeClr val="tx1"/>
                </a:solidFill>
                <a:latin typeface="+mn-lt"/>
                <a:ea typeface="+mn-ea"/>
                <a:cs typeface="+mn-cs"/>
              </a:defRPr>
            </a:lvl6pPr>
            <a:lvl7pPr marL="1536192" algn="l" defTabSz="512064" rtl="0" eaLnBrk="1" latinLnBrk="0" hangingPunct="1">
              <a:defRPr sz="1008" kern="1200">
                <a:solidFill>
                  <a:schemeClr val="tx1"/>
                </a:solidFill>
                <a:latin typeface="+mn-lt"/>
                <a:ea typeface="+mn-ea"/>
                <a:cs typeface="+mn-cs"/>
              </a:defRPr>
            </a:lvl7pPr>
            <a:lvl8pPr marL="1792224" algn="l" defTabSz="512064" rtl="0" eaLnBrk="1" latinLnBrk="0" hangingPunct="1">
              <a:defRPr sz="1008" kern="1200">
                <a:solidFill>
                  <a:schemeClr val="tx1"/>
                </a:solidFill>
                <a:latin typeface="+mn-lt"/>
                <a:ea typeface="+mn-ea"/>
                <a:cs typeface="+mn-cs"/>
              </a:defRPr>
            </a:lvl8pPr>
            <a:lvl9pPr marL="2048256" algn="l" defTabSz="512064" rtl="0" eaLnBrk="1" latinLnBrk="0" hangingPunct="1">
              <a:defRPr sz="1008" kern="1200">
                <a:solidFill>
                  <a:schemeClr val="tx1"/>
                </a:solidFill>
                <a:latin typeface="+mn-lt"/>
                <a:ea typeface="+mn-ea"/>
                <a:cs typeface="+mn-cs"/>
              </a:defRPr>
            </a:lvl9pPr>
          </a:lstStyle>
          <a:p>
            <a:pPr algn="l">
              <a:lnSpc>
                <a:spcPts val="1960"/>
              </a:lnSpc>
            </a:pPr>
            <a:r>
              <a:rPr lang="en-US" sz="1400">
                <a:solidFill>
                  <a:srgbClr val="FFFFFF"/>
                </a:solidFill>
                <a:latin typeface="Arial MT Pro"/>
                <a:ea typeface="Arial MT Pro"/>
                <a:cs typeface="Arial MT Pro"/>
                <a:sym typeface="Arial MT Pro"/>
              </a:rPr>
              <a:t>Variable</a:t>
            </a:r>
          </a:p>
        </p:txBody>
      </p:sp>
      <p:sp>
        <p:nvSpPr>
          <p:cNvPr id="26" name="TextBox 26"/>
          <p:cNvSpPr txBox="1"/>
          <p:nvPr/>
        </p:nvSpPr>
        <p:spPr>
          <a:xfrm>
            <a:off x="4824923" y="2864697"/>
            <a:ext cx="798393" cy="241541"/>
          </a:xfrm>
          <a:prstGeom prst="rect">
            <a:avLst/>
          </a:prstGeom>
        </p:spPr>
        <p:txBody>
          <a:bodyPr wrap="square" lIns="0" tIns="0" rIns="0" bIns="0" rtlCol="0" anchor="t">
            <a:spAutoFit/>
          </a:bodyPr>
          <a:lstStyle>
            <a:defPPr>
              <a:defRPr lang="en-US"/>
            </a:defPPr>
            <a:lvl1pPr marL="0" algn="l" defTabSz="512064" rtl="0" eaLnBrk="1" latinLnBrk="0" hangingPunct="1">
              <a:defRPr sz="1008" kern="1200">
                <a:solidFill>
                  <a:schemeClr val="tx1"/>
                </a:solidFill>
                <a:latin typeface="+mn-lt"/>
                <a:ea typeface="+mn-ea"/>
                <a:cs typeface="+mn-cs"/>
              </a:defRPr>
            </a:lvl1pPr>
            <a:lvl2pPr marL="256032" algn="l" defTabSz="512064" rtl="0" eaLnBrk="1" latinLnBrk="0" hangingPunct="1">
              <a:defRPr sz="1008" kern="1200">
                <a:solidFill>
                  <a:schemeClr val="tx1"/>
                </a:solidFill>
                <a:latin typeface="+mn-lt"/>
                <a:ea typeface="+mn-ea"/>
                <a:cs typeface="+mn-cs"/>
              </a:defRPr>
            </a:lvl2pPr>
            <a:lvl3pPr marL="512064" algn="l" defTabSz="512064" rtl="0" eaLnBrk="1" latinLnBrk="0" hangingPunct="1">
              <a:defRPr sz="1008" kern="1200">
                <a:solidFill>
                  <a:schemeClr val="tx1"/>
                </a:solidFill>
                <a:latin typeface="+mn-lt"/>
                <a:ea typeface="+mn-ea"/>
                <a:cs typeface="+mn-cs"/>
              </a:defRPr>
            </a:lvl3pPr>
            <a:lvl4pPr marL="768096" algn="l" defTabSz="512064" rtl="0" eaLnBrk="1" latinLnBrk="0" hangingPunct="1">
              <a:defRPr sz="1008" kern="1200">
                <a:solidFill>
                  <a:schemeClr val="tx1"/>
                </a:solidFill>
                <a:latin typeface="+mn-lt"/>
                <a:ea typeface="+mn-ea"/>
                <a:cs typeface="+mn-cs"/>
              </a:defRPr>
            </a:lvl4pPr>
            <a:lvl5pPr marL="1024128" algn="l" defTabSz="512064" rtl="0" eaLnBrk="1" latinLnBrk="0" hangingPunct="1">
              <a:defRPr sz="1008" kern="1200">
                <a:solidFill>
                  <a:schemeClr val="tx1"/>
                </a:solidFill>
                <a:latin typeface="+mn-lt"/>
                <a:ea typeface="+mn-ea"/>
                <a:cs typeface="+mn-cs"/>
              </a:defRPr>
            </a:lvl5pPr>
            <a:lvl6pPr marL="1280160" algn="l" defTabSz="512064" rtl="0" eaLnBrk="1" latinLnBrk="0" hangingPunct="1">
              <a:defRPr sz="1008" kern="1200">
                <a:solidFill>
                  <a:schemeClr val="tx1"/>
                </a:solidFill>
                <a:latin typeface="+mn-lt"/>
                <a:ea typeface="+mn-ea"/>
                <a:cs typeface="+mn-cs"/>
              </a:defRPr>
            </a:lvl6pPr>
            <a:lvl7pPr marL="1536192" algn="l" defTabSz="512064" rtl="0" eaLnBrk="1" latinLnBrk="0" hangingPunct="1">
              <a:defRPr sz="1008" kern="1200">
                <a:solidFill>
                  <a:schemeClr val="tx1"/>
                </a:solidFill>
                <a:latin typeface="+mn-lt"/>
                <a:ea typeface="+mn-ea"/>
                <a:cs typeface="+mn-cs"/>
              </a:defRPr>
            </a:lvl7pPr>
            <a:lvl8pPr marL="1792224" algn="l" defTabSz="512064" rtl="0" eaLnBrk="1" latinLnBrk="0" hangingPunct="1">
              <a:defRPr sz="1008" kern="1200">
                <a:solidFill>
                  <a:schemeClr val="tx1"/>
                </a:solidFill>
                <a:latin typeface="+mn-lt"/>
                <a:ea typeface="+mn-ea"/>
                <a:cs typeface="+mn-cs"/>
              </a:defRPr>
            </a:lvl8pPr>
            <a:lvl9pPr marL="2048256" algn="l" defTabSz="512064" rtl="0" eaLnBrk="1" latinLnBrk="0" hangingPunct="1">
              <a:defRPr sz="1008" kern="1200">
                <a:solidFill>
                  <a:schemeClr val="tx1"/>
                </a:solidFill>
                <a:latin typeface="+mn-lt"/>
                <a:ea typeface="+mn-ea"/>
                <a:cs typeface="+mn-cs"/>
              </a:defRPr>
            </a:lvl9pPr>
          </a:lstStyle>
          <a:p>
            <a:pPr algn="l">
              <a:lnSpc>
                <a:spcPts val="1960"/>
              </a:lnSpc>
            </a:pPr>
            <a:r>
              <a:rPr lang="en-US" sz="1400" spc="94">
                <a:solidFill>
                  <a:srgbClr val="FFFFFF"/>
                </a:solidFill>
                <a:latin typeface="Arial MT Pro"/>
                <a:ea typeface="Arial MT Pro"/>
                <a:cs typeface="Arial MT Pro"/>
                <a:sym typeface="Arial MT Pro"/>
              </a:rPr>
              <a:t>Mean</a:t>
            </a:r>
          </a:p>
        </p:txBody>
      </p:sp>
      <p:sp>
        <p:nvSpPr>
          <p:cNvPr id="27" name="TextBox 27"/>
          <p:cNvSpPr txBox="1"/>
          <p:nvPr/>
        </p:nvSpPr>
        <p:spPr>
          <a:xfrm>
            <a:off x="1062268" y="3425300"/>
            <a:ext cx="666045" cy="280013"/>
          </a:xfrm>
          <a:prstGeom prst="rect">
            <a:avLst/>
          </a:prstGeom>
        </p:spPr>
        <p:txBody>
          <a:bodyPr wrap="square" lIns="0" tIns="0" rIns="0" bIns="0" rtlCol="0" anchor="t">
            <a:spAutoFit/>
          </a:bodyPr>
          <a:lstStyle>
            <a:defPPr>
              <a:defRPr lang="en-US"/>
            </a:defPPr>
            <a:lvl1pPr marL="0" algn="l" defTabSz="512064" rtl="0" eaLnBrk="1" latinLnBrk="0" hangingPunct="1">
              <a:defRPr sz="1008" kern="1200">
                <a:solidFill>
                  <a:schemeClr val="tx1"/>
                </a:solidFill>
                <a:latin typeface="+mn-lt"/>
                <a:ea typeface="+mn-ea"/>
                <a:cs typeface="+mn-cs"/>
              </a:defRPr>
            </a:lvl1pPr>
            <a:lvl2pPr marL="256032" algn="l" defTabSz="512064" rtl="0" eaLnBrk="1" latinLnBrk="0" hangingPunct="1">
              <a:defRPr sz="1008" kern="1200">
                <a:solidFill>
                  <a:schemeClr val="tx1"/>
                </a:solidFill>
                <a:latin typeface="+mn-lt"/>
                <a:ea typeface="+mn-ea"/>
                <a:cs typeface="+mn-cs"/>
              </a:defRPr>
            </a:lvl2pPr>
            <a:lvl3pPr marL="512064" algn="l" defTabSz="512064" rtl="0" eaLnBrk="1" latinLnBrk="0" hangingPunct="1">
              <a:defRPr sz="1008" kern="1200">
                <a:solidFill>
                  <a:schemeClr val="tx1"/>
                </a:solidFill>
                <a:latin typeface="+mn-lt"/>
                <a:ea typeface="+mn-ea"/>
                <a:cs typeface="+mn-cs"/>
              </a:defRPr>
            </a:lvl3pPr>
            <a:lvl4pPr marL="768096" algn="l" defTabSz="512064" rtl="0" eaLnBrk="1" latinLnBrk="0" hangingPunct="1">
              <a:defRPr sz="1008" kern="1200">
                <a:solidFill>
                  <a:schemeClr val="tx1"/>
                </a:solidFill>
                <a:latin typeface="+mn-lt"/>
                <a:ea typeface="+mn-ea"/>
                <a:cs typeface="+mn-cs"/>
              </a:defRPr>
            </a:lvl4pPr>
            <a:lvl5pPr marL="1024128" algn="l" defTabSz="512064" rtl="0" eaLnBrk="1" latinLnBrk="0" hangingPunct="1">
              <a:defRPr sz="1008" kern="1200">
                <a:solidFill>
                  <a:schemeClr val="tx1"/>
                </a:solidFill>
                <a:latin typeface="+mn-lt"/>
                <a:ea typeface="+mn-ea"/>
                <a:cs typeface="+mn-cs"/>
              </a:defRPr>
            </a:lvl5pPr>
            <a:lvl6pPr marL="1280160" algn="l" defTabSz="512064" rtl="0" eaLnBrk="1" latinLnBrk="0" hangingPunct="1">
              <a:defRPr sz="1008" kern="1200">
                <a:solidFill>
                  <a:schemeClr val="tx1"/>
                </a:solidFill>
                <a:latin typeface="+mn-lt"/>
                <a:ea typeface="+mn-ea"/>
                <a:cs typeface="+mn-cs"/>
              </a:defRPr>
            </a:lvl6pPr>
            <a:lvl7pPr marL="1536192" algn="l" defTabSz="512064" rtl="0" eaLnBrk="1" latinLnBrk="0" hangingPunct="1">
              <a:defRPr sz="1008" kern="1200">
                <a:solidFill>
                  <a:schemeClr val="tx1"/>
                </a:solidFill>
                <a:latin typeface="+mn-lt"/>
                <a:ea typeface="+mn-ea"/>
                <a:cs typeface="+mn-cs"/>
              </a:defRPr>
            </a:lvl7pPr>
            <a:lvl8pPr marL="1792224" algn="l" defTabSz="512064" rtl="0" eaLnBrk="1" latinLnBrk="0" hangingPunct="1">
              <a:defRPr sz="1008" kern="1200">
                <a:solidFill>
                  <a:schemeClr val="tx1"/>
                </a:solidFill>
                <a:latin typeface="+mn-lt"/>
                <a:ea typeface="+mn-ea"/>
                <a:cs typeface="+mn-cs"/>
              </a:defRPr>
            </a:lvl8pPr>
            <a:lvl9pPr marL="2048256" algn="l" defTabSz="512064" rtl="0" eaLnBrk="1" latinLnBrk="0" hangingPunct="1">
              <a:defRPr sz="1008" kern="1200">
                <a:solidFill>
                  <a:schemeClr val="tx1"/>
                </a:solidFill>
                <a:latin typeface="+mn-lt"/>
                <a:ea typeface="+mn-ea"/>
                <a:cs typeface="+mn-cs"/>
              </a:defRPr>
            </a:lvl9pPr>
          </a:lstStyle>
          <a:p>
            <a:pPr algn="l">
              <a:lnSpc>
                <a:spcPts val="2399"/>
              </a:lnSpc>
            </a:pPr>
            <a:r>
              <a:rPr lang="en-US" sz="1400" spc="76">
                <a:solidFill>
                  <a:srgbClr val="FFFFFF"/>
                </a:solidFill>
                <a:latin typeface="Arial MT Pro"/>
                <a:ea typeface="Arial MT Pro"/>
                <a:cs typeface="Arial MT Pro"/>
                <a:sym typeface="Arial MT Pro"/>
              </a:rPr>
              <a:t>MSRP </a:t>
            </a:r>
          </a:p>
        </p:txBody>
      </p:sp>
      <p:sp>
        <p:nvSpPr>
          <p:cNvPr id="29" name="TextBox 29"/>
          <p:cNvSpPr txBox="1"/>
          <p:nvPr/>
        </p:nvSpPr>
        <p:spPr>
          <a:xfrm>
            <a:off x="1020067" y="3960757"/>
            <a:ext cx="483799" cy="280013"/>
          </a:xfrm>
          <a:prstGeom prst="rect">
            <a:avLst/>
          </a:prstGeom>
        </p:spPr>
        <p:txBody>
          <a:bodyPr wrap="square" lIns="0" tIns="0" rIns="0" bIns="0" rtlCol="0" anchor="t">
            <a:spAutoFit/>
          </a:bodyPr>
          <a:lstStyle>
            <a:defPPr>
              <a:defRPr lang="en-US"/>
            </a:defPPr>
            <a:lvl1pPr marL="0" algn="l" defTabSz="512064" rtl="0" eaLnBrk="1" latinLnBrk="0" hangingPunct="1">
              <a:defRPr sz="1008" kern="1200">
                <a:solidFill>
                  <a:schemeClr val="tx1"/>
                </a:solidFill>
                <a:latin typeface="+mn-lt"/>
                <a:ea typeface="+mn-ea"/>
                <a:cs typeface="+mn-cs"/>
              </a:defRPr>
            </a:lvl1pPr>
            <a:lvl2pPr marL="256032" algn="l" defTabSz="512064" rtl="0" eaLnBrk="1" latinLnBrk="0" hangingPunct="1">
              <a:defRPr sz="1008" kern="1200">
                <a:solidFill>
                  <a:schemeClr val="tx1"/>
                </a:solidFill>
                <a:latin typeface="+mn-lt"/>
                <a:ea typeface="+mn-ea"/>
                <a:cs typeface="+mn-cs"/>
              </a:defRPr>
            </a:lvl2pPr>
            <a:lvl3pPr marL="512064" algn="l" defTabSz="512064" rtl="0" eaLnBrk="1" latinLnBrk="0" hangingPunct="1">
              <a:defRPr sz="1008" kern="1200">
                <a:solidFill>
                  <a:schemeClr val="tx1"/>
                </a:solidFill>
                <a:latin typeface="+mn-lt"/>
                <a:ea typeface="+mn-ea"/>
                <a:cs typeface="+mn-cs"/>
              </a:defRPr>
            </a:lvl3pPr>
            <a:lvl4pPr marL="768096" algn="l" defTabSz="512064" rtl="0" eaLnBrk="1" latinLnBrk="0" hangingPunct="1">
              <a:defRPr sz="1008" kern="1200">
                <a:solidFill>
                  <a:schemeClr val="tx1"/>
                </a:solidFill>
                <a:latin typeface="+mn-lt"/>
                <a:ea typeface="+mn-ea"/>
                <a:cs typeface="+mn-cs"/>
              </a:defRPr>
            </a:lvl4pPr>
            <a:lvl5pPr marL="1024128" algn="l" defTabSz="512064" rtl="0" eaLnBrk="1" latinLnBrk="0" hangingPunct="1">
              <a:defRPr sz="1008" kern="1200">
                <a:solidFill>
                  <a:schemeClr val="tx1"/>
                </a:solidFill>
                <a:latin typeface="+mn-lt"/>
                <a:ea typeface="+mn-ea"/>
                <a:cs typeface="+mn-cs"/>
              </a:defRPr>
            </a:lvl5pPr>
            <a:lvl6pPr marL="1280160" algn="l" defTabSz="512064" rtl="0" eaLnBrk="1" latinLnBrk="0" hangingPunct="1">
              <a:defRPr sz="1008" kern="1200">
                <a:solidFill>
                  <a:schemeClr val="tx1"/>
                </a:solidFill>
                <a:latin typeface="+mn-lt"/>
                <a:ea typeface="+mn-ea"/>
                <a:cs typeface="+mn-cs"/>
              </a:defRPr>
            </a:lvl6pPr>
            <a:lvl7pPr marL="1536192" algn="l" defTabSz="512064" rtl="0" eaLnBrk="1" latinLnBrk="0" hangingPunct="1">
              <a:defRPr sz="1008" kern="1200">
                <a:solidFill>
                  <a:schemeClr val="tx1"/>
                </a:solidFill>
                <a:latin typeface="+mn-lt"/>
                <a:ea typeface="+mn-ea"/>
                <a:cs typeface="+mn-cs"/>
              </a:defRPr>
            </a:lvl7pPr>
            <a:lvl8pPr marL="1792224" algn="l" defTabSz="512064" rtl="0" eaLnBrk="1" latinLnBrk="0" hangingPunct="1">
              <a:defRPr sz="1008" kern="1200">
                <a:solidFill>
                  <a:schemeClr val="tx1"/>
                </a:solidFill>
                <a:latin typeface="+mn-lt"/>
                <a:ea typeface="+mn-ea"/>
                <a:cs typeface="+mn-cs"/>
              </a:defRPr>
            </a:lvl8pPr>
            <a:lvl9pPr marL="2048256" algn="l" defTabSz="512064" rtl="0" eaLnBrk="1" latinLnBrk="0" hangingPunct="1">
              <a:defRPr sz="1008" kern="1200">
                <a:solidFill>
                  <a:schemeClr val="tx1"/>
                </a:solidFill>
                <a:latin typeface="+mn-lt"/>
                <a:ea typeface="+mn-ea"/>
                <a:cs typeface="+mn-cs"/>
              </a:defRPr>
            </a:lvl9pPr>
          </a:lstStyle>
          <a:p>
            <a:pPr algn="l">
              <a:lnSpc>
                <a:spcPts val="2399"/>
              </a:lnSpc>
            </a:pPr>
            <a:r>
              <a:rPr lang="en-US" sz="1400" spc="60">
                <a:solidFill>
                  <a:srgbClr val="FFFFFF"/>
                </a:solidFill>
                <a:latin typeface="Arial MT Pro"/>
                <a:ea typeface="Arial MT Pro"/>
                <a:cs typeface="Arial MT Pro"/>
                <a:sym typeface="Arial MT Pro"/>
              </a:rPr>
              <a:t>Year </a:t>
            </a:r>
          </a:p>
        </p:txBody>
      </p:sp>
      <p:sp>
        <p:nvSpPr>
          <p:cNvPr id="30" name="TextBox 30"/>
          <p:cNvSpPr txBox="1"/>
          <p:nvPr/>
        </p:nvSpPr>
        <p:spPr>
          <a:xfrm>
            <a:off x="792971" y="4329661"/>
            <a:ext cx="1076406" cy="280013"/>
          </a:xfrm>
          <a:prstGeom prst="rect">
            <a:avLst/>
          </a:prstGeom>
        </p:spPr>
        <p:txBody>
          <a:bodyPr wrap="square" lIns="0" tIns="0" rIns="0" bIns="0" rtlCol="0" anchor="t">
            <a:spAutoFit/>
          </a:bodyPr>
          <a:lstStyle>
            <a:defPPr>
              <a:defRPr lang="en-US"/>
            </a:defPPr>
            <a:lvl1pPr marL="0" algn="l" defTabSz="512064" rtl="0" eaLnBrk="1" latinLnBrk="0" hangingPunct="1">
              <a:defRPr sz="1008" kern="1200">
                <a:solidFill>
                  <a:schemeClr val="tx1"/>
                </a:solidFill>
                <a:latin typeface="+mn-lt"/>
                <a:ea typeface="+mn-ea"/>
                <a:cs typeface="+mn-cs"/>
              </a:defRPr>
            </a:lvl1pPr>
            <a:lvl2pPr marL="256032" algn="l" defTabSz="512064" rtl="0" eaLnBrk="1" latinLnBrk="0" hangingPunct="1">
              <a:defRPr sz="1008" kern="1200">
                <a:solidFill>
                  <a:schemeClr val="tx1"/>
                </a:solidFill>
                <a:latin typeface="+mn-lt"/>
                <a:ea typeface="+mn-ea"/>
                <a:cs typeface="+mn-cs"/>
              </a:defRPr>
            </a:lvl2pPr>
            <a:lvl3pPr marL="512064" algn="l" defTabSz="512064" rtl="0" eaLnBrk="1" latinLnBrk="0" hangingPunct="1">
              <a:defRPr sz="1008" kern="1200">
                <a:solidFill>
                  <a:schemeClr val="tx1"/>
                </a:solidFill>
                <a:latin typeface="+mn-lt"/>
                <a:ea typeface="+mn-ea"/>
                <a:cs typeface="+mn-cs"/>
              </a:defRPr>
            </a:lvl3pPr>
            <a:lvl4pPr marL="768096" algn="l" defTabSz="512064" rtl="0" eaLnBrk="1" latinLnBrk="0" hangingPunct="1">
              <a:defRPr sz="1008" kern="1200">
                <a:solidFill>
                  <a:schemeClr val="tx1"/>
                </a:solidFill>
                <a:latin typeface="+mn-lt"/>
                <a:ea typeface="+mn-ea"/>
                <a:cs typeface="+mn-cs"/>
              </a:defRPr>
            </a:lvl4pPr>
            <a:lvl5pPr marL="1024128" algn="l" defTabSz="512064" rtl="0" eaLnBrk="1" latinLnBrk="0" hangingPunct="1">
              <a:defRPr sz="1008" kern="1200">
                <a:solidFill>
                  <a:schemeClr val="tx1"/>
                </a:solidFill>
                <a:latin typeface="+mn-lt"/>
                <a:ea typeface="+mn-ea"/>
                <a:cs typeface="+mn-cs"/>
              </a:defRPr>
            </a:lvl5pPr>
            <a:lvl6pPr marL="1280160" algn="l" defTabSz="512064" rtl="0" eaLnBrk="1" latinLnBrk="0" hangingPunct="1">
              <a:defRPr sz="1008" kern="1200">
                <a:solidFill>
                  <a:schemeClr val="tx1"/>
                </a:solidFill>
                <a:latin typeface="+mn-lt"/>
                <a:ea typeface="+mn-ea"/>
                <a:cs typeface="+mn-cs"/>
              </a:defRPr>
            </a:lvl6pPr>
            <a:lvl7pPr marL="1536192" algn="l" defTabSz="512064" rtl="0" eaLnBrk="1" latinLnBrk="0" hangingPunct="1">
              <a:defRPr sz="1008" kern="1200">
                <a:solidFill>
                  <a:schemeClr val="tx1"/>
                </a:solidFill>
                <a:latin typeface="+mn-lt"/>
                <a:ea typeface="+mn-ea"/>
                <a:cs typeface="+mn-cs"/>
              </a:defRPr>
            </a:lvl7pPr>
            <a:lvl8pPr marL="1792224" algn="l" defTabSz="512064" rtl="0" eaLnBrk="1" latinLnBrk="0" hangingPunct="1">
              <a:defRPr sz="1008" kern="1200">
                <a:solidFill>
                  <a:schemeClr val="tx1"/>
                </a:solidFill>
                <a:latin typeface="+mn-lt"/>
                <a:ea typeface="+mn-ea"/>
                <a:cs typeface="+mn-cs"/>
              </a:defRPr>
            </a:lvl8pPr>
            <a:lvl9pPr marL="2048256" algn="l" defTabSz="512064" rtl="0" eaLnBrk="1" latinLnBrk="0" hangingPunct="1">
              <a:defRPr sz="1008" kern="1200">
                <a:solidFill>
                  <a:schemeClr val="tx1"/>
                </a:solidFill>
                <a:latin typeface="+mn-lt"/>
                <a:ea typeface="+mn-ea"/>
                <a:cs typeface="+mn-cs"/>
              </a:defRPr>
            </a:lvl9pPr>
          </a:lstStyle>
          <a:p>
            <a:pPr algn="l">
              <a:lnSpc>
                <a:spcPts val="2399"/>
              </a:lnSpc>
            </a:pPr>
            <a:r>
              <a:rPr lang="en-US" sz="1400" spc="84" dirty="0">
                <a:solidFill>
                  <a:srgbClr val="FFFFFF"/>
                </a:solidFill>
                <a:latin typeface="Arial MT Pro"/>
                <a:sym typeface="Arial MT Pro"/>
              </a:rPr>
              <a:t>Horsepower</a:t>
            </a:r>
            <a:endParaRPr lang="en-US" dirty="0"/>
          </a:p>
        </p:txBody>
      </p:sp>
      <p:sp>
        <p:nvSpPr>
          <p:cNvPr id="34" name="TextBox 34"/>
          <p:cNvSpPr txBox="1"/>
          <p:nvPr/>
        </p:nvSpPr>
        <p:spPr>
          <a:xfrm>
            <a:off x="852504" y="4718385"/>
            <a:ext cx="1011783" cy="251159"/>
          </a:xfrm>
          <a:prstGeom prst="rect">
            <a:avLst/>
          </a:prstGeom>
        </p:spPr>
        <p:txBody>
          <a:bodyPr wrap="square" lIns="0" tIns="0" rIns="0" bIns="0" rtlCol="0" anchor="t">
            <a:spAutoFit/>
          </a:bodyPr>
          <a:lstStyle>
            <a:defPPr>
              <a:defRPr lang="en-US"/>
            </a:defPPr>
            <a:lvl1pPr marL="0" algn="l" defTabSz="512064" rtl="0" eaLnBrk="1" latinLnBrk="0" hangingPunct="1">
              <a:defRPr sz="1008" kern="1200">
                <a:solidFill>
                  <a:schemeClr val="tx1"/>
                </a:solidFill>
                <a:latin typeface="+mn-lt"/>
                <a:ea typeface="+mn-ea"/>
                <a:cs typeface="+mn-cs"/>
              </a:defRPr>
            </a:lvl1pPr>
            <a:lvl2pPr marL="256032" algn="l" defTabSz="512064" rtl="0" eaLnBrk="1" latinLnBrk="0" hangingPunct="1">
              <a:defRPr sz="1008" kern="1200">
                <a:solidFill>
                  <a:schemeClr val="tx1"/>
                </a:solidFill>
                <a:latin typeface="+mn-lt"/>
                <a:ea typeface="+mn-ea"/>
                <a:cs typeface="+mn-cs"/>
              </a:defRPr>
            </a:lvl2pPr>
            <a:lvl3pPr marL="512064" algn="l" defTabSz="512064" rtl="0" eaLnBrk="1" latinLnBrk="0" hangingPunct="1">
              <a:defRPr sz="1008" kern="1200">
                <a:solidFill>
                  <a:schemeClr val="tx1"/>
                </a:solidFill>
                <a:latin typeface="+mn-lt"/>
                <a:ea typeface="+mn-ea"/>
                <a:cs typeface="+mn-cs"/>
              </a:defRPr>
            </a:lvl3pPr>
            <a:lvl4pPr marL="768096" algn="l" defTabSz="512064" rtl="0" eaLnBrk="1" latinLnBrk="0" hangingPunct="1">
              <a:defRPr sz="1008" kern="1200">
                <a:solidFill>
                  <a:schemeClr val="tx1"/>
                </a:solidFill>
                <a:latin typeface="+mn-lt"/>
                <a:ea typeface="+mn-ea"/>
                <a:cs typeface="+mn-cs"/>
              </a:defRPr>
            </a:lvl4pPr>
            <a:lvl5pPr marL="1024128" algn="l" defTabSz="512064" rtl="0" eaLnBrk="1" latinLnBrk="0" hangingPunct="1">
              <a:defRPr sz="1008" kern="1200">
                <a:solidFill>
                  <a:schemeClr val="tx1"/>
                </a:solidFill>
                <a:latin typeface="+mn-lt"/>
                <a:ea typeface="+mn-ea"/>
                <a:cs typeface="+mn-cs"/>
              </a:defRPr>
            </a:lvl5pPr>
            <a:lvl6pPr marL="1280160" algn="l" defTabSz="512064" rtl="0" eaLnBrk="1" latinLnBrk="0" hangingPunct="1">
              <a:defRPr sz="1008" kern="1200">
                <a:solidFill>
                  <a:schemeClr val="tx1"/>
                </a:solidFill>
                <a:latin typeface="+mn-lt"/>
                <a:ea typeface="+mn-ea"/>
                <a:cs typeface="+mn-cs"/>
              </a:defRPr>
            </a:lvl6pPr>
            <a:lvl7pPr marL="1536192" algn="l" defTabSz="512064" rtl="0" eaLnBrk="1" latinLnBrk="0" hangingPunct="1">
              <a:defRPr sz="1008" kern="1200">
                <a:solidFill>
                  <a:schemeClr val="tx1"/>
                </a:solidFill>
                <a:latin typeface="+mn-lt"/>
                <a:ea typeface="+mn-ea"/>
                <a:cs typeface="+mn-cs"/>
              </a:defRPr>
            </a:lvl7pPr>
            <a:lvl8pPr marL="1792224" algn="l" defTabSz="512064" rtl="0" eaLnBrk="1" latinLnBrk="0" hangingPunct="1">
              <a:defRPr sz="1008" kern="1200">
                <a:solidFill>
                  <a:schemeClr val="tx1"/>
                </a:solidFill>
                <a:latin typeface="+mn-lt"/>
                <a:ea typeface="+mn-ea"/>
                <a:cs typeface="+mn-cs"/>
              </a:defRPr>
            </a:lvl8pPr>
            <a:lvl9pPr marL="2048256" algn="l" defTabSz="512064" rtl="0" eaLnBrk="1" latinLnBrk="0" hangingPunct="1">
              <a:defRPr sz="1008" kern="1200">
                <a:solidFill>
                  <a:schemeClr val="tx1"/>
                </a:solidFill>
                <a:latin typeface="+mn-lt"/>
                <a:ea typeface="+mn-ea"/>
                <a:cs typeface="+mn-cs"/>
              </a:defRPr>
            </a:lvl9pPr>
          </a:lstStyle>
          <a:p>
            <a:pPr>
              <a:lnSpc>
                <a:spcPts val="2100"/>
              </a:lnSpc>
            </a:pPr>
            <a:r>
              <a:rPr lang="en-US" sz="1400" spc="32" dirty="0">
                <a:solidFill>
                  <a:srgbClr val="FFFFFF"/>
                </a:solidFill>
                <a:latin typeface="Arial MT Pro"/>
                <a:ea typeface="Arial MT Pro"/>
                <a:cs typeface="Arial MT Pro"/>
                <a:sym typeface="Arial MT Pro"/>
              </a:rPr>
              <a:t>City MPG </a:t>
            </a:r>
          </a:p>
        </p:txBody>
      </p:sp>
      <p:sp>
        <p:nvSpPr>
          <p:cNvPr id="40" name="TextBox 40"/>
          <p:cNvSpPr txBox="1"/>
          <p:nvPr/>
        </p:nvSpPr>
        <p:spPr>
          <a:xfrm>
            <a:off x="2343956" y="2668524"/>
            <a:ext cx="908968" cy="385811"/>
          </a:xfrm>
          <a:prstGeom prst="rect">
            <a:avLst/>
          </a:prstGeom>
        </p:spPr>
        <p:txBody>
          <a:bodyPr wrap="square" lIns="0" tIns="0" rIns="0" bIns="0" rtlCol="0" anchor="t">
            <a:spAutoFit/>
          </a:bodyPr>
          <a:lstStyle>
            <a:defPPr>
              <a:defRPr lang="en-US"/>
            </a:defPPr>
            <a:lvl1pPr marL="0" algn="l" defTabSz="512064" rtl="0" eaLnBrk="1" latinLnBrk="0" hangingPunct="1">
              <a:defRPr sz="1008" kern="1200">
                <a:solidFill>
                  <a:schemeClr val="tx1"/>
                </a:solidFill>
                <a:latin typeface="+mn-lt"/>
                <a:ea typeface="+mn-ea"/>
                <a:cs typeface="+mn-cs"/>
              </a:defRPr>
            </a:lvl1pPr>
            <a:lvl2pPr marL="256032" algn="l" defTabSz="512064" rtl="0" eaLnBrk="1" latinLnBrk="0" hangingPunct="1">
              <a:defRPr sz="1008" kern="1200">
                <a:solidFill>
                  <a:schemeClr val="tx1"/>
                </a:solidFill>
                <a:latin typeface="+mn-lt"/>
                <a:ea typeface="+mn-ea"/>
                <a:cs typeface="+mn-cs"/>
              </a:defRPr>
            </a:lvl2pPr>
            <a:lvl3pPr marL="512064" algn="l" defTabSz="512064" rtl="0" eaLnBrk="1" latinLnBrk="0" hangingPunct="1">
              <a:defRPr sz="1008" kern="1200">
                <a:solidFill>
                  <a:schemeClr val="tx1"/>
                </a:solidFill>
                <a:latin typeface="+mn-lt"/>
                <a:ea typeface="+mn-ea"/>
                <a:cs typeface="+mn-cs"/>
              </a:defRPr>
            </a:lvl3pPr>
            <a:lvl4pPr marL="768096" algn="l" defTabSz="512064" rtl="0" eaLnBrk="1" latinLnBrk="0" hangingPunct="1">
              <a:defRPr sz="1008" kern="1200">
                <a:solidFill>
                  <a:schemeClr val="tx1"/>
                </a:solidFill>
                <a:latin typeface="+mn-lt"/>
                <a:ea typeface="+mn-ea"/>
                <a:cs typeface="+mn-cs"/>
              </a:defRPr>
            </a:lvl4pPr>
            <a:lvl5pPr marL="1024128" algn="l" defTabSz="512064" rtl="0" eaLnBrk="1" latinLnBrk="0" hangingPunct="1">
              <a:defRPr sz="1008" kern="1200">
                <a:solidFill>
                  <a:schemeClr val="tx1"/>
                </a:solidFill>
                <a:latin typeface="+mn-lt"/>
                <a:ea typeface="+mn-ea"/>
                <a:cs typeface="+mn-cs"/>
              </a:defRPr>
            </a:lvl5pPr>
            <a:lvl6pPr marL="1280160" algn="l" defTabSz="512064" rtl="0" eaLnBrk="1" latinLnBrk="0" hangingPunct="1">
              <a:defRPr sz="1008" kern="1200">
                <a:solidFill>
                  <a:schemeClr val="tx1"/>
                </a:solidFill>
                <a:latin typeface="+mn-lt"/>
                <a:ea typeface="+mn-ea"/>
                <a:cs typeface="+mn-cs"/>
              </a:defRPr>
            </a:lvl6pPr>
            <a:lvl7pPr marL="1536192" algn="l" defTabSz="512064" rtl="0" eaLnBrk="1" latinLnBrk="0" hangingPunct="1">
              <a:defRPr sz="1008" kern="1200">
                <a:solidFill>
                  <a:schemeClr val="tx1"/>
                </a:solidFill>
                <a:latin typeface="+mn-lt"/>
                <a:ea typeface="+mn-ea"/>
                <a:cs typeface="+mn-cs"/>
              </a:defRPr>
            </a:lvl7pPr>
            <a:lvl8pPr marL="1792224" algn="l" defTabSz="512064" rtl="0" eaLnBrk="1" latinLnBrk="0" hangingPunct="1">
              <a:defRPr sz="1008" kern="1200">
                <a:solidFill>
                  <a:schemeClr val="tx1"/>
                </a:solidFill>
                <a:latin typeface="+mn-lt"/>
                <a:ea typeface="+mn-ea"/>
                <a:cs typeface="+mn-cs"/>
              </a:defRPr>
            </a:lvl8pPr>
            <a:lvl9pPr marL="2048256" algn="l" defTabSz="512064" rtl="0" eaLnBrk="1" latinLnBrk="0" hangingPunct="1">
              <a:defRPr sz="1008" kern="1200">
                <a:solidFill>
                  <a:schemeClr val="tx1"/>
                </a:solidFill>
                <a:latin typeface="+mn-lt"/>
                <a:ea typeface="+mn-ea"/>
                <a:cs typeface="+mn-cs"/>
              </a:defRPr>
            </a:lvl9pPr>
          </a:lstStyle>
          <a:p>
            <a:pPr algn="l">
              <a:lnSpc>
                <a:spcPts val="3499"/>
              </a:lnSpc>
            </a:pPr>
            <a:r>
              <a:rPr lang="en-US" sz="1400" spc="140">
                <a:solidFill>
                  <a:srgbClr val="FFFFFF"/>
                </a:solidFill>
                <a:latin typeface="Arial MT Pro"/>
                <a:ea typeface="Arial MT Pro"/>
                <a:cs typeface="Arial MT Pro"/>
                <a:sym typeface="Arial MT Pro"/>
              </a:rPr>
              <a:t>Min</a:t>
            </a:r>
          </a:p>
        </p:txBody>
      </p:sp>
      <p:sp>
        <p:nvSpPr>
          <p:cNvPr id="51" name="TextBox 51"/>
          <p:cNvSpPr txBox="1"/>
          <p:nvPr/>
        </p:nvSpPr>
        <p:spPr>
          <a:xfrm>
            <a:off x="3879400" y="2664216"/>
            <a:ext cx="617258" cy="385811"/>
          </a:xfrm>
          <a:prstGeom prst="rect">
            <a:avLst/>
          </a:prstGeom>
        </p:spPr>
        <p:txBody>
          <a:bodyPr wrap="square" lIns="0" tIns="0" rIns="0" bIns="0" rtlCol="0" anchor="t">
            <a:spAutoFit/>
          </a:bodyPr>
          <a:lstStyle>
            <a:defPPr>
              <a:defRPr lang="en-US"/>
            </a:defPPr>
            <a:lvl1pPr marL="0" algn="l" defTabSz="512064" rtl="0" eaLnBrk="1" latinLnBrk="0" hangingPunct="1">
              <a:defRPr sz="1008" kern="1200">
                <a:solidFill>
                  <a:schemeClr val="tx1"/>
                </a:solidFill>
                <a:latin typeface="+mn-lt"/>
                <a:ea typeface="+mn-ea"/>
                <a:cs typeface="+mn-cs"/>
              </a:defRPr>
            </a:lvl1pPr>
            <a:lvl2pPr marL="256032" algn="l" defTabSz="512064" rtl="0" eaLnBrk="1" latinLnBrk="0" hangingPunct="1">
              <a:defRPr sz="1008" kern="1200">
                <a:solidFill>
                  <a:schemeClr val="tx1"/>
                </a:solidFill>
                <a:latin typeface="+mn-lt"/>
                <a:ea typeface="+mn-ea"/>
                <a:cs typeface="+mn-cs"/>
              </a:defRPr>
            </a:lvl2pPr>
            <a:lvl3pPr marL="512064" algn="l" defTabSz="512064" rtl="0" eaLnBrk="1" latinLnBrk="0" hangingPunct="1">
              <a:defRPr sz="1008" kern="1200">
                <a:solidFill>
                  <a:schemeClr val="tx1"/>
                </a:solidFill>
                <a:latin typeface="+mn-lt"/>
                <a:ea typeface="+mn-ea"/>
                <a:cs typeface="+mn-cs"/>
              </a:defRPr>
            </a:lvl3pPr>
            <a:lvl4pPr marL="768096" algn="l" defTabSz="512064" rtl="0" eaLnBrk="1" latinLnBrk="0" hangingPunct="1">
              <a:defRPr sz="1008" kern="1200">
                <a:solidFill>
                  <a:schemeClr val="tx1"/>
                </a:solidFill>
                <a:latin typeface="+mn-lt"/>
                <a:ea typeface="+mn-ea"/>
                <a:cs typeface="+mn-cs"/>
              </a:defRPr>
            </a:lvl4pPr>
            <a:lvl5pPr marL="1024128" algn="l" defTabSz="512064" rtl="0" eaLnBrk="1" latinLnBrk="0" hangingPunct="1">
              <a:defRPr sz="1008" kern="1200">
                <a:solidFill>
                  <a:schemeClr val="tx1"/>
                </a:solidFill>
                <a:latin typeface="+mn-lt"/>
                <a:ea typeface="+mn-ea"/>
                <a:cs typeface="+mn-cs"/>
              </a:defRPr>
            </a:lvl5pPr>
            <a:lvl6pPr marL="1280160" algn="l" defTabSz="512064" rtl="0" eaLnBrk="1" latinLnBrk="0" hangingPunct="1">
              <a:defRPr sz="1008" kern="1200">
                <a:solidFill>
                  <a:schemeClr val="tx1"/>
                </a:solidFill>
                <a:latin typeface="+mn-lt"/>
                <a:ea typeface="+mn-ea"/>
                <a:cs typeface="+mn-cs"/>
              </a:defRPr>
            </a:lvl6pPr>
            <a:lvl7pPr marL="1536192" algn="l" defTabSz="512064" rtl="0" eaLnBrk="1" latinLnBrk="0" hangingPunct="1">
              <a:defRPr sz="1008" kern="1200">
                <a:solidFill>
                  <a:schemeClr val="tx1"/>
                </a:solidFill>
                <a:latin typeface="+mn-lt"/>
                <a:ea typeface="+mn-ea"/>
                <a:cs typeface="+mn-cs"/>
              </a:defRPr>
            </a:lvl7pPr>
            <a:lvl8pPr marL="1792224" algn="l" defTabSz="512064" rtl="0" eaLnBrk="1" latinLnBrk="0" hangingPunct="1">
              <a:defRPr sz="1008" kern="1200">
                <a:solidFill>
                  <a:schemeClr val="tx1"/>
                </a:solidFill>
                <a:latin typeface="+mn-lt"/>
                <a:ea typeface="+mn-ea"/>
                <a:cs typeface="+mn-cs"/>
              </a:defRPr>
            </a:lvl8pPr>
            <a:lvl9pPr marL="2048256" algn="l" defTabSz="512064" rtl="0" eaLnBrk="1" latinLnBrk="0" hangingPunct="1">
              <a:defRPr sz="1008" kern="1200">
                <a:solidFill>
                  <a:schemeClr val="tx1"/>
                </a:solidFill>
                <a:latin typeface="+mn-lt"/>
                <a:ea typeface="+mn-ea"/>
                <a:cs typeface="+mn-cs"/>
              </a:defRPr>
            </a:lvl9pPr>
          </a:lstStyle>
          <a:p>
            <a:pPr algn="l">
              <a:lnSpc>
                <a:spcPts val="3499"/>
              </a:lnSpc>
            </a:pPr>
            <a:r>
              <a:rPr lang="en-US" sz="1400" spc="35">
                <a:solidFill>
                  <a:srgbClr val="FFFFFF"/>
                </a:solidFill>
                <a:latin typeface="Arial MT Pro"/>
                <a:ea typeface="Arial MT Pro"/>
                <a:cs typeface="Arial MT Pro"/>
                <a:sym typeface="Arial MT Pro"/>
              </a:rPr>
              <a:t>Median</a:t>
            </a:r>
          </a:p>
        </p:txBody>
      </p:sp>
      <p:sp>
        <p:nvSpPr>
          <p:cNvPr id="58" name="TextBox 58"/>
          <p:cNvSpPr txBox="1"/>
          <p:nvPr/>
        </p:nvSpPr>
        <p:spPr>
          <a:xfrm>
            <a:off x="5798638" y="2815255"/>
            <a:ext cx="241902" cy="241541"/>
          </a:xfrm>
          <a:prstGeom prst="rect">
            <a:avLst/>
          </a:prstGeom>
        </p:spPr>
        <p:txBody>
          <a:bodyPr wrap="square" lIns="0" tIns="0" rIns="0" bIns="0" rtlCol="0" anchor="t">
            <a:spAutoFit/>
          </a:bodyPr>
          <a:lstStyle>
            <a:defPPr>
              <a:defRPr lang="en-US"/>
            </a:defPPr>
            <a:lvl1pPr marL="0" algn="l" defTabSz="512064" rtl="0" eaLnBrk="1" latinLnBrk="0" hangingPunct="1">
              <a:defRPr sz="1008" kern="1200">
                <a:solidFill>
                  <a:schemeClr val="tx1"/>
                </a:solidFill>
                <a:latin typeface="+mn-lt"/>
                <a:ea typeface="+mn-ea"/>
                <a:cs typeface="+mn-cs"/>
              </a:defRPr>
            </a:lvl1pPr>
            <a:lvl2pPr marL="256032" algn="l" defTabSz="512064" rtl="0" eaLnBrk="1" latinLnBrk="0" hangingPunct="1">
              <a:defRPr sz="1008" kern="1200">
                <a:solidFill>
                  <a:schemeClr val="tx1"/>
                </a:solidFill>
                <a:latin typeface="+mn-lt"/>
                <a:ea typeface="+mn-ea"/>
                <a:cs typeface="+mn-cs"/>
              </a:defRPr>
            </a:lvl2pPr>
            <a:lvl3pPr marL="512064" algn="l" defTabSz="512064" rtl="0" eaLnBrk="1" latinLnBrk="0" hangingPunct="1">
              <a:defRPr sz="1008" kern="1200">
                <a:solidFill>
                  <a:schemeClr val="tx1"/>
                </a:solidFill>
                <a:latin typeface="+mn-lt"/>
                <a:ea typeface="+mn-ea"/>
                <a:cs typeface="+mn-cs"/>
              </a:defRPr>
            </a:lvl3pPr>
            <a:lvl4pPr marL="768096" algn="l" defTabSz="512064" rtl="0" eaLnBrk="1" latinLnBrk="0" hangingPunct="1">
              <a:defRPr sz="1008" kern="1200">
                <a:solidFill>
                  <a:schemeClr val="tx1"/>
                </a:solidFill>
                <a:latin typeface="+mn-lt"/>
                <a:ea typeface="+mn-ea"/>
                <a:cs typeface="+mn-cs"/>
              </a:defRPr>
            </a:lvl4pPr>
            <a:lvl5pPr marL="1024128" algn="l" defTabSz="512064" rtl="0" eaLnBrk="1" latinLnBrk="0" hangingPunct="1">
              <a:defRPr sz="1008" kern="1200">
                <a:solidFill>
                  <a:schemeClr val="tx1"/>
                </a:solidFill>
                <a:latin typeface="+mn-lt"/>
                <a:ea typeface="+mn-ea"/>
                <a:cs typeface="+mn-cs"/>
              </a:defRPr>
            </a:lvl5pPr>
            <a:lvl6pPr marL="1280160" algn="l" defTabSz="512064" rtl="0" eaLnBrk="1" latinLnBrk="0" hangingPunct="1">
              <a:defRPr sz="1008" kern="1200">
                <a:solidFill>
                  <a:schemeClr val="tx1"/>
                </a:solidFill>
                <a:latin typeface="+mn-lt"/>
                <a:ea typeface="+mn-ea"/>
                <a:cs typeface="+mn-cs"/>
              </a:defRPr>
            </a:lvl6pPr>
            <a:lvl7pPr marL="1536192" algn="l" defTabSz="512064" rtl="0" eaLnBrk="1" latinLnBrk="0" hangingPunct="1">
              <a:defRPr sz="1008" kern="1200">
                <a:solidFill>
                  <a:schemeClr val="tx1"/>
                </a:solidFill>
                <a:latin typeface="+mn-lt"/>
                <a:ea typeface="+mn-ea"/>
                <a:cs typeface="+mn-cs"/>
              </a:defRPr>
            </a:lvl7pPr>
            <a:lvl8pPr marL="1792224" algn="l" defTabSz="512064" rtl="0" eaLnBrk="1" latinLnBrk="0" hangingPunct="1">
              <a:defRPr sz="1008" kern="1200">
                <a:solidFill>
                  <a:schemeClr val="tx1"/>
                </a:solidFill>
                <a:latin typeface="+mn-lt"/>
                <a:ea typeface="+mn-ea"/>
                <a:cs typeface="+mn-cs"/>
              </a:defRPr>
            </a:lvl8pPr>
            <a:lvl9pPr marL="2048256" algn="l" defTabSz="512064" rtl="0" eaLnBrk="1" latinLnBrk="0" hangingPunct="1">
              <a:defRPr sz="1008" kern="1200">
                <a:solidFill>
                  <a:schemeClr val="tx1"/>
                </a:solidFill>
                <a:latin typeface="+mn-lt"/>
                <a:ea typeface="+mn-ea"/>
                <a:cs typeface="+mn-cs"/>
              </a:defRPr>
            </a:lvl9pPr>
          </a:lstStyle>
          <a:p>
            <a:pPr algn="l">
              <a:lnSpc>
                <a:spcPts val="1960"/>
              </a:lnSpc>
            </a:pPr>
            <a:r>
              <a:rPr lang="en-US" sz="1400">
                <a:solidFill>
                  <a:srgbClr val="FFFFFF"/>
                </a:solidFill>
                <a:latin typeface="Arial MT Pro"/>
                <a:ea typeface="Arial MT Pro"/>
                <a:cs typeface="Arial MT Pro"/>
                <a:sym typeface="Arial MT Pro"/>
              </a:rPr>
              <a:t>Q3</a:t>
            </a:r>
          </a:p>
        </p:txBody>
      </p:sp>
      <p:sp>
        <p:nvSpPr>
          <p:cNvPr id="63" name="TextBox 63"/>
          <p:cNvSpPr txBox="1"/>
          <p:nvPr/>
        </p:nvSpPr>
        <p:spPr>
          <a:xfrm>
            <a:off x="6629269" y="2819341"/>
            <a:ext cx="353783" cy="241541"/>
          </a:xfrm>
          <a:prstGeom prst="rect">
            <a:avLst/>
          </a:prstGeom>
        </p:spPr>
        <p:txBody>
          <a:bodyPr wrap="square" lIns="0" tIns="0" rIns="0" bIns="0" rtlCol="0" anchor="t">
            <a:spAutoFit/>
          </a:bodyPr>
          <a:lstStyle>
            <a:defPPr>
              <a:defRPr lang="en-US"/>
            </a:defPPr>
            <a:lvl1pPr marL="0" algn="l" defTabSz="512064" rtl="0" eaLnBrk="1" latinLnBrk="0" hangingPunct="1">
              <a:defRPr sz="1008" kern="1200">
                <a:solidFill>
                  <a:schemeClr val="tx1"/>
                </a:solidFill>
                <a:latin typeface="+mn-lt"/>
                <a:ea typeface="+mn-ea"/>
                <a:cs typeface="+mn-cs"/>
              </a:defRPr>
            </a:lvl1pPr>
            <a:lvl2pPr marL="256032" algn="l" defTabSz="512064" rtl="0" eaLnBrk="1" latinLnBrk="0" hangingPunct="1">
              <a:defRPr sz="1008" kern="1200">
                <a:solidFill>
                  <a:schemeClr val="tx1"/>
                </a:solidFill>
                <a:latin typeface="+mn-lt"/>
                <a:ea typeface="+mn-ea"/>
                <a:cs typeface="+mn-cs"/>
              </a:defRPr>
            </a:lvl2pPr>
            <a:lvl3pPr marL="512064" algn="l" defTabSz="512064" rtl="0" eaLnBrk="1" latinLnBrk="0" hangingPunct="1">
              <a:defRPr sz="1008" kern="1200">
                <a:solidFill>
                  <a:schemeClr val="tx1"/>
                </a:solidFill>
                <a:latin typeface="+mn-lt"/>
                <a:ea typeface="+mn-ea"/>
                <a:cs typeface="+mn-cs"/>
              </a:defRPr>
            </a:lvl3pPr>
            <a:lvl4pPr marL="768096" algn="l" defTabSz="512064" rtl="0" eaLnBrk="1" latinLnBrk="0" hangingPunct="1">
              <a:defRPr sz="1008" kern="1200">
                <a:solidFill>
                  <a:schemeClr val="tx1"/>
                </a:solidFill>
                <a:latin typeface="+mn-lt"/>
                <a:ea typeface="+mn-ea"/>
                <a:cs typeface="+mn-cs"/>
              </a:defRPr>
            </a:lvl4pPr>
            <a:lvl5pPr marL="1024128" algn="l" defTabSz="512064" rtl="0" eaLnBrk="1" latinLnBrk="0" hangingPunct="1">
              <a:defRPr sz="1008" kern="1200">
                <a:solidFill>
                  <a:schemeClr val="tx1"/>
                </a:solidFill>
                <a:latin typeface="+mn-lt"/>
                <a:ea typeface="+mn-ea"/>
                <a:cs typeface="+mn-cs"/>
              </a:defRPr>
            </a:lvl5pPr>
            <a:lvl6pPr marL="1280160" algn="l" defTabSz="512064" rtl="0" eaLnBrk="1" latinLnBrk="0" hangingPunct="1">
              <a:defRPr sz="1008" kern="1200">
                <a:solidFill>
                  <a:schemeClr val="tx1"/>
                </a:solidFill>
                <a:latin typeface="+mn-lt"/>
                <a:ea typeface="+mn-ea"/>
                <a:cs typeface="+mn-cs"/>
              </a:defRPr>
            </a:lvl6pPr>
            <a:lvl7pPr marL="1536192" algn="l" defTabSz="512064" rtl="0" eaLnBrk="1" latinLnBrk="0" hangingPunct="1">
              <a:defRPr sz="1008" kern="1200">
                <a:solidFill>
                  <a:schemeClr val="tx1"/>
                </a:solidFill>
                <a:latin typeface="+mn-lt"/>
                <a:ea typeface="+mn-ea"/>
                <a:cs typeface="+mn-cs"/>
              </a:defRPr>
            </a:lvl7pPr>
            <a:lvl8pPr marL="1792224" algn="l" defTabSz="512064" rtl="0" eaLnBrk="1" latinLnBrk="0" hangingPunct="1">
              <a:defRPr sz="1008" kern="1200">
                <a:solidFill>
                  <a:schemeClr val="tx1"/>
                </a:solidFill>
                <a:latin typeface="+mn-lt"/>
                <a:ea typeface="+mn-ea"/>
                <a:cs typeface="+mn-cs"/>
              </a:defRPr>
            </a:lvl8pPr>
            <a:lvl9pPr marL="2048256" algn="l" defTabSz="512064" rtl="0" eaLnBrk="1" latinLnBrk="0" hangingPunct="1">
              <a:defRPr sz="1008" kern="1200">
                <a:solidFill>
                  <a:schemeClr val="tx1"/>
                </a:solidFill>
                <a:latin typeface="+mn-lt"/>
                <a:ea typeface="+mn-ea"/>
                <a:cs typeface="+mn-cs"/>
              </a:defRPr>
            </a:lvl9pPr>
          </a:lstStyle>
          <a:p>
            <a:pPr algn="l">
              <a:lnSpc>
                <a:spcPts val="1960"/>
              </a:lnSpc>
            </a:pPr>
            <a:r>
              <a:rPr lang="en-US" sz="1400" spc="43">
                <a:solidFill>
                  <a:srgbClr val="FFFFFF"/>
                </a:solidFill>
                <a:latin typeface="Arial MT Pro"/>
                <a:ea typeface="Arial MT Pro"/>
                <a:cs typeface="Arial MT Pro"/>
                <a:sym typeface="Arial MT Pro"/>
              </a:rPr>
              <a:t>Max</a:t>
            </a:r>
          </a:p>
        </p:txBody>
      </p:sp>
      <p:sp>
        <p:nvSpPr>
          <p:cNvPr id="69" name="TextBox 69"/>
          <p:cNvSpPr txBox="1"/>
          <p:nvPr/>
        </p:nvSpPr>
        <p:spPr>
          <a:xfrm rot="21525960">
            <a:off x="3265209" y="2814414"/>
            <a:ext cx="241902" cy="241541"/>
          </a:xfrm>
          <a:prstGeom prst="rect">
            <a:avLst/>
          </a:prstGeom>
        </p:spPr>
        <p:txBody>
          <a:bodyPr wrap="square" lIns="0" tIns="0" rIns="0" bIns="0" rtlCol="0" anchor="t">
            <a:spAutoFit/>
          </a:bodyPr>
          <a:lstStyle>
            <a:defPPr>
              <a:defRPr lang="en-US"/>
            </a:defPPr>
            <a:lvl1pPr marL="0" algn="l" defTabSz="512064" rtl="0" eaLnBrk="1" latinLnBrk="0" hangingPunct="1">
              <a:defRPr sz="1008" kern="1200">
                <a:solidFill>
                  <a:schemeClr val="tx1"/>
                </a:solidFill>
                <a:latin typeface="+mn-lt"/>
                <a:ea typeface="+mn-ea"/>
                <a:cs typeface="+mn-cs"/>
              </a:defRPr>
            </a:lvl1pPr>
            <a:lvl2pPr marL="256032" algn="l" defTabSz="512064" rtl="0" eaLnBrk="1" latinLnBrk="0" hangingPunct="1">
              <a:defRPr sz="1008" kern="1200">
                <a:solidFill>
                  <a:schemeClr val="tx1"/>
                </a:solidFill>
                <a:latin typeface="+mn-lt"/>
                <a:ea typeface="+mn-ea"/>
                <a:cs typeface="+mn-cs"/>
              </a:defRPr>
            </a:lvl2pPr>
            <a:lvl3pPr marL="512064" algn="l" defTabSz="512064" rtl="0" eaLnBrk="1" latinLnBrk="0" hangingPunct="1">
              <a:defRPr sz="1008" kern="1200">
                <a:solidFill>
                  <a:schemeClr val="tx1"/>
                </a:solidFill>
                <a:latin typeface="+mn-lt"/>
                <a:ea typeface="+mn-ea"/>
                <a:cs typeface="+mn-cs"/>
              </a:defRPr>
            </a:lvl3pPr>
            <a:lvl4pPr marL="768096" algn="l" defTabSz="512064" rtl="0" eaLnBrk="1" latinLnBrk="0" hangingPunct="1">
              <a:defRPr sz="1008" kern="1200">
                <a:solidFill>
                  <a:schemeClr val="tx1"/>
                </a:solidFill>
                <a:latin typeface="+mn-lt"/>
                <a:ea typeface="+mn-ea"/>
                <a:cs typeface="+mn-cs"/>
              </a:defRPr>
            </a:lvl4pPr>
            <a:lvl5pPr marL="1024128" algn="l" defTabSz="512064" rtl="0" eaLnBrk="1" latinLnBrk="0" hangingPunct="1">
              <a:defRPr sz="1008" kern="1200">
                <a:solidFill>
                  <a:schemeClr val="tx1"/>
                </a:solidFill>
                <a:latin typeface="+mn-lt"/>
                <a:ea typeface="+mn-ea"/>
                <a:cs typeface="+mn-cs"/>
              </a:defRPr>
            </a:lvl5pPr>
            <a:lvl6pPr marL="1280160" algn="l" defTabSz="512064" rtl="0" eaLnBrk="1" latinLnBrk="0" hangingPunct="1">
              <a:defRPr sz="1008" kern="1200">
                <a:solidFill>
                  <a:schemeClr val="tx1"/>
                </a:solidFill>
                <a:latin typeface="+mn-lt"/>
                <a:ea typeface="+mn-ea"/>
                <a:cs typeface="+mn-cs"/>
              </a:defRPr>
            </a:lvl6pPr>
            <a:lvl7pPr marL="1536192" algn="l" defTabSz="512064" rtl="0" eaLnBrk="1" latinLnBrk="0" hangingPunct="1">
              <a:defRPr sz="1008" kern="1200">
                <a:solidFill>
                  <a:schemeClr val="tx1"/>
                </a:solidFill>
                <a:latin typeface="+mn-lt"/>
                <a:ea typeface="+mn-ea"/>
                <a:cs typeface="+mn-cs"/>
              </a:defRPr>
            </a:lvl7pPr>
            <a:lvl8pPr marL="1792224" algn="l" defTabSz="512064" rtl="0" eaLnBrk="1" latinLnBrk="0" hangingPunct="1">
              <a:defRPr sz="1008" kern="1200">
                <a:solidFill>
                  <a:schemeClr val="tx1"/>
                </a:solidFill>
                <a:latin typeface="+mn-lt"/>
                <a:ea typeface="+mn-ea"/>
                <a:cs typeface="+mn-cs"/>
              </a:defRPr>
            </a:lvl8pPr>
            <a:lvl9pPr marL="2048256" algn="l" defTabSz="512064" rtl="0" eaLnBrk="1" latinLnBrk="0" hangingPunct="1">
              <a:defRPr sz="1008" kern="1200">
                <a:solidFill>
                  <a:schemeClr val="tx1"/>
                </a:solidFill>
                <a:latin typeface="+mn-lt"/>
                <a:ea typeface="+mn-ea"/>
                <a:cs typeface="+mn-cs"/>
              </a:defRPr>
            </a:lvl9pPr>
          </a:lstStyle>
          <a:p>
            <a:pPr algn="l">
              <a:lnSpc>
                <a:spcPts val="1960"/>
              </a:lnSpc>
            </a:pPr>
            <a:r>
              <a:rPr lang="en-US" sz="1400">
                <a:solidFill>
                  <a:srgbClr val="FFFFFF"/>
                </a:solidFill>
                <a:latin typeface="Arial MT Pro"/>
                <a:ea typeface="Arial MT Pro"/>
                <a:cs typeface="Arial MT Pro"/>
                <a:sym typeface="Arial MT Pro"/>
              </a:rPr>
              <a:t>Q1</a:t>
            </a:r>
          </a:p>
        </p:txBody>
      </p:sp>
      <p:graphicFrame>
        <p:nvGraphicFramePr>
          <p:cNvPr id="16" name="Table 15">
            <a:extLst>
              <a:ext uri="{FF2B5EF4-FFF2-40B4-BE49-F238E27FC236}">
                <a16:creationId xmlns:a16="http://schemas.microsoft.com/office/drawing/2014/main" id="{49AF680C-07B6-8B9B-2B37-1A159A8A5A7F}"/>
              </a:ext>
            </a:extLst>
          </p:cNvPr>
          <p:cNvGraphicFramePr>
            <a:graphicFrameLocks noGrp="1"/>
          </p:cNvGraphicFramePr>
          <p:nvPr>
            <p:extLst>
              <p:ext uri="{D42A27DB-BD31-4B8C-83A1-F6EECF244321}">
                <p14:modId xmlns:p14="http://schemas.microsoft.com/office/powerpoint/2010/main" val="4009272412"/>
              </p:ext>
            </p:extLst>
          </p:nvPr>
        </p:nvGraphicFramePr>
        <p:xfrm>
          <a:off x="2138680" y="3307733"/>
          <a:ext cx="5655900" cy="1731560"/>
        </p:xfrm>
        <a:graphic>
          <a:graphicData uri="http://schemas.openxmlformats.org/drawingml/2006/table">
            <a:tbl>
              <a:tblPr firstRow="1" bandRow="1">
                <a:tableStyleId>{5C22544A-7EE6-4342-B048-85BDC9FD1C3A}</a:tableStyleId>
              </a:tblPr>
              <a:tblGrid>
                <a:gridCol w="942650">
                  <a:extLst>
                    <a:ext uri="{9D8B030D-6E8A-4147-A177-3AD203B41FA5}">
                      <a16:colId xmlns:a16="http://schemas.microsoft.com/office/drawing/2014/main" val="232282237"/>
                    </a:ext>
                  </a:extLst>
                </a:gridCol>
                <a:gridCol w="942650">
                  <a:extLst>
                    <a:ext uri="{9D8B030D-6E8A-4147-A177-3AD203B41FA5}">
                      <a16:colId xmlns:a16="http://schemas.microsoft.com/office/drawing/2014/main" val="2927499736"/>
                    </a:ext>
                  </a:extLst>
                </a:gridCol>
                <a:gridCol w="942650">
                  <a:extLst>
                    <a:ext uri="{9D8B030D-6E8A-4147-A177-3AD203B41FA5}">
                      <a16:colId xmlns:a16="http://schemas.microsoft.com/office/drawing/2014/main" val="721165787"/>
                    </a:ext>
                  </a:extLst>
                </a:gridCol>
                <a:gridCol w="942650">
                  <a:extLst>
                    <a:ext uri="{9D8B030D-6E8A-4147-A177-3AD203B41FA5}">
                      <a16:colId xmlns:a16="http://schemas.microsoft.com/office/drawing/2014/main" val="2303786480"/>
                    </a:ext>
                  </a:extLst>
                </a:gridCol>
                <a:gridCol w="942650">
                  <a:extLst>
                    <a:ext uri="{9D8B030D-6E8A-4147-A177-3AD203B41FA5}">
                      <a16:colId xmlns:a16="http://schemas.microsoft.com/office/drawing/2014/main" val="3188265886"/>
                    </a:ext>
                  </a:extLst>
                </a:gridCol>
                <a:gridCol w="942650">
                  <a:extLst>
                    <a:ext uri="{9D8B030D-6E8A-4147-A177-3AD203B41FA5}">
                      <a16:colId xmlns:a16="http://schemas.microsoft.com/office/drawing/2014/main" val="3340834359"/>
                    </a:ext>
                  </a:extLst>
                </a:gridCol>
              </a:tblGrid>
              <a:tr h="432890">
                <a:tc>
                  <a:txBody>
                    <a:bodyPr/>
                    <a:lstStyle/>
                    <a:p>
                      <a:r>
                        <a:rPr lang="en-US" sz="1400" dirty="0"/>
                        <a:t>2000</a:t>
                      </a:r>
                    </a:p>
                  </a:txBody>
                  <a:tcPr/>
                </a:tc>
                <a:tc>
                  <a:txBody>
                    <a:bodyPr/>
                    <a:lstStyle/>
                    <a:p>
                      <a:r>
                        <a:rPr lang="en-US" sz="1400" dirty="0"/>
                        <a:t>20990</a:t>
                      </a:r>
                    </a:p>
                  </a:txBody>
                  <a:tcPr/>
                </a:tc>
                <a:tc>
                  <a:txBody>
                    <a:bodyPr/>
                    <a:lstStyle/>
                    <a:p>
                      <a:r>
                        <a:rPr lang="en-US" sz="1400" dirty="0"/>
                        <a:t>29960</a:t>
                      </a:r>
                    </a:p>
                  </a:txBody>
                  <a:tcPr/>
                </a:tc>
                <a:tc>
                  <a:txBody>
                    <a:bodyPr/>
                    <a:lstStyle/>
                    <a:p>
                      <a:r>
                        <a:rPr lang="en-US" sz="1400" dirty="0"/>
                        <a:t>40556</a:t>
                      </a:r>
                    </a:p>
                  </a:txBody>
                  <a:tcPr/>
                </a:tc>
                <a:tc>
                  <a:txBody>
                    <a:bodyPr/>
                    <a:lstStyle/>
                    <a:p>
                      <a:r>
                        <a:rPr lang="en-US" sz="1400" dirty="0"/>
                        <a:t>42200</a:t>
                      </a:r>
                    </a:p>
                  </a:txBody>
                  <a:tcPr/>
                </a:tc>
                <a:tc>
                  <a:txBody>
                    <a:bodyPr/>
                    <a:lstStyle/>
                    <a:p>
                      <a:r>
                        <a:rPr lang="en-US" sz="1400" dirty="0"/>
                        <a:t>2065902</a:t>
                      </a:r>
                    </a:p>
                  </a:txBody>
                  <a:tcPr/>
                </a:tc>
                <a:extLst>
                  <a:ext uri="{0D108BD9-81ED-4DB2-BD59-A6C34878D82A}">
                    <a16:rowId xmlns:a16="http://schemas.microsoft.com/office/drawing/2014/main" val="732391986"/>
                  </a:ext>
                </a:extLst>
              </a:tr>
              <a:tr h="432890">
                <a:tc>
                  <a:txBody>
                    <a:bodyPr/>
                    <a:lstStyle/>
                    <a:p>
                      <a:r>
                        <a:rPr lang="en-US" sz="1400" dirty="0"/>
                        <a:t>1990</a:t>
                      </a:r>
                    </a:p>
                  </a:txBody>
                  <a:tcPr/>
                </a:tc>
                <a:tc>
                  <a:txBody>
                    <a:bodyPr/>
                    <a:lstStyle/>
                    <a:p>
                      <a:r>
                        <a:rPr lang="en-US" sz="1400" dirty="0"/>
                        <a:t>2007</a:t>
                      </a:r>
                    </a:p>
                  </a:txBody>
                  <a:tcPr/>
                </a:tc>
                <a:tc>
                  <a:txBody>
                    <a:bodyPr/>
                    <a:lstStyle/>
                    <a:p>
                      <a:r>
                        <a:rPr lang="en-US" sz="1400" dirty="0"/>
                        <a:t>2015</a:t>
                      </a:r>
                    </a:p>
                  </a:txBody>
                  <a:tcPr/>
                </a:tc>
                <a:tc>
                  <a:txBody>
                    <a:bodyPr/>
                    <a:lstStyle/>
                    <a:p>
                      <a:r>
                        <a:rPr lang="en-US" sz="1400" dirty="0"/>
                        <a:t>2010</a:t>
                      </a:r>
                    </a:p>
                  </a:txBody>
                  <a:tcPr/>
                </a:tc>
                <a:tc>
                  <a:txBody>
                    <a:bodyPr/>
                    <a:lstStyle/>
                    <a:p>
                      <a:r>
                        <a:rPr lang="en-US" sz="1400" dirty="0"/>
                        <a:t>2016</a:t>
                      </a:r>
                    </a:p>
                  </a:txBody>
                  <a:tcPr/>
                </a:tc>
                <a:tc>
                  <a:txBody>
                    <a:bodyPr/>
                    <a:lstStyle/>
                    <a:p>
                      <a:r>
                        <a:rPr lang="en-US" sz="1400" dirty="0"/>
                        <a:t>2017</a:t>
                      </a:r>
                    </a:p>
                  </a:txBody>
                  <a:tcPr/>
                </a:tc>
                <a:extLst>
                  <a:ext uri="{0D108BD9-81ED-4DB2-BD59-A6C34878D82A}">
                    <a16:rowId xmlns:a16="http://schemas.microsoft.com/office/drawing/2014/main" val="2205320886"/>
                  </a:ext>
                </a:extLst>
              </a:tr>
              <a:tr h="432890">
                <a:tc>
                  <a:txBody>
                    <a:bodyPr/>
                    <a:lstStyle/>
                    <a:p>
                      <a:r>
                        <a:rPr lang="en-US" sz="1400" dirty="0"/>
                        <a:t>55</a:t>
                      </a:r>
                    </a:p>
                  </a:txBody>
                  <a:tcPr/>
                </a:tc>
                <a:tc>
                  <a:txBody>
                    <a:bodyPr/>
                    <a:lstStyle/>
                    <a:p>
                      <a:r>
                        <a:rPr lang="en-US" sz="1400" dirty="0"/>
                        <a:t>170</a:t>
                      </a:r>
                    </a:p>
                  </a:txBody>
                  <a:tcPr/>
                </a:tc>
                <a:tc>
                  <a:txBody>
                    <a:bodyPr/>
                    <a:lstStyle/>
                    <a:p>
                      <a:r>
                        <a:rPr lang="en-US" sz="1400" dirty="0"/>
                        <a:t>227</a:t>
                      </a:r>
                    </a:p>
                  </a:txBody>
                  <a:tcPr/>
                </a:tc>
                <a:tc>
                  <a:txBody>
                    <a:bodyPr/>
                    <a:lstStyle/>
                    <a:p>
                      <a:r>
                        <a:rPr lang="en-US" sz="1400" dirty="0"/>
                        <a:t>249</a:t>
                      </a:r>
                    </a:p>
                  </a:txBody>
                  <a:tcPr/>
                </a:tc>
                <a:tc>
                  <a:txBody>
                    <a:bodyPr/>
                    <a:lstStyle/>
                    <a:p>
                      <a:r>
                        <a:rPr lang="en-US" sz="1400" dirty="0"/>
                        <a:t>300</a:t>
                      </a:r>
                    </a:p>
                  </a:txBody>
                  <a:tcPr/>
                </a:tc>
                <a:tc>
                  <a:txBody>
                    <a:bodyPr/>
                    <a:lstStyle/>
                    <a:p>
                      <a:r>
                        <a:rPr lang="en-US" sz="1400" dirty="0"/>
                        <a:t>1001</a:t>
                      </a:r>
                    </a:p>
                  </a:txBody>
                  <a:tcPr/>
                </a:tc>
                <a:extLst>
                  <a:ext uri="{0D108BD9-81ED-4DB2-BD59-A6C34878D82A}">
                    <a16:rowId xmlns:a16="http://schemas.microsoft.com/office/drawing/2014/main" val="1901170348"/>
                  </a:ext>
                </a:extLst>
              </a:tr>
              <a:tr h="432890">
                <a:tc>
                  <a:txBody>
                    <a:bodyPr/>
                    <a:lstStyle/>
                    <a:p>
                      <a:r>
                        <a:rPr lang="en-US" sz="1400" dirty="0"/>
                        <a:t>7</a:t>
                      </a:r>
                    </a:p>
                  </a:txBody>
                  <a:tcPr/>
                </a:tc>
                <a:tc>
                  <a:txBody>
                    <a:bodyPr/>
                    <a:lstStyle/>
                    <a:p>
                      <a:r>
                        <a:rPr lang="en-US" sz="1400" dirty="0"/>
                        <a:t>16</a:t>
                      </a:r>
                    </a:p>
                  </a:txBody>
                  <a:tcPr/>
                </a:tc>
                <a:tc>
                  <a:txBody>
                    <a:bodyPr/>
                    <a:lstStyle/>
                    <a:p>
                      <a:r>
                        <a:rPr lang="en-US" sz="1400" dirty="0"/>
                        <a:t>18</a:t>
                      </a:r>
                    </a:p>
                  </a:txBody>
                  <a:tcPr/>
                </a:tc>
                <a:tc>
                  <a:txBody>
                    <a:bodyPr/>
                    <a:lstStyle/>
                    <a:p>
                      <a:r>
                        <a:rPr lang="en-US" sz="1400" dirty="0"/>
                        <a:t>19.33</a:t>
                      </a:r>
                    </a:p>
                  </a:txBody>
                  <a:tcPr/>
                </a:tc>
                <a:tc>
                  <a:txBody>
                    <a:bodyPr/>
                    <a:lstStyle/>
                    <a:p>
                      <a:r>
                        <a:rPr lang="en-US" sz="1400" dirty="0"/>
                        <a:t>22</a:t>
                      </a:r>
                    </a:p>
                  </a:txBody>
                  <a:tcPr/>
                </a:tc>
                <a:tc>
                  <a:txBody>
                    <a:bodyPr/>
                    <a:lstStyle/>
                    <a:p>
                      <a:r>
                        <a:rPr lang="en-US" sz="1400" dirty="0"/>
                        <a:t>137</a:t>
                      </a:r>
                    </a:p>
                  </a:txBody>
                  <a:tcPr/>
                </a:tc>
                <a:extLst>
                  <a:ext uri="{0D108BD9-81ED-4DB2-BD59-A6C34878D82A}">
                    <a16:rowId xmlns:a16="http://schemas.microsoft.com/office/drawing/2014/main" val="588289002"/>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90909"/>
        </a:solidFill>
        <a:effectLst/>
      </p:bgPr>
    </p:bg>
    <p:spTree>
      <p:nvGrpSpPr>
        <p:cNvPr id="1" name="">
          <a:extLst>
            <a:ext uri="{FF2B5EF4-FFF2-40B4-BE49-F238E27FC236}">
              <a16:creationId xmlns:a16="http://schemas.microsoft.com/office/drawing/2014/main" id="{1D1583F4-21B8-0D3C-CF35-E7C17E077E9F}"/>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57A905DD-EF14-8DDA-6DDA-FE8B0195AE1F}"/>
              </a:ext>
            </a:extLst>
          </p:cNvPr>
          <p:cNvGrpSpPr>
            <a:grpSpLocks noChangeAspect="1"/>
          </p:cNvGrpSpPr>
          <p:nvPr/>
        </p:nvGrpSpPr>
        <p:grpSpPr>
          <a:xfrm>
            <a:off x="-177370" y="3585309"/>
            <a:ext cx="2946907" cy="2573274"/>
            <a:chOff x="0" y="0"/>
            <a:chExt cx="5893816" cy="5146548"/>
          </a:xfrm>
        </p:grpSpPr>
        <p:sp>
          <p:nvSpPr>
            <p:cNvPr id="3" name="Freeform 3">
              <a:extLst>
                <a:ext uri="{FF2B5EF4-FFF2-40B4-BE49-F238E27FC236}">
                  <a16:creationId xmlns:a16="http://schemas.microsoft.com/office/drawing/2014/main" id="{05128BF1-BF7A-5DD1-C6A7-E2DAD4E0D70D}"/>
                </a:ext>
              </a:extLst>
            </p:cNvPr>
            <p:cNvSpPr/>
            <p:nvPr/>
          </p:nvSpPr>
          <p:spPr>
            <a:xfrm>
              <a:off x="3048" y="0"/>
              <a:ext cx="5890768" cy="5143500"/>
            </a:xfrm>
            <a:custGeom>
              <a:avLst/>
              <a:gdLst/>
              <a:ahLst/>
              <a:cxnLst/>
              <a:rect l="l" t="t" r="r" b="b"/>
              <a:pathLst>
                <a:path w="5890768" h="5143500">
                  <a:moveTo>
                    <a:pt x="2197735" y="0"/>
                  </a:moveTo>
                  <a:lnTo>
                    <a:pt x="0" y="4314952"/>
                  </a:lnTo>
                  <a:lnTo>
                    <a:pt x="0" y="5143500"/>
                  </a:lnTo>
                  <a:lnTo>
                    <a:pt x="3273298" y="5143500"/>
                  </a:lnTo>
                  <a:lnTo>
                    <a:pt x="5890768" y="4445"/>
                  </a:lnTo>
                  <a:lnTo>
                    <a:pt x="5890768" y="0"/>
                  </a:lnTo>
                  <a:close/>
                </a:path>
              </a:pathLst>
            </a:custGeom>
            <a:solidFill>
              <a:srgbClr val="FF1D25">
                <a:alpha val="35686"/>
              </a:srgbClr>
            </a:solidFill>
          </p:spPr>
        </p:sp>
      </p:grpSp>
      <p:sp>
        <p:nvSpPr>
          <p:cNvPr id="4" name="Freeform 4">
            <a:extLst>
              <a:ext uri="{FF2B5EF4-FFF2-40B4-BE49-F238E27FC236}">
                <a16:creationId xmlns:a16="http://schemas.microsoft.com/office/drawing/2014/main" id="{3DAA652F-4298-E8DC-93DF-B6783560853E}"/>
              </a:ext>
            </a:extLst>
          </p:cNvPr>
          <p:cNvSpPr/>
          <p:nvPr/>
        </p:nvSpPr>
        <p:spPr>
          <a:xfrm>
            <a:off x="514350" y="1267125"/>
            <a:ext cx="280021" cy="208931"/>
          </a:xfrm>
          <a:custGeom>
            <a:avLst/>
            <a:gdLst/>
            <a:ahLst/>
            <a:cxnLst/>
            <a:rect l="l" t="t" r="r" b="b"/>
            <a:pathLst>
              <a:path w="560041" h="417862">
                <a:moveTo>
                  <a:pt x="0" y="0"/>
                </a:moveTo>
                <a:lnTo>
                  <a:pt x="560041" y="0"/>
                </a:lnTo>
                <a:lnTo>
                  <a:pt x="560041" y="417862"/>
                </a:lnTo>
                <a:lnTo>
                  <a:pt x="0" y="417862"/>
                </a:lnTo>
                <a:lnTo>
                  <a:pt x="0" y="0"/>
                </a:lnTo>
                <a:close/>
              </a:path>
            </a:pathLst>
          </a:custGeom>
          <a:blipFill>
            <a:blip r:embed="rId2">
              <a:alphaModFix amt="36000"/>
              <a:extLst>
                <a:ext uri="{96DAC541-7B7A-43D3-8B79-37D633B846F1}">
                  <asvg:svgBlip xmlns:asvg="http://schemas.microsoft.com/office/drawing/2016/SVG/main" r:embed="rId3"/>
                </a:ext>
              </a:extLst>
            </a:blip>
            <a:stretch>
              <a:fillRect/>
            </a:stretch>
          </a:blipFill>
        </p:spPr>
      </p:sp>
      <p:grpSp>
        <p:nvGrpSpPr>
          <p:cNvPr id="5" name="Group 5">
            <a:extLst>
              <a:ext uri="{FF2B5EF4-FFF2-40B4-BE49-F238E27FC236}">
                <a16:creationId xmlns:a16="http://schemas.microsoft.com/office/drawing/2014/main" id="{104B8F0D-2156-5D3F-E68E-1D86420EB804}"/>
              </a:ext>
            </a:extLst>
          </p:cNvPr>
          <p:cNvGrpSpPr>
            <a:grpSpLocks noChangeAspect="1"/>
          </p:cNvGrpSpPr>
          <p:nvPr/>
        </p:nvGrpSpPr>
        <p:grpSpPr>
          <a:xfrm>
            <a:off x="7853139" y="5507393"/>
            <a:ext cx="1099871" cy="196892"/>
            <a:chOff x="0" y="0"/>
            <a:chExt cx="2199742" cy="393789"/>
          </a:xfrm>
        </p:grpSpPr>
        <p:sp>
          <p:nvSpPr>
            <p:cNvPr id="6" name="Freeform 6">
              <a:extLst>
                <a:ext uri="{FF2B5EF4-FFF2-40B4-BE49-F238E27FC236}">
                  <a16:creationId xmlns:a16="http://schemas.microsoft.com/office/drawing/2014/main" id="{7E9CAF5B-742F-FF5E-527E-D2D942868CDC}"/>
                </a:ext>
              </a:extLst>
            </p:cNvPr>
            <p:cNvSpPr/>
            <p:nvPr/>
          </p:nvSpPr>
          <p:spPr>
            <a:xfrm>
              <a:off x="1050290" y="63500"/>
              <a:ext cx="299212" cy="266827"/>
            </a:xfrm>
            <a:custGeom>
              <a:avLst/>
              <a:gdLst/>
              <a:ahLst/>
              <a:cxnLst/>
              <a:rect l="l" t="t" r="r" b="b"/>
              <a:pathLst>
                <a:path w="299212" h="266827">
                  <a:moveTo>
                    <a:pt x="183769" y="0"/>
                  </a:moveTo>
                  <a:lnTo>
                    <a:pt x="0" y="266827"/>
                  </a:lnTo>
                  <a:lnTo>
                    <a:pt x="0" y="266827"/>
                  </a:lnTo>
                  <a:lnTo>
                    <a:pt x="115316" y="266827"/>
                  </a:lnTo>
                  <a:lnTo>
                    <a:pt x="299212" y="0"/>
                  </a:lnTo>
                  <a:close/>
                </a:path>
              </a:pathLst>
            </a:custGeom>
            <a:solidFill>
              <a:srgbClr val="FF1D25">
                <a:alpha val="35686"/>
              </a:srgbClr>
            </a:solidFill>
          </p:spPr>
        </p:sp>
        <p:sp>
          <p:nvSpPr>
            <p:cNvPr id="7" name="Freeform 7">
              <a:extLst>
                <a:ext uri="{FF2B5EF4-FFF2-40B4-BE49-F238E27FC236}">
                  <a16:creationId xmlns:a16="http://schemas.microsoft.com/office/drawing/2014/main" id="{9314C009-8B52-362A-2C3D-14550FD1A159}"/>
                </a:ext>
              </a:extLst>
            </p:cNvPr>
            <p:cNvSpPr/>
            <p:nvPr/>
          </p:nvSpPr>
          <p:spPr>
            <a:xfrm>
              <a:off x="1247013" y="63500"/>
              <a:ext cx="299212" cy="266827"/>
            </a:xfrm>
            <a:custGeom>
              <a:avLst/>
              <a:gdLst/>
              <a:ahLst/>
              <a:cxnLst/>
              <a:rect l="l" t="t" r="r" b="b"/>
              <a:pathLst>
                <a:path w="299212" h="266827">
                  <a:moveTo>
                    <a:pt x="115316" y="266827"/>
                  </a:moveTo>
                  <a:lnTo>
                    <a:pt x="0" y="266827"/>
                  </a:lnTo>
                  <a:lnTo>
                    <a:pt x="183769" y="0"/>
                  </a:lnTo>
                  <a:lnTo>
                    <a:pt x="299212" y="0"/>
                  </a:lnTo>
                  <a:lnTo>
                    <a:pt x="115316" y="266827"/>
                  </a:lnTo>
                  <a:close/>
                </a:path>
              </a:pathLst>
            </a:custGeom>
            <a:solidFill>
              <a:srgbClr val="FF1D25">
                <a:alpha val="35686"/>
              </a:srgbClr>
            </a:solidFill>
          </p:spPr>
        </p:sp>
        <p:sp>
          <p:nvSpPr>
            <p:cNvPr id="8" name="Freeform 8">
              <a:extLst>
                <a:ext uri="{FF2B5EF4-FFF2-40B4-BE49-F238E27FC236}">
                  <a16:creationId xmlns:a16="http://schemas.microsoft.com/office/drawing/2014/main" id="{415AFD78-C089-0E4D-8738-2A50D66A0D27}"/>
                </a:ext>
              </a:extLst>
            </p:cNvPr>
            <p:cNvSpPr/>
            <p:nvPr/>
          </p:nvSpPr>
          <p:spPr>
            <a:xfrm>
              <a:off x="1443609" y="63500"/>
              <a:ext cx="299339" cy="266827"/>
            </a:xfrm>
            <a:custGeom>
              <a:avLst/>
              <a:gdLst/>
              <a:ahLst/>
              <a:cxnLst/>
              <a:rect l="l" t="t" r="r" b="b"/>
              <a:pathLst>
                <a:path w="299339" h="266827">
                  <a:moveTo>
                    <a:pt x="115443" y="266827"/>
                  </a:moveTo>
                  <a:lnTo>
                    <a:pt x="0" y="266827"/>
                  </a:lnTo>
                  <a:lnTo>
                    <a:pt x="183896" y="0"/>
                  </a:lnTo>
                  <a:lnTo>
                    <a:pt x="299339" y="0"/>
                  </a:lnTo>
                  <a:lnTo>
                    <a:pt x="115443" y="266827"/>
                  </a:lnTo>
                  <a:close/>
                </a:path>
              </a:pathLst>
            </a:custGeom>
            <a:solidFill>
              <a:srgbClr val="FF1D25">
                <a:alpha val="35686"/>
              </a:srgbClr>
            </a:solidFill>
          </p:spPr>
        </p:sp>
        <p:sp>
          <p:nvSpPr>
            <p:cNvPr id="9" name="Freeform 9">
              <a:extLst>
                <a:ext uri="{FF2B5EF4-FFF2-40B4-BE49-F238E27FC236}">
                  <a16:creationId xmlns:a16="http://schemas.microsoft.com/office/drawing/2014/main" id="{041D92D0-1690-843B-55C1-6B54C9140CAD}"/>
                </a:ext>
              </a:extLst>
            </p:cNvPr>
            <p:cNvSpPr/>
            <p:nvPr/>
          </p:nvSpPr>
          <p:spPr>
            <a:xfrm>
              <a:off x="1640332" y="63500"/>
              <a:ext cx="299339" cy="266827"/>
            </a:xfrm>
            <a:custGeom>
              <a:avLst/>
              <a:gdLst/>
              <a:ahLst/>
              <a:cxnLst/>
              <a:rect l="l" t="t" r="r" b="b"/>
              <a:pathLst>
                <a:path w="299339" h="266827">
                  <a:moveTo>
                    <a:pt x="115443" y="266827"/>
                  </a:moveTo>
                  <a:lnTo>
                    <a:pt x="0" y="266827"/>
                  </a:lnTo>
                  <a:lnTo>
                    <a:pt x="183896" y="0"/>
                  </a:lnTo>
                  <a:lnTo>
                    <a:pt x="299339" y="0"/>
                  </a:lnTo>
                  <a:lnTo>
                    <a:pt x="115443" y="266827"/>
                  </a:lnTo>
                  <a:close/>
                </a:path>
              </a:pathLst>
            </a:custGeom>
            <a:solidFill>
              <a:srgbClr val="FF1D25">
                <a:alpha val="35686"/>
              </a:srgbClr>
            </a:solidFill>
          </p:spPr>
        </p:sp>
        <p:sp>
          <p:nvSpPr>
            <p:cNvPr id="10" name="Freeform 10">
              <a:extLst>
                <a:ext uri="{FF2B5EF4-FFF2-40B4-BE49-F238E27FC236}">
                  <a16:creationId xmlns:a16="http://schemas.microsoft.com/office/drawing/2014/main" id="{9F990F57-0BE4-8B1D-3763-E031734DE7DF}"/>
                </a:ext>
              </a:extLst>
            </p:cNvPr>
            <p:cNvSpPr/>
            <p:nvPr/>
          </p:nvSpPr>
          <p:spPr>
            <a:xfrm>
              <a:off x="1837055" y="63500"/>
              <a:ext cx="299212" cy="266827"/>
            </a:xfrm>
            <a:custGeom>
              <a:avLst/>
              <a:gdLst/>
              <a:ahLst/>
              <a:cxnLst/>
              <a:rect l="l" t="t" r="r" b="b"/>
              <a:pathLst>
                <a:path w="299212" h="266827">
                  <a:moveTo>
                    <a:pt x="115316" y="266827"/>
                  </a:moveTo>
                  <a:lnTo>
                    <a:pt x="0" y="266827"/>
                  </a:lnTo>
                  <a:lnTo>
                    <a:pt x="183769" y="0"/>
                  </a:lnTo>
                  <a:lnTo>
                    <a:pt x="299212" y="0"/>
                  </a:lnTo>
                  <a:lnTo>
                    <a:pt x="115316" y="266827"/>
                  </a:lnTo>
                  <a:close/>
                </a:path>
              </a:pathLst>
            </a:custGeom>
            <a:solidFill>
              <a:srgbClr val="FF1D25">
                <a:alpha val="35686"/>
              </a:srgbClr>
            </a:solidFill>
          </p:spPr>
        </p:sp>
        <p:sp>
          <p:nvSpPr>
            <p:cNvPr id="11" name="Freeform 11">
              <a:extLst>
                <a:ext uri="{FF2B5EF4-FFF2-40B4-BE49-F238E27FC236}">
                  <a16:creationId xmlns:a16="http://schemas.microsoft.com/office/drawing/2014/main" id="{48C97038-9144-37B4-C553-8F6715FF80CC}"/>
                </a:ext>
              </a:extLst>
            </p:cNvPr>
            <p:cNvSpPr/>
            <p:nvPr/>
          </p:nvSpPr>
          <p:spPr>
            <a:xfrm>
              <a:off x="63500" y="63500"/>
              <a:ext cx="299212" cy="266827"/>
            </a:xfrm>
            <a:custGeom>
              <a:avLst/>
              <a:gdLst/>
              <a:ahLst/>
              <a:cxnLst/>
              <a:rect l="l" t="t" r="r" b="b"/>
              <a:pathLst>
                <a:path w="299212" h="266827">
                  <a:moveTo>
                    <a:pt x="183769" y="0"/>
                  </a:moveTo>
                  <a:lnTo>
                    <a:pt x="0" y="266827"/>
                  </a:lnTo>
                  <a:lnTo>
                    <a:pt x="0" y="266827"/>
                  </a:lnTo>
                  <a:lnTo>
                    <a:pt x="115316" y="266827"/>
                  </a:lnTo>
                  <a:lnTo>
                    <a:pt x="299212" y="0"/>
                  </a:lnTo>
                  <a:close/>
                </a:path>
              </a:pathLst>
            </a:custGeom>
            <a:solidFill>
              <a:srgbClr val="FF1D25">
                <a:alpha val="35686"/>
              </a:srgbClr>
            </a:solidFill>
          </p:spPr>
        </p:sp>
        <p:sp>
          <p:nvSpPr>
            <p:cNvPr id="12" name="Freeform 12">
              <a:extLst>
                <a:ext uri="{FF2B5EF4-FFF2-40B4-BE49-F238E27FC236}">
                  <a16:creationId xmlns:a16="http://schemas.microsoft.com/office/drawing/2014/main" id="{04947B0F-18DB-7489-218A-A2511D23FE11}"/>
                </a:ext>
              </a:extLst>
            </p:cNvPr>
            <p:cNvSpPr/>
            <p:nvPr/>
          </p:nvSpPr>
          <p:spPr>
            <a:xfrm>
              <a:off x="260223" y="63500"/>
              <a:ext cx="299212" cy="266827"/>
            </a:xfrm>
            <a:custGeom>
              <a:avLst/>
              <a:gdLst/>
              <a:ahLst/>
              <a:cxnLst/>
              <a:rect l="l" t="t" r="r" b="b"/>
              <a:pathLst>
                <a:path w="299212" h="266827">
                  <a:moveTo>
                    <a:pt x="115316" y="266827"/>
                  </a:moveTo>
                  <a:lnTo>
                    <a:pt x="0" y="266827"/>
                  </a:lnTo>
                  <a:lnTo>
                    <a:pt x="183769" y="0"/>
                  </a:lnTo>
                  <a:lnTo>
                    <a:pt x="299212" y="0"/>
                  </a:lnTo>
                  <a:lnTo>
                    <a:pt x="115316" y="266827"/>
                  </a:lnTo>
                  <a:close/>
                </a:path>
              </a:pathLst>
            </a:custGeom>
            <a:solidFill>
              <a:srgbClr val="FF1D25">
                <a:alpha val="35686"/>
              </a:srgbClr>
            </a:solidFill>
          </p:spPr>
        </p:sp>
        <p:sp>
          <p:nvSpPr>
            <p:cNvPr id="13" name="Freeform 13">
              <a:extLst>
                <a:ext uri="{FF2B5EF4-FFF2-40B4-BE49-F238E27FC236}">
                  <a16:creationId xmlns:a16="http://schemas.microsoft.com/office/drawing/2014/main" id="{E8F24D9D-E793-C0B9-A1A4-7FF1146C3B10}"/>
                </a:ext>
              </a:extLst>
            </p:cNvPr>
            <p:cNvSpPr/>
            <p:nvPr/>
          </p:nvSpPr>
          <p:spPr>
            <a:xfrm>
              <a:off x="456946" y="63500"/>
              <a:ext cx="299212" cy="266827"/>
            </a:xfrm>
            <a:custGeom>
              <a:avLst/>
              <a:gdLst/>
              <a:ahLst/>
              <a:cxnLst/>
              <a:rect l="l" t="t" r="r" b="b"/>
              <a:pathLst>
                <a:path w="299212" h="266827">
                  <a:moveTo>
                    <a:pt x="115316" y="266827"/>
                  </a:moveTo>
                  <a:lnTo>
                    <a:pt x="0" y="266827"/>
                  </a:lnTo>
                  <a:lnTo>
                    <a:pt x="183769" y="0"/>
                  </a:lnTo>
                  <a:lnTo>
                    <a:pt x="299212" y="0"/>
                  </a:lnTo>
                  <a:lnTo>
                    <a:pt x="115316" y="266827"/>
                  </a:lnTo>
                  <a:close/>
                </a:path>
              </a:pathLst>
            </a:custGeom>
            <a:solidFill>
              <a:srgbClr val="FF1D25">
                <a:alpha val="35686"/>
              </a:srgbClr>
            </a:solidFill>
          </p:spPr>
        </p:sp>
        <p:sp>
          <p:nvSpPr>
            <p:cNvPr id="14" name="Freeform 14">
              <a:extLst>
                <a:ext uri="{FF2B5EF4-FFF2-40B4-BE49-F238E27FC236}">
                  <a16:creationId xmlns:a16="http://schemas.microsoft.com/office/drawing/2014/main" id="{012D55A3-40E5-E5B9-5F75-8A69A309217D}"/>
                </a:ext>
              </a:extLst>
            </p:cNvPr>
            <p:cNvSpPr/>
            <p:nvPr/>
          </p:nvSpPr>
          <p:spPr>
            <a:xfrm>
              <a:off x="653542" y="63500"/>
              <a:ext cx="299339" cy="266827"/>
            </a:xfrm>
            <a:custGeom>
              <a:avLst/>
              <a:gdLst/>
              <a:ahLst/>
              <a:cxnLst/>
              <a:rect l="l" t="t" r="r" b="b"/>
              <a:pathLst>
                <a:path w="299339" h="266827">
                  <a:moveTo>
                    <a:pt x="115443" y="266827"/>
                  </a:moveTo>
                  <a:lnTo>
                    <a:pt x="0" y="266827"/>
                  </a:lnTo>
                  <a:lnTo>
                    <a:pt x="183896" y="0"/>
                  </a:lnTo>
                  <a:lnTo>
                    <a:pt x="299339" y="0"/>
                  </a:lnTo>
                  <a:lnTo>
                    <a:pt x="115443" y="266827"/>
                  </a:lnTo>
                  <a:close/>
                </a:path>
              </a:pathLst>
            </a:custGeom>
            <a:solidFill>
              <a:srgbClr val="FF1D25">
                <a:alpha val="35686"/>
              </a:srgbClr>
            </a:solidFill>
          </p:spPr>
        </p:sp>
        <p:sp>
          <p:nvSpPr>
            <p:cNvPr id="15" name="Freeform 15">
              <a:extLst>
                <a:ext uri="{FF2B5EF4-FFF2-40B4-BE49-F238E27FC236}">
                  <a16:creationId xmlns:a16="http://schemas.microsoft.com/office/drawing/2014/main" id="{C4ABA437-C03C-1691-6B45-FC449D6D3CAE}"/>
                </a:ext>
              </a:extLst>
            </p:cNvPr>
            <p:cNvSpPr/>
            <p:nvPr/>
          </p:nvSpPr>
          <p:spPr>
            <a:xfrm>
              <a:off x="850265" y="63500"/>
              <a:ext cx="299212" cy="266827"/>
            </a:xfrm>
            <a:custGeom>
              <a:avLst/>
              <a:gdLst/>
              <a:ahLst/>
              <a:cxnLst/>
              <a:rect l="l" t="t" r="r" b="b"/>
              <a:pathLst>
                <a:path w="299212" h="266827">
                  <a:moveTo>
                    <a:pt x="115443" y="266827"/>
                  </a:moveTo>
                  <a:lnTo>
                    <a:pt x="0" y="266827"/>
                  </a:lnTo>
                  <a:lnTo>
                    <a:pt x="183769" y="0"/>
                  </a:lnTo>
                  <a:lnTo>
                    <a:pt x="299212" y="0"/>
                  </a:lnTo>
                  <a:lnTo>
                    <a:pt x="115443" y="266827"/>
                  </a:lnTo>
                  <a:close/>
                </a:path>
              </a:pathLst>
            </a:custGeom>
            <a:solidFill>
              <a:srgbClr val="FF1D25">
                <a:alpha val="35686"/>
              </a:srgbClr>
            </a:solidFill>
          </p:spPr>
        </p:sp>
      </p:grpSp>
      <p:sp>
        <p:nvSpPr>
          <p:cNvPr id="17" name="Freeform 17">
            <a:extLst>
              <a:ext uri="{FF2B5EF4-FFF2-40B4-BE49-F238E27FC236}">
                <a16:creationId xmlns:a16="http://schemas.microsoft.com/office/drawing/2014/main" id="{7E857616-7BEA-AE69-0DCD-29613755DE1B}"/>
              </a:ext>
            </a:extLst>
          </p:cNvPr>
          <p:cNvSpPr/>
          <p:nvPr/>
        </p:nvSpPr>
        <p:spPr>
          <a:xfrm>
            <a:off x="514350" y="1267106"/>
            <a:ext cx="280050" cy="208988"/>
          </a:xfrm>
          <a:custGeom>
            <a:avLst/>
            <a:gdLst/>
            <a:ahLst/>
            <a:cxnLst/>
            <a:rect l="l" t="t" r="r" b="b"/>
            <a:pathLst>
              <a:path w="560099" h="417976">
                <a:moveTo>
                  <a:pt x="0" y="0"/>
                </a:moveTo>
                <a:lnTo>
                  <a:pt x="560099" y="0"/>
                </a:lnTo>
                <a:lnTo>
                  <a:pt x="560099" y="417976"/>
                </a:lnTo>
                <a:lnTo>
                  <a:pt x="0" y="41797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8" name="Freeform 18">
            <a:extLst>
              <a:ext uri="{FF2B5EF4-FFF2-40B4-BE49-F238E27FC236}">
                <a16:creationId xmlns:a16="http://schemas.microsoft.com/office/drawing/2014/main" id="{687B1094-CC3E-198E-9AD1-BB243A4E2520}"/>
              </a:ext>
            </a:extLst>
          </p:cNvPr>
          <p:cNvSpPr/>
          <p:nvPr/>
        </p:nvSpPr>
        <p:spPr>
          <a:xfrm>
            <a:off x="923973" y="3141993"/>
            <a:ext cx="7545496" cy="96836"/>
          </a:xfrm>
          <a:custGeom>
            <a:avLst/>
            <a:gdLst/>
            <a:ahLst/>
            <a:cxnLst/>
            <a:rect l="l" t="t" r="r" b="b"/>
            <a:pathLst>
              <a:path w="15090991" h="193672">
                <a:moveTo>
                  <a:pt x="0" y="0"/>
                </a:moveTo>
                <a:lnTo>
                  <a:pt x="15090991" y="0"/>
                </a:lnTo>
                <a:lnTo>
                  <a:pt x="15090991" y="193672"/>
                </a:lnTo>
                <a:lnTo>
                  <a:pt x="0" y="19367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9" name="Freeform 19">
            <a:extLst>
              <a:ext uri="{FF2B5EF4-FFF2-40B4-BE49-F238E27FC236}">
                <a16:creationId xmlns:a16="http://schemas.microsoft.com/office/drawing/2014/main" id="{FBEAA7DD-0076-1EF9-F5EC-C38D5D068E6F}"/>
              </a:ext>
            </a:extLst>
          </p:cNvPr>
          <p:cNvSpPr/>
          <p:nvPr/>
        </p:nvSpPr>
        <p:spPr>
          <a:xfrm>
            <a:off x="7884890" y="5538988"/>
            <a:ext cx="543016" cy="133717"/>
          </a:xfrm>
          <a:custGeom>
            <a:avLst/>
            <a:gdLst/>
            <a:ahLst/>
            <a:cxnLst/>
            <a:rect l="l" t="t" r="r" b="b"/>
            <a:pathLst>
              <a:path w="1086031" h="267433">
                <a:moveTo>
                  <a:pt x="0" y="0"/>
                </a:moveTo>
                <a:lnTo>
                  <a:pt x="1086031" y="0"/>
                </a:lnTo>
                <a:lnTo>
                  <a:pt x="1086031" y="267433"/>
                </a:lnTo>
                <a:lnTo>
                  <a:pt x="0" y="267433"/>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20" name="TextBox 20">
            <a:extLst>
              <a:ext uri="{FF2B5EF4-FFF2-40B4-BE49-F238E27FC236}">
                <a16:creationId xmlns:a16="http://schemas.microsoft.com/office/drawing/2014/main" id="{DF26AD63-84C4-67C2-4C23-D4C08766B709}"/>
              </a:ext>
            </a:extLst>
          </p:cNvPr>
          <p:cNvSpPr txBox="1"/>
          <p:nvPr/>
        </p:nvSpPr>
        <p:spPr>
          <a:xfrm>
            <a:off x="848154" y="1277660"/>
            <a:ext cx="1311207" cy="176459"/>
          </a:xfrm>
          <a:prstGeom prst="rect">
            <a:avLst/>
          </a:prstGeom>
        </p:spPr>
        <p:txBody>
          <a:bodyPr wrap="square" lIns="0" tIns="0" rIns="0" bIns="0" rtlCol="0" anchor="t">
            <a:spAutoFit/>
          </a:bodyPr>
          <a:lstStyle>
            <a:defPPr>
              <a:defRPr lang="en-US"/>
            </a:defPPr>
            <a:lvl1pPr marL="0" algn="l" defTabSz="512064" rtl="0" eaLnBrk="1" latinLnBrk="0" hangingPunct="1">
              <a:defRPr sz="1008" kern="1200">
                <a:solidFill>
                  <a:schemeClr val="tx1"/>
                </a:solidFill>
                <a:latin typeface="+mn-lt"/>
                <a:ea typeface="+mn-ea"/>
                <a:cs typeface="+mn-cs"/>
              </a:defRPr>
            </a:lvl1pPr>
            <a:lvl2pPr marL="256032" algn="l" defTabSz="512064" rtl="0" eaLnBrk="1" latinLnBrk="0" hangingPunct="1">
              <a:defRPr sz="1008" kern="1200">
                <a:solidFill>
                  <a:schemeClr val="tx1"/>
                </a:solidFill>
                <a:latin typeface="+mn-lt"/>
                <a:ea typeface="+mn-ea"/>
                <a:cs typeface="+mn-cs"/>
              </a:defRPr>
            </a:lvl2pPr>
            <a:lvl3pPr marL="512064" algn="l" defTabSz="512064" rtl="0" eaLnBrk="1" latinLnBrk="0" hangingPunct="1">
              <a:defRPr sz="1008" kern="1200">
                <a:solidFill>
                  <a:schemeClr val="tx1"/>
                </a:solidFill>
                <a:latin typeface="+mn-lt"/>
                <a:ea typeface="+mn-ea"/>
                <a:cs typeface="+mn-cs"/>
              </a:defRPr>
            </a:lvl3pPr>
            <a:lvl4pPr marL="768096" algn="l" defTabSz="512064" rtl="0" eaLnBrk="1" latinLnBrk="0" hangingPunct="1">
              <a:defRPr sz="1008" kern="1200">
                <a:solidFill>
                  <a:schemeClr val="tx1"/>
                </a:solidFill>
                <a:latin typeface="+mn-lt"/>
                <a:ea typeface="+mn-ea"/>
                <a:cs typeface="+mn-cs"/>
              </a:defRPr>
            </a:lvl4pPr>
            <a:lvl5pPr marL="1024128" algn="l" defTabSz="512064" rtl="0" eaLnBrk="1" latinLnBrk="0" hangingPunct="1">
              <a:defRPr sz="1008" kern="1200">
                <a:solidFill>
                  <a:schemeClr val="tx1"/>
                </a:solidFill>
                <a:latin typeface="+mn-lt"/>
                <a:ea typeface="+mn-ea"/>
                <a:cs typeface="+mn-cs"/>
              </a:defRPr>
            </a:lvl5pPr>
            <a:lvl6pPr marL="1280160" algn="l" defTabSz="512064" rtl="0" eaLnBrk="1" latinLnBrk="0" hangingPunct="1">
              <a:defRPr sz="1008" kern="1200">
                <a:solidFill>
                  <a:schemeClr val="tx1"/>
                </a:solidFill>
                <a:latin typeface="+mn-lt"/>
                <a:ea typeface="+mn-ea"/>
                <a:cs typeface="+mn-cs"/>
              </a:defRPr>
            </a:lvl6pPr>
            <a:lvl7pPr marL="1536192" algn="l" defTabSz="512064" rtl="0" eaLnBrk="1" latinLnBrk="0" hangingPunct="1">
              <a:defRPr sz="1008" kern="1200">
                <a:solidFill>
                  <a:schemeClr val="tx1"/>
                </a:solidFill>
                <a:latin typeface="+mn-lt"/>
                <a:ea typeface="+mn-ea"/>
                <a:cs typeface="+mn-cs"/>
              </a:defRPr>
            </a:lvl7pPr>
            <a:lvl8pPr marL="1792224" algn="l" defTabSz="512064" rtl="0" eaLnBrk="1" latinLnBrk="0" hangingPunct="1">
              <a:defRPr sz="1008" kern="1200">
                <a:solidFill>
                  <a:schemeClr val="tx1"/>
                </a:solidFill>
                <a:latin typeface="+mn-lt"/>
                <a:ea typeface="+mn-ea"/>
                <a:cs typeface="+mn-cs"/>
              </a:defRPr>
            </a:lvl8pPr>
            <a:lvl9pPr marL="2048256" algn="l" defTabSz="512064" rtl="0" eaLnBrk="1" latinLnBrk="0" hangingPunct="1">
              <a:defRPr sz="1008" kern="1200">
                <a:solidFill>
                  <a:schemeClr val="tx1"/>
                </a:solidFill>
                <a:latin typeface="+mn-lt"/>
                <a:ea typeface="+mn-ea"/>
                <a:cs typeface="+mn-cs"/>
              </a:defRPr>
            </a:lvl9pPr>
          </a:lstStyle>
          <a:p>
            <a:pPr algn="l">
              <a:lnSpc>
                <a:spcPts val="1469"/>
              </a:lnSpc>
            </a:pPr>
            <a:r>
              <a:rPr lang="en-US" sz="1050" b="1" dirty="0">
                <a:solidFill>
                  <a:srgbClr val="FFFFFF"/>
                </a:solidFill>
                <a:latin typeface="Raleway Bold"/>
                <a:ea typeface="Raleway Bold"/>
                <a:cs typeface="Raleway Bold"/>
                <a:sym typeface="Raleway Bold"/>
              </a:rPr>
              <a:t>Gear Shift Analytics </a:t>
            </a:r>
          </a:p>
        </p:txBody>
      </p:sp>
      <p:sp>
        <p:nvSpPr>
          <p:cNvPr id="21" name="TextBox 21">
            <a:extLst>
              <a:ext uri="{FF2B5EF4-FFF2-40B4-BE49-F238E27FC236}">
                <a16:creationId xmlns:a16="http://schemas.microsoft.com/office/drawing/2014/main" id="{864E5849-ADA8-06DA-39EF-670F346E8E50}"/>
              </a:ext>
            </a:extLst>
          </p:cNvPr>
          <p:cNvSpPr txBox="1"/>
          <p:nvPr/>
        </p:nvSpPr>
        <p:spPr>
          <a:xfrm>
            <a:off x="1061590" y="1909682"/>
            <a:ext cx="7009395" cy="384721"/>
          </a:xfrm>
          <a:prstGeom prst="rect">
            <a:avLst/>
          </a:prstGeom>
        </p:spPr>
        <p:txBody>
          <a:bodyPr wrap="square" lIns="0" tIns="0" rIns="0" bIns="0" rtlCol="0" anchor="t">
            <a:spAutoFit/>
          </a:bodyPr>
          <a:lstStyle>
            <a:defPPr>
              <a:defRPr lang="en-US"/>
            </a:defPPr>
            <a:lvl1pPr marL="0" algn="l" defTabSz="512064" rtl="0" eaLnBrk="1" latinLnBrk="0" hangingPunct="1">
              <a:defRPr sz="1008" kern="1200">
                <a:solidFill>
                  <a:schemeClr val="tx1"/>
                </a:solidFill>
                <a:latin typeface="+mn-lt"/>
                <a:ea typeface="+mn-ea"/>
                <a:cs typeface="+mn-cs"/>
              </a:defRPr>
            </a:lvl1pPr>
            <a:lvl2pPr marL="256032" algn="l" defTabSz="512064" rtl="0" eaLnBrk="1" latinLnBrk="0" hangingPunct="1">
              <a:defRPr sz="1008" kern="1200">
                <a:solidFill>
                  <a:schemeClr val="tx1"/>
                </a:solidFill>
                <a:latin typeface="+mn-lt"/>
                <a:ea typeface="+mn-ea"/>
                <a:cs typeface="+mn-cs"/>
              </a:defRPr>
            </a:lvl2pPr>
            <a:lvl3pPr marL="512064" algn="l" defTabSz="512064" rtl="0" eaLnBrk="1" latinLnBrk="0" hangingPunct="1">
              <a:defRPr sz="1008" kern="1200">
                <a:solidFill>
                  <a:schemeClr val="tx1"/>
                </a:solidFill>
                <a:latin typeface="+mn-lt"/>
                <a:ea typeface="+mn-ea"/>
                <a:cs typeface="+mn-cs"/>
              </a:defRPr>
            </a:lvl3pPr>
            <a:lvl4pPr marL="768096" algn="l" defTabSz="512064" rtl="0" eaLnBrk="1" latinLnBrk="0" hangingPunct="1">
              <a:defRPr sz="1008" kern="1200">
                <a:solidFill>
                  <a:schemeClr val="tx1"/>
                </a:solidFill>
                <a:latin typeface="+mn-lt"/>
                <a:ea typeface="+mn-ea"/>
                <a:cs typeface="+mn-cs"/>
              </a:defRPr>
            </a:lvl4pPr>
            <a:lvl5pPr marL="1024128" algn="l" defTabSz="512064" rtl="0" eaLnBrk="1" latinLnBrk="0" hangingPunct="1">
              <a:defRPr sz="1008" kern="1200">
                <a:solidFill>
                  <a:schemeClr val="tx1"/>
                </a:solidFill>
                <a:latin typeface="+mn-lt"/>
                <a:ea typeface="+mn-ea"/>
                <a:cs typeface="+mn-cs"/>
              </a:defRPr>
            </a:lvl5pPr>
            <a:lvl6pPr marL="1280160" algn="l" defTabSz="512064" rtl="0" eaLnBrk="1" latinLnBrk="0" hangingPunct="1">
              <a:defRPr sz="1008" kern="1200">
                <a:solidFill>
                  <a:schemeClr val="tx1"/>
                </a:solidFill>
                <a:latin typeface="+mn-lt"/>
                <a:ea typeface="+mn-ea"/>
                <a:cs typeface="+mn-cs"/>
              </a:defRPr>
            </a:lvl6pPr>
            <a:lvl7pPr marL="1536192" algn="l" defTabSz="512064" rtl="0" eaLnBrk="1" latinLnBrk="0" hangingPunct="1">
              <a:defRPr sz="1008" kern="1200">
                <a:solidFill>
                  <a:schemeClr val="tx1"/>
                </a:solidFill>
                <a:latin typeface="+mn-lt"/>
                <a:ea typeface="+mn-ea"/>
                <a:cs typeface="+mn-cs"/>
              </a:defRPr>
            </a:lvl7pPr>
            <a:lvl8pPr marL="1792224" algn="l" defTabSz="512064" rtl="0" eaLnBrk="1" latinLnBrk="0" hangingPunct="1">
              <a:defRPr sz="1008" kern="1200">
                <a:solidFill>
                  <a:schemeClr val="tx1"/>
                </a:solidFill>
                <a:latin typeface="+mn-lt"/>
                <a:ea typeface="+mn-ea"/>
                <a:cs typeface="+mn-cs"/>
              </a:defRPr>
            </a:lvl8pPr>
            <a:lvl9pPr marL="2048256" algn="l" defTabSz="512064" rtl="0" eaLnBrk="1" latinLnBrk="0" hangingPunct="1">
              <a:defRPr sz="1008" kern="1200">
                <a:solidFill>
                  <a:schemeClr val="tx1"/>
                </a:solidFill>
                <a:latin typeface="+mn-lt"/>
                <a:ea typeface="+mn-ea"/>
                <a:cs typeface="+mn-cs"/>
              </a:defRPr>
            </a:lvl9pPr>
          </a:lstStyle>
          <a:p>
            <a:pPr algn="l">
              <a:lnSpc>
                <a:spcPts val="2979"/>
              </a:lnSpc>
            </a:pPr>
            <a:r>
              <a:rPr lang="en-US" sz="3000" b="1" dirty="0">
                <a:solidFill>
                  <a:srgbClr val="FFFFFF"/>
                </a:solidFill>
                <a:latin typeface="HK Modular"/>
                <a:ea typeface="HK Modular"/>
                <a:cs typeface="HK Modular"/>
                <a:sym typeface="HK Modular"/>
              </a:rPr>
              <a:t>Summary of Statistics </a:t>
            </a:r>
          </a:p>
        </p:txBody>
      </p:sp>
      <p:sp>
        <p:nvSpPr>
          <p:cNvPr id="22" name="TextBox 22">
            <a:extLst>
              <a:ext uri="{FF2B5EF4-FFF2-40B4-BE49-F238E27FC236}">
                <a16:creationId xmlns:a16="http://schemas.microsoft.com/office/drawing/2014/main" id="{CDF2BE03-B486-F63C-4BDE-4FD3E27AAE58}"/>
              </a:ext>
            </a:extLst>
          </p:cNvPr>
          <p:cNvSpPr txBox="1"/>
          <p:nvPr/>
        </p:nvSpPr>
        <p:spPr>
          <a:xfrm>
            <a:off x="2803141" y="2224135"/>
            <a:ext cx="3235705" cy="867545"/>
          </a:xfrm>
          <a:prstGeom prst="rect">
            <a:avLst/>
          </a:prstGeom>
        </p:spPr>
        <p:txBody>
          <a:bodyPr wrap="square" lIns="0" tIns="0" rIns="0" bIns="0" rtlCol="0" anchor="t">
            <a:spAutoFit/>
          </a:bodyPr>
          <a:lstStyle>
            <a:defPPr>
              <a:defRPr lang="en-US"/>
            </a:defPPr>
            <a:lvl1pPr marL="0" algn="l" defTabSz="512064" rtl="0" eaLnBrk="1" latinLnBrk="0" hangingPunct="1">
              <a:defRPr sz="1008" kern="1200">
                <a:solidFill>
                  <a:schemeClr val="tx1"/>
                </a:solidFill>
                <a:latin typeface="+mn-lt"/>
                <a:ea typeface="+mn-ea"/>
                <a:cs typeface="+mn-cs"/>
              </a:defRPr>
            </a:lvl1pPr>
            <a:lvl2pPr marL="256032" algn="l" defTabSz="512064" rtl="0" eaLnBrk="1" latinLnBrk="0" hangingPunct="1">
              <a:defRPr sz="1008" kern="1200">
                <a:solidFill>
                  <a:schemeClr val="tx1"/>
                </a:solidFill>
                <a:latin typeface="+mn-lt"/>
                <a:ea typeface="+mn-ea"/>
                <a:cs typeface="+mn-cs"/>
              </a:defRPr>
            </a:lvl2pPr>
            <a:lvl3pPr marL="512064" algn="l" defTabSz="512064" rtl="0" eaLnBrk="1" latinLnBrk="0" hangingPunct="1">
              <a:defRPr sz="1008" kern="1200">
                <a:solidFill>
                  <a:schemeClr val="tx1"/>
                </a:solidFill>
                <a:latin typeface="+mn-lt"/>
                <a:ea typeface="+mn-ea"/>
                <a:cs typeface="+mn-cs"/>
              </a:defRPr>
            </a:lvl3pPr>
            <a:lvl4pPr marL="768096" algn="l" defTabSz="512064" rtl="0" eaLnBrk="1" latinLnBrk="0" hangingPunct="1">
              <a:defRPr sz="1008" kern="1200">
                <a:solidFill>
                  <a:schemeClr val="tx1"/>
                </a:solidFill>
                <a:latin typeface="+mn-lt"/>
                <a:ea typeface="+mn-ea"/>
                <a:cs typeface="+mn-cs"/>
              </a:defRPr>
            </a:lvl4pPr>
            <a:lvl5pPr marL="1024128" algn="l" defTabSz="512064" rtl="0" eaLnBrk="1" latinLnBrk="0" hangingPunct="1">
              <a:defRPr sz="1008" kern="1200">
                <a:solidFill>
                  <a:schemeClr val="tx1"/>
                </a:solidFill>
                <a:latin typeface="+mn-lt"/>
                <a:ea typeface="+mn-ea"/>
                <a:cs typeface="+mn-cs"/>
              </a:defRPr>
            </a:lvl5pPr>
            <a:lvl6pPr marL="1280160" algn="l" defTabSz="512064" rtl="0" eaLnBrk="1" latinLnBrk="0" hangingPunct="1">
              <a:defRPr sz="1008" kern="1200">
                <a:solidFill>
                  <a:schemeClr val="tx1"/>
                </a:solidFill>
                <a:latin typeface="+mn-lt"/>
                <a:ea typeface="+mn-ea"/>
                <a:cs typeface="+mn-cs"/>
              </a:defRPr>
            </a:lvl6pPr>
            <a:lvl7pPr marL="1536192" algn="l" defTabSz="512064" rtl="0" eaLnBrk="1" latinLnBrk="0" hangingPunct="1">
              <a:defRPr sz="1008" kern="1200">
                <a:solidFill>
                  <a:schemeClr val="tx1"/>
                </a:solidFill>
                <a:latin typeface="+mn-lt"/>
                <a:ea typeface="+mn-ea"/>
                <a:cs typeface="+mn-cs"/>
              </a:defRPr>
            </a:lvl7pPr>
            <a:lvl8pPr marL="1792224" algn="l" defTabSz="512064" rtl="0" eaLnBrk="1" latinLnBrk="0" hangingPunct="1">
              <a:defRPr sz="1008" kern="1200">
                <a:solidFill>
                  <a:schemeClr val="tx1"/>
                </a:solidFill>
                <a:latin typeface="+mn-lt"/>
                <a:ea typeface="+mn-ea"/>
                <a:cs typeface="+mn-cs"/>
              </a:defRPr>
            </a:lvl8pPr>
            <a:lvl9pPr marL="2048256" algn="l" defTabSz="512064" rtl="0" eaLnBrk="1" latinLnBrk="0" hangingPunct="1">
              <a:defRPr sz="1008" kern="1200">
                <a:solidFill>
                  <a:schemeClr val="tx1"/>
                </a:solidFill>
                <a:latin typeface="+mn-lt"/>
                <a:ea typeface="+mn-ea"/>
                <a:cs typeface="+mn-cs"/>
              </a:defRPr>
            </a:lvl9pPr>
          </a:lstStyle>
          <a:p>
            <a:pPr>
              <a:lnSpc>
                <a:spcPts val="3735"/>
              </a:lnSpc>
            </a:pPr>
            <a:r>
              <a:rPr lang="en-US" sz="1450" b="1" dirty="0">
                <a:solidFill>
                  <a:srgbClr val="FFFFFF"/>
                </a:solidFill>
                <a:latin typeface="HK Modular"/>
                <a:ea typeface="HK Modular"/>
                <a:cs typeface="HK Modular"/>
                <a:sym typeface="HK Modular"/>
              </a:rPr>
              <a:t>Categorical variables </a:t>
            </a:r>
          </a:p>
        </p:txBody>
      </p:sp>
      <p:sp>
        <p:nvSpPr>
          <p:cNvPr id="23" name="TextBox 23">
            <a:extLst>
              <a:ext uri="{FF2B5EF4-FFF2-40B4-BE49-F238E27FC236}">
                <a16:creationId xmlns:a16="http://schemas.microsoft.com/office/drawing/2014/main" id="{DCF2DBE4-2DB5-8902-5ECC-4208816482B5}"/>
              </a:ext>
            </a:extLst>
          </p:cNvPr>
          <p:cNvSpPr txBox="1"/>
          <p:nvPr/>
        </p:nvSpPr>
        <p:spPr>
          <a:xfrm>
            <a:off x="2069435" y="5723482"/>
            <a:ext cx="227486" cy="72456"/>
          </a:xfrm>
          <a:prstGeom prst="rect">
            <a:avLst/>
          </a:prstGeom>
        </p:spPr>
        <p:txBody>
          <a:bodyPr wrap="square" lIns="0" tIns="0" rIns="0" bIns="0" rtlCol="0" anchor="t">
            <a:spAutoFit/>
          </a:bodyPr>
          <a:lstStyle>
            <a:defPPr>
              <a:defRPr lang="en-US"/>
            </a:defPPr>
            <a:lvl1pPr marL="0" algn="l" defTabSz="512064" rtl="0" eaLnBrk="1" latinLnBrk="0" hangingPunct="1">
              <a:defRPr sz="1008" kern="1200">
                <a:solidFill>
                  <a:schemeClr val="tx1"/>
                </a:solidFill>
                <a:latin typeface="+mn-lt"/>
                <a:ea typeface="+mn-ea"/>
                <a:cs typeface="+mn-cs"/>
              </a:defRPr>
            </a:lvl1pPr>
            <a:lvl2pPr marL="256032" algn="l" defTabSz="512064" rtl="0" eaLnBrk="1" latinLnBrk="0" hangingPunct="1">
              <a:defRPr sz="1008" kern="1200">
                <a:solidFill>
                  <a:schemeClr val="tx1"/>
                </a:solidFill>
                <a:latin typeface="+mn-lt"/>
                <a:ea typeface="+mn-ea"/>
                <a:cs typeface="+mn-cs"/>
              </a:defRPr>
            </a:lvl2pPr>
            <a:lvl3pPr marL="512064" algn="l" defTabSz="512064" rtl="0" eaLnBrk="1" latinLnBrk="0" hangingPunct="1">
              <a:defRPr sz="1008" kern="1200">
                <a:solidFill>
                  <a:schemeClr val="tx1"/>
                </a:solidFill>
                <a:latin typeface="+mn-lt"/>
                <a:ea typeface="+mn-ea"/>
                <a:cs typeface="+mn-cs"/>
              </a:defRPr>
            </a:lvl3pPr>
            <a:lvl4pPr marL="768096" algn="l" defTabSz="512064" rtl="0" eaLnBrk="1" latinLnBrk="0" hangingPunct="1">
              <a:defRPr sz="1008" kern="1200">
                <a:solidFill>
                  <a:schemeClr val="tx1"/>
                </a:solidFill>
                <a:latin typeface="+mn-lt"/>
                <a:ea typeface="+mn-ea"/>
                <a:cs typeface="+mn-cs"/>
              </a:defRPr>
            </a:lvl4pPr>
            <a:lvl5pPr marL="1024128" algn="l" defTabSz="512064" rtl="0" eaLnBrk="1" latinLnBrk="0" hangingPunct="1">
              <a:defRPr sz="1008" kern="1200">
                <a:solidFill>
                  <a:schemeClr val="tx1"/>
                </a:solidFill>
                <a:latin typeface="+mn-lt"/>
                <a:ea typeface="+mn-ea"/>
                <a:cs typeface="+mn-cs"/>
              </a:defRPr>
            </a:lvl5pPr>
            <a:lvl6pPr marL="1280160" algn="l" defTabSz="512064" rtl="0" eaLnBrk="1" latinLnBrk="0" hangingPunct="1">
              <a:defRPr sz="1008" kern="1200">
                <a:solidFill>
                  <a:schemeClr val="tx1"/>
                </a:solidFill>
                <a:latin typeface="+mn-lt"/>
                <a:ea typeface="+mn-ea"/>
                <a:cs typeface="+mn-cs"/>
              </a:defRPr>
            </a:lvl6pPr>
            <a:lvl7pPr marL="1536192" algn="l" defTabSz="512064" rtl="0" eaLnBrk="1" latinLnBrk="0" hangingPunct="1">
              <a:defRPr sz="1008" kern="1200">
                <a:solidFill>
                  <a:schemeClr val="tx1"/>
                </a:solidFill>
                <a:latin typeface="+mn-lt"/>
                <a:ea typeface="+mn-ea"/>
                <a:cs typeface="+mn-cs"/>
              </a:defRPr>
            </a:lvl7pPr>
            <a:lvl8pPr marL="1792224" algn="l" defTabSz="512064" rtl="0" eaLnBrk="1" latinLnBrk="0" hangingPunct="1">
              <a:defRPr sz="1008" kern="1200">
                <a:solidFill>
                  <a:schemeClr val="tx1"/>
                </a:solidFill>
                <a:latin typeface="+mn-lt"/>
                <a:ea typeface="+mn-ea"/>
                <a:cs typeface="+mn-cs"/>
              </a:defRPr>
            </a:lvl8pPr>
            <a:lvl9pPr marL="2048256" algn="l" defTabSz="512064" rtl="0" eaLnBrk="1" latinLnBrk="0" hangingPunct="1">
              <a:defRPr sz="1008" kern="1200">
                <a:solidFill>
                  <a:schemeClr val="tx1"/>
                </a:solidFill>
                <a:latin typeface="+mn-lt"/>
                <a:ea typeface="+mn-ea"/>
                <a:cs typeface="+mn-cs"/>
              </a:defRPr>
            </a:lvl9pPr>
          </a:lstStyle>
          <a:p>
            <a:pPr algn="l">
              <a:lnSpc>
                <a:spcPts val="624"/>
              </a:lnSpc>
            </a:pPr>
            <a:r>
              <a:rPr lang="en-US" sz="446" dirty="0">
                <a:solidFill>
                  <a:srgbClr val="424242"/>
                </a:solidFill>
                <a:latin typeface="Open Sans"/>
                <a:ea typeface="Open Sans"/>
                <a:cs typeface="Open Sans"/>
                <a:sym typeface="Open Sans"/>
              </a:rPr>
              <a:t>city.mpg</a:t>
            </a:r>
          </a:p>
        </p:txBody>
      </p:sp>
      <p:sp>
        <p:nvSpPr>
          <p:cNvPr id="24" name="TextBox 24">
            <a:extLst>
              <a:ext uri="{FF2B5EF4-FFF2-40B4-BE49-F238E27FC236}">
                <a16:creationId xmlns:a16="http://schemas.microsoft.com/office/drawing/2014/main" id="{EAC535BE-2B09-F285-702B-60334D0CCFBE}"/>
              </a:ext>
            </a:extLst>
          </p:cNvPr>
          <p:cNvSpPr txBox="1"/>
          <p:nvPr/>
        </p:nvSpPr>
        <p:spPr>
          <a:xfrm>
            <a:off x="6150374" y="5723330"/>
            <a:ext cx="728644" cy="86149"/>
          </a:xfrm>
          <a:prstGeom prst="rect">
            <a:avLst/>
          </a:prstGeom>
        </p:spPr>
        <p:txBody>
          <a:bodyPr wrap="square" lIns="0" tIns="0" rIns="0" bIns="0" rtlCol="0" anchor="t">
            <a:spAutoFit/>
          </a:bodyPr>
          <a:lstStyle>
            <a:defPPr>
              <a:defRPr lang="en-US"/>
            </a:defPPr>
            <a:lvl1pPr marL="0" algn="l" defTabSz="512064" rtl="0" eaLnBrk="1" latinLnBrk="0" hangingPunct="1">
              <a:defRPr sz="1008" kern="1200">
                <a:solidFill>
                  <a:schemeClr val="tx1"/>
                </a:solidFill>
                <a:latin typeface="+mn-lt"/>
                <a:ea typeface="+mn-ea"/>
                <a:cs typeface="+mn-cs"/>
              </a:defRPr>
            </a:lvl1pPr>
            <a:lvl2pPr marL="256032" algn="l" defTabSz="512064" rtl="0" eaLnBrk="1" latinLnBrk="0" hangingPunct="1">
              <a:defRPr sz="1008" kern="1200">
                <a:solidFill>
                  <a:schemeClr val="tx1"/>
                </a:solidFill>
                <a:latin typeface="+mn-lt"/>
                <a:ea typeface="+mn-ea"/>
                <a:cs typeface="+mn-cs"/>
              </a:defRPr>
            </a:lvl2pPr>
            <a:lvl3pPr marL="512064" algn="l" defTabSz="512064" rtl="0" eaLnBrk="1" latinLnBrk="0" hangingPunct="1">
              <a:defRPr sz="1008" kern="1200">
                <a:solidFill>
                  <a:schemeClr val="tx1"/>
                </a:solidFill>
                <a:latin typeface="+mn-lt"/>
                <a:ea typeface="+mn-ea"/>
                <a:cs typeface="+mn-cs"/>
              </a:defRPr>
            </a:lvl3pPr>
            <a:lvl4pPr marL="768096" algn="l" defTabSz="512064" rtl="0" eaLnBrk="1" latinLnBrk="0" hangingPunct="1">
              <a:defRPr sz="1008" kern="1200">
                <a:solidFill>
                  <a:schemeClr val="tx1"/>
                </a:solidFill>
                <a:latin typeface="+mn-lt"/>
                <a:ea typeface="+mn-ea"/>
                <a:cs typeface="+mn-cs"/>
              </a:defRPr>
            </a:lvl4pPr>
            <a:lvl5pPr marL="1024128" algn="l" defTabSz="512064" rtl="0" eaLnBrk="1" latinLnBrk="0" hangingPunct="1">
              <a:defRPr sz="1008" kern="1200">
                <a:solidFill>
                  <a:schemeClr val="tx1"/>
                </a:solidFill>
                <a:latin typeface="+mn-lt"/>
                <a:ea typeface="+mn-ea"/>
                <a:cs typeface="+mn-cs"/>
              </a:defRPr>
            </a:lvl5pPr>
            <a:lvl6pPr marL="1280160" algn="l" defTabSz="512064" rtl="0" eaLnBrk="1" latinLnBrk="0" hangingPunct="1">
              <a:defRPr sz="1008" kern="1200">
                <a:solidFill>
                  <a:schemeClr val="tx1"/>
                </a:solidFill>
                <a:latin typeface="+mn-lt"/>
                <a:ea typeface="+mn-ea"/>
                <a:cs typeface="+mn-cs"/>
              </a:defRPr>
            </a:lvl6pPr>
            <a:lvl7pPr marL="1536192" algn="l" defTabSz="512064" rtl="0" eaLnBrk="1" latinLnBrk="0" hangingPunct="1">
              <a:defRPr sz="1008" kern="1200">
                <a:solidFill>
                  <a:schemeClr val="tx1"/>
                </a:solidFill>
                <a:latin typeface="+mn-lt"/>
                <a:ea typeface="+mn-ea"/>
                <a:cs typeface="+mn-cs"/>
              </a:defRPr>
            </a:lvl7pPr>
            <a:lvl8pPr marL="1792224" algn="l" defTabSz="512064" rtl="0" eaLnBrk="1" latinLnBrk="0" hangingPunct="1">
              <a:defRPr sz="1008" kern="1200">
                <a:solidFill>
                  <a:schemeClr val="tx1"/>
                </a:solidFill>
                <a:latin typeface="+mn-lt"/>
                <a:ea typeface="+mn-ea"/>
                <a:cs typeface="+mn-cs"/>
              </a:defRPr>
            </a:lvl8pPr>
            <a:lvl9pPr marL="2048256" algn="l" defTabSz="512064" rtl="0" eaLnBrk="1" latinLnBrk="0" hangingPunct="1">
              <a:defRPr sz="1008" kern="1200">
                <a:solidFill>
                  <a:schemeClr val="tx1"/>
                </a:solidFill>
                <a:latin typeface="+mn-lt"/>
                <a:ea typeface="+mn-ea"/>
                <a:cs typeface="+mn-cs"/>
              </a:defRPr>
            </a:lvl9pPr>
          </a:lstStyle>
          <a:p>
            <a:pPr algn="l">
              <a:lnSpc>
                <a:spcPts val="681"/>
              </a:lnSpc>
            </a:pPr>
            <a:r>
              <a:rPr lang="en-US" sz="486" dirty="0">
                <a:solidFill>
                  <a:srgbClr val="424242"/>
                </a:solidFill>
                <a:latin typeface="Open Sans"/>
                <a:ea typeface="Open Sans"/>
                <a:cs typeface="Open Sans"/>
                <a:sym typeface="Open Sans"/>
              </a:rPr>
              <a:t>EPA city miles per gallon.</a:t>
            </a:r>
          </a:p>
        </p:txBody>
      </p:sp>
      <p:sp>
        <p:nvSpPr>
          <p:cNvPr id="25" name="TextBox 25">
            <a:extLst>
              <a:ext uri="{FF2B5EF4-FFF2-40B4-BE49-F238E27FC236}">
                <a16:creationId xmlns:a16="http://schemas.microsoft.com/office/drawing/2014/main" id="{7251461C-37F8-8F26-16AC-D515AFEAE03A}"/>
              </a:ext>
            </a:extLst>
          </p:cNvPr>
          <p:cNvSpPr txBox="1"/>
          <p:nvPr/>
        </p:nvSpPr>
        <p:spPr>
          <a:xfrm>
            <a:off x="961825" y="2764912"/>
            <a:ext cx="665126" cy="241541"/>
          </a:xfrm>
          <a:prstGeom prst="rect">
            <a:avLst/>
          </a:prstGeom>
        </p:spPr>
        <p:txBody>
          <a:bodyPr wrap="square" lIns="0" tIns="0" rIns="0" bIns="0" rtlCol="0" anchor="t">
            <a:spAutoFit/>
          </a:bodyPr>
          <a:lstStyle>
            <a:defPPr>
              <a:defRPr lang="en-US"/>
            </a:defPPr>
            <a:lvl1pPr marL="0" algn="l" defTabSz="512064" rtl="0" eaLnBrk="1" latinLnBrk="0" hangingPunct="1">
              <a:defRPr sz="1008" kern="1200">
                <a:solidFill>
                  <a:schemeClr val="tx1"/>
                </a:solidFill>
                <a:latin typeface="+mn-lt"/>
                <a:ea typeface="+mn-ea"/>
                <a:cs typeface="+mn-cs"/>
              </a:defRPr>
            </a:lvl1pPr>
            <a:lvl2pPr marL="256032" algn="l" defTabSz="512064" rtl="0" eaLnBrk="1" latinLnBrk="0" hangingPunct="1">
              <a:defRPr sz="1008" kern="1200">
                <a:solidFill>
                  <a:schemeClr val="tx1"/>
                </a:solidFill>
                <a:latin typeface="+mn-lt"/>
                <a:ea typeface="+mn-ea"/>
                <a:cs typeface="+mn-cs"/>
              </a:defRPr>
            </a:lvl2pPr>
            <a:lvl3pPr marL="512064" algn="l" defTabSz="512064" rtl="0" eaLnBrk="1" latinLnBrk="0" hangingPunct="1">
              <a:defRPr sz="1008" kern="1200">
                <a:solidFill>
                  <a:schemeClr val="tx1"/>
                </a:solidFill>
                <a:latin typeface="+mn-lt"/>
                <a:ea typeface="+mn-ea"/>
                <a:cs typeface="+mn-cs"/>
              </a:defRPr>
            </a:lvl3pPr>
            <a:lvl4pPr marL="768096" algn="l" defTabSz="512064" rtl="0" eaLnBrk="1" latinLnBrk="0" hangingPunct="1">
              <a:defRPr sz="1008" kern="1200">
                <a:solidFill>
                  <a:schemeClr val="tx1"/>
                </a:solidFill>
                <a:latin typeface="+mn-lt"/>
                <a:ea typeface="+mn-ea"/>
                <a:cs typeface="+mn-cs"/>
              </a:defRPr>
            </a:lvl4pPr>
            <a:lvl5pPr marL="1024128" algn="l" defTabSz="512064" rtl="0" eaLnBrk="1" latinLnBrk="0" hangingPunct="1">
              <a:defRPr sz="1008" kern="1200">
                <a:solidFill>
                  <a:schemeClr val="tx1"/>
                </a:solidFill>
                <a:latin typeface="+mn-lt"/>
                <a:ea typeface="+mn-ea"/>
                <a:cs typeface="+mn-cs"/>
              </a:defRPr>
            </a:lvl5pPr>
            <a:lvl6pPr marL="1280160" algn="l" defTabSz="512064" rtl="0" eaLnBrk="1" latinLnBrk="0" hangingPunct="1">
              <a:defRPr sz="1008" kern="1200">
                <a:solidFill>
                  <a:schemeClr val="tx1"/>
                </a:solidFill>
                <a:latin typeface="+mn-lt"/>
                <a:ea typeface="+mn-ea"/>
                <a:cs typeface="+mn-cs"/>
              </a:defRPr>
            </a:lvl6pPr>
            <a:lvl7pPr marL="1536192" algn="l" defTabSz="512064" rtl="0" eaLnBrk="1" latinLnBrk="0" hangingPunct="1">
              <a:defRPr sz="1008" kern="1200">
                <a:solidFill>
                  <a:schemeClr val="tx1"/>
                </a:solidFill>
                <a:latin typeface="+mn-lt"/>
                <a:ea typeface="+mn-ea"/>
                <a:cs typeface="+mn-cs"/>
              </a:defRPr>
            </a:lvl7pPr>
            <a:lvl8pPr marL="1792224" algn="l" defTabSz="512064" rtl="0" eaLnBrk="1" latinLnBrk="0" hangingPunct="1">
              <a:defRPr sz="1008" kern="1200">
                <a:solidFill>
                  <a:schemeClr val="tx1"/>
                </a:solidFill>
                <a:latin typeface="+mn-lt"/>
                <a:ea typeface="+mn-ea"/>
                <a:cs typeface="+mn-cs"/>
              </a:defRPr>
            </a:lvl8pPr>
            <a:lvl9pPr marL="2048256" algn="l" defTabSz="512064" rtl="0" eaLnBrk="1" latinLnBrk="0" hangingPunct="1">
              <a:defRPr sz="1008" kern="1200">
                <a:solidFill>
                  <a:schemeClr val="tx1"/>
                </a:solidFill>
                <a:latin typeface="+mn-lt"/>
                <a:ea typeface="+mn-ea"/>
                <a:cs typeface="+mn-cs"/>
              </a:defRPr>
            </a:lvl9pPr>
          </a:lstStyle>
          <a:p>
            <a:pPr algn="l">
              <a:lnSpc>
                <a:spcPts val="1960"/>
              </a:lnSpc>
            </a:pPr>
            <a:r>
              <a:rPr lang="en-US" sz="1400" dirty="0">
                <a:solidFill>
                  <a:srgbClr val="FFFFFF"/>
                </a:solidFill>
                <a:latin typeface="Arial MT Pro"/>
                <a:ea typeface="Arial MT Pro"/>
                <a:cs typeface="Arial MT Pro"/>
                <a:sym typeface="Arial MT Pro"/>
              </a:rPr>
              <a:t>Variable</a:t>
            </a:r>
          </a:p>
        </p:txBody>
      </p:sp>
      <p:sp>
        <p:nvSpPr>
          <p:cNvPr id="27" name="TextBox 27">
            <a:extLst>
              <a:ext uri="{FF2B5EF4-FFF2-40B4-BE49-F238E27FC236}">
                <a16:creationId xmlns:a16="http://schemas.microsoft.com/office/drawing/2014/main" id="{09A65B8F-34EC-AA0B-B42B-37136B9A5713}"/>
              </a:ext>
            </a:extLst>
          </p:cNvPr>
          <p:cNvSpPr txBox="1"/>
          <p:nvPr/>
        </p:nvSpPr>
        <p:spPr>
          <a:xfrm>
            <a:off x="890841" y="3834909"/>
            <a:ext cx="1323839" cy="280013"/>
          </a:xfrm>
          <a:prstGeom prst="rect">
            <a:avLst/>
          </a:prstGeom>
        </p:spPr>
        <p:txBody>
          <a:bodyPr wrap="square" lIns="0" tIns="0" rIns="0" bIns="0" rtlCol="0" anchor="t">
            <a:spAutoFit/>
          </a:bodyPr>
          <a:lstStyle>
            <a:defPPr>
              <a:defRPr lang="en-US"/>
            </a:defPPr>
            <a:lvl1pPr marL="0" algn="l" defTabSz="512064" rtl="0" eaLnBrk="1" latinLnBrk="0" hangingPunct="1">
              <a:defRPr sz="1008" kern="1200">
                <a:solidFill>
                  <a:schemeClr val="tx1"/>
                </a:solidFill>
                <a:latin typeface="+mn-lt"/>
                <a:ea typeface="+mn-ea"/>
                <a:cs typeface="+mn-cs"/>
              </a:defRPr>
            </a:lvl1pPr>
            <a:lvl2pPr marL="256032" algn="l" defTabSz="512064" rtl="0" eaLnBrk="1" latinLnBrk="0" hangingPunct="1">
              <a:defRPr sz="1008" kern="1200">
                <a:solidFill>
                  <a:schemeClr val="tx1"/>
                </a:solidFill>
                <a:latin typeface="+mn-lt"/>
                <a:ea typeface="+mn-ea"/>
                <a:cs typeface="+mn-cs"/>
              </a:defRPr>
            </a:lvl2pPr>
            <a:lvl3pPr marL="512064" algn="l" defTabSz="512064" rtl="0" eaLnBrk="1" latinLnBrk="0" hangingPunct="1">
              <a:defRPr sz="1008" kern="1200">
                <a:solidFill>
                  <a:schemeClr val="tx1"/>
                </a:solidFill>
                <a:latin typeface="+mn-lt"/>
                <a:ea typeface="+mn-ea"/>
                <a:cs typeface="+mn-cs"/>
              </a:defRPr>
            </a:lvl3pPr>
            <a:lvl4pPr marL="768096" algn="l" defTabSz="512064" rtl="0" eaLnBrk="1" latinLnBrk="0" hangingPunct="1">
              <a:defRPr sz="1008" kern="1200">
                <a:solidFill>
                  <a:schemeClr val="tx1"/>
                </a:solidFill>
                <a:latin typeface="+mn-lt"/>
                <a:ea typeface="+mn-ea"/>
                <a:cs typeface="+mn-cs"/>
              </a:defRPr>
            </a:lvl4pPr>
            <a:lvl5pPr marL="1024128" algn="l" defTabSz="512064" rtl="0" eaLnBrk="1" latinLnBrk="0" hangingPunct="1">
              <a:defRPr sz="1008" kern="1200">
                <a:solidFill>
                  <a:schemeClr val="tx1"/>
                </a:solidFill>
                <a:latin typeface="+mn-lt"/>
                <a:ea typeface="+mn-ea"/>
                <a:cs typeface="+mn-cs"/>
              </a:defRPr>
            </a:lvl5pPr>
            <a:lvl6pPr marL="1280160" algn="l" defTabSz="512064" rtl="0" eaLnBrk="1" latinLnBrk="0" hangingPunct="1">
              <a:defRPr sz="1008" kern="1200">
                <a:solidFill>
                  <a:schemeClr val="tx1"/>
                </a:solidFill>
                <a:latin typeface="+mn-lt"/>
                <a:ea typeface="+mn-ea"/>
                <a:cs typeface="+mn-cs"/>
              </a:defRPr>
            </a:lvl6pPr>
            <a:lvl7pPr marL="1536192" algn="l" defTabSz="512064" rtl="0" eaLnBrk="1" latinLnBrk="0" hangingPunct="1">
              <a:defRPr sz="1008" kern="1200">
                <a:solidFill>
                  <a:schemeClr val="tx1"/>
                </a:solidFill>
                <a:latin typeface="+mn-lt"/>
                <a:ea typeface="+mn-ea"/>
                <a:cs typeface="+mn-cs"/>
              </a:defRPr>
            </a:lvl7pPr>
            <a:lvl8pPr marL="1792224" algn="l" defTabSz="512064" rtl="0" eaLnBrk="1" latinLnBrk="0" hangingPunct="1">
              <a:defRPr sz="1008" kern="1200">
                <a:solidFill>
                  <a:schemeClr val="tx1"/>
                </a:solidFill>
                <a:latin typeface="+mn-lt"/>
                <a:ea typeface="+mn-ea"/>
                <a:cs typeface="+mn-cs"/>
              </a:defRPr>
            </a:lvl8pPr>
            <a:lvl9pPr marL="2048256" algn="l" defTabSz="512064" rtl="0" eaLnBrk="1" latinLnBrk="0" hangingPunct="1">
              <a:defRPr sz="1008" kern="1200">
                <a:solidFill>
                  <a:schemeClr val="tx1"/>
                </a:solidFill>
                <a:latin typeface="+mn-lt"/>
                <a:ea typeface="+mn-ea"/>
                <a:cs typeface="+mn-cs"/>
              </a:defRPr>
            </a:lvl9pPr>
          </a:lstStyle>
          <a:p>
            <a:pPr>
              <a:lnSpc>
                <a:spcPts val="2399"/>
              </a:lnSpc>
            </a:pPr>
            <a:r>
              <a:rPr lang="en-US" sz="1400" spc="76" dirty="0">
                <a:solidFill>
                  <a:srgbClr val="FFFFFF"/>
                </a:solidFill>
                <a:latin typeface="Arial MT Pro"/>
                <a:ea typeface="Arial MT Pro"/>
                <a:cs typeface="Arial MT Pro"/>
                <a:sym typeface="Arial MT Pro"/>
              </a:rPr>
              <a:t>Fuel Type</a:t>
            </a:r>
          </a:p>
        </p:txBody>
      </p:sp>
      <p:sp>
        <p:nvSpPr>
          <p:cNvPr id="29" name="TextBox 29">
            <a:extLst>
              <a:ext uri="{FF2B5EF4-FFF2-40B4-BE49-F238E27FC236}">
                <a16:creationId xmlns:a16="http://schemas.microsoft.com/office/drawing/2014/main" id="{9C5717FE-26CF-E54E-A9F3-EB23F21E4BB3}"/>
              </a:ext>
            </a:extLst>
          </p:cNvPr>
          <p:cNvSpPr txBox="1"/>
          <p:nvPr/>
        </p:nvSpPr>
        <p:spPr>
          <a:xfrm>
            <a:off x="833753" y="4299890"/>
            <a:ext cx="1382568" cy="280013"/>
          </a:xfrm>
          <a:prstGeom prst="rect">
            <a:avLst/>
          </a:prstGeom>
        </p:spPr>
        <p:txBody>
          <a:bodyPr wrap="square" lIns="0" tIns="0" rIns="0" bIns="0" rtlCol="0" anchor="t">
            <a:spAutoFit/>
          </a:bodyPr>
          <a:lstStyle>
            <a:defPPr>
              <a:defRPr lang="en-US"/>
            </a:defPPr>
            <a:lvl1pPr marL="0" algn="l" defTabSz="512064" rtl="0" eaLnBrk="1" latinLnBrk="0" hangingPunct="1">
              <a:defRPr sz="1008" kern="1200">
                <a:solidFill>
                  <a:schemeClr val="tx1"/>
                </a:solidFill>
                <a:latin typeface="+mn-lt"/>
                <a:ea typeface="+mn-ea"/>
                <a:cs typeface="+mn-cs"/>
              </a:defRPr>
            </a:lvl1pPr>
            <a:lvl2pPr marL="256032" algn="l" defTabSz="512064" rtl="0" eaLnBrk="1" latinLnBrk="0" hangingPunct="1">
              <a:defRPr sz="1008" kern="1200">
                <a:solidFill>
                  <a:schemeClr val="tx1"/>
                </a:solidFill>
                <a:latin typeface="+mn-lt"/>
                <a:ea typeface="+mn-ea"/>
                <a:cs typeface="+mn-cs"/>
              </a:defRPr>
            </a:lvl2pPr>
            <a:lvl3pPr marL="512064" algn="l" defTabSz="512064" rtl="0" eaLnBrk="1" latinLnBrk="0" hangingPunct="1">
              <a:defRPr sz="1008" kern="1200">
                <a:solidFill>
                  <a:schemeClr val="tx1"/>
                </a:solidFill>
                <a:latin typeface="+mn-lt"/>
                <a:ea typeface="+mn-ea"/>
                <a:cs typeface="+mn-cs"/>
              </a:defRPr>
            </a:lvl3pPr>
            <a:lvl4pPr marL="768096" algn="l" defTabSz="512064" rtl="0" eaLnBrk="1" latinLnBrk="0" hangingPunct="1">
              <a:defRPr sz="1008" kern="1200">
                <a:solidFill>
                  <a:schemeClr val="tx1"/>
                </a:solidFill>
                <a:latin typeface="+mn-lt"/>
                <a:ea typeface="+mn-ea"/>
                <a:cs typeface="+mn-cs"/>
              </a:defRPr>
            </a:lvl4pPr>
            <a:lvl5pPr marL="1024128" algn="l" defTabSz="512064" rtl="0" eaLnBrk="1" latinLnBrk="0" hangingPunct="1">
              <a:defRPr sz="1008" kern="1200">
                <a:solidFill>
                  <a:schemeClr val="tx1"/>
                </a:solidFill>
                <a:latin typeface="+mn-lt"/>
                <a:ea typeface="+mn-ea"/>
                <a:cs typeface="+mn-cs"/>
              </a:defRPr>
            </a:lvl5pPr>
            <a:lvl6pPr marL="1280160" algn="l" defTabSz="512064" rtl="0" eaLnBrk="1" latinLnBrk="0" hangingPunct="1">
              <a:defRPr sz="1008" kern="1200">
                <a:solidFill>
                  <a:schemeClr val="tx1"/>
                </a:solidFill>
                <a:latin typeface="+mn-lt"/>
                <a:ea typeface="+mn-ea"/>
                <a:cs typeface="+mn-cs"/>
              </a:defRPr>
            </a:lvl6pPr>
            <a:lvl7pPr marL="1536192" algn="l" defTabSz="512064" rtl="0" eaLnBrk="1" latinLnBrk="0" hangingPunct="1">
              <a:defRPr sz="1008" kern="1200">
                <a:solidFill>
                  <a:schemeClr val="tx1"/>
                </a:solidFill>
                <a:latin typeface="+mn-lt"/>
                <a:ea typeface="+mn-ea"/>
                <a:cs typeface="+mn-cs"/>
              </a:defRPr>
            </a:lvl7pPr>
            <a:lvl8pPr marL="1792224" algn="l" defTabSz="512064" rtl="0" eaLnBrk="1" latinLnBrk="0" hangingPunct="1">
              <a:defRPr sz="1008" kern="1200">
                <a:solidFill>
                  <a:schemeClr val="tx1"/>
                </a:solidFill>
                <a:latin typeface="+mn-lt"/>
                <a:ea typeface="+mn-ea"/>
                <a:cs typeface="+mn-cs"/>
              </a:defRPr>
            </a:lvl8pPr>
            <a:lvl9pPr marL="2048256" algn="l" defTabSz="512064" rtl="0" eaLnBrk="1" latinLnBrk="0" hangingPunct="1">
              <a:defRPr sz="1008" kern="1200">
                <a:solidFill>
                  <a:schemeClr val="tx1"/>
                </a:solidFill>
                <a:latin typeface="+mn-lt"/>
                <a:ea typeface="+mn-ea"/>
                <a:cs typeface="+mn-cs"/>
              </a:defRPr>
            </a:lvl9pPr>
          </a:lstStyle>
          <a:p>
            <a:pPr algn="l">
              <a:lnSpc>
                <a:spcPts val="2399"/>
              </a:lnSpc>
            </a:pPr>
            <a:r>
              <a:rPr lang="en-US" sz="1400" spc="60" dirty="0">
                <a:solidFill>
                  <a:srgbClr val="FFFFFF"/>
                </a:solidFill>
                <a:latin typeface="Arial MT Pro"/>
                <a:ea typeface="Arial MT Pro"/>
                <a:cs typeface="Arial MT Pro"/>
                <a:sym typeface="Arial MT Pro"/>
              </a:rPr>
              <a:t>Transmission</a:t>
            </a:r>
          </a:p>
        </p:txBody>
      </p:sp>
      <p:sp>
        <p:nvSpPr>
          <p:cNvPr id="30" name="TextBox 30">
            <a:extLst>
              <a:ext uri="{FF2B5EF4-FFF2-40B4-BE49-F238E27FC236}">
                <a16:creationId xmlns:a16="http://schemas.microsoft.com/office/drawing/2014/main" id="{A6EF5473-7A60-3496-3A02-6A8835BA8528}"/>
              </a:ext>
            </a:extLst>
          </p:cNvPr>
          <p:cNvSpPr txBox="1"/>
          <p:nvPr/>
        </p:nvSpPr>
        <p:spPr>
          <a:xfrm>
            <a:off x="747380" y="4752529"/>
            <a:ext cx="1519278" cy="280013"/>
          </a:xfrm>
          <a:prstGeom prst="rect">
            <a:avLst/>
          </a:prstGeom>
        </p:spPr>
        <p:txBody>
          <a:bodyPr wrap="square" lIns="0" tIns="0" rIns="0" bIns="0" rtlCol="0" anchor="t">
            <a:spAutoFit/>
          </a:bodyPr>
          <a:lstStyle>
            <a:defPPr>
              <a:defRPr lang="en-US"/>
            </a:defPPr>
            <a:lvl1pPr marL="0" algn="l" defTabSz="512064" rtl="0" eaLnBrk="1" latinLnBrk="0" hangingPunct="1">
              <a:defRPr sz="1008" kern="1200">
                <a:solidFill>
                  <a:schemeClr val="tx1"/>
                </a:solidFill>
                <a:latin typeface="+mn-lt"/>
                <a:ea typeface="+mn-ea"/>
                <a:cs typeface="+mn-cs"/>
              </a:defRPr>
            </a:lvl1pPr>
            <a:lvl2pPr marL="256032" algn="l" defTabSz="512064" rtl="0" eaLnBrk="1" latinLnBrk="0" hangingPunct="1">
              <a:defRPr sz="1008" kern="1200">
                <a:solidFill>
                  <a:schemeClr val="tx1"/>
                </a:solidFill>
                <a:latin typeface="+mn-lt"/>
                <a:ea typeface="+mn-ea"/>
                <a:cs typeface="+mn-cs"/>
              </a:defRPr>
            </a:lvl2pPr>
            <a:lvl3pPr marL="512064" algn="l" defTabSz="512064" rtl="0" eaLnBrk="1" latinLnBrk="0" hangingPunct="1">
              <a:defRPr sz="1008" kern="1200">
                <a:solidFill>
                  <a:schemeClr val="tx1"/>
                </a:solidFill>
                <a:latin typeface="+mn-lt"/>
                <a:ea typeface="+mn-ea"/>
                <a:cs typeface="+mn-cs"/>
              </a:defRPr>
            </a:lvl3pPr>
            <a:lvl4pPr marL="768096" algn="l" defTabSz="512064" rtl="0" eaLnBrk="1" latinLnBrk="0" hangingPunct="1">
              <a:defRPr sz="1008" kern="1200">
                <a:solidFill>
                  <a:schemeClr val="tx1"/>
                </a:solidFill>
                <a:latin typeface="+mn-lt"/>
                <a:ea typeface="+mn-ea"/>
                <a:cs typeface="+mn-cs"/>
              </a:defRPr>
            </a:lvl4pPr>
            <a:lvl5pPr marL="1024128" algn="l" defTabSz="512064" rtl="0" eaLnBrk="1" latinLnBrk="0" hangingPunct="1">
              <a:defRPr sz="1008" kern="1200">
                <a:solidFill>
                  <a:schemeClr val="tx1"/>
                </a:solidFill>
                <a:latin typeface="+mn-lt"/>
                <a:ea typeface="+mn-ea"/>
                <a:cs typeface="+mn-cs"/>
              </a:defRPr>
            </a:lvl5pPr>
            <a:lvl6pPr marL="1280160" algn="l" defTabSz="512064" rtl="0" eaLnBrk="1" latinLnBrk="0" hangingPunct="1">
              <a:defRPr sz="1008" kern="1200">
                <a:solidFill>
                  <a:schemeClr val="tx1"/>
                </a:solidFill>
                <a:latin typeface="+mn-lt"/>
                <a:ea typeface="+mn-ea"/>
                <a:cs typeface="+mn-cs"/>
              </a:defRPr>
            </a:lvl6pPr>
            <a:lvl7pPr marL="1536192" algn="l" defTabSz="512064" rtl="0" eaLnBrk="1" latinLnBrk="0" hangingPunct="1">
              <a:defRPr sz="1008" kern="1200">
                <a:solidFill>
                  <a:schemeClr val="tx1"/>
                </a:solidFill>
                <a:latin typeface="+mn-lt"/>
                <a:ea typeface="+mn-ea"/>
                <a:cs typeface="+mn-cs"/>
              </a:defRPr>
            </a:lvl7pPr>
            <a:lvl8pPr marL="1792224" algn="l" defTabSz="512064" rtl="0" eaLnBrk="1" latinLnBrk="0" hangingPunct="1">
              <a:defRPr sz="1008" kern="1200">
                <a:solidFill>
                  <a:schemeClr val="tx1"/>
                </a:solidFill>
                <a:latin typeface="+mn-lt"/>
                <a:ea typeface="+mn-ea"/>
                <a:cs typeface="+mn-cs"/>
              </a:defRPr>
            </a:lvl8pPr>
            <a:lvl9pPr marL="2048256" algn="l" defTabSz="512064" rtl="0" eaLnBrk="1" latinLnBrk="0" hangingPunct="1">
              <a:defRPr sz="1008" kern="1200">
                <a:solidFill>
                  <a:schemeClr val="tx1"/>
                </a:solidFill>
                <a:latin typeface="+mn-lt"/>
                <a:ea typeface="+mn-ea"/>
                <a:cs typeface="+mn-cs"/>
              </a:defRPr>
            </a:lvl9pPr>
          </a:lstStyle>
          <a:p>
            <a:pPr>
              <a:lnSpc>
                <a:spcPts val="2399"/>
              </a:lnSpc>
            </a:pPr>
            <a:r>
              <a:rPr lang="en-US" sz="1400" spc="84" dirty="0">
                <a:solidFill>
                  <a:srgbClr val="FFFFFF"/>
                </a:solidFill>
                <a:latin typeface="Arial MT Pro"/>
              </a:rPr>
              <a:t>Driven Wheel</a:t>
            </a:r>
          </a:p>
        </p:txBody>
      </p:sp>
      <p:sp>
        <p:nvSpPr>
          <p:cNvPr id="32" name="TextBox 32">
            <a:extLst>
              <a:ext uri="{FF2B5EF4-FFF2-40B4-BE49-F238E27FC236}">
                <a16:creationId xmlns:a16="http://schemas.microsoft.com/office/drawing/2014/main" id="{529A1ECB-A883-705C-11F6-552FF4774450}"/>
              </a:ext>
            </a:extLst>
          </p:cNvPr>
          <p:cNvSpPr txBox="1"/>
          <p:nvPr/>
        </p:nvSpPr>
        <p:spPr>
          <a:xfrm>
            <a:off x="630926" y="5209198"/>
            <a:ext cx="1528615" cy="299249"/>
          </a:xfrm>
          <a:prstGeom prst="rect">
            <a:avLst/>
          </a:prstGeom>
        </p:spPr>
        <p:txBody>
          <a:bodyPr wrap="square" lIns="0" tIns="0" rIns="0" bIns="0" rtlCol="0" anchor="t">
            <a:spAutoFit/>
          </a:bodyPr>
          <a:lstStyle>
            <a:defPPr>
              <a:defRPr lang="en-US"/>
            </a:defPPr>
            <a:lvl1pPr marL="0" algn="l" defTabSz="512064" rtl="0" eaLnBrk="1" latinLnBrk="0" hangingPunct="1">
              <a:defRPr sz="1008" kern="1200">
                <a:solidFill>
                  <a:schemeClr val="tx1"/>
                </a:solidFill>
                <a:latin typeface="+mn-lt"/>
                <a:ea typeface="+mn-ea"/>
                <a:cs typeface="+mn-cs"/>
              </a:defRPr>
            </a:lvl1pPr>
            <a:lvl2pPr marL="256032" algn="l" defTabSz="512064" rtl="0" eaLnBrk="1" latinLnBrk="0" hangingPunct="1">
              <a:defRPr sz="1008" kern="1200">
                <a:solidFill>
                  <a:schemeClr val="tx1"/>
                </a:solidFill>
                <a:latin typeface="+mn-lt"/>
                <a:ea typeface="+mn-ea"/>
                <a:cs typeface="+mn-cs"/>
              </a:defRPr>
            </a:lvl2pPr>
            <a:lvl3pPr marL="512064" algn="l" defTabSz="512064" rtl="0" eaLnBrk="1" latinLnBrk="0" hangingPunct="1">
              <a:defRPr sz="1008" kern="1200">
                <a:solidFill>
                  <a:schemeClr val="tx1"/>
                </a:solidFill>
                <a:latin typeface="+mn-lt"/>
                <a:ea typeface="+mn-ea"/>
                <a:cs typeface="+mn-cs"/>
              </a:defRPr>
            </a:lvl3pPr>
            <a:lvl4pPr marL="768096" algn="l" defTabSz="512064" rtl="0" eaLnBrk="1" latinLnBrk="0" hangingPunct="1">
              <a:defRPr sz="1008" kern="1200">
                <a:solidFill>
                  <a:schemeClr val="tx1"/>
                </a:solidFill>
                <a:latin typeface="+mn-lt"/>
                <a:ea typeface="+mn-ea"/>
                <a:cs typeface="+mn-cs"/>
              </a:defRPr>
            </a:lvl4pPr>
            <a:lvl5pPr marL="1024128" algn="l" defTabSz="512064" rtl="0" eaLnBrk="1" latinLnBrk="0" hangingPunct="1">
              <a:defRPr sz="1008" kern="1200">
                <a:solidFill>
                  <a:schemeClr val="tx1"/>
                </a:solidFill>
                <a:latin typeface="+mn-lt"/>
                <a:ea typeface="+mn-ea"/>
                <a:cs typeface="+mn-cs"/>
              </a:defRPr>
            </a:lvl5pPr>
            <a:lvl6pPr marL="1280160" algn="l" defTabSz="512064" rtl="0" eaLnBrk="1" latinLnBrk="0" hangingPunct="1">
              <a:defRPr sz="1008" kern="1200">
                <a:solidFill>
                  <a:schemeClr val="tx1"/>
                </a:solidFill>
                <a:latin typeface="+mn-lt"/>
                <a:ea typeface="+mn-ea"/>
                <a:cs typeface="+mn-cs"/>
              </a:defRPr>
            </a:lvl6pPr>
            <a:lvl7pPr marL="1536192" algn="l" defTabSz="512064" rtl="0" eaLnBrk="1" latinLnBrk="0" hangingPunct="1">
              <a:defRPr sz="1008" kern="1200">
                <a:solidFill>
                  <a:schemeClr val="tx1"/>
                </a:solidFill>
                <a:latin typeface="+mn-lt"/>
                <a:ea typeface="+mn-ea"/>
                <a:cs typeface="+mn-cs"/>
              </a:defRPr>
            </a:lvl7pPr>
            <a:lvl8pPr marL="1792224" algn="l" defTabSz="512064" rtl="0" eaLnBrk="1" latinLnBrk="0" hangingPunct="1">
              <a:defRPr sz="1008" kern="1200">
                <a:solidFill>
                  <a:schemeClr val="tx1"/>
                </a:solidFill>
                <a:latin typeface="+mn-lt"/>
                <a:ea typeface="+mn-ea"/>
                <a:cs typeface="+mn-cs"/>
              </a:defRPr>
            </a:lvl8pPr>
            <a:lvl9pPr marL="2048256" algn="l" defTabSz="512064" rtl="0" eaLnBrk="1" latinLnBrk="0" hangingPunct="1">
              <a:defRPr sz="1008" kern="1200">
                <a:solidFill>
                  <a:schemeClr val="tx1"/>
                </a:solidFill>
                <a:latin typeface="+mn-lt"/>
                <a:ea typeface="+mn-ea"/>
                <a:cs typeface="+mn-cs"/>
              </a:defRPr>
            </a:lvl9pPr>
          </a:lstStyle>
          <a:p>
            <a:pPr>
              <a:lnSpc>
                <a:spcPts val="2586"/>
              </a:lnSpc>
            </a:pPr>
            <a:r>
              <a:rPr lang="en-US" sz="1400" spc="11" dirty="0">
                <a:solidFill>
                  <a:srgbClr val="FFFFFF"/>
                </a:solidFill>
                <a:latin typeface="Arial MT Pro"/>
                <a:sym typeface="Arial MT Pro"/>
              </a:rPr>
              <a:t>Market Category</a:t>
            </a:r>
            <a:endParaRPr lang="en-US" dirty="0"/>
          </a:p>
        </p:txBody>
      </p:sp>
      <p:sp>
        <p:nvSpPr>
          <p:cNvPr id="16" name="TextBox 34">
            <a:extLst>
              <a:ext uri="{FF2B5EF4-FFF2-40B4-BE49-F238E27FC236}">
                <a16:creationId xmlns:a16="http://schemas.microsoft.com/office/drawing/2014/main" id="{A4EB59EB-162E-000C-C3BA-D6804BA236EA}"/>
              </a:ext>
            </a:extLst>
          </p:cNvPr>
          <p:cNvSpPr txBox="1"/>
          <p:nvPr/>
        </p:nvSpPr>
        <p:spPr>
          <a:xfrm>
            <a:off x="818078" y="5764391"/>
            <a:ext cx="1441629" cy="251159"/>
          </a:xfrm>
          <a:prstGeom prst="rect">
            <a:avLst/>
          </a:prstGeom>
        </p:spPr>
        <p:txBody>
          <a:bodyPr wrap="square" lIns="0" tIns="0" rIns="0" bIns="0" rtlCol="0" anchor="t">
            <a:spAutoFit/>
          </a:bodyPr>
          <a:lstStyle>
            <a:defPPr>
              <a:defRPr lang="en-US"/>
            </a:defPPr>
            <a:lvl1pPr marL="0" algn="l" defTabSz="512064" rtl="0" eaLnBrk="1" latinLnBrk="0" hangingPunct="1">
              <a:defRPr sz="1008" kern="1200">
                <a:solidFill>
                  <a:schemeClr val="tx1"/>
                </a:solidFill>
                <a:latin typeface="+mn-lt"/>
                <a:ea typeface="+mn-ea"/>
                <a:cs typeface="+mn-cs"/>
              </a:defRPr>
            </a:lvl1pPr>
            <a:lvl2pPr marL="256032" algn="l" defTabSz="512064" rtl="0" eaLnBrk="1" latinLnBrk="0" hangingPunct="1">
              <a:defRPr sz="1008" kern="1200">
                <a:solidFill>
                  <a:schemeClr val="tx1"/>
                </a:solidFill>
                <a:latin typeface="+mn-lt"/>
                <a:ea typeface="+mn-ea"/>
                <a:cs typeface="+mn-cs"/>
              </a:defRPr>
            </a:lvl2pPr>
            <a:lvl3pPr marL="512064" algn="l" defTabSz="512064" rtl="0" eaLnBrk="1" latinLnBrk="0" hangingPunct="1">
              <a:defRPr sz="1008" kern="1200">
                <a:solidFill>
                  <a:schemeClr val="tx1"/>
                </a:solidFill>
                <a:latin typeface="+mn-lt"/>
                <a:ea typeface="+mn-ea"/>
                <a:cs typeface="+mn-cs"/>
              </a:defRPr>
            </a:lvl3pPr>
            <a:lvl4pPr marL="768096" algn="l" defTabSz="512064" rtl="0" eaLnBrk="1" latinLnBrk="0" hangingPunct="1">
              <a:defRPr sz="1008" kern="1200">
                <a:solidFill>
                  <a:schemeClr val="tx1"/>
                </a:solidFill>
                <a:latin typeface="+mn-lt"/>
                <a:ea typeface="+mn-ea"/>
                <a:cs typeface="+mn-cs"/>
              </a:defRPr>
            </a:lvl4pPr>
            <a:lvl5pPr marL="1024128" algn="l" defTabSz="512064" rtl="0" eaLnBrk="1" latinLnBrk="0" hangingPunct="1">
              <a:defRPr sz="1008" kern="1200">
                <a:solidFill>
                  <a:schemeClr val="tx1"/>
                </a:solidFill>
                <a:latin typeface="+mn-lt"/>
                <a:ea typeface="+mn-ea"/>
                <a:cs typeface="+mn-cs"/>
              </a:defRPr>
            </a:lvl5pPr>
            <a:lvl6pPr marL="1280160" algn="l" defTabSz="512064" rtl="0" eaLnBrk="1" latinLnBrk="0" hangingPunct="1">
              <a:defRPr sz="1008" kern="1200">
                <a:solidFill>
                  <a:schemeClr val="tx1"/>
                </a:solidFill>
                <a:latin typeface="+mn-lt"/>
                <a:ea typeface="+mn-ea"/>
                <a:cs typeface="+mn-cs"/>
              </a:defRPr>
            </a:lvl6pPr>
            <a:lvl7pPr marL="1536192" algn="l" defTabSz="512064" rtl="0" eaLnBrk="1" latinLnBrk="0" hangingPunct="1">
              <a:defRPr sz="1008" kern="1200">
                <a:solidFill>
                  <a:schemeClr val="tx1"/>
                </a:solidFill>
                <a:latin typeface="+mn-lt"/>
                <a:ea typeface="+mn-ea"/>
                <a:cs typeface="+mn-cs"/>
              </a:defRPr>
            </a:lvl7pPr>
            <a:lvl8pPr marL="1792224" algn="l" defTabSz="512064" rtl="0" eaLnBrk="1" latinLnBrk="0" hangingPunct="1">
              <a:defRPr sz="1008" kern="1200">
                <a:solidFill>
                  <a:schemeClr val="tx1"/>
                </a:solidFill>
                <a:latin typeface="+mn-lt"/>
                <a:ea typeface="+mn-ea"/>
                <a:cs typeface="+mn-cs"/>
              </a:defRPr>
            </a:lvl8pPr>
            <a:lvl9pPr marL="2048256" algn="l" defTabSz="512064" rtl="0" eaLnBrk="1" latinLnBrk="0" hangingPunct="1">
              <a:defRPr sz="1008" kern="1200">
                <a:solidFill>
                  <a:schemeClr val="tx1"/>
                </a:solidFill>
                <a:latin typeface="+mn-lt"/>
                <a:ea typeface="+mn-ea"/>
                <a:cs typeface="+mn-cs"/>
              </a:defRPr>
            </a:lvl9pPr>
          </a:lstStyle>
          <a:p>
            <a:pPr>
              <a:lnSpc>
                <a:spcPts val="2100"/>
              </a:lnSpc>
            </a:pPr>
            <a:r>
              <a:rPr lang="en-US" sz="1400" spc="32" dirty="0">
                <a:solidFill>
                  <a:srgbClr val="FFFFFF"/>
                </a:solidFill>
                <a:latin typeface="Arial MT Pro"/>
              </a:rPr>
              <a:t>Vehicle Style</a:t>
            </a:r>
          </a:p>
        </p:txBody>
      </p:sp>
      <p:graphicFrame>
        <p:nvGraphicFramePr>
          <p:cNvPr id="26" name="Table 25">
            <a:extLst>
              <a:ext uri="{FF2B5EF4-FFF2-40B4-BE49-F238E27FC236}">
                <a16:creationId xmlns:a16="http://schemas.microsoft.com/office/drawing/2014/main" id="{AF09371B-A2BE-B33E-794A-C4600C697400}"/>
              </a:ext>
            </a:extLst>
          </p:cNvPr>
          <p:cNvGraphicFramePr>
            <a:graphicFrameLocks noGrp="1"/>
          </p:cNvGraphicFramePr>
          <p:nvPr>
            <p:extLst>
              <p:ext uri="{D42A27DB-BD31-4B8C-83A1-F6EECF244321}">
                <p14:modId xmlns:p14="http://schemas.microsoft.com/office/powerpoint/2010/main" val="3971111125"/>
              </p:ext>
            </p:extLst>
          </p:nvPr>
        </p:nvGraphicFramePr>
        <p:xfrm>
          <a:off x="2213577" y="3405658"/>
          <a:ext cx="5120640" cy="2667000"/>
        </p:xfrm>
        <a:graphic>
          <a:graphicData uri="http://schemas.openxmlformats.org/drawingml/2006/table">
            <a:tbl>
              <a:tblPr firstRow="1" bandRow="1">
                <a:tableStyleId>{5C22544A-7EE6-4342-B048-85BDC9FD1C3A}</a:tableStyleId>
              </a:tblPr>
              <a:tblGrid>
                <a:gridCol w="1706880">
                  <a:extLst>
                    <a:ext uri="{9D8B030D-6E8A-4147-A177-3AD203B41FA5}">
                      <a16:colId xmlns:a16="http://schemas.microsoft.com/office/drawing/2014/main" val="3172106012"/>
                    </a:ext>
                  </a:extLst>
                </a:gridCol>
                <a:gridCol w="1706880">
                  <a:extLst>
                    <a:ext uri="{9D8B030D-6E8A-4147-A177-3AD203B41FA5}">
                      <a16:colId xmlns:a16="http://schemas.microsoft.com/office/drawing/2014/main" val="3993420052"/>
                    </a:ext>
                  </a:extLst>
                </a:gridCol>
                <a:gridCol w="1706880">
                  <a:extLst>
                    <a:ext uri="{9D8B030D-6E8A-4147-A177-3AD203B41FA5}">
                      <a16:colId xmlns:a16="http://schemas.microsoft.com/office/drawing/2014/main" val="344897738"/>
                    </a:ext>
                  </a:extLst>
                </a:gridCol>
              </a:tblGrid>
              <a:tr h="370840">
                <a:tc>
                  <a:txBody>
                    <a:bodyPr/>
                    <a:lstStyle/>
                    <a:p>
                      <a:r>
                        <a:rPr lang="en-US" sz="1400" dirty="0"/>
                        <a:t>No. Of </a:t>
                      </a:r>
                      <a:r>
                        <a:rPr lang="en-US" sz="1400" err="1"/>
                        <a:t>Categores</a:t>
                      </a:r>
                    </a:p>
                  </a:txBody>
                  <a:tcPr/>
                </a:tc>
                <a:tc>
                  <a:txBody>
                    <a:bodyPr/>
                    <a:lstStyle/>
                    <a:p>
                      <a:r>
                        <a:rPr lang="en-US" sz="1400" dirty="0"/>
                        <a:t>Least Common</a:t>
                      </a:r>
                    </a:p>
                  </a:txBody>
                  <a:tcPr/>
                </a:tc>
                <a:tc>
                  <a:txBody>
                    <a:bodyPr/>
                    <a:lstStyle/>
                    <a:p>
                      <a:r>
                        <a:rPr lang="en-US" sz="1400" dirty="0"/>
                        <a:t>Most Common</a:t>
                      </a:r>
                    </a:p>
                  </a:txBody>
                  <a:tcPr/>
                </a:tc>
                <a:extLst>
                  <a:ext uri="{0D108BD9-81ED-4DB2-BD59-A6C34878D82A}">
                    <a16:rowId xmlns:a16="http://schemas.microsoft.com/office/drawing/2014/main" val="3233034997"/>
                  </a:ext>
                </a:extLst>
              </a:tr>
              <a:tr h="370840">
                <a:tc>
                  <a:txBody>
                    <a:bodyPr/>
                    <a:lstStyle/>
                    <a:p>
                      <a:r>
                        <a:rPr lang="en-US" sz="1400" dirty="0"/>
                        <a:t>11</a:t>
                      </a:r>
                    </a:p>
                  </a:txBody>
                  <a:tcPr/>
                </a:tc>
                <a:tc>
                  <a:txBody>
                    <a:bodyPr/>
                    <a:lstStyle/>
                    <a:p>
                      <a:r>
                        <a:rPr lang="en-US" sz="1400" dirty="0"/>
                        <a:t>Natural Gas (2)</a:t>
                      </a:r>
                    </a:p>
                  </a:txBody>
                  <a:tcPr/>
                </a:tc>
                <a:tc>
                  <a:txBody>
                    <a:bodyPr/>
                    <a:lstStyle/>
                    <a:p>
                      <a:r>
                        <a:rPr lang="en-US" sz="1400" dirty="0"/>
                        <a:t>Regular Unleaded (7172)</a:t>
                      </a:r>
                    </a:p>
                  </a:txBody>
                  <a:tcPr/>
                </a:tc>
                <a:extLst>
                  <a:ext uri="{0D108BD9-81ED-4DB2-BD59-A6C34878D82A}">
                    <a16:rowId xmlns:a16="http://schemas.microsoft.com/office/drawing/2014/main" val="1763043483"/>
                  </a:ext>
                </a:extLst>
              </a:tr>
              <a:tr h="370840">
                <a:tc>
                  <a:txBody>
                    <a:bodyPr/>
                    <a:lstStyle/>
                    <a:p>
                      <a:r>
                        <a:rPr lang="en-US" sz="1400" dirty="0"/>
                        <a:t>5</a:t>
                      </a:r>
                    </a:p>
                  </a:txBody>
                  <a:tcPr/>
                </a:tc>
                <a:tc>
                  <a:txBody>
                    <a:bodyPr/>
                    <a:lstStyle/>
                    <a:p>
                      <a:r>
                        <a:rPr lang="en-US" sz="1400" dirty="0"/>
                        <a:t>Unknown (19)</a:t>
                      </a:r>
                    </a:p>
                  </a:txBody>
                  <a:tcPr/>
                </a:tc>
                <a:tc>
                  <a:txBody>
                    <a:bodyPr/>
                    <a:lstStyle/>
                    <a:p>
                      <a:pPr lvl="0">
                        <a:buNone/>
                      </a:pPr>
                      <a:r>
                        <a:rPr lang="en-US" sz="1400" b="0" i="0" u="none" strike="noStrike" noProof="0" dirty="0">
                          <a:solidFill>
                            <a:srgbClr val="000000"/>
                          </a:solidFill>
                          <a:latin typeface="Calibri"/>
                        </a:rPr>
                        <a:t>Automatic (8266)</a:t>
                      </a:r>
                      <a:endParaRPr lang="en-US" sz="1400" dirty="0"/>
                    </a:p>
                  </a:txBody>
                  <a:tcPr/>
                </a:tc>
                <a:extLst>
                  <a:ext uri="{0D108BD9-81ED-4DB2-BD59-A6C34878D82A}">
                    <a16:rowId xmlns:a16="http://schemas.microsoft.com/office/drawing/2014/main" val="914021119"/>
                  </a:ext>
                </a:extLst>
              </a:tr>
              <a:tr h="370840">
                <a:tc>
                  <a:txBody>
                    <a:bodyPr/>
                    <a:lstStyle/>
                    <a:p>
                      <a:r>
                        <a:rPr lang="en-US" sz="1400" dirty="0"/>
                        <a:t>4</a:t>
                      </a:r>
                    </a:p>
                  </a:txBody>
                  <a:tcPr/>
                </a:tc>
                <a:tc>
                  <a:txBody>
                    <a:bodyPr/>
                    <a:lstStyle/>
                    <a:p>
                      <a:r>
                        <a:rPr lang="en-US" sz="1400" dirty="0"/>
                        <a:t>Four Wheel Drive (1403)</a:t>
                      </a:r>
                    </a:p>
                  </a:txBody>
                  <a:tcPr/>
                </a:tc>
                <a:tc>
                  <a:txBody>
                    <a:bodyPr/>
                    <a:lstStyle/>
                    <a:p>
                      <a:r>
                        <a:rPr lang="en-US" sz="1400" dirty="0"/>
                        <a:t>Front Wheel Drive (4787)</a:t>
                      </a:r>
                    </a:p>
                  </a:txBody>
                  <a:tcPr/>
                </a:tc>
                <a:extLst>
                  <a:ext uri="{0D108BD9-81ED-4DB2-BD59-A6C34878D82A}">
                    <a16:rowId xmlns:a16="http://schemas.microsoft.com/office/drawing/2014/main" val="2962197195"/>
                  </a:ext>
                </a:extLst>
              </a:tr>
              <a:tr h="370840">
                <a:tc>
                  <a:txBody>
                    <a:bodyPr/>
                    <a:lstStyle/>
                    <a:p>
                      <a:r>
                        <a:rPr lang="en-US" sz="1400" dirty="0"/>
                        <a:t>72</a:t>
                      </a:r>
                    </a:p>
                  </a:txBody>
                  <a:tcPr/>
                </a:tc>
                <a:tc>
                  <a:txBody>
                    <a:bodyPr/>
                    <a:lstStyle/>
                    <a:p>
                      <a:pPr lvl="0">
                        <a:buNone/>
                      </a:pPr>
                      <a:r>
                        <a:rPr lang="en-US" sz="1400" b="0" i="0" u="none" strike="noStrike" noProof="0" err="1">
                          <a:solidFill>
                            <a:srgbClr val="000000"/>
                          </a:solidFill>
                          <a:latin typeface="Calibri"/>
                        </a:rPr>
                        <a:t>Crossover,Exotic</a:t>
                      </a:r>
                      <a:r>
                        <a:rPr lang="en-US" sz="1400" b="0" i="0" u="none" strike="noStrike" noProof="0" dirty="0">
                          <a:solidFill>
                            <a:srgbClr val="000000"/>
                          </a:solidFill>
                          <a:latin typeface="Calibri"/>
                        </a:rPr>
                        <a:t>, Luxury, High-Perf (1)</a:t>
                      </a:r>
                      <a:endParaRPr lang="en-US" sz="1400" dirty="0"/>
                    </a:p>
                  </a:txBody>
                  <a:tcPr/>
                </a:tc>
                <a:tc>
                  <a:txBody>
                    <a:bodyPr/>
                    <a:lstStyle/>
                    <a:p>
                      <a:pPr lvl="0">
                        <a:buNone/>
                      </a:pPr>
                      <a:r>
                        <a:rPr lang="en-US" sz="1400" b="0" i="0" u="none" strike="noStrike" noProof="0" dirty="0">
                          <a:solidFill>
                            <a:srgbClr val="000000"/>
                          </a:solidFill>
                          <a:latin typeface="Calibri"/>
                        </a:rPr>
                        <a:t>N/A (3742) </a:t>
                      </a:r>
                    </a:p>
                  </a:txBody>
                  <a:tcPr/>
                </a:tc>
                <a:extLst>
                  <a:ext uri="{0D108BD9-81ED-4DB2-BD59-A6C34878D82A}">
                    <a16:rowId xmlns:a16="http://schemas.microsoft.com/office/drawing/2014/main" val="2057303444"/>
                  </a:ext>
                </a:extLst>
              </a:tr>
              <a:tr h="370840">
                <a:tc>
                  <a:txBody>
                    <a:bodyPr/>
                    <a:lstStyle/>
                    <a:p>
                      <a:r>
                        <a:rPr lang="en-US" sz="1400" dirty="0"/>
                        <a:t>16</a:t>
                      </a:r>
                    </a:p>
                  </a:txBody>
                  <a:tcPr/>
                </a:tc>
                <a:tc>
                  <a:txBody>
                    <a:bodyPr/>
                    <a:lstStyle/>
                    <a:p>
                      <a:pPr lvl="0">
                        <a:buNone/>
                      </a:pPr>
                      <a:r>
                        <a:rPr lang="en-US" sz="1400" b="0" i="0" u="none" strike="noStrike" noProof="0" dirty="0">
                          <a:solidFill>
                            <a:srgbClr val="000000"/>
                          </a:solidFill>
                          <a:latin typeface="Calibri"/>
                        </a:rPr>
                        <a:t>Convertible SUV (29)</a:t>
                      </a:r>
                      <a:endParaRPr lang="en-US" sz="1400" dirty="0"/>
                    </a:p>
                  </a:txBody>
                  <a:tcPr/>
                </a:tc>
                <a:tc>
                  <a:txBody>
                    <a:bodyPr/>
                    <a:lstStyle/>
                    <a:p>
                      <a:pPr lvl="0">
                        <a:buNone/>
                      </a:pPr>
                      <a:r>
                        <a:rPr lang="en-US" sz="1400" b="0" i="0" u="none" strike="noStrike" noProof="0" dirty="0">
                          <a:solidFill>
                            <a:srgbClr val="000000"/>
                          </a:solidFill>
                          <a:latin typeface="Calibri"/>
                        </a:rPr>
                        <a:t>Sedan (3048)</a:t>
                      </a:r>
                      <a:endParaRPr lang="en-US" sz="1400" dirty="0"/>
                    </a:p>
                  </a:txBody>
                  <a:tcPr/>
                </a:tc>
                <a:extLst>
                  <a:ext uri="{0D108BD9-81ED-4DB2-BD59-A6C34878D82A}">
                    <a16:rowId xmlns:a16="http://schemas.microsoft.com/office/drawing/2014/main" val="4094572614"/>
                  </a:ext>
                </a:extLst>
              </a:tr>
            </a:tbl>
          </a:graphicData>
        </a:graphic>
      </p:graphicFrame>
    </p:spTree>
    <p:extLst>
      <p:ext uri="{BB962C8B-B14F-4D97-AF65-F5344CB8AC3E}">
        <p14:creationId xmlns:p14="http://schemas.microsoft.com/office/powerpoint/2010/main" val="26513057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85A0EF-BDAE-386B-5EF2-F317C347C5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D4F696-EA23-844D-B71A-C7198A809F83}"/>
              </a:ext>
            </a:extLst>
          </p:cNvPr>
          <p:cNvSpPr>
            <a:spLocks noGrp="1"/>
          </p:cNvSpPr>
          <p:nvPr>
            <p:ph type="title"/>
          </p:nvPr>
        </p:nvSpPr>
        <p:spPr>
          <a:xfrm>
            <a:off x="228600" y="183092"/>
            <a:ext cx="8590344" cy="723418"/>
          </a:xfrm>
        </p:spPr>
        <p:txBody>
          <a:bodyPr>
            <a:normAutofit fontScale="90000"/>
          </a:bodyPr>
          <a:lstStyle/>
          <a:p>
            <a:r>
              <a:rPr lang="en-US" dirty="0">
                <a:ea typeface="Calibri"/>
                <a:cs typeface="Calibri"/>
              </a:rPr>
              <a:t>EDA: MSRP vs Vehicle Style</a:t>
            </a:r>
            <a:endParaRPr lang="en-US" dirty="0"/>
          </a:p>
        </p:txBody>
      </p:sp>
      <p:sp>
        <p:nvSpPr>
          <p:cNvPr id="3" name="Content Placeholder 2">
            <a:extLst>
              <a:ext uri="{FF2B5EF4-FFF2-40B4-BE49-F238E27FC236}">
                <a16:creationId xmlns:a16="http://schemas.microsoft.com/office/drawing/2014/main" id="{776268FC-3595-1F36-8912-57A2B46C2A35}"/>
              </a:ext>
            </a:extLst>
          </p:cNvPr>
          <p:cNvSpPr>
            <a:spLocks noGrp="1"/>
          </p:cNvSpPr>
          <p:nvPr>
            <p:ph idx="1"/>
          </p:nvPr>
        </p:nvSpPr>
        <p:spPr>
          <a:xfrm>
            <a:off x="228600" y="1066800"/>
            <a:ext cx="8696445" cy="5611967"/>
          </a:xfrm>
        </p:spPr>
        <p:txBody>
          <a:bodyPr vert="horz" lIns="91440" tIns="45720" rIns="91440" bIns="45720" rtlCol="0" anchor="t">
            <a:normAutofit/>
          </a:bodyPr>
          <a:lstStyle/>
          <a:p>
            <a:r>
              <a:rPr lang="en-US" sz="2400" dirty="0">
                <a:ea typeface="Calibri"/>
                <a:cs typeface="Calibri"/>
              </a:rPr>
              <a:t>Plot clearly shows that vehicle styles have varying degrees of Means and Medians</a:t>
            </a:r>
          </a:p>
          <a:p>
            <a:r>
              <a:rPr lang="en-US" sz="2400" dirty="0">
                <a:ea typeface="Calibri"/>
                <a:cs typeface="Calibri"/>
              </a:rPr>
              <a:t>Further Investigation could include running ANOVA to determine that each Style IS statistically significant from each other. </a:t>
            </a:r>
          </a:p>
          <a:p>
            <a:r>
              <a:rPr lang="en-US" sz="2400" dirty="0">
                <a:ea typeface="Calibri"/>
                <a:cs typeface="Calibri"/>
              </a:rPr>
              <a:t>Tried putting color for </a:t>
            </a:r>
            <a:r>
              <a:rPr lang="en-US" sz="2400" dirty="0" err="1">
                <a:ea typeface="Calibri"/>
                <a:cs typeface="Calibri"/>
              </a:rPr>
              <a:t>for</a:t>
            </a:r>
            <a:r>
              <a:rPr lang="en-US" sz="2400" dirty="0">
                <a:ea typeface="Calibri"/>
                <a:cs typeface="Calibri"/>
              </a:rPr>
              <a:t> info...no bueno</a:t>
            </a:r>
          </a:p>
          <a:p>
            <a:endParaRPr lang="en-US" sz="2400" dirty="0">
              <a:ea typeface="Calibri"/>
              <a:cs typeface="Calibri"/>
            </a:endParaRPr>
          </a:p>
          <a:p>
            <a:endParaRPr lang="en-US" sz="2400" dirty="0">
              <a:ea typeface="Calibri"/>
              <a:cs typeface="Calibri"/>
            </a:endParaRPr>
          </a:p>
        </p:txBody>
      </p:sp>
      <p:pic>
        <p:nvPicPr>
          <p:cNvPr id="4" name="Picture 3" descr="A graph of a chart&#10;&#10;AI-generated content may be incorrect.">
            <a:extLst>
              <a:ext uri="{FF2B5EF4-FFF2-40B4-BE49-F238E27FC236}">
                <a16:creationId xmlns:a16="http://schemas.microsoft.com/office/drawing/2014/main" id="{F3D36409-7C7B-5BC8-D238-7C5C8584D204}"/>
              </a:ext>
            </a:extLst>
          </p:cNvPr>
          <p:cNvPicPr>
            <a:picLocks noChangeAspect="1"/>
          </p:cNvPicPr>
          <p:nvPr/>
        </p:nvPicPr>
        <p:blipFill>
          <a:blip r:embed="rId2"/>
          <a:stretch>
            <a:fillRect/>
          </a:stretch>
        </p:blipFill>
        <p:spPr>
          <a:xfrm>
            <a:off x="4044462" y="3061491"/>
            <a:ext cx="4773897" cy="3366199"/>
          </a:xfrm>
          <a:prstGeom prst="rect">
            <a:avLst/>
          </a:prstGeom>
        </p:spPr>
      </p:pic>
    </p:spTree>
    <p:extLst>
      <p:ext uri="{BB962C8B-B14F-4D97-AF65-F5344CB8AC3E}">
        <p14:creationId xmlns:p14="http://schemas.microsoft.com/office/powerpoint/2010/main" val="32485266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52BFAB-A655-5074-BEF2-7A5864364C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FF2CEF-9B99-B7ED-B99D-A1CE411B2489}"/>
              </a:ext>
            </a:extLst>
          </p:cNvPr>
          <p:cNvSpPr>
            <a:spLocks noGrp="1"/>
          </p:cNvSpPr>
          <p:nvPr>
            <p:ph type="title"/>
          </p:nvPr>
        </p:nvSpPr>
        <p:spPr>
          <a:xfrm>
            <a:off x="228600" y="183092"/>
            <a:ext cx="8590344" cy="723418"/>
          </a:xfrm>
        </p:spPr>
        <p:txBody>
          <a:bodyPr>
            <a:normAutofit fontScale="90000"/>
          </a:bodyPr>
          <a:lstStyle/>
          <a:p>
            <a:r>
              <a:rPr lang="en-US" dirty="0">
                <a:ea typeface="Calibri"/>
                <a:cs typeface="Calibri"/>
              </a:rPr>
              <a:t>Horse Power and City MPG vs. MSRP </a:t>
            </a:r>
            <a:endParaRPr lang="en-US" dirty="0"/>
          </a:p>
        </p:txBody>
      </p:sp>
      <p:sp>
        <p:nvSpPr>
          <p:cNvPr id="3" name="Content Placeholder 2">
            <a:extLst>
              <a:ext uri="{FF2B5EF4-FFF2-40B4-BE49-F238E27FC236}">
                <a16:creationId xmlns:a16="http://schemas.microsoft.com/office/drawing/2014/main" id="{A9C02455-CAE9-3A07-AC02-480B1CAFFE16}"/>
              </a:ext>
            </a:extLst>
          </p:cNvPr>
          <p:cNvSpPr>
            <a:spLocks noGrp="1"/>
          </p:cNvSpPr>
          <p:nvPr>
            <p:ph idx="1"/>
          </p:nvPr>
        </p:nvSpPr>
        <p:spPr>
          <a:xfrm>
            <a:off x="228600" y="1066800"/>
            <a:ext cx="8696445" cy="5611967"/>
          </a:xfrm>
        </p:spPr>
        <p:txBody>
          <a:bodyPr vert="horz" lIns="91440" tIns="45720" rIns="91440" bIns="45720" rtlCol="0" anchor="t">
            <a:normAutofit/>
          </a:bodyPr>
          <a:lstStyle/>
          <a:p>
            <a:r>
              <a:rPr lang="en-US" sz="2400" dirty="0">
                <a:ea typeface="Calibri"/>
                <a:cs typeface="Calibri"/>
              </a:rPr>
              <a:t>Interesting stuff here. As HP increases the MSRP has a positive increase, but MPG seems to go down</a:t>
            </a:r>
          </a:p>
          <a:p>
            <a:r>
              <a:rPr lang="en-US" sz="2400" dirty="0">
                <a:ea typeface="Calibri"/>
                <a:cs typeface="Calibri"/>
              </a:rPr>
              <a:t>MPG has some weird trends.</a:t>
            </a:r>
          </a:p>
          <a:p>
            <a:pPr lvl="1">
              <a:buFont typeface="Courier New" pitchFamily="34" charset="0"/>
              <a:buChar char="o"/>
            </a:pPr>
            <a:r>
              <a:rPr lang="en-US" sz="2000" dirty="0">
                <a:ea typeface="Calibri"/>
                <a:cs typeface="Calibri"/>
              </a:rPr>
              <a:t>Has a negative correlation with MSRP</a:t>
            </a:r>
          </a:p>
          <a:p>
            <a:pPr lvl="1">
              <a:buFont typeface="Courier New" pitchFamily="34" charset="0"/>
              <a:buChar char="o"/>
            </a:pPr>
            <a:r>
              <a:rPr lang="en-US" sz="2000" dirty="0">
                <a:ea typeface="Calibri"/>
                <a:cs typeface="Calibri"/>
              </a:rPr>
              <a:t>Aside from Electric and Luxury cars, most cars do not go above 40MPG</a:t>
            </a:r>
          </a:p>
        </p:txBody>
      </p:sp>
      <p:pic>
        <p:nvPicPr>
          <p:cNvPr id="4" name="Picture 3" descr="A graph of colored dots&#10;&#10;AI-generated content may be incorrect.">
            <a:extLst>
              <a:ext uri="{FF2B5EF4-FFF2-40B4-BE49-F238E27FC236}">
                <a16:creationId xmlns:a16="http://schemas.microsoft.com/office/drawing/2014/main" id="{97A22DE9-BFCB-4F1D-BEDE-B42761DFB23E}"/>
              </a:ext>
            </a:extLst>
          </p:cNvPr>
          <p:cNvPicPr>
            <a:picLocks noChangeAspect="1"/>
          </p:cNvPicPr>
          <p:nvPr/>
        </p:nvPicPr>
        <p:blipFill>
          <a:blip r:embed="rId2"/>
          <a:stretch>
            <a:fillRect/>
          </a:stretch>
        </p:blipFill>
        <p:spPr>
          <a:xfrm>
            <a:off x="148301" y="3985549"/>
            <a:ext cx="4265752" cy="2629383"/>
          </a:xfrm>
          <a:prstGeom prst="rect">
            <a:avLst/>
          </a:prstGeom>
        </p:spPr>
      </p:pic>
      <p:pic>
        <p:nvPicPr>
          <p:cNvPr id="6" name="Picture 5" descr="A graph of a relationship between city mpg and car price&#10;&#10;AI-generated content may be incorrect.">
            <a:extLst>
              <a:ext uri="{FF2B5EF4-FFF2-40B4-BE49-F238E27FC236}">
                <a16:creationId xmlns:a16="http://schemas.microsoft.com/office/drawing/2014/main" id="{3426C89C-0F6C-0233-262B-3397C2FDFCF5}"/>
              </a:ext>
            </a:extLst>
          </p:cNvPr>
          <p:cNvPicPr>
            <a:picLocks noChangeAspect="1"/>
          </p:cNvPicPr>
          <p:nvPr/>
        </p:nvPicPr>
        <p:blipFill>
          <a:blip r:embed="rId3"/>
          <a:stretch>
            <a:fillRect/>
          </a:stretch>
        </p:blipFill>
        <p:spPr>
          <a:xfrm>
            <a:off x="4517744" y="3956612"/>
            <a:ext cx="4371855" cy="2696902"/>
          </a:xfrm>
          <a:prstGeom prst="rect">
            <a:avLst/>
          </a:prstGeom>
        </p:spPr>
      </p:pic>
    </p:spTree>
    <p:extLst>
      <p:ext uri="{BB962C8B-B14F-4D97-AF65-F5344CB8AC3E}">
        <p14:creationId xmlns:p14="http://schemas.microsoft.com/office/powerpoint/2010/main" val="6789898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3D08FDF-8FA5-945A-4E28-F34A1CC085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47FE31-001F-7082-72C7-324B574E9DE5}"/>
              </a:ext>
            </a:extLst>
          </p:cNvPr>
          <p:cNvSpPr>
            <a:spLocks noGrp="1"/>
          </p:cNvSpPr>
          <p:nvPr>
            <p:ph type="title"/>
          </p:nvPr>
        </p:nvSpPr>
        <p:spPr>
          <a:xfrm>
            <a:off x="657519" y="741391"/>
            <a:ext cx="2591866" cy="1616203"/>
          </a:xfrm>
        </p:spPr>
        <p:txBody>
          <a:bodyPr anchor="b">
            <a:normAutofit/>
          </a:bodyPr>
          <a:lstStyle/>
          <a:p>
            <a:r>
              <a:rPr lang="en-US" sz="2800">
                <a:ea typeface="Calibri"/>
                <a:cs typeface="Calibri"/>
              </a:rPr>
              <a:t>Heat Map with all Continous Variables</a:t>
            </a:r>
          </a:p>
        </p:txBody>
      </p:sp>
      <p:sp>
        <p:nvSpPr>
          <p:cNvPr id="3" name="Content Placeholder 2">
            <a:extLst>
              <a:ext uri="{FF2B5EF4-FFF2-40B4-BE49-F238E27FC236}">
                <a16:creationId xmlns:a16="http://schemas.microsoft.com/office/drawing/2014/main" id="{EB9D9607-9975-5980-E7C1-FCB89B1CD33B}"/>
              </a:ext>
            </a:extLst>
          </p:cNvPr>
          <p:cNvSpPr>
            <a:spLocks noGrp="1"/>
          </p:cNvSpPr>
          <p:nvPr>
            <p:ph idx="1"/>
          </p:nvPr>
        </p:nvSpPr>
        <p:spPr>
          <a:xfrm>
            <a:off x="657519" y="2533476"/>
            <a:ext cx="2591866" cy="3447832"/>
          </a:xfrm>
        </p:spPr>
        <p:txBody>
          <a:bodyPr vert="horz" lIns="91440" tIns="45720" rIns="91440" bIns="45720" rtlCol="0" anchor="t">
            <a:normAutofit/>
          </a:bodyPr>
          <a:lstStyle/>
          <a:p>
            <a:pPr>
              <a:lnSpc>
                <a:spcPct val="90000"/>
              </a:lnSpc>
            </a:pPr>
            <a:r>
              <a:rPr lang="en-US" sz="1700" dirty="0">
                <a:ea typeface="Calibri"/>
                <a:cs typeface="Calibri"/>
              </a:rPr>
              <a:t>Positive Correlation</a:t>
            </a:r>
          </a:p>
          <a:p>
            <a:pPr lvl="1">
              <a:lnSpc>
                <a:spcPct val="90000"/>
              </a:lnSpc>
              <a:buFont typeface="Courier New" pitchFamily="34" charset="0"/>
              <a:buChar char="o"/>
            </a:pPr>
            <a:r>
              <a:rPr lang="en-US" sz="1700" dirty="0">
                <a:ea typeface="Calibri"/>
                <a:cs typeface="Calibri"/>
              </a:rPr>
              <a:t>City and Highway MPG (Removed)</a:t>
            </a:r>
          </a:p>
          <a:p>
            <a:pPr lvl="1">
              <a:lnSpc>
                <a:spcPct val="90000"/>
              </a:lnSpc>
              <a:buFont typeface="Courier New" pitchFamily="34" charset="0"/>
              <a:buChar char="o"/>
            </a:pPr>
            <a:r>
              <a:rPr lang="en-US" sz="1700" dirty="0">
                <a:ea typeface="Calibri"/>
                <a:cs typeface="Calibri"/>
              </a:rPr>
              <a:t>Engine HP and Cylinders (Removed)</a:t>
            </a:r>
          </a:p>
          <a:p>
            <a:pPr>
              <a:lnSpc>
                <a:spcPct val="90000"/>
              </a:lnSpc>
            </a:pPr>
            <a:r>
              <a:rPr lang="en-US" sz="1700" dirty="0">
                <a:ea typeface="Calibri"/>
                <a:cs typeface="Calibri"/>
              </a:rPr>
              <a:t>Negative Correlations</a:t>
            </a:r>
          </a:p>
          <a:p>
            <a:pPr lvl="1">
              <a:lnSpc>
                <a:spcPct val="90000"/>
              </a:lnSpc>
              <a:buFont typeface="Courier New" pitchFamily="34" charset="0"/>
              <a:buChar char="o"/>
            </a:pPr>
            <a:r>
              <a:rPr lang="en-US" sz="1700" dirty="0">
                <a:ea typeface="Calibri"/>
                <a:cs typeface="Calibri"/>
              </a:rPr>
              <a:t>MPG and HP (Possible Interactions)</a:t>
            </a:r>
          </a:p>
          <a:p>
            <a:pPr>
              <a:lnSpc>
                <a:spcPct val="90000"/>
              </a:lnSpc>
            </a:pPr>
            <a:endParaRPr lang="en-US" sz="1700" dirty="0">
              <a:ea typeface="Calibri"/>
              <a:cs typeface="Calibri"/>
            </a:endParaRPr>
          </a:p>
        </p:txBody>
      </p:sp>
      <p:pic>
        <p:nvPicPr>
          <p:cNvPr id="4" name="Picture 3" descr="A graph of different colored squares&#10;&#10;AI-generated content may be incorrect.">
            <a:extLst>
              <a:ext uri="{FF2B5EF4-FFF2-40B4-BE49-F238E27FC236}">
                <a16:creationId xmlns:a16="http://schemas.microsoft.com/office/drawing/2014/main" id="{F23189CB-50C8-BC77-A038-1EB8839D2714}"/>
              </a:ext>
            </a:extLst>
          </p:cNvPr>
          <p:cNvPicPr>
            <a:picLocks noChangeAspect="1"/>
          </p:cNvPicPr>
          <p:nvPr/>
        </p:nvPicPr>
        <p:blipFill>
          <a:blip r:embed="rId2"/>
          <a:stretch>
            <a:fillRect/>
          </a:stretch>
        </p:blipFill>
        <p:spPr>
          <a:xfrm>
            <a:off x="3740754" y="1876252"/>
            <a:ext cx="4792009" cy="3114806"/>
          </a:xfrm>
          <a:prstGeom prst="rect">
            <a:avLst/>
          </a:prstGeom>
        </p:spPr>
      </p:pic>
      <p:grpSp>
        <p:nvGrpSpPr>
          <p:cNvPr id="6" name="Group 5">
            <a:extLst>
              <a:ext uri="{FF2B5EF4-FFF2-40B4-BE49-F238E27FC236}">
                <a16:creationId xmlns:a16="http://schemas.microsoft.com/office/drawing/2014/main" id="{6258F736-B256-8039-9DC6-F4E49A5C5AD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9051478" y="0"/>
            <a:ext cx="92522" cy="6858000"/>
            <a:chOff x="12068638" y="0"/>
            <a:chExt cx="123362" cy="6858000"/>
          </a:xfrm>
        </p:grpSpPr>
        <p:sp>
          <p:nvSpPr>
            <p:cNvPr id="10" name="Rectangle 9">
              <a:extLst>
                <a:ext uri="{FF2B5EF4-FFF2-40B4-BE49-F238E27FC236}">
                  <a16:creationId xmlns:a16="http://schemas.microsoft.com/office/drawing/2014/main" id="{10B4520A-996E-330C-99DA-69CA4D89E9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EC8FA945-E356-695F-18D6-CAD4EF34FE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3527553"/>
              <a:ext cx="123362" cy="3330447"/>
            </a:xfrm>
            <a:prstGeom prst="rect">
              <a:avLst/>
            </a:prstGeom>
            <a:gradFill>
              <a:gsLst>
                <a:gs pos="19000">
                  <a:schemeClr val="accent5">
                    <a:lumMod val="60000"/>
                    <a:lumOff val="40000"/>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6537879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38CEA6-C5C5-559F-5587-7722735890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992070-3970-CC74-ACCD-554B3F86F5ED}"/>
              </a:ext>
            </a:extLst>
          </p:cNvPr>
          <p:cNvSpPr>
            <a:spLocks noGrp="1"/>
          </p:cNvSpPr>
          <p:nvPr>
            <p:ph type="title"/>
          </p:nvPr>
        </p:nvSpPr>
        <p:spPr>
          <a:xfrm>
            <a:off x="228600" y="183092"/>
            <a:ext cx="8590344" cy="723418"/>
          </a:xfrm>
        </p:spPr>
        <p:txBody>
          <a:bodyPr>
            <a:normAutofit fontScale="90000"/>
          </a:bodyPr>
          <a:lstStyle/>
          <a:p>
            <a:r>
              <a:rPr lang="en-US" dirty="0">
                <a:ea typeface="Calibri"/>
                <a:cs typeface="Calibri"/>
              </a:rPr>
              <a:t>Modeling</a:t>
            </a:r>
            <a:endParaRPr lang="en-US" dirty="0"/>
          </a:p>
        </p:txBody>
      </p:sp>
      <p:sp>
        <p:nvSpPr>
          <p:cNvPr id="3" name="Content Placeholder 2">
            <a:extLst>
              <a:ext uri="{FF2B5EF4-FFF2-40B4-BE49-F238E27FC236}">
                <a16:creationId xmlns:a16="http://schemas.microsoft.com/office/drawing/2014/main" id="{3012701D-7186-513E-0E8F-9EF1ED5D12C9}"/>
              </a:ext>
            </a:extLst>
          </p:cNvPr>
          <p:cNvSpPr>
            <a:spLocks noGrp="1"/>
          </p:cNvSpPr>
          <p:nvPr>
            <p:ph idx="1"/>
          </p:nvPr>
        </p:nvSpPr>
        <p:spPr>
          <a:xfrm>
            <a:off x="228600" y="1066800"/>
            <a:ext cx="8696445" cy="5611967"/>
          </a:xfrm>
        </p:spPr>
        <p:txBody>
          <a:bodyPr vert="horz" lIns="91440" tIns="45720" rIns="91440" bIns="45720" rtlCol="0" anchor="t">
            <a:normAutofit/>
          </a:bodyPr>
          <a:lstStyle/>
          <a:p>
            <a:r>
              <a:rPr lang="en-US" dirty="0">
                <a:ea typeface="Calibri"/>
                <a:cs typeface="Calibri"/>
              </a:rPr>
              <a:t>We created multiple models (20 +) </a:t>
            </a:r>
          </a:p>
          <a:p>
            <a:pPr lvl="1">
              <a:buFont typeface="Courier New" pitchFamily="34" charset="0"/>
              <a:buChar char="o"/>
            </a:pPr>
            <a:r>
              <a:rPr lang="en-US" dirty="0">
                <a:ea typeface="Calibri"/>
                <a:cs typeface="Calibri"/>
              </a:rPr>
              <a:t>Investigating differences including and excluding outliers</a:t>
            </a:r>
          </a:p>
          <a:p>
            <a:pPr lvl="1">
              <a:buFont typeface="Courier New" pitchFamily="34" charset="0"/>
              <a:buChar char="o"/>
            </a:pPr>
            <a:r>
              <a:rPr lang="en-US" dirty="0">
                <a:ea typeface="Calibri"/>
                <a:cs typeface="Calibri"/>
              </a:rPr>
              <a:t>Investigated differences between Logging the Response Variable (MSRP)</a:t>
            </a:r>
          </a:p>
          <a:p>
            <a:pPr lvl="1">
              <a:buFont typeface="Courier New" pitchFamily="34" charset="0"/>
              <a:buChar char="o"/>
            </a:pPr>
            <a:r>
              <a:rPr lang="en-US" dirty="0">
                <a:ea typeface="Calibri"/>
                <a:cs typeface="Calibri"/>
              </a:rPr>
              <a:t>Made Model based on Simple MLR with Feature Selection</a:t>
            </a:r>
          </a:p>
          <a:p>
            <a:pPr lvl="2">
              <a:buFont typeface="Wingdings" pitchFamily="34" charset="0"/>
              <a:buChar char="§"/>
            </a:pPr>
            <a:r>
              <a:rPr lang="en-US" dirty="0">
                <a:ea typeface="Calibri"/>
                <a:cs typeface="Calibri"/>
              </a:rPr>
              <a:t>Forward, Backwards, and Stepwise</a:t>
            </a:r>
          </a:p>
          <a:p>
            <a:pPr lvl="1">
              <a:buFont typeface="Courier New" pitchFamily="34" charset="0"/>
              <a:buChar char="o"/>
            </a:pPr>
            <a:r>
              <a:rPr lang="en-US" dirty="0">
                <a:ea typeface="Calibri"/>
                <a:cs typeface="Calibri"/>
              </a:rPr>
              <a:t>Used Penalized Regression to create a model</a:t>
            </a:r>
          </a:p>
          <a:p>
            <a:pPr lvl="1">
              <a:buFont typeface="Courier New" pitchFamily="34" charset="0"/>
              <a:buChar char="o"/>
            </a:pPr>
            <a:r>
              <a:rPr lang="en-US" dirty="0">
                <a:ea typeface="Calibri"/>
                <a:cs typeface="Calibri"/>
              </a:rPr>
              <a:t>Created a Model using Interactions and a Polynomial</a:t>
            </a:r>
          </a:p>
          <a:p>
            <a:pPr lvl="1">
              <a:buFont typeface="Courier New" pitchFamily="34" charset="0"/>
              <a:buChar char="o"/>
            </a:pPr>
            <a:r>
              <a:rPr lang="en-US" dirty="0">
                <a:ea typeface="Calibri"/>
                <a:cs typeface="Calibri"/>
              </a:rPr>
              <a:t>Created Models using Non-Parametric functions</a:t>
            </a:r>
          </a:p>
          <a:p>
            <a:pPr lvl="1">
              <a:buFont typeface="Courier New" pitchFamily="34" charset="0"/>
              <a:buChar char="o"/>
            </a:pPr>
            <a:endParaRPr lang="en-US" dirty="0">
              <a:ea typeface="Calibri"/>
              <a:cs typeface="Calibri"/>
            </a:endParaRPr>
          </a:p>
          <a:p>
            <a:pPr lvl="1">
              <a:buFont typeface="Courier New" pitchFamily="34" charset="0"/>
              <a:buChar char="o"/>
            </a:pPr>
            <a:endParaRPr lang="en-US" dirty="0">
              <a:ea typeface="Calibri"/>
              <a:cs typeface="Calibri"/>
            </a:endParaRPr>
          </a:p>
          <a:p>
            <a:pPr lvl="2">
              <a:buFont typeface="Wingdings" pitchFamily="34" charset="0"/>
              <a:buChar char="§"/>
            </a:pPr>
            <a:endParaRPr lang="en-US" dirty="0">
              <a:ea typeface="Calibri"/>
              <a:cs typeface="Calibri"/>
            </a:endParaRPr>
          </a:p>
        </p:txBody>
      </p:sp>
    </p:spTree>
    <p:extLst>
      <p:ext uri="{BB962C8B-B14F-4D97-AF65-F5344CB8AC3E}">
        <p14:creationId xmlns:p14="http://schemas.microsoft.com/office/powerpoint/2010/main" val="36739905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857CCA-0A0D-60A5-9DCB-34DC1DBD57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657D83-8700-4349-5820-5DFECF28FA60}"/>
              </a:ext>
            </a:extLst>
          </p:cNvPr>
          <p:cNvSpPr>
            <a:spLocks noGrp="1"/>
          </p:cNvSpPr>
          <p:nvPr>
            <p:ph type="title"/>
          </p:nvPr>
        </p:nvSpPr>
        <p:spPr>
          <a:xfrm>
            <a:off x="228600" y="183092"/>
            <a:ext cx="8590344" cy="723418"/>
          </a:xfrm>
        </p:spPr>
        <p:txBody>
          <a:bodyPr>
            <a:normAutofit fontScale="90000"/>
          </a:bodyPr>
          <a:lstStyle/>
          <a:p>
            <a:r>
              <a:rPr lang="en-US" dirty="0">
                <a:ea typeface="Calibri"/>
                <a:cs typeface="Calibri"/>
              </a:rPr>
              <a:t>Simple MLR</a:t>
            </a:r>
          </a:p>
        </p:txBody>
      </p:sp>
      <p:sp>
        <p:nvSpPr>
          <p:cNvPr id="3" name="Content Placeholder 2">
            <a:extLst>
              <a:ext uri="{FF2B5EF4-FFF2-40B4-BE49-F238E27FC236}">
                <a16:creationId xmlns:a16="http://schemas.microsoft.com/office/drawing/2014/main" id="{2273EF75-C6FB-5889-5D7C-4B9BB5BA13CA}"/>
              </a:ext>
            </a:extLst>
          </p:cNvPr>
          <p:cNvSpPr>
            <a:spLocks noGrp="1"/>
          </p:cNvSpPr>
          <p:nvPr>
            <p:ph idx="1"/>
          </p:nvPr>
        </p:nvSpPr>
        <p:spPr>
          <a:xfrm>
            <a:off x="228600" y="1066800"/>
            <a:ext cx="8696445" cy="5611967"/>
          </a:xfrm>
        </p:spPr>
        <p:txBody>
          <a:bodyPr vert="horz" lIns="91440" tIns="45720" rIns="91440" bIns="45720" rtlCol="0" anchor="t">
            <a:normAutofit/>
          </a:bodyPr>
          <a:lstStyle/>
          <a:p>
            <a:r>
              <a:rPr lang="en-US" dirty="0">
                <a:ea typeface="Calibri"/>
                <a:cs typeface="Calibri"/>
              </a:rPr>
              <a:t>Forward/Backwards/Stepwise</a:t>
            </a:r>
            <a:endParaRPr lang="en-US" dirty="0"/>
          </a:p>
          <a:p>
            <a:pPr lvl="1">
              <a:buFont typeface="Courier New" pitchFamily="34" charset="0"/>
              <a:buChar char="o"/>
            </a:pPr>
            <a:r>
              <a:rPr lang="en-US" dirty="0">
                <a:ea typeface="Calibri"/>
                <a:cs typeface="Calibri"/>
              </a:rPr>
              <a:t>All had the same conclusion to keep all predictors in</a:t>
            </a:r>
          </a:p>
          <a:p>
            <a:r>
              <a:rPr lang="en-US" dirty="0">
                <a:ea typeface="Calibri"/>
                <a:cs typeface="Calibri"/>
              </a:rPr>
              <a:t>Penalized Regression</a:t>
            </a:r>
          </a:p>
          <a:p>
            <a:pPr lvl="1">
              <a:buFont typeface="Courier New" pitchFamily="34" charset="0"/>
              <a:buChar char="o"/>
            </a:pPr>
            <a:r>
              <a:rPr lang="en-US" dirty="0">
                <a:ea typeface="Calibri"/>
                <a:cs typeface="Calibri"/>
              </a:rPr>
              <a:t>Removed quite a few predictors from Market category</a:t>
            </a:r>
          </a:p>
          <a:p>
            <a:r>
              <a:rPr lang="en-US" dirty="0">
                <a:ea typeface="Calibri"/>
                <a:cs typeface="Calibri"/>
              </a:rPr>
              <a:t>Logging the Response Variable (MSRP) helps the models meet assumptions</a:t>
            </a:r>
          </a:p>
          <a:p>
            <a:r>
              <a:rPr lang="en-US" dirty="0">
                <a:ea typeface="Calibri"/>
                <a:cs typeface="Calibri"/>
              </a:rPr>
              <a:t>Creating models without outliers, helps the model predict with vehicles closer to the average of the dataset. </a:t>
            </a:r>
          </a:p>
        </p:txBody>
      </p:sp>
    </p:spTree>
    <p:extLst>
      <p:ext uri="{BB962C8B-B14F-4D97-AF65-F5344CB8AC3E}">
        <p14:creationId xmlns:p14="http://schemas.microsoft.com/office/powerpoint/2010/main" val="4904371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1210C1-122A-5C4C-3935-2A3682871B2B}"/>
              </a:ext>
            </a:extLst>
          </p:cNvPr>
          <p:cNvSpPr>
            <a:spLocks noGrp="1"/>
          </p:cNvSpPr>
          <p:nvPr>
            <p:ph type="title"/>
          </p:nvPr>
        </p:nvSpPr>
        <p:spPr>
          <a:xfrm>
            <a:off x="228600" y="183092"/>
            <a:ext cx="8823569" cy="762000"/>
          </a:xfrm>
        </p:spPr>
        <p:txBody>
          <a:bodyPr>
            <a:normAutofit/>
          </a:bodyPr>
          <a:lstStyle/>
          <a:p>
            <a:r>
              <a:rPr lang="en-US" dirty="0">
                <a:ea typeface="Calibri"/>
                <a:cs typeface="Calibri"/>
              </a:rPr>
              <a:t>Forward/Backwards/Stepwise Model</a:t>
            </a:r>
            <a:endParaRPr lang="en-US" dirty="0"/>
          </a:p>
        </p:txBody>
      </p:sp>
      <p:pic>
        <p:nvPicPr>
          <p:cNvPr id="4" name="Content Placeholder 3" descr="A screenshot of a computer&#10;&#10;AI-generated content may be incorrect.">
            <a:extLst>
              <a:ext uri="{FF2B5EF4-FFF2-40B4-BE49-F238E27FC236}">
                <a16:creationId xmlns:a16="http://schemas.microsoft.com/office/drawing/2014/main" id="{434A98DA-3798-B555-EB05-1554C9DE4780}"/>
              </a:ext>
            </a:extLst>
          </p:cNvPr>
          <p:cNvPicPr>
            <a:picLocks noGrp="1" noChangeAspect="1"/>
          </p:cNvPicPr>
          <p:nvPr>
            <p:ph idx="1"/>
          </p:nvPr>
        </p:nvPicPr>
        <p:blipFill>
          <a:blip r:embed="rId2"/>
          <a:stretch>
            <a:fillRect/>
          </a:stretch>
        </p:blipFill>
        <p:spPr>
          <a:xfrm>
            <a:off x="4937370" y="4616301"/>
            <a:ext cx="4114800" cy="2027334"/>
          </a:xfrm>
          <a:prstGeom prst="rect">
            <a:avLst/>
          </a:prstGeom>
        </p:spPr>
      </p:pic>
      <p:sp>
        <p:nvSpPr>
          <p:cNvPr id="7" name="TextBox 6">
            <a:extLst>
              <a:ext uri="{FF2B5EF4-FFF2-40B4-BE49-F238E27FC236}">
                <a16:creationId xmlns:a16="http://schemas.microsoft.com/office/drawing/2014/main" id="{31C17491-1A53-7C51-7319-338461FB0802}"/>
              </a:ext>
            </a:extLst>
          </p:cNvPr>
          <p:cNvSpPr txBox="1"/>
          <p:nvPr/>
        </p:nvSpPr>
        <p:spPr>
          <a:xfrm>
            <a:off x="488461" y="1084384"/>
            <a:ext cx="8049846"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Calibri"/>
              <a:buChar char="-"/>
            </a:pPr>
            <a:r>
              <a:rPr lang="en-US" dirty="0">
                <a:ea typeface="Calibri"/>
                <a:cs typeface="Calibri"/>
              </a:rPr>
              <a:t>Training off a data set that excluded outliers and using the Natural Logarithm, the Feature selection process decided that this was the best model. </a:t>
            </a:r>
          </a:p>
          <a:p>
            <a:pPr marL="285750" indent="-285750">
              <a:buFont typeface="Calibri"/>
              <a:buChar char="-"/>
            </a:pPr>
            <a:r>
              <a:rPr lang="en-US" dirty="0">
                <a:ea typeface="Calibri"/>
                <a:cs typeface="Calibri"/>
              </a:rPr>
              <a:t>In the model, there are several significant variables; Year, Horsepower, and MPG</a:t>
            </a:r>
          </a:p>
          <a:p>
            <a:pPr marL="742950" lvl="1" indent="-285750">
              <a:buFont typeface="Courier New"/>
              <a:buChar char="o"/>
            </a:pPr>
            <a:r>
              <a:rPr lang="en-US" dirty="0">
                <a:ea typeface="Calibri"/>
                <a:cs typeface="Calibri"/>
              </a:rPr>
              <a:t>Holding all other variables constant. </a:t>
            </a:r>
          </a:p>
          <a:p>
            <a:pPr marL="1200150" lvl="2" indent="-285750">
              <a:buFont typeface="Wingdings"/>
              <a:buChar char="§"/>
            </a:pPr>
            <a:r>
              <a:rPr lang="en-US" dirty="0">
                <a:ea typeface="Calibri"/>
                <a:cs typeface="Calibri"/>
              </a:rPr>
              <a:t>An increase in year is associated with a 10.7% increase to MSRP</a:t>
            </a:r>
          </a:p>
          <a:p>
            <a:pPr marL="1200150" lvl="2" indent="-285750">
              <a:buFont typeface="Wingdings"/>
              <a:buChar char="§"/>
            </a:pPr>
            <a:r>
              <a:rPr lang="en-US" dirty="0">
                <a:ea typeface="Calibri"/>
                <a:cs typeface="Calibri"/>
              </a:rPr>
              <a:t>Horsepower has an 10% associated increase to MSRP for every 100 units</a:t>
            </a:r>
          </a:p>
          <a:p>
            <a:pPr marL="1200150" lvl="2" indent="-285750">
              <a:buFont typeface="Wingdings"/>
              <a:buChar char="§"/>
            </a:pPr>
            <a:r>
              <a:rPr lang="en-US" dirty="0">
                <a:ea typeface="Calibri"/>
                <a:cs typeface="Calibri"/>
              </a:rPr>
              <a:t>Miles Per Gallon is associated with a 4.4% drop for ever additional mpg</a:t>
            </a:r>
          </a:p>
        </p:txBody>
      </p:sp>
    </p:spTree>
    <p:extLst>
      <p:ext uri="{BB962C8B-B14F-4D97-AF65-F5344CB8AC3E}">
        <p14:creationId xmlns:p14="http://schemas.microsoft.com/office/powerpoint/2010/main" val="18749786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23EA0B-92CF-8708-6B85-4295FDC19E4B}"/>
              </a:ext>
            </a:extLst>
          </p:cNvPr>
          <p:cNvSpPr>
            <a:spLocks noGrp="1"/>
          </p:cNvSpPr>
          <p:nvPr>
            <p:ph type="title"/>
          </p:nvPr>
        </p:nvSpPr>
        <p:spPr>
          <a:xfrm>
            <a:off x="228600" y="183092"/>
            <a:ext cx="8699825" cy="762000"/>
          </a:xfrm>
        </p:spPr>
        <p:txBody>
          <a:bodyPr>
            <a:normAutofit fontScale="90000"/>
          </a:bodyPr>
          <a:lstStyle/>
          <a:p>
            <a:r>
              <a:rPr lang="en-US" dirty="0">
                <a:ea typeface="Calibri"/>
                <a:cs typeface="Calibri"/>
              </a:rPr>
              <a:t>Assumption for Simple MLR (</a:t>
            </a:r>
            <a:r>
              <a:rPr lang="en-US" dirty="0" err="1">
                <a:ea typeface="Calibri"/>
                <a:cs typeface="Calibri"/>
              </a:rPr>
              <a:t>NoOut</a:t>
            </a:r>
            <a:r>
              <a:rPr lang="en-US" dirty="0">
                <a:ea typeface="Calibri"/>
                <a:cs typeface="Calibri"/>
              </a:rPr>
              <a:t>/Log)</a:t>
            </a:r>
            <a:endParaRPr lang="en-US" dirty="0"/>
          </a:p>
        </p:txBody>
      </p:sp>
      <p:sp>
        <p:nvSpPr>
          <p:cNvPr id="3" name="Content Placeholder 2">
            <a:extLst>
              <a:ext uri="{FF2B5EF4-FFF2-40B4-BE49-F238E27FC236}">
                <a16:creationId xmlns:a16="http://schemas.microsoft.com/office/drawing/2014/main" id="{A4AD4C60-BB83-632F-FDD4-743C47D17299}"/>
              </a:ext>
            </a:extLst>
          </p:cNvPr>
          <p:cNvSpPr>
            <a:spLocks noGrp="1"/>
          </p:cNvSpPr>
          <p:nvPr>
            <p:ph idx="1"/>
          </p:nvPr>
        </p:nvSpPr>
        <p:spPr>
          <a:xfrm>
            <a:off x="228600" y="1066800"/>
            <a:ext cx="8178799" cy="1897104"/>
          </a:xfrm>
        </p:spPr>
        <p:txBody>
          <a:bodyPr vert="horz" lIns="91440" tIns="45720" rIns="91440" bIns="45720" rtlCol="0" anchor="t">
            <a:normAutofit fontScale="47500" lnSpcReduction="20000"/>
          </a:bodyPr>
          <a:lstStyle/>
          <a:p>
            <a:r>
              <a:rPr lang="en-US" dirty="0">
                <a:ea typeface="Calibri"/>
                <a:cs typeface="Calibri"/>
              </a:rPr>
              <a:t>Residuals vs. </a:t>
            </a:r>
            <a:r>
              <a:rPr lang="en-US" dirty="0" err="1">
                <a:ea typeface="Calibri"/>
                <a:cs typeface="Calibri"/>
              </a:rPr>
              <a:t>Fitted:Scattered</a:t>
            </a:r>
            <a:r>
              <a:rPr lang="en-US" dirty="0">
                <a:ea typeface="Calibri"/>
                <a:cs typeface="Calibri"/>
              </a:rPr>
              <a:t> across, but distinct pattern  on the left side of plot</a:t>
            </a:r>
          </a:p>
          <a:p>
            <a:r>
              <a:rPr lang="en-US" dirty="0">
                <a:ea typeface="Calibri"/>
                <a:cs typeface="Calibri"/>
              </a:rPr>
              <a:t>Q-Q Plot: Follows closely on the line of reference, except on the right tail, indicating some outliers</a:t>
            </a:r>
          </a:p>
          <a:p>
            <a:r>
              <a:rPr lang="en-US" dirty="0">
                <a:ea typeface="Calibri"/>
                <a:cs typeface="Calibri"/>
              </a:rPr>
              <a:t>Scale-Location: Seems to have a lot of scatter across line of reference, but the left side of the plot shows a weird pattern and a little fanning. </a:t>
            </a:r>
          </a:p>
          <a:p>
            <a:r>
              <a:rPr lang="en-US" dirty="0">
                <a:ea typeface="Calibri"/>
                <a:cs typeface="Calibri"/>
              </a:rPr>
              <a:t>Residual vs. Leverage: Most of the plot lies on the left side of the plot. There are some points on the right side of the plot, but they do not have enough leverage, but they are highly influential and should be considered, especially since this model removed outliers. </a:t>
            </a:r>
          </a:p>
        </p:txBody>
      </p:sp>
      <p:pic>
        <p:nvPicPr>
          <p:cNvPr id="4" name="Picture 3" descr="A collage of graphs and charts&#10;&#10;AI-generated content may be incorrect.">
            <a:extLst>
              <a:ext uri="{FF2B5EF4-FFF2-40B4-BE49-F238E27FC236}">
                <a16:creationId xmlns:a16="http://schemas.microsoft.com/office/drawing/2014/main" id="{94E4F9A6-549B-5540-D702-08DC6F64B469}"/>
              </a:ext>
            </a:extLst>
          </p:cNvPr>
          <p:cNvPicPr>
            <a:picLocks noChangeAspect="1"/>
          </p:cNvPicPr>
          <p:nvPr/>
        </p:nvPicPr>
        <p:blipFill>
          <a:blip r:embed="rId2"/>
          <a:stretch>
            <a:fillRect/>
          </a:stretch>
        </p:blipFill>
        <p:spPr>
          <a:xfrm>
            <a:off x="1731840" y="3298135"/>
            <a:ext cx="4814114" cy="3185990"/>
          </a:xfrm>
          <a:prstGeom prst="rect">
            <a:avLst/>
          </a:prstGeom>
        </p:spPr>
      </p:pic>
    </p:spTree>
    <p:extLst>
      <p:ext uri="{BB962C8B-B14F-4D97-AF65-F5344CB8AC3E}">
        <p14:creationId xmlns:p14="http://schemas.microsoft.com/office/powerpoint/2010/main" val="42025809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04A1E-2CC2-714F-EA05-F83E810BC8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74F82A-9514-5FE7-581E-1020B11C9E28}"/>
              </a:ext>
            </a:extLst>
          </p:cNvPr>
          <p:cNvSpPr>
            <a:spLocks noGrp="1"/>
          </p:cNvSpPr>
          <p:nvPr>
            <p:ph type="title"/>
          </p:nvPr>
        </p:nvSpPr>
        <p:spPr>
          <a:xfrm>
            <a:off x="228600" y="183092"/>
            <a:ext cx="8590344" cy="723418"/>
          </a:xfrm>
        </p:spPr>
        <p:txBody>
          <a:bodyPr>
            <a:normAutofit fontScale="90000"/>
          </a:bodyPr>
          <a:lstStyle/>
          <a:p>
            <a:r>
              <a:rPr lang="en-US" dirty="0">
                <a:ea typeface="Calibri"/>
                <a:cs typeface="Calibri"/>
              </a:rPr>
              <a:t>Complex MLR</a:t>
            </a:r>
            <a:endParaRPr lang="en-US" dirty="0"/>
          </a:p>
        </p:txBody>
      </p:sp>
      <p:sp>
        <p:nvSpPr>
          <p:cNvPr id="3" name="Content Placeholder 2">
            <a:extLst>
              <a:ext uri="{FF2B5EF4-FFF2-40B4-BE49-F238E27FC236}">
                <a16:creationId xmlns:a16="http://schemas.microsoft.com/office/drawing/2014/main" id="{EFB85089-9BEF-A64D-CC32-687BC93A438B}"/>
              </a:ext>
            </a:extLst>
          </p:cNvPr>
          <p:cNvSpPr>
            <a:spLocks noGrp="1"/>
          </p:cNvSpPr>
          <p:nvPr>
            <p:ph idx="1"/>
          </p:nvPr>
        </p:nvSpPr>
        <p:spPr>
          <a:xfrm>
            <a:off x="228600" y="1066800"/>
            <a:ext cx="8696445" cy="5611967"/>
          </a:xfrm>
        </p:spPr>
        <p:txBody>
          <a:bodyPr vert="horz" lIns="91440" tIns="45720" rIns="91440" bIns="45720" rtlCol="0" anchor="t">
            <a:normAutofit/>
          </a:bodyPr>
          <a:lstStyle/>
          <a:p>
            <a:r>
              <a:rPr lang="en-US" dirty="0">
                <a:ea typeface="Calibri"/>
                <a:cs typeface="Calibri"/>
              </a:rPr>
              <a:t>Preliminary EDA stuff</a:t>
            </a:r>
          </a:p>
          <a:p>
            <a:r>
              <a:rPr lang="en-US" dirty="0">
                <a:ea typeface="Calibri"/>
                <a:cs typeface="Calibri"/>
              </a:rPr>
              <a:t>Discuss the interactions</a:t>
            </a:r>
          </a:p>
          <a:p>
            <a:pPr lvl="1">
              <a:buFont typeface="Courier New" pitchFamily="34" charset="0"/>
              <a:buChar char="o"/>
            </a:pPr>
            <a:r>
              <a:rPr lang="en-US" dirty="0">
                <a:ea typeface="Calibri"/>
                <a:cs typeface="Calibri"/>
              </a:rPr>
              <a:t>Why we including these interactions </a:t>
            </a:r>
          </a:p>
          <a:p>
            <a:pPr lvl="1">
              <a:buFont typeface="Courier New" pitchFamily="34" charset="0"/>
              <a:buChar char="o"/>
            </a:pPr>
            <a:r>
              <a:rPr lang="en-US" dirty="0">
                <a:ea typeface="Calibri"/>
                <a:cs typeface="Calibri"/>
              </a:rPr>
              <a:t>Why used some Polynomials</a:t>
            </a:r>
          </a:p>
        </p:txBody>
      </p:sp>
      <p:pic>
        <p:nvPicPr>
          <p:cNvPr id="4" name="Picture 3" descr="A graph of different colored lines&#10;&#10;AI-generated content may be incorrect.">
            <a:extLst>
              <a:ext uri="{FF2B5EF4-FFF2-40B4-BE49-F238E27FC236}">
                <a16:creationId xmlns:a16="http://schemas.microsoft.com/office/drawing/2014/main" id="{A5BAEDEF-5F0C-0A5F-FB14-4EABA9843BEF}"/>
              </a:ext>
            </a:extLst>
          </p:cNvPr>
          <p:cNvPicPr>
            <a:picLocks noChangeAspect="1"/>
          </p:cNvPicPr>
          <p:nvPr/>
        </p:nvPicPr>
        <p:blipFill>
          <a:blip r:embed="rId2"/>
          <a:stretch>
            <a:fillRect/>
          </a:stretch>
        </p:blipFill>
        <p:spPr>
          <a:xfrm>
            <a:off x="449385" y="3426208"/>
            <a:ext cx="3204309" cy="2278559"/>
          </a:xfrm>
          <a:prstGeom prst="rect">
            <a:avLst/>
          </a:prstGeom>
        </p:spPr>
      </p:pic>
      <p:pic>
        <p:nvPicPr>
          <p:cNvPr id="5" name="Picture 4" descr="A graph of different colored lines&#10;&#10;AI-generated content may be incorrect.">
            <a:extLst>
              <a:ext uri="{FF2B5EF4-FFF2-40B4-BE49-F238E27FC236}">
                <a16:creationId xmlns:a16="http://schemas.microsoft.com/office/drawing/2014/main" id="{FD156023-229B-F505-9BEA-C506305E8670}"/>
              </a:ext>
            </a:extLst>
          </p:cNvPr>
          <p:cNvPicPr>
            <a:picLocks noChangeAspect="1"/>
          </p:cNvPicPr>
          <p:nvPr/>
        </p:nvPicPr>
        <p:blipFill>
          <a:blip r:embed="rId3"/>
          <a:stretch>
            <a:fillRect/>
          </a:stretch>
        </p:blipFill>
        <p:spPr>
          <a:xfrm>
            <a:off x="3778250" y="3423138"/>
            <a:ext cx="2850988" cy="1776698"/>
          </a:xfrm>
          <a:prstGeom prst="rect">
            <a:avLst/>
          </a:prstGeom>
        </p:spPr>
      </p:pic>
      <p:pic>
        <p:nvPicPr>
          <p:cNvPr id="6" name="Picture 5" descr="A graph showing a curve&#10;&#10;AI-generated content may be incorrect.">
            <a:extLst>
              <a:ext uri="{FF2B5EF4-FFF2-40B4-BE49-F238E27FC236}">
                <a16:creationId xmlns:a16="http://schemas.microsoft.com/office/drawing/2014/main" id="{994A1138-62CE-FF61-28C4-128C3C8D483B}"/>
              </a:ext>
            </a:extLst>
          </p:cNvPr>
          <p:cNvPicPr>
            <a:picLocks noChangeAspect="1"/>
          </p:cNvPicPr>
          <p:nvPr/>
        </p:nvPicPr>
        <p:blipFill>
          <a:blip r:embed="rId4"/>
          <a:stretch>
            <a:fillRect/>
          </a:stretch>
        </p:blipFill>
        <p:spPr>
          <a:xfrm>
            <a:off x="6428153" y="4963234"/>
            <a:ext cx="2338104" cy="1653328"/>
          </a:xfrm>
          <a:prstGeom prst="rect">
            <a:avLst/>
          </a:prstGeom>
        </p:spPr>
      </p:pic>
    </p:spTree>
    <p:extLst>
      <p:ext uri="{BB962C8B-B14F-4D97-AF65-F5344CB8AC3E}">
        <p14:creationId xmlns:p14="http://schemas.microsoft.com/office/powerpoint/2010/main" val="4803115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4E169E-D385-2893-2D90-EED5F9DFBC99}"/>
              </a:ext>
            </a:extLst>
          </p:cNvPr>
          <p:cNvSpPr>
            <a:spLocks noGrp="1"/>
          </p:cNvSpPr>
          <p:nvPr>
            <p:ph type="title"/>
          </p:nvPr>
        </p:nvSpPr>
        <p:spPr>
          <a:xfrm>
            <a:off x="228600" y="183092"/>
            <a:ext cx="8576082" cy="879230"/>
          </a:xfrm>
        </p:spPr>
        <p:txBody>
          <a:bodyPr>
            <a:normAutofit/>
          </a:bodyPr>
          <a:lstStyle/>
          <a:p>
            <a:r>
              <a:rPr lang="en-US" dirty="0">
                <a:ea typeface="Calibri"/>
                <a:cs typeface="Calibri"/>
              </a:rPr>
              <a:t>Complex MLR Coefficients</a:t>
            </a:r>
          </a:p>
        </p:txBody>
      </p:sp>
      <p:sp>
        <p:nvSpPr>
          <p:cNvPr id="3" name="Content Placeholder 2">
            <a:extLst>
              <a:ext uri="{FF2B5EF4-FFF2-40B4-BE49-F238E27FC236}">
                <a16:creationId xmlns:a16="http://schemas.microsoft.com/office/drawing/2014/main" id="{5A9D6E6F-FB2C-6198-48A8-4637A5EE3715}"/>
              </a:ext>
            </a:extLst>
          </p:cNvPr>
          <p:cNvSpPr>
            <a:spLocks noGrp="1"/>
          </p:cNvSpPr>
          <p:nvPr>
            <p:ph idx="1"/>
          </p:nvPr>
        </p:nvSpPr>
        <p:spPr>
          <a:xfrm>
            <a:off x="228600" y="1060288"/>
            <a:ext cx="8354645" cy="4612949"/>
          </a:xfrm>
        </p:spPr>
        <p:txBody>
          <a:bodyPr vert="horz" lIns="91440" tIns="45720" rIns="91440" bIns="45720" rtlCol="0" anchor="t">
            <a:normAutofit fontScale="85000" lnSpcReduction="20000"/>
          </a:bodyPr>
          <a:lstStyle/>
          <a:p>
            <a:r>
              <a:rPr lang="en-US" dirty="0">
                <a:ea typeface="Calibri"/>
                <a:cs typeface="Calibri"/>
              </a:rPr>
              <a:t>In this model, the predictors, </a:t>
            </a:r>
            <a:r>
              <a:rPr lang="en-US" err="1">
                <a:ea typeface="Calibri"/>
                <a:cs typeface="Calibri"/>
              </a:rPr>
              <a:t>horsepower:Style</a:t>
            </a:r>
            <a:r>
              <a:rPr lang="en-US" dirty="0">
                <a:ea typeface="Calibri"/>
                <a:cs typeface="Calibri"/>
              </a:rPr>
              <a:t> and </a:t>
            </a:r>
            <a:r>
              <a:rPr lang="en-US" err="1">
                <a:ea typeface="Calibri"/>
                <a:cs typeface="Calibri"/>
              </a:rPr>
              <a:t>MPG:FuelType</a:t>
            </a:r>
            <a:r>
              <a:rPr lang="en-US" dirty="0">
                <a:ea typeface="Calibri"/>
                <a:cs typeface="Calibri"/>
              </a:rPr>
              <a:t> are interacted with each other (percentages are an adjustment to the default </a:t>
            </a:r>
            <a:r>
              <a:rPr lang="en-US">
                <a:ea typeface="Calibri"/>
                <a:cs typeface="Calibri"/>
              </a:rPr>
              <a:t>percentage)</a:t>
            </a:r>
            <a:endParaRPr lang="en-US" dirty="0"/>
          </a:p>
          <a:p>
            <a:pPr lvl="1">
              <a:buFont typeface="Courier New" pitchFamily="34" charset="0"/>
              <a:buChar char="o"/>
            </a:pPr>
            <a:r>
              <a:rPr lang="en-US" dirty="0">
                <a:ea typeface="Calibri"/>
                <a:cs typeface="Calibri"/>
              </a:rPr>
              <a:t>Allowing the model to have the flexibility to adjust </a:t>
            </a:r>
            <a:r>
              <a:rPr lang="en-US">
                <a:ea typeface="Calibri"/>
                <a:cs typeface="Calibri"/>
              </a:rPr>
              <a:t>the effects of MPG and HP</a:t>
            </a:r>
            <a:endParaRPr lang="en-US" dirty="0">
              <a:ea typeface="Calibri"/>
              <a:cs typeface="Calibri"/>
            </a:endParaRPr>
          </a:p>
          <a:p>
            <a:pPr lvl="2">
              <a:buFont typeface="Wingdings" pitchFamily="34" charset="0"/>
              <a:buChar char="§"/>
            </a:pPr>
            <a:r>
              <a:rPr lang="en-US" dirty="0">
                <a:ea typeface="Calibri"/>
                <a:cs typeface="Calibri"/>
              </a:rPr>
              <a:t>MPG has an positive </a:t>
            </a:r>
            <a:r>
              <a:rPr lang="en-US" err="1">
                <a:ea typeface="Calibri"/>
                <a:cs typeface="Calibri"/>
              </a:rPr>
              <a:t>assocation</a:t>
            </a:r>
            <a:r>
              <a:rPr lang="en-US" dirty="0">
                <a:ea typeface="Calibri"/>
                <a:cs typeface="Calibri"/>
              </a:rPr>
              <a:t> with electric vehicles (+4.2%) vs. Premium Unleaded has an</a:t>
            </a:r>
            <a:r>
              <a:rPr lang="en-US">
                <a:ea typeface="Calibri"/>
                <a:cs typeface="Calibri"/>
              </a:rPr>
              <a:t> negative effect (-5.2%)</a:t>
            </a:r>
            <a:endParaRPr lang="en-US" dirty="0">
              <a:ea typeface="Calibri"/>
              <a:cs typeface="Calibri"/>
            </a:endParaRPr>
          </a:p>
          <a:p>
            <a:pPr lvl="2">
              <a:buFont typeface="Wingdings" pitchFamily="34" charset="0"/>
              <a:buChar char="§"/>
            </a:pPr>
            <a:r>
              <a:rPr lang="en-US" dirty="0">
                <a:ea typeface="Calibri"/>
                <a:cs typeface="Calibri"/>
              </a:rPr>
              <a:t>An SUV has an positive effect with Horsepower (+0.26%) vs. A Crew Cab Pickup has an </a:t>
            </a:r>
            <a:r>
              <a:rPr lang="en-US">
                <a:ea typeface="Calibri"/>
                <a:cs typeface="Calibri"/>
              </a:rPr>
              <a:t>negative effect (-0.21%)</a:t>
            </a:r>
            <a:endParaRPr lang="en-US" dirty="0">
              <a:ea typeface="Calibri"/>
              <a:cs typeface="Calibri"/>
            </a:endParaRPr>
          </a:p>
          <a:p>
            <a:r>
              <a:rPr lang="en-US" dirty="0">
                <a:ea typeface="Calibri"/>
                <a:cs typeface="Calibri"/>
              </a:rPr>
              <a:t>We also added a quadratic </a:t>
            </a:r>
            <a:r>
              <a:rPr lang="en-US" err="1">
                <a:ea typeface="Calibri"/>
                <a:cs typeface="Calibri"/>
              </a:rPr>
              <a:t>effecton</a:t>
            </a:r>
            <a:r>
              <a:rPr lang="en-US" dirty="0">
                <a:ea typeface="Calibri"/>
                <a:cs typeface="Calibri"/>
              </a:rPr>
              <a:t> Horsepower and this had dampened the positive effect for the predictor </a:t>
            </a:r>
            <a:r>
              <a:rPr lang="en-US">
                <a:ea typeface="Calibri"/>
                <a:cs typeface="Calibri"/>
              </a:rPr>
              <a:t>as it grows larger.</a:t>
            </a:r>
            <a:endParaRPr lang="en-US" dirty="0">
              <a:ea typeface="Calibri"/>
              <a:cs typeface="Calibri"/>
            </a:endParaRPr>
          </a:p>
          <a:p>
            <a:endParaRPr lang="en-US" dirty="0">
              <a:ea typeface="Calibri"/>
              <a:cs typeface="Calibri"/>
            </a:endParaRPr>
          </a:p>
        </p:txBody>
      </p:sp>
    </p:spTree>
    <p:extLst>
      <p:ext uri="{BB962C8B-B14F-4D97-AF65-F5344CB8AC3E}">
        <p14:creationId xmlns:p14="http://schemas.microsoft.com/office/powerpoint/2010/main" val="10382921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1AABC6-04B6-9B5D-0936-8CD3BA426528}"/>
              </a:ext>
            </a:extLst>
          </p:cNvPr>
          <p:cNvSpPr>
            <a:spLocks noGrp="1"/>
          </p:cNvSpPr>
          <p:nvPr>
            <p:ph type="title"/>
          </p:nvPr>
        </p:nvSpPr>
        <p:spPr>
          <a:xfrm>
            <a:off x="228600" y="183092"/>
            <a:ext cx="8654235" cy="735949"/>
          </a:xfrm>
        </p:spPr>
        <p:txBody>
          <a:bodyPr>
            <a:normAutofit fontScale="90000"/>
          </a:bodyPr>
          <a:lstStyle/>
          <a:p>
            <a:r>
              <a:rPr lang="en-US" dirty="0">
                <a:ea typeface="Calibri"/>
                <a:cs typeface="Calibri"/>
              </a:rPr>
              <a:t>Assumptions Complex MLR</a:t>
            </a:r>
            <a:endParaRPr lang="en-US" dirty="0"/>
          </a:p>
        </p:txBody>
      </p:sp>
      <p:sp>
        <p:nvSpPr>
          <p:cNvPr id="3" name="Content Placeholder 2">
            <a:extLst>
              <a:ext uri="{FF2B5EF4-FFF2-40B4-BE49-F238E27FC236}">
                <a16:creationId xmlns:a16="http://schemas.microsoft.com/office/drawing/2014/main" id="{D93DD75B-DDC6-E968-EDC6-0E3A7DE60121}"/>
              </a:ext>
            </a:extLst>
          </p:cNvPr>
          <p:cNvSpPr>
            <a:spLocks noGrp="1"/>
          </p:cNvSpPr>
          <p:nvPr>
            <p:ph idx="1"/>
          </p:nvPr>
        </p:nvSpPr>
        <p:spPr>
          <a:xfrm>
            <a:off x="228600" y="1066800"/>
            <a:ext cx="8706337" cy="1766848"/>
          </a:xfrm>
        </p:spPr>
        <p:txBody>
          <a:bodyPr vert="horz" lIns="91440" tIns="45720" rIns="91440" bIns="45720" rtlCol="0" anchor="t">
            <a:normAutofit fontScale="55000" lnSpcReduction="20000"/>
          </a:bodyPr>
          <a:lstStyle/>
          <a:p>
            <a:r>
              <a:rPr lang="en-US" dirty="0">
                <a:ea typeface="Calibri"/>
                <a:cs typeface="Calibri"/>
              </a:rPr>
              <a:t>QQ Plot: Quite </a:t>
            </a:r>
            <a:r>
              <a:rPr lang="en-US">
                <a:ea typeface="Calibri"/>
                <a:cs typeface="Calibri"/>
              </a:rPr>
              <a:t>straight</a:t>
            </a:r>
            <a:r>
              <a:rPr lang="en-US" dirty="0">
                <a:ea typeface="Calibri"/>
                <a:cs typeface="Calibri"/>
              </a:rPr>
              <a:t>, with some deviation for line of reference</a:t>
            </a:r>
          </a:p>
          <a:p>
            <a:r>
              <a:rPr lang="en-US">
                <a:ea typeface="Calibri"/>
                <a:cs typeface="Calibri"/>
              </a:rPr>
              <a:t>One very influential point, but not a lot of leverage</a:t>
            </a:r>
            <a:endParaRPr lang="en-US" dirty="0">
              <a:ea typeface="Calibri"/>
              <a:cs typeface="Calibri"/>
            </a:endParaRPr>
          </a:p>
          <a:p>
            <a:r>
              <a:rPr lang="en-US" dirty="0">
                <a:ea typeface="Calibri"/>
                <a:cs typeface="Calibri"/>
              </a:rPr>
              <a:t>The Scale plot does not represent a line, which shows a deviation from </a:t>
            </a:r>
            <a:r>
              <a:rPr lang="en-US">
                <a:ea typeface="Calibri"/>
                <a:cs typeface="Calibri"/>
              </a:rPr>
              <a:t>the assumptions</a:t>
            </a:r>
          </a:p>
          <a:p>
            <a:r>
              <a:rPr lang="en-US" dirty="0">
                <a:ea typeface="Calibri"/>
                <a:cs typeface="Calibri"/>
              </a:rPr>
              <a:t>The Residual vs. Fitted plot, shows pattern, groupings, but still maintains a large amount of scattered randomness. The grouping could be due to the year attribute. </a:t>
            </a:r>
          </a:p>
        </p:txBody>
      </p:sp>
      <p:pic>
        <p:nvPicPr>
          <p:cNvPr id="5" name="Picture 4" descr="A graph with a line&#10;&#10;AI-generated content may be incorrect.">
            <a:extLst>
              <a:ext uri="{FF2B5EF4-FFF2-40B4-BE49-F238E27FC236}">
                <a16:creationId xmlns:a16="http://schemas.microsoft.com/office/drawing/2014/main" id="{03C3E5CA-D012-1524-1F76-AEA132A249E9}"/>
              </a:ext>
            </a:extLst>
          </p:cNvPr>
          <p:cNvPicPr>
            <a:picLocks noChangeAspect="1"/>
          </p:cNvPicPr>
          <p:nvPr/>
        </p:nvPicPr>
        <p:blipFill>
          <a:blip r:embed="rId2"/>
          <a:stretch>
            <a:fillRect/>
          </a:stretch>
        </p:blipFill>
        <p:spPr>
          <a:xfrm>
            <a:off x="1168767" y="4874194"/>
            <a:ext cx="2820622" cy="1414586"/>
          </a:xfrm>
          <a:prstGeom prst="rect">
            <a:avLst/>
          </a:prstGeom>
        </p:spPr>
      </p:pic>
      <p:pic>
        <p:nvPicPr>
          <p:cNvPr id="6" name="Picture 5">
            <a:extLst>
              <a:ext uri="{FF2B5EF4-FFF2-40B4-BE49-F238E27FC236}">
                <a16:creationId xmlns:a16="http://schemas.microsoft.com/office/drawing/2014/main" id="{1A746B35-ECA2-DC29-2D31-4BD5616A0354}"/>
              </a:ext>
            </a:extLst>
          </p:cNvPr>
          <p:cNvPicPr>
            <a:picLocks noChangeAspect="1"/>
          </p:cNvPicPr>
          <p:nvPr/>
        </p:nvPicPr>
        <p:blipFill>
          <a:blip r:embed="rId3"/>
          <a:stretch>
            <a:fillRect/>
          </a:stretch>
        </p:blipFill>
        <p:spPr>
          <a:xfrm>
            <a:off x="4149237" y="4875253"/>
            <a:ext cx="3548348" cy="1568777"/>
          </a:xfrm>
          <a:prstGeom prst="rect">
            <a:avLst/>
          </a:prstGeom>
        </p:spPr>
      </p:pic>
      <p:pic>
        <p:nvPicPr>
          <p:cNvPr id="4" name="Picture 3" descr="A graph with numbers and lines&#10;&#10;AI-generated content may be incorrect.">
            <a:extLst>
              <a:ext uri="{FF2B5EF4-FFF2-40B4-BE49-F238E27FC236}">
                <a16:creationId xmlns:a16="http://schemas.microsoft.com/office/drawing/2014/main" id="{586FDC98-0E5B-7163-E5BC-44927C65A3D9}"/>
              </a:ext>
            </a:extLst>
          </p:cNvPr>
          <p:cNvPicPr>
            <a:picLocks noChangeAspect="1"/>
          </p:cNvPicPr>
          <p:nvPr/>
        </p:nvPicPr>
        <p:blipFill>
          <a:blip r:embed="rId4"/>
          <a:stretch>
            <a:fillRect/>
          </a:stretch>
        </p:blipFill>
        <p:spPr>
          <a:xfrm>
            <a:off x="5087043" y="3067701"/>
            <a:ext cx="2877609" cy="1419470"/>
          </a:xfrm>
          <a:prstGeom prst="rect">
            <a:avLst/>
          </a:prstGeom>
        </p:spPr>
      </p:pic>
      <p:pic>
        <p:nvPicPr>
          <p:cNvPr id="7" name="Picture 6" descr="A diagram of a graph&#10;&#10;AI-generated content may be incorrect.">
            <a:extLst>
              <a:ext uri="{FF2B5EF4-FFF2-40B4-BE49-F238E27FC236}">
                <a16:creationId xmlns:a16="http://schemas.microsoft.com/office/drawing/2014/main" id="{F75CA9F0-1E11-BC2C-B45F-EC1DA0CAE733}"/>
              </a:ext>
            </a:extLst>
          </p:cNvPr>
          <p:cNvPicPr>
            <a:picLocks noChangeAspect="1"/>
          </p:cNvPicPr>
          <p:nvPr/>
        </p:nvPicPr>
        <p:blipFill>
          <a:blip r:embed="rId5"/>
          <a:stretch>
            <a:fillRect/>
          </a:stretch>
        </p:blipFill>
        <p:spPr>
          <a:xfrm>
            <a:off x="947006" y="2948516"/>
            <a:ext cx="3446504" cy="1664352"/>
          </a:xfrm>
          <a:prstGeom prst="rect">
            <a:avLst/>
          </a:prstGeom>
        </p:spPr>
      </p:pic>
    </p:spTree>
    <p:extLst>
      <p:ext uri="{BB962C8B-B14F-4D97-AF65-F5344CB8AC3E}">
        <p14:creationId xmlns:p14="http://schemas.microsoft.com/office/powerpoint/2010/main" val="33499326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3443CF-1DC3-6633-1F73-8D485BFB05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CE211E-C932-C28C-0162-CFDF2571BC37}"/>
              </a:ext>
            </a:extLst>
          </p:cNvPr>
          <p:cNvSpPr>
            <a:spLocks noGrp="1"/>
          </p:cNvSpPr>
          <p:nvPr>
            <p:ph type="title"/>
          </p:nvPr>
        </p:nvSpPr>
        <p:spPr>
          <a:xfrm>
            <a:off x="228600" y="183092"/>
            <a:ext cx="8590344" cy="723418"/>
          </a:xfrm>
        </p:spPr>
        <p:txBody>
          <a:bodyPr>
            <a:normAutofit fontScale="90000"/>
          </a:bodyPr>
          <a:lstStyle/>
          <a:p>
            <a:r>
              <a:rPr lang="en-US" dirty="0">
                <a:ea typeface="Calibri"/>
                <a:cs typeface="Calibri"/>
              </a:rPr>
              <a:t>Non-parametric Models</a:t>
            </a:r>
            <a:endParaRPr lang="en-US" dirty="0"/>
          </a:p>
        </p:txBody>
      </p:sp>
      <p:sp>
        <p:nvSpPr>
          <p:cNvPr id="3" name="Content Placeholder 2">
            <a:extLst>
              <a:ext uri="{FF2B5EF4-FFF2-40B4-BE49-F238E27FC236}">
                <a16:creationId xmlns:a16="http://schemas.microsoft.com/office/drawing/2014/main" id="{23AE68CA-5440-E3DA-FD12-C2685A1FEDE1}"/>
              </a:ext>
            </a:extLst>
          </p:cNvPr>
          <p:cNvSpPr>
            <a:spLocks noGrp="1"/>
          </p:cNvSpPr>
          <p:nvPr>
            <p:ph idx="1"/>
          </p:nvPr>
        </p:nvSpPr>
        <p:spPr>
          <a:xfrm>
            <a:off x="228600" y="1066800"/>
            <a:ext cx="8696445" cy="5611967"/>
          </a:xfrm>
        </p:spPr>
        <p:txBody>
          <a:bodyPr vert="horz" lIns="91440" tIns="45720" rIns="91440" bIns="45720" rtlCol="0" anchor="t">
            <a:normAutofit/>
          </a:bodyPr>
          <a:lstStyle/>
          <a:p>
            <a:r>
              <a:rPr lang="en-US" sz="2400" dirty="0">
                <a:ea typeface="Calibri"/>
                <a:cs typeface="Calibri"/>
              </a:rPr>
              <a:t>KNN and RF</a:t>
            </a:r>
            <a:endParaRPr lang="en-US" dirty="0"/>
          </a:p>
          <a:p>
            <a:pPr lvl="1">
              <a:buFont typeface="Courier New" pitchFamily="34" charset="0"/>
              <a:buChar char="o"/>
            </a:pPr>
            <a:r>
              <a:rPr lang="en-US" sz="2000" dirty="0">
                <a:ea typeface="Calibri"/>
                <a:cs typeface="Calibri"/>
              </a:rPr>
              <a:t>KNN model uses distance-based models that predicts based of values of similar likeness (K Values are not translated back to dollar)</a:t>
            </a:r>
          </a:p>
          <a:p>
            <a:pPr lvl="1">
              <a:buFont typeface="Courier New" pitchFamily="34" charset="0"/>
              <a:buChar char="o"/>
            </a:pPr>
            <a:r>
              <a:rPr lang="en-US" sz="2000" dirty="0" err="1">
                <a:ea typeface="Calibri"/>
                <a:cs typeface="Calibri"/>
              </a:rPr>
              <a:t>RandomForest</a:t>
            </a:r>
            <a:r>
              <a:rPr lang="en-US" sz="2000" dirty="0">
                <a:ea typeface="Calibri"/>
                <a:cs typeface="Calibri"/>
              </a:rPr>
              <a:t> is an ensemble model that uses bootstrapping and aggregates their predictions into a single estimate. </a:t>
            </a:r>
          </a:p>
        </p:txBody>
      </p:sp>
      <p:pic>
        <p:nvPicPr>
          <p:cNvPr id="6" name="Picture 5" descr="A screenshot of a computer&#10;&#10;AI-generated content may be incorrect.">
            <a:extLst>
              <a:ext uri="{FF2B5EF4-FFF2-40B4-BE49-F238E27FC236}">
                <a16:creationId xmlns:a16="http://schemas.microsoft.com/office/drawing/2014/main" id="{97F50F52-B35E-5D5A-2775-94D0B310D64C}"/>
              </a:ext>
            </a:extLst>
          </p:cNvPr>
          <p:cNvPicPr>
            <a:picLocks noChangeAspect="1"/>
          </p:cNvPicPr>
          <p:nvPr/>
        </p:nvPicPr>
        <p:blipFill>
          <a:blip r:embed="rId2"/>
          <a:stretch>
            <a:fillRect/>
          </a:stretch>
        </p:blipFill>
        <p:spPr>
          <a:xfrm>
            <a:off x="4521059" y="3872817"/>
            <a:ext cx="4191603" cy="2565481"/>
          </a:xfrm>
          <a:prstGeom prst="rect">
            <a:avLst/>
          </a:prstGeom>
        </p:spPr>
      </p:pic>
      <p:pic>
        <p:nvPicPr>
          <p:cNvPr id="4" name="Picture 3" descr="A screenshot of a computer&#10;&#10;AI-generated content may be incorrect.">
            <a:extLst>
              <a:ext uri="{FF2B5EF4-FFF2-40B4-BE49-F238E27FC236}">
                <a16:creationId xmlns:a16="http://schemas.microsoft.com/office/drawing/2014/main" id="{690ED8E7-B770-638B-E87A-DA2AD25691FD}"/>
              </a:ext>
            </a:extLst>
          </p:cNvPr>
          <p:cNvPicPr>
            <a:picLocks noChangeAspect="1"/>
          </p:cNvPicPr>
          <p:nvPr/>
        </p:nvPicPr>
        <p:blipFill>
          <a:blip r:embed="rId3"/>
          <a:stretch>
            <a:fillRect/>
          </a:stretch>
        </p:blipFill>
        <p:spPr>
          <a:xfrm>
            <a:off x="978592" y="3873500"/>
            <a:ext cx="3005586" cy="2647463"/>
          </a:xfrm>
          <a:prstGeom prst="rect">
            <a:avLst/>
          </a:prstGeom>
        </p:spPr>
      </p:pic>
    </p:spTree>
    <p:extLst>
      <p:ext uri="{BB962C8B-B14F-4D97-AF65-F5344CB8AC3E}">
        <p14:creationId xmlns:p14="http://schemas.microsoft.com/office/powerpoint/2010/main" val="12744640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EDE3F4-B2A1-DD6E-08C3-DC01B83B99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4B4121-20DD-0D58-2688-547F1EE243D9}"/>
              </a:ext>
            </a:extLst>
          </p:cNvPr>
          <p:cNvSpPr>
            <a:spLocks noGrp="1"/>
          </p:cNvSpPr>
          <p:nvPr>
            <p:ph type="title"/>
          </p:nvPr>
        </p:nvSpPr>
        <p:spPr>
          <a:xfrm>
            <a:off x="228600" y="183092"/>
            <a:ext cx="8590344" cy="723418"/>
          </a:xfrm>
        </p:spPr>
        <p:txBody>
          <a:bodyPr>
            <a:normAutofit fontScale="90000"/>
          </a:bodyPr>
          <a:lstStyle/>
          <a:p>
            <a:r>
              <a:rPr lang="en-US" dirty="0">
                <a:ea typeface="Calibri"/>
                <a:cs typeface="Calibri"/>
              </a:rPr>
              <a:t>Model Comparison</a:t>
            </a:r>
            <a:endParaRPr lang="en-US" dirty="0"/>
          </a:p>
        </p:txBody>
      </p:sp>
      <p:sp>
        <p:nvSpPr>
          <p:cNvPr id="3" name="Content Placeholder 2">
            <a:extLst>
              <a:ext uri="{FF2B5EF4-FFF2-40B4-BE49-F238E27FC236}">
                <a16:creationId xmlns:a16="http://schemas.microsoft.com/office/drawing/2014/main" id="{DCEEE593-D52B-9A62-2939-E3433587AE24}"/>
              </a:ext>
            </a:extLst>
          </p:cNvPr>
          <p:cNvSpPr>
            <a:spLocks noGrp="1"/>
          </p:cNvSpPr>
          <p:nvPr>
            <p:ph idx="1"/>
          </p:nvPr>
        </p:nvSpPr>
        <p:spPr>
          <a:xfrm>
            <a:off x="228600" y="1066800"/>
            <a:ext cx="8696445" cy="5611967"/>
          </a:xfrm>
        </p:spPr>
        <p:txBody>
          <a:bodyPr vert="horz" lIns="91440" tIns="45720" rIns="91440" bIns="45720" rtlCol="0" anchor="t">
            <a:normAutofit/>
          </a:bodyPr>
          <a:lstStyle/>
          <a:p>
            <a:r>
              <a:rPr lang="en-US" dirty="0">
                <a:ea typeface="Calibri"/>
                <a:cs typeface="Calibri"/>
              </a:rPr>
              <a:t>KNN was not translated back to Dollar</a:t>
            </a:r>
          </a:p>
          <a:p>
            <a:r>
              <a:rPr lang="en-US" dirty="0">
                <a:ea typeface="Calibri"/>
                <a:cs typeface="Calibri"/>
              </a:rPr>
              <a:t>If need be I can make a plot for each one to visually show which one does best?</a:t>
            </a:r>
          </a:p>
          <a:p>
            <a:endParaRPr lang="en-US" dirty="0">
              <a:ea typeface="Calibri"/>
              <a:cs typeface="Calibri"/>
            </a:endParaRPr>
          </a:p>
          <a:p>
            <a:endParaRPr lang="en-US" dirty="0">
              <a:ea typeface="Calibri"/>
              <a:cs typeface="Calibri"/>
            </a:endParaRPr>
          </a:p>
        </p:txBody>
      </p:sp>
      <p:graphicFrame>
        <p:nvGraphicFramePr>
          <p:cNvPr id="4" name="Table 3">
            <a:extLst>
              <a:ext uri="{FF2B5EF4-FFF2-40B4-BE49-F238E27FC236}">
                <a16:creationId xmlns:a16="http://schemas.microsoft.com/office/drawing/2014/main" id="{6D9307AA-5F4A-8B3B-A7B6-0758ACAC1B81}"/>
              </a:ext>
            </a:extLst>
          </p:cNvPr>
          <p:cNvGraphicFramePr>
            <a:graphicFrameLocks noGrp="1"/>
          </p:cNvGraphicFramePr>
          <p:nvPr>
            <p:extLst>
              <p:ext uri="{D42A27DB-BD31-4B8C-83A1-F6EECF244321}">
                <p14:modId xmlns:p14="http://schemas.microsoft.com/office/powerpoint/2010/main" val="4028691401"/>
              </p:ext>
            </p:extLst>
          </p:nvPr>
        </p:nvGraphicFramePr>
        <p:xfrm>
          <a:off x="1866996" y="3008376"/>
          <a:ext cx="5120640" cy="1854200"/>
        </p:xfrm>
        <a:graphic>
          <a:graphicData uri="http://schemas.openxmlformats.org/drawingml/2006/table">
            <a:tbl>
              <a:tblPr firstRow="1" bandRow="1">
                <a:tableStyleId>{5C22544A-7EE6-4342-B048-85BDC9FD1C3A}</a:tableStyleId>
              </a:tblPr>
              <a:tblGrid>
                <a:gridCol w="1280160">
                  <a:extLst>
                    <a:ext uri="{9D8B030D-6E8A-4147-A177-3AD203B41FA5}">
                      <a16:colId xmlns:a16="http://schemas.microsoft.com/office/drawing/2014/main" val="3995933849"/>
                    </a:ext>
                  </a:extLst>
                </a:gridCol>
                <a:gridCol w="1280160">
                  <a:extLst>
                    <a:ext uri="{9D8B030D-6E8A-4147-A177-3AD203B41FA5}">
                      <a16:colId xmlns:a16="http://schemas.microsoft.com/office/drawing/2014/main" val="696213582"/>
                    </a:ext>
                  </a:extLst>
                </a:gridCol>
                <a:gridCol w="1280160">
                  <a:extLst>
                    <a:ext uri="{9D8B030D-6E8A-4147-A177-3AD203B41FA5}">
                      <a16:colId xmlns:a16="http://schemas.microsoft.com/office/drawing/2014/main" val="2853515635"/>
                    </a:ext>
                  </a:extLst>
                </a:gridCol>
                <a:gridCol w="1280160">
                  <a:extLst>
                    <a:ext uri="{9D8B030D-6E8A-4147-A177-3AD203B41FA5}">
                      <a16:colId xmlns:a16="http://schemas.microsoft.com/office/drawing/2014/main" val="3883412595"/>
                    </a:ext>
                  </a:extLst>
                </a:gridCol>
              </a:tblGrid>
              <a:tr h="370840">
                <a:tc>
                  <a:txBody>
                    <a:bodyPr/>
                    <a:lstStyle/>
                    <a:p>
                      <a:r>
                        <a:rPr lang="en-US" dirty="0"/>
                        <a:t>Model</a:t>
                      </a:r>
                    </a:p>
                  </a:txBody>
                  <a:tcPr/>
                </a:tc>
                <a:tc>
                  <a:txBody>
                    <a:bodyPr/>
                    <a:lstStyle/>
                    <a:p>
                      <a:r>
                        <a:rPr lang="en-US" dirty="0"/>
                        <a:t>RMSE</a:t>
                      </a:r>
                    </a:p>
                  </a:txBody>
                  <a:tcPr/>
                </a:tc>
                <a:tc>
                  <a:txBody>
                    <a:bodyPr/>
                    <a:lstStyle/>
                    <a:p>
                      <a:r>
                        <a:rPr lang="en-US" dirty="0"/>
                        <a:t>MAE</a:t>
                      </a:r>
                    </a:p>
                  </a:txBody>
                  <a:tcPr/>
                </a:tc>
                <a:tc>
                  <a:txBody>
                    <a:bodyPr/>
                    <a:lstStyle/>
                    <a:p>
                      <a:r>
                        <a:rPr lang="en-US" dirty="0"/>
                        <a:t>R^2</a:t>
                      </a:r>
                    </a:p>
                  </a:txBody>
                  <a:tcPr/>
                </a:tc>
                <a:extLst>
                  <a:ext uri="{0D108BD9-81ED-4DB2-BD59-A6C34878D82A}">
                    <a16:rowId xmlns:a16="http://schemas.microsoft.com/office/drawing/2014/main" val="2804879337"/>
                  </a:ext>
                </a:extLst>
              </a:tr>
              <a:tr h="370840">
                <a:tc>
                  <a:txBody>
                    <a:bodyPr/>
                    <a:lstStyle/>
                    <a:p>
                      <a:r>
                        <a:rPr lang="en-US" dirty="0"/>
                        <a:t>Simple</a:t>
                      </a:r>
                    </a:p>
                  </a:txBody>
                  <a:tcPr/>
                </a:tc>
                <a:tc>
                  <a:txBody>
                    <a:bodyPr/>
                    <a:lstStyle/>
                    <a:p>
                      <a:r>
                        <a:rPr lang="en-US" dirty="0"/>
                        <a:t>19,559</a:t>
                      </a:r>
                    </a:p>
                  </a:txBody>
                  <a:tcPr/>
                </a:tc>
                <a:tc>
                  <a:txBody>
                    <a:bodyPr/>
                    <a:lstStyle/>
                    <a:p>
                      <a:r>
                        <a:rPr lang="en-US" dirty="0"/>
                        <a:t>9741</a:t>
                      </a:r>
                    </a:p>
                  </a:txBody>
                  <a:tcPr/>
                </a:tc>
                <a:tc>
                  <a:txBody>
                    <a:bodyPr/>
                    <a:lstStyle/>
                    <a:p>
                      <a:r>
                        <a:rPr lang="en-US" dirty="0"/>
                        <a:t>0.7449</a:t>
                      </a:r>
                    </a:p>
                  </a:txBody>
                  <a:tcPr/>
                </a:tc>
                <a:extLst>
                  <a:ext uri="{0D108BD9-81ED-4DB2-BD59-A6C34878D82A}">
                    <a16:rowId xmlns:a16="http://schemas.microsoft.com/office/drawing/2014/main" val="1509652857"/>
                  </a:ext>
                </a:extLst>
              </a:tr>
              <a:tr h="370840">
                <a:tc>
                  <a:txBody>
                    <a:bodyPr/>
                    <a:lstStyle/>
                    <a:p>
                      <a:r>
                        <a:rPr lang="en-US" dirty="0"/>
                        <a:t>Complex</a:t>
                      </a:r>
                    </a:p>
                  </a:txBody>
                  <a:tcPr/>
                </a:tc>
                <a:tc>
                  <a:txBody>
                    <a:bodyPr/>
                    <a:lstStyle/>
                    <a:p>
                      <a:r>
                        <a:rPr lang="en-US" dirty="0"/>
                        <a:t>18396.22</a:t>
                      </a:r>
                    </a:p>
                  </a:txBody>
                  <a:tcPr/>
                </a:tc>
                <a:tc>
                  <a:txBody>
                    <a:bodyPr/>
                    <a:lstStyle/>
                    <a:p>
                      <a:r>
                        <a:rPr lang="en-US" dirty="0"/>
                        <a:t>9444.5</a:t>
                      </a:r>
                    </a:p>
                  </a:txBody>
                  <a:tcPr/>
                </a:tc>
                <a:tc>
                  <a:txBody>
                    <a:bodyPr/>
                    <a:lstStyle/>
                    <a:p>
                      <a:r>
                        <a:rPr lang="en-US" dirty="0"/>
                        <a:t>0.7706</a:t>
                      </a:r>
                    </a:p>
                  </a:txBody>
                  <a:tcPr/>
                </a:tc>
                <a:extLst>
                  <a:ext uri="{0D108BD9-81ED-4DB2-BD59-A6C34878D82A}">
                    <a16:rowId xmlns:a16="http://schemas.microsoft.com/office/drawing/2014/main" val="2588712442"/>
                  </a:ext>
                </a:extLst>
              </a:tr>
              <a:tr h="370840">
                <a:tc>
                  <a:txBody>
                    <a:bodyPr/>
                    <a:lstStyle/>
                    <a:p>
                      <a:r>
                        <a:rPr lang="en-US" dirty="0"/>
                        <a:t>KNN</a:t>
                      </a:r>
                    </a:p>
                  </a:txBody>
                  <a:tcPr/>
                </a:tc>
                <a:tc>
                  <a:txBody>
                    <a:bodyPr/>
                    <a:lstStyle/>
                    <a:p>
                      <a:r>
                        <a:rPr lang="en-US" dirty="0"/>
                        <a:t>0.4663334</a:t>
                      </a:r>
                    </a:p>
                  </a:txBody>
                  <a:tcPr/>
                </a:tc>
                <a:tc>
                  <a:txBody>
                    <a:bodyPr/>
                    <a:lstStyle/>
                    <a:p>
                      <a:r>
                        <a:rPr lang="en-US" dirty="0"/>
                        <a:t>0.1025075</a:t>
                      </a:r>
                    </a:p>
                  </a:txBody>
                  <a:tcPr/>
                </a:tc>
                <a:tc>
                  <a:txBody>
                    <a:bodyPr/>
                    <a:lstStyle/>
                    <a:p>
                      <a:r>
                        <a:rPr lang="en-US" dirty="0"/>
                        <a:t>0.8028459</a:t>
                      </a:r>
                    </a:p>
                  </a:txBody>
                  <a:tcPr/>
                </a:tc>
                <a:extLst>
                  <a:ext uri="{0D108BD9-81ED-4DB2-BD59-A6C34878D82A}">
                    <a16:rowId xmlns:a16="http://schemas.microsoft.com/office/drawing/2014/main" val="2127321167"/>
                  </a:ext>
                </a:extLst>
              </a:tr>
              <a:tr h="370840">
                <a:tc>
                  <a:txBody>
                    <a:bodyPr/>
                    <a:lstStyle/>
                    <a:p>
                      <a:r>
                        <a:rPr lang="en-US" dirty="0"/>
                        <a:t>RF</a:t>
                      </a:r>
                    </a:p>
                  </a:txBody>
                  <a:tcPr/>
                </a:tc>
                <a:tc>
                  <a:txBody>
                    <a:bodyPr/>
                    <a:lstStyle/>
                    <a:p>
                      <a:r>
                        <a:rPr lang="en-US" dirty="0"/>
                        <a:t>7051.301</a:t>
                      </a:r>
                    </a:p>
                  </a:txBody>
                  <a:tcPr/>
                </a:tc>
                <a:tc>
                  <a:txBody>
                    <a:bodyPr/>
                    <a:lstStyle/>
                    <a:p>
                      <a:r>
                        <a:rPr lang="en-US" dirty="0"/>
                        <a:t>3342.821</a:t>
                      </a:r>
                    </a:p>
                  </a:txBody>
                  <a:tcPr/>
                </a:tc>
                <a:tc>
                  <a:txBody>
                    <a:bodyPr/>
                    <a:lstStyle/>
                    <a:p>
                      <a:r>
                        <a:rPr lang="en-US" dirty="0"/>
                        <a:t>0.9609287</a:t>
                      </a:r>
                    </a:p>
                  </a:txBody>
                  <a:tcPr/>
                </a:tc>
                <a:extLst>
                  <a:ext uri="{0D108BD9-81ED-4DB2-BD59-A6C34878D82A}">
                    <a16:rowId xmlns:a16="http://schemas.microsoft.com/office/drawing/2014/main" val="3838533745"/>
                  </a:ext>
                </a:extLst>
              </a:tr>
            </a:tbl>
          </a:graphicData>
        </a:graphic>
      </p:graphicFrame>
    </p:spTree>
    <p:extLst>
      <p:ext uri="{BB962C8B-B14F-4D97-AF65-F5344CB8AC3E}">
        <p14:creationId xmlns:p14="http://schemas.microsoft.com/office/powerpoint/2010/main" val="18508233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A6ACC1-9762-BF5C-EB28-3AA430B701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1F004E-CCC5-A972-32E5-DB7468342400}"/>
              </a:ext>
            </a:extLst>
          </p:cNvPr>
          <p:cNvSpPr>
            <a:spLocks noGrp="1"/>
          </p:cNvSpPr>
          <p:nvPr>
            <p:ph type="title"/>
          </p:nvPr>
        </p:nvSpPr>
        <p:spPr>
          <a:xfrm>
            <a:off x="228600" y="183092"/>
            <a:ext cx="8590344" cy="723418"/>
          </a:xfrm>
        </p:spPr>
        <p:txBody>
          <a:bodyPr>
            <a:normAutofit fontScale="90000"/>
          </a:bodyPr>
          <a:lstStyle/>
          <a:p>
            <a:r>
              <a:rPr lang="en-US" dirty="0">
                <a:ea typeface="Calibri"/>
                <a:cs typeface="Calibri"/>
              </a:rPr>
              <a:t>Things to keep in consideration</a:t>
            </a:r>
            <a:endParaRPr lang="en-US" dirty="0"/>
          </a:p>
        </p:txBody>
      </p:sp>
      <p:sp>
        <p:nvSpPr>
          <p:cNvPr id="3" name="Content Placeholder 2">
            <a:extLst>
              <a:ext uri="{FF2B5EF4-FFF2-40B4-BE49-F238E27FC236}">
                <a16:creationId xmlns:a16="http://schemas.microsoft.com/office/drawing/2014/main" id="{DB34C705-7063-1635-DA20-5EDA56B5FCC2}"/>
              </a:ext>
            </a:extLst>
          </p:cNvPr>
          <p:cNvSpPr>
            <a:spLocks noGrp="1"/>
          </p:cNvSpPr>
          <p:nvPr>
            <p:ph idx="1"/>
          </p:nvPr>
        </p:nvSpPr>
        <p:spPr>
          <a:xfrm>
            <a:off x="228600" y="1066800"/>
            <a:ext cx="8696445" cy="5611967"/>
          </a:xfrm>
        </p:spPr>
        <p:txBody>
          <a:bodyPr vert="horz" lIns="91440" tIns="45720" rIns="91440" bIns="45720" rtlCol="0" anchor="t">
            <a:normAutofit/>
          </a:bodyPr>
          <a:lstStyle/>
          <a:p>
            <a:r>
              <a:rPr lang="en-US" dirty="0">
                <a:ea typeface="Calibri"/>
                <a:cs typeface="Calibri"/>
              </a:rPr>
              <a:t>Year was investigated further by making it into a factor and making it into pre/post 2001, but the assumptions of the models were not met</a:t>
            </a:r>
          </a:p>
          <a:p>
            <a:r>
              <a:rPr lang="en-US" dirty="0">
                <a:ea typeface="Calibri"/>
                <a:cs typeface="Calibri"/>
              </a:rPr>
              <a:t>Possible Violations of other models, need to go back and look at it</a:t>
            </a:r>
          </a:p>
          <a:p>
            <a:r>
              <a:rPr lang="en-US" dirty="0">
                <a:ea typeface="Calibri"/>
                <a:cs typeface="Calibri"/>
              </a:rPr>
              <a:t>Market Category has A LOT of variables</a:t>
            </a:r>
          </a:p>
          <a:p>
            <a:r>
              <a:rPr lang="en-US" dirty="0">
                <a:ea typeface="Calibri"/>
                <a:cs typeface="Calibri"/>
              </a:rPr>
              <a:t>Market category had a lot of N/A variables that we kept in as its own separate category</a:t>
            </a:r>
          </a:p>
        </p:txBody>
      </p:sp>
    </p:spTree>
    <p:extLst>
      <p:ext uri="{BB962C8B-B14F-4D97-AF65-F5344CB8AC3E}">
        <p14:creationId xmlns:p14="http://schemas.microsoft.com/office/powerpoint/2010/main" val="38768242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3861F3-253E-61E2-D1A7-AA080E58C4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9D2B11-38B8-95B3-7CEA-641314DEC999}"/>
              </a:ext>
            </a:extLst>
          </p:cNvPr>
          <p:cNvSpPr>
            <a:spLocks noGrp="1"/>
          </p:cNvSpPr>
          <p:nvPr>
            <p:ph type="title"/>
          </p:nvPr>
        </p:nvSpPr>
        <p:spPr>
          <a:xfrm>
            <a:off x="228600" y="183092"/>
            <a:ext cx="8590344" cy="723418"/>
          </a:xfrm>
        </p:spPr>
        <p:txBody>
          <a:bodyPr>
            <a:normAutofit fontScale="90000"/>
          </a:bodyPr>
          <a:lstStyle/>
          <a:p>
            <a:r>
              <a:rPr lang="en-US" dirty="0">
                <a:ea typeface="Calibri"/>
                <a:cs typeface="Calibri"/>
              </a:rPr>
              <a:t>Conclusion</a:t>
            </a:r>
            <a:endParaRPr lang="en-US" dirty="0"/>
          </a:p>
        </p:txBody>
      </p:sp>
      <p:sp>
        <p:nvSpPr>
          <p:cNvPr id="3" name="Content Placeholder 2">
            <a:extLst>
              <a:ext uri="{FF2B5EF4-FFF2-40B4-BE49-F238E27FC236}">
                <a16:creationId xmlns:a16="http://schemas.microsoft.com/office/drawing/2014/main" id="{6C749C76-814E-6AC7-DE55-2C62E7DD92F1}"/>
              </a:ext>
            </a:extLst>
          </p:cNvPr>
          <p:cNvSpPr>
            <a:spLocks noGrp="1"/>
          </p:cNvSpPr>
          <p:nvPr>
            <p:ph idx="1"/>
          </p:nvPr>
        </p:nvSpPr>
        <p:spPr>
          <a:xfrm>
            <a:off x="228600" y="1066800"/>
            <a:ext cx="8696445" cy="5611967"/>
          </a:xfrm>
        </p:spPr>
        <p:txBody>
          <a:bodyPr vert="horz" lIns="91440" tIns="45720" rIns="91440" bIns="45720" rtlCol="0" anchor="t">
            <a:normAutofit/>
          </a:bodyPr>
          <a:lstStyle/>
          <a:p>
            <a:r>
              <a:rPr lang="en-US">
                <a:ea typeface="Calibri"/>
                <a:cs typeface="Calibri"/>
              </a:rPr>
              <a:t>Go Over the objectives</a:t>
            </a:r>
          </a:p>
          <a:p>
            <a:r>
              <a:rPr lang="en-US">
                <a:ea typeface="Calibri"/>
                <a:cs typeface="Calibri"/>
              </a:rPr>
              <a:t>Review how we answer them</a:t>
            </a:r>
            <a:endParaRPr lang="en-US" dirty="0">
              <a:ea typeface="Calibri"/>
              <a:cs typeface="Calibri"/>
            </a:endParaRPr>
          </a:p>
        </p:txBody>
      </p:sp>
    </p:spTree>
    <p:extLst>
      <p:ext uri="{BB962C8B-B14F-4D97-AF65-F5344CB8AC3E}">
        <p14:creationId xmlns:p14="http://schemas.microsoft.com/office/powerpoint/2010/main" val="7386702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24</Slides>
  <Notes>0</Notes>
  <HiddenSlides>0</HiddenSlides>
  <MMClips>0</MMClip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Office Theme</vt:lpstr>
      <vt:lpstr>PowerPoint Presentation</vt:lpstr>
      <vt:lpstr>Who we are</vt:lpstr>
      <vt:lpstr>PowerPoint Presentation</vt:lpstr>
      <vt:lpstr>PowerPoint Presentation</vt:lpstr>
      <vt:lpstr>Cleaning up Data and Why </vt:lpstr>
      <vt:lpstr>Removed Data Statistics</vt:lpstr>
      <vt:lpstr>Dealing with Outliers</vt:lpstr>
      <vt:lpstr>PowerPoint Presentation</vt:lpstr>
      <vt:lpstr>PowerPoint Presentation</vt:lpstr>
      <vt:lpstr>PowerPoint Presentation</vt:lpstr>
      <vt:lpstr>EDA: MSRP vs Vehicle Style</vt:lpstr>
      <vt:lpstr>Horse Power and City MPG vs. MSRP </vt:lpstr>
      <vt:lpstr>Heat Map with all Continous Variables</vt:lpstr>
      <vt:lpstr>Modeling</vt:lpstr>
      <vt:lpstr>Simple MLR</vt:lpstr>
      <vt:lpstr>Forward/Backwards/Stepwise Model</vt:lpstr>
      <vt:lpstr>Assumption for Simple MLR (NoOut/Log)</vt:lpstr>
      <vt:lpstr>Complex MLR</vt:lpstr>
      <vt:lpstr>Complex MLR Coefficients</vt:lpstr>
      <vt:lpstr>Assumptions Complex MLR</vt:lpstr>
      <vt:lpstr>Non-parametric Models</vt:lpstr>
      <vt:lpstr>Model Comparison</vt:lpstr>
      <vt:lpstr>Things to keep in consideration</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1 presentation started.pdf</dc:title>
  <cp:revision>1362</cp:revision>
  <dcterms:created xsi:type="dcterms:W3CDTF">2006-08-16T00:00:00Z</dcterms:created>
  <dcterms:modified xsi:type="dcterms:W3CDTF">2025-09-25T03:11:45Z</dcterms:modified>
  <dc:identifier>DAGzk9DwB7U</dc:identifier>
</cp:coreProperties>
</file>