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5"/>
  </p:notesMasterIdLst>
  <p:sldIdLst>
    <p:sldId id="256" r:id="rId2"/>
    <p:sldId id="257" r:id="rId3"/>
    <p:sldId id="275" r:id="rId4"/>
    <p:sldId id="276" r:id="rId5"/>
    <p:sldId id="652" r:id="rId6"/>
    <p:sldId id="277" r:id="rId7"/>
    <p:sldId id="278" r:id="rId8"/>
    <p:sldId id="279" r:id="rId9"/>
    <p:sldId id="280" r:id="rId10"/>
    <p:sldId id="646" r:id="rId11"/>
    <p:sldId id="647" r:id="rId12"/>
    <p:sldId id="653" r:id="rId13"/>
    <p:sldId id="648" r:id="rId14"/>
    <p:sldId id="654" r:id="rId15"/>
    <p:sldId id="649" r:id="rId16"/>
    <p:sldId id="650" r:id="rId17"/>
    <p:sldId id="281" r:id="rId18"/>
    <p:sldId id="282" r:id="rId19"/>
    <p:sldId id="283" r:id="rId20"/>
    <p:sldId id="285" r:id="rId21"/>
    <p:sldId id="287" r:id="rId22"/>
    <p:sldId id="290" r:id="rId23"/>
    <p:sldId id="291" r:id="rId24"/>
    <p:sldId id="289" r:id="rId25"/>
    <p:sldId id="299" r:id="rId26"/>
    <p:sldId id="298" r:id="rId27"/>
    <p:sldId id="300" r:id="rId28"/>
    <p:sldId id="297" r:id="rId29"/>
    <p:sldId id="302" r:id="rId30"/>
    <p:sldId id="306" r:id="rId31"/>
    <p:sldId id="309" r:id="rId32"/>
    <p:sldId id="314" r:id="rId33"/>
    <p:sldId id="315" r:id="rId34"/>
    <p:sldId id="316" r:id="rId35"/>
    <p:sldId id="317" r:id="rId36"/>
    <p:sldId id="322" r:id="rId37"/>
    <p:sldId id="323" r:id="rId38"/>
    <p:sldId id="324" r:id="rId39"/>
    <p:sldId id="372" r:id="rId40"/>
    <p:sldId id="375" r:id="rId41"/>
    <p:sldId id="374" r:id="rId42"/>
    <p:sldId id="376" r:id="rId43"/>
    <p:sldId id="377" r:id="rId44"/>
    <p:sldId id="379" r:id="rId45"/>
    <p:sldId id="382" r:id="rId46"/>
    <p:sldId id="385" r:id="rId47"/>
    <p:sldId id="590" r:id="rId48"/>
    <p:sldId id="592" r:id="rId49"/>
    <p:sldId id="593" r:id="rId50"/>
    <p:sldId id="595" r:id="rId51"/>
    <p:sldId id="596" r:id="rId52"/>
    <p:sldId id="597" r:id="rId53"/>
    <p:sldId id="598" r:id="rId54"/>
    <p:sldId id="599" r:id="rId55"/>
    <p:sldId id="600" r:id="rId56"/>
    <p:sldId id="601" r:id="rId57"/>
    <p:sldId id="602" r:id="rId58"/>
    <p:sldId id="603" r:id="rId59"/>
    <p:sldId id="489" r:id="rId60"/>
    <p:sldId id="401" r:id="rId61"/>
    <p:sldId id="499" r:id="rId62"/>
    <p:sldId id="498" r:id="rId63"/>
    <p:sldId id="500" r:id="rId64"/>
    <p:sldId id="524" r:id="rId65"/>
    <p:sldId id="628" r:id="rId66"/>
    <p:sldId id="502" r:id="rId67"/>
    <p:sldId id="629" r:id="rId68"/>
    <p:sldId id="505" r:id="rId69"/>
    <p:sldId id="630" r:id="rId70"/>
    <p:sldId id="631" r:id="rId71"/>
    <p:sldId id="286" r:id="rId72"/>
    <p:sldId id="495" r:id="rId73"/>
    <p:sldId id="470" r:id="rId74"/>
    <p:sldId id="471" r:id="rId75"/>
    <p:sldId id="564" r:id="rId76"/>
    <p:sldId id="565" r:id="rId77"/>
    <p:sldId id="534" r:id="rId78"/>
    <p:sldId id="535" r:id="rId79"/>
    <p:sldId id="536" r:id="rId80"/>
    <p:sldId id="567" r:id="rId81"/>
    <p:sldId id="538" r:id="rId82"/>
    <p:sldId id="632" r:id="rId83"/>
    <p:sldId id="501" r:id="rId84"/>
    <p:sldId id="633" r:id="rId85"/>
    <p:sldId id="504" r:id="rId86"/>
    <p:sldId id="634" r:id="rId87"/>
    <p:sldId id="503" r:id="rId88"/>
    <p:sldId id="529" r:id="rId89"/>
    <p:sldId id="531" r:id="rId90"/>
    <p:sldId id="532" r:id="rId91"/>
    <p:sldId id="533" r:id="rId92"/>
    <p:sldId id="572" r:id="rId93"/>
    <p:sldId id="573" r:id="rId94"/>
    <p:sldId id="574" r:id="rId95"/>
    <p:sldId id="635" r:id="rId96"/>
    <p:sldId id="347" r:id="rId97"/>
    <p:sldId id="348" r:id="rId98"/>
    <p:sldId id="350" r:id="rId99"/>
    <p:sldId id="349" r:id="rId100"/>
    <p:sldId id="636" r:id="rId101"/>
    <p:sldId id="319" r:id="rId102"/>
    <p:sldId id="320" r:id="rId103"/>
    <p:sldId id="321" r:id="rId104"/>
    <p:sldId id="637" r:id="rId105"/>
    <p:sldId id="638" r:id="rId106"/>
    <p:sldId id="639" r:id="rId107"/>
    <p:sldId id="325" r:id="rId108"/>
    <p:sldId id="326" r:id="rId109"/>
    <p:sldId id="327" r:id="rId110"/>
    <p:sldId id="329" r:id="rId111"/>
    <p:sldId id="330" r:id="rId112"/>
    <p:sldId id="331" r:id="rId113"/>
    <p:sldId id="334" r:id="rId114"/>
    <p:sldId id="641" r:id="rId115"/>
    <p:sldId id="642" r:id="rId116"/>
    <p:sldId id="643" r:id="rId117"/>
    <p:sldId id="305" r:id="rId118"/>
    <p:sldId id="644" r:id="rId119"/>
    <p:sldId id="307" r:id="rId120"/>
    <p:sldId id="308" r:id="rId121"/>
    <p:sldId id="645" r:id="rId122"/>
    <p:sldId id="312" r:id="rId123"/>
    <p:sldId id="313" r:id="rId1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348"/>
    <p:restoredTop sz="94611"/>
  </p:normalViewPr>
  <p:slideViewPr>
    <p:cSldViewPr snapToGrid="0" snapToObjects="1">
      <p:cViewPr varScale="1">
        <p:scale>
          <a:sx n="109" d="100"/>
          <a:sy n="109" d="100"/>
        </p:scale>
        <p:origin x="216"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2FB49E-F79A-B645-AC32-782DA99368B5}" type="doc">
      <dgm:prSet loTypeId="urn:microsoft.com/office/officeart/2005/8/layout/hierarchy3" loCatId="" qsTypeId="urn:microsoft.com/office/officeart/2005/8/quickstyle/simple1" qsCatId="simple" csTypeId="urn:microsoft.com/office/officeart/2005/8/colors/accent1_2" csCatId="accent1" phldr="1"/>
      <dgm:spPr/>
      <dgm:t>
        <a:bodyPr/>
        <a:lstStyle/>
        <a:p>
          <a:endParaRPr lang="en-US"/>
        </a:p>
      </dgm:t>
    </dgm:pt>
    <dgm:pt modelId="{1967BDBD-754C-3E48-A441-6C8EF825E424}">
      <dgm:prSet phldrT="[Text]" custT="1"/>
      <dgm:spPr/>
      <dgm:t>
        <a:bodyPr/>
        <a:lstStyle/>
        <a:p>
          <a:r>
            <a:rPr lang="en-US" sz="2400" dirty="0"/>
            <a:t>Variance not constant</a:t>
          </a:r>
        </a:p>
      </dgm:t>
    </dgm:pt>
    <dgm:pt modelId="{B3FD9AAE-0547-074A-B73B-A8FB9F4F25A4}" type="parTrans" cxnId="{67C4F18F-8C5B-1A4B-92AD-DF34DC102C12}">
      <dgm:prSet/>
      <dgm:spPr/>
      <dgm:t>
        <a:bodyPr/>
        <a:lstStyle/>
        <a:p>
          <a:endParaRPr lang="en-US"/>
        </a:p>
      </dgm:t>
    </dgm:pt>
    <dgm:pt modelId="{C87296A0-35B5-CF4C-A19C-ABC05498B847}" type="sibTrans" cxnId="{67C4F18F-8C5B-1A4B-92AD-DF34DC102C12}">
      <dgm:prSet/>
      <dgm:spPr/>
      <dgm:t>
        <a:bodyPr/>
        <a:lstStyle/>
        <a:p>
          <a:endParaRPr lang="en-US"/>
        </a:p>
      </dgm:t>
    </dgm:pt>
    <dgm:pt modelId="{8BDFA880-389E-7645-B844-CE16D959219C}">
      <dgm:prSet phldrT="[Text]" custT="1"/>
      <dgm:spPr/>
      <dgm:t>
        <a:bodyPr/>
        <a:lstStyle/>
        <a:p>
          <a:r>
            <a:rPr lang="en-US" sz="1800" dirty="0"/>
            <a:t>Transform Y</a:t>
          </a:r>
        </a:p>
      </dgm:t>
    </dgm:pt>
    <dgm:pt modelId="{86FCA7A5-E901-A84E-958D-34ED6FC71719}" type="parTrans" cxnId="{E50AC626-F564-6D4A-B2E3-16243A61D70F}">
      <dgm:prSet/>
      <dgm:spPr/>
      <dgm:t>
        <a:bodyPr/>
        <a:lstStyle/>
        <a:p>
          <a:endParaRPr lang="en-US"/>
        </a:p>
      </dgm:t>
    </dgm:pt>
    <dgm:pt modelId="{B5360055-693E-1D48-A411-7B4DC85E081A}" type="sibTrans" cxnId="{E50AC626-F564-6D4A-B2E3-16243A61D70F}">
      <dgm:prSet/>
      <dgm:spPr/>
      <dgm:t>
        <a:bodyPr/>
        <a:lstStyle/>
        <a:p>
          <a:endParaRPr lang="en-US"/>
        </a:p>
      </dgm:t>
    </dgm:pt>
    <dgm:pt modelId="{FA8AE76F-0D98-8A46-92D5-F83698E92BCD}">
      <dgm:prSet phldrT="[Text]" custT="1"/>
      <dgm:spPr/>
      <dgm:t>
        <a:bodyPr/>
        <a:lstStyle/>
        <a:p>
          <a:r>
            <a:rPr lang="en-US" sz="2400" dirty="0"/>
            <a:t>Trend</a:t>
          </a:r>
        </a:p>
      </dgm:t>
    </dgm:pt>
    <dgm:pt modelId="{DC0AEE41-F371-3249-9306-904C5CB7E01C}" type="parTrans" cxnId="{4A37420D-056D-DC4F-BF2F-B57A91213FBB}">
      <dgm:prSet/>
      <dgm:spPr/>
      <dgm:t>
        <a:bodyPr/>
        <a:lstStyle/>
        <a:p>
          <a:endParaRPr lang="en-US"/>
        </a:p>
      </dgm:t>
    </dgm:pt>
    <dgm:pt modelId="{063C7C16-7736-3B49-9F75-553099CAEB5D}" type="sibTrans" cxnId="{4A37420D-056D-DC4F-BF2F-B57A91213FBB}">
      <dgm:prSet/>
      <dgm:spPr/>
      <dgm:t>
        <a:bodyPr/>
        <a:lstStyle/>
        <a:p>
          <a:endParaRPr lang="en-US"/>
        </a:p>
      </dgm:t>
    </dgm:pt>
    <dgm:pt modelId="{B0E1581C-395C-5946-BBF9-B7AE12C5F617}">
      <dgm:prSet phldrT="[Text]" custT="1"/>
      <dgm:spPr/>
      <dgm:t>
        <a:bodyPr/>
        <a:lstStyle/>
        <a:p>
          <a:r>
            <a:rPr lang="en-US" sz="1800" dirty="0"/>
            <a:t>Transform X</a:t>
          </a:r>
        </a:p>
      </dgm:t>
    </dgm:pt>
    <dgm:pt modelId="{19C66839-230C-0040-9F4B-8578B68407A3}" type="parTrans" cxnId="{BB532532-142A-4440-969F-BCF161E5F4C9}">
      <dgm:prSet/>
      <dgm:spPr/>
      <dgm:t>
        <a:bodyPr/>
        <a:lstStyle/>
        <a:p>
          <a:endParaRPr lang="en-US"/>
        </a:p>
      </dgm:t>
    </dgm:pt>
    <dgm:pt modelId="{1BE8E38E-2B57-5A40-853D-74A3999137CD}" type="sibTrans" cxnId="{BB532532-142A-4440-969F-BCF161E5F4C9}">
      <dgm:prSet/>
      <dgm:spPr/>
      <dgm:t>
        <a:bodyPr/>
        <a:lstStyle/>
        <a:p>
          <a:endParaRPr lang="en-US"/>
        </a:p>
      </dgm:t>
    </dgm:pt>
    <dgm:pt modelId="{081E5B84-A0D2-DF4F-806C-C4977C279D10}">
      <dgm:prSet phldrT="[Text]" custT="1"/>
      <dgm:spPr/>
      <dgm:t>
        <a:bodyPr/>
        <a:lstStyle/>
        <a:p>
          <a:r>
            <a:rPr lang="en-US" sz="1800" dirty="0"/>
            <a:t>Add additional terms</a:t>
          </a:r>
          <a:br>
            <a:rPr lang="en-US" sz="1800" dirty="0"/>
          </a:br>
          <a:r>
            <a:rPr lang="en-US" sz="1800" dirty="0"/>
            <a:t>involving X</a:t>
          </a:r>
        </a:p>
      </dgm:t>
    </dgm:pt>
    <dgm:pt modelId="{594AFC31-7508-634B-A75C-13382B4325A4}" type="parTrans" cxnId="{23CE6E39-559B-D14C-A3E3-2BA602F78B68}">
      <dgm:prSet/>
      <dgm:spPr/>
      <dgm:t>
        <a:bodyPr/>
        <a:lstStyle/>
        <a:p>
          <a:endParaRPr lang="en-US"/>
        </a:p>
      </dgm:t>
    </dgm:pt>
    <dgm:pt modelId="{CBC819D9-0736-4D43-80B7-E3185EA8775D}" type="sibTrans" cxnId="{23CE6E39-559B-D14C-A3E3-2BA602F78B68}">
      <dgm:prSet/>
      <dgm:spPr/>
      <dgm:t>
        <a:bodyPr/>
        <a:lstStyle/>
        <a:p>
          <a:endParaRPr lang="en-US"/>
        </a:p>
      </dgm:t>
    </dgm:pt>
    <dgm:pt modelId="{95DFEA3E-2E5B-9449-9C36-937F7DE379A1}" type="pres">
      <dgm:prSet presAssocID="{7C2FB49E-F79A-B645-AC32-782DA99368B5}" presName="diagram" presStyleCnt="0">
        <dgm:presLayoutVars>
          <dgm:chPref val="1"/>
          <dgm:dir/>
          <dgm:animOne val="branch"/>
          <dgm:animLvl val="lvl"/>
          <dgm:resizeHandles/>
        </dgm:presLayoutVars>
      </dgm:prSet>
      <dgm:spPr/>
    </dgm:pt>
    <dgm:pt modelId="{179D82F9-CF1B-AF4F-820A-4C49B2E1D007}" type="pres">
      <dgm:prSet presAssocID="{1967BDBD-754C-3E48-A441-6C8EF825E424}" presName="root" presStyleCnt="0"/>
      <dgm:spPr/>
    </dgm:pt>
    <dgm:pt modelId="{A798B747-7EE3-F543-BC8E-F1BE222E6FCF}" type="pres">
      <dgm:prSet presAssocID="{1967BDBD-754C-3E48-A441-6C8EF825E424}" presName="rootComposite" presStyleCnt="0"/>
      <dgm:spPr/>
    </dgm:pt>
    <dgm:pt modelId="{4F2302C2-1787-FA44-9C72-20D5C0B937A6}" type="pres">
      <dgm:prSet presAssocID="{1967BDBD-754C-3E48-A441-6C8EF825E424}" presName="rootText" presStyleLbl="node1" presStyleIdx="0" presStyleCnt="2"/>
      <dgm:spPr/>
    </dgm:pt>
    <dgm:pt modelId="{E2BA16EB-052F-6949-A04F-99AFD823D45B}" type="pres">
      <dgm:prSet presAssocID="{1967BDBD-754C-3E48-A441-6C8EF825E424}" presName="rootConnector" presStyleLbl="node1" presStyleIdx="0" presStyleCnt="2"/>
      <dgm:spPr/>
    </dgm:pt>
    <dgm:pt modelId="{8EF68CDC-9462-3D45-AB9C-BB33CFF77C62}" type="pres">
      <dgm:prSet presAssocID="{1967BDBD-754C-3E48-A441-6C8EF825E424}" presName="childShape" presStyleCnt="0"/>
      <dgm:spPr/>
    </dgm:pt>
    <dgm:pt modelId="{8DE77275-8661-EB4A-954B-4B13AA1F1237}" type="pres">
      <dgm:prSet presAssocID="{86FCA7A5-E901-A84E-958D-34ED6FC71719}" presName="Name13" presStyleLbl="parChTrans1D2" presStyleIdx="0" presStyleCnt="3"/>
      <dgm:spPr/>
    </dgm:pt>
    <dgm:pt modelId="{1B8EFC8A-A909-164C-B6D8-E5E28D1B2619}" type="pres">
      <dgm:prSet presAssocID="{8BDFA880-389E-7645-B844-CE16D959219C}" presName="childText" presStyleLbl="bgAcc1" presStyleIdx="0" presStyleCnt="3">
        <dgm:presLayoutVars>
          <dgm:bulletEnabled val="1"/>
        </dgm:presLayoutVars>
      </dgm:prSet>
      <dgm:spPr/>
    </dgm:pt>
    <dgm:pt modelId="{09E96626-4F84-3349-BBAF-DC206672B04F}" type="pres">
      <dgm:prSet presAssocID="{FA8AE76F-0D98-8A46-92D5-F83698E92BCD}" presName="root" presStyleCnt="0"/>
      <dgm:spPr/>
    </dgm:pt>
    <dgm:pt modelId="{C3EEAFD0-B236-7E4F-A312-D20F69570067}" type="pres">
      <dgm:prSet presAssocID="{FA8AE76F-0D98-8A46-92D5-F83698E92BCD}" presName="rootComposite" presStyleCnt="0"/>
      <dgm:spPr/>
    </dgm:pt>
    <dgm:pt modelId="{658357E6-6215-C741-A61F-CD071BA24D65}" type="pres">
      <dgm:prSet presAssocID="{FA8AE76F-0D98-8A46-92D5-F83698E92BCD}" presName="rootText" presStyleLbl="node1" presStyleIdx="1" presStyleCnt="2"/>
      <dgm:spPr/>
    </dgm:pt>
    <dgm:pt modelId="{00595328-CA80-3E41-86F6-DF88582BA809}" type="pres">
      <dgm:prSet presAssocID="{FA8AE76F-0D98-8A46-92D5-F83698E92BCD}" presName="rootConnector" presStyleLbl="node1" presStyleIdx="1" presStyleCnt="2"/>
      <dgm:spPr/>
    </dgm:pt>
    <dgm:pt modelId="{51461D8A-B1F6-7A4F-B10B-720694B224D2}" type="pres">
      <dgm:prSet presAssocID="{FA8AE76F-0D98-8A46-92D5-F83698E92BCD}" presName="childShape" presStyleCnt="0"/>
      <dgm:spPr/>
    </dgm:pt>
    <dgm:pt modelId="{2868DBB8-A391-FF46-8AE4-58EBE8045FE8}" type="pres">
      <dgm:prSet presAssocID="{19C66839-230C-0040-9F4B-8578B68407A3}" presName="Name13" presStyleLbl="parChTrans1D2" presStyleIdx="1" presStyleCnt="3"/>
      <dgm:spPr/>
    </dgm:pt>
    <dgm:pt modelId="{6C9913D0-7EDF-454E-A605-896C3221AC22}" type="pres">
      <dgm:prSet presAssocID="{B0E1581C-395C-5946-BBF9-B7AE12C5F617}" presName="childText" presStyleLbl="bgAcc1" presStyleIdx="1" presStyleCnt="3">
        <dgm:presLayoutVars>
          <dgm:bulletEnabled val="1"/>
        </dgm:presLayoutVars>
      </dgm:prSet>
      <dgm:spPr/>
    </dgm:pt>
    <dgm:pt modelId="{31D4EBBB-2B23-3D43-8BF4-950F5FE91153}" type="pres">
      <dgm:prSet presAssocID="{594AFC31-7508-634B-A75C-13382B4325A4}" presName="Name13" presStyleLbl="parChTrans1D2" presStyleIdx="2" presStyleCnt="3"/>
      <dgm:spPr/>
    </dgm:pt>
    <dgm:pt modelId="{A5D59B02-B888-7B46-8A25-0143891A8443}" type="pres">
      <dgm:prSet presAssocID="{081E5B84-A0D2-DF4F-806C-C4977C279D10}" presName="childText" presStyleLbl="bgAcc1" presStyleIdx="2" presStyleCnt="3">
        <dgm:presLayoutVars>
          <dgm:bulletEnabled val="1"/>
        </dgm:presLayoutVars>
      </dgm:prSet>
      <dgm:spPr/>
    </dgm:pt>
  </dgm:ptLst>
  <dgm:cxnLst>
    <dgm:cxn modelId="{CF9C9B09-93A2-1E4E-B9F6-8901BC057839}" type="presOf" srcId="{1967BDBD-754C-3E48-A441-6C8EF825E424}" destId="{4F2302C2-1787-FA44-9C72-20D5C0B937A6}" srcOrd="0" destOrd="0" presId="urn:microsoft.com/office/officeart/2005/8/layout/hierarchy3"/>
    <dgm:cxn modelId="{EF18190A-C173-C74A-A802-A0D4EA6460F8}" type="presOf" srcId="{081E5B84-A0D2-DF4F-806C-C4977C279D10}" destId="{A5D59B02-B888-7B46-8A25-0143891A8443}" srcOrd="0" destOrd="0" presId="urn:microsoft.com/office/officeart/2005/8/layout/hierarchy3"/>
    <dgm:cxn modelId="{4A37420D-056D-DC4F-BF2F-B57A91213FBB}" srcId="{7C2FB49E-F79A-B645-AC32-782DA99368B5}" destId="{FA8AE76F-0D98-8A46-92D5-F83698E92BCD}" srcOrd="1" destOrd="0" parTransId="{DC0AEE41-F371-3249-9306-904C5CB7E01C}" sibTransId="{063C7C16-7736-3B49-9F75-553099CAEB5D}"/>
    <dgm:cxn modelId="{E50AC626-F564-6D4A-B2E3-16243A61D70F}" srcId="{1967BDBD-754C-3E48-A441-6C8EF825E424}" destId="{8BDFA880-389E-7645-B844-CE16D959219C}" srcOrd="0" destOrd="0" parTransId="{86FCA7A5-E901-A84E-958D-34ED6FC71719}" sibTransId="{B5360055-693E-1D48-A411-7B4DC85E081A}"/>
    <dgm:cxn modelId="{BB532532-142A-4440-969F-BCF161E5F4C9}" srcId="{FA8AE76F-0D98-8A46-92D5-F83698E92BCD}" destId="{B0E1581C-395C-5946-BBF9-B7AE12C5F617}" srcOrd="0" destOrd="0" parTransId="{19C66839-230C-0040-9F4B-8578B68407A3}" sibTransId="{1BE8E38E-2B57-5A40-853D-74A3999137CD}"/>
    <dgm:cxn modelId="{23CE6E39-559B-D14C-A3E3-2BA602F78B68}" srcId="{FA8AE76F-0D98-8A46-92D5-F83698E92BCD}" destId="{081E5B84-A0D2-DF4F-806C-C4977C279D10}" srcOrd="1" destOrd="0" parTransId="{594AFC31-7508-634B-A75C-13382B4325A4}" sibTransId="{CBC819D9-0736-4D43-80B7-E3185EA8775D}"/>
    <dgm:cxn modelId="{D003204C-B470-914C-A5FA-61FF704E51EB}" type="presOf" srcId="{7C2FB49E-F79A-B645-AC32-782DA99368B5}" destId="{95DFEA3E-2E5B-9449-9C36-937F7DE379A1}" srcOrd="0" destOrd="0" presId="urn:microsoft.com/office/officeart/2005/8/layout/hierarchy3"/>
    <dgm:cxn modelId="{7A2F884D-F00C-624E-BBA3-C8E477FE9A85}" type="presOf" srcId="{FA8AE76F-0D98-8A46-92D5-F83698E92BCD}" destId="{00595328-CA80-3E41-86F6-DF88582BA809}" srcOrd="1" destOrd="0" presId="urn:microsoft.com/office/officeart/2005/8/layout/hierarchy3"/>
    <dgm:cxn modelId="{1613D65B-88AF-964B-A4C2-AC0E159503CB}" type="presOf" srcId="{86FCA7A5-E901-A84E-958D-34ED6FC71719}" destId="{8DE77275-8661-EB4A-954B-4B13AA1F1237}" srcOrd="0" destOrd="0" presId="urn:microsoft.com/office/officeart/2005/8/layout/hierarchy3"/>
    <dgm:cxn modelId="{17C44D6A-3C45-154A-AA0D-49BFDD4BB0BC}" type="presOf" srcId="{8BDFA880-389E-7645-B844-CE16D959219C}" destId="{1B8EFC8A-A909-164C-B6D8-E5E28D1B2619}" srcOrd="0" destOrd="0" presId="urn:microsoft.com/office/officeart/2005/8/layout/hierarchy3"/>
    <dgm:cxn modelId="{B2005A7E-7FCD-1D40-B751-1AB443EB8887}" type="presOf" srcId="{19C66839-230C-0040-9F4B-8578B68407A3}" destId="{2868DBB8-A391-FF46-8AE4-58EBE8045FE8}" srcOrd="0" destOrd="0" presId="urn:microsoft.com/office/officeart/2005/8/layout/hierarchy3"/>
    <dgm:cxn modelId="{67C4F18F-8C5B-1A4B-92AD-DF34DC102C12}" srcId="{7C2FB49E-F79A-B645-AC32-782DA99368B5}" destId="{1967BDBD-754C-3E48-A441-6C8EF825E424}" srcOrd="0" destOrd="0" parTransId="{B3FD9AAE-0547-074A-B73B-A8FB9F4F25A4}" sibTransId="{C87296A0-35B5-CF4C-A19C-ABC05498B847}"/>
    <dgm:cxn modelId="{23837F9B-DE0F-A644-BCFD-2C8A8C4ADA08}" type="presOf" srcId="{594AFC31-7508-634B-A75C-13382B4325A4}" destId="{31D4EBBB-2B23-3D43-8BF4-950F5FE91153}" srcOrd="0" destOrd="0" presId="urn:microsoft.com/office/officeart/2005/8/layout/hierarchy3"/>
    <dgm:cxn modelId="{FEED0DB5-34A4-9C46-93BF-24F55FD8B211}" type="presOf" srcId="{FA8AE76F-0D98-8A46-92D5-F83698E92BCD}" destId="{658357E6-6215-C741-A61F-CD071BA24D65}" srcOrd="0" destOrd="0" presId="urn:microsoft.com/office/officeart/2005/8/layout/hierarchy3"/>
    <dgm:cxn modelId="{930D2EBC-C1DD-0642-96AA-1ACED8379C40}" type="presOf" srcId="{B0E1581C-395C-5946-BBF9-B7AE12C5F617}" destId="{6C9913D0-7EDF-454E-A605-896C3221AC22}" srcOrd="0" destOrd="0" presId="urn:microsoft.com/office/officeart/2005/8/layout/hierarchy3"/>
    <dgm:cxn modelId="{20C159C5-3AF0-8E4B-A1C8-04D24E3176A5}" type="presOf" srcId="{1967BDBD-754C-3E48-A441-6C8EF825E424}" destId="{E2BA16EB-052F-6949-A04F-99AFD823D45B}" srcOrd="1" destOrd="0" presId="urn:microsoft.com/office/officeart/2005/8/layout/hierarchy3"/>
    <dgm:cxn modelId="{00D564C9-AE3A-2C44-9207-0BD7CE8D04E4}" type="presParOf" srcId="{95DFEA3E-2E5B-9449-9C36-937F7DE379A1}" destId="{179D82F9-CF1B-AF4F-820A-4C49B2E1D007}" srcOrd="0" destOrd="0" presId="urn:microsoft.com/office/officeart/2005/8/layout/hierarchy3"/>
    <dgm:cxn modelId="{B0AA5B92-F3C9-A348-878D-5E94D4E160D3}" type="presParOf" srcId="{179D82F9-CF1B-AF4F-820A-4C49B2E1D007}" destId="{A798B747-7EE3-F543-BC8E-F1BE222E6FCF}" srcOrd="0" destOrd="0" presId="urn:microsoft.com/office/officeart/2005/8/layout/hierarchy3"/>
    <dgm:cxn modelId="{68297C6E-86EC-F845-868A-D70FE87D785F}" type="presParOf" srcId="{A798B747-7EE3-F543-BC8E-F1BE222E6FCF}" destId="{4F2302C2-1787-FA44-9C72-20D5C0B937A6}" srcOrd="0" destOrd="0" presId="urn:microsoft.com/office/officeart/2005/8/layout/hierarchy3"/>
    <dgm:cxn modelId="{CAF4B7A2-6AE9-BB44-ADEA-BF583BBD077C}" type="presParOf" srcId="{A798B747-7EE3-F543-BC8E-F1BE222E6FCF}" destId="{E2BA16EB-052F-6949-A04F-99AFD823D45B}" srcOrd="1" destOrd="0" presId="urn:microsoft.com/office/officeart/2005/8/layout/hierarchy3"/>
    <dgm:cxn modelId="{AE77A96F-6C6A-5E43-8640-7447519BC60D}" type="presParOf" srcId="{179D82F9-CF1B-AF4F-820A-4C49B2E1D007}" destId="{8EF68CDC-9462-3D45-AB9C-BB33CFF77C62}" srcOrd="1" destOrd="0" presId="urn:microsoft.com/office/officeart/2005/8/layout/hierarchy3"/>
    <dgm:cxn modelId="{A35A6183-B4E7-F648-979A-2A5053448617}" type="presParOf" srcId="{8EF68CDC-9462-3D45-AB9C-BB33CFF77C62}" destId="{8DE77275-8661-EB4A-954B-4B13AA1F1237}" srcOrd="0" destOrd="0" presId="urn:microsoft.com/office/officeart/2005/8/layout/hierarchy3"/>
    <dgm:cxn modelId="{6EBEE1AB-F321-DD45-8C00-76E0A895A2DF}" type="presParOf" srcId="{8EF68CDC-9462-3D45-AB9C-BB33CFF77C62}" destId="{1B8EFC8A-A909-164C-B6D8-E5E28D1B2619}" srcOrd="1" destOrd="0" presId="urn:microsoft.com/office/officeart/2005/8/layout/hierarchy3"/>
    <dgm:cxn modelId="{5CF1C38B-61BD-B94B-A09D-2510A824E008}" type="presParOf" srcId="{95DFEA3E-2E5B-9449-9C36-937F7DE379A1}" destId="{09E96626-4F84-3349-BBAF-DC206672B04F}" srcOrd="1" destOrd="0" presId="urn:microsoft.com/office/officeart/2005/8/layout/hierarchy3"/>
    <dgm:cxn modelId="{191C5570-A6B8-E249-B336-11FD298F5EB1}" type="presParOf" srcId="{09E96626-4F84-3349-BBAF-DC206672B04F}" destId="{C3EEAFD0-B236-7E4F-A312-D20F69570067}" srcOrd="0" destOrd="0" presId="urn:microsoft.com/office/officeart/2005/8/layout/hierarchy3"/>
    <dgm:cxn modelId="{A20E49FE-372D-FC49-ACC9-E6CE445DB283}" type="presParOf" srcId="{C3EEAFD0-B236-7E4F-A312-D20F69570067}" destId="{658357E6-6215-C741-A61F-CD071BA24D65}" srcOrd="0" destOrd="0" presId="urn:microsoft.com/office/officeart/2005/8/layout/hierarchy3"/>
    <dgm:cxn modelId="{C652781A-24C0-054F-B4CD-D689F81E930B}" type="presParOf" srcId="{C3EEAFD0-B236-7E4F-A312-D20F69570067}" destId="{00595328-CA80-3E41-86F6-DF88582BA809}" srcOrd="1" destOrd="0" presId="urn:microsoft.com/office/officeart/2005/8/layout/hierarchy3"/>
    <dgm:cxn modelId="{F874E0D1-8607-E64F-B6E0-30E71059CFEA}" type="presParOf" srcId="{09E96626-4F84-3349-BBAF-DC206672B04F}" destId="{51461D8A-B1F6-7A4F-B10B-720694B224D2}" srcOrd="1" destOrd="0" presId="urn:microsoft.com/office/officeart/2005/8/layout/hierarchy3"/>
    <dgm:cxn modelId="{DE191F1B-2388-154F-B9DD-F6909208A14A}" type="presParOf" srcId="{51461D8A-B1F6-7A4F-B10B-720694B224D2}" destId="{2868DBB8-A391-FF46-8AE4-58EBE8045FE8}" srcOrd="0" destOrd="0" presId="urn:microsoft.com/office/officeart/2005/8/layout/hierarchy3"/>
    <dgm:cxn modelId="{2A98AC86-B848-E941-8570-0F18AE615298}" type="presParOf" srcId="{51461D8A-B1F6-7A4F-B10B-720694B224D2}" destId="{6C9913D0-7EDF-454E-A605-896C3221AC22}" srcOrd="1" destOrd="0" presId="urn:microsoft.com/office/officeart/2005/8/layout/hierarchy3"/>
    <dgm:cxn modelId="{643AEDAA-CBF4-674F-92EB-CCA2D10A3501}" type="presParOf" srcId="{51461D8A-B1F6-7A4F-B10B-720694B224D2}" destId="{31D4EBBB-2B23-3D43-8BF4-950F5FE91153}" srcOrd="2" destOrd="0" presId="urn:microsoft.com/office/officeart/2005/8/layout/hierarchy3"/>
    <dgm:cxn modelId="{B03EC883-CDAE-CA46-8078-CCEF38C5607A}" type="presParOf" srcId="{51461D8A-B1F6-7A4F-B10B-720694B224D2}" destId="{A5D59B02-B888-7B46-8A25-0143891A8443}"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46AD176-81A5-0C44-889C-49A0F685336A}" type="doc">
      <dgm:prSet loTypeId="urn:microsoft.com/office/officeart/2005/8/layout/hierarchy6" loCatId="" qsTypeId="urn:microsoft.com/office/officeart/2005/8/quickstyle/simple1" qsCatId="simple" csTypeId="urn:microsoft.com/office/officeart/2005/8/colors/accent1_2" csCatId="accent1" phldr="1"/>
      <dgm:spPr/>
      <dgm:t>
        <a:bodyPr/>
        <a:lstStyle/>
        <a:p>
          <a:endParaRPr lang="en-US"/>
        </a:p>
      </dgm:t>
    </dgm:pt>
    <dgm:pt modelId="{F582649A-3F48-C547-9685-A1A652EEE398}">
      <dgm:prSet phldrT="[Text]" custT="1"/>
      <dgm:spPr/>
      <dgm:t>
        <a:bodyPr/>
        <a:lstStyle/>
        <a:p>
          <a:r>
            <a:rPr lang="en-US" sz="2000" dirty="0"/>
            <a:t>Linear models (constant variance, normality)</a:t>
          </a:r>
        </a:p>
      </dgm:t>
    </dgm:pt>
    <dgm:pt modelId="{900C8767-02D7-FD4A-84F5-69FE8898B7A0}" type="parTrans" cxnId="{F0A21B06-A8BC-554B-A98B-CE6AB4C34C15}">
      <dgm:prSet/>
      <dgm:spPr/>
      <dgm:t>
        <a:bodyPr/>
        <a:lstStyle/>
        <a:p>
          <a:endParaRPr lang="en-US" sz="2000"/>
        </a:p>
      </dgm:t>
    </dgm:pt>
    <dgm:pt modelId="{BF4C5BE9-C0EF-F04A-88E3-73E5E3FC1F77}" type="sibTrans" cxnId="{F0A21B06-A8BC-554B-A98B-CE6AB4C34C15}">
      <dgm:prSet/>
      <dgm:spPr/>
      <dgm:t>
        <a:bodyPr/>
        <a:lstStyle/>
        <a:p>
          <a:endParaRPr lang="en-US" sz="2000"/>
        </a:p>
      </dgm:t>
    </dgm:pt>
    <dgm:pt modelId="{37AE1C0E-4342-6341-AD22-F487BB875D2C}">
      <dgm:prSet phldrT="[Text]" custT="1"/>
      <dgm:spPr/>
      <dgm:t>
        <a:bodyPr/>
        <a:lstStyle/>
        <a:p>
          <a:r>
            <a:rPr lang="en-US" sz="2000" dirty="0"/>
            <a:t>Errors are independent</a:t>
          </a:r>
        </a:p>
      </dgm:t>
    </dgm:pt>
    <dgm:pt modelId="{83F28FFF-E59F-0642-BA62-04528CB14588}" type="parTrans" cxnId="{C60ABFC9-A845-1D4D-A8D5-0A133AE11C79}">
      <dgm:prSet/>
      <dgm:spPr/>
      <dgm:t>
        <a:bodyPr/>
        <a:lstStyle/>
        <a:p>
          <a:endParaRPr lang="en-US" sz="2000"/>
        </a:p>
      </dgm:t>
    </dgm:pt>
    <dgm:pt modelId="{FE85B1E6-7FB1-1D4A-BE2F-21DDD62FD0A0}" type="sibTrans" cxnId="{C60ABFC9-A845-1D4D-A8D5-0A133AE11C79}">
      <dgm:prSet/>
      <dgm:spPr/>
      <dgm:t>
        <a:bodyPr/>
        <a:lstStyle/>
        <a:p>
          <a:endParaRPr lang="en-US" sz="2000"/>
        </a:p>
      </dgm:t>
    </dgm:pt>
    <dgm:pt modelId="{AFA743F4-11B5-D545-82C3-4DCAD5434EF3}">
      <dgm:prSet phldrT="[Text]" custT="1"/>
      <dgm:spPr/>
      <dgm:t>
        <a:bodyPr/>
        <a:lstStyle/>
        <a:p>
          <a:r>
            <a:rPr lang="en-US" sz="2000" dirty="0"/>
            <a:t>ANOVA</a:t>
          </a:r>
        </a:p>
      </dgm:t>
    </dgm:pt>
    <dgm:pt modelId="{7574BB74-CC00-3740-85B4-512A347AC6FC}" type="parTrans" cxnId="{9654D5AC-CE33-4D4D-8CCD-F26B62BA17DE}">
      <dgm:prSet/>
      <dgm:spPr/>
      <dgm:t>
        <a:bodyPr/>
        <a:lstStyle/>
        <a:p>
          <a:endParaRPr lang="en-US" sz="2000"/>
        </a:p>
      </dgm:t>
    </dgm:pt>
    <dgm:pt modelId="{54E1B6F9-2B17-BC4E-A01E-BF48358CFF68}" type="sibTrans" cxnId="{9654D5AC-CE33-4D4D-8CCD-F26B62BA17DE}">
      <dgm:prSet/>
      <dgm:spPr/>
      <dgm:t>
        <a:bodyPr/>
        <a:lstStyle/>
        <a:p>
          <a:endParaRPr lang="en-US" sz="2000"/>
        </a:p>
      </dgm:t>
    </dgm:pt>
    <dgm:pt modelId="{30657E02-9F37-F04C-A30E-F04D74AB0673}">
      <dgm:prSet phldrT="[Text]" custT="1"/>
      <dgm:spPr/>
      <dgm:t>
        <a:bodyPr/>
        <a:lstStyle/>
        <a:p>
          <a:r>
            <a:rPr lang="en-US" sz="2000" dirty="0"/>
            <a:t>Errors are correlated</a:t>
          </a:r>
        </a:p>
      </dgm:t>
    </dgm:pt>
    <dgm:pt modelId="{337C6C02-D56B-6C46-B990-664EC08BAB92}" type="parTrans" cxnId="{6C6FAE6C-B2D0-724F-9A49-0F2613698DE5}">
      <dgm:prSet/>
      <dgm:spPr/>
      <dgm:t>
        <a:bodyPr/>
        <a:lstStyle/>
        <a:p>
          <a:endParaRPr lang="en-US" sz="2000"/>
        </a:p>
      </dgm:t>
    </dgm:pt>
    <dgm:pt modelId="{F59AF45D-1279-2644-96FD-E01FA6A831A4}" type="sibTrans" cxnId="{6C6FAE6C-B2D0-724F-9A49-0F2613698DE5}">
      <dgm:prSet/>
      <dgm:spPr/>
      <dgm:t>
        <a:bodyPr/>
        <a:lstStyle/>
        <a:p>
          <a:endParaRPr lang="en-US" sz="2000"/>
        </a:p>
      </dgm:t>
    </dgm:pt>
    <dgm:pt modelId="{AF4C733E-BD9D-444F-BCDA-BEC07C44F058}">
      <dgm:prSet phldrT="[Text]" custT="1"/>
      <dgm:spPr/>
      <dgm:t>
        <a:bodyPr/>
        <a:lstStyle/>
        <a:p>
          <a:r>
            <a:rPr lang="en-US" sz="2000" i="1" dirty="0"/>
            <a:t>t</a:t>
          </a:r>
          <a:r>
            <a:rPr lang="en-US" sz="2000" dirty="0"/>
            <a:t>-tests</a:t>
          </a:r>
        </a:p>
      </dgm:t>
    </dgm:pt>
    <dgm:pt modelId="{9340D07F-FF32-9F45-A2B2-D22013CECCAF}" type="parTrans" cxnId="{57D94EA8-92E1-6147-9656-970842863D00}">
      <dgm:prSet/>
      <dgm:spPr/>
      <dgm:t>
        <a:bodyPr/>
        <a:lstStyle/>
        <a:p>
          <a:endParaRPr lang="en-US" sz="2000"/>
        </a:p>
      </dgm:t>
    </dgm:pt>
    <dgm:pt modelId="{171D18A8-7B1E-444C-9790-9A3AB7B2791F}" type="sibTrans" cxnId="{57D94EA8-92E1-6147-9656-970842863D00}">
      <dgm:prSet/>
      <dgm:spPr/>
      <dgm:t>
        <a:bodyPr/>
        <a:lstStyle/>
        <a:p>
          <a:endParaRPr lang="en-US" sz="2000"/>
        </a:p>
      </dgm:t>
    </dgm:pt>
    <dgm:pt modelId="{5488FEAE-F402-E341-BF39-693C7714FCFB}">
      <dgm:prSet phldrT="[Text]" custT="1"/>
      <dgm:spPr/>
      <dgm:t>
        <a:bodyPr/>
        <a:lstStyle/>
        <a:p>
          <a:r>
            <a:rPr lang="en-US" sz="2000" dirty="0"/>
            <a:t>SLR</a:t>
          </a:r>
        </a:p>
      </dgm:t>
    </dgm:pt>
    <dgm:pt modelId="{F194A1DC-D47E-D045-A280-2DEC4C17AF82}" type="parTrans" cxnId="{DEBEEF2D-9A2D-9D40-B061-6043E50A0573}">
      <dgm:prSet/>
      <dgm:spPr/>
      <dgm:t>
        <a:bodyPr/>
        <a:lstStyle/>
        <a:p>
          <a:endParaRPr lang="en-US" sz="2000"/>
        </a:p>
      </dgm:t>
    </dgm:pt>
    <dgm:pt modelId="{4C40A469-7A06-8E4F-9BAC-0E0FA7959B3E}" type="sibTrans" cxnId="{DEBEEF2D-9A2D-9D40-B061-6043E50A0573}">
      <dgm:prSet/>
      <dgm:spPr/>
      <dgm:t>
        <a:bodyPr/>
        <a:lstStyle/>
        <a:p>
          <a:endParaRPr lang="en-US" sz="2000"/>
        </a:p>
      </dgm:t>
    </dgm:pt>
    <dgm:pt modelId="{9AAC8616-7D21-1744-82EA-5DD31CAF89DC}">
      <dgm:prSet phldrT="[Text]" custT="1"/>
      <dgm:spPr/>
      <dgm:t>
        <a:bodyPr/>
        <a:lstStyle/>
        <a:p>
          <a:r>
            <a:rPr lang="en-US" sz="2000" dirty="0"/>
            <a:t>Time series</a:t>
          </a:r>
        </a:p>
      </dgm:t>
    </dgm:pt>
    <dgm:pt modelId="{6138864F-885D-C64C-A3C1-61B8DB7CE960}" type="parTrans" cxnId="{006AAA44-0654-6B43-9724-CB3DA9D84754}">
      <dgm:prSet/>
      <dgm:spPr/>
      <dgm:t>
        <a:bodyPr/>
        <a:lstStyle/>
        <a:p>
          <a:endParaRPr lang="en-US" sz="2000"/>
        </a:p>
      </dgm:t>
    </dgm:pt>
    <dgm:pt modelId="{AED3DAF8-A414-4544-AE84-20268F5EBA44}" type="sibTrans" cxnId="{006AAA44-0654-6B43-9724-CB3DA9D84754}">
      <dgm:prSet/>
      <dgm:spPr/>
      <dgm:t>
        <a:bodyPr/>
        <a:lstStyle/>
        <a:p>
          <a:endParaRPr lang="en-US" sz="2000"/>
        </a:p>
      </dgm:t>
    </dgm:pt>
    <dgm:pt modelId="{B4402398-15EE-5448-9D39-04A67B56770C}">
      <dgm:prSet phldrT="[Text]" custT="1"/>
      <dgm:spPr/>
      <dgm:t>
        <a:bodyPr/>
        <a:lstStyle/>
        <a:p>
          <a:r>
            <a:rPr lang="en-US" sz="2000" dirty="0"/>
            <a:t>Repeated measures</a:t>
          </a:r>
        </a:p>
      </dgm:t>
    </dgm:pt>
    <dgm:pt modelId="{76A49378-37BA-1C4F-94C4-00CF572CCD8F}" type="parTrans" cxnId="{8EF78D45-6166-8243-92E3-7906FD26DE4D}">
      <dgm:prSet/>
      <dgm:spPr/>
      <dgm:t>
        <a:bodyPr/>
        <a:lstStyle/>
        <a:p>
          <a:endParaRPr lang="en-US" sz="2000"/>
        </a:p>
      </dgm:t>
    </dgm:pt>
    <dgm:pt modelId="{42F4C98D-1F13-5541-BEE1-848FEC601623}" type="sibTrans" cxnId="{8EF78D45-6166-8243-92E3-7906FD26DE4D}">
      <dgm:prSet/>
      <dgm:spPr/>
      <dgm:t>
        <a:bodyPr/>
        <a:lstStyle/>
        <a:p>
          <a:endParaRPr lang="en-US" sz="2000"/>
        </a:p>
      </dgm:t>
    </dgm:pt>
    <dgm:pt modelId="{5EF646FF-6B9B-D44F-8CF3-72FE2116FD8A}" type="pres">
      <dgm:prSet presAssocID="{646AD176-81A5-0C44-889C-49A0F685336A}" presName="mainComposite" presStyleCnt="0">
        <dgm:presLayoutVars>
          <dgm:chPref val="1"/>
          <dgm:dir/>
          <dgm:animOne val="branch"/>
          <dgm:animLvl val="lvl"/>
          <dgm:resizeHandles val="exact"/>
        </dgm:presLayoutVars>
      </dgm:prSet>
      <dgm:spPr/>
    </dgm:pt>
    <dgm:pt modelId="{3D14BB74-ACBB-5844-B030-AC859775C7E6}" type="pres">
      <dgm:prSet presAssocID="{646AD176-81A5-0C44-889C-49A0F685336A}" presName="hierFlow" presStyleCnt="0"/>
      <dgm:spPr/>
    </dgm:pt>
    <dgm:pt modelId="{5AE94CA5-7C99-D44F-AB87-22F7166C58BA}" type="pres">
      <dgm:prSet presAssocID="{646AD176-81A5-0C44-889C-49A0F685336A}" presName="hierChild1" presStyleCnt="0">
        <dgm:presLayoutVars>
          <dgm:chPref val="1"/>
          <dgm:animOne val="branch"/>
          <dgm:animLvl val="lvl"/>
        </dgm:presLayoutVars>
      </dgm:prSet>
      <dgm:spPr/>
    </dgm:pt>
    <dgm:pt modelId="{AFC05F1C-91AF-AD4B-A191-C0F000E82F58}" type="pres">
      <dgm:prSet presAssocID="{F582649A-3F48-C547-9685-A1A652EEE398}" presName="Name14" presStyleCnt="0"/>
      <dgm:spPr/>
    </dgm:pt>
    <dgm:pt modelId="{BCB41F3A-8215-1F41-802F-232403F7C36B}" type="pres">
      <dgm:prSet presAssocID="{F582649A-3F48-C547-9685-A1A652EEE398}" presName="level1Shape" presStyleLbl="node0" presStyleIdx="0" presStyleCnt="1" custScaleX="219445">
        <dgm:presLayoutVars>
          <dgm:chPref val="3"/>
        </dgm:presLayoutVars>
      </dgm:prSet>
      <dgm:spPr/>
    </dgm:pt>
    <dgm:pt modelId="{DEAC6EBE-AE69-2147-9566-B23F6A4511B3}" type="pres">
      <dgm:prSet presAssocID="{F582649A-3F48-C547-9685-A1A652EEE398}" presName="hierChild2" presStyleCnt="0"/>
      <dgm:spPr/>
    </dgm:pt>
    <dgm:pt modelId="{C1DA744B-5A05-C345-A17C-C0DF69B00399}" type="pres">
      <dgm:prSet presAssocID="{83F28FFF-E59F-0642-BA62-04528CB14588}" presName="Name19" presStyleLbl="parChTrans1D2" presStyleIdx="0" presStyleCnt="2"/>
      <dgm:spPr/>
    </dgm:pt>
    <dgm:pt modelId="{8F3BB025-C7E1-8C46-84F3-14D62CFA9151}" type="pres">
      <dgm:prSet presAssocID="{37AE1C0E-4342-6341-AD22-F487BB875D2C}" presName="Name21" presStyleCnt="0"/>
      <dgm:spPr/>
    </dgm:pt>
    <dgm:pt modelId="{898C12B4-4FCD-FB48-9180-4CB5B8BA09B5}" type="pres">
      <dgm:prSet presAssocID="{37AE1C0E-4342-6341-AD22-F487BB875D2C}" presName="level2Shape" presStyleLbl="node2" presStyleIdx="0" presStyleCnt="2"/>
      <dgm:spPr/>
    </dgm:pt>
    <dgm:pt modelId="{486FC1C7-E24D-ED41-8EBA-14551D7C7E68}" type="pres">
      <dgm:prSet presAssocID="{37AE1C0E-4342-6341-AD22-F487BB875D2C}" presName="hierChild3" presStyleCnt="0"/>
      <dgm:spPr/>
    </dgm:pt>
    <dgm:pt modelId="{B5AE24BD-26C2-F34B-89AB-F1E6D70A8359}" type="pres">
      <dgm:prSet presAssocID="{9340D07F-FF32-9F45-A2B2-D22013CECCAF}" presName="Name19" presStyleLbl="parChTrans1D3" presStyleIdx="0" presStyleCnt="5"/>
      <dgm:spPr/>
    </dgm:pt>
    <dgm:pt modelId="{50305B5D-C3C2-004B-B9E4-EC074E544856}" type="pres">
      <dgm:prSet presAssocID="{AF4C733E-BD9D-444F-BCDA-BEC07C44F058}" presName="Name21" presStyleCnt="0"/>
      <dgm:spPr/>
    </dgm:pt>
    <dgm:pt modelId="{6632F7C3-5DFE-FF46-9848-9E729CC90594}" type="pres">
      <dgm:prSet presAssocID="{AF4C733E-BD9D-444F-BCDA-BEC07C44F058}" presName="level2Shape" presStyleLbl="node3" presStyleIdx="0" presStyleCnt="5"/>
      <dgm:spPr/>
    </dgm:pt>
    <dgm:pt modelId="{FEAAC73B-2A7A-0E4C-BC05-782F4385CCC4}" type="pres">
      <dgm:prSet presAssocID="{AF4C733E-BD9D-444F-BCDA-BEC07C44F058}" presName="hierChild3" presStyleCnt="0"/>
      <dgm:spPr/>
    </dgm:pt>
    <dgm:pt modelId="{AEB9CAED-5AF7-A949-AACD-62705A25BC23}" type="pres">
      <dgm:prSet presAssocID="{7574BB74-CC00-3740-85B4-512A347AC6FC}" presName="Name19" presStyleLbl="parChTrans1D3" presStyleIdx="1" presStyleCnt="5"/>
      <dgm:spPr/>
    </dgm:pt>
    <dgm:pt modelId="{E3D02511-C7B7-FE43-9D62-1C990BD7FEA0}" type="pres">
      <dgm:prSet presAssocID="{AFA743F4-11B5-D545-82C3-4DCAD5434EF3}" presName="Name21" presStyleCnt="0"/>
      <dgm:spPr/>
    </dgm:pt>
    <dgm:pt modelId="{48BE7569-2B64-604D-AB59-824668AC12CB}" type="pres">
      <dgm:prSet presAssocID="{AFA743F4-11B5-D545-82C3-4DCAD5434EF3}" presName="level2Shape" presStyleLbl="node3" presStyleIdx="1" presStyleCnt="5"/>
      <dgm:spPr/>
    </dgm:pt>
    <dgm:pt modelId="{BE2736D3-C139-624F-B7DE-3177E4F57822}" type="pres">
      <dgm:prSet presAssocID="{AFA743F4-11B5-D545-82C3-4DCAD5434EF3}" presName="hierChild3" presStyleCnt="0"/>
      <dgm:spPr/>
    </dgm:pt>
    <dgm:pt modelId="{7D128F65-5C8E-0747-9F6F-3E0BC983FF5F}" type="pres">
      <dgm:prSet presAssocID="{F194A1DC-D47E-D045-A280-2DEC4C17AF82}" presName="Name19" presStyleLbl="parChTrans1D3" presStyleIdx="2" presStyleCnt="5"/>
      <dgm:spPr/>
    </dgm:pt>
    <dgm:pt modelId="{E74AFEAB-2B8A-5349-8740-5D0B99C52829}" type="pres">
      <dgm:prSet presAssocID="{5488FEAE-F402-E341-BF39-693C7714FCFB}" presName="Name21" presStyleCnt="0"/>
      <dgm:spPr/>
    </dgm:pt>
    <dgm:pt modelId="{3193A4E9-C40B-A24A-B6FF-E5D372673843}" type="pres">
      <dgm:prSet presAssocID="{5488FEAE-F402-E341-BF39-693C7714FCFB}" presName="level2Shape" presStyleLbl="node3" presStyleIdx="2" presStyleCnt="5"/>
      <dgm:spPr/>
    </dgm:pt>
    <dgm:pt modelId="{FF63F174-02FD-6D4E-923D-C02F6DC0D253}" type="pres">
      <dgm:prSet presAssocID="{5488FEAE-F402-E341-BF39-693C7714FCFB}" presName="hierChild3" presStyleCnt="0"/>
      <dgm:spPr/>
    </dgm:pt>
    <dgm:pt modelId="{A7368A8F-F68B-214F-9C20-854EED0EAB58}" type="pres">
      <dgm:prSet presAssocID="{337C6C02-D56B-6C46-B990-664EC08BAB92}" presName="Name19" presStyleLbl="parChTrans1D2" presStyleIdx="1" presStyleCnt="2"/>
      <dgm:spPr/>
    </dgm:pt>
    <dgm:pt modelId="{A3C632E4-242E-1B4C-B844-3D42262945C3}" type="pres">
      <dgm:prSet presAssocID="{30657E02-9F37-F04C-A30E-F04D74AB0673}" presName="Name21" presStyleCnt="0"/>
      <dgm:spPr/>
    </dgm:pt>
    <dgm:pt modelId="{5B1D1C69-EDD2-B64C-9286-12B9F5A8187C}" type="pres">
      <dgm:prSet presAssocID="{30657E02-9F37-F04C-A30E-F04D74AB0673}" presName="level2Shape" presStyleLbl="node2" presStyleIdx="1" presStyleCnt="2"/>
      <dgm:spPr/>
    </dgm:pt>
    <dgm:pt modelId="{D0917C07-373E-F848-943E-D86FBCAC0425}" type="pres">
      <dgm:prSet presAssocID="{30657E02-9F37-F04C-A30E-F04D74AB0673}" presName="hierChild3" presStyleCnt="0"/>
      <dgm:spPr/>
    </dgm:pt>
    <dgm:pt modelId="{2C8ABDBF-3B11-F845-828F-D8CBDEB97ABD}" type="pres">
      <dgm:prSet presAssocID="{6138864F-885D-C64C-A3C1-61B8DB7CE960}" presName="Name19" presStyleLbl="parChTrans1D3" presStyleIdx="3" presStyleCnt="5"/>
      <dgm:spPr/>
    </dgm:pt>
    <dgm:pt modelId="{9D5D7151-390C-6A49-870C-9229377B7394}" type="pres">
      <dgm:prSet presAssocID="{9AAC8616-7D21-1744-82EA-5DD31CAF89DC}" presName="Name21" presStyleCnt="0"/>
      <dgm:spPr/>
    </dgm:pt>
    <dgm:pt modelId="{C3A93FBD-B308-9B40-9C1C-0B8A0AC0EEF0}" type="pres">
      <dgm:prSet presAssocID="{9AAC8616-7D21-1744-82EA-5DD31CAF89DC}" presName="level2Shape" presStyleLbl="node3" presStyleIdx="3" presStyleCnt="5"/>
      <dgm:spPr/>
    </dgm:pt>
    <dgm:pt modelId="{509B8D91-EE4C-0E45-AC14-C733F5691B19}" type="pres">
      <dgm:prSet presAssocID="{9AAC8616-7D21-1744-82EA-5DD31CAF89DC}" presName="hierChild3" presStyleCnt="0"/>
      <dgm:spPr/>
    </dgm:pt>
    <dgm:pt modelId="{E991DB73-24F8-0440-8E6F-E3433B78B978}" type="pres">
      <dgm:prSet presAssocID="{76A49378-37BA-1C4F-94C4-00CF572CCD8F}" presName="Name19" presStyleLbl="parChTrans1D3" presStyleIdx="4" presStyleCnt="5"/>
      <dgm:spPr/>
    </dgm:pt>
    <dgm:pt modelId="{60A095D9-FB2E-CB4D-A47F-4EDD5257C6D4}" type="pres">
      <dgm:prSet presAssocID="{B4402398-15EE-5448-9D39-04A67B56770C}" presName="Name21" presStyleCnt="0"/>
      <dgm:spPr/>
    </dgm:pt>
    <dgm:pt modelId="{3CF5CE92-F139-B841-AD92-44047F231634}" type="pres">
      <dgm:prSet presAssocID="{B4402398-15EE-5448-9D39-04A67B56770C}" presName="level2Shape" presStyleLbl="node3" presStyleIdx="4" presStyleCnt="5"/>
      <dgm:spPr/>
    </dgm:pt>
    <dgm:pt modelId="{0C02E9E1-656B-194E-91B0-DF671B489880}" type="pres">
      <dgm:prSet presAssocID="{B4402398-15EE-5448-9D39-04A67B56770C}" presName="hierChild3" presStyleCnt="0"/>
      <dgm:spPr/>
    </dgm:pt>
    <dgm:pt modelId="{BBD3D8B1-A444-134C-AED9-2E371602D35F}" type="pres">
      <dgm:prSet presAssocID="{646AD176-81A5-0C44-889C-49A0F685336A}" presName="bgShapesFlow" presStyleCnt="0"/>
      <dgm:spPr/>
    </dgm:pt>
  </dgm:ptLst>
  <dgm:cxnLst>
    <dgm:cxn modelId="{16889A04-7655-624B-9AC2-07C16B660661}" type="presOf" srcId="{F582649A-3F48-C547-9685-A1A652EEE398}" destId="{BCB41F3A-8215-1F41-802F-232403F7C36B}" srcOrd="0" destOrd="0" presId="urn:microsoft.com/office/officeart/2005/8/layout/hierarchy6"/>
    <dgm:cxn modelId="{F0A21B06-A8BC-554B-A98B-CE6AB4C34C15}" srcId="{646AD176-81A5-0C44-889C-49A0F685336A}" destId="{F582649A-3F48-C547-9685-A1A652EEE398}" srcOrd="0" destOrd="0" parTransId="{900C8767-02D7-FD4A-84F5-69FE8898B7A0}" sibTransId="{BF4C5BE9-C0EF-F04A-88E3-73E5E3FC1F77}"/>
    <dgm:cxn modelId="{9FF69A10-61A9-B54F-BC9D-1F0F0F6437AE}" type="presOf" srcId="{AF4C733E-BD9D-444F-BCDA-BEC07C44F058}" destId="{6632F7C3-5DFE-FF46-9848-9E729CC90594}" srcOrd="0" destOrd="0" presId="urn:microsoft.com/office/officeart/2005/8/layout/hierarchy6"/>
    <dgm:cxn modelId="{DEBEEF2D-9A2D-9D40-B061-6043E50A0573}" srcId="{37AE1C0E-4342-6341-AD22-F487BB875D2C}" destId="{5488FEAE-F402-E341-BF39-693C7714FCFB}" srcOrd="2" destOrd="0" parTransId="{F194A1DC-D47E-D045-A280-2DEC4C17AF82}" sibTransId="{4C40A469-7A06-8E4F-9BAC-0E0FA7959B3E}"/>
    <dgm:cxn modelId="{7CB66841-CA88-2244-B02D-BE3720C62CE6}" type="presOf" srcId="{30657E02-9F37-F04C-A30E-F04D74AB0673}" destId="{5B1D1C69-EDD2-B64C-9286-12B9F5A8187C}" srcOrd="0" destOrd="0" presId="urn:microsoft.com/office/officeart/2005/8/layout/hierarchy6"/>
    <dgm:cxn modelId="{006AAA44-0654-6B43-9724-CB3DA9D84754}" srcId="{30657E02-9F37-F04C-A30E-F04D74AB0673}" destId="{9AAC8616-7D21-1744-82EA-5DD31CAF89DC}" srcOrd="0" destOrd="0" parTransId="{6138864F-885D-C64C-A3C1-61B8DB7CE960}" sibTransId="{AED3DAF8-A414-4544-AE84-20268F5EBA44}"/>
    <dgm:cxn modelId="{8EF78D45-6166-8243-92E3-7906FD26DE4D}" srcId="{30657E02-9F37-F04C-A30E-F04D74AB0673}" destId="{B4402398-15EE-5448-9D39-04A67B56770C}" srcOrd="1" destOrd="0" parTransId="{76A49378-37BA-1C4F-94C4-00CF572CCD8F}" sibTransId="{42F4C98D-1F13-5541-BEE1-848FEC601623}"/>
    <dgm:cxn modelId="{763B6E4B-C80A-0743-91F8-8DFC631C9787}" type="presOf" srcId="{76A49378-37BA-1C4F-94C4-00CF572CCD8F}" destId="{E991DB73-24F8-0440-8E6F-E3433B78B978}" srcOrd="0" destOrd="0" presId="urn:microsoft.com/office/officeart/2005/8/layout/hierarchy6"/>
    <dgm:cxn modelId="{B8690D56-4A14-B344-B0F9-988BEF3D6EAC}" type="presOf" srcId="{337C6C02-D56B-6C46-B990-664EC08BAB92}" destId="{A7368A8F-F68B-214F-9C20-854EED0EAB58}" srcOrd="0" destOrd="0" presId="urn:microsoft.com/office/officeart/2005/8/layout/hierarchy6"/>
    <dgm:cxn modelId="{97F3F456-6772-EC4C-874E-FDBE134FCF64}" type="presOf" srcId="{7574BB74-CC00-3740-85B4-512A347AC6FC}" destId="{AEB9CAED-5AF7-A949-AACD-62705A25BC23}" srcOrd="0" destOrd="0" presId="urn:microsoft.com/office/officeart/2005/8/layout/hierarchy6"/>
    <dgm:cxn modelId="{FF3BA759-6857-F944-929E-A25C198F7CA1}" type="presOf" srcId="{6138864F-885D-C64C-A3C1-61B8DB7CE960}" destId="{2C8ABDBF-3B11-F845-828F-D8CBDEB97ABD}" srcOrd="0" destOrd="0" presId="urn:microsoft.com/office/officeart/2005/8/layout/hierarchy6"/>
    <dgm:cxn modelId="{60E90E64-B114-F447-AC50-475CA42904CD}" type="presOf" srcId="{37AE1C0E-4342-6341-AD22-F487BB875D2C}" destId="{898C12B4-4FCD-FB48-9180-4CB5B8BA09B5}" srcOrd="0" destOrd="0" presId="urn:microsoft.com/office/officeart/2005/8/layout/hierarchy6"/>
    <dgm:cxn modelId="{6C6FAE6C-B2D0-724F-9A49-0F2613698DE5}" srcId="{F582649A-3F48-C547-9685-A1A652EEE398}" destId="{30657E02-9F37-F04C-A30E-F04D74AB0673}" srcOrd="1" destOrd="0" parTransId="{337C6C02-D56B-6C46-B990-664EC08BAB92}" sibTransId="{F59AF45D-1279-2644-96FD-E01FA6A831A4}"/>
    <dgm:cxn modelId="{1B272675-1BCB-194A-A11A-F1624D61DF0A}" type="presOf" srcId="{AFA743F4-11B5-D545-82C3-4DCAD5434EF3}" destId="{48BE7569-2B64-604D-AB59-824668AC12CB}" srcOrd="0" destOrd="0" presId="urn:microsoft.com/office/officeart/2005/8/layout/hierarchy6"/>
    <dgm:cxn modelId="{2C1CE99A-2155-AB46-B2CC-AEF1A69FA751}" type="presOf" srcId="{646AD176-81A5-0C44-889C-49A0F685336A}" destId="{5EF646FF-6B9B-D44F-8CF3-72FE2116FD8A}" srcOrd="0" destOrd="0" presId="urn:microsoft.com/office/officeart/2005/8/layout/hierarchy6"/>
    <dgm:cxn modelId="{534A1A9F-4621-6D40-8FAD-807E765A1FB8}" type="presOf" srcId="{9340D07F-FF32-9F45-A2B2-D22013CECCAF}" destId="{B5AE24BD-26C2-F34B-89AB-F1E6D70A8359}" srcOrd="0" destOrd="0" presId="urn:microsoft.com/office/officeart/2005/8/layout/hierarchy6"/>
    <dgm:cxn modelId="{57D94EA8-92E1-6147-9656-970842863D00}" srcId="{37AE1C0E-4342-6341-AD22-F487BB875D2C}" destId="{AF4C733E-BD9D-444F-BCDA-BEC07C44F058}" srcOrd="0" destOrd="0" parTransId="{9340D07F-FF32-9F45-A2B2-D22013CECCAF}" sibTransId="{171D18A8-7B1E-444C-9790-9A3AB7B2791F}"/>
    <dgm:cxn modelId="{9654D5AC-CE33-4D4D-8CCD-F26B62BA17DE}" srcId="{37AE1C0E-4342-6341-AD22-F487BB875D2C}" destId="{AFA743F4-11B5-D545-82C3-4DCAD5434EF3}" srcOrd="1" destOrd="0" parTransId="{7574BB74-CC00-3740-85B4-512A347AC6FC}" sibTransId="{54E1B6F9-2B17-BC4E-A01E-BF48358CFF68}"/>
    <dgm:cxn modelId="{55D212C3-C374-0E45-9957-EF87084EABF1}" type="presOf" srcId="{9AAC8616-7D21-1744-82EA-5DD31CAF89DC}" destId="{C3A93FBD-B308-9B40-9C1C-0B8A0AC0EEF0}" srcOrd="0" destOrd="0" presId="urn:microsoft.com/office/officeart/2005/8/layout/hierarchy6"/>
    <dgm:cxn modelId="{C60ABFC9-A845-1D4D-A8D5-0A133AE11C79}" srcId="{F582649A-3F48-C547-9685-A1A652EEE398}" destId="{37AE1C0E-4342-6341-AD22-F487BB875D2C}" srcOrd="0" destOrd="0" parTransId="{83F28FFF-E59F-0642-BA62-04528CB14588}" sibTransId="{FE85B1E6-7FB1-1D4A-BE2F-21DDD62FD0A0}"/>
    <dgm:cxn modelId="{2FC7E0D0-DEF1-1645-9A04-1C3F38D6EDDD}" type="presOf" srcId="{F194A1DC-D47E-D045-A280-2DEC4C17AF82}" destId="{7D128F65-5C8E-0747-9F6F-3E0BC983FF5F}" srcOrd="0" destOrd="0" presId="urn:microsoft.com/office/officeart/2005/8/layout/hierarchy6"/>
    <dgm:cxn modelId="{EA151FD4-6C7D-F442-9E2D-B7EEB3304E63}" type="presOf" srcId="{5488FEAE-F402-E341-BF39-693C7714FCFB}" destId="{3193A4E9-C40B-A24A-B6FF-E5D372673843}" srcOrd="0" destOrd="0" presId="urn:microsoft.com/office/officeart/2005/8/layout/hierarchy6"/>
    <dgm:cxn modelId="{7FD871D8-2860-D549-A41F-207D5AF3D47A}" type="presOf" srcId="{B4402398-15EE-5448-9D39-04A67B56770C}" destId="{3CF5CE92-F139-B841-AD92-44047F231634}" srcOrd="0" destOrd="0" presId="urn:microsoft.com/office/officeart/2005/8/layout/hierarchy6"/>
    <dgm:cxn modelId="{A4C9A5E1-0DE5-A841-B145-417EE268E14C}" type="presOf" srcId="{83F28FFF-E59F-0642-BA62-04528CB14588}" destId="{C1DA744B-5A05-C345-A17C-C0DF69B00399}" srcOrd="0" destOrd="0" presId="urn:microsoft.com/office/officeart/2005/8/layout/hierarchy6"/>
    <dgm:cxn modelId="{BF75DF1F-CF5D-5E4B-8BE4-7D45D80BB6D9}" type="presParOf" srcId="{5EF646FF-6B9B-D44F-8CF3-72FE2116FD8A}" destId="{3D14BB74-ACBB-5844-B030-AC859775C7E6}" srcOrd="0" destOrd="0" presId="urn:microsoft.com/office/officeart/2005/8/layout/hierarchy6"/>
    <dgm:cxn modelId="{3CEDDFBA-6EB8-C548-8005-A03F65766688}" type="presParOf" srcId="{3D14BB74-ACBB-5844-B030-AC859775C7E6}" destId="{5AE94CA5-7C99-D44F-AB87-22F7166C58BA}" srcOrd="0" destOrd="0" presId="urn:microsoft.com/office/officeart/2005/8/layout/hierarchy6"/>
    <dgm:cxn modelId="{210A0D0B-699A-3D46-B99A-81D3BD34E092}" type="presParOf" srcId="{5AE94CA5-7C99-D44F-AB87-22F7166C58BA}" destId="{AFC05F1C-91AF-AD4B-A191-C0F000E82F58}" srcOrd="0" destOrd="0" presId="urn:microsoft.com/office/officeart/2005/8/layout/hierarchy6"/>
    <dgm:cxn modelId="{1EAF879E-DCB0-084A-AF08-ED525B8E50D0}" type="presParOf" srcId="{AFC05F1C-91AF-AD4B-A191-C0F000E82F58}" destId="{BCB41F3A-8215-1F41-802F-232403F7C36B}" srcOrd="0" destOrd="0" presId="urn:microsoft.com/office/officeart/2005/8/layout/hierarchy6"/>
    <dgm:cxn modelId="{9E112B5C-DA0B-5040-914D-6D36C802C9D9}" type="presParOf" srcId="{AFC05F1C-91AF-AD4B-A191-C0F000E82F58}" destId="{DEAC6EBE-AE69-2147-9566-B23F6A4511B3}" srcOrd="1" destOrd="0" presId="urn:microsoft.com/office/officeart/2005/8/layout/hierarchy6"/>
    <dgm:cxn modelId="{2A59EDCB-01BC-734F-A255-2892CBF4DED6}" type="presParOf" srcId="{DEAC6EBE-AE69-2147-9566-B23F6A4511B3}" destId="{C1DA744B-5A05-C345-A17C-C0DF69B00399}" srcOrd="0" destOrd="0" presId="urn:microsoft.com/office/officeart/2005/8/layout/hierarchy6"/>
    <dgm:cxn modelId="{98084656-2B1C-6344-9DE8-7773216FD40F}" type="presParOf" srcId="{DEAC6EBE-AE69-2147-9566-B23F6A4511B3}" destId="{8F3BB025-C7E1-8C46-84F3-14D62CFA9151}" srcOrd="1" destOrd="0" presId="urn:microsoft.com/office/officeart/2005/8/layout/hierarchy6"/>
    <dgm:cxn modelId="{866471CB-1F82-2144-93D8-168CBAE5F24B}" type="presParOf" srcId="{8F3BB025-C7E1-8C46-84F3-14D62CFA9151}" destId="{898C12B4-4FCD-FB48-9180-4CB5B8BA09B5}" srcOrd="0" destOrd="0" presId="urn:microsoft.com/office/officeart/2005/8/layout/hierarchy6"/>
    <dgm:cxn modelId="{D55C83BB-B39A-CD4A-9389-943E990395E9}" type="presParOf" srcId="{8F3BB025-C7E1-8C46-84F3-14D62CFA9151}" destId="{486FC1C7-E24D-ED41-8EBA-14551D7C7E68}" srcOrd="1" destOrd="0" presId="urn:microsoft.com/office/officeart/2005/8/layout/hierarchy6"/>
    <dgm:cxn modelId="{159BED53-F2B2-D047-97ED-4A86DF3D1858}" type="presParOf" srcId="{486FC1C7-E24D-ED41-8EBA-14551D7C7E68}" destId="{B5AE24BD-26C2-F34B-89AB-F1E6D70A8359}" srcOrd="0" destOrd="0" presId="urn:microsoft.com/office/officeart/2005/8/layout/hierarchy6"/>
    <dgm:cxn modelId="{9034F8C3-7287-7149-AF61-6FD9638FAD81}" type="presParOf" srcId="{486FC1C7-E24D-ED41-8EBA-14551D7C7E68}" destId="{50305B5D-C3C2-004B-B9E4-EC074E544856}" srcOrd="1" destOrd="0" presId="urn:microsoft.com/office/officeart/2005/8/layout/hierarchy6"/>
    <dgm:cxn modelId="{16F1FE9A-06F0-1F4B-B65A-E25807ECC444}" type="presParOf" srcId="{50305B5D-C3C2-004B-B9E4-EC074E544856}" destId="{6632F7C3-5DFE-FF46-9848-9E729CC90594}" srcOrd="0" destOrd="0" presId="urn:microsoft.com/office/officeart/2005/8/layout/hierarchy6"/>
    <dgm:cxn modelId="{498B6C8A-694B-C240-AF59-01B59637605B}" type="presParOf" srcId="{50305B5D-C3C2-004B-B9E4-EC074E544856}" destId="{FEAAC73B-2A7A-0E4C-BC05-782F4385CCC4}" srcOrd="1" destOrd="0" presId="urn:microsoft.com/office/officeart/2005/8/layout/hierarchy6"/>
    <dgm:cxn modelId="{B875BF82-06FE-7845-A521-CF752859690D}" type="presParOf" srcId="{486FC1C7-E24D-ED41-8EBA-14551D7C7E68}" destId="{AEB9CAED-5AF7-A949-AACD-62705A25BC23}" srcOrd="2" destOrd="0" presId="urn:microsoft.com/office/officeart/2005/8/layout/hierarchy6"/>
    <dgm:cxn modelId="{9D9DE70C-2EDC-D64E-A8B9-CDC27F88EC2B}" type="presParOf" srcId="{486FC1C7-E24D-ED41-8EBA-14551D7C7E68}" destId="{E3D02511-C7B7-FE43-9D62-1C990BD7FEA0}" srcOrd="3" destOrd="0" presId="urn:microsoft.com/office/officeart/2005/8/layout/hierarchy6"/>
    <dgm:cxn modelId="{5AE0881D-227E-9B4C-8E3F-EA44FF276F3C}" type="presParOf" srcId="{E3D02511-C7B7-FE43-9D62-1C990BD7FEA0}" destId="{48BE7569-2B64-604D-AB59-824668AC12CB}" srcOrd="0" destOrd="0" presId="urn:microsoft.com/office/officeart/2005/8/layout/hierarchy6"/>
    <dgm:cxn modelId="{DAFFB029-DAD6-FD48-B7BA-82566D014B55}" type="presParOf" srcId="{E3D02511-C7B7-FE43-9D62-1C990BD7FEA0}" destId="{BE2736D3-C139-624F-B7DE-3177E4F57822}" srcOrd="1" destOrd="0" presId="urn:microsoft.com/office/officeart/2005/8/layout/hierarchy6"/>
    <dgm:cxn modelId="{4C5018EE-5A9D-864E-A6BF-B8AE01B780AE}" type="presParOf" srcId="{486FC1C7-E24D-ED41-8EBA-14551D7C7E68}" destId="{7D128F65-5C8E-0747-9F6F-3E0BC983FF5F}" srcOrd="4" destOrd="0" presId="urn:microsoft.com/office/officeart/2005/8/layout/hierarchy6"/>
    <dgm:cxn modelId="{B9B4D73E-9E65-6943-9D75-2DDABF18F695}" type="presParOf" srcId="{486FC1C7-E24D-ED41-8EBA-14551D7C7E68}" destId="{E74AFEAB-2B8A-5349-8740-5D0B99C52829}" srcOrd="5" destOrd="0" presId="urn:microsoft.com/office/officeart/2005/8/layout/hierarchy6"/>
    <dgm:cxn modelId="{A315D480-2FBD-4746-9899-8CC339AD4E97}" type="presParOf" srcId="{E74AFEAB-2B8A-5349-8740-5D0B99C52829}" destId="{3193A4E9-C40B-A24A-B6FF-E5D372673843}" srcOrd="0" destOrd="0" presId="urn:microsoft.com/office/officeart/2005/8/layout/hierarchy6"/>
    <dgm:cxn modelId="{74280A4D-3740-6B4D-BB58-5C0D3800356E}" type="presParOf" srcId="{E74AFEAB-2B8A-5349-8740-5D0B99C52829}" destId="{FF63F174-02FD-6D4E-923D-C02F6DC0D253}" srcOrd="1" destOrd="0" presId="urn:microsoft.com/office/officeart/2005/8/layout/hierarchy6"/>
    <dgm:cxn modelId="{55D5603C-2172-DF46-9F2A-DFF1E8A19CC8}" type="presParOf" srcId="{DEAC6EBE-AE69-2147-9566-B23F6A4511B3}" destId="{A7368A8F-F68B-214F-9C20-854EED0EAB58}" srcOrd="2" destOrd="0" presId="urn:microsoft.com/office/officeart/2005/8/layout/hierarchy6"/>
    <dgm:cxn modelId="{E8EE6EF0-B70B-C549-80DC-BB4A947732C6}" type="presParOf" srcId="{DEAC6EBE-AE69-2147-9566-B23F6A4511B3}" destId="{A3C632E4-242E-1B4C-B844-3D42262945C3}" srcOrd="3" destOrd="0" presId="urn:microsoft.com/office/officeart/2005/8/layout/hierarchy6"/>
    <dgm:cxn modelId="{5C569149-97C1-6A40-B550-3CA027C3EE36}" type="presParOf" srcId="{A3C632E4-242E-1B4C-B844-3D42262945C3}" destId="{5B1D1C69-EDD2-B64C-9286-12B9F5A8187C}" srcOrd="0" destOrd="0" presId="urn:microsoft.com/office/officeart/2005/8/layout/hierarchy6"/>
    <dgm:cxn modelId="{C87F109D-A543-EC4B-956B-FD12B98732A6}" type="presParOf" srcId="{A3C632E4-242E-1B4C-B844-3D42262945C3}" destId="{D0917C07-373E-F848-943E-D86FBCAC0425}" srcOrd="1" destOrd="0" presId="urn:microsoft.com/office/officeart/2005/8/layout/hierarchy6"/>
    <dgm:cxn modelId="{DCC1951D-052F-924C-98F4-CF4987554DFD}" type="presParOf" srcId="{D0917C07-373E-F848-943E-D86FBCAC0425}" destId="{2C8ABDBF-3B11-F845-828F-D8CBDEB97ABD}" srcOrd="0" destOrd="0" presId="urn:microsoft.com/office/officeart/2005/8/layout/hierarchy6"/>
    <dgm:cxn modelId="{2D23FD88-8EDA-9247-879F-B7CEB61DE140}" type="presParOf" srcId="{D0917C07-373E-F848-943E-D86FBCAC0425}" destId="{9D5D7151-390C-6A49-870C-9229377B7394}" srcOrd="1" destOrd="0" presId="urn:microsoft.com/office/officeart/2005/8/layout/hierarchy6"/>
    <dgm:cxn modelId="{A599A7C2-F109-1847-A48F-48EEE18233DF}" type="presParOf" srcId="{9D5D7151-390C-6A49-870C-9229377B7394}" destId="{C3A93FBD-B308-9B40-9C1C-0B8A0AC0EEF0}" srcOrd="0" destOrd="0" presId="urn:microsoft.com/office/officeart/2005/8/layout/hierarchy6"/>
    <dgm:cxn modelId="{C1CE1142-9BE7-204A-A8C5-4A0FDC995DD7}" type="presParOf" srcId="{9D5D7151-390C-6A49-870C-9229377B7394}" destId="{509B8D91-EE4C-0E45-AC14-C733F5691B19}" srcOrd="1" destOrd="0" presId="urn:microsoft.com/office/officeart/2005/8/layout/hierarchy6"/>
    <dgm:cxn modelId="{10DA7B4A-5C43-9C44-A617-CEAA832CFC8D}" type="presParOf" srcId="{D0917C07-373E-F848-943E-D86FBCAC0425}" destId="{E991DB73-24F8-0440-8E6F-E3433B78B978}" srcOrd="2" destOrd="0" presId="urn:microsoft.com/office/officeart/2005/8/layout/hierarchy6"/>
    <dgm:cxn modelId="{65F40CDD-A5A6-8D4A-9F06-E8D366AE3332}" type="presParOf" srcId="{D0917C07-373E-F848-943E-D86FBCAC0425}" destId="{60A095D9-FB2E-CB4D-A47F-4EDD5257C6D4}" srcOrd="3" destOrd="0" presId="urn:microsoft.com/office/officeart/2005/8/layout/hierarchy6"/>
    <dgm:cxn modelId="{0F02276A-8C2D-2248-B5A0-D0E4FBED6407}" type="presParOf" srcId="{60A095D9-FB2E-CB4D-A47F-4EDD5257C6D4}" destId="{3CF5CE92-F139-B841-AD92-44047F231634}" srcOrd="0" destOrd="0" presId="urn:microsoft.com/office/officeart/2005/8/layout/hierarchy6"/>
    <dgm:cxn modelId="{E7F9E88F-5971-4D4A-A895-FC6D6ED943B8}" type="presParOf" srcId="{60A095D9-FB2E-CB4D-A47F-4EDD5257C6D4}" destId="{0C02E9E1-656B-194E-91B0-DF671B489880}" srcOrd="1" destOrd="0" presId="urn:microsoft.com/office/officeart/2005/8/layout/hierarchy6"/>
    <dgm:cxn modelId="{C17D437B-AB8C-8141-8762-F1FAD7F7E533}" type="presParOf" srcId="{5EF646FF-6B9B-D44F-8CF3-72FE2116FD8A}" destId="{BBD3D8B1-A444-134C-AED9-2E371602D35F}"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2302C2-1787-FA44-9C72-20D5C0B937A6}">
      <dsp:nvSpPr>
        <dsp:cNvPr id="0" name=""/>
        <dsp:cNvSpPr/>
      </dsp:nvSpPr>
      <dsp:spPr>
        <a:xfrm>
          <a:off x="597" y="154014"/>
          <a:ext cx="2175296" cy="108764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Variance not constant</a:t>
          </a:r>
        </a:p>
      </dsp:txBody>
      <dsp:txXfrm>
        <a:off x="32453" y="185870"/>
        <a:ext cx="2111584" cy="1023936"/>
      </dsp:txXfrm>
    </dsp:sp>
    <dsp:sp modelId="{8DE77275-8661-EB4A-954B-4B13AA1F1237}">
      <dsp:nvSpPr>
        <dsp:cNvPr id="0" name=""/>
        <dsp:cNvSpPr/>
      </dsp:nvSpPr>
      <dsp:spPr>
        <a:xfrm>
          <a:off x="218127" y="1241662"/>
          <a:ext cx="217529" cy="815736"/>
        </a:xfrm>
        <a:custGeom>
          <a:avLst/>
          <a:gdLst/>
          <a:ahLst/>
          <a:cxnLst/>
          <a:rect l="0" t="0" r="0" b="0"/>
          <a:pathLst>
            <a:path>
              <a:moveTo>
                <a:pt x="0" y="0"/>
              </a:moveTo>
              <a:lnTo>
                <a:pt x="0" y="815736"/>
              </a:lnTo>
              <a:lnTo>
                <a:pt x="217529" y="81573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B8EFC8A-A909-164C-B6D8-E5E28D1B2619}">
      <dsp:nvSpPr>
        <dsp:cNvPr id="0" name=""/>
        <dsp:cNvSpPr/>
      </dsp:nvSpPr>
      <dsp:spPr>
        <a:xfrm>
          <a:off x="435656" y="1513574"/>
          <a:ext cx="1740237" cy="108764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Transform Y</a:t>
          </a:r>
        </a:p>
      </dsp:txBody>
      <dsp:txXfrm>
        <a:off x="467512" y="1545430"/>
        <a:ext cx="1676525" cy="1023936"/>
      </dsp:txXfrm>
    </dsp:sp>
    <dsp:sp modelId="{658357E6-6215-C741-A61F-CD071BA24D65}">
      <dsp:nvSpPr>
        <dsp:cNvPr id="0" name=""/>
        <dsp:cNvSpPr/>
      </dsp:nvSpPr>
      <dsp:spPr>
        <a:xfrm>
          <a:off x="2719718" y="154014"/>
          <a:ext cx="2175296" cy="108764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Trend</a:t>
          </a:r>
        </a:p>
      </dsp:txBody>
      <dsp:txXfrm>
        <a:off x="2751574" y="185870"/>
        <a:ext cx="2111584" cy="1023936"/>
      </dsp:txXfrm>
    </dsp:sp>
    <dsp:sp modelId="{2868DBB8-A391-FF46-8AE4-58EBE8045FE8}">
      <dsp:nvSpPr>
        <dsp:cNvPr id="0" name=""/>
        <dsp:cNvSpPr/>
      </dsp:nvSpPr>
      <dsp:spPr>
        <a:xfrm>
          <a:off x="2937247" y="1241662"/>
          <a:ext cx="217529" cy="815736"/>
        </a:xfrm>
        <a:custGeom>
          <a:avLst/>
          <a:gdLst/>
          <a:ahLst/>
          <a:cxnLst/>
          <a:rect l="0" t="0" r="0" b="0"/>
          <a:pathLst>
            <a:path>
              <a:moveTo>
                <a:pt x="0" y="0"/>
              </a:moveTo>
              <a:lnTo>
                <a:pt x="0" y="815736"/>
              </a:lnTo>
              <a:lnTo>
                <a:pt x="217529" y="81573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9913D0-7EDF-454E-A605-896C3221AC22}">
      <dsp:nvSpPr>
        <dsp:cNvPr id="0" name=""/>
        <dsp:cNvSpPr/>
      </dsp:nvSpPr>
      <dsp:spPr>
        <a:xfrm>
          <a:off x="3154777" y="1513574"/>
          <a:ext cx="1740237" cy="108764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Transform X</a:t>
          </a:r>
        </a:p>
      </dsp:txBody>
      <dsp:txXfrm>
        <a:off x="3186633" y="1545430"/>
        <a:ext cx="1676525" cy="1023936"/>
      </dsp:txXfrm>
    </dsp:sp>
    <dsp:sp modelId="{31D4EBBB-2B23-3D43-8BF4-950F5FE91153}">
      <dsp:nvSpPr>
        <dsp:cNvPr id="0" name=""/>
        <dsp:cNvSpPr/>
      </dsp:nvSpPr>
      <dsp:spPr>
        <a:xfrm>
          <a:off x="2937247" y="1241662"/>
          <a:ext cx="217529" cy="2175296"/>
        </a:xfrm>
        <a:custGeom>
          <a:avLst/>
          <a:gdLst/>
          <a:ahLst/>
          <a:cxnLst/>
          <a:rect l="0" t="0" r="0" b="0"/>
          <a:pathLst>
            <a:path>
              <a:moveTo>
                <a:pt x="0" y="0"/>
              </a:moveTo>
              <a:lnTo>
                <a:pt x="0" y="2175296"/>
              </a:lnTo>
              <a:lnTo>
                <a:pt x="217529" y="21752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D59B02-B888-7B46-8A25-0143891A8443}">
      <dsp:nvSpPr>
        <dsp:cNvPr id="0" name=""/>
        <dsp:cNvSpPr/>
      </dsp:nvSpPr>
      <dsp:spPr>
        <a:xfrm>
          <a:off x="3154777" y="2873134"/>
          <a:ext cx="1740237" cy="108764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Add additional terms</a:t>
          </a:r>
          <a:br>
            <a:rPr lang="en-US" sz="1800" kern="1200" dirty="0"/>
          </a:br>
          <a:r>
            <a:rPr lang="en-US" sz="1800" kern="1200" dirty="0"/>
            <a:t>involving X</a:t>
          </a:r>
        </a:p>
      </dsp:txBody>
      <dsp:txXfrm>
        <a:off x="3186633" y="2904990"/>
        <a:ext cx="1676525" cy="10239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B41F3A-8215-1F41-802F-232403F7C36B}">
      <dsp:nvSpPr>
        <dsp:cNvPr id="0" name=""/>
        <dsp:cNvSpPr/>
      </dsp:nvSpPr>
      <dsp:spPr>
        <a:xfrm>
          <a:off x="4121045" y="23415"/>
          <a:ext cx="3879959" cy="11787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Linear models (constant variance, normality)</a:t>
          </a:r>
        </a:p>
      </dsp:txBody>
      <dsp:txXfrm>
        <a:off x="4155568" y="57938"/>
        <a:ext cx="3810913" cy="1109672"/>
      </dsp:txXfrm>
    </dsp:sp>
    <dsp:sp modelId="{C1DA744B-5A05-C345-A17C-C0DF69B00399}">
      <dsp:nvSpPr>
        <dsp:cNvPr id="0" name=""/>
        <dsp:cNvSpPr/>
      </dsp:nvSpPr>
      <dsp:spPr>
        <a:xfrm>
          <a:off x="3187898" y="1202134"/>
          <a:ext cx="2873126" cy="471487"/>
        </a:xfrm>
        <a:custGeom>
          <a:avLst/>
          <a:gdLst/>
          <a:ahLst/>
          <a:cxnLst/>
          <a:rect l="0" t="0" r="0" b="0"/>
          <a:pathLst>
            <a:path>
              <a:moveTo>
                <a:pt x="2873126" y="0"/>
              </a:moveTo>
              <a:lnTo>
                <a:pt x="2873126" y="235743"/>
              </a:lnTo>
              <a:lnTo>
                <a:pt x="0" y="235743"/>
              </a:lnTo>
              <a:lnTo>
                <a:pt x="0" y="47148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98C12B4-4FCD-FB48-9180-4CB5B8BA09B5}">
      <dsp:nvSpPr>
        <dsp:cNvPr id="0" name=""/>
        <dsp:cNvSpPr/>
      </dsp:nvSpPr>
      <dsp:spPr>
        <a:xfrm>
          <a:off x="2303859" y="1673622"/>
          <a:ext cx="1768078" cy="11787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Errors are independent</a:t>
          </a:r>
        </a:p>
      </dsp:txBody>
      <dsp:txXfrm>
        <a:off x="2338382" y="1708145"/>
        <a:ext cx="1699032" cy="1109672"/>
      </dsp:txXfrm>
    </dsp:sp>
    <dsp:sp modelId="{B5AE24BD-26C2-F34B-89AB-F1E6D70A8359}">
      <dsp:nvSpPr>
        <dsp:cNvPr id="0" name=""/>
        <dsp:cNvSpPr/>
      </dsp:nvSpPr>
      <dsp:spPr>
        <a:xfrm>
          <a:off x="889396" y="2852340"/>
          <a:ext cx="2298501" cy="471487"/>
        </a:xfrm>
        <a:custGeom>
          <a:avLst/>
          <a:gdLst/>
          <a:ahLst/>
          <a:cxnLst/>
          <a:rect l="0" t="0" r="0" b="0"/>
          <a:pathLst>
            <a:path>
              <a:moveTo>
                <a:pt x="2298501" y="0"/>
              </a:moveTo>
              <a:lnTo>
                <a:pt x="2298501" y="235743"/>
              </a:lnTo>
              <a:lnTo>
                <a:pt x="0" y="235743"/>
              </a:lnTo>
              <a:lnTo>
                <a:pt x="0" y="47148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32F7C3-5DFE-FF46-9848-9E729CC90594}">
      <dsp:nvSpPr>
        <dsp:cNvPr id="0" name=""/>
        <dsp:cNvSpPr/>
      </dsp:nvSpPr>
      <dsp:spPr>
        <a:xfrm>
          <a:off x="5357" y="3323828"/>
          <a:ext cx="1768078" cy="11787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i="1" kern="1200" dirty="0"/>
            <a:t>t</a:t>
          </a:r>
          <a:r>
            <a:rPr lang="en-US" sz="2000" kern="1200" dirty="0"/>
            <a:t>-tests</a:t>
          </a:r>
        </a:p>
      </dsp:txBody>
      <dsp:txXfrm>
        <a:off x="39880" y="3358351"/>
        <a:ext cx="1699032" cy="1109672"/>
      </dsp:txXfrm>
    </dsp:sp>
    <dsp:sp modelId="{AEB9CAED-5AF7-A949-AACD-62705A25BC23}">
      <dsp:nvSpPr>
        <dsp:cNvPr id="0" name=""/>
        <dsp:cNvSpPr/>
      </dsp:nvSpPr>
      <dsp:spPr>
        <a:xfrm>
          <a:off x="3142178" y="2852340"/>
          <a:ext cx="91440" cy="471487"/>
        </a:xfrm>
        <a:custGeom>
          <a:avLst/>
          <a:gdLst/>
          <a:ahLst/>
          <a:cxnLst/>
          <a:rect l="0" t="0" r="0" b="0"/>
          <a:pathLst>
            <a:path>
              <a:moveTo>
                <a:pt x="45720" y="0"/>
              </a:moveTo>
              <a:lnTo>
                <a:pt x="45720" y="47148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BE7569-2B64-604D-AB59-824668AC12CB}">
      <dsp:nvSpPr>
        <dsp:cNvPr id="0" name=""/>
        <dsp:cNvSpPr/>
      </dsp:nvSpPr>
      <dsp:spPr>
        <a:xfrm>
          <a:off x="2303859" y="3323828"/>
          <a:ext cx="1768078" cy="11787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ANOVA</a:t>
          </a:r>
        </a:p>
      </dsp:txBody>
      <dsp:txXfrm>
        <a:off x="2338382" y="3358351"/>
        <a:ext cx="1699032" cy="1109672"/>
      </dsp:txXfrm>
    </dsp:sp>
    <dsp:sp modelId="{7D128F65-5C8E-0747-9F6F-3E0BC983FF5F}">
      <dsp:nvSpPr>
        <dsp:cNvPr id="0" name=""/>
        <dsp:cNvSpPr/>
      </dsp:nvSpPr>
      <dsp:spPr>
        <a:xfrm>
          <a:off x="3187898" y="2852340"/>
          <a:ext cx="2298501" cy="471487"/>
        </a:xfrm>
        <a:custGeom>
          <a:avLst/>
          <a:gdLst/>
          <a:ahLst/>
          <a:cxnLst/>
          <a:rect l="0" t="0" r="0" b="0"/>
          <a:pathLst>
            <a:path>
              <a:moveTo>
                <a:pt x="0" y="0"/>
              </a:moveTo>
              <a:lnTo>
                <a:pt x="0" y="235743"/>
              </a:lnTo>
              <a:lnTo>
                <a:pt x="2298501" y="235743"/>
              </a:lnTo>
              <a:lnTo>
                <a:pt x="2298501" y="47148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193A4E9-C40B-A24A-B6FF-E5D372673843}">
      <dsp:nvSpPr>
        <dsp:cNvPr id="0" name=""/>
        <dsp:cNvSpPr/>
      </dsp:nvSpPr>
      <dsp:spPr>
        <a:xfrm>
          <a:off x="4602360" y="3323828"/>
          <a:ext cx="1768078" cy="11787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SLR</a:t>
          </a:r>
        </a:p>
      </dsp:txBody>
      <dsp:txXfrm>
        <a:off x="4636883" y="3358351"/>
        <a:ext cx="1699032" cy="1109672"/>
      </dsp:txXfrm>
    </dsp:sp>
    <dsp:sp modelId="{A7368A8F-F68B-214F-9C20-854EED0EAB58}">
      <dsp:nvSpPr>
        <dsp:cNvPr id="0" name=""/>
        <dsp:cNvSpPr/>
      </dsp:nvSpPr>
      <dsp:spPr>
        <a:xfrm>
          <a:off x="6061025" y="1202134"/>
          <a:ext cx="2873126" cy="471487"/>
        </a:xfrm>
        <a:custGeom>
          <a:avLst/>
          <a:gdLst/>
          <a:ahLst/>
          <a:cxnLst/>
          <a:rect l="0" t="0" r="0" b="0"/>
          <a:pathLst>
            <a:path>
              <a:moveTo>
                <a:pt x="0" y="0"/>
              </a:moveTo>
              <a:lnTo>
                <a:pt x="0" y="235743"/>
              </a:lnTo>
              <a:lnTo>
                <a:pt x="2873126" y="235743"/>
              </a:lnTo>
              <a:lnTo>
                <a:pt x="2873126" y="47148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B1D1C69-EDD2-B64C-9286-12B9F5A8187C}">
      <dsp:nvSpPr>
        <dsp:cNvPr id="0" name=""/>
        <dsp:cNvSpPr/>
      </dsp:nvSpPr>
      <dsp:spPr>
        <a:xfrm>
          <a:off x="8050113" y="1673622"/>
          <a:ext cx="1768078" cy="11787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Errors are correlated</a:t>
          </a:r>
        </a:p>
      </dsp:txBody>
      <dsp:txXfrm>
        <a:off x="8084636" y="1708145"/>
        <a:ext cx="1699032" cy="1109672"/>
      </dsp:txXfrm>
    </dsp:sp>
    <dsp:sp modelId="{2C8ABDBF-3B11-F845-828F-D8CBDEB97ABD}">
      <dsp:nvSpPr>
        <dsp:cNvPr id="0" name=""/>
        <dsp:cNvSpPr/>
      </dsp:nvSpPr>
      <dsp:spPr>
        <a:xfrm>
          <a:off x="7784901" y="2852340"/>
          <a:ext cx="1149250" cy="471487"/>
        </a:xfrm>
        <a:custGeom>
          <a:avLst/>
          <a:gdLst/>
          <a:ahLst/>
          <a:cxnLst/>
          <a:rect l="0" t="0" r="0" b="0"/>
          <a:pathLst>
            <a:path>
              <a:moveTo>
                <a:pt x="1149250" y="0"/>
              </a:moveTo>
              <a:lnTo>
                <a:pt x="1149250" y="235743"/>
              </a:lnTo>
              <a:lnTo>
                <a:pt x="0" y="235743"/>
              </a:lnTo>
              <a:lnTo>
                <a:pt x="0" y="47148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A93FBD-B308-9B40-9C1C-0B8A0AC0EEF0}">
      <dsp:nvSpPr>
        <dsp:cNvPr id="0" name=""/>
        <dsp:cNvSpPr/>
      </dsp:nvSpPr>
      <dsp:spPr>
        <a:xfrm>
          <a:off x="6900862" y="3323828"/>
          <a:ext cx="1768078" cy="11787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Time series</a:t>
          </a:r>
        </a:p>
      </dsp:txBody>
      <dsp:txXfrm>
        <a:off x="6935385" y="3358351"/>
        <a:ext cx="1699032" cy="1109672"/>
      </dsp:txXfrm>
    </dsp:sp>
    <dsp:sp modelId="{E991DB73-24F8-0440-8E6F-E3433B78B978}">
      <dsp:nvSpPr>
        <dsp:cNvPr id="0" name=""/>
        <dsp:cNvSpPr/>
      </dsp:nvSpPr>
      <dsp:spPr>
        <a:xfrm>
          <a:off x="8934152" y="2852340"/>
          <a:ext cx="1149250" cy="471487"/>
        </a:xfrm>
        <a:custGeom>
          <a:avLst/>
          <a:gdLst/>
          <a:ahLst/>
          <a:cxnLst/>
          <a:rect l="0" t="0" r="0" b="0"/>
          <a:pathLst>
            <a:path>
              <a:moveTo>
                <a:pt x="0" y="0"/>
              </a:moveTo>
              <a:lnTo>
                <a:pt x="0" y="235743"/>
              </a:lnTo>
              <a:lnTo>
                <a:pt x="1149250" y="235743"/>
              </a:lnTo>
              <a:lnTo>
                <a:pt x="1149250" y="47148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F5CE92-F139-B841-AD92-44047F231634}">
      <dsp:nvSpPr>
        <dsp:cNvPr id="0" name=""/>
        <dsp:cNvSpPr/>
      </dsp:nvSpPr>
      <dsp:spPr>
        <a:xfrm>
          <a:off x="9199364" y="3323828"/>
          <a:ext cx="1768078" cy="11787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Repeated measures</a:t>
          </a:r>
        </a:p>
      </dsp:txBody>
      <dsp:txXfrm>
        <a:off x="9233887" y="3358351"/>
        <a:ext cx="1699032" cy="110967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9DE4A6-BBDC-6C4A-A918-DCD9272F7E93}" type="datetimeFigureOut">
              <a:rPr lang="en-US" smtClean="0"/>
              <a:t>6/9/25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210AE2-78B2-E149-8A35-EC02144F22F2}" type="slidenum">
              <a:rPr lang="en-US" smtClean="0"/>
              <a:t>‹#›</a:t>
            </a:fld>
            <a:endParaRPr lang="en-US"/>
          </a:p>
        </p:txBody>
      </p:sp>
    </p:spTree>
    <p:extLst>
      <p:ext uri="{BB962C8B-B14F-4D97-AF65-F5344CB8AC3E}">
        <p14:creationId xmlns:p14="http://schemas.microsoft.com/office/powerpoint/2010/main" val="1672396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dirty="0"/>
                  <a:t>It is up to you, the analyst, to determine a mathematical equation that does a good job of explaining the relationship between the explanatory variables and response.</a:t>
                </a:r>
              </a:p>
              <a:p>
                <a:endParaRPr lang="en-US" sz="1200" dirty="0"/>
              </a:p>
              <a:p>
                <a:r>
                  <a:rPr lang="en-US" sz="1200" dirty="0"/>
                  <a:t>Analyst typically must place additional assumptions on the ”error term”, </a:t>
                </a:r>
                <a14:m>
                  <m:oMath xmlns:m="http://schemas.openxmlformats.org/officeDocument/2006/math">
                    <m:r>
                      <a:rPr lang="en-US" sz="1200" i="1">
                        <a:latin typeface="Cambria Math" panose="02040503050406030204" pitchFamily="18" charset="0"/>
                      </a:rPr>
                      <m:t>𝜀</m:t>
                    </m:r>
                  </m:oMath>
                </a14:m>
                <a:r>
                  <a:rPr lang="en-US" sz="1200" dirty="0"/>
                  <a:t>.</a:t>
                </a:r>
              </a:p>
              <a:p>
                <a:endParaRPr lang="en-US" sz="1200" dirty="0"/>
              </a:p>
              <a:p>
                <a:r>
                  <a:rPr lang="en-US" sz="1200" dirty="0"/>
                  <a:t>Depending on how complex </a:t>
                </a:r>
                <a14:m>
                  <m:oMath xmlns:m="http://schemas.openxmlformats.org/officeDocument/2006/math">
                    <m:r>
                      <a:rPr lang="en-US" sz="1200" b="0" i="1" smtClean="0">
                        <a:latin typeface="Cambria Math" panose="02040503050406030204" pitchFamily="18" charset="0"/>
                      </a:rPr>
                      <m:t>𝑓</m:t>
                    </m:r>
                  </m:oMath>
                </a14:m>
                <a:r>
                  <a:rPr lang="en-US" sz="1200" dirty="0"/>
                  <a:t> is specified, can be highly interpretable and typically offer hypothesis testing strategies to answer different questions.</a:t>
                </a:r>
              </a:p>
              <a:p>
                <a:endParaRPr lang="en-US" sz="1200" dirty="0"/>
              </a:p>
              <a:p>
                <a:r>
                  <a:rPr lang="en-US" sz="1200" dirty="0"/>
                  <a:t>Can predict well also as long as </a:t>
                </a:r>
                <a14:m>
                  <m:oMath xmlns:m="http://schemas.openxmlformats.org/officeDocument/2006/math">
                    <m:r>
                      <a:rPr lang="en-US" sz="1200" i="1">
                        <a:latin typeface="Cambria Math" panose="02040503050406030204" pitchFamily="18" charset="0"/>
                      </a:rPr>
                      <m:t>𝑓</m:t>
                    </m:r>
                  </m:oMath>
                </a14:m>
                <a:r>
                  <a:rPr lang="en-US" sz="1200" dirty="0"/>
                  <a:t> is correctly specified.</a:t>
                </a:r>
              </a:p>
              <a:p>
                <a:endParaRPr lang="en-US" dirty="0"/>
              </a:p>
            </p:txBody>
          </p:sp>
        </mc:Choice>
        <mc:Fallback xmlns="">
          <p:sp>
            <p:nvSpPr>
              <p:cNvPr id="3" name="Notes Placeholder 2"/>
              <p:cNvSpPr>
                <a:spLocks noGrp="1"/>
              </p:cNvSpPr>
              <p:nvPr>
                <p:ph type="body" idx="1"/>
              </p:nvPr>
            </p:nvSpPr>
            <p:spPr/>
            <p:txBody>
              <a:bodyPr/>
              <a:lstStyle/>
              <a:p>
                <a:r>
                  <a:rPr lang="en-US" sz="1200" dirty="0"/>
                  <a:t>It is up to you, the analyst, to determine a mathematical equation that does a good job of explaining the relationship between the explanatory variables and response.</a:t>
                </a:r>
              </a:p>
              <a:p>
                <a:endParaRPr lang="en-US" sz="1200" dirty="0"/>
              </a:p>
              <a:p>
                <a:r>
                  <a:rPr lang="en-US" sz="1200" dirty="0"/>
                  <a:t>Analyst typically must place additional assumptions on the ”error term”, </a:t>
                </a:r>
                <a:r>
                  <a:rPr lang="en-US" sz="1200" i="0">
                    <a:latin typeface="Cambria Math" panose="02040503050406030204" pitchFamily="18" charset="0"/>
                  </a:rPr>
                  <a:t>𝜀</a:t>
                </a:r>
                <a:r>
                  <a:rPr lang="en-US" sz="1200" dirty="0"/>
                  <a:t>.</a:t>
                </a:r>
              </a:p>
              <a:p>
                <a:endParaRPr lang="en-US" sz="1200" dirty="0"/>
              </a:p>
              <a:p>
                <a:r>
                  <a:rPr lang="en-US" sz="1200" dirty="0"/>
                  <a:t>Depending on how complex </a:t>
                </a:r>
                <a:r>
                  <a:rPr lang="en-US" sz="1200" b="0" i="0">
                    <a:latin typeface="Cambria Math" panose="02040503050406030204" pitchFamily="18" charset="0"/>
                  </a:rPr>
                  <a:t>𝑓</a:t>
                </a:r>
                <a:r>
                  <a:rPr lang="en-US" sz="1200" dirty="0"/>
                  <a:t> is specified, can be highly interpretable and typically offer hypothesis testing strategies to answer different questions.</a:t>
                </a:r>
              </a:p>
              <a:p>
                <a:endParaRPr lang="en-US" sz="1200" dirty="0"/>
              </a:p>
              <a:p>
                <a:r>
                  <a:rPr lang="en-US" sz="1200" dirty="0"/>
                  <a:t>Can predict well also as long as </a:t>
                </a:r>
                <a:r>
                  <a:rPr lang="en-US" sz="1200" i="0">
                    <a:latin typeface="Cambria Math" panose="02040503050406030204" pitchFamily="18" charset="0"/>
                  </a:rPr>
                  <a:t>𝑓</a:t>
                </a:r>
                <a:r>
                  <a:rPr lang="en-US" sz="1200" dirty="0"/>
                  <a:t> is correctly specified.</a:t>
                </a:r>
              </a:p>
              <a:p>
                <a:endParaRPr lang="en-US" dirty="0"/>
              </a:p>
            </p:txBody>
          </p:sp>
        </mc:Fallback>
      </mc:AlternateContent>
      <p:sp>
        <p:nvSpPr>
          <p:cNvPr id="4" name="Slide Number Placeholder 3"/>
          <p:cNvSpPr>
            <a:spLocks noGrp="1"/>
          </p:cNvSpPr>
          <p:nvPr>
            <p:ph type="sldNum" sz="quarter" idx="5"/>
          </p:nvPr>
        </p:nvSpPr>
        <p:spPr/>
        <p:txBody>
          <a:bodyPr/>
          <a:lstStyle/>
          <a:p>
            <a:fld id="{84CB6C83-B894-2740-9986-97D8BB6F6D98}" type="slidenum">
              <a:rPr lang="en-US" smtClean="0"/>
              <a:t>20</a:t>
            </a:fld>
            <a:endParaRPr lang="en-US"/>
          </a:p>
        </p:txBody>
      </p:sp>
    </p:spTree>
    <p:extLst>
      <p:ext uri="{BB962C8B-B14F-4D97-AF65-F5344CB8AC3E}">
        <p14:creationId xmlns:p14="http://schemas.microsoft.com/office/powerpoint/2010/main" val="1122322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dirty="0"/>
                  <a:t>Some times referred to as “machine learners”, because they do not require the analyst to determine a candidate equation</a:t>
                </a:r>
              </a:p>
              <a:p>
                <a:endParaRPr lang="en-US" sz="1200" dirty="0"/>
              </a:p>
              <a:p>
                <a:r>
                  <a:rPr lang="en-US" sz="1200" dirty="0"/>
                  <a:t>It is completely data driven so they have minimal assumptions compared to parametric models</a:t>
                </a:r>
              </a:p>
              <a:p>
                <a:endParaRPr lang="en-US" sz="1200" dirty="0"/>
              </a:p>
              <a:p>
                <a:r>
                  <a:rPr lang="en-US" sz="1200" dirty="0"/>
                  <a:t>Can predict very complex situations well when it is very hard for the modeler to specify something close to the true </a:t>
                </a:r>
                <a14:m>
                  <m:oMath xmlns:m="http://schemas.openxmlformats.org/officeDocument/2006/math">
                    <m:r>
                      <a:rPr lang="en-US" sz="1200" i="1">
                        <a:latin typeface="Cambria Math" panose="02040503050406030204" pitchFamily="18" charset="0"/>
                      </a:rPr>
                      <m:t>𝑓</m:t>
                    </m:r>
                  </m:oMath>
                </a14:m>
                <a:r>
                  <a:rPr lang="en-US" sz="1200" dirty="0"/>
                  <a:t> for a parametric model.</a:t>
                </a:r>
              </a:p>
              <a:p>
                <a:endParaRPr lang="en-US" sz="1200" dirty="0"/>
              </a:p>
              <a:p>
                <a:r>
                  <a:rPr lang="en-US" sz="1200" dirty="0"/>
                  <a:t>The flexibility comes at a cost.  Interpretation and general hypothesis testing.</a:t>
                </a:r>
              </a:p>
              <a:p>
                <a:endParaRPr lang="en-US" dirty="0"/>
              </a:p>
            </p:txBody>
          </p:sp>
        </mc:Choice>
        <mc:Fallback xmlns="">
          <p:sp>
            <p:nvSpPr>
              <p:cNvPr id="3" name="Notes Placeholder 2"/>
              <p:cNvSpPr>
                <a:spLocks noGrp="1"/>
              </p:cNvSpPr>
              <p:nvPr>
                <p:ph type="body" idx="1"/>
              </p:nvPr>
            </p:nvSpPr>
            <p:spPr/>
            <p:txBody>
              <a:bodyPr/>
              <a:lstStyle/>
              <a:p>
                <a:r>
                  <a:rPr lang="en-US" sz="1200" dirty="0"/>
                  <a:t>Some times referred to as “machine learners”, because they do not require the analyst to determine a candidate equation</a:t>
                </a:r>
              </a:p>
              <a:p>
                <a:endParaRPr lang="en-US" sz="1200" dirty="0"/>
              </a:p>
              <a:p>
                <a:r>
                  <a:rPr lang="en-US" sz="1200" dirty="0"/>
                  <a:t>It is completely data driven so they have minimal assumptions compared to parametric models</a:t>
                </a:r>
              </a:p>
              <a:p>
                <a:endParaRPr lang="en-US" sz="1200" dirty="0"/>
              </a:p>
              <a:p>
                <a:r>
                  <a:rPr lang="en-US" sz="1200" dirty="0"/>
                  <a:t>Can predict very complex situations well when it is very hard for the modeler to specify something close to the true </a:t>
                </a:r>
                <a:r>
                  <a:rPr lang="en-US" sz="1200" i="0">
                    <a:latin typeface="Cambria Math" panose="02040503050406030204" pitchFamily="18" charset="0"/>
                  </a:rPr>
                  <a:t>𝑓</a:t>
                </a:r>
                <a:r>
                  <a:rPr lang="en-US" sz="1200" dirty="0"/>
                  <a:t> for a parametric model.</a:t>
                </a:r>
              </a:p>
              <a:p>
                <a:endParaRPr lang="en-US" sz="1200" dirty="0"/>
              </a:p>
              <a:p>
                <a:r>
                  <a:rPr lang="en-US" sz="1200" dirty="0"/>
                  <a:t>The flexibility comes at a cost.  Interpretation and general hypothesis testing.</a:t>
                </a:r>
              </a:p>
              <a:p>
                <a:endParaRPr lang="en-US" dirty="0"/>
              </a:p>
            </p:txBody>
          </p:sp>
        </mc:Fallback>
      </mc:AlternateContent>
      <p:sp>
        <p:nvSpPr>
          <p:cNvPr id="4" name="Slide Number Placeholder 3"/>
          <p:cNvSpPr>
            <a:spLocks noGrp="1"/>
          </p:cNvSpPr>
          <p:nvPr>
            <p:ph type="sldNum" sz="quarter" idx="5"/>
          </p:nvPr>
        </p:nvSpPr>
        <p:spPr/>
        <p:txBody>
          <a:bodyPr/>
          <a:lstStyle/>
          <a:p>
            <a:fld id="{84CB6C83-B894-2740-9986-97D8BB6F6D98}" type="slidenum">
              <a:rPr lang="en-US" smtClean="0"/>
              <a:t>21</a:t>
            </a:fld>
            <a:endParaRPr lang="en-US"/>
          </a:p>
        </p:txBody>
      </p:sp>
    </p:spTree>
    <p:extLst>
      <p:ext uri="{BB962C8B-B14F-4D97-AF65-F5344CB8AC3E}">
        <p14:creationId xmlns:p14="http://schemas.microsoft.com/office/powerpoint/2010/main" val="173658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457200" indent="-457200">
                  <a:buAutoNum type="arabicPeriod"/>
                </a:pPr>
                <a:r>
                  <a:rPr lang="en-US" sz="1200" dirty="0">
                    <a:cs typeface="Times New Roman" pitchFamily="18" charset="0"/>
                  </a:rPr>
                  <a:t>Parameteric models are great for </a:t>
                </a:r>
                <a:r>
                  <a:rPr lang="en-US" sz="1200" b="1" u="sng" dirty="0">
                    <a:cs typeface="Times New Roman" pitchFamily="18" charset="0"/>
                  </a:rPr>
                  <a:t>interpretation</a:t>
                </a:r>
                <a:r>
                  <a:rPr lang="en-US" sz="1200" dirty="0">
                    <a:cs typeface="Times New Roman" pitchFamily="18" charset="0"/>
                  </a:rPr>
                  <a:t>. Since we define what </a:t>
                </a:r>
                <a14:m>
                  <m:oMath xmlns:m="http://schemas.openxmlformats.org/officeDocument/2006/math">
                    <m:r>
                      <a:rPr lang="en-US" sz="1200" i="1">
                        <a:latin typeface="Cambria Math" panose="02040503050406030204" pitchFamily="18" charset="0"/>
                        <a:cs typeface="Times New Roman" pitchFamily="18" charset="0"/>
                      </a:rPr>
                      <m:t>𝑓</m:t>
                    </m:r>
                  </m:oMath>
                </a14:m>
                <a:r>
                  <a:rPr lang="en-US" sz="1000" dirty="0">
                    <a:cs typeface="Times New Roman" pitchFamily="18" charset="0"/>
                  </a:rPr>
                  <a:t> </a:t>
                </a:r>
                <a:r>
                  <a:rPr lang="en-US" sz="1200" dirty="0">
                    <a:cs typeface="Times New Roman" pitchFamily="18" charset="0"/>
                  </a:rPr>
                  <a:t>looks like we typically can explain, in words, what the relationship between Y and the X’s are.  Nonparametric models can only provide very basic insight into what is going on.</a:t>
                </a:r>
              </a:p>
              <a:p>
                <a:pPr marL="457200" indent="-457200">
                  <a:buAutoNum type="arabicPeriod"/>
                </a:pPr>
                <a:endParaRPr lang="en-US" sz="1200" dirty="0">
                  <a:cs typeface="Times New Roman" pitchFamily="18" charset="0"/>
                </a:endParaRPr>
              </a:p>
              <a:p>
                <a:pPr marL="457200" indent="-457200">
                  <a:buAutoNum type="arabicPeriod"/>
                </a:pPr>
                <a:r>
                  <a:rPr lang="en-US" sz="1200" dirty="0">
                    <a:cs typeface="Times New Roman" pitchFamily="18" charset="0"/>
                  </a:rPr>
                  <a:t>Parametric models allow for hypothesis testing to ask specific questions about specific explanatory variables.</a:t>
                </a:r>
              </a:p>
              <a:p>
                <a:pPr marL="457200" indent="-457200">
                  <a:buAutoNum type="arabicPeriod"/>
                </a:pPr>
                <a:endParaRPr lang="en-US" sz="1200" dirty="0">
                  <a:cs typeface="Times New Roman" pitchFamily="18" charset="0"/>
                </a:endParaRPr>
              </a:p>
              <a:p>
                <a:pPr marL="457200" indent="-457200">
                  <a:buAutoNum type="arabicPeriod"/>
                </a:pPr>
                <a:r>
                  <a:rPr lang="en-US" sz="1200" dirty="0">
                    <a:cs typeface="Times New Roman" pitchFamily="18" charset="0"/>
                  </a:rPr>
                  <a:t>Parametric models typically do not require as much data (smaller sample sizes) since it is not totally data driven like nonparametric models.</a:t>
                </a:r>
              </a:p>
              <a:p>
                <a:endParaRPr lang="en-US" dirty="0"/>
              </a:p>
            </p:txBody>
          </p:sp>
        </mc:Choice>
        <mc:Fallback xmlns="">
          <p:sp>
            <p:nvSpPr>
              <p:cNvPr id="3" name="Notes Placeholder 2"/>
              <p:cNvSpPr>
                <a:spLocks noGrp="1"/>
              </p:cNvSpPr>
              <p:nvPr>
                <p:ph type="body" idx="1"/>
              </p:nvPr>
            </p:nvSpPr>
            <p:spPr/>
            <p:txBody>
              <a:bodyPr/>
              <a:lstStyle/>
              <a:p>
                <a:pPr marL="457200" indent="-457200">
                  <a:buAutoNum type="arabicPeriod"/>
                </a:pPr>
                <a:r>
                  <a:rPr lang="en-US" sz="1200" dirty="0">
                    <a:cs typeface="Times New Roman" pitchFamily="18" charset="0"/>
                  </a:rPr>
                  <a:t>Parameteric models are great for </a:t>
                </a:r>
                <a:r>
                  <a:rPr lang="en-US" sz="1200" b="1" u="sng" dirty="0">
                    <a:cs typeface="Times New Roman" pitchFamily="18" charset="0"/>
                  </a:rPr>
                  <a:t>interpretation</a:t>
                </a:r>
                <a:r>
                  <a:rPr lang="en-US" sz="1200" dirty="0">
                    <a:cs typeface="Times New Roman" pitchFamily="18" charset="0"/>
                  </a:rPr>
                  <a:t>. Since we define what </a:t>
                </a:r>
                <a:r>
                  <a:rPr lang="en-US" sz="1200" i="0">
                    <a:latin typeface="Cambria Math" panose="02040503050406030204" pitchFamily="18" charset="0"/>
                    <a:cs typeface="Times New Roman" pitchFamily="18" charset="0"/>
                  </a:rPr>
                  <a:t>𝑓</a:t>
                </a:r>
                <a:r>
                  <a:rPr lang="en-US" sz="1000" dirty="0">
                    <a:cs typeface="Times New Roman" pitchFamily="18" charset="0"/>
                  </a:rPr>
                  <a:t> </a:t>
                </a:r>
                <a:r>
                  <a:rPr lang="en-US" sz="1200" dirty="0">
                    <a:cs typeface="Times New Roman" pitchFamily="18" charset="0"/>
                  </a:rPr>
                  <a:t>looks like we typically can explain, in words, what the relationship between Y and the X’s are.  Nonparametric models can only provide very basic insight into what is going on.</a:t>
                </a:r>
              </a:p>
              <a:p>
                <a:pPr marL="457200" indent="-457200">
                  <a:buAutoNum type="arabicPeriod"/>
                </a:pPr>
                <a:endParaRPr lang="en-US" sz="1200" dirty="0">
                  <a:cs typeface="Times New Roman" pitchFamily="18" charset="0"/>
                </a:endParaRPr>
              </a:p>
              <a:p>
                <a:pPr marL="457200" indent="-457200">
                  <a:buAutoNum type="arabicPeriod"/>
                </a:pPr>
                <a:r>
                  <a:rPr lang="en-US" sz="1200" dirty="0">
                    <a:cs typeface="Times New Roman" pitchFamily="18" charset="0"/>
                  </a:rPr>
                  <a:t>Parametric models allow for hypothesis testing to ask specific questions about specific explanatory variables.</a:t>
                </a:r>
              </a:p>
              <a:p>
                <a:pPr marL="457200" indent="-457200">
                  <a:buAutoNum type="arabicPeriod"/>
                </a:pPr>
                <a:endParaRPr lang="en-US" sz="1200" dirty="0">
                  <a:cs typeface="Times New Roman" pitchFamily="18" charset="0"/>
                </a:endParaRPr>
              </a:p>
              <a:p>
                <a:pPr marL="457200" indent="-457200">
                  <a:buAutoNum type="arabicPeriod"/>
                </a:pPr>
                <a:r>
                  <a:rPr lang="en-US" sz="1200" dirty="0">
                    <a:cs typeface="Times New Roman" pitchFamily="18" charset="0"/>
                  </a:rPr>
                  <a:t>Parametric models typically do not require as much data (smaller sample sizes) since it is not totally data driven like nonparametric models.</a:t>
                </a:r>
              </a:p>
              <a:p>
                <a:endParaRPr lang="en-US" dirty="0"/>
              </a:p>
            </p:txBody>
          </p:sp>
        </mc:Fallback>
      </mc:AlternateContent>
      <p:sp>
        <p:nvSpPr>
          <p:cNvPr id="4" name="Slide Number Placeholder 3"/>
          <p:cNvSpPr>
            <a:spLocks noGrp="1"/>
          </p:cNvSpPr>
          <p:nvPr>
            <p:ph type="sldNum" sz="quarter" idx="5"/>
          </p:nvPr>
        </p:nvSpPr>
        <p:spPr/>
        <p:txBody>
          <a:bodyPr/>
          <a:lstStyle/>
          <a:p>
            <a:fld id="{84CB6C83-B894-2740-9986-97D8BB6F6D98}" type="slidenum">
              <a:rPr lang="en-US" smtClean="0"/>
              <a:t>22</a:t>
            </a:fld>
            <a:endParaRPr lang="en-US"/>
          </a:p>
        </p:txBody>
      </p:sp>
    </p:spTree>
    <p:extLst>
      <p:ext uri="{BB962C8B-B14F-4D97-AF65-F5344CB8AC3E}">
        <p14:creationId xmlns:p14="http://schemas.microsoft.com/office/powerpoint/2010/main" val="12496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457200" indent="-457200">
                  <a:buFont typeface="+mj-lt"/>
                  <a:buAutoNum type="arabicPeriod" startAt="4"/>
                </a:pPr>
                <a:r>
                  <a:rPr lang="en-US" sz="1200" dirty="0">
                    <a:cs typeface="Times New Roman" pitchFamily="18" charset="0"/>
                  </a:rPr>
                  <a:t>Parametric models are easier to implement when the number of predictors (p) is quite large relative to the sample size.</a:t>
                </a:r>
              </a:p>
              <a:p>
                <a:pPr marL="457200" indent="-457200">
                  <a:buFont typeface="+mj-lt"/>
                  <a:buAutoNum type="arabicPeriod" startAt="4"/>
                </a:pPr>
                <a:endParaRPr lang="en-US" sz="1200" dirty="0">
                  <a:cs typeface="Times New Roman" pitchFamily="18" charset="0"/>
                </a:endParaRPr>
              </a:p>
              <a:p>
                <a:pPr marL="457200" indent="-457200">
                  <a:buFont typeface="+mj-lt"/>
                  <a:buAutoNum type="arabicPeriod" startAt="4"/>
                </a:pPr>
                <a:r>
                  <a:rPr lang="en-US" sz="1200" dirty="0">
                    <a:cs typeface="Times New Roman" pitchFamily="18" charset="0"/>
                  </a:rPr>
                  <a:t>Nonparametric models are great when the true function, </a:t>
                </a:r>
                <a14:m>
                  <m:oMath xmlns:m="http://schemas.openxmlformats.org/officeDocument/2006/math">
                    <m:r>
                      <a:rPr lang="en-US" sz="1200" i="1">
                        <a:latin typeface="Cambria Math" panose="02040503050406030204" pitchFamily="18" charset="0"/>
                        <a:cs typeface="Times New Roman" pitchFamily="18" charset="0"/>
                      </a:rPr>
                      <m:t>𝑓</m:t>
                    </m:r>
                    <m:r>
                      <a:rPr lang="en-US" sz="1200" i="1">
                        <a:latin typeface="Cambria Math" panose="02040503050406030204" pitchFamily="18" charset="0"/>
                        <a:cs typeface="Times New Roman" pitchFamily="18" charset="0"/>
                      </a:rPr>
                      <m:t>(</m:t>
                    </m:r>
                    <m:r>
                      <a:rPr lang="en-US" sz="1200" i="1">
                        <a:latin typeface="Cambria Math" panose="02040503050406030204" pitchFamily="18" charset="0"/>
                        <a:cs typeface="Times New Roman" pitchFamily="18" charset="0"/>
                      </a:rPr>
                      <m:t>𝑋</m:t>
                    </m:r>
                    <m:r>
                      <a:rPr lang="en-US" sz="1200" i="1">
                        <a:latin typeface="Cambria Math" panose="02040503050406030204" pitchFamily="18" charset="0"/>
                        <a:cs typeface="Times New Roman" pitchFamily="18" charset="0"/>
                      </a:rPr>
                      <m:t>)</m:t>
                    </m:r>
                  </m:oMath>
                </a14:m>
                <a:r>
                  <a:rPr lang="en-US" sz="1200" dirty="0">
                    <a:cs typeface="Times New Roman" pitchFamily="18" charset="0"/>
                  </a:rPr>
                  <a:t>, is extremely complicated.  So complicated that we do not have enough time or mental capability to describe it in a parametric way.  Parametric models can still be used, but it takes much more work and thought from the analyst.</a:t>
                </a:r>
              </a:p>
              <a:p>
                <a:pPr marL="457200" indent="-457200">
                  <a:buFont typeface="+mj-lt"/>
                  <a:buAutoNum type="arabicPeriod" startAt="4"/>
                </a:pPr>
                <a:endParaRPr lang="en-US" sz="1200" dirty="0">
                  <a:cs typeface="Times New Roman" pitchFamily="18" charset="0"/>
                </a:endParaRPr>
              </a:p>
              <a:p>
                <a:pPr marL="457200" indent="-457200">
                  <a:buFont typeface="+mj-lt"/>
                  <a:buAutoNum type="arabicPeriod" startAt="4"/>
                </a:pPr>
                <a:r>
                  <a:rPr lang="en-US" sz="1200" u="sng" dirty="0">
                    <a:cs typeface="Times New Roman" pitchFamily="18" charset="0"/>
                  </a:rPr>
                  <a:t>When data sets are large</a:t>
                </a:r>
                <a:r>
                  <a:rPr lang="en-US" sz="1200" dirty="0">
                    <a:cs typeface="Times New Roman" pitchFamily="18" charset="0"/>
                  </a:rPr>
                  <a:t>, nonparametric models will typically perform as good or better than nonparametric ones from a prediction accuracy perspective.   They perform similarly when the true from of </a:t>
                </a:r>
                <a14:m>
                  <m:oMath xmlns:m="http://schemas.openxmlformats.org/officeDocument/2006/math">
                    <m:r>
                      <a:rPr lang="en-US" sz="1200" i="1">
                        <a:latin typeface="Cambria Math" panose="02040503050406030204" pitchFamily="18" charset="0"/>
                        <a:cs typeface="Times New Roman" pitchFamily="18" charset="0"/>
                      </a:rPr>
                      <m:t>𝑓</m:t>
                    </m:r>
                    <m:r>
                      <a:rPr lang="en-US" sz="1200" i="1">
                        <a:latin typeface="Cambria Math" panose="02040503050406030204" pitchFamily="18" charset="0"/>
                        <a:cs typeface="Times New Roman" pitchFamily="18" charset="0"/>
                      </a:rPr>
                      <m:t>(</m:t>
                    </m:r>
                    <m:r>
                      <a:rPr lang="en-US" sz="1200" i="1">
                        <a:latin typeface="Cambria Math" panose="02040503050406030204" pitchFamily="18" charset="0"/>
                        <a:cs typeface="Times New Roman" pitchFamily="18" charset="0"/>
                      </a:rPr>
                      <m:t>𝑋</m:t>
                    </m:r>
                    <m:r>
                      <a:rPr lang="en-US" sz="1200" i="1">
                        <a:latin typeface="Cambria Math" panose="02040503050406030204" pitchFamily="18" charset="0"/>
                        <a:cs typeface="Times New Roman" pitchFamily="18" charset="0"/>
                      </a:rPr>
                      <m:t>)</m:t>
                    </m:r>
                  </m:oMath>
                </a14:m>
                <a:r>
                  <a:rPr lang="en-US" sz="1200" dirty="0">
                    <a:cs typeface="Times New Roman" pitchFamily="18" charset="0"/>
                  </a:rPr>
                  <a:t> can be expressed easily with a </a:t>
                </a:r>
                <a:r>
                  <a:rPr lang="en-US" sz="1200" dirty="0" err="1">
                    <a:cs typeface="Times New Roman" pitchFamily="18" charset="0"/>
                  </a:rPr>
                  <a:t>parmetric</a:t>
                </a:r>
                <a:r>
                  <a:rPr lang="en-US" sz="1200" dirty="0">
                    <a:cs typeface="Times New Roman" pitchFamily="18" charset="0"/>
                  </a:rPr>
                  <a:t> method.</a:t>
                </a:r>
              </a:p>
              <a:p>
                <a:endParaRPr lang="en-US" dirty="0"/>
              </a:p>
            </p:txBody>
          </p:sp>
        </mc:Choice>
        <mc:Fallback xmlns="">
          <p:sp>
            <p:nvSpPr>
              <p:cNvPr id="3" name="Notes Placeholder 2"/>
              <p:cNvSpPr>
                <a:spLocks noGrp="1"/>
              </p:cNvSpPr>
              <p:nvPr>
                <p:ph type="body" idx="1"/>
              </p:nvPr>
            </p:nvSpPr>
            <p:spPr/>
            <p:txBody>
              <a:bodyPr/>
              <a:lstStyle/>
              <a:p>
                <a:pPr marL="457200" indent="-457200">
                  <a:buFont typeface="+mj-lt"/>
                  <a:buAutoNum type="arabicPeriod" startAt="4"/>
                </a:pPr>
                <a:r>
                  <a:rPr lang="en-US" sz="1200" dirty="0">
                    <a:cs typeface="Times New Roman" pitchFamily="18" charset="0"/>
                  </a:rPr>
                  <a:t>Parametric models are easier to implement when the number of predictors (p) is quite large relative to the sample size.</a:t>
                </a:r>
              </a:p>
              <a:p>
                <a:pPr marL="457200" indent="-457200">
                  <a:buFont typeface="+mj-lt"/>
                  <a:buAutoNum type="arabicPeriod" startAt="4"/>
                </a:pPr>
                <a:endParaRPr lang="en-US" sz="1200" dirty="0">
                  <a:cs typeface="Times New Roman" pitchFamily="18" charset="0"/>
                </a:endParaRPr>
              </a:p>
              <a:p>
                <a:pPr marL="457200" indent="-457200">
                  <a:buFont typeface="+mj-lt"/>
                  <a:buAutoNum type="arabicPeriod" startAt="4"/>
                </a:pPr>
                <a:r>
                  <a:rPr lang="en-US" sz="1200" dirty="0">
                    <a:cs typeface="Times New Roman" pitchFamily="18" charset="0"/>
                  </a:rPr>
                  <a:t>Nonparametric models are great when the true function, </a:t>
                </a:r>
                <a:r>
                  <a:rPr lang="en-US" sz="1200" i="0">
                    <a:latin typeface="Cambria Math" panose="02040503050406030204" pitchFamily="18" charset="0"/>
                    <a:cs typeface="Times New Roman" pitchFamily="18" charset="0"/>
                  </a:rPr>
                  <a:t>𝑓(𝑋)</a:t>
                </a:r>
                <a:r>
                  <a:rPr lang="en-US" sz="1200" dirty="0">
                    <a:cs typeface="Times New Roman" pitchFamily="18" charset="0"/>
                  </a:rPr>
                  <a:t>, is extremely complicated.  So complicated that we do not have enough time or mental capability to describe it in a parametric way.  Parametric models can still be used, but it takes much more work and thought from the analyst.</a:t>
                </a:r>
              </a:p>
              <a:p>
                <a:pPr marL="457200" indent="-457200">
                  <a:buFont typeface="+mj-lt"/>
                  <a:buAutoNum type="arabicPeriod" startAt="4"/>
                </a:pPr>
                <a:endParaRPr lang="en-US" sz="1200" dirty="0">
                  <a:cs typeface="Times New Roman" pitchFamily="18" charset="0"/>
                </a:endParaRPr>
              </a:p>
              <a:p>
                <a:pPr marL="457200" indent="-457200">
                  <a:buFont typeface="+mj-lt"/>
                  <a:buAutoNum type="arabicPeriod" startAt="4"/>
                </a:pPr>
                <a:r>
                  <a:rPr lang="en-US" sz="1200" u="sng" dirty="0">
                    <a:cs typeface="Times New Roman" pitchFamily="18" charset="0"/>
                  </a:rPr>
                  <a:t>When data sets are large</a:t>
                </a:r>
                <a:r>
                  <a:rPr lang="en-US" sz="1200" dirty="0">
                    <a:cs typeface="Times New Roman" pitchFamily="18" charset="0"/>
                  </a:rPr>
                  <a:t>, nonparametric models will typically perform as good or better than nonparametric ones from a prediction accuracy perspective.   They perform similarly when the true from of </a:t>
                </a:r>
                <a:r>
                  <a:rPr lang="en-US" sz="1200" i="0">
                    <a:latin typeface="Cambria Math" panose="02040503050406030204" pitchFamily="18" charset="0"/>
                    <a:cs typeface="Times New Roman" pitchFamily="18" charset="0"/>
                  </a:rPr>
                  <a:t>𝑓(𝑋)</a:t>
                </a:r>
                <a:r>
                  <a:rPr lang="en-US" sz="1200" dirty="0">
                    <a:cs typeface="Times New Roman" pitchFamily="18" charset="0"/>
                  </a:rPr>
                  <a:t> can be expressed easily with a </a:t>
                </a:r>
                <a:r>
                  <a:rPr lang="en-US" sz="1200" dirty="0" err="1">
                    <a:cs typeface="Times New Roman" pitchFamily="18" charset="0"/>
                  </a:rPr>
                  <a:t>parmetric</a:t>
                </a:r>
                <a:r>
                  <a:rPr lang="en-US" sz="1200" dirty="0">
                    <a:cs typeface="Times New Roman" pitchFamily="18" charset="0"/>
                  </a:rPr>
                  <a:t> method.</a:t>
                </a:r>
              </a:p>
              <a:p>
                <a:endParaRPr lang="en-US" dirty="0"/>
              </a:p>
            </p:txBody>
          </p:sp>
        </mc:Fallback>
      </mc:AlternateContent>
      <p:sp>
        <p:nvSpPr>
          <p:cNvPr id="4" name="Slide Number Placeholder 3"/>
          <p:cNvSpPr>
            <a:spLocks noGrp="1"/>
          </p:cNvSpPr>
          <p:nvPr>
            <p:ph type="sldNum" sz="quarter" idx="5"/>
          </p:nvPr>
        </p:nvSpPr>
        <p:spPr/>
        <p:txBody>
          <a:bodyPr/>
          <a:lstStyle/>
          <a:p>
            <a:fld id="{84CB6C83-B894-2740-9986-97D8BB6F6D98}" type="slidenum">
              <a:rPr lang="en-US" smtClean="0"/>
              <a:t>23</a:t>
            </a:fld>
            <a:endParaRPr lang="en-US"/>
          </a:p>
        </p:txBody>
      </p:sp>
    </p:spTree>
    <p:extLst>
      <p:ext uri="{BB962C8B-B14F-4D97-AF65-F5344CB8AC3E}">
        <p14:creationId xmlns:p14="http://schemas.microsoft.com/office/powerpoint/2010/main" val="992810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Cite figure ISLR book Figure 2.7</a:t>
            </a:r>
          </a:p>
        </p:txBody>
      </p:sp>
      <p:sp>
        <p:nvSpPr>
          <p:cNvPr id="4" name="Slide Number Placeholder 3"/>
          <p:cNvSpPr>
            <a:spLocks noGrp="1"/>
          </p:cNvSpPr>
          <p:nvPr>
            <p:ph type="sldNum" sz="quarter" idx="5"/>
          </p:nvPr>
        </p:nvSpPr>
        <p:spPr/>
        <p:txBody>
          <a:bodyPr/>
          <a:lstStyle/>
          <a:p>
            <a:fld id="{84CB6C83-B894-2740-9986-97D8BB6F6D98}" type="slidenum">
              <a:rPr lang="en-US" smtClean="0"/>
              <a:t>24</a:t>
            </a:fld>
            <a:endParaRPr lang="en-US"/>
          </a:p>
        </p:txBody>
      </p:sp>
    </p:spTree>
    <p:extLst>
      <p:ext uri="{BB962C8B-B14F-4D97-AF65-F5344CB8AC3E}">
        <p14:creationId xmlns:p14="http://schemas.microsoft.com/office/powerpoint/2010/main" val="2594512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ISLR Figure 3.11</a:t>
            </a:r>
          </a:p>
        </p:txBody>
      </p:sp>
      <p:sp>
        <p:nvSpPr>
          <p:cNvPr id="4" name="Slide Number Placeholder 3"/>
          <p:cNvSpPr>
            <a:spLocks noGrp="1"/>
          </p:cNvSpPr>
          <p:nvPr>
            <p:ph type="sldNum" sz="quarter" idx="5"/>
          </p:nvPr>
        </p:nvSpPr>
        <p:spPr/>
        <p:txBody>
          <a:bodyPr/>
          <a:lstStyle/>
          <a:p>
            <a:fld id="{84CB6C83-B894-2740-9986-97D8BB6F6D98}" type="slidenum">
              <a:rPr lang="en-US" smtClean="0"/>
              <a:t>32</a:t>
            </a:fld>
            <a:endParaRPr lang="en-US" dirty="0"/>
          </a:p>
        </p:txBody>
      </p:sp>
    </p:spTree>
    <p:extLst>
      <p:ext uri="{BB962C8B-B14F-4D97-AF65-F5344CB8AC3E}">
        <p14:creationId xmlns:p14="http://schemas.microsoft.com/office/powerpoint/2010/main" val="2013318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Produces models where assumptions are met, allowing for reliable statistical inference on the regression coefficients</a:t>
            </a:r>
          </a:p>
          <a:p>
            <a:endParaRPr lang="en-US" sz="1200" dirty="0"/>
          </a:p>
          <a:p>
            <a:r>
              <a:rPr lang="en-US" sz="1200" dirty="0"/>
              <a:t> If using log transformations, interpretation of the coefficients is still readily available</a:t>
            </a:r>
          </a:p>
          <a:p>
            <a:endParaRPr lang="en-US" sz="1200" dirty="0"/>
          </a:p>
          <a:p>
            <a:r>
              <a:rPr lang="en-US" sz="1200" dirty="0"/>
              <a:t>If using other transformations, interpretation of the model is difficult, and its use should be considered based on the goals of the model.  It doesn’t matter if all you want to to do is predict. </a:t>
            </a:r>
          </a:p>
          <a:p>
            <a:endParaRPr lang="en-US" dirty="0"/>
          </a:p>
        </p:txBody>
      </p:sp>
      <p:sp>
        <p:nvSpPr>
          <p:cNvPr id="4" name="Slide Number Placeholder 3"/>
          <p:cNvSpPr>
            <a:spLocks noGrp="1"/>
          </p:cNvSpPr>
          <p:nvPr>
            <p:ph type="sldNum" sz="quarter" idx="5"/>
          </p:nvPr>
        </p:nvSpPr>
        <p:spPr/>
        <p:txBody>
          <a:bodyPr/>
          <a:lstStyle/>
          <a:p>
            <a:fld id="{84CB6C83-B894-2740-9986-97D8BB6F6D98}" type="slidenum">
              <a:rPr lang="en-US" smtClean="0"/>
              <a:t>34</a:t>
            </a:fld>
            <a:endParaRPr lang="en-US" dirty="0"/>
          </a:p>
        </p:txBody>
      </p:sp>
    </p:spTree>
    <p:extLst>
      <p:ext uri="{BB962C8B-B14F-4D97-AF65-F5344CB8AC3E}">
        <p14:creationId xmlns:p14="http://schemas.microsoft.com/office/powerpoint/2010/main" val="1923971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5"/>
          </p:nvPr>
        </p:nvSpPr>
        <p:spPr/>
        <p:txBody>
          <a:bodyPr/>
          <a:lstStyle/>
          <a:p>
            <a:fld id="{84CB6C83-B894-2740-9986-97D8BB6F6D98}" type="slidenum">
              <a:rPr lang="en-US" smtClean="0"/>
              <a:t>35</a:t>
            </a:fld>
            <a:endParaRPr lang="en-US" dirty="0"/>
          </a:p>
        </p:txBody>
      </p:sp>
    </p:spTree>
    <p:extLst>
      <p:ext uri="{BB962C8B-B14F-4D97-AF65-F5344CB8AC3E}">
        <p14:creationId xmlns:p14="http://schemas.microsoft.com/office/powerpoint/2010/main" val="27456567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569E09-A43E-6243-A202-4DB8D44A2BD7}" type="slidenum">
              <a:rPr lang="en-US" smtClean="0"/>
              <a:t>47</a:t>
            </a:fld>
            <a:endParaRPr lang="en-US"/>
          </a:p>
        </p:txBody>
      </p:sp>
    </p:spTree>
    <p:extLst>
      <p:ext uri="{BB962C8B-B14F-4D97-AF65-F5344CB8AC3E}">
        <p14:creationId xmlns:p14="http://schemas.microsoft.com/office/powerpoint/2010/main" val="1809999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569E09-A43E-6243-A202-4DB8D44A2BD7}" type="slidenum">
              <a:rPr lang="en-US" smtClean="0"/>
              <a:t>48</a:t>
            </a:fld>
            <a:endParaRPr lang="en-US"/>
          </a:p>
        </p:txBody>
      </p:sp>
    </p:spTree>
    <p:extLst>
      <p:ext uri="{BB962C8B-B14F-4D97-AF65-F5344CB8AC3E}">
        <p14:creationId xmlns:p14="http://schemas.microsoft.com/office/powerpoint/2010/main" val="2784415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569E09-A43E-6243-A202-4DB8D44A2BD7}" type="slidenum">
              <a:rPr lang="en-US" smtClean="0"/>
              <a:t>49</a:t>
            </a:fld>
            <a:endParaRPr lang="en-US"/>
          </a:p>
        </p:txBody>
      </p:sp>
    </p:spTree>
    <p:extLst>
      <p:ext uri="{BB962C8B-B14F-4D97-AF65-F5344CB8AC3E}">
        <p14:creationId xmlns:p14="http://schemas.microsoft.com/office/powerpoint/2010/main" val="40635147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569E09-A43E-6243-A202-4DB8D44A2BD7}" type="slidenum">
              <a:rPr lang="en-US" smtClean="0"/>
              <a:t>50</a:t>
            </a:fld>
            <a:endParaRPr lang="en-US"/>
          </a:p>
        </p:txBody>
      </p:sp>
    </p:spTree>
    <p:extLst>
      <p:ext uri="{BB962C8B-B14F-4D97-AF65-F5344CB8AC3E}">
        <p14:creationId xmlns:p14="http://schemas.microsoft.com/office/powerpoint/2010/main" val="26440760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569E09-A43E-6243-A202-4DB8D44A2BD7}" type="slidenum">
              <a:rPr lang="en-US" smtClean="0"/>
              <a:t>51</a:t>
            </a:fld>
            <a:endParaRPr lang="en-US"/>
          </a:p>
        </p:txBody>
      </p:sp>
    </p:spTree>
    <p:extLst>
      <p:ext uri="{BB962C8B-B14F-4D97-AF65-F5344CB8AC3E}">
        <p14:creationId xmlns:p14="http://schemas.microsoft.com/office/powerpoint/2010/main" val="17633879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569E09-A43E-6243-A202-4DB8D44A2BD7}" type="slidenum">
              <a:rPr lang="en-US" smtClean="0"/>
              <a:t>52</a:t>
            </a:fld>
            <a:endParaRPr lang="en-US"/>
          </a:p>
        </p:txBody>
      </p:sp>
    </p:spTree>
    <p:extLst>
      <p:ext uri="{BB962C8B-B14F-4D97-AF65-F5344CB8AC3E}">
        <p14:creationId xmlns:p14="http://schemas.microsoft.com/office/powerpoint/2010/main" val="1558494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569E09-A43E-6243-A202-4DB8D44A2BD7}" type="slidenum">
              <a:rPr lang="en-US" smtClean="0"/>
              <a:t>53</a:t>
            </a:fld>
            <a:endParaRPr lang="en-US"/>
          </a:p>
        </p:txBody>
      </p:sp>
    </p:spTree>
    <p:extLst>
      <p:ext uri="{BB962C8B-B14F-4D97-AF65-F5344CB8AC3E}">
        <p14:creationId xmlns:p14="http://schemas.microsoft.com/office/powerpoint/2010/main" val="28423352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569E09-A43E-6243-A202-4DB8D44A2BD7}" type="slidenum">
              <a:rPr lang="en-US" smtClean="0"/>
              <a:t>54</a:t>
            </a:fld>
            <a:endParaRPr lang="en-US"/>
          </a:p>
        </p:txBody>
      </p:sp>
    </p:spTree>
    <p:extLst>
      <p:ext uri="{BB962C8B-B14F-4D97-AF65-F5344CB8AC3E}">
        <p14:creationId xmlns:p14="http://schemas.microsoft.com/office/powerpoint/2010/main" val="9642965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569E09-A43E-6243-A202-4DB8D44A2BD7}" type="slidenum">
              <a:rPr lang="en-US" smtClean="0"/>
              <a:t>55</a:t>
            </a:fld>
            <a:endParaRPr lang="en-US"/>
          </a:p>
        </p:txBody>
      </p:sp>
    </p:spTree>
    <p:extLst>
      <p:ext uri="{BB962C8B-B14F-4D97-AF65-F5344CB8AC3E}">
        <p14:creationId xmlns:p14="http://schemas.microsoft.com/office/powerpoint/2010/main" val="32869367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569E09-A43E-6243-A202-4DB8D44A2BD7}" type="slidenum">
              <a:rPr lang="en-US" smtClean="0"/>
              <a:t>56</a:t>
            </a:fld>
            <a:endParaRPr lang="en-US"/>
          </a:p>
        </p:txBody>
      </p:sp>
    </p:spTree>
    <p:extLst>
      <p:ext uri="{BB962C8B-B14F-4D97-AF65-F5344CB8AC3E}">
        <p14:creationId xmlns:p14="http://schemas.microsoft.com/office/powerpoint/2010/main" val="21971916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569E09-A43E-6243-A202-4DB8D44A2BD7}" type="slidenum">
              <a:rPr lang="en-US" smtClean="0"/>
              <a:t>57</a:t>
            </a:fld>
            <a:endParaRPr lang="en-US"/>
          </a:p>
        </p:txBody>
      </p:sp>
    </p:spTree>
    <p:extLst>
      <p:ext uri="{BB962C8B-B14F-4D97-AF65-F5344CB8AC3E}">
        <p14:creationId xmlns:p14="http://schemas.microsoft.com/office/powerpoint/2010/main" val="10993450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569E09-A43E-6243-A202-4DB8D44A2BD7}" type="slidenum">
              <a:rPr lang="en-US" smtClean="0"/>
              <a:t>58</a:t>
            </a:fld>
            <a:endParaRPr lang="en-US"/>
          </a:p>
        </p:txBody>
      </p:sp>
    </p:spTree>
    <p:extLst>
      <p:ext uri="{BB962C8B-B14F-4D97-AF65-F5344CB8AC3E}">
        <p14:creationId xmlns:p14="http://schemas.microsoft.com/office/powerpoint/2010/main" val="38270593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CB6C83-B894-2740-9986-97D8BB6F6D98}" type="slidenum">
              <a:rPr lang="en-US" smtClean="0"/>
              <a:t>62</a:t>
            </a:fld>
            <a:endParaRPr lang="en-US" dirty="0"/>
          </a:p>
        </p:txBody>
      </p:sp>
    </p:spTree>
    <p:extLst>
      <p:ext uri="{BB962C8B-B14F-4D97-AF65-F5344CB8AC3E}">
        <p14:creationId xmlns:p14="http://schemas.microsoft.com/office/powerpoint/2010/main" val="9298582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We know that a full model that is overly specified will have an artificially low train MSE (coefficients are estimated based on this)</a:t>
            </a:r>
          </a:p>
          <a:p>
            <a:endParaRPr lang="en-US" sz="1200" dirty="0"/>
          </a:p>
          <a:p>
            <a:r>
              <a:rPr lang="en-US" sz="1200" dirty="0"/>
              <a:t>By adding a penalty term, we bias the coefficients toward 0 forcing the fit to be a little bit worse on the training data, but should reproduce better on future data sets since its not as dependent on the train</a:t>
            </a:r>
          </a:p>
          <a:p>
            <a:endParaRPr lang="en-US" sz="1200" dirty="0"/>
          </a:p>
          <a:p>
            <a:r>
              <a:rPr lang="en-US" sz="1200" dirty="0"/>
              <a:t>Some coefficients will be effectively 0 and thus is removed from the model</a:t>
            </a:r>
          </a:p>
          <a:p>
            <a:endParaRPr lang="en-US" sz="1200" dirty="0"/>
          </a:p>
          <a:p>
            <a:r>
              <a:rPr lang="en-US" sz="1200" dirty="0"/>
              <a:t>The only question now is how do we pick the appropriate penalty value?</a:t>
            </a:r>
          </a:p>
          <a:p>
            <a:endParaRPr lang="en-US" dirty="0"/>
          </a:p>
        </p:txBody>
      </p:sp>
      <p:sp>
        <p:nvSpPr>
          <p:cNvPr id="4" name="Slide Number Placeholder 3"/>
          <p:cNvSpPr>
            <a:spLocks noGrp="1"/>
          </p:cNvSpPr>
          <p:nvPr>
            <p:ph type="sldNum" sz="quarter" idx="5"/>
          </p:nvPr>
        </p:nvSpPr>
        <p:spPr/>
        <p:txBody>
          <a:bodyPr/>
          <a:lstStyle/>
          <a:p>
            <a:fld id="{84CB6C83-B894-2740-9986-97D8BB6F6D98}" type="slidenum">
              <a:rPr lang="en-US" smtClean="0"/>
              <a:t>66</a:t>
            </a:fld>
            <a:endParaRPr lang="en-US" dirty="0"/>
          </a:p>
        </p:txBody>
      </p:sp>
    </p:spTree>
    <p:extLst>
      <p:ext uri="{BB962C8B-B14F-4D97-AF65-F5344CB8AC3E}">
        <p14:creationId xmlns:p14="http://schemas.microsoft.com/office/powerpoint/2010/main" val="25058671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CB6C83-B894-2740-9986-97D8BB6F6D98}" type="slidenum">
              <a:rPr lang="en-US" smtClean="0"/>
              <a:t>67</a:t>
            </a:fld>
            <a:endParaRPr lang="en-US" dirty="0"/>
          </a:p>
        </p:txBody>
      </p:sp>
    </p:spTree>
    <p:extLst>
      <p:ext uri="{BB962C8B-B14F-4D97-AF65-F5344CB8AC3E}">
        <p14:creationId xmlns:p14="http://schemas.microsoft.com/office/powerpoint/2010/main" val="24653638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Mimics the idea of creating the sampling distribution by creating multiple samples (bootstrap samples)</a:t>
            </a:r>
          </a:p>
          <a:p>
            <a:r>
              <a:rPr lang="en-US" dirty="0"/>
              <a:t>With multiple samples available, we can compute whatever statistic we are interested in on each data set</a:t>
            </a:r>
          </a:p>
          <a:p>
            <a:r>
              <a:rPr lang="en-US" dirty="0"/>
              <a:t>Calculating the standard deviation of the statistics provides an estimate of the SE</a:t>
            </a:r>
          </a:p>
          <a:p>
            <a:r>
              <a:rPr lang="en-US" dirty="0"/>
              <a:t>The entire distribution can be used to compute a confidence interval or perform a hypothesis test</a:t>
            </a:r>
          </a:p>
          <a:p>
            <a:endParaRPr lang="en-US" dirty="0"/>
          </a:p>
        </p:txBody>
      </p:sp>
      <p:sp>
        <p:nvSpPr>
          <p:cNvPr id="4" name="Slide Number Placeholder 3"/>
          <p:cNvSpPr>
            <a:spLocks noGrp="1"/>
          </p:cNvSpPr>
          <p:nvPr>
            <p:ph type="sldNum" sz="quarter" idx="5"/>
          </p:nvPr>
        </p:nvSpPr>
        <p:spPr/>
        <p:txBody>
          <a:bodyPr/>
          <a:lstStyle/>
          <a:p>
            <a:fld id="{84CB6C83-B894-2740-9986-97D8BB6F6D98}" type="slidenum">
              <a:rPr lang="en-US" smtClean="0"/>
              <a:t>73</a:t>
            </a:fld>
            <a:endParaRPr lang="en-US" dirty="0"/>
          </a:p>
        </p:txBody>
      </p:sp>
    </p:spTree>
    <p:extLst>
      <p:ext uri="{BB962C8B-B14F-4D97-AF65-F5344CB8AC3E}">
        <p14:creationId xmlns:p14="http://schemas.microsoft.com/office/powerpoint/2010/main" val="4177576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25FAF-8B87-464E-AFEA-FA0CCE2DA9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215E81-7247-9D45-9848-201C44ABE5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E08082-4198-4444-B8CF-D3D57DF1EA73}"/>
              </a:ext>
            </a:extLst>
          </p:cNvPr>
          <p:cNvSpPr>
            <a:spLocks noGrp="1"/>
          </p:cNvSpPr>
          <p:nvPr>
            <p:ph type="dt" sz="half" idx="10"/>
          </p:nvPr>
        </p:nvSpPr>
        <p:spPr/>
        <p:txBody>
          <a:bodyPr/>
          <a:lstStyle/>
          <a:p>
            <a:fld id="{DEF3BFF6-C97E-B548-B568-C0D3B4ECAA02}" type="datetimeFigureOut">
              <a:rPr lang="en-US" smtClean="0"/>
              <a:t>6/9/25</a:t>
            </a:fld>
            <a:endParaRPr lang="en-US"/>
          </a:p>
        </p:txBody>
      </p:sp>
      <p:sp>
        <p:nvSpPr>
          <p:cNvPr id="5" name="Footer Placeholder 4">
            <a:extLst>
              <a:ext uri="{FF2B5EF4-FFF2-40B4-BE49-F238E27FC236}">
                <a16:creationId xmlns:a16="http://schemas.microsoft.com/office/drawing/2014/main" id="{D231D2D2-A3BA-4E4F-B984-3ADA4B3A0C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8C0EA6-08CA-6A48-B3F1-3AB85440C30E}"/>
              </a:ext>
            </a:extLst>
          </p:cNvPr>
          <p:cNvSpPr>
            <a:spLocks noGrp="1"/>
          </p:cNvSpPr>
          <p:nvPr>
            <p:ph type="sldNum" sz="quarter" idx="12"/>
          </p:nvPr>
        </p:nvSpPr>
        <p:spPr/>
        <p:txBody>
          <a:bodyPr/>
          <a:lstStyle/>
          <a:p>
            <a:fld id="{E6B28222-DAF8-1D4C-B328-442C9DA11C1A}" type="slidenum">
              <a:rPr lang="en-US" smtClean="0"/>
              <a:t>‹#›</a:t>
            </a:fld>
            <a:endParaRPr lang="en-US"/>
          </a:p>
        </p:txBody>
      </p:sp>
    </p:spTree>
    <p:extLst>
      <p:ext uri="{BB962C8B-B14F-4D97-AF65-F5344CB8AC3E}">
        <p14:creationId xmlns:p14="http://schemas.microsoft.com/office/powerpoint/2010/main" val="2545634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2F36C-A092-B24B-BEB8-9611E83FC7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83ACB3-9C86-BC4A-8149-7D830A3831E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A5C010-D979-E040-BD86-4EA2DD6A67EE}"/>
              </a:ext>
            </a:extLst>
          </p:cNvPr>
          <p:cNvSpPr>
            <a:spLocks noGrp="1"/>
          </p:cNvSpPr>
          <p:nvPr>
            <p:ph type="dt" sz="half" idx="10"/>
          </p:nvPr>
        </p:nvSpPr>
        <p:spPr/>
        <p:txBody>
          <a:bodyPr/>
          <a:lstStyle/>
          <a:p>
            <a:fld id="{DEF3BFF6-C97E-B548-B568-C0D3B4ECAA02}" type="datetimeFigureOut">
              <a:rPr lang="en-US" smtClean="0"/>
              <a:t>6/9/25</a:t>
            </a:fld>
            <a:endParaRPr lang="en-US"/>
          </a:p>
        </p:txBody>
      </p:sp>
      <p:sp>
        <p:nvSpPr>
          <p:cNvPr id="5" name="Footer Placeholder 4">
            <a:extLst>
              <a:ext uri="{FF2B5EF4-FFF2-40B4-BE49-F238E27FC236}">
                <a16:creationId xmlns:a16="http://schemas.microsoft.com/office/drawing/2014/main" id="{404F72E2-C5C2-B948-B13D-230FBC724F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1014FD-7D37-E343-BBD6-B732D5013669}"/>
              </a:ext>
            </a:extLst>
          </p:cNvPr>
          <p:cNvSpPr>
            <a:spLocks noGrp="1"/>
          </p:cNvSpPr>
          <p:nvPr>
            <p:ph type="sldNum" sz="quarter" idx="12"/>
          </p:nvPr>
        </p:nvSpPr>
        <p:spPr/>
        <p:txBody>
          <a:bodyPr/>
          <a:lstStyle/>
          <a:p>
            <a:fld id="{E6B28222-DAF8-1D4C-B328-442C9DA11C1A}" type="slidenum">
              <a:rPr lang="en-US" smtClean="0"/>
              <a:t>‹#›</a:t>
            </a:fld>
            <a:endParaRPr lang="en-US"/>
          </a:p>
        </p:txBody>
      </p:sp>
    </p:spTree>
    <p:extLst>
      <p:ext uri="{BB962C8B-B14F-4D97-AF65-F5344CB8AC3E}">
        <p14:creationId xmlns:p14="http://schemas.microsoft.com/office/powerpoint/2010/main" val="1950956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2E5AC-51D6-514F-B4B5-3258E33D17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A449F0-E372-884B-AAA4-B41BEF0CFE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B1B33BD-B565-3A4A-8CF7-A4A0E322754F}"/>
              </a:ext>
            </a:extLst>
          </p:cNvPr>
          <p:cNvSpPr>
            <a:spLocks noGrp="1"/>
          </p:cNvSpPr>
          <p:nvPr>
            <p:ph type="dt" sz="half" idx="10"/>
          </p:nvPr>
        </p:nvSpPr>
        <p:spPr/>
        <p:txBody>
          <a:bodyPr/>
          <a:lstStyle/>
          <a:p>
            <a:fld id="{DEF3BFF6-C97E-B548-B568-C0D3B4ECAA02}" type="datetimeFigureOut">
              <a:rPr lang="en-US" smtClean="0"/>
              <a:t>6/9/25</a:t>
            </a:fld>
            <a:endParaRPr lang="en-US"/>
          </a:p>
        </p:txBody>
      </p:sp>
      <p:sp>
        <p:nvSpPr>
          <p:cNvPr id="5" name="Footer Placeholder 4">
            <a:extLst>
              <a:ext uri="{FF2B5EF4-FFF2-40B4-BE49-F238E27FC236}">
                <a16:creationId xmlns:a16="http://schemas.microsoft.com/office/drawing/2014/main" id="{30B39AEA-84CA-2049-8002-8533DA080A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AB0E0D-E859-EA46-89AC-78438DA44212}"/>
              </a:ext>
            </a:extLst>
          </p:cNvPr>
          <p:cNvSpPr>
            <a:spLocks noGrp="1"/>
          </p:cNvSpPr>
          <p:nvPr>
            <p:ph type="sldNum" sz="quarter" idx="12"/>
          </p:nvPr>
        </p:nvSpPr>
        <p:spPr/>
        <p:txBody>
          <a:bodyPr/>
          <a:lstStyle/>
          <a:p>
            <a:fld id="{E6B28222-DAF8-1D4C-B328-442C9DA11C1A}" type="slidenum">
              <a:rPr lang="en-US" smtClean="0"/>
              <a:t>‹#›</a:t>
            </a:fld>
            <a:endParaRPr lang="en-US"/>
          </a:p>
        </p:txBody>
      </p:sp>
    </p:spTree>
    <p:extLst>
      <p:ext uri="{BB962C8B-B14F-4D97-AF65-F5344CB8AC3E}">
        <p14:creationId xmlns:p14="http://schemas.microsoft.com/office/powerpoint/2010/main" val="413129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04B0C-F7E2-8848-9095-6103184B7F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C91BAD-5824-EF46-98BC-5DD90BCDF65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05B794-7B64-A445-9D6C-42941B0CD9F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312948-7361-5A4D-8AEA-897CEDC8B994}"/>
              </a:ext>
            </a:extLst>
          </p:cNvPr>
          <p:cNvSpPr>
            <a:spLocks noGrp="1"/>
          </p:cNvSpPr>
          <p:nvPr>
            <p:ph type="dt" sz="half" idx="10"/>
          </p:nvPr>
        </p:nvSpPr>
        <p:spPr/>
        <p:txBody>
          <a:bodyPr/>
          <a:lstStyle/>
          <a:p>
            <a:fld id="{DEF3BFF6-C97E-B548-B568-C0D3B4ECAA02}" type="datetimeFigureOut">
              <a:rPr lang="en-US" smtClean="0"/>
              <a:t>6/9/25</a:t>
            </a:fld>
            <a:endParaRPr lang="en-US"/>
          </a:p>
        </p:txBody>
      </p:sp>
      <p:sp>
        <p:nvSpPr>
          <p:cNvPr id="6" name="Footer Placeholder 5">
            <a:extLst>
              <a:ext uri="{FF2B5EF4-FFF2-40B4-BE49-F238E27FC236}">
                <a16:creationId xmlns:a16="http://schemas.microsoft.com/office/drawing/2014/main" id="{F7826426-9AC8-9744-9C36-2359844945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860AD2-A5C0-5148-B3A1-6532368AF6BD}"/>
              </a:ext>
            </a:extLst>
          </p:cNvPr>
          <p:cNvSpPr>
            <a:spLocks noGrp="1"/>
          </p:cNvSpPr>
          <p:nvPr>
            <p:ph type="sldNum" sz="quarter" idx="12"/>
          </p:nvPr>
        </p:nvSpPr>
        <p:spPr/>
        <p:txBody>
          <a:bodyPr/>
          <a:lstStyle/>
          <a:p>
            <a:fld id="{E6B28222-DAF8-1D4C-B328-442C9DA11C1A}" type="slidenum">
              <a:rPr lang="en-US" smtClean="0"/>
              <a:t>‹#›</a:t>
            </a:fld>
            <a:endParaRPr lang="en-US"/>
          </a:p>
        </p:txBody>
      </p:sp>
    </p:spTree>
    <p:extLst>
      <p:ext uri="{BB962C8B-B14F-4D97-AF65-F5344CB8AC3E}">
        <p14:creationId xmlns:p14="http://schemas.microsoft.com/office/powerpoint/2010/main" val="3094729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051F4-E858-3A4A-AC24-45772990ED0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F5FD2B-A9E7-384B-8A05-FDB2C5ED9D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861F423-87E9-124B-8CD7-36F4BD1E346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8A1385-5BE0-C746-BAF0-4BDAFA4941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55FC2CF-784C-8547-88F8-FA70E649465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9A9ACBD-25EB-C04D-9320-7B41834C0C8F}"/>
              </a:ext>
            </a:extLst>
          </p:cNvPr>
          <p:cNvSpPr>
            <a:spLocks noGrp="1"/>
          </p:cNvSpPr>
          <p:nvPr>
            <p:ph type="dt" sz="half" idx="10"/>
          </p:nvPr>
        </p:nvSpPr>
        <p:spPr/>
        <p:txBody>
          <a:bodyPr/>
          <a:lstStyle/>
          <a:p>
            <a:fld id="{DEF3BFF6-C97E-B548-B568-C0D3B4ECAA02}" type="datetimeFigureOut">
              <a:rPr lang="en-US" smtClean="0"/>
              <a:t>6/9/25</a:t>
            </a:fld>
            <a:endParaRPr lang="en-US"/>
          </a:p>
        </p:txBody>
      </p:sp>
      <p:sp>
        <p:nvSpPr>
          <p:cNvPr id="8" name="Footer Placeholder 7">
            <a:extLst>
              <a:ext uri="{FF2B5EF4-FFF2-40B4-BE49-F238E27FC236}">
                <a16:creationId xmlns:a16="http://schemas.microsoft.com/office/drawing/2014/main" id="{D07E044D-D23E-EC4B-9A99-BACD96FD40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993F20-6AF9-0F4F-8EDE-D1248B88A67B}"/>
              </a:ext>
            </a:extLst>
          </p:cNvPr>
          <p:cNvSpPr>
            <a:spLocks noGrp="1"/>
          </p:cNvSpPr>
          <p:nvPr>
            <p:ph type="sldNum" sz="quarter" idx="12"/>
          </p:nvPr>
        </p:nvSpPr>
        <p:spPr/>
        <p:txBody>
          <a:bodyPr/>
          <a:lstStyle/>
          <a:p>
            <a:fld id="{E6B28222-DAF8-1D4C-B328-442C9DA11C1A}" type="slidenum">
              <a:rPr lang="en-US" smtClean="0"/>
              <a:t>‹#›</a:t>
            </a:fld>
            <a:endParaRPr lang="en-US"/>
          </a:p>
        </p:txBody>
      </p:sp>
    </p:spTree>
    <p:extLst>
      <p:ext uri="{BB962C8B-B14F-4D97-AF65-F5344CB8AC3E}">
        <p14:creationId xmlns:p14="http://schemas.microsoft.com/office/powerpoint/2010/main" val="1118057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C3FE7-4F77-BF42-8EA2-9AF2B1755C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3A1981-6520-974C-8F6F-87B7256FDC75}"/>
              </a:ext>
            </a:extLst>
          </p:cNvPr>
          <p:cNvSpPr>
            <a:spLocks noGrp="1"/>
          </p:cNvSpPr>
          <p:nvPr>
            <p:ph type="dt" sz="half" idx="10"/>
          </p:nvPr>
        </p:nvSpPr>
        <p:spPr/>
        <p:txBody>
          <a:bodyPr/>
          <a:lstStyle/>
          <a:p>
            <a:fld id="{DEF3BFF6-C97E-B548-B568-C0D3B4ECAA02}" type="datetimeFigureOut">
              <a:rPr lang="en-US" smtClean="0"/>
              <a:t>6/9/25</a:t>
            </a:fld>
            <a:endParaRPr lang="en-US"/>
          </a:p>
        </p:txBody>
      </p:sp>
      <p:sp>
        <p:nvSpPr>
          <p:cNvPr id="4" name="Footer Placeholder 3">
            <a:extLst>
              <a:ext uri="{FF2B5EF4-FFF2-40B4-BE49-F238E27FC236}">
                <a16:creationId xmlns:a16="http://schemas.microsoft.com/office/drawing/2014/main" id="{D74406C7-20FA-5040-8DF9-0239A0B078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B2E615-76C5-CC4E-81D2-4FFB3B217FD2}"/>
              </a:ext>
            </a:extLst>
          </p:cNvPr>
          <p:cNvSpPr>
            <a:spLocks noGrp="1"/>
          </p:cNvSpPr>
          <p:nvPr>
            <p:ph type="sldNum" sz="quarter" idx="12"/>
          </p:nvPr>
        </p:nvSpPr>
        <p:spPr/>
        <p:txBody>
          <a:bodyPr/>
          <a:lstStyle/>
          <a:p>
            <a:fld id="{E6B28222-DAF8-1D4C-B328-442C9DA11C1A}" type="slidenum">
              <a:rPr lang="en-US" smtClean="0"/>
              <a:t>‹#›</a:t>
            </a:fld>
            <a:endParaRPr lang="en-US"/>
          </a:p>
        </p:txBody>
      </p:sp>
    </p:spTree>
    <p:extLst>
      <p:ext uri="{BB962C8B-B14F-4D97-AF65-F5344CB8AC3E}">
        <p14:creationId xmlns:p14="http://schemas.microsoft.com/office/powerpoint/2010/main" val="1351214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27C3AC-1E1F-104C-9102-6F2F2171E740}"/>
              </a:ext>
            </a:extLst>
          </p:cNvPr>
          <p:cNvSpPr>
            <a:spLocks noGrp="1"/>
          </p:cNvSpPr>
          <p:nvPr>
            <p:ph type="dt" sz="half" idx="10"/>
          </p:nvPr>
        </p:nvSpPr>
        <p:spPr/>
        <p:txBody>
          <a:bodyPr/>
          <a:lstStyle/>
          <a:p>
            <a:fld id="{DEF3BFF6-C97E-B548-B568-C0D3B4ECAA02}" type="datetimeFigureOut">
              <a:rPr lang="en-US" smtClean="0"/>
              <a:t>6/9/25</a:t>
            </a:fld>
            <a:endParaRPr lang="en-US"/>
          </a:p>
        </p:txBody>
      </p:sp>
      <p:sp>
        <p:nvSpPr>
          <p:cNvPr id="3" name="Footer Placeholder 2">
            <a:extLst>
              <a:ext uri="{FF2B5EF4-FFF2-40B4-BE49-F238E27FC236}">
                <a16:creationId xmlns:a16="http://schemas.microsoft.com/office/drawing/2014/main" id="{68226007-47AF-FB41-A02F-3D4281B394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143293-BD31-ED43-8407-C40D7AE885D1}"/>
              </a:ext>
            </a:extLst>
          </p:cNvPr>
          <p:cNvSpPr>
            <a:spLocks noGrp="1"/>
          </p:cNvSpPr>
          <p:nvPr>
            <p:ph type="sldNum" sz="quarter" idx="12"/>
          </p:nvPr>
        </p:nvSpPr>
        <p:spPr/>
        <p:txBody>
          <a:bodyPr/>
          <a:lstStyle/>
          <a:p>
            <a:fld id="{E6B28222-DAF8-1D4C-B328-442C9DA11C1A}" type="slidenum">
              <a:rPr lang="en-US" smtClean="0"/>
              <a:t>‹#›</a:t>
            </a:fld>
            <a:endParaRPr lang="en-US"/>
          </a:p>
        </p:txBody>
      </p:sp>
    </p:spTree>
    <p:extLst>
      <p:ext uri="{BB962C8B-B14F-4D97-AF65-F5344CB8AC3E}">
        <p14:creationId xmlns:p14="http://schemas.microsoft.com/office/powerpoint/2010/main" val="433386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CAD48-AD0B-F042-9BC3-AE575C7F15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2743F0-6D84-134C-B68C-09DA0A100F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B3EFAA-C64D-2947-AB31-8E146F2E65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A2356B0-C313-3041-A50F-DD8EB2FBD8F7}"/>
              </a:ext>
            </a:extLst>
          </p:cNvPr>
          <p:cNvSpPr>
            <a:spLocks noGrp="1"/>
          </p:cNvSpPr>
          <p:nvPr>
            <p:ph type="dt" sz="half" idx="10"/>
          </p:nvPr>
        </p:nvSpPr>
        <p:spPr/>
        <p:txBody>
          <a:bodyPr/>
          <a:lstStyle/>
          <a:p>
            <a:fld id="{DEF3BFF6-C97E-B548-B568-C0D3B4ECAA02}" type="datetimeFigureOut">
              <a:rPr lang="en-US" smtClean="0"/>
              <a:t>6/9/25</a:t>
            </a:fld>
            <a:endParaRPr lang="en-US"/>
          </a:p>
        </p:txBody>
      </p:sp>
      <p:sp>
        <p:nvSpPr>
          <p:cNvPr id="6" name="Footer Placeholder 5">
            <a:extLst>
              <a:ext uri="{FF2B5EF4-FFF2-40B4-BE49-F238E27FC236}">
                <a16:creationId xmlns:a16="http://schemas.microsoft.com/office/drawing/2014/main" id="{B8AC157B-B3A4-7A44-8368-E0BB76D17B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C612C5-A6A8-0341-907E-37EC502F3C8E}"/>
              </a:ext>
            </a:extLst>
          </p:cNvPr>
          <p:cNvSpPr>
            <a:spLocks noGrp="1"/>
          </p:cNvSpPr>
          <p:nvPr>
            <p:ph type="sldNum" sz="quarter" idx="12"/>
          </p:nvPr>
        </p:nvSpPr>
        <p:spPr/>
        <p:txBody>
          <a:bodyPr/>
          <a:lstStyle/>
          <a:p>
            <a:fld id="{E6B28222-DAF8-1D4C-B328-442C9DA11C1A}" type="slidenum">
              <a:rPr lang="en-US" smtClean="0"/>
              <a:t>‹#›</a:t>
            </a:fld>
            <a:endParaRPr lang="en-US"/>
          </a:p>
        </p:txBody>
      </p:sp>
    </p:spTree>
    <p:extLst>
      <p:ext uri="{BB962C8B-B14F-4D97-AF65-F5344CB8AC3E}">
        <p14:creationId xmlns:p14="http://schemas.microsoft.com/office/powerpoint/2010/main" val="3232720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E2590-2C19-3048-911C-4349155856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E62ECC-DECE-894C-9657-8F228F993F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015E42-DE29-8A42-B821-66A9D78542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64EEBAD-F9D5-F74C-9443-A34BDCB8FD29}"/>
              </a:ext>
            </a:extLst>
          </p:cNvPr>
          <p:cNvSpPr>
            <a:spLocks noGrp="1"/>
          </p:cNvSpPr>
          <p:nvPr>
            <p:ph type="dt" sz="half" idx="10"/>
          </p:nvPr>
        </p:nvSpPr>
        <p:spPr/>
        <p:txBody>
          <a:bodyPr/>
          <a:lstStyle/>
          <a:p>
            <a:fld id="{DEF3BFF6-C97E-B548-B568-C0D3B4ECAA02}" type="datetimeFigureOut">
              <a:rPr lang="en-US" smtClean="0"/>
              <a:t>6/9/25</a:t>
            </a:fld>
            <a:endParaRPr lang="en-US"/>
          </a:p>
        </p:txBody>
      </p:sp>
      <p:sp>
        <p:nvSpPr>
          <p:cNvPr id="6" name="Footer Placeholder 5">
            <a:extLst>
              <a:ext uri="{FF2B5EF4-FFF2-40B4-BE49-F238E27FC236}">
                <a16:creationId xmlns:a16="http://schemas.microsoft.com/office/drawing/2014/main" id="{92F3299E-A82F-D246-9DB5-E0E884D437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86CFB5-538D-8649-965C-EF697E296B9E}"/>
              </a:ext>
            </a:extLst>
          </p:cNvPr>
          <p:cNvSpPr>
            <a:spLocks noGrp="1"/>
          </p:cNvSpPr>
          <p:nvPr>
            <p:ph type="sldNum" sz="quarter" idx="12"/>
          </p:nvPr>
        </p:nvSpPr>
        <p:spPr/>
        <p:txBody>
          <a:bodyPr/>
          <a:lstStyle/>
          <a:p>
            <a:fld id="{E6B28222-DAF8-1D4C-B328-442C9DA11C1A}" type="slidenum">
              <a:rPr lang="en-US" smtClean="0"/>
              <a:t>‹#›</a:t>
            </a:fld>
            <a:endParaRPr lang="en-US"/>
          </a:p>
        </p:txBody>
      </p:sp>
    </p:spTree>
    <p:extLst>
      <p:ext uri="{BB962C8B-B14F-4D97-AF65-F5344CB8AC3E}">
        <p14:creationId xmlns:p14="http://schemas.microsoft.com/office/powerpoint/2010/main" val="460729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D9EE2-B7DE-1243-98BF-531AC9097A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D94BA7-FB88-0649-A369-7B86A86D8E7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87BD8E-6215-CB44-B6E3-0A559B327A8E}"/>
              </a:ext>
            </a:extLst>
          </p:cNvPr>
          <p:cNvSpPr>
            <a:spLocks noGrp="1"/>
          </p:cNvSpPr>
          <p:nvPr>
            <p:ph type="dt" sz="half" idx="10"/>
          </p:nvPr>
        </p:nvSpPr>
        <p:spPr/>
        <p:txBody>
          <a:bodyPr/>
          <a:lstStyle/>
          <a:p>
            <a:fld id="{DEF3BFF6-C97E-B548-B568-C0D3B4ECAA02}" type="datetimeFigureOut">
              <a:rPr lang="en-US" smtClean="0"/>
              <a:t>6/9/25</a:t>
            </a:fld>
            <a:endParaRPr lang="en-US"/>
          </a:p>
        </p:txBody>
      </p:sp>
      <p:sp>
        <p:nvSpPr>
          <p:cNvPr id="5" name="Footer Placeholder 4">
            <a:extLst>
              <a:ext uri="{FF2B5EF4-FFF2-40B4-BE49-F238E27FC236}">
                <a16:creationId xmlns:a16="http://schemas.microsoft.com/office/drawing/2014/main" id="{1A682C0D-8964-1540-B616-69F187261F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F16310-CDCE-1549-9C90-01C8F6F56262}"/>
              </a:ext>
            </a:extLst>
          </p:cNvPr>
          <p:cNvSpPr>
            <a:spLocks noGrp="1"/>
          </p:cNvSpPr>
          <p:nvPr>
            <p:ph type="sldNum" sz="quarter" idx="12"/>
          </p:nvPr>
        </p:nvSpPr>
        <p:spPr/>
        <p:txBody>
          <a:bodyPr/>
          <a:lstStyle/>
          <a:p>
            <a:fld id="{E6B28222-DAF8-1D4C-B328-442C9DA11C1A}" type="slidenum">
              <a:rPr lang="en-US" smtClean="0"/>
              <a:t>‹#›</a:t>
            </a:fld>
            <a:endParaRPr lang="en-US"/>
          </a:p>
        </p:txBody>
      </p:sp>
    </p:spTree>
    <p:extLst>
      <p:ext uri="{BB962C8B-B14F-4D97-AF65-F5344CB8AC3E}">
        <p14:creationId xmlns:p14="http://schemas.microsoft.com/office/powerpoint/2010/main" val="2968433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F5A5B9-1FA7-AD44-A4EE-AA20BE902D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4F35A2-2212-8547-9518-54B7DE17CA4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1E20B2-231C-5941-B2CD-551914B95FE4}"/>
              </a:ext>
            </a:extLst>
          </p:cNvPr>
          <p:cNvSpPr>
            <a:spLocks noGrp="1"/>
          </p:cNvSpPr>
          <p:nvPr>
            <p:ph type="dt" sz="half" idx="10"/>
          </p:nvPr>
        </p:nvSpPr>
        <p:spPr/>
        <p:txBody>
          <a:bodyPr/>
          <a:lstStyle/>
          <a:p>
            <a:fld id="{DEF3BFF6-C97E-B548-B568-C0D3B4ECAA02}" type="datetimeFigureOut">
              <a:rPr lang="en-US" smtClean="0"/>
              <a:t>6/9/25</a:t>
            </a:fld>
            <a:endParaRPr lang="en-US"/>
          </a:p>
        </p:txBody>
      </p:sp>
      <p:sp>
        <p:nvSpPr>
          <p:cNvPr id="5" name="Footer Placeholder 4">
            <a:extLst>
              <a:ext uri="{FF2B5EF4-FFF2-40B4-BE49-F238E27FC236}">
                <a16:creationId xmlns:a16="http://schemas.microsoft.com/office/drawing/2014/main" id="{36769456-84EA-8243-B679-5BE23AD297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E8830C-E852-1D45-8FE8-B9C21941454C}"/>
              </a:ext>
            </a:extLst>
          </p:cNvPr>
          <p:cNvSpPr>
            <a:spLocks noGrp="1"/>
          </p:cNvSpPr>
          <p:nvPr>
            <p:ph type="sldNum" sz="quarter" idx="12"/>
          </p:nvPr>
        </p:nvSpPr>
        <p:spPr/>
        <p:txBody>
          <a:bodyPr/>
          <a:lstStyle/>
          <a:p>
            <a:fld id="{E6B28222-DAF8-1D4C-B328-442C9DA11C1A}" type="slidenum">
              <a:rPr lang="en-US" smtClean="0"/>
              <a:t>‹#›</a:t>
            </a:fld>
            <a:endParaRPr lang="en-US"/>
          </a:p>
        </p:txBody>
      </p:sp>
    </p:spTree>
    <p:extLst>
      <p:ext uri="{BB962C8B-B14F-4D97-AF65-F5344CB8AC3E}">
        <p14:creationId xmlns:p14="http://schemas.microsoft.com/office/powerpoint/2010/main" val="2643028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92EAFD-5C36-0A4B-BF41-4175D233E0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452F3E-B2A7-0D40-8149-9B5A142927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DA5C9D-63C2-A140-BC31-F2522ADFD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F3BFF6-C97E-B548-B568-C0D3B4ECAA02}" type="datetimeFigureOut">
              <a:rPr lang="en-US" smtClean="0"/>
              <a:t>6/9/25</a:t>
            </a:fld>
            <a:endParaRPr lang="en-US"/>
          </a:p>
        </p:txBody>
      </p:sp>
      <p:sp>
        <p:nvSpPr>
          <p:cNvPr id="5" name="Footer Placeholder 4">
            <a:extLst>
              <a:ext uri="{FF2B5EF4-FFF2-40B4-BE49-F238E27FC236}">
                <a16:creationId xmlns:a16="http://schemas.microsoft.com/office/drawing/2014/main" id="{4688DEB1-86C1-D448-8812-74A3607DDA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9C781DD-4E4F-824C-9603-8C8C7776EF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B28222-DAF8-1D4C-B328-442C9DA11C1A}" type="slidenum">
              <a:rPr lang="en-US" smtClean="0"/>
              <a:t>‹#›</a:t>
            </a:fld>
            <a:endParaRPr lang="en-US"/>
          </a:p>
        </p:txBody>
      </p:sp>
    </p:spTree>
    <p:extLst>
      <p:ext uri="{BB962C8B-B14F-4D97-AF65-F5344CB8AC3E}">
        <p14:creationId xmlns:p14="http://schemas.microsoft.com/office/powerpoint/2010/main" val="14991281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70.png"/><Relationship Id="rId7"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1.png"/></Relationships>
</file>

<file path=ppt/slides/_rels/slide68.xml.rels><?xml version="1.0" encoding="UTF-8" standalone="yes"?>
<Relationships xmlns="http://schemas.openxmlformats.org/package/2006/relationships"><Relationship Id="rId2" Type="http://schemas.openxmlformats.org/officeDocument/2006/relationships/image" Target="../media/image22.tif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7.xml"/><Relationship Id="rId5" Type="http://schemas.openxmlformats.org/officeDocument/2006/relationships/image" Target="NULL"/><Relationship Id="rId4" Type="http://schemas.openxmlformats.org/officeDocument/2006/relationships/image" Target="NUL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NULL"/><Relationship Id="rId1" Type="http://schemas.openxmlformats.org/officeDocument/2006/relationships/slideLayout" Target="../slideLayouts/slideLayout6.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94.xml.rels><?xml version="1.0" encoding="UTF-8" standalone="yes"?>
<Relationships xmlns="http://schemas.openxmlformats.org/package/2006/relationships"><Relationship Id="rId3" Type="http://schemas.openxmlformats.org/officeDocument/2006/relationships/image" Target="../media/image35.emf"/><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6.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7E662-6AC6-FF4C-A82C-6CA01C5999E6}"/>
              </a:ext>
            </a:extLst>
          </p:cNvPr>
          <p:cNvSpPr>
            <a:spLocks noGrp="1"/>
          </p:cNvSpPr>
          <p:nvPr>
            <p:ph type="ctrTitle"/>
          </p:nvPr>
        </p:nvSpPr>
        <p:spPr/>
        <p:txBody>
          <a:bodyPr/>
          <a:lstStyle/>
          <a:p>
            <a:r>
              <a:rPr lang="en-US" dirty="0"/>
              <a:t>6372 Midterm Study Guide</a:t>
            </a:r>
          </a:p>
        </p:txBody>
      </p:sp>
      <p:sp>
        <p:nvSpPr>
          <p:cNvPr id="3" name="Subtitle 2">
            <a:extLst>
              <a:ext uri="{FF2B5EF4-FFF2-40B4-BE49-F238E27FC236}">
                <a16:creationId xmlns:a16="http://schemas.microsoft.com/office/drawing/2014/main" id="{25445BCC-363E-9D4F-839E-FEC2AB8D6B2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34701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15190-C9B0-454B-8B9B-8BF8EF9C50EF}"/>
              </a:ext>
            </a:extLst>
          </p:cNvPr>
          <p:cNvSpPr>
            <a:spLocks noGrp="1"/>
          </p:cNvSpPr>
          <p:nvPr>
            <p:ph type="title"/>
          </p:nvPr>
        </p:nvSpPr>
        <p:spPr>
          <a:xfrm>
            <a:off x="838200" y="365125"/>
            <a:ext cx="10515600" cy="954009"/>
          </a:xfrm>
        </p:spPr>
        <p:txBody>
          <a:bodyPr/>
          <a:lstStyle/>
          <a:p>
            <a:r>
              <a:rPr lang="en-US" dirty="0"/>
              <a:t>MSDS 6372 Midterm1</a:t>
            </a:r>
          </a:p>
        </p:txBody>
      </p:sp>
      <p:sp>
        <p:nvSpPr>
          <p:cNvPr id="3" name="Content Placeholder 2">
            <a:extLst>
              <a:ext uri="{FF2B5EF4-FFF2-40B4-BE49-F238E27FC236}">
                <a16:creationId xmlns:a16="http://schemas.microsoft.com/office/drawing/2014/main" id="{BD81A5FB-6712-C148-BD1C-9C8EF8894462}"/>
              </a:ext>
            </a:extLst>
          </p:cNvPr>
          <p:cNvSpPr>
            <a:spLocks noGrp="1"/>
          </p:cNvSpPr>
          <p:nvPr>
            <p:ph idx="1"/>
          </p:nvPr>
        </p:nvSpPr>
        <p:spPr>
          <a:xfrm>
            <a:off x="838200" y="1199214"/>
            <a:ext cx="10515600" cy="5538866"/>
          </a:xfrm>
        </p:spPr>
        <p:txBody>
          <a:bodyPr>
            <a:normAutofit lnSpcReduction="10000"/>
          </a:bodyPr>
          <a:lstStyle/>
          <a:p>
            <a:pPr marL="0" indent="0">
              <a:buNone/>
            </a:pPr>
            <a:r>
              <a:rPr lang="en-US" dirty="0"/>
              <a:t>Date:  June 21</a:t>
            </a:r>
            <a:r>
              <a:rPr lang="en-US" baseline="30000" dirty="0"/>
              <a:t>st</a:t>
            </a:r>
            <a:r>
              <a:rPr lang="en-US" dirty="0"/>
              <a:t> (Saturday), 2pm-5pm Central</a:t>
            </a:r>
          </a:p>
          <a:p>
            <a:pPr marL="0" indent="0">
              <a:buNone/>
            </a:pPr>
            <a:endParaRPr lang="en-US" dirty="0"/>
          </a:p>
          <a:p>
            <a:pPr marL="0" indent="0">
              <a:buNone/>
            </a:pPr>
            <a:r>
              <a:rPr lang="en-US" dirty="0"/>
              <a:t>Midterm provided in the Files Folder.  Put your responses in different color text.  Submit to the midterm section of Canvas.  </a:t>
            </a:r>
          </a:p>
          <a:p>
            <a:pPr marL="0" indent="0">
              <a:buNone/>
            </a:pPr>
            <a:endParaRPr lang="en-US" dirty="0"/>
          </a:p>
          <a:p>
            <a:pPr marL="0" indent="0">
              <a:buNone/>
            </a:pPr>
            <a:r>
              <a:rPr lang="en-US" dirty="0"/>
              <a:t>Format:  Mixture of conceptual questions (Multiple choice, short answer) and small analysis questions (short answer analysis questions).  Code and output will be given.  The focus will be on communicating what the output is saying or how you would react to the output).</a:t>
            </a:r>
          </a:p>
          <a:p>
            <a:pPr marL="0" indent="0">
              <a:buNone/>
            </a:pPr>
            <a:endParaRPr lang="en-US" dirty="0"/>
          </a:p>
          <a:p>
            <a:pPr marL="0" indent="0">
              <a:buNone/>
            </a:pPr>
            <a:r>
              <a:rPr lang="en-US" dirty="0"/>
              <a:t>Units 1,2,3,4,6, 7</a:t>
            </a:r>
          </a:p>
          <a:p>
            <a:pPr marL="971550" lvl="1" indent="-514350">
              <a:buAutoNum type="arabicPeriod"/>
            </a:pPr>
            <a:r>
              <a:rPr lang="en-US" dirty="0"/>
              <a:t>1,2,3,4 Emphasized</a:t>
            </a:r>
          </a:p>
          <a:p>
            <a:pPr marL="971550" lvl="1" indent="-514350">
              <a:buAutoNum type="arabicPeriod"/>
            </a:pPr>
            <a:r>
              <a:rPr lang="en-US" dirty="0"/>
              <a:t>6,7 much less except for specifics (see slide)</a:t>
            </a:r>
          </a:p>
        </p:txBody>
      </p:sp>
    </p:spTree>
    <p:extLst>
      <p:ext uri="{BB962C8B-B14F-4D97-AF65-F5344CB8AC3E}">
        <p14:creationId xmlns:p14="http://schemas.microsoft.com/office/powerpoint/2010/main" val="3662529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CA8FA-8AF0-6A1D-840B-5B0358045DCB}"/>
              </a:ext>
            </a:extLst>
          </p:cNvPr>
          <p:cNvSpPr>
            <a:spLocks noGrp="1"/>
          </p:cNvSpPr>
          <p:nvPr>
            <p:ph type="title"/>
          </p:nvPr>
        </p:nvSpPr>
        <p:spPr/>
        <p:txBody>
          <a:bodyPr/>
          <a:lstStyle/>
          <a:p>
            <a:r>
              <a:rPr lang="en-US" dirty="0"/>
              <a:t>Unit 1 MLR and Regression in General</a:t>
            </a:r>
          </a:p>
        </p:txBody>
      </p:sp>
      <p:sp>
        <p:nvSpPr>
          <p:cNvPr id="3" name="Content Placeholder 2">
            <a:extLst>
              <a:ext uri="{FF2B5EF4-FFF2-40B4-BE49-F238E27FC236}">
                <a16:creationId xmlns:a16="http://schemas.microsoft.com/office/drawing/2014/main" id="{B24CF9AE-0D47-2D16-B73E-18FD370D4654}"/>
              </a:ext>
            </a:extLst>
          </p:cNvPr>
          <p:cNvSpPr>
            <a:spLocks noGrp="1"/>
          </p:cNvSpPr>
          <p:nvPr>
            <p:ph idx="1"/>
          </p:nvPr>
        </p:nvSpPr>
        <p:spPr/>
        <p:txBody>
          <a:bodyPr/>
          <a:lstStyle/>
          <a:p>
            <a:r>
              <a:rPr lang="en-US" dirty="0"/>
              <a:t>Parametric versus Nonparametric Regression</a:t>
            </a:r>
          </a:p>
          <a:p>
            <a:pPr lvl="1"/>
            <a:r>
              <a:rPr lang="en-US" dirty="0"/>
              <a:t>Core difference</a:t>
            </a:r>
          </a:p>
          <a:p>
            <a:pPr lvl="1"/>
            <a:r>
              <a:rPr lang="en-US" dirty="0"/>
              <a:t>Explain versus predict  (differences)</a:t>
            </a:r>
          </a:p>
          <a:p>
            <a:r>
              <a:rPr lang="en-US" dirty="0"/>
              <a:t>Know assumptions of MLR, suggest how to fix</a:t>
            </a:r>
          </a:p>
          <a:p>
            <a:r>
              <a:rPr lang="en-US" dirty="0"/>
              <a:t>Interpret a regression coefficient for the model</a:t>
            </a:r>
          </a:p>
          <a:p>
            <a:pPr lvl="1"/>
            <a:r>
              <a:rPr lang="en-US" dirty="0"/>
              <a:t>The importance of ”adjusting” for additional variables in the model</a:t>
            </a:r>
          </a:p>
          <a:p>
            <a:pPr lvl="1"/>
            <a:r>
              <a:rPr lang="en-US" dirty="0"/>
              <a:t>Slide 28-30 of this deck</a:t>
            </a:r>
          </a:p>
          <a:p>
            <a:r>
              <a:rPr lang="en-US" dirty="0"/>
              <a:t>Know the difference between additive and nonadditive models</a:t>
            </a:r>
          </a:p>
          <a:p>
            <a:r>
              <a:rPr lang="en-US" dirty="0"/>
              <a:t>Stretch question might involve a contrast</a:t>
            </a:r>
          </a:p>
        </p:txBody>
      </p:sp>
    </p:spTree>
    <p:extLst>
      <p:ext uri="{BB962C8B-B14F-4D97-AF65-F5344CB8AC3E}">
        <p14:creationId xmlns:p14="http://schemas.microsoft.com/office/powerpoint/2010/main" val="473850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DD6A1-1362-042D-E23E-EB1F147D2BDE}"/>
              </a:ext>
            </a:extLst>
          </p:cNvPr>
          <p:cNvSpPr>
            <a:spLocks noGrp="1"/>
          </p:cNvSpPr>
          <p:nvPr>
            <p:ph type="title"/>
          </p:nvPr>
        </p:nvSpPr>
        <p:spPr/>
        <p:txBody>
          <a:bodyPr/>
          <a:lstStyle/>
          <a:p>
            <a:r>
              <a:rPr lang="en-US" dirty="0"/>
              <a:t>Unit 2 Feature Selection</a:t>
            </a:r>
          </a:p>
        </p:txBody>
      </p:sp>
      <p:sp>
        <p:nvSpPr>
          <p:cNvPr id="3" name="Content Placeholder 2">
            <a:extLst>
              <a:ext uri="{FF2B5EF4-FFF2-40B4-BE49-F238E27FC236}">
                <a16:creationId xmlns:a16="http://schemas.microsoft.com/office/drawing/2014/main" id="{7D19F19F-1DD2-6133-5823-E8CBB5F09E86}"/>
              </a:ext>
            </a:extLst>
          </p:cNvPr>
          <p:cNvSpPr>
            <a:spLocks noGrp="1"/>
          </p:cNvSpPr>
          <p:nvPr>
            <p:ph idx="1"/>
          </p:nvPr>
        </p:nvSpPr>
        <p:spPr/>
        <p:txBody>
          <a:bodyPr/>
          <a:lstStyle/>
          <a:p>
            <a:r>
              <a:rPr lang="en-US" dirty="0"/>
              <a:t>The Bias-Variance trade off</a:t>
            </a:r>
          </a:p>
          <a:p>
            <a:pPr lvl="1"/>
            <a:r>
              <a:rPr lang="en-US" dirty="0"/>
              <a:t>Know the MSE metric (difference between train MSE and validation (or CV) MSE</a:t>
            </a:r>
          </a:p>
          <a:p>
            <a:pPr lvl="1"/>
            <a:r>
              <a:rPr lang="en-US" dirty="0"/>
              <a:t>What does it mean for a model to suffer from bias? Variance?</a:t>
            </a:r>
          </a:p>
          <a:p>
            <a:pPr lvl="1"/>
            <a:r>
              <a:rPr lang="en-US" dirty="0"/>
              <a:t>Some metrics work better than others for assessing the bias-variance trade off.  Which ones?</a:t>
            </a:r>
          </a:p>
          <a:p>
            <a:pPr lvl="1"/>
            <a:endParaRPr lang="en-US" dirty="0"/>
          </a:p>
          <a:p>
            <a:r>
              <a:rPr lang="en-US" dirty="0"/>
              <a:t>K fold CV</a:t>
            </a:r>
          </a:p>
          <a:p>
            <a:pPr lvl="1"/>
            <a:r>
              <a:rPr lang="en-US" dirty="0"/>
              <a:t>Basic steps to perform cross validation</a:t>
            </a:r>
          </a:p>
          <a:p>
            <a:pPr lvl="1"/>
            <a:r>
              <a:rPr lang="en-US" dirty="0"/>
              <a:t>What are some pros of CV MSE over Validation MSE</a:t>
            </a:r>
          </a:p>
          <a:p>
            <a:pPr lvl="1"/>
            <a:endParaRPr lang="en-US" dirty="0"/>
          </a:p>
          <a:p>
            <a:pPr lvl="1"/>
            <a:endParaRPr lang="en-US" dirty="0"/>
          </a:p>
        </p:txBody>
      </p:sp>
    </p:spTree>
    <p:extLst>
      <p:ext uri="{BB962C8B-B14F-4D97-AF65-F5344CB8AC3E}">
        <p14:creationId xmlns:p14="http://schemas.microsoft.com/office/powerpoint/2010/main" val="59735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9E4137-84BC-268B-8CC5-6A140CFB6D45}"/>
              </a:ext>
            </a:extLst>
          </p:cNvPr>
          <p:cNvSpPr>
            <a:spLocks noGrp="1"/>
          </p:cNvSpPr>
          <p:nvPr>
            <p:ph idx="1"/>
          </p:nvPr>
        </p:nvSpPr>
        <p:spPr>
          <a:xfrm>
            <a:off x="838200" y="1026728"/>
            <a:ext cx="10515600" cy="4351338"/>
          </a:xfrm>
        </p:spPr>
        <p:txBody>
          <a:bodyPr/>
          <a:lstStyle/>
          <a:p>
            <a:pPr marL="342900" marR="0" lvl="0" indent="-342900">
              <a:spcBef>
                <a:spcPts val="0"/>
              </a:spcBef>
              <a:spcAft>
                <a:spcPts val="0"/>
              </a:spcAft>
              <a:buSzPts val="1200"/>
              <a:buFont typeface="+mj-lt"/>
              <a:buAutoNum type="arabicPeriod" startAt="2"/>
            </a:pPr>
            <a:r>
              <a:rPr lang="en-US" dirty="0">
                <a:effectLst/>
                <a:latin typeface="Times New Roman" panose="02020603050405020304" pitchFamily="18" charset="0"/>
                <a:ea typeface="Times New Roman" panose="02020603050405020304" pitchFamily="18" charset="0"/>
              </a:rPr>
              <a:t>Making predictions on a validation set or via cross validation is useful for</a:t>
            </a:r>
          </a:p>
          <a:p>
            <a:pPr marL="742950" marR="0" lvl="1" indent="-285750">
              <a:spcBef>
                <a:spcPts val="0"/>
              </a:spcBef>
              <a:spcAft>
                <a:spcPts val="0"/>
              </a:spcAft>
              <a:buFont typeface="+mj-lt"/>
              <a:buAutoNum type="alphaLcPeriod"/>
            </a:pPr>
            <a:r>
              <a:rPr lang="en-US" sz="2800" dirty="0">
                <a:effectLst/>
                <a:latin typeface="Times New Roman" panose="02020603050405020304" pitchFamily="18" charset="0"/>
                <a:ea typeface="Times New Roman" panose="02020603050405020304" pitchFamily="18" charset="0"/>
              </a:rPr>
              <a:t>Making practical decisions on if your model predicts well enough or not on a future data set</a:t>
            </a:r>
          </a:p>
          <a:p>
            <a:pPr marL="742950" marR="0" lvl="1" indent="-285750">
              <a:spcBef>
                <a:spcPts val="0"/>
              </a:spcBef>
              <a:spcAft>
                <a:spcPts val="0"/>
              </a:spcAft>
              <a:buFont typeface="+mj-lt"/>
              <a:buAutoNum type="alphaLcPeriod"/>
            </a:pPr>
            <a:r>
              <a:rPr lang="en-US" sz="2800" dirty="0">
                <a:effectLst/>
                <a:latin typeface="Times New Roman" panose="02020603050405020304" pitchFamily="18" charset="0"/>
                <a:ea typeface="Times New Roman" panose="02020603050405020304" pitchFamily="18" charset="0"/>
              </a:rPr>
              <a:t>Determining how many predictors should be included in the model</a:t>
            </a:r>
          </a:p>
          <a:p>
            <a:pPr marL="742950" marR="0" lvl="1" indent="-285750">
              <a:spcBef>
                <a:spcPts val="0"/>
              </a:spcBef>
              <a:spcAft>
                <a:spcPts val="0"/>
              </a:spcAft>
              <a:buFont typeface="+mj-lt"/>
              <a:buAutoNum type="alphaLcPeriod"/>
            </a:pPr>
            <a:r>
              <a:rPr lang="en-US" sz="2800" dirty="0">
                <a:effectLst/>
                <a:latin typeface="Times New Roman" panose="02020603050405020304" pitchFamily="18" charset="0"/>
                <a:ea typeface="Times New Roman" panose="02020603050405020304" pitchFamily="18" charset="0"/>
              </a:rPr>
              <a:t>Optimizing additional parameters in a model such as the penalty and mixing terms in GLM-net</a:t>
            </a:r>
          </a:p>
          <a:p>
            <a:pPr marL="742950" marR="0" lvl="1" indent="-285750">
              <a:spcBef>
                <a:spcPts val="0"/>
              </a:spcBef>
              <a:spcAft>
                <a:spcPts val="0"/>
              </a:spcAft>
              <a:buFont typeface="+mj-lt"/>
              <a:buAutoNum type="alphaLcPeriod"/>
            </a:pPr>
            <a:r>
              <a:rPr lang="en-US" sz="2800" dirty="0">
                <a:effectLst/>
                <a:latin typeface="Times New Roman" panose="02020603050405020304" pitchFamily="18" charset="0"/>
                <a:ea typeface="Times New Roman" panose="02020603050405020304" pitchFamily="18" charset="0"/>
              </a:rPr>
              <a:t>All of the above</a:t>
            </a:r>
          </a:p>
          <a:p>
            <a:pPr marL="742950" marR="0" lvl="1" indent="-285750">
              <a:spcBef>
                <a:spcPts val="0"/>
              </a:spcBef>
              <a:spcAft>
                <a:spcPts val="0"/>
              </a:spcAft>
              <a:buFont typeface="+mj-lt"/>
              <a:buAutoNum type="alphaLcPeriod"/>
            </a:pPr>
            <a:r>
              <a:rPr lang="en-US" sz="2800" dirty="0">
                <a:effectLst/>
                <a:latin typeface="Times New Roman" panose="02020603050405020304" pitchFamily="18" charset="0"/>
                <a:ea typeface="Times New Roman" panose="02020603050405020304" pitchFamily="18" charset="0"/>
              </a:rPr>
              <a:t>Only A and B</a:t>
            </a:r>
          </a:p>
          <a:p>
            <a:pPr marL="914400" marR="0">
              <a:spcBef>
                <a:spcPts val="0"/>
              </a:spcBef>
              <a:spcAft>
                <a:spcPts val="0"/>
              </a:spcAft>
            </a:pPr>
            <a:r>
              <a:rPr lang="en-US" sz="1200" dirty="0">
                <a:effectLst/>
                <a:latin typeface="Times New Roman" panose="02020603050405020304" pitchFamily="18" charset="0"/>
                <a:ea typeface="Times New Roman" panose="02020603050405020304" pitchFamily="18" charset="0"/>
              </a:rPr>
              <a:t> </a:t>
            </a:r>
          </a:p>
          <a:p>
            <a:endParaRPr lang="en-US" dirty="0"/>
          </a:p>
        </p:txBody>
      </p:sp>
    </p:spTree>
    <p:extLst>
      <p:ext uri="{BB962C8B-B14F-4D97-AF65-F5344CB8AC3E}">
        <p14:creationId xmlns:p14="http://schemas.microsoft.com/office/powerpoint/2010/main" val="35304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DD6A1-1362-042D-E23E-EB1F147D2BDE}"/>
              </a:ext>
            </a:extLst>
          </p:cNvPr>
          <p:cNvSpPr>
            <a:spLocks noGrp="1"/>
          </p:cNvSpPr>
          <p:nvPr>
            <p:ph type="title"/>
          </p:nvPr>
        </p:nvSpPr>
        <p:spPr/>
        <p:txBody>
          <a:bodyPr/>
          <a:lstStyle/>
          <a:p>
            <a:r>
              <a:rPr lang="en-US" dirty="0"/>
              <a:t>Unit 2 Feature Selection</a:t>
            </a:r>
          </a:p>
        </p:txBody>
      </p:sp>
      <p:sp>
        <p:nvSpPr>
          <p:cNvPr id="3" name="Content Placeholder 2">
            <a:extLst>
              <a:ext uri="{FF2B5EF4-FFF2-40B4-BE49-F238E27FC236}">
                <a16:creationId xmlns:a16="http://schemas.microsoft.com/office/drawing/2014/main" id="{7D19F19F-1DD2-6133-5823-E8CBB5F09E86}"/>
              </a:ext>
            </a:extLst>
          </p:cNvPr>
          <p:cNvSpPr>
            <a:spLocks noGrp="1"/>
          </p:cNvSpPr>
          <p:nvPr>
            <p:ph idx="1"/>
          </p:nvPr>
        </p:nvSpPr>
        <p:spPr/>
        <p:txBody>
          <a:bodyPr/>
          <a:lstStyle/>
          <a:p>
            <a:r>
              <a:rPr lang="en-US" dirty="0"/>
              <a:t>What is the main function of feature selection?</a:t>
            </a:r>
          </a:p>
          <a:p>
            <a:r>
              <a:rPr lang="en-US" dirty="0"/>
              <a:t>How does the penalty in penalized regression work</a:t>
            </a:r>
          </a:p>
          <a:p>
            <a:pPr lvl="1"/>
            <a:r>
              <a:rPr lang="en-US" dirty="0"/>
              <a:t>What is the different between GLM-net, LASSO, and Ridge</a:t>
            </a:r>
          </a:p>
          <a:p>
            <a:pPr lvl="1"/>
            <a:r>
              <a:rPr lang="en-US" dirty="0"/>
              <a:t>Which penalized regression technique actually forces some coefficients to be 0?</a:t>
            </a:r>
          </a:p>
          <a:p>
            <a:pPr lvl="1"/>
            <a:endParaRPr lang="en-US" dirty="0"/>
          </a:p>
          <a:p>
            <a:r>
              <a:rPr lang="en-US" dirty="0"/>
              <a:t>Why can we NOT simply run a feature selection tool and just assume that the model it “spits out” is good to go?</a:t>
            </a:r>
          </a:p>
          <a:p>
            <a:pPr lvl="1"/>
            <a:endParaRPr lang="en-US" dirty="0"/>
          </a:p>
        </p:txBody>
      </p:sp>
    </p:spTree>
    <p:extLst>
      <p:ext uri="{BB962C8B-B14F-4D97-AF65-F5344CB8AC3E}">
        <p14:creationId xmlns:p14="http://schemas.microsoft.com/office/powerpoint/2010/main" val="993849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83795-2AEB-6335-ECB3-9201045D55FA}"/>
              </a:ext>
            </a:extLst>
          </p:cNvPr>
          <p:cNvSpPr>
            <a:spLocks noGrp="1"/>
          </p:cNvSpPr>
          <p:nvPr>
            <p:ph type="title"/>
          </p:nvPr>
        </p:nvSpPr>
        <p:spPr/>
        <p:txBody>
          <a:bodyPr/>
          <a:lstStyle/>
          <a:p>
            <a:r>
              <a:rPr lang="en-US" dirty="0"/>
              <a:t>Unit 3 Bootstrap</a:t>
            </a:r>
          </a:p>
        </p:txBody>
      </p:sp>
      <p:sp>
        <p:nvSpPr>
          <p:cNvPr id="3" name="Content Placeholder 2">
            <a:extLst>
              <a:ext uri="{FF2B5EF4-FFF2-40B4-BE49-F238E27FC236}">
                <a16:creationId xmlns:a16="http://schemas.microsoft.com/office/drawing/2014/main" id="{B726540C-9F72-5EB2-6726-A5EA1207E3E3}"/>
              </a:ext>
            </a:extLst>
          </p:cNvPr>
          <p:cNvSpPr>
            <a:spLocks noGrp="1"/>
          </p:cNvSpPr>
          <p:nvPr>
            <p:ph idx="1"/>
          </p:nvPr>
        </p:nvSpPr>
        <p:spPr/>
        <p:txBody>
          <a:bodyPr/>
          <a:lstStyle/>
          <a:p>
            <a:r>
              <a:rPr lang="en-US" dirty="0"/>
              <a:t>What main statistical problems does the bootstrap procedure address in the MLR setting?</a:t>
            </a:r>
          </a:p>
          <a:p>
            <a:r>
              <a:rPr lang="en-US" dirty="0"/>
              <a:t>How does one obtain a bootstrap sample?</a:t>
            </a:r>
          </a:p>
          <a:p>
            <a:r>
              <a:rPr lang="en-US" dirty="0"/>
              <a:t>How does one obtain a bootstrap confidence interval?</a:t>
            </a:r>
          </a:p>
          <a:p>
            <a:endParaRPr lang="en-US" dirty="0"/>
          </a:p>
          <a:p>
            <a:r>
              <a:rPr lang="en-US" dirty="0"/>
              <a:t>How is the bootstrap procedure utilized in bagging a predictive model?  </a:t>
            </a:r>
          </a:p>
        </p:txBody>
      </p:sp>
    </p:spTree>
    <p:extLst>
      <p:ext uri="{BB962C8B-B14F-4D97-AF65-F5344CB8AC3E}">
        <p14:creationId xmlns:p14="http://schemas.microsoft.com/office/powerpoint/2010/main" val="1332117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ECE8A-AE5F-BC09-769E-8AE38FC03EFE}"/>
              </a:ext>
            </a:extLst>
          </p:cNvPr>
          <p:cNvSpPr>
            <a:spLocks noGrp="1"/>
          </p:cNvSpPr>
          <p:nvPr>
            <p:ph type="title"/>
          </p:nvPr>
        </p:nvSpPr>
        <p:spPr/>
        <p:txBody>
          <a:bodyPr/>
          <a:lstStyle/>
          <a:p>
            <a:r>
              <a:rPr lang="en-US" dirty="0"/>
              <a:t>Unit 4 Communication</a:t>
            </a:r>
          </a:p>
        </p:txBody>
      </p:sp>
      <p:sp>
        <p:nvSpPr>
          <p:cNvPr id="3" name="Content Placeholder 2">
            <a:extLst>
              <a:ext uri="{FF2B5EF4-FFF2-40B4-BE49-F238E27FC236}">
                <a16:creationId xmlns:a16="http://schemas.microsoft.com/office/drawing/2014/main" id="{5E0AB8BF-7C41-31F7-0C5F-BDE31022514D}"/>
              </a:ext>
            </a:extLst>
          </p:cNvPr>
          <p:cNvSpPr>
            <a:spLocks noGrp="1"/>
          </p:cNvSpPr>
          <p:nvPr>
            <p:ph idx="1"/>
          </p:nvPr>
        </p:nvSpPr>
        <p:spPr/>
        <p:txBody>
          <a:bodyPr/>
          <a:lstStyle/>
          <a:p>
            <a:r>
              <a:rPr lang="en-US" dirty="0"/>
              <a:t>Scenario/consulting question</a:t>
            </a:r>
          </a:p>
          <a:p>
            <a:pPr lvl="1"/>
            <a:r>
              <a:rPr lang="en-US" dirty="0"/>
              <a:t>Using the right tool (MLR, Feature selection, </a:t>
            </a:r>
            <a:r>
              <a:rPr lang="en-US" dirty="0" err="1"/>
              <a:t>Boostrapped</a:t>
            </a:r>
            <a:r>
              <a:rPr lang="en-US" dirty="0"/>
              <a:t> MLR, nonparametric tool, repeated measures)</a:t>
            </a:r>
          </a:p>
          <a:p>
            <a:pPr lvl="1"/>
            <a:r>
              <a:rPr lang="en-US" dirty="0"/>
              <a:t>I give you a scenario, you give a suggested approach to deal with the scenario</a:t>
            </a:r>
          </a:p>
          <a:p>
            <a:pPr marL="457200" lvl="1" indent="0">
              <a:buNone/>
            </a:pPr>
            <a:endParaRPr lang="en-US" dirty="0"/>
          </a:p>
          <a:p>
            <a:r>
              <a:rPr lang="en-US" dirty="0"/>
              <a:t>No questions on missing data or imputation</a:t>
            </a:r>
          </a:p>
          <a:p>
            <a:endParaRPr lang="en-US" dirty="0"/>
          </a:p>
          <a:p>
            <a:r>
              <a:rPr lang="en-US" dirty="0"/>
              <a:t>Be able to interpret the MSE or determine an MSE that you would want to achieve to reach a particular goal (</a:t>
            </a:r>
            <a:r>
              <a:rPr lang="en-US" dirty="0" err="1"/>
              <a:t>prelive</a:t>
            </a:r>
            <a:r>
              <a:rPr lang="en-US" dirty="0"/>
              <a:t> question)</a:t>
            </a:r>
          </a:p>
          <a:p>
            <a:endParaRPr lang="en-US" dirty="0"/>
          </a:p>
        </p:txBody>
      </p:sp>
    </p:spTree>
    <p:extLst>
      <p:ext uri="{BB962C8B-B14F-4D97-AF65-F5344CB8AC3E}">
        <p14:creationId xmlns:p14="http://schemas.microsoft.com/office/powerpoint/2010/main" val="3442810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C979F-65F5-3D2F-A4E0-DF220B62606F}"/>
              </a:ext>
            </a:extLst>
          </p:cNvPr>
          <p:cNvSpPr>
            <a:spLocks noGrp="1"/>
          </p:cNvSpPr>
          <p:nvPr>
            <p:ph type="title"/>
          </p:nvPr>
        </p:nvSpPr>
        <p:spPr/>
        <p:txBody>
          <a:bodyPr/>
          <a:lstStyle/>
          <a:p>
            <a:r>
              <a:rPr lang="en-US" dirty="0"/>
              <a:t>Unit 6/7</a:t>
            </a:r>
          </a:p>
        </p:txBody>
      </p:sp>
      <p:sp>
        <p:nvSpPr>
          <p:cNvPr id="3" name="Content Placeholder 2">
            <a:extLst>
              <a:ext uri="{FF2B5EF4-FFF2-40B4-BE49-F238E27FC236}">
                <a16:creationId xmlns:a16="http://schemas.microsoft.com/office/drawing/2014/main" id="{6B976D2F-8829-C95A-C8ED-14A7AE9BA30F}"/>
              </a:ext>
            </a:extLst>
          </p:cNvPr>
          <p:cNvSpPr>
            <a:spLocks noGrp="1"/>
          </p:cNvSpPr>
          <p:nvPr>
            <p:ph idx="1"/>
          </p:nvPr>
        </p:nvSpPr>
        <p:spPr/>
        <p:txBody>
          <a:bodyPr>
            <a:normAutofit fontScale="92500" lnSpcReduction="20000"/>
          </a:bodyPr>
          <a:lstStyle/>
          <a:p>
            <a:r>
              <a:rPr lang="en-US" dirty="0"/>
              <a:t>Be able to obtain information from a covariance matrix</a:t>
            </a:r>
          </a:p>
          <a:p>
            <a:r>
              <a:rPr lang="en-US" dirty="0"/>
              <a:t>Know the basic idea of the Multivariate Normal </a:t>
            </a:r>
          </a:p>
          <a:p>
            <a:r>
              <a:rPr lang="en-US" dirty="0"/>
              <a:t>Be able to determine a matrix so that when multiplied by a data set you create a new data set based on combinations of the original variables (HW)</a:t>
            </a:r>
          </a:p>
          <a:p>
            <a:endParaRPr lang="en-US" dirty="0"/>
          </a:p>
          <a:p>
            <a:r>
              <a:rPr lang="en-US" dirty="0"/>
              <a:t>What settings would constitute running a repeated measures (GLS) model?</a:t>
            </a:r>
          </a:p>
          <a:p>
            <a:pPr lvl="1"/>
            <a:r>
              <a:rPr lang="en-US" dirty="0"/>
              <a:t>What is the main issue of applying an MLR model when a GLS model should be conducted?</a:t>
            </a:r>
          </a:p>
          <a:p>
            <a:pPr lvl="1"/>
            <a:r>
              <a:rPr lang="en-US" dirty="0"/>
              <a:t>What is the role of the correlation function (structure) and using AIC, BIC for model fits</a:t>
            </a:r>
          </a:p>
          <a:p>
            <a:pPr lvl="1"/>
            <a:r>
              <a:rPr lang="en-US" dirty="0"/>
              <a:t>GLS is essentially running MLR, what is the main difference in statistical output when there is strong dependence among the MLR </a:t>
            </a:r>
            <a:r>
              <a:rPr lang="en-US" dirty="0" err="1"/>
              <a:t>errrors</a:t>
            </a:r>
            <a:r>
              <a:rPr lang="en-US" dirty="0"/>
              <a:t> and we account for that using GLS?</a:t>
            </a:r>
          </a:p>
        </p:txBody>
      </p:sp>
    </p:spTree>
    <p:extLst>
      <p:ext uri="{BB962C8B-B14F-4D97-AF65-F5344CB8AC3E}">
        <p14:creationId xmlns:p14="http://schemas.microsoft.com/office/powerpoint/2010/main" val="2063610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1DAEB7-37D7-8DCA-0768-109D904DD2A8}"/>
              </a:ext>
            </a:extLst>
          </p:cNvPr>
          <p:cNvSpPr>
            <a:spLocks noGrp="1"/>
          </p:cNvSpPr>
          <p:nvPr>
            <p:ph type="title"/>
          </p:nvPr>
        </p:nvSpPr>
        <p:spPr/>
        <p:txBody>
          <a:bodyPr/>
          <a:lstStyle/>
          <a:p>
            <a:r>
              <a:rPr lang="en-US" dirty="0"/>
              <a:t>Example Exam Questions</a:t>
            </a:r>
          </a:p>
        </p:txBody>
      </p:sp>
      <p:sp>
        <p:nvSpPr>
          <p:cNvPr id="5" name="Text Placeholder 4">
            <a:extLst>
              <a:ext uri="{FF2B5EF4-FFF2-40B4-BE49-F238E27FC236}">
                <a16:creationId xmlns:a16="http://schemas.microsoft.com/office/drawing/2014/main" id="{EA0A8481-EF74-3C63-2323-73B564ED939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00172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of a graph with a line&#10;&#10;Description automatically generated">
            <a:extLst>
              <a:ext uri="{FF2B5EF4-FFF2-40B4-BE49-F238E27FC236}">
                <a16:creationId xmlns:a16="http://schemas.microsoft.com/office/drawing/2014/main" id="{C2D41A9F-3F9F-D68B-ED2D-CB8C8FF9B0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1241" y="2086793"/>
            <a:ext cx="4769518" cy="3770438"/>
          </a:xfrm>
          <a:prstGeom prst="rect">
            <a:avLst/>
          </a:prstGeom>
        </p:spPr>
      </p:pic>
      <p:sp>
        <p:nvSpPr>
          <p:cNvPr id="5" name="Content Placeholder 4">
            <a:extLst>
              <a:ext uri="{FF2B5EF4-FFF2-40B4-BE49-F238E27FC236}">
                <a16:creationId xmlns:a16="http://schemas.microsoft.com/office/drawing/2014/main" id="{73828A21-D207-05A7-8BB0-0792963CB517}"/>
              </a:ext>
            </a:extLst>
          </p:cNvPr>
          <p:cNvSpPr>
            <a:spLocks noGrp="1"/>
          </p:cNvSpPr>
          <p:nvPr>
            <p:ph idx="1"/>
          </p:nvPr>
        </p:nvSpPr>
        <p:spPr>
          <a:xfrm>
            <a:off x="838200" y="164123"/>
            <a:ext cx="10515600" cy="6012840"/>
          </a:xfrm>
        </p:spPr>
        <p:txBody>
          <a:bodyPr/>
          <a:lstStyle/>
          <a:p>
            <a:pPr marL="0" indent="0">
              <a:buNone/>
            </a:pPr>
            <a:endParaRPr lang="en-US" sz="1800" dirty="0">
              <a:solidFill>
                <a:srgbClr val="000000"/>
              </a:solidFill>
              <a:effectLst/>
              <a:latin typeface="Times New Roman" panose="02020603050405020304" pitchFamily="18" charset="0"/>
              <a:ea typeface="Times New Roman" panose="02020603050405020304" pitchFamily="18" charset="0"/>
            </a:endParaRPr>
          </a:p>
          <a:p>
            <a:pPr marL="0" indent="0">
              <a:buNone/>
            </a:pPr>
            <a:r>
              <a:rPr lang="en-US" sz="1800" dirty="0">
                <a:solidFill>
                  <a:srgbClr val="000000"/>
                </a:solidFill>
                <a:effectLst/>
                <a:latin typeface="Times New Roman" panose="02020603050405020304" pitchFamily="18" charset="0"/>
                <a:ea typeface="Times New Roman" panose="02020603050405020304" pitchFamily="18" charset="0"/>
              </a:rPr>
              <a:t>Suppose we are modeling a continuous response with a single predictor variable which is highly nonlinear.  Suppose that the true relationship is a polynomial of degree 5.  Use the plot below to graph out what the hypothetical MSE curve looks like as a function of the degree of polynomial fit using multiple linear regression.  Sketch a curve for both the training and validation MSE.  Make sure you distinguish the two curves somehow (add a second graph, different colors, dotted/solid line, </a:t>
            </a:r>
            <a:r>
              <a:rPr lang="en-US" sz="1800" dirty="0" err="1">
                <a:solidFill>
                  <a:srgbClr val="000000"/>
                </a:solidFill>
                <a:effectLst/>
                <a:latin typeface="Times New Roman" panose="02020603050405020304" pitchFamily="18" charset="0"/>
                <a:ea typeface="Times New Roman" panose="02020603050405020304" pitchFamily="18" charset="0"/>
              </a:rPr>
              <a:t>etc</a:t>
            </a:r>
            <a:r>
              <a:rPr lang="en-US" sz="1800" dirty="0">
                <a:solidFill>
                  <a:srgbClr val="000000"/>
                </a:solidFill>
                <a:effectLst/>
                <a:latin typeface="Times New Roman" panose="02020603050405020304" pitchFamily="18" charset="0"/>
                <a:ea typeface="Times New Roman" panose="02020603050405020304" pitchFamily="18" charset="0"/>
              </a:rPr>
              <a:t>).</a:t>
            </a:r>
          </a:p>
          <a:p>
            <a:endParaRPr lang="en-US" dirty="0"/>
          </a:p>
        </p:txBody>
      </p:sp>
    </p:spTree>
    <p:extLst>
      <p:ext uri="{BB962C8B-B14F-4D97-AF65-F5344CB8AC3E}">
        <p14:creationId xmlns:p14="http://schemas.microsoft.com/office/powerpoint/2010/main" val="2655521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paper&#10;&#10;Description automatically generated">
            <a:extLst>
              <a:ext uri="{FF2B5EF4-FFF2-40B4-BE49-F238E27FC236}">
                <a16:creationId xmlns:a16="http://schemas.microsoft.com/office/drawing/2014/main" id="{3A7766C9-D8A6-4296-D884-36846627C6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27243" y="365125"/>
            <a:ext cx="6937513" cy="6239575"/>
          </a:xfrm>
        </p:spPr>
      </p:pic>
    </p:spTree>
    <p:extLst>
      <p:ext uri="{BB962C8B-B14F-4D97-AF65-F5344CB8AC3E}">
        <p14:creationId xmlns:p14="http://schemas.microsoft.com/office/powerpoint/2010/main" val="560561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7FBB6D9-C0B1-8991-E43F-029BDD1EC433}"/>
              </a:ext>
            </a:extLst>
          </p:cNvPr>
          <p:cNvPicPr>
            <a:picLocks noChangeAspect="1"/>
          </p:cNvPicPr>
          <p:nvPr/>
        </p:nvPicPr>
        <p:blipFill>
          <a:blip r:embed="rId2"/>
          <a:stretch>
            <a:fillRect/>
          </a:stretch>
        </p:blipFill>
        <p:spPr>
          <a:xfrm>
            <a:off x="765463" y="572653"/>
            <a:ext cx="9646227" cy="5359015"/>
          </a:xfrm>
          <a:prstGeom prst="rect">
            <a:avLst/>
          </a:prstGeom>
        </p:spPr>
      </p:pic>
    </p:spTree>
    <p:extLst>
      <p:ext uri="{BB962C8B-B14F-4D97-AF65-F5344CB8AC3E}">
        <p14:creationId xmlns:p14="http://schemas.microsoft.com/office/powerpoint/2010/main" val="968166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0E18901-7C36-D5A7-586B-4405435A6B9B}"/>
              </a:ext>
            </a:extLst>
          </p:cNvPr>
          <p:cNvGraphicFramePr>
            <a:graphicFrameLocks noGrp="1"/>
          </p:cNvGraphicFramePr>
          <p:nvPr>
            <p:ph idx="1"/>
            <p:extLst>
              <p:ext uri="{D42A27DB-BD31-4B8C-83A1-F6EECF244321}">
                <p14:modId xmlns:p14="http://schemas.microsoft.com/office/powerpoint/2010/main" val="2656557706"/>
              </p:ext>
            </p:extLst>
          </p:nvPr>
        </p:nvGraphicFramePr>
        <p:xfrm>
          <a:off x="2387828" y="3013295"/>
          <a:ext cx="5720748" cy="2110033"/>
        </p:xfrm>
        <a:graphic>
          <a:graphicData uri="http://schemas.openxmlformats.org/drawingml/2006/table">
            <a:tbl>
              <a:tblPr firstRow="1" bandRow="1">
                <a:tableStyleId>{5C22544A-7EE6-4342-B048-85BDC9FD1C3A}</a:tableStyleId>
              </a:tblPr>
              <a:tblGrid>
                <a:gridCol w="1498291">
                  <a:extLst>
                    <a:ext uri="{9D8B030D-6E8A-4147-A177-3AD203B41FA5}">
                      <a16:colId xmlns:a16="http://schemas.microsoft.com/office/drawing/2014/main" val="3071591968"/>
                    </a:ext>
                  </a:extLst>
                </a:gridCol>
                <a:gridCol w="1491481">
                  <a:extLst>
                    <a:ext uri="{9D8B030D-6E8A-4147-A177-3AD203B41FA5}">
                      <a16:colId xmlns:a16="http://schemas.microsoft.com/office/drawing/2014/main" val="2422568518"/>
                    </a:ext>
                  </a:extLst>
                </a:gridCol>
                <a:gridCol w="1353002">
                  <a:extLst>
                    <a:ext uri="{9D8B030D-6E8A-4147-A177-3AD203B41FA5}">
                      <a16:colId xmlns:a16="http://schemas.microsoft.com/office/drawing/2014/main" val="4216539018"/>
                    </a:ext>
                  </a:extLst>
                </a:gridCol>
                <a:gridCol w="1377974">
                  <a:extLst>
                    <a:ext uri="{9D8B030D-6E8A-4147-A177-3AD203B41FA5}">
                      <a16:colId xmlns:a16="http://schemas.microsoft.com/office/drawing/2014/main" val="3462245694"/>
                    </a:ext>
                  </a:extLst>
                </a:gridCol>
              </a:tblGrid>
              <a:tr h="422161">
                <a:tc>
                  <a:txBody>
                    <a:bodyPr/>
                    <a:lstStyle/>
                    <a:p>
                      <a:pPr>
                        <a:lnSpc>
                          <a:spcPct val="107000"/>
                        </a:lnSpc>
                      </a:pPr>
                      <a:endParaRPr lang="en-US" sz="1800" dirty="0">
                        <a:effectLst/>
                        <a:latin typeface="Calibri" panose="020F0502020204030204" pitchFamily="34" charset="0"/>
                        <a:cs typeface="Times New Roman" panose="02020603050405020304" pitchFamily="18" charset="0"/>
                      </a:endParaRPr>
                    </a:p>
                  </a:txBody>
                  <a:tcPr/>
                </a:tc>
                <a:tc>
                  <a:txBody>
                    <a:bodyPr/>
                    <a:lstStyle/>
                    <a:p>
                      <a:pPr marL="0" marR="0" algn="ctr">
                        <a:lnSpc>
                          <a:spcPct val="107000"/>
                        </a:lnSpc>
                        <a:spcBef>
                          <a:spcPts val="0"/>
                        </a:spcBef>
                        <a:spcAft>
                          <a:spcPts val="0"/>
                        </a:spcAft>
                      </a:pPr>
                      <a:r>
                        <a:rPr lang="en-US" sz="1800">
                          <a:effectLst/>
                        </a:rPr>
                        <a:t>Estimate</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a:tc>
                <a:tc>
                  <a:txBody>
                    <a:bodyPr/>
                    <a:lstStyle/>
                    <a:p>
                      <a:pPr marL="0" marR="0" algn="ctr">
                        <a:lnSpc>
                          <a:spcPct val="107000"/>
                        </a:lnSpc>
                        <a:spcBef>
                          <a:spcPts val="0"/>
                        </a:spcBef>
                        <a:spcAft>
                          <a:spcPts val="0"/>
                        </a:spcAft>
                      </a:pPr>
                      <a:r>
                        <a:rPr lang="en-US" sz="1800">
                          <a:effectLst/>
                        </a:rPr>
                        <a:t>Std. Error</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a:tc>
                <a:tc>
                  <a:txBody>
                    <a:bodyPr/>
                    <a:lstStyle/>
                    <a:p>
                      <a:pPr marL="0" marR="0" algn="ctr">
                        <a:lnSpc>
                          <a:spcPct val="107000"/>
                        </a:lnSpc>
                        <a:spcBef>
                          <a:spcPts val="0"/>
                        </a:spcBef>
                        <a:spcAft>
                          <a:spcPts val="0"/>
                        </a:spcAft>
                      </a:pPr>
                      <a:r>
                        <a:rPr lang="en-US" sz="1800">
                          <a:effectLst/>
                        </a:rPr>
                        <a:t>P-value</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92266895"/>
                  </a:ext>
                </a:extLst>
              </a:tr>
              <a:tr h="719896">
                <a:tc>
                  <a:txBody>
                    <a:bodyPr/>
                    <a:lstStyle/>
                    <a:p>
                      <a:pPr marL="0" marR="0" algn="ctr">
                        <a:lnSpc>
                          <a:spcPct val="107000"/>
                        </a:lnSpc>
                        <a:spcBef>
                          <a:spcPts val="0"/>
                        </a:spcBef>
                        <a:spcAft>
                          <a:spcPts val="0"/>
                        </a:spcAft>
                      </a:pPr>
                      <a:r>
                        <a:rPr lang="en-US" sz="1800">
                          <a:effectLst/>
                        </a:rPr>
                        <a:t>Intercept</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a:tc>
                <a:tc>
                  <a:txBody>
                    <a:bodyPr/>
                    <a:lstStyle/>
                    <a:p>
                      <a:pPr marL="457200" marR="0">
                        <a:lnSpc>
                          <a:spcPct val="107000"/>
                        </a:lnSpc>
                        <a:spcBef>
                          <a:spcPts val="0"/>
                        </a:spcBef>
                        <a:spcAft>
                          <a:spcPts val="0"/>
                        </a:spcAft>
                      </a:pPr>
                      <a:r>
                        <a:rPr lang="en-US" sz="1800" dirty="0">
                          <a:effectLst/>
                        </a:rPr>
                        <a:t>9.23</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a:tc>
                <a:tc>
                  <a:txBody>
                    <a:bodyPr/>
                    <a:lstStyle/>
                    <a:p>
                      <a:pPr marL="457200" marR="0">
                        <a:lnSpc>
                          <a:spcPct val="107000"/>
                        </a:lnSpc>
                        <a:spcBef>
                          <a:spcPts val="0"/>
                        </a:spcBef>
                        <a:spcAft>
                          <a:spcPts val="0"/>
                        </a:spcAft>
                      </a:pPr>
                      <a:r>
                        <a:rPr lang="en-US" sz="1800" dirty="0">
                          <a:effectLst/>
                        </a:rPr>
                        <a:t>0.70419</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a:tc>
                <a:tc>
                  <a:txBody>
                    <a:bodyPr/>
                    <a:lstStyle/>
                    <a:p>
                      <a:pPr marL="457200" marR="0">
                        <a:lnSpc>
                          <a:spcPct val="107000"/>
                        </a:lnSpc>
                        <a:spcBef>
                          <a:spcPts val="0"/>
                        </a:spcBef>
                        <a:spcAft>
                          <a:spcPts val="0"/>
                        </a:spcAft>
                      </a:pPr>
                      <a:r>
                        <a:rPr lang="en-US" sz="1800">
                          <a:effectLst/>
                        </a:rPr>
                        <a:t>&lt;.001</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13824328"/>
                  </a:ext>
                </a:extLst>
              </a:tr>
              <a:tr h="545815">
                <a:tc>
                  <a:txBody>
                    <a:bodyPr/>
                    <a:lstStyle/>
                    <a:p>
                      <a:pPr marL="0" marR="0" algn="ctr">
                        <a:lnSpc>
                          <a:spcPct val="107000"/>
                        </a:lnSpc>
                        <a:spcBef>
                          <a:spcPts val="0"/>
                        </a:spcBef>
                        <a:spcAft>
                          <a:spcPts val="0"/>
                        </a:spcAft>
                      </a:pPr>
                      <a:r>
                        <a:rPr lang="en-US" sz="1800">
                          <a:effectLst/>
                        </a:rPr>
                        <a:t>ConditionSick</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a:tc>
                <a:tc>
                  <a:txBody>
                    <a:bodyPr/>
                    <a:lstStyle/>
                    <a:p>
                      <a:pPr marL="457200" marR="0">
                        <a:lnSpc>
                          <a:spcPct val="107000"/>
                        </a:lnSpc>
                        <a:spcBef>
                          <a:spcPts val="0"/>
                        </a:spcBef>
                        <a:spcAft>
                          <a:spcPts val="0"/>
                        </a:spcAft>
                      </a:pPr>
                      <a:r>
                        <a:rPr lang="en-US" sz="1800">
                          <a:effectLst/>
                        </a:rPr>
                        <a:t>-0.67</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a:tc>
                <a:tc>
                  <a:txBody>
                    <a:bodyPr/>
                    <a:lstStyle/>
                    <a:p>
                      <a:pPr marL="457200" marR="0">
                        <a:lnSpc>
                          <a:spcPct val="107000"/>
                        </a:lnSpc>
                        <a:spcBef>
                          <a:spcPts val="0"/>
                        </a:spcBef>
                        <a:spcAft>
                          <a:spcPts val="0"/>
                        </a:spcAft>
                      </a:pPr>
                      <a:r>
                        <a:rPr lang="en-US" sz="1800" dirty="0">
                          <a:effectLst/>
                        </a:rPr>
                        <a:t>0.58</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a:tc>
                <a:tc>
                  <a:txBody>
                    <a:bodyPr/>
                    <a:lstStyle/>
                    <a:p>
                      <a:pPr marL="457200" marR="0">
                        <a:lnSpc>
                          <a:spcPct val="107000"/>
                        </a:lnSpc>
                        <a:spcBef>
                          <a:spcPts val="0"/>
                        </a:spcBef>
                        <a:spcAft>
                          <a:spcPts val="0"/>
                        </a:spcAft>
                      </a:pPr>
                      <a:r>
                        <a:rPr lang="en-US" sz="1800">
                          <a:effectLst/>
                        </a:rPr>
                        <a:t>0.254</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78978571"/>
                  </a:ext>
                </a:extLst>
              </a:tr>
              <a:tr h="422161">
                <a:tc>
                  <a:txBody>
                    <a:bodyPr/>
                    <a:lstStyle/>
                    <a:p>
                      <a:pPr marL="0" marR="0" algn="ctr">
                        <a:lnSpc>
                          <a:spcPct val="107000"/>
                        </a:lnSpc>
                        <a:spcBef>
                          <a:spcPts val="0"/>
                        </a:spcBef>
                        <a:spcAft>
                          <a:spcPts val="0"/>
                        </a:spcAft>
                      </a:pPr>
                      <a:r>
                        <a:rPr lang="en-US" sz="1800">
                          <a:effectLst/>
                        </a:rPr>
                        <a:t>Age</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a:tc>
                <a:tc>
                  <a:txBody>
                    <a:bodyPr/>
                    <a:lstStyle/>
                    <a:p>
                      <a:pPr marL="457200" marR="0">
                        <a:lnSpc>
                          <a:spcPct val="107000"/>
                        </a:lnSpc>
                        <a:spcBef>
                          <a:spcPts val="0"/>
                        </a:spcBef>
                        <a:spcAft>
                          <a:spcPts val="0"/>
                        </a:spcAft>
                      </a:pPr>
                      <a:r>
                        <a:rPr lang="en-US" sz="1800">
                          <a:effectLst/>
                        </a:rPr>
                        <a:t>0.35</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a:tc>
                <a:tc>
                  <a:txBody>
                    <a:bodyPr/>
                    <a:lstStyle/>
                    <a:p>
                      <a:pPr marL="457200" marR="0">
                        <a:lnSpc>
                          <a:spcPct val="107000"/>
                        </a:lnSpc>
                        <a:spcBef>
                          <a:spcPts val="0"/>
                        </a:spcBef>
                        <a:spcAft>
                          <a:spcPts val="0"/>
                        </a:spcAft>
                      </a:pPr>
                      <a:r>
                        <a:rPr lang="en-US" sz="1800" dirty="0">
                          <a:effectLst/>
                        </a:rPr>
                        <a:t>0.03</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a:tc>
                <a:tc>
                  <a:txBody>
                    <a:bodyPr/>
                    <a:lstStyle/>
                    <a:p>
                      <a:pPr marL="457200" marR="0">
                        <a:lnSpc>
                          <a:spcPct val="107000"/>
                        </a:lnSpc>
                        <a:spcBef>
                          <a:spcPts val="0"/>
                        </a:spcBef>
                        <a:spcAft>
                          <a:spcPts val="0"/>
                        </a:spcAft>
                      </a:pPr>
                      <a:r>
                        <a:rPr lang="en-US" sz="1800" dirty="0">
                          <a:effectLst/>
                        </a:rPr>
                        <a:t>&lt;.001</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21445988"/>
                  </a:ext>
                </a:extLst>
              </a:tr>
            </a:tbl>
          </a:graphicData>
        </a:graphic>
      </p:graphicFrame>
      <p:sp>
        <p:nvSpPr>
          <p:cNvPr id="5" name="Rectangle 1">
            <a:extLst>
              <a:ext uri="{FF2B5EF4-FFF2-40B4-BE49-F238E27FC236}">
                <a16:creationId xmlns:a16="http://schemas.microsoft.com/office/drawing/2014/main" id="{41C5EC9D-B3B2-C208-2D4C-335896F6F118}"/>
              </a:ext>
            </a:extLst>
          </p:cNvPr>
          <p:cNvSpPr>
            <a:spLocks noChangeArrowheads="1"/>
          </p:cNvSpPr>
          <p:nvPr/>
        </p:nvSpPr>
        <p:spPr bwMode="auto">
          <a:xfrm>
            <a:off x="456129" y="265276"/>
            <a:ext cx="1091482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A regression model was conducted, using a genetic variable measuring the amount of Interferon in a persons blood sample as the response.  The results are below.  The model statement is provided and the explanatory variables include Condition (sick or healthy) as well as Age.  Assuming that the results in the table were produced from a model where all the assumptions are met, provide a formal interpretation of the “</a:t>
            </a:r>
            <a:r>
              <a:rPr kumimoji="0" lang="en-US" altLang="en-US" sz="2400" b="0" i="0" u="none" strike="noStrike" cap="none" normalizeH="0" baseline="0" dirty="0" err="1">
                <a:ln>
                  <a:noFill/>
                </a:ln>
                <a:solidFill>
                  <a:srgbClr val="000000"/>
                </a:solidFill>
                <a:effectLst/>
                <a:latin typeface="Arial" panose="020B0604020202020204" pitchFamily="34" charset="0"/>
                <a:ea typeface="Calibri" panose="020F0502020204030204" pitchFamily="34" charset="0"/>
              </a:rPr>
              <a:t>ConditionSick</a:t>
            </a:r>
            <a:r>
              <a:rPr kumimoji="0" lang="en-US" altLang="en-US" sz="24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 coefficient. </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66907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CB78FA-A31B-42A9-C08C-A5F0B72F7037}"/>
              </a:ext>
            </a:extLst>
          </p:cNvPr>
          <p:cNvSpPr>
            <a:spLocks noGrp="1"/>
          </p:cNvSpPr>
          <p:nvPr>
            <p:ph idx="1"/>
          </p:nvPr>
        </p:nvSpPr>
        <p:spPr/>
        <p:txBody>
          <a:bodyPr>
            <a:normAutofit/>
          </a:bodyPr>
          <a:lstStyle/>
          <a:p>
            <a:r>
              <a:rPr lang="en-US" sz="2400" dirty="0">
                <a:effectLst/>
                <a:latin typeface="Times New Roman" panose="02020603050405020304" pitchFamily="18" charset="0"/>
                <a:ea typeface="Times New Roman" panose="02020603050405020304" pitchFamily="18" charset="0"/>
              </a:rPr>
              <a:t>A predictive modeler is not happy with his current multiple linear regression model’s prediction accuracy.  He currently is using 6 continuous predictors and 2 categorical.  These are the only variables he currently has to work with and he is using them as is. All regression coefficients are both statistically and practically significant.  Given his current standing and the current information, provide a suggestion (or suggestions) to help him possibly improve prediction accuracy.  If any of your suggestions depend on a question then communicate that as well.</a:t>
            </a:r>
          </a:p>
        </p:txBody>
      </p:sp>
    </p:spTree>
    <p:extLst>
      <p:ext uri="{BB962C8B-B14F-4D97-AF65-F5344CB8AC3E}">
        <p14:creationId xmlns:p14="http://schemas.microsoft.com/office/powerpoint/2010/main" val="1021024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E43EEC0-BAD4-FCED-E314-CC1E59D3A387}"/>
              </a:ext>
            </a:extLst>
          </p:cNvPr>
          <p:cNvPicPr>
            <a:picLocks noChangeAspect="1"/>
          </p:cNvPicPr>
          <p:nvPr/>
        </p:nvPicPr>
        <p:blipFill>
          <a:blip r:embed="rId2"/>
          <a:stretch>
            <a:fillRect/>
          </a:stretch>
        </p:blipFill>
        <p:spPr>
          <a:xfrm>
            <a:off x="151753" y="915362"/>
            <a:ext cx="7779327" cy="4637676"/>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553FF19-5838-44AA-1AC5-2BA9FC8B6087}"/>
                  </a:ext>
                </a:extLst>
              </p:cNvPr>
              <p:cNvSpPr txBox="1"/>
              <p:nvPr/>
            </p:nvSpPr>
            <p:spPr>
              <a:xfrm>
                <a:off x="6959065" y="1588168"/>
                <a:ext cx="4908884" cy="48013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𝐵</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𝐶</m:t>
                          </m:r>
                        </m:sub>
                      </m:sSub>
                    </m:oMath>
                  </m:oMathPara>
                </a14:m>
                <a:endParaRPr lang="en-US" dirty="0"/>
              </a:p>
              <a:p>
                <a:endParaRPr lang="en-US" dirty="0"/>
              </a:p>
              <a:p>
                <a:endParaRPr lang="en-US" dirty="0"/>
              </a:p>
              <a:p>
                <a:r>
                  <a:rPr lang="en-US" dirty="0"/>
                  <a:t>For Population B: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𝐵</m:t>
                        </m:r>
                      </m:sub>
                    </m:sSub>
                    <m:r>
                      <a:rPr lang="en-US" b="0" i="1" smtClean="0">
                        <a:latin typeface="Cambria Math" panose="02040503050406030204" pitchFamily="18" charset="0"/>
                      </a:rPr>
                      <m:t>=1, </m:t>
                    </m:r>
                    <m:r>
                      <a:rPr lang="en-US" b="0" i="1" smtClean="0">
                        <a:latin typeface="Cambria Math" panose="02040503050406030204" pitchFamily="18" charset="0"/>
                      </a:rPr>
                      <m:t>𝑎𝑛𝑑</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𝐶</m:t>
                        </m:r>
                      </m:sub>
                    </m:sSub>
                    <m:r>
                      <a:rPr lang="en-US" b="0" i="1" smtClean="0">
                        <a:latin typeface="Cambria Math" panose="02040503050406030204" pitchFamily="18" charset="0"/>
                      </a:rPr>
                      <m:t>=0</m:t>
                    </m:r>
                  </m:oMath>
                </a14:m>
                <a:endParaRPr lang="en-US" dirty="0"/>
              </a:p>
              <a:p>
                <a:endParaRPr lang="en-US"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1</m:t>
                          </m:r>
                        </m:sub>
                      </m:sSub>
                    </m:oMath>
                  </m:oMathPara>
                </a14:m>
                <a:endParaRPr lang="en-US" dirty="0"/>
              </a:p>
              <a:p>
                <a:endParaRPr lang="en-US" dirty="0"/>
              </a:p>
              <a:p>
                <a:r>
                  <a:rPr lang="en-US" dirty="0"/>
                  <a:t>C(1,1,0) -&gt;  </a:t>
                </a:r>
                <a14:m>
                  <m:oMath xmlns:m="http://schemas.openxmlformats.org/officeDocument/2006/math">
                    <m:r>
                      <a:rPr lang="en-US" b="0" i="0" smtClean="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1</m:t>
                        </m:r>
                        <m:r>
                          <a:rPr lang="en-US" i="1">
                            <a:latin typeface="Cambria Math" panose="02040503050406030204" pitchFamily="18" charset="0"/>
                          </a:rPr>
                          <m:t>𝛽</m:t>
                        </m:r>
                      </m:e>
                      <m:sub>
                        <m:r>
                          <a:rPr lang="en-US" i="1">
                            <a:latin typeface="Cambria Math" panose="02040503050406030204" pitchFamily="18" charset="0"/>
                          </a:rPr>
                          <m:t>1</m:t>
                        </m:r>
                      </m:sub>
                    </m:sSub>
                    <m:r>
                      <a:rPr lang="en-US" b="0" i="1" smtClean="0">
                        <a:latin typeface="Cambria Math" panose="02040503050406030204" pitchFamily="18" charset="0"/>
                      </a:rPr>
                      <m:t>+0</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2</m:t>
                        </m:r>
                      </m:sub>
                    </m:sSub>
                  </m:oMath>
                </a14:m>
                <a:endParaRPr lang="en-US" dirty="0"/>
              </a:p>
              <a:p>
                <a:endParaRPr lang="en-US" dirty="0"/>
              </a:p>
              <a:p>
                <a:r>
                  <a:rPr lang="en-US" dirty="0"/>
                  <a:t>For population C:</a:t>
                </a:r>
              </a:p>
              <a:p>
                <a:endParaRPr lang="en-US"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2</m:t>
                          </m:r>
                        </m:sub>
                      </m:sSub>
                    </m:oMath>
                  </m:oMathPara>
                </a14:m>
                <a:endParaRPr lang="en-US" dirty="0"/>
              </a:p>
              <a:p>
                <a:endParaRPr lang="en-US" dirty="0"/>
              </a:p>
              <a:p>
                <a:r>
                  <a:rPr lang="en-US" dirty="0"/>
                  <a:t>The difference 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2</m:t>
                        </m:r>
                      </m:sub>
                    </m:sSub>
                  </m:oMath>
                </a14:m>
                <a:endParaRPr lang="en-US" b="0" dirty="0"/>
              </a:p>
              <a:p>
                <a:endParaRPr lang="en-US" dirty="0"/>
              </a:p>
              <a:p>
                <a:endParaRPr lang="en-US" dirty="0"/>
              </a:p>
              <a:p>
                <a:r>
                  <a:rPr lang="en-US" dirty="0"/>
                  <a:t>C(0,1,-1)</a:t>
                </a:r>
              </a:p>
            </p:txBody>
          </p:sp>
        </mc:Choice>
        <mc:Fallback xmlns="">
          <p:sp>
            <p:nvSpPr>
              <p:cNvPr id="2" name="TextBox 1">
                <a:extLst>
                  <a:ext uri="{FF2B5EF4-FFF2-40B4-BE49-F238E27FC236}">
                    <a16:creationId xmlns:a16="http://schemas.microsoft.com/office/drawing/2014/main" id="{2553FF19-5838-44AA-1AC5-2BA9FC8B6087}"/>
                  </a:ext>
                </a:extLst>
              </p:cNvPr>
              <p:cNvSpPr txBox="1">
                <a:spLocks noRot="1" noChangeAspect="1" noMove="1" noResize="1" noEditPoints="1" noAdjustHandles="1" noChangeArrowheads="1" noChangeShapeType="1" noTextEdit="1"/>
              </p:cNvSpPr>
              <p:nvPr/>
            </p:nvSpPr>
            <p:spPr>
              <a:xfrm>
                <a:off x="6959065" y="1588168"/>
                <a:ext cx="4908884" cy="4801314"/>
              </a:xfrm>
              <a:prstGeom prst="rect">
                <a:avLst/>
              </a:prstGeom>
              <a:blipFill>
                <a:blip r:embed="rId3"/>
                <a:stretch>
                  <a:fillRect l="-1292" b="-792"/>
                </a:stretch>
              </a:blipFill>
            </p:spPr>
            <p:txBody>
              <a:bodyPr/>
              <a:lstStyle/>
              <a:p>
                <a:r>
                  <a:rPr lang="en-US">
                    <a:noFill/>
                  </a:rPr>
                  <a:t> </a:t>
                </a:r>
              </a:p>
            </p:txBody>
          </p:sp>
        </mc:Fallback>
      </mc:AlternateContent>
    </p:spTree>
    <p:extLst>
      <p:ext uri="{BB962C8B-B14F-4D97-AF65-F5344CB8AC3E}">
        <p14:creationId xmlns:p14="http://schemas.microsoft.com/office/powerpoint/2010/main" val="327103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B118F48-A5F1-DB2A-F81D-25C106ACCBBE}"/>
              </a:ext>
            </a:extLst>
          </p:cNvPr>
          <p:cNvSpPr>
            <a:spLocks noGrp="1"/>
          </p:cNvSpPr>
          <p:nvPr>
            <p:ph type="title"/>
          </p:nvPr>
        </p:nvSpPr>
        <p:spPr/>
        <p:txBody>
          <a:bodyPr/>
          <a:lstStyle/>
          <a:p>
            <a:r>
              <a:rPr lang="en-US" dirty="0"/>
              <a:t>Key </a:t>
            </a:r>
            <a:r>
              <a:rPr lang="en-US"/>
              <a:t>Slides from </a:t>
            </a:r>
            <a:r>
              <a:rPr lang="en-US" dirty="0"/>
              <a:t>Lectures</a:t>
            </a:r>
          </a:p>
        </p:txBody>
      </p:sp>
      <p:sp>
        <p:nvSpPr>
          <p:cNvPr id="5" name="Text Placeholder 4">
            <a:extLst>
              <a:ext uri="{FF2B5EF4-FFF2-40B4-BE49-F238E27FC236}">
                <a16:creationId xmlns:a16="http://schemas.microsoft.com/office/drawing/2014/main" id="{FB612B23-4847-13BA-C01B-6BCD4DC3402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47887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685C5-7CF7-21C1-9249-856BE317FCBD}"/>
              </a:ext>
            </a:extLst>
          </p:cNvPr>
          <p:cNvSpPr>
            <a:spLocks noGrp="1"/>
          </p:cNvSpPr>
          <p:nvPr>
            <p:ph type="title"/>
          </p:nvPr>
        </p:nvSpPr>
        <p:spPr/>
        <p:txBody>
          <a:bodyPr/>
          <a:lstStyle/>
          <a:p>
            <a:r>
              <a:rPr lang="en-US" dirty="0"/>
              <a:t>Unit 1</a:t>
            </a:r>
          </a:p>
        </p:txBody>
      </p:sp>
      <p:sp>
        <p:nvSpPr>
          <p:cNvPr id="3" name="Text Placeholder 2">
            <a:extLst>
              <a:ext uri="{FF2B5EF4-FFF2-40B4-BE49-F238E27FC236}">
                <a16:creationId xmlns:a16="http://schemas.microsoft.com/office/drawing/2014/main" id="{27913451-6221-771D-6E00-DE22124AF2C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05261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09E4A-791C-78BB-3B3C-6DD2ED4FC7AD}"/>
              </a:ext>
            </a:extLst>
          </p:cNvPr>
          <p:cNvSpPr>
            <a:spLocks noGrp="1"/>
          </p:cNvSpPr>
          <p:nvPr>
            <p:ph type="title"/>
          </p:nvPr>
        </p:nvSpPr>
        <p:spPr/>
        <p:txBody>
          <a:bodyPr/>
          <a:lstStyle/>
          <a:p>
            <a:r>
              <a:rPr lang="en-US" dirty="0"/>
              <a:t>A General Regression Model Structure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026C39-DA53-E155-CBB9-43F53E6FACE7}"/>
                  </a:ext>
                </a:extLst>
              </p:cNvPr>
              <p:cNvSpPr>
                <a:spLocks noGrp="1"/>
              </p:cNvSpPr>
              <p:nvPr>
                <p:ph idx="1"/>
              </p:nvPr>
            </p:nvSpPr>
            <p:spPr/>
            <p:txBody>
              <a:bodyPr>
                <a:normAutofit lnSpcReduction="10000"/>
              </a:bodyPr>
              <a:lstStyle/>
              <a:p>
                <a:pPr marL="0" indent="0">
                  <a:buNone/>
                </a:pPr>
                <a:r>
                  <a:rPr lang="en-US" sz="2800" dirty="0"/>
                  <a:t>If we observe a response </a:t>
                </a:r>
                <a14:m>
                  <m:oMath xmlns:m="http://schemas.openxmlformats.org/officeDocument/2006/math">
                    <m:r>
                      <a:rPr lang="en-US" sz="2800" b="0" i="1" smtClean="0">
                        <a:latin typeface="Cambria Math" panose="02040503050406030204" pitchFamily="18" charset="0"/>
                      </a:rPr>
                      <m:t>𝑌</m:t>
                    </m:r>
                  </m:oMath>
                </a14:m>
                <a:r>
                  <a:rPr lang="en-US" sz="2800" dirty="0"/>
                  <a:t> with </a:t>
                </a:r>
                <a14:m>
                  <m:oMath xmlns:m="http://schemas.openxmlformats.org/officeDocument/2006/math">
                    <m:r>
                      <a:rPr lang="en-US" sz="2800" b="0" i="1" smtClean="0">
                        <a:latin typeface="Cambria Math" panose="02040503050406030204" pitchFamily="18" charset="0"/>
                      </a:rPr>
                      <m:t>𝑝</m:t>
                    </m:r>
                  </m:oMath>
                </a14:m>
                <a:r>
                  <a:rPr lang="en-US" sz="2800" dirty="0"/>
                  <a:t> explanatory variables </a:t>
                </a:r>
                <a14:m>
                  <m:oMath xmlns:m="http://schemas.openxmlformats.org/officeDocument/2006/math">
                    <m:r>
                      <a:rPr lang="en-US" sz="2800" b="0" i="1" smtClean="0">
                        <a:latin typeface="Cambria Math" panose="02040503050406030204" pitchFamily="18" charset="0"/>
                      </a:rPr>
                      <m:t>𝑋</m:t>
                    </m:r>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𝑋</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𝑋</m:t>
                            </m:r>
                          </m:e>
                          <m:sub>
                            <m:r>
                              <a:rPr lang="en-US" sz="2800" b="0" i="1" smtClean="0">
                                <a:latin typeface="Cambria Math" panose="02040503050406030204" pitchFamily="18" charset="0"/>
                              </a:rPr>
                              <m:t>2</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𝑋</m:t>
                            </m:r>
                          </m:e>
                          <m:sub>
                            <m:r>
                              <a:rPr lang="en-US" sz="2800" b="0" i="1" smtClean="0">
                                <a:latin typeface="Cambria Math" panose="02040503050406030204" pitchFamily="18" charset="0"/>
                              </a:rPr>
                              <m:t>𝑝</m:t>
                            </m:r>
                          </m:sub>
                        </m:sSub>
                      </m:e>
                    </m:d>
                  </m:oMath>
                </a14:m>
                <a:r>
                  <a:rPr lang="en-US" sz="2800" dirty="0"/>
                  <a:t>, then a general form for the relationship can be written as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𝜀</m:t>
                      </m:r>
                    </m:oMath>
                  </m:oMathPara>
                </a14:m>
                <a:endParaRPr lang="en-US" b="0" dirty="0"/>
              </a:p>
              <a:p>
                <a:pPr marL="0" indent="0">
                  <a:buNone/>
                </a:pPr>
                <a:endParaRPr lang="en-US" sz="2800" dirty="0"/>
              </a:p>
              <a:p>
                <a:pPr marL="0" indent="0">
                  <a:buNone/>
                </a:pPr>
                <a:r>
                  <a:rPr lang="en-US" sz="2800" dirty="0"/>
                  <a:t>where </a:t>
                </a:r>
                <a14:m>
                  <m:oMath xmlns:m="http://schemas.openxmlformats.org/officeDocument/2006/math">
                    <m:r>
                      <a:rPr lang="en-US" sz="2800" b="0" i="1" smtClean="0">
                        <a:latin typeface="Cambria Math" panose="02040503050406030204" pitchFamily="18" charset="0"/>
                      </a:rPr>
                      <m:t>𝑓</m:t>
                    </m:r>
                  </m:oMath>
                </a14:m>
                <a:r>
                  <a:rPr lang="en-US" sz="2800" dirty="0"/>
                  <a:t> provides the deterministic information that the explanatory variables provide about </a:t>
                </a:r>
                <a14:m>
                  <m:oMath xmlns:m="http://schemas.openxmlformats.org/officeDocument/2006/math">
                    <m:r>
                      <a:rPr lang="en-US" sz="2800" b="0" i="1" smtClean="0">
                        <a:latin typeface="Cambria Math" panose="02040503050406030204" pitchFamily="18" charset="0"/>
                      </a:rPr>
                      <m:t>𝑌</m:t>
                    </m:r>
                  </m:oMath>
                </a14:m>
                <a:r>
                  <a:rPr lang="en-US" sz="2800" dirty="0"/>
                  <a:t>.</a:t>
                </a:r>
              </a:p>
              <a:p>
                <a:pPr marL="0" indent="0">
                  <a:buNone/>
                </a:pPr>
                <a:endParaRPr lang="en-US" sz="2800" dirty="0"/>
              </a:p>
              <a:p>
                <a:pPr marL="0" indent="0">
                  <a:buNone/>
                </a:pPr>
                <a14:m>
                  <m:oMath xmlns:m="http://schemas.openxmlformats.org/officeDocument/2006/math">
                    <m:r>
                      <a:rPr lang="en-US" sz="2800" i="1">
                        <a:latin typeface="Cambria Math" panose="02040503050406030204" pitchFamily="18" charset="0"/>
                      </a:rPr>
                      <m:t>𝜀</m:t>
                    </m:r>
                  </m:oMath>
                </a14:m>
                <a:r>
                  <a:rPr lang="en-US" sz="2800" dirty="0"/>
                  <a:t> is an error term that represents the random variability or error about </a:t>
                </a:r>
                <a14:m>
                  <m:oMath xmlns:m="http://schemas.openxmlformats.org/officeDocument/2006/math">
                    <m:r>
                      <a:rPr lang="en-US" sz="2800" i="1">
                        <a:latin typeface="Cambria Math" panose="02040503050406030204" pitchFamily="18" charset="0"/>
                      </a:rPr>
                      <m:t>𝑓</m:t>
                    </m:r>
                    <m:d>
                      <m:dPr>
                        <m:ctrlPr>
                          <a:rPr lang="en-US" sz="2800" i="1">
                            <a:latin typeface="Cambria Math" panose="02040503050406030204" pitchFamily="18" charset="0"/>
                          </a:rPr>
                        </m:ctrlPr>
                      </m:dPr>
                      <m:e>
                        <m:r>
                          <a:rPr lang="en-US" sz="2800" i="1">
                            <a:latin typeface="Cambria Math" panose="02040503050406030204" pitchFamily="18" charset="0"/>
                          </a:rPr>
                          <m:t>𝑋</m:t>
                        </m:r>
                      </m:e>
                    </m:d>
                  </m:oMath>
                </a14:m>
                <a:r>
                  <a:rPr lang="en-US" sz="2800" dirty="0"/>
                  <a:t>. </a:t>
                </a:r>
              </a:p>
            </p:txBody>
          </p:sp>
        </mc:Choice>
        <mc:Fallback xmlns="">
          <p:sp>
            <p:nvSpPr>
              <p:cNvPr id="3" name="Content Placeholder 2">
                <a:extLst>
                  <a:ext uri="{FF2B5EF4-FFF2-40B4-BE49-F238E27FC236}">
                    <a16:creationId xmlns:a16="http://schemas.microsoft.com/office/drawing/2014/main" id="{F1026C39-DA53-E155-CBB9-43F53E6FACE7}"/>
                  </a:ext>
                </a:extLst>
              </p:cNvPr>
              <p:cNvSpPr>
                <a:spLocks noGrp="1" noRot="1" noChangeAspect="1" noMove="1" noResize="1" noEditPoints="1" noAdjustHandles="1" noChangeArrowheads="1" noChangeShapeType="1" noTextEdit="1"/>
              </p:cNvSpPr>
              <p:nvPr>
                <p:ph idx="1"/>
              </p:nvPr>
            </p:nvSpPr>
            <p:spPr>
              <a:blipFill>
                <a:blip r:embed="rId2"/>
                <a:stretch>
                  <a:fillRect l="-1206" t="-3198" r="-844"/>
                </a:stretch>
              </a:blipFill>
            </p:spPr>
            <p:txBody>
              <a:bodyPr/>
              <a:lstStyle/>
              <a:p>
                <a:r>
                  <a:rPr lang="en-US">
                    <a:noFill/>
                  </a:rPr>
                  <a:t> </a:t>
                </a:r>
              </a:p>
            </p:txBody>
          </p:sp>
        </mc:Fallback>
      </mc:AlternateContent>
    </p:spTree>
    <p:extLst>
      <p:ext uri="{BB962C8B-B14F-4D97-AF65-F5344CB8AC3E}">
        <p14:creationId xmlns:p14="http://schemas.microsoft.com/office/powerpoint/2010/main" val="263052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3FCCC61-50BA-F219-5D77-40B540FF71E9}"/>
                  </a:ext>
                </a:extLst>
              </p:cNvPr>
              <p:cNvSpPr>
                <a:spLocks noGrp="1"/>
              </p:cNvSpPr>
              <p:nvPr>
                <p:ph type="title"/>
              </p:nvPr>
            </p:nvSpPr>
            <p:spPr/>
            <p:txBody>
              <a:bodyPr>
                <a:normAutofit/>
              </a:bodyPr>
              <a:lstStyle/>
              <a:p>
                <a:r>
                  <a:rPr lang="en-US" dirty="0"/>
                  <a:t>Two Approaches to Estimating </a:t>
                </a:r>
                <a14:m>
                  <m:oMath xmlns:m="http://schemas.openxmlformats.org/officeDocument/2006/math">
                    <m:r>
                      <a:rPr lang="en-US" b="0" i="1" smtClean="0">
                        <a:latin typeface="Cambria Math" panose="02040503050406030204" pitchFamily="18" charset="0"/>
                      </a:rPr>
                      <m:t>𝑓</m:t>
                    </m:r>
                  </m:oMath>
                </a14:m>
                <a:endParaRPr lang="en-US" dirty="0"/>
              </a:p>
            </p:txBody>
          </p:sp>
        </mc:Choice>
        <mc:Fallback xmlns="">
          <p:sp>
            <p:nvSpPr>
              <p:cNvPr id="2" name="Title 1">
                <a:extLst>
                  <a:ext uri="{FF2B5EF4-FFF2-40B4-BE49-F238E27FC236}">
                    <a16:creationId xmlns:a16="http://schemas.microsoft.com/office/drawing/2014/main" id="{13FCCC61-50BA-F219-5D77-40B540FF71E9}"/>
                  </a:ext>
                </a:extLst>
              </p:cNvPr>
              <p:cNvSpPr>
                <a:spLocks noGrp="1" noRot="1" noChangeAspect="1" noMove="1" noResize="1" noEditPoints="1" noAdjustHandles="1" noChangeArrowheads="1" noChangeShapeType="1" noTextEdit="1"/>
              </p:cNvSpPr>
              <p:nvPr>
                <p:ph type="title"/>
              </p:nvPr>
            </p:nvSpPr>
            <p:spPr>
              <a:blipFill>
                <a:blip r:embed="rId3"/>
                <a:stretch>
                  <a:fillRect b="-87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608749-68EA-E426-0322-0F6B41A551F4}"/>
                  </a:ext>
                </a:extLst>
              </p:cNvPr>
              <p:cNvSpPr>
                <a:spLocks noGrp="1"/>
              </p:cNvSpPr>
              <p:nvPr>
                <p:ph idx="1"/>
              </p:nvPr>
            </p:nvSpPr>
            <p:spPr/>
            <p:txBody>
              <a:bodyPr>
                <a:normAutofit lnSpcReduction="10000"/>
              </a:bodyPr>
              <a:lstStyle/>
              <a:p>
                <a:pPr marL="0" indent="0">
                  <a:buNone/>
                </a:pPr>
                <a:r>
                  <a:rPr lang="en-US" sz="2800" u="sng" dirty="0"/>
                  <a:t>Parametric Models</a:t>
                </a:r>
              </a:p>
              <a:p>
                <a:r>
                  <a:rPr lang="en-US" sz="2400" dirty="0"/>
                  <a:t>You must specify the form of </a:t>
                </a:r>
                <a14:m>
                  <m:oMath xmlns:m="http://schemas.openxmlformats.org/officeDocument/2006/math">
                    <m:r>
                      <a:rPr lang="en-US" sz="2400" i="1">
                        <a:latin typeface="Cambria Math" panose="02040503050406030204" pitchFamily="18" charset="0"/>
                      </a:rPr>
                      <m:t>𝑓</m:t>
                    </m:r>
                  </m:oMath>
                </a14:m>
                <a:endParaRPr lang="en-US" sz="2400" dirty="0"/>
              </a:p>
              <a:p>
                <a:endParaRPr lang="en-US" sz="2400" dirty="0"/>
              </a:p>
              <a:p>
                <a:r>
                  <a:rPr lang="en-US" sz="2400" dirty="0"/>
                  <a:t>Additional assumptions on the ”error term”, </a:t>
                </a:r>
                <a14:m>
                  <m:oMath xmlns:m="http://schemas.openxmlformats.org/officeDocument/2006/math">
                    <m:r>
                      <a:rPr lang="en-US" sz="2400" i="1">
                        <a:latin typeface="Cambria Math" panose="02040503050406030204" pitchFamily="18" charset="0"/>
                      </a:rPr>
                      <m:t>𝜀</m:t>
                    </m:r>
                    <m:r>
                      <a:rPr lang="en-US" sz="2400" b="0" i="0" smtClean="0">
                        <a:latin typeface="Cambria Math" panose="02040503050406030204" pitchFamily="18" charset="0"/>
                      </a:rPr>
                      <m:t> </m:t>
                    </m:r>
                  </m:oMath>
                </a14:m>
                <a:endParaRPr lang="en-US" sz="2400" dirty="0"/>
              </a:p>
              <a:p>
                <a:endParaRPr lang="en-US" sz="2400" dirty="0"/>
              </a:p>
              <a:p>
                <a:r>
                  <a:rPr lang="en-US" sz="2400" dirty="0"/>
                  <a:t>Depending on how complex </a:t>
                </a:r>
                <a14:m>
                  <m:oMath xmlns:m="http://schemas.openxmlformats.org/officeDocument/2006/math">
                    <m:r>
                      <a:rPr lang="en-US" sz="2400" b="0" i="1" smtClean="0">
                        <a:latin typeface="Cambria Math" panose="02040503050406030204" pitchFamily="18" charset="0"/>
                      </a:rPr>
                      <m:t>𝑓</m:t>
                    </m:r>
                  </m:oMath>
                </a14:m>
                <a:r>
                  <a:rPr lang="en-US" sz="2400" dirty="0"/>
                  <a:t> is specified, can be highly interpretable</a:t>
                </a:r>
              </a:p>
              <a:p>
                <a:endParaRPr lang="en-US" sz="2400" dirty="0"/>
              </a:p>
              <a:p>
                <a:r>
                  <a:rPr lang="en-US" sz="2400" dirty="0"/>
                  <a:t>Can predict well also as long as </a:t>
                </a:r>
                <a14:m>
                  <m:oMath xmlns:m="http://schemas.openxmlformats.org/officeDocument/2006/math">
                    <m:r>
                      <a:rPr lang="en-US" sz="2400" i="1">
                        <a:latin typeface="Cambria Math" panose="02040503050406030204" pitchFamily="18" charset="0"/>
                      </a:rPr>
                      <m:t>𝑓</m:t>
                    </m:r>
                  </m:oMath>
                </a14:m>
                <a:r>
                  <a:rPr lang="en-US" sz="2400" dirty="0"/>
                  <a:t> is correctly specified.</a:t>
                </a:r>
              </a:p>
              <a:p>
                <a:endParaRPr lang="en-US" sz="2400" dirty="0"/>
              </a:p>
              <a:p>
                <a:r>
                  <a:rPr lang="en-US" sz="2400" dirty="0"/>
                  <a:t>Hypothesis Testing Framework</a:t>
                </a:r>
              </a:p>
            </p:txBody>
          </p:sp>
        </mc:Choice>
        <mc:Fallback xmlns="">
          <p:sp>
            <p:nvSpPr>
              <p:cNvPr id="3" name="Content Placeholder 2">
                <a:extLst>
                  <a:ext uri="{FF2B5EF4-FFF2-40B4-BE49-F238E27FC236}">
                    <a16:creationId xmlns:a16="http://schemas.microsoft.com/office/drawing/2014/main" id="{D5608749-68EA-E426-0322-0F6B41A551F4}"/>
                  </a:ext>
                </a:extLst>
              </p:cNvPr>
              <p:cNvSpPr>
                <a:spLocks noGrp="1" noRot="1" noChangeAspect="1" noMove="1" noResize="1" noEditPoints="1" noAdjustHandles="1" noChangeArrowheads="1" noChangeShapeType="1" noTextEdit="1"/>
              </p:cNvSpPr>
              <p:nvPr>
                <p:ph idx="1"/>
              </p:nvPr>
            </p:nvSpPr>
            <p:spPr>
              <a:blipFill>
                <a:blip r:embed="rId4"/>
                <a:stretch>
                  <a:fillRect l="-1206" t="-3198"/>
                </a:stretch>
              </a:blipFill>
            </p:spPr>
            <p:txBody>
              <a:bodyPr/>
              <a:lstStyle/>
              <a:p>
                <a:r>
                  <a:rPr lang="en-US">
                    <a:noFill/>
                  </a:rPr>
                  <a:t> </a:t>
                </a:r>
              </a:p>
            </p:txBody>
          </p:sp>
        </mc:Fallback>
      </mc:AlternateContent>
    </p:spTree>
    <p:extLst>
      <p:ext uri="{BB962C8B-B14F-4D97-AF65-F5344CB8AC3E}">
        <p14:creationId xmlns:p14="http://schemas.microsoft.com/office/powerpoint/2010/main" val="4151375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3FCCC61-50BA-F219-5D77-40B540FF71E9}"/>
                  </a:ext>
                </a:extLst>
              </p:cNvPr>
              <p:cNvSpPr>
                <a:spLocks noGrp="1"/>
              </p:cNvSpPr>
              <p:nvPr>
                <p:ph type="title"/>
              </p:nvPr>
            </p:nvSpPr>
            <p:spPr/>
            <p:txBody>
              <a:bodyPr>
                <a:normAutofit/>
              </a:bodyPr>
              <a:lstStyle/>
              <a:p>
                <a:r>
                  <a:rPr lang="en-US" dirty="0"/>
                  <a:t>Two Approaches to Estimating </a:t>
                </a:r>
                <a14:m>
                  <m:oMath xmlns:m="http://schemas.openxmlformats.org/officeDocument/2006/math">
                    <m:r>
                      <a:rPr lang="en-US" i="1">
                        <a:latin typeface="Cambria Math" panose="02040503050406030204" pitchFamily="18" charset="0"/>
                      </a:rPr>
                      <m:t>𝑓</m:t>
                    </m:r>
                  </m:oMath>
                </a14:m>
                <a:endParaRPr lang="en-US" dirty="0"/>
              </a:p>
            </p:txBody>
          </p:sp>
        </mc:Choice>
        <mc:Fallback xmlns="">
          <p:sp>
            <p:nvSpPr>
              <p:cNvPr id="2" name="Title 1">
                <a:extLst>
                  <a:ext uri="{FF2B5EF4-FFF2-40B4-BE49-F238E27FC236}">
                    <a16:creationId xmlns:a16="http://schemas.microsoft.com/office/drawing/2014/main" id="{13FCCC61-50BA-F219-5D77-40B540FF71E9}"/>
                  </a:ext>
                </a:extLst>
              </p:cNvPr>
              <p:cNvSpPr>
                <a:spLocks noGrp="1" noRot="1" noChangeAspect="1" noMove="1" noResize="1" noEditPoints="1" noAdjustHandles="1" noChangeArrowheads="1" noChangeShapeType="1" noTextEdit="1"/>
              </p:cNvSpPr>
              <p:nvPr>
                <p:ph type="title"/>
              </p:nvPr>
            </p:nvSpPr>
            <p:spPr>
              <a:blipFill>
                <a:blip r:embed="rId3"/>
                <a:stretch>
                  <a:fillRect b="-87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608749-68EA-E426-0322-0F6B41A551F4}"/>
                  </a:ext>
                </a:extLst>
              </p:cNvPr>
              <p:cNvSpPr>
                <a:spLocks noGrp="1"/>
              </p:cNvSpPr>
              <p:nvPr>
                <p:ph idx="1"/>
              </p:nvPr>
            </p:nvSpPr>
            <p:spPr/>
            <p:txBody>
              <a:bodyPr/>
              <a:lstStyle/>
              <a:p>
                <a:pPr marL="0" indent="0">
                  <a:buNone/>
                </a:pPr>
                <a:r>
                  <a:rPr lang="en-US" sz="2800" u="sng" dirty="0"/>
                  <a:t>Nonparametric Models</a:t>
                </a:r>
              </a:p>
              <a:p>
                <a:r>
                  <a:rPr lang="en-US" sz="2400" dirty="0"/>
                  <a:t>You are not required to specify what </a:t>
                </a:r>
                <a14:m>
                  <m:oMath xmlns:m="http://schemas.openxmlformats.org/officeDocument/2006/math">
                    <m:r>
                      <a:rPr lang="en-US" sz="2400" i="1">
                        <a:latin typeface="Cambria Math" panose="02040503050406030204" pitchFamily="18" charset="0"/>
                      </a:rPr>
                      <m:t>𝑓</m:t>
                    </m:r>
                  </m:oMath>
                </a14:m>
                <a:r>
                  <a:rPr lang="en-US" sz="2400" dirty="0"/>
                  <a:t> looks like</a:t>
                </a:r>
              </a:p>
              <a:p>
                <a:endParaRPr lang="en-US" sz="2400" dirty="0"/>
              </a:p>
              <a:p>
                <a:r>
                  <a:rPr lang="en-US" sz="2400" dirty="0"/>
                  <a:t>Completely data driven</a:t>
                </a:r>
              </a:p>
              <a:p>
                <a:endParaRPr lang="en-US" sz="2400" dirty="0"/>
              </a:p>
              <a:p>
                <a:r>
                  <a:rPr lang="en-US" sz="2400" dirty="0"/>
                  <a:t>Can predict very complex situations well</a:t>
                </a:r>
              </a:p>
              <a:p>
                <a:endParaRPr lang="en-US" sz="2400" dirty="0"/>
              </a:p>
              <a:p>
                <a:r>
                  <a:rPr lang="en-US" sz="2400" dirty="0"/>
                  <a:t>The flexibility comes at a cost.  </a:t>
                </a:r>
              </a:p>
              <a:p>
                <a:pPr lvl="1"/>
                <a:r>
                  <a:rPr lang="en-US" sz="2000" dirty="0"/>
                  <a:t>Interpretation </a:t>
                </a:r>
              </a:p>
              <a:p>
                <a:pPr lvl="1"/>
                <a:r>
                  <a:rPr lang="en-US" sz="2000" dirty="0"/>
                  <a:t>Hypothesis testing frameworks</a:t>
                </a:r>
              </a:p>
            </p:txBody>
          </p:sp>
        </mc:Choice>
        <mc:Fallback xmlns="">
          <p:sp>
            <p:nvSpPr>
              <p:cNvPr id="3" name="Content Placeholder 2">
                <a:extLst>
                  <a:ext uri="{FF2B5EF4-FFF2-40B4-BE49-F238E27FC236}">
                    <a16:creationId xmlns:a16="http://schemas.microsoft.com/office/drawing/2014/main" id="{D5608749-68EA-E426-0322-0F6B41A551F4}"/>
                  </a:ext>
                </a:extLst>
              </p:cNvPr>
              <p:cNvSpPr>
                <a:spLocks noGrp="1" noRot="1" noChangeAspect="1" noMove="1" noResize="1" noEditPoints="1" noAdjustHandles="1" noChangeArrowheads="1" noChangeShapeType="1" noTextEdit="1"/>
              </p:cNvSpPr>
              <p:nvPr>
                <p:ph idx="1"/>
              </p:nvPr>
            </p:nvSpPr>
            <p:spPr>
              <a:blipFill>
                <a:blip r:embed="rId4"/>
                <a:stretch>
                  <a:fillRect l="-1272" t="-1681"/>
                </a:stretch>
              </a:blipFill>
            </p:spPr>
            <p:txBody>
              <a:bodyPr/>
              <a:lstStyle/>
              <a:p>
                <a:r>
                  <a:rPr lang="en-US">
                    <a:noFill/>
                  </a:rPr>
                  <a:t> </a:t>
                </a:r>
              </a:p>
            </p:txBody>
          </p:sp>
        </mc:Fallback>
      </mc:AlternateContent>
    </p:spTree>
    <p:extLst>
      <p:ext uri="{BB962C8B-B14F-4D97-AF65-F5344CB8AC3E}">
        <p14:creationId xmlns:p14="http://schemas.microsoft.com/office/powerpoint/2010/main" val="116189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CCC61-50BA-F219-5D77-40B540FF71E9}"/>
              </a:ext>
            </a:extLst>
          </p:cNvPr>
          <p:cNvSpPr>
            <a:spLocks noGrp="1"/>
          </p:cNvSpPr>
          <p:nvPr>
            <p:ph type="title"/>
          </p:nvPr>
        </p:nvSpPr>
        <p:spPr/>
        <p:txBody>
          <a:bodyPr>
            <a:normAutofit/>
          </a:bodyPr>
          <a:lstStyle/>
          <a:p>
            <a:r>
              <a:rPr lang="en-US" dirty="0"/>
              <a:t>Parametric Pros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608749-68EA-E426-0322-0F6B41A551F4}"/>
                  </a:ext>
                </a:extLst>
              </p:cNvPr>
              <p:cNvSpPr>
                <a:spLocks noGrp="1"/>
              </p:cNvSpPr>
              <p:nvPr>
                <p:ph idx="1"/>
              </p:nvPr>
            </p:nvSpPr>
            <p:spPr/>
            <p:txBody>
              <a:bodyPr/>
              <a:lstStyle/>
              <a:p>
                <a:pPr marL="457200" indent="-457200">
                  <a:buAutoNum type="arabicPeriod"/>
                </a:pPr>
                <a:r>
                  <a:rPr lang="en-US" sz="2400" dirty="0">
                    <a:cs typeface="Times New Roman" pitchFamily="18" charset="0"/>
                  </a:rPr>
                  <a:t>Great for </a:t>
                </a:r>
                <a:r>
                  <a:rPr lang="en-US" sz="2400" b="1" u="sng" dirty="0">
                    <a:cs typeface="Times New Roman" pitchFamily="18" charset="0"/>
                  </a:rPr>
                  <a:t>interpretation</a:t>
                </a:r>
                <a:r>
                  <a:rPr lang="en-US" sz="2400" dirty="0">
                    <a:cs typeface="Times New Roman" pitchFamily="18" charset="0"/>
                  </a:rPr>
                  <a:t>. </a:t>
                </a:r>
              </a:p>
              <a:p>
                <a:pPr marL="457200" indent="-457200">
                  <a:buAutoNum type="arabicPeriod"/>
                </a:pPr>
                <a:endParaRPr lang="en-US" sz="2400" dirty="0">
                  <a:cs typeface="Times New Roman" pitchFamily="18" charset="0"/>
                </a:endParaRPr>
              </a:p>
              <a:p>
                <a:pPr marL="457200" indent="-457200">
                  <a:buAutoNum type="arabicPeriod"/>
                </a:pPr>
                <a:r>
                  <a:rPr lang="en-US" sz="2400" dirty="0">
                    <a:cs typeface="Times New Roman" pitchFamily="18" charset="0"/>
                  </a:rPr>
                  <a:t>Allows for hypothesis testing</a:t>
                </a:r>
              </a:p>
              <a:p>
                <a:pPr marL="457200" indent="-457200">
                  <a:buAutoNum type="arabicPeriod"/>
                </a:pPr>
                <a:endParaRPr lang="en-US" sz="2400" dirty="0">
                  <a:cs typeface="Times New Roman" pitchFamily="18" charset="0"/>
                </a:endParaRPr>
              </a:p>
              <a:p>
                <a:pPr marL="457200" indent="-457200">
                  <a:buAutoNum type="arabicPeriod"/>
                </a:pPr>
                <a:r>
                  <a:rPr lang="en-US" sz="2400" dirty="0">
                    <a:cs typeface="Times New Roman" pitchFamily="18" charset="0"/>
                  </a:rPr>
                  <a:t>Do not require large data sets</a:t>
                </a:r>
              </a:p>
              <a:p>
                <a:pPr marL="457200" indent="-457200">
                  <a:buAutoNum type="arabicPeriod"/>
                </a:pPr>
                <a:endParaRPr lang="en-US" sz="2400" dirty="0">
                  <a:cs typeface="Times New Roman" pitchFamily="18" charset="0"/>
                </a:endParaRPr>
              </a:p>
              <a:p>
                <a:pPr marL="457200" indent="-457200">
                  <a:buAutoNum type="arabicPeriod"/>
                </a:pPr>
                <a:r>
                  <a:rPr lang="en-US" sz="2400" dirty="0">
                    <a:cs typeface="Times New Roman" pitchFamily="18" charset="0"/>
                  </a:rPr>
                  <a:t>Easier to implement in large </a:t>
                </a:r>
                <a14:m>
                  <m:oMath xmlns:m="http://schemas.openxmlformats.org/officeDocument/2006/math">
                    <m:r>
                      <a:rPr lang="en-US" sz="2400" b="0" i="1" smtClean="0">
                        <a:latin typeface="Cambria Math" panose="02040503050406030204" pitchFamily="18" charset="0"/>
                        <a:cs typeface="Times New Roman" pitchFamily="18" charset="0"/>
                      </a:rPr>
                      <m:t>𝑝</m:t>
                    </m:r>
                  </m:oMath>
                </a14:m>
                <a:r>
                  <a:rPr lang="en-US" sz="2400" dirty="0">
                    <a:cs typeface="Times New Roman" pitchFamily="18" charset="0"/>
                  </a:rPr>
                  <a:t> small </a:t>
                </a:r>
                <a14:m>
                  <m:oMath xmlns:m="http://schemas.openxmlformats.org/officeDocument/2006/math">
                    <m:r>
                      <a:rPr lang="en-US" sz="2400" b="0" i="1" smtClean="0">
                        <a:latin typeface="Cambria Math" panose="02040503050406030204" pitchFamily="18" charset="0"/>
                        <a:cs typeface="Times New Roman" pitchFamily="18" charset="0"/>
                      </a:rPr>
                      <m:t>𝑛</m:t>
                    </m:r>
                  </m:oMath>
                </a14:m>
                <a:r>
                  <a:rPr lang="en-US" sz="2400" dirty="0">
                    <a:cs typeface="Times New Roman" pitchFamily="18" charset="0"/>
                  </a:rPr>
                  <a:t> situations</a:t>
                </a:r>
              </a:p>
              <a:p>
                <a:pPr marL="457200" indent="-457200">
                  <a:buFont typeface="+mj-lt"/>
                  <a:buAutoNum type="arabicPeriod"/>
                </a:pPr>
                <a:endParaRPr lang="en-US" sz="2400" dirty="0">
                  <a:cs typeface="Times New Roman" pitchFamily="18" charset="0"/>
                </a:endParaRPr>
              </a:p>
            </p:txBody>
          </p:sp>
        </mc:Choice>
        <mc:Fallback xmlns="">
          <p:sp>
            <p:nvSpPr>
              <p:cNvPr id="3" name="Content Placeholder 2">
                <a:extLst>
                  <a:ext uri="{FF2B5EF4-FFF2-40B4-BE49-F238E27FC236}">
                    <a16:creationId xmlns:a16="http://schemas.microsoft.com/office/drawing/2014/main" id="{D5608749-68EA-E426-0322-0F6B41A551F4}"/>
                  </a:ext>
                </a:extLst>
              </p:cNvPr>
              <p:cNvSpPr>
                <a:spLocks noGrp="1" noRot="1" noChangeAspect="1" noMove="1" noResize="1" noEditPoints="1" noAdjustHandles="1" noChangeArrowheads="1" noChangeShapeType="1" noTextEdit="1"/>
              </p:cNvSpPr>
              <p:nvPr>
                <p:ph idx="1"/>
              </p:nvPr>
            </p:nvSpPr>
            <p:spPr>
              <a:blipFill>
                <a:blip r:embed="rId3"/>
                <a:stretch>
                  <a:fillRect l="-809" t="-1401"/>
                </a:stretch>
              </a:blipFill>
            </p:spPr>
            <p:txBody>
              <a:bodyPr/>
              <a:lstStyle/>
              <a:p>
                <a:r>
                  <a:rPr lang="en-US">
                    <a:noFill/>
                  </a:rPr>
                  <a:t> </a:t>
                </a:r>
              </a:p>
            </p:txBody>
          </p:sp>
        </mc:Fallback>
      </mc:AlternateContent>
    </p:spTree>
    <p:extLst>
      <p:ext uri="{BB962C8B-B14F-4D97-AF65-F5344CB8AC3E}">
        <p14:creationId xmlns:p14="http://schemas.microsoft.com/office/powerpoint/2010/main" val="41444697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CCC61-50BA-F219-5D77-40B540FF71E9}"/>
              </a:ext>
            </a:extLst>
          </p:cNvPr>
          <p:cNvSpPr>
            <a:spLocks noGrp="1"/>
          </p:cNvSpPr>
          <p:nvPr>
            <p:ph type="title"/>
          </p:nvPr>
        </p:nvSpPr>
        <p:spPr/>
        <p:txBody>
          <a:bodyPr>
            <a:normAutofit/>
          </a:bodyPr>
          <a:lstStyle/>
          <a:p>
            <a:r>
              <a:rPr lang="en-US" dirty="0"/>
              <a:t>Parametric Cons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608749-68EA-E426-0322-0F6B41A551F4}"/>
                  </a:ext>
                </a:extLst>
              </p:cNvPr>
              <p:cNvSpPr>
                <a:spLocks noGrp="1"/>
              </p:cNvSpPr>
              <p:nvPr>
                <p:ph idx="1"/>
              </p:nvPr>
            </p:nvSpPr>
            <p:spPr/>
            <p:txBody>
              <a:bodyPr/>
              <a:lstStyle/>
              <a:p>
                <a:pPr marL="0" indent="0">
                  <a:buNone/>
                </a:pPr>
                <a:endParaRPr lang="en-US" sz="2400" dirty="0">
                  <a:cs typeface="Times New Roman" pitchFamily="18" charset="0"/>
                </a:endParaRPr>
              </a:p>
              <a:p>
                <a:pPr marL="457200" indent="-457200">
                  <a:buFont typeface="+mj-lt"/>
                  <a:buAutoNum type="arabicPeriod"/>
                </a:pPr>
                <a:r>
                  <a:rPr lang="en-US" sz="2400" dirty="0">
                    <a:cs typeface="Times New Roman" pitchFamily="18" charset="0"/>
                  </a:rPr>
                  <a:t>Difficult to specify extreme complex forms of </a:t>
                </a:r>
                <a14:m>
                  <m:oMath xmlns:m="http://schemas.openxmlformats.org/officeDocument/2006/math">
                    <m:r>
                      <a:rPr lang="en-US" sz="2400" i="1">
                        <a:latin typeface="Cambria Math" panose="02040503050406030204" pitchFamily="18" charset="0"/>
                        <a:cs typeface="Times New Roman" pitchFamily="18" charset="0"/>
                      </a:rPr>
                      <m:t>𝑓</m:t>
                    </m:r>
                  </m:oMath>
                </a14:m>
                <a:endParaRPr lang="en-US" sz="2400" u="sng" dirty="0">
                  <a:cs typeface="Times New Roman" pitchFamily="18" charset="0"/>
                </a:endParaRPr>
              </a:p>
              <a:p>
                <a:pPr marL="457200" indent="-457200">
                  <a:buFont typeface="+mj-lt"/>
                  <a:buAutoNum type="arabicPeriod"/>
                </a:pPr>
                <a:endParaRPr lang="en-US" sz="2400" u="sng" dirty="0">
                  <a:cs typeface="Times New Roman" pitchFamily="18" charset="0"/>
                </a:endParaRPr>
              </a:p>
              <a:p>
                <a:pPr marL="457200" indent="-457200">
                  <a:buFont typeface="+mj-lt"/>
                  <a:buAutoNum type="arabicPeriod"/>
                </a:pPr>
                <a:r>
                  <a:rPr lang="en-US" sz="2400" u="sng" dirty="0">
                    <a:cs typeface="Times New Roman" pitchFamily="18" charset="0"/>
                  </a:rPr>
                  <a:t>For large data sets</a:t>
                </a:r>
                <a:r>
                  <a:rPr lang="en-US" sz="2400" dirty="0">
                    <a:cs typeface="Times New Roman" pitchFamily="18" charset="0"/>
                  </a:rPr>
                  <a:t>, nonparametric models will typically perform as good or better</a:t>
                </a:r>
              </a:p>
              <a:p>
                <a:pPr marL="457200" indent="-457200">
                  <a:buFont typeface="+mj-lt"/>
                  <a:buAutoNum type="arabicPeriod"/>
                </a:pPr>
                <a:endParaRPr lang="en-US" sz="2400" dirty="0">
                  <a:cs typeface="Times New Roman" pitchFamily="18" charset="0"/>
                </a:endParaRPr>
              </a:p>
              <a:p>
                <a:pPr marL="457200" indent="-457200">
                  <a:buFont typeface="+mj-lt"/>
                  <a:buAutoNum type="arabicPeriod"/>
                </a:pPr>
                <a:r>
                  <a:rPr lang="en-US" sz="2400" dirty="0">
                    <a:cs typeface="Times New Roman" pitchFamily="18" charset="0"/>
                  </a:rPr>
                  <a:t>Additional checks an fixed</a:t>
                </a:r>
              </a:p>
              <a:p>
                <a:pPr marL="857250" lvl="1" indent="-457200"/>
                <a:r>
                  <a:rPr lang="en-US" sz="2000" dirty="0">
                    <a:cs typeface="Times New Roman" pitchFamily="18" charset="0"/>
                  </a:rPr>
                  <a:t>Assumptions</a:t>
                </a:r>
              </a:p>
              <a:p>
                <a:pPr marL="857250" lvl="1" indent="-457200"/>
                <a:r>
                  <a:rPr lang="en-US" sz="2000" dirty="0">
                    <a:cs typeface="Times New Roman" pitchFamily="18" charset="0"/>
                  </a:rPr>
                  <a:t>Multicollinearity</a:t>
                </a:r>
              </a:p>
              <a:p>
                <a:pPr marL="857250" lvl="1" indent="-457200"/>
                <a:r>
                  <a:rPr lang="en-US" sz="2000" dirty="0">
                    <a:cs typeface="Times New Roman" pitchFamily="18" charset="0"/>
                  </a:rPr>
                  <a:t>Influential Points</a:t>
                </a:r>
              </a:p>
            </p:txBody>
          </p:sp>
        </mc:Choice>
        <mc:Fallback xmlns="">
          <p:sp>
            <p:nvSpPr>
              <p:cNvPr id="3" name="Content Placeholder 2">
                <a:extLst>
                  <a:ext uri="{FF2B5EF4-FFF2-40B4-BE49-F238E27FC236}">
                    <a16:creationId xmlns:a16="http://schemas.microsoft.com/office/drawing/2014/main" id="{D5608749-68EA-E426-0322-0F6B41A551F4}"/>
                  </a:ext>
                </a:extLst>
              </p:cNvPr>
              <p:cNvSpPr>
                <a:spLocks noGrp="1" noRot="1" noChangeAspect="1" noMove="1" noResize="1" noEditPoints="1" noAdjustHandles="1" noChangeArrowheads="1" noChangeShapeType="1" noTextEdit="1"/>
              </p:cNvSpPr>
              <p:nvPr>
                <p:ph idx="1"/>
              </p:nvPr>
            </p:nvSpPr>
            <p:spPr>
              <a:blipFill>
                <a:blip r:embed="rId3"/>
                <a:stretch>
                  <a:fillRect l="-809"/>
                </a:stretch>
              </a:blipFill>
            </p:spPr>
            <p:txBody>
              <a:bodyPr/>
              <a:lstStyle/>
              <a:p>
                <a:r>
                  <a:rPr lang="en-US">
                    <a:noFill/>
                  </a:rPr>
                  <a:t> </a:t>
                </a:r>
              </a:p>
            </p:txBody>
          </p:sp>
        </mc:Fallback>
      </mc:AlternateContent>
    </p:spTree>
    <p:extLst>
      <p:ext uri="{BB962C8B-B14F-4D97-AF65-F5344CB8AC3E}">
        <p14:creationId xmlns:p14="http://schemas.microsoft.com/office/powerpoint/2010/main" val="14967401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A240C-3BFE-3967-EF55-AF79D9229DBA}"/>
              </a:ext>
            </a:extLst>
          </p:cNvPr>
          <p:cNvSpPr>
            <a:spLocks noGrp="1"/>
          </p:cNvSpPr>
          <p:nvPr>
            <p:ph type="title"/>
          </p:nvPr>
        </p:nvSpPr>
        <p:spPr/>
        <p:txBody>
          <a:bodyPr/>
          <a:lstStyle/>
          <a:p>
            <a:r>
              <a:rPr lang="en-US" dirty="0"/>
              <a:t>Interpretation vs Flexibility</a:t>
            </a:r>
          </a:p>
        </p:txBody>
      </p:sp>
      <p:pic>
        <p:nvPicPr>
          <p:cNvPr id="4" name="Picture 3" descr="Graphical user interface, application&#10;&#10;Description automatically generated">
            <a:extLst>
              <a:ext uri="{FF2B5EF4-FFF2-40B4-BE49-F238E27FC236}">
                <a16:creationId xmlns:a16="http://schemas.microsoft.com/office/drawing/2014/main" id="{472DD4F3-D2CA-90F1-FBB9-B3BB2B0859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585" y="1810255"/>
            <a:ext cx="10287000" cy="4576622"/>
          </a:xfrm>
          <a:prstGeom prst="rect">
            <a:avLst/>
          </a:prstGeom>
        </p:spPr>
      </p:pic>
      <p:cxnSp>
        <p:nvCxnSpPr>
          <p:cNvPr id="5" name="Straight Arrow Connector 4">
            <a:extLst>
              <a:ext uri="{FF2B5EF4-FFF2-40B4-BE49-F238E27FC236}">
                <a16:creationId xmlns:a16="http://schemas.microsoft.com/office/drawing/2014/main" id="{3DEBE3C5-5316-D137-0D56-A2E2051BE895}"/>
              </a:ext>
            </a:extLst>
          </p:cNvPr>
          <p:cNvCxnSpPr>
            <a:cxnSpLocks/>
          </p:cNvCxnSpPr>
          <p:nvPr/>
        </p:nvCxnSpPr>
        <p:spPr>
          <a:xfrm flipH="1">
            <a:off x="2667000" y="2034543"/>
            <a:ext cx="239165" cy="6324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948C96C-1736-98B7-443C-289CE8087A31}"/>
              </a:ext>
            </a:extLst>
          </p:cNvPr>
          <p:cNvCxnSpPr>
            <a:cxnSpLocks/>
          </p:cNvCxnSpPr>
          <p:nvPr/>
        </p:nvCxnSpPr>
        <p:spPr>
          <a:xfrm>
            <a:off x="2906165" y="2034543"/>
            <a:ext cx="599035" cy="1318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5ED2A93-035B-B813-8E11-54258E3F4357}"/>
              </a:ext>
            </a:extLst>
          </p:cNvPr>
          <p:cNvSpPr txBox="1"/>
          <p:nvPr/>
        </p:nvSpPr>
        <p:spPr>
          <a:xfrm>
            <a:off x="2239415" y="1386843"/>
            <a:ext cx="1634508" cy="646331"/>
          </a:xfrm>
          <a:prstGeom prst="rect">
            <a:avLst/>
          </a:prstGeom>
          <a:noFill/>
          <a:ln w="34925">
            <a:solidFill>
              <a:schemeClr val="accent1"/>
            </a:solidFill>
          </a:ln>
        </p:spPr>
        <p:txBody>
          <a:bodyPr wrap="square" rtlCol="0">
            <a:spAutoFit/>
          </a:bodyPr>
          <a:lstStyle/>
          <a:p>
            <a:pPr algn="ctr"/>
            <a:r>
              <a:rPr lang="en-US" dirty="0">
                <a:solidFill>
                  <a:schemeClr val="accent1"/>
                </a:solidFill>
              </a:rPr>
              <a:t>Parametric Models</a:t>
            </a:r>
          </a:p>
        </p:txBody>
      </p:sp>
      <p:sp>
        <p:nvSpPr>
          <p:cNvPr id="9" name="TextBox 8">
            <a:extLst>
              <a:ext uri="{FF2B5EF4-FFF2-40B4-BE49-F238E27FC236}">
                <a16:creationId xmlns:a16="http://schemas.microsoft.com/office/drawing/2014/main" id="{1AE6F613-9304-37A2-812A-981D029EE071}"/>
              </a:ext>
            </a:extLst>
          </p:cNvPr>
          <p:cNvSpPr txBox="1"/>
          <p:nvPr/>
        </p:nvSpPr>
        <p:spPr>
          <a:xfrm>
            <a:off x="5115965" y="2988412"/>
            <a:ext cx="2054810" cy="584775"/>
          </a:xfrm>
          <a:prstGeom prst="rect">
            <a:avLst/>
          </a:prstGeom>
          <a:noFill/>
          <a:ln w="34925">
            <a:solidFill>
              <a:srgbClr val="00B0F0"/>
            </a:solidFill>
          </a:ln>
        </p:spPr>
        <p:txBody>
          <a:bodyPr wrap="square" rtlCol="0">
            <a:spAutoFit/>
          </a:bodyPr>
          <a:lstStyle/>
          <a:p>
            <a:pPr algn="ctr"/>
            <a:r>
              <a:rPr lang="en-US" sz="1600" b="1" dirty="0">
                <a:solidFill>
                  <a:srgbClr val="00B0F0"/>
                </a:solidFill>
              </a:rPr>
              <a:t>Nonparametric Models</a:t>
            </a:r>
          </a:p>
        </p:txBody>
      </p:sp>
      <p:cxnSp>
        <p:nvCxnSpPr>
          <p:cNvPr id="10" name="Straight Arrow Connector 9">
            <a:extLst>
              <a:ext uri="{FF2B5EF4-FFF2-40B4-BE49-F238E27FC236}">
                <a16:creationId xmlns:a16="http://schemas.microsoft.com/office/drawing/2014/main" id="{F21A4740-6475-3A38-6A28-58EDE149466E}"/>
              </a:ext>
            </a:extLst>
          </p:cNvPr>
          <p:cNvCxnSpPr>
            <a:cxnSpLocks/>
            <a:stCxn id="9" idx="2"/>
          </p:cNvCxnSpPr>
          <p:nvPr/>
        </p:nvCxnSpPr>
        <p:spPr>
          <a:xfrm flipH="1">
            <a:off x="4953000" y="3573187"/>
            <a:ext cx="1190370" cy="16061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6F0F43D-B377-CBA3-F004-3C747F578138}"/>
              </a:ext>
            </a:extLst>
          </p:cNvPr>
          <p:cNvCxnSpPr>
            <a:cxnSpLocks/>
            <a:stCxn id="9" idx="2"/>
          </p:cNvCxnSpPr>
          <p:nvPr/>
        </p:nvCxnSpPr>
        <p:spPr>
          <a:xfrm flipH="1">
            <a:off x="4800600" y="3573187"/>
            <a:ext cx="1342770" cy="31301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4F4DA0F-23AA-0BC3-1AFA-57B750E15F26}"/>
              </a:ext>
            </a:extLst>
          </p:cNvPr>
          <p:cNvCxnSpPr>
            <a:cxnSpLocks/>
            <a:stCxn id="9" idx="2"/>
          </p:cNvCxnSpPr>
          <p:nvPr/>
        </p:nvCxnSpPr>
        <p:spPr>
          <a:xfrm flipH="1">
            <a:off x="5638800" y="3573187"/>
            <a:ext cx="504570" cy="84641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28AE38E-705B-9046-93CC-3F58ABAAEAF6}"/>
              </a:ext>
            </a:extLst>
          </p:cNvPr>
          <p:cNvCxnSpPr>
            <a:cxnSpLocks/>
            <a:stCxn id="9" idx="2"/>
          </p:cNvCxnSpPr>
          <p:nvPr/>
        </p:nvCxnSpPr>
        <p:spPr>
          <a:xfrm flipH="1">
            <a:off x="6096000" y="3573187"/>
            <a:ext cx="47370" cy="122741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7008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26F7-D3DF-8609-586D-E2FB31B685FA}"/>
              </a:ext>
            </a:extLst>
          </p:cNvPr>
          <p:cNvSpPr>
            <a:spLocks noGrp="1"/>
          </p:cNvSpPr>
          <p:nvPr>
            <p:ph type="title"/>
          </p:nvPr>
        </p:nvSpPr>
        <p:spPr/>
        <p:txBody>
          <a:bodyPr/>
          <a:lstStyle/>
          <a:p>
            <a:r>
              <a:rPr lang="en-US" dirty="0"/>
              <a:t>The MLR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C2F259-E554-B99E-5026-DE634FF5B9FB}"/>
                  </a:ext>
                </a:extLst>
              </p:cNvPr>
              <p:cNvSpPr>
                <a:spLocks noGrp="1"/>
              </p:cNvSpPr>
              <p:nvPr>
                <p:ph idx="1"/>
              </p:nvPr>
            </p:nvSpPr>
            <p:spPr/>
            <p:txBody>
              <a:bodyPr/>
              <a:lstStyle/>
              <a:p>
                <a:pPr marL="0" indent="0">
                  <a:buNone/>
                </a:pPr>
                <a:r>
                  <a:rPr lang="en-US" dirty="0"/>
                  <a:t>If we observe a response </a:t>
                </a:r>
                <a14:m>
                  <m:oMath xmlns:m="http://schemas.openxmlformats.org/officeDocument/2006/math">
                    <m:r>
                      <a:rPr lang="en-US" i="1">
                        <a:latin typeface="Cambria Math" panose="02040503050406030204" pitchFamily="18" charset="0"/>
                      </a:rPr>
                      <m:t>𝑌</m:t>
                    </m:r>
                  </m:oMath>
                </a14:m>
                <a:r>
                  <a:rPr lang="en-US" dirty="0"/>
                  <a:t> with </a:t>
                </a:r>
                <a14:m>
                  <m:oMath xmlns:m="http://schemas.openxmlformats.org/officeDocument/2006/math">
                    <m:r>
                      <a:rPr lang="en-US" i="1">
                        <a:latin typeface="Cambria Math" panose="02040503050406030204" pitchFamily="18" charset="0"/>
                      </a:rPr>
                      <m:t>𝑝</m:t>
                    </m:r>
                  </m:oMath>
                </a14:m>
                <a:r>
                  <a:rPr lang="en-US" dirty="0"/>
                  <a:t> explanatory variables </a:t>
                </a:r>
                <a14:m>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𝑝</m:t>
                            </m:r>
                          </m:sub>
                        </m:sSub>
                      </m:e>
                    </m:d>
                  </m:oMath>
                </a14:m>
                <a:r>
                  <a:rPr lang="en-US" dirty="0"/>
                  <a:t>, then a general expression for the MLR model is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𝑌</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𝑝</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𝑝</m:t>
                          </m:r>
                        </m:sub>
                      </m:sSub>
                      <m:r>
                        <a:rPr lang="en-US" i="1">
                          <a:latin typeface="Cambria Math" panose="02040503050406030204" pitchFamily="18" charset="0"/>
                        </a:rPr>
                        <m:t>+</m:t>
                      </m:r>
                      <m:r>
                        <a:rPr lang="en-US" i="1">
                          <a:latin typeface="Cambria Math" panose="02040503050406030204" pitchFamily="18" charset="0"/>
                        </a:rPr>
                        <m:t>𝜀</m:t>
                      </m:r>
                    </m:oMath>
                  </m:oMathPara>
                </a14:m>
                <a:endParaRPr lang="en-US" dirty="0"/>
              </a:p>
              <a:p>
                <a:pPr marL="0" indent="0">
                  <a:buNone/>
                </a:pPr>
                <a:endParaRPr lang="en-US" dirty="0"/>
              </a:p>
              <a:p>
                <a:pPr marL="0" indent="0">
                  <a:buNone/>
                </a:pPr>
                <a:r>
                  <a:rPr lang="en-US" dirty="0"/>
                  <a:t>Assumptions:</a:t>
                </a:r>
              </a:p>
              <a:p>
                <a:pPr marL="0" indent="0">
                  <a:buNone/>
                </a:pPr>
                <a14:m>
                  <m:oMath xmlns:m="http://schemas.openxmlformats.org/officeDocument/2006/math">
                    <m:r>
                      <a:rPr lang="en-US" i="1">
                        <a:latin typeface="Cambria Math" panose="02040503050406030204" pitchFamily="18" charset="0"/>
                      </a:rPr>
                      <m:t>𝜀</m:t>
                    </m:r>
                    <m:r>
                      <a:rPr lang="en-US" b="0" i="0" smtClean="0">
                        <a:latin typeface="Cambria Math" panose="02040503050406030204" pitchFamily="18" charset="0"/>
                      </a:rPr>
                      <m:t>−</m:t>
                    </m:r>
                    <m:r>
                      <m:rPr>
                        <m:sty m:val="p"/>
                      </m:rPr>
                      <a:rPr lang="en-US" b="0" i="0" smtClean="0">
                        <a:latin typeface="Cambria Math" panose="02040503050406030204" pitchFamily="18" charset="0"/>
                      </a:rPr>
                      <m:t>errors</m:t>
                    </m:r>
                    <m:r>
                      <a:rPr lang="en-US" b="0" i="0" smtClean="0">
                        <a:latin typeface="Cambria Math" panose="02040503050406030204" pitchFamily="18" charset="0"/>
                      </a:rPr>
                      <m:t> </m:t>
                    </m:r>
                    <m:r>
                      <m:rPr>
                        <m:sty m:val="p"/>
                      </m:rPr>
                      <a:rPr lang="en-US" b="0" i="0" smtClean="0">
                        <a:latin typeface="Cambria Math" panose="02040503050406030204" pitchFamily="18" charset="0"/>
                      </a:rPr>
                      <m:t>are</m:t>
                    </m:r>
                    <m:r>
                      <a:rPr lang="en-US" b="0" i="0" smtClean="0">
                        <a:latin typeface="Cambria Math" panose="02040503050406030204" pitchFamily="18" charset="0"/>
                      </a:rPr>
                      <m:t> </m:t>
                    </m:r>
                    <m:r>
                      <m:rPr>
                        <m:sty m:val="p"/>
                      </m:rPr>
                      <a:rPr lang="en-US" b="0" i="0" smtClean="0">
                        <a:latin typeface="Cambria Math" panose="02040503050406030204" pitchFamily="18" charset="0"/>
                      </a:rPr>
                      <m:t>independent</m:t>
                    </m:r>
                    <m:r>
                      <a:rPr lang="en-US" b="0" i="0" smtClean="0">
                        <a:latin typeface="Cambria Math" panose="02040503050406030204" pitchFamily="18" charset="0"/>
                      </a:rPr>
                      <m:t>, </m:t>
                    </m:r>
                    <m:r>
                      <m:rPr>
                        <m:sty m:val="p"/>
                      </m:rPr>
                      <a:rPr lang="en-US" b="0" i="0" smtClean="0">
                        <a:latin typeface="Cambria Math" panose="02040503050406030204" pitchFamily="18" charset="0"/>
                      </a:rPr>
                      <m:t>normally</m:t>
                    </m:r>
                    <m:r>
                      <a:rPr lang="en-US" b="0" i="0" smtClean="0">
                        <a:latin typeface="Cambria Math" panose="02040503050406030204" pitchFamily="18" charset="0"/>
                      </a:rPr>
                      <m:t> </m:t>
                    </m:r>
                    <m:r>
                      <m:rPr>
                        <m:sty m:val="p"/>
                      </m:rPr>
                      <a:rPr lang="en-US" b="0" i="0" smtClean="0">
                        <a:latin typeface="Cambria Math" panose="02040503050406030204" pitchFamily="18" charset="0"/>
                      </a:rPr>
                      <m:t>distributed</m:t>
                    </m:r>
                  </m:oMath>
                </a14:m>
                <a:r>
                  <a:rPr lang="en-US" dirty="0"/>
                  <a:t>, with constant variance</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82C2F259-E554-B99E-5026-DE634FF5B9FB}"/>
                  </a:ext>
                </a:extLst>
              </p:cNvPr>
              <p:cNvSpPr>
                <a:spLocks noGrp="1" noRot="1" noChangeAspect="1" noMove="1" noResize="1" noEditPoints="1" noAdjustHandles="1" noChangeArrowheads="1" noChangeShapeType="1" noTextEdit="1"/>
              </p:cNvSpPr>
              <p:nvPr>
                <p:ph idx="1"/>
              </p:nvPr>
            </p:nvSpPr>
            <p:spPr>
              <a:blipFill>
                <a:blip r:embed="rId2"/>
                <a:stretch>
                  <a:fillRect l="-1387" t="-1681"/>
                </a:stretch>
              </a:blipFill>
            </p:spPr>
            <p:txBody>
              <a:bodyPr/>
              <a:lstStyle/>
              <a:p>
                <a:r>
                  <a:rPr lang="en-US">
                    <a:noFill/>
                  </a:rPr>
                  <a:t> </a:t>
                </a:r>
              </a:p>
            </p:txBody>
          </p:sp>
        </mc:Fallback>
      </mc:AlternateContent>
    </p:spTree>
    <p:extLst>
      <p:ext uri="{BB962C8B-B14F-4D97-AF65-F5344CB8AC3E}">
        <p14:creationId xmlns:p14="http://schemas.microsoft.com/office/powerpoint/2010/main" val="41363420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54767-1293-F4F5-4C2E-2CAF0935A329}"/>
              </a:ext>
            </a:extLst>
          </p:cNvPr>
          <p:cNvSpPr>
            <a:spLocks noGrp="1"/>
          </p:cNvSpPr>
          <p:nvPr>
            <p:ph type="title"/>
          </p:nvPr>
        </p:nvSpPr>
        <p:spPr/>
        <p:txBody>
          <a:bodyPr/>
          <a:lstStyle/>
          <a:p>
            <a:r>
              <a:rPr lang="en-US" dirty="0"/>
              <a:t>Residual Diagnostics</a:t>
            </a:r>
          </a:p>
        </p:txBody>
      </p:sp>
      <p:sp>
        <p:nvSpPr>
          <p:cNvPr id="3" name="Content Placeholder 2">
            <a:extLst>
              <a:ext uri="{FF2B5EF4-FFF2-40B4-BE49-F238E27FC236}">
                <a16:creationId xmlns:a16="http://schemas.microsoft.com/office/drawing/2014/main" id="{872AE524-303C-C959-9F53-9F293EE6DBA3}"/>
              </a:ext>
            </a:extLst>
          </p:cNvPr>
          <p:cNvSpPr>
            <a:spLocks noGrp="1"/>
          </p:cNvSpPr>
          <p:nvPr>
            <p:ph idx="1"/>
          </p:nvPr>
        </p:nvSpPr>
        <p:spPr/>
        <p:txBody>
          <a:bodyPr/>
          <a:lstStyle/>
          <a:p>
            <a:r>
              <a:rPr lang="en-US" sz="2800" dirty="0"/>
              <a:t>Residual vs Fitted (predicted values) to check </a:t>
            </a:r>
            <a:r>
              <a:rPr lang="en-US" sz="2800" u="sng" dirty="0"/>
              <a:t>constant variance</a:t>
            </a:r>
          </a:p>
          <a:p>
            <a:endParaRPr lang="en-US" sz="2800" dirty="0"/>
          </a:p>
          <a:p>
            <a:r>
              <a:rPr lang="en-US" sz="2800" dirty="0"/>
              <a:t>q-q plot and/or histogram for </a:t>
            </a:r>
            <a:r>
              <a:rPr lang="en-US" sz="2800" u="sng" dirty="0"/>
              <a:t>normality</a:t>
            </a:r>
          </a:p>
          <a:p>
            <a:endParaRPr lang="en-US" sz="2800" dirty="0"/>
          </a:p>
          <a:p>
            <a:r>
              <a:rPr lang="en-US" sz="2800" dirty="0"/>
              <a:t>Independence assumption is made based on the data collecting process.</a:t>
            </a:r>
          </a:p>
          <a:p>
            <a:pPr lvl="1"/>
            <a:r>
              <a:rPr lang="en-US" sz="2400" dirty="0"/>
              <a:t>If observations are taken on the same subject or thing (repeated measures)</a:t>
            </a:r>
          </a:p>
          <a:p>
            <a:pPr lvl="1"/>
            <a:r>
              <a:rPr lang="en-US" sz="2400" dirty="0"/>
              <a:t>If observations are collected over time (time series)  </a:t>
            </a:r>
          </a:p>
        </p:txBody>
      </p:sp>
    </p:spTree>
    <p:extLst>
      <p:ext uri="{BB962C8B-B14F-4D97-AF65-F5344CB8AC3E}">
        <p14:creationId xmlns:p14="http://schemas.microsoft.com/office/powerpoint/2010/main" val="37512238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7886B-9EC5-DA34-3A53-D8DFEF31BAB5}"/>
              </a:ext>
            </a:extLst>
          </p:cNvPr>
          <p:cNvSpPr>
            <a:spLocks noGrp="1"/>
          </p:cNvSpPr>
          <p:nvPr>
            <p:ph type="title"/>
          </p:nvPr>
        </p:nvSpPr>
        <p:spPr/>
        <p:txBody>
          <a:bodyPr/>
          <a:lstStyle/>
          <a:p>
            <a:r>
              <a:rPr lang="en-US" dirty="0"/>
              <a:t>Residual Panel in R</a:t>
            </a:r>
          </a:p>
        </p:txBody>
      </p:sp>
      <p:pic>
        <p:nvPicPr>
          <p:cNvPr id="4" name="Picture">
            <a:extLst>
              <a:ext uri="{FF2B5EF4-FFF2-40B4-BE49-F238E27FC236}">
                <a16:creationId xmlns:a16="http://schemas.microsoft.com/office/drawing/2014/main" id="{DEECDCA6-4ECD-21DC-086E-1651CD0D5F6A}"/>
              </a:ext>
            </a:extLst>
          </p:cNvPr>
          <p:cNvPicPr>
            <a:picLocks noGrp="1"/>
          </p:cNvPicPr>
          <p:nvPr>
            <p:ph idx="1"/>
          </p:nvPr>
        </p:nvPicPr>
        <p:blipFill>
          <a:blip r:embed="rId2"/>
          <a:stretch>
            <a:fillRect/>
          </a:stretch>
        </p:blipFill>
        <p:spPr bwMode="auto">
          <a:xfrm>
            <a:off x="3009900" y="1397000"/>
            <a:ext cx="6172200" cy="4750991"/>
          </a:xfrm>
          <a:prstGeom prst="rect">
            <a:avLst/>
          </a:prstGeom>
          <a:noFill/>
          <a:ln w="9525">
            <a:noFill/>
            <a:headEnd/>
            <a:tailEnd/>
          </a:ln>
        </p:spPr>
      </p:pic>
      <p:sp>
        <p:nvSpPr>
          <p:cNvPr id="5" name="TextBox 4">
            <a:extLst>
              <a:ext uri="{FF2B5EF4-FFF2-40B4-BE49-F238E27FC236}">
                <a16:creationId xmlns:a16="http://schemas.microsoft.com/office/drawing/2014/main" id="{CF2624F8-7F47-3810-0F7D-76A8C519C4ED}"/>
              </a:ext>
            </a:extLst>
          </p:cNvPr>
          <p:cNvSpPr txBox="1"/>
          <p:nvPr/>
        </p:nvSpPr>
        <p:spPr>
          <a:xfrm>
            <a:off x="609600" y="2209800"/>
            <a:ext cx="2286000" cy="369332"/>
          </a:xfrm>
          <a:prstGeom prst="rect">
            <a:avLst/>
          </a:prstGeom>
          <a:noFill/>
        </p:spPr>
        <p:txBody>
          <a:bodyPr wrap="square" rtlCol="0">
            <a:spAutoFit/>
          </a:bodyPr>
          <a:lstStyle/>
          <a:p>
            <a:r>
              <a:rPr lang="en-US" dirty="0"/>
              <a:t>Constant Variance</a:t>
            </a:r>
          </a:p>
        </p:txBody>
      </p:sp>
      <p:sp>
        <p:nvSpPr>
          <p:cNvPr id="6" name="TextBox 5">
            <a:extLst>
              <a:ext uri="{FF2B5EF4-FFF2-40B4-BE49-F238E27FC236}">
                <a16:creationId xmlns:a16="http://schemas.microsoft.com/office/drawing/2014/main" id="{CA4CC2F3-FF67-96F7-0E84-1AC12B1FD885}"/>
              </a:ext>
            </a:extLst>
          </p:cNvPr>
          <p:cNvSpPr txBox="1"/>
          <p:nvPr/>
        </p:nvSpPr>
        <p:spPr>
          <a:xfrm>
            <a:off x="609600" y="4724400"/>
            <a:ext cx="2286000" cy="369332"/>
          </a:xfrm>
          <a:prstGeom prst="rect">
            <a:avLst/>
          </a:prstGeom>
          <a:noFill/>
        </p:spPr>
        <p:txBody>
          <a:bodyPr wrap="square" rtlCol="0">
            <a:spAutoFit/>
          </a:bodyPr>
          <a:lstStyle/>
          <a:p>
            <a:r>
              <a:rPr lang="en-US" dirty="0"/>
              <a:t>Constant Variance</a:t>
            </a:r>
          </a:p>
        </p:txBody>
      </p:sp>
      <p:sp>
        <p:nvSpPr>
          <p:cNvPr id="7" name="TextBox 6">
            <a:extLst>
              <a:ext uri="{FF2B5EF4-FFF2-40B4-BE49-F238E27FC236}">
                <a16:creationId xmlns:a16="http://schemas.microsoft.com/office/drawing/2014/main" id="{6B4A2725-8E3B-53AA-638B-313495EF7093}"/>
              </a:ext>
            </a:extLst>
          </p:cNvPr>
          <p:cNvSpPr txBox="1"/>
          <p:nvPr/>
        </p:nvSpPr>
        <p:spPr>
          <a:xfrm>
            <a:off x="9334500" y="2209800"/>
            <a:ext cx="2286000" cy="369332"/>
          </a:xfrm>
          <a:prstGeom prst="rect">
            <a:avLst/>
          </a:prstGeom>
          <a:noFill/>
        </p:spPr>
        <p:txBody>
          <a:bodyPr wrap="square" rtlCol="0">
            <a:spAutoFit/>
          </a:bodyPr>
          <a:lstStyle/>
          <a:p>
            <a:r>
              <a:rPr lang="en-US" dirty="0"/>
              <a:t>Normality</a:t>
            </a:r>
          </a:p>
        </p:txBody>
      </p:sp>
      <p:sp>
        <p:nvSpPr>
          <p:cNvPr id="8" name="TextBox 7">
            <a:extLst>
              <a:ext uri="{FF2B5EF4-FFF2-40B4-BE49-F238E27FC236}">
                <a16:creationId xmlns:a16="http://schemas.microsoft.com/office/drawing/2014/main" id="{AC5E25D8-BB07-72AC-A900-A935AFA2A7B0}"/>
              </a:ext>
            </a:extLst>
          </p:cNvPr>
          <p:cNvSpPr txBox="1"/>
          <p:nvPr/>
        </p:nvSpPr>
        <p:spPr>
          <a:xfrm>
            <a:off x="9334500" y="4585900"/>
            <a:ext cx="2286000" cy="646331"/>
          </a:xfrm>
          <a:prstGeom prst="rect">
            <a:avLst/>
          </a:prstGeom>
          <a:noFill/>
        </p:spPr>
        <p:txBody>
          <a:bodyPr wrap="square" rtlCol="0">
            <a:spAutoFit/>
          </a:bodyPr>
          <a:lstStyle/>
          <a:p>
            <a:r>
              <a:rPr lang="en-US" dirty="0"/>
              <a:t>Outliers with high leverage</a:t>
            </a:r>
          </a:p>
        </p:txBody>
      </p:sp>
    </p:spTree>
    <p:extLst>
      <p:ext uri="{BB962C8B-B14F-4D97-AF65-F5344CB8AC3E}">
        <p14:creationId xmlns:p14="http://schemas.microsoft.com/office/powerpoint/2010/main" val="1387160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AB3F90-D566-55BE-54AB-0BC6227360BF}"/>
              </a:ext>
            </a:extLst>
          </p:cNvPr>
          <p:cNvSpPr>
            <a:spLocks noGrp="1"/>
          </p:cNvSpPr>
          <p:nvPr>
            <p:ph type="title"/>
          </p:nvPr>
        </p:nvSpPr>
        <p:spPr/>
        <p:txBody>
          <a:bodyPr/>
          <a:lstStyle/>
          <a:p>
            <a:r>
              <a:rPr lang="en-US" dirty="0"/>
              <a:t>Interpreting Coefficients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372155F-DE27-86FA-9230-2A0A72EBEE79}"/>
                  </a:ext>
                </a:extLst>
              </p:cNvPr>
              <p:cNvSpPr>
                <a:spLocks noGrp="1"/>
              </p:cNvSpPr>
              <p:nvPr>
                <p:ph idx="1"/>
              </p:nvPr>
            </p:nvSpPr>
            <p:spPr/>
            <p:txBody>
              <a:bodyPr/>
              <a:lstStyle/>
              <a:p>
                <a:pPr marL="0" indent="0">
                  <a:buNone/>
                </a:pPr>
                <a:r>
                  <a:rPr lang="en-US" dirty="0"/>
                  <a:t>When each predictor (or subset of predictors) is included in the model only once. </a:t>
                </a:r>
              </a:p>
              <a:p>
                <a:pPr marL="0" indent="0">
                  <a:buNone/>
                </a:pPr>
                <a:endParaRPr lang="en-US" dirty="0"/>
              </a:p>
              <a:p>
                <a:pPr marL="0" indent="0">
                  <a:buNone/>
                </a:pPr>
                <a:r>
                  <a:rPr lang="en-US" dirty="0"/>
                  <a:t>Continuous predictors:  </a:t>
                </a:r>
              </a:p>
              <a:p>
                <a:pPr marL="0" indent="0">
                  <a:buNone/>
                </a:pPr>
                <a:endParaRPr lang="en-US" dirty="0"/>
              </a:p>
              <a:p>
                <a:pPr marL="0" indent="0">
                  <a:buNone/>
                </a:pPr>
                <a:r>
                  <a:rPr lang="en-US" u="sng" dirty="0"/>
                  <a:t>For every 1 unit increase in </a:t>
                </a:r>
                <a14:m>
                  <m:oMath xmlns:m="http://schemas.openxmlformats.org/officeDocument/2006/math">
                    <m:r>
                      <a:rPr lang="en-US" b="0" i="1" u="sng" smtClean="0">
                        <a:latin typeface="Cambria Math" panose="02040503050406030204" pitchFamily="18" charset="0"/>
                      </a:rPr>
                      <m:t>𝑋</m:t>
                    </m:r>
                  </m:oMath>
                </a14:m>
                <a:r>
                  <a:rPr lang="en-US" u="sng" dirty="0"/>
                  <a:t>, there is an increase(decrease) of </a:t>
                </a:r>
                <a14:m>
                  <m:oMath xmlns:m="http://schemas.openxmlformats.org/officeDocument/2006/math">
                    <m:r>
                      <a:rPr lang="en-US" b="0" i="1" u="sng" smtClean="0">
                        <a:latin typeface="Cambria Math" panose="02040503050406030204" pitchFamily="18" charset="0"/>
                      </a:rPr>
                      <m:t>𝛽</m:t>
                    </m:r>
                  </m:oMath>
                </a14:m>
                <a:r>
                  <a:rPr lang="en-US" u="sng" dirty="0"/>
                  <a:t> in the response variable </a:t>
                </a:r>
                <a14:m>
                  <m:oMath xmlns:m="http://schemas.openxmlformats.org/officeDocument/2006/math">
                    <m:r>
                      <a:rPr lang="en-US" b="0" i="1" u="sng" smtClean="0">
                        <a:latin typeface="Cambria Math" panose="02040503050406030204" pitchFamily="18" charset="0"/>
                      </a:rPr>
                      <m:t>𝑌</m:t>
                    </m:r>
                  </m:oMath>
                </a14:m>
                <a:r>
                  <a:rPr lang="en-US" u="sng" dirty="0"/>
                  <a:t> holding the other variables fixed.</a:t>
                </a:r>
              </a:p>
            </p:txBody>
          </p:sp>
        </mc:Choice>
        <mc:Fallback xmlns="">
          <p:sp>
            <p:nvSpPr>
              <p:cNvPr id="5" name="Content Placeholder 4">
                <a:extLst>
                  <a:ext uri="{FF2B5EF4-FFF2-40B4-BE49-F238E27FC236}">
                    <a16:creationId xmlns:a16="http://schemas.microsoft.com/office/drawing/2014/main" id="{4372155F-DE27-86FA-9230-2A0A72EBEE79}"/>
                  </a:ext>
                </a:extLst>
              </p:cNvPr>
              <p:cNvSpPr>
                <a:spLocks noGrp="1" noRot="1" noChangeAspect="1" noMove="1" noResize="1" noEditPoints="1" noAdjustHandles="1" noChangeArrowheads="1" noChangeShapeType="1" noTextEdit="1"/>
              </p:cNvSpPr>
              <p:nvPr>
                <p:ph idx="1"/>
              </p:nvPr>
            </p:nvSpPr>
            <p:spPr>
              <a:blipFill>
                <a:blip r:embed="rId2"/>
                <a:stretch>
                  <a:fillRect l="-1387" t="-1681" r="-578"/>
                </a:stretch>
              </a:blipFill>
            </p:spPr>
            <p:txBody>
              <a:bodyPr/>
              <a:lstStyle/>
              <a:p>
                <a:r>
                  <a:rPr lang="en-US">
                    <a:noFill/>
                  </a:rPr>
                  <a:t> </a:t>
                </a:r>
              </a:p>
            </p:txBody>
          </p:sp>
        </mc:Fallback>
      </mc:AlternateContent>
    </p:spTree>
    <p:extLst>
      <p:ext uri="{BB962C8B-B14F-4D97-AF65-F5344CB8AC3E}">
        <p14:creationId xmlns:p14="http://schemas.microsoft.com/office/powerpoint/2010/main" val="603055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BE4A8-8841-E2D5-6CBC-2D4131C80AA8}"/>
              </a:ext>
            </a:extLst>
          </p:cNvPr>
          <p:cNvSpPr>
            <a:spLocks noGrp="1"/>
          </p:cNvSpPr>
          <p:nvPr>
            <p:ph type="title"/>
          </p:nvPr>
        </p:nvSpPr>
        <p:spPr/>
        <p:txBody>
          <a:bodyPr/>
          <a:lstStyle/>
          <a:p>
            <a:r>
              <a:rPr lang="en-US" dirty="0"/>
              <a:t>Adjusting for Confounders</a:t>
            </a:r>
          </a:p>
        </p:txBody>
      </p:sp>
      <p:sp>
        <p:nvSpPr>
          <p:cNvPr id="3" name="Content Placeholder 2">
            <a:extLst>
              <a:ext uri="{FF2B5EF4-FFF2-40B4-BE49-F238E27FC236}">
                <a16:creationId xmlns:a16="http://schemas.microsoft.com/office/drawing/2014/main" id="{65594C19-5F90-3FA8-F25D-AB90040F3926}"/>
              </a:ext>
            </a:extLst>
          </p:cNvPr>
          <p:cNvSpPr>
            <a:spLocks noGrp="1"/>
          </p:cNvSpPr>
          <p:nvPr>
            <p:ph idx="1"/>
          </p:nvPr>
        </p:nvSpPr>
        <p:spPr/>
        <p:txBody>
          <a:bodyPr/>
          <a:lstStyle/>
          <a:p>
            <a:r>
              <a:rPr lang="en-US" dirty="0"/>
              <a:t>The phrase “holding all other variables fixed” should not be taken lightly.</a:t>
            </a:r>
          </a:p>
          <a:p>
            <a:r>
              <a:rPr lang="en-US" dirty="0"/>
              <a:t>It’s the most advantageous property MLR has.</a:t>
            </a:r>
          </a:p>
          <a:p>
            <a:r>
              <a:rPr lang="en-US" dirty="0"/>
              <a:t>Get away from the generic terminology.</a:t>
            </a:r>
          </a:p>
          <a:p>
            <a:pPr lvl="1"/>
            <a:r>
              <a:rPr lang="en-US" dirty="0"/>
              <a:t>Put it in context to the real-world.</a:t>
            </a:r>
          </a:p>
        </p:txBody>
      </p:sp>
    </p:spTree>
    <p:extLst>
      <p:ext uri="{BB962C8B-B14F-4D97-AF65-F5344CB8AC3E}">
        <p14:creationId xmlns:p14="http://schemas.microsoft.com/office/powerpoint/2010/main" val="17600241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9D9CF-4FA0-B5A6-A9E9-ECCEC72B9F2D}"/>
              </a:ext>
            </a:extLst>
          </p:cNvPr>
          <p:cNvSpPr>
            <a:spLocks noGrp="1"/>
          </p:cNvSpPr>
          <p:nvPr>
            <p:ph type="title"/>
          </p:nvPr>
        </p:nvSpPr>
        <p:spPr>
          <a:xfrm>
            <a:off x="609600" y="228600"/>
            <a:ext cx="10972800" cy="1143000"/>
          </a:xfrm>
        </p:spPr>
        <p:txBody>
          <a:bodyPr/>
          <a:lstStyle/>
          <a:p>
            <a:r>
              <a:rPr lang="en-US" dirty="0"/>
              <a:t>Scenario 1: Sex Discrimination, Part IV</a:t>
            </a:r>
          </a:p>
        </p:txBody>
      </p:sp>
      <p:sp>
        <p:nvSpPr>
          <p:cNvPr id="3" name="Content Placeholder 2">
            <a:extLst>
              <a:ext uri="{FF2B5EF4-FFF2-40B4-BE49-F238E27FC236}">
                <a16:creationId xmlns:a16="http://schemas.microsoft.com/office/drawing/2014/main" id="{D479B562-C343-1494-5C26-A15283C1421B}"/>
              </a:ext>
            </a:extLst>
          </p:cNvPr>
          <p:cNvSpPr>
            <a:spLocks noGrp="1"/>
          </p:cNvSpPr>
          <p:nvPr>
            <p:ph idx="1"/>
          </p:nvPr>
        </p:nvSpPr>
        <p:spPr>
          <a:xfrm>
            <a:off x="609600" y="1600203"/>
            <a:ext cx="5181600" cy="4525963"/>
          </a:xfrm>
        </p:spPr>
        <p:txBody>
          <a:bodyPr/>
          <a:lstStyle/>
          <a:p>
            <a:r>
              <a:rPr lang="en-US" dirty="0"/>
              <a:t>Key statistical conclusion</a:t>
            </a:r>
          </a:p>
          <a:p>
            <a:pPr lvl="1"/>
            <a:r>
              <a:rPr lang="en-US" dirty="0"/>
              <a:t>It is estimated that a male </a:t>
            </a:r>
            <a:r>
              <a:rPr lang="en-US" b="1" u="sng" dirty="0"/>
              <a:t>with the same IQ level and education level</a:t>
            </a:r>
            <a:r>
              <a:rPr lang="en-US" u="sng" dirty="0"/>
              <a:t> </a:t>
            </a:r>
            <a:r>
              <a:rPr lang="en-US" dirty="0"/>
              <a:t>has an average salary that is $28,463.29 higher than females</a:t>
            </a:r>
          </a:p>
        </p:txBody>
      </p:sp>
      <p:pic>
        <p:nvPicPr>
          <p:cNvPr id="4" name="Content Placeholder 4" descr="Text&#10;&#10;Description automatically generated">
            <a:extLst>
              <a:ext uri="{FF2B5EF4-FFF2-40B4-BE49-F238E27FC236}">
                <a16:creationId xmlns:a16="http://schemas.microsoft.com/office/drawing/2014/main" id="{43E56510-BA21-8A94-DF9F-CE9669EE892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67" t="42105" r="-1" b="19298"/>
          <a:stretch/>
        </p:blipFill>
        <p:spPr>
          <a:xfrm>
            <a:off x="6090212" y="2286000"/>
            <a:ext cx="6101788" cy="1880616"/>
          </a:xfrm>
          <a:prstGeom prst="rect">
            <a:avLst/>
          </a:prstGeom>
        </p:spPr>
      </p:pic>
      <p:cxnSp>
        <p:nvCxnSpPr>
          <p:cNvPr id="6" name="Straight Connector 5">
            <a:extLst>
              <a:ext uri="{FF2B5EF4-FFF2-40B4-BE49-F238E27FC236}">
                <a16:creationId xmlns:a16="http://schemas.microsoft.com/office/drawing/2014/main" id="{F52603BD-748F-7761-5B7E-3DF864D8C41C}"/>
              </a:ext>
            </a:extLst>
          </p:cNvPr>
          <p:cNvCxnSpPr>
            <a:cxnSpLocks/>
          </p:cNvCxnSpPr>
          <p:nvPr/>
        </p:nvCxnSpPr>
        <p:spPr>
          <a:xfrm>
            <a:off x="7391400" y="3733800"/>
            <a:ext cx="3657600" cy="0"/>
          </a:xfrm>
          <a:prstGeom prst="line">
            <a:avLst/>
          </a:prstGeom>
          <a:ln w="444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8309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5489-07DB-FC52-19F8-949F6871D487}"/>
              </a:ext>
            </a:extLst>
          </p:cNvPr>
          <p:cNvSpPr>
            <a:spLocks noGrp="1"/>
          </p:cNvSpPr>
          <p:nvPr>
            <p:ph type="title"/>
          </p:nvPr>
        </p:nvSpPr>
        <p:spPr/>
        <p:txBody>
          <a:bodyPr/>
          <a:lstStyle/>
          <a:p>
            <a:r>
              <a:rPr lang="en-US" dirty="0"/>
              <a:t>Transformations</a:t>
            </a:r>
          </a:p>
        </p:txBody>
      </p:sp>
      <p:sp>
        <p:nvSpPr>
          <p:cNvPr id="3" name="Content Placeholder 2">
            <a:extLst>
              <a:ext uri="{FF2B5EF4-FFF2-40B4-BE49-F238E27FC236}">
                <a16:creationId xmlns:a16="http://schemas.microsoft.com/office/drawing/2014/main" id="{3F1C0AFA-A5D1-6694-F6EE-87C56D7E4D17}"/>
              </a:ext>
            </a:extLst>
          </p:cNvPr>
          <p:cNvSpPr>
            <a:spLocks noGrp="1"/>
          </p:cNvSpPr>
          <p:nvPr>
            <p:ph idx="1"/>
          </p:nvPr>
        </p:nvSpPr>
        <p:spPr>
          <a:xfrm>
            <a:off x="609600" y="1600203"/>
            <a:ext cx="5562600" cy="4525963"/>
          </a:xfrm>
        </p:spPr>
        <p:txBody>
          <a:bodyPr/>
          <a:lstStyle/>
          <a:p>
            <a:r>
              <a:rPr lang="en-US" dirty="0"/>
              <a:t>Transformations are valuable tools when the assumptions of a linear regression model are not met.</a:t>
            </a:r>
          </a:p>
          <a:p>
            <a:r>
              <a:rPr lang="en-US" dirty="0"/>
              <a:t>Some basic rules of thumb apply when examining the residual vs. fitted graphs.</a:t>
            </a:r>
          </a:p>
        </p:txBody>
      </p:sp>
      <p:graphicFrame>
        <p:nvGraphicFramePr>
          <p:cNvPr id="5" name="Content Placeholder 4">
            <a:extLst>
              <a:ext uri="{FF2B5EF4-FFF2-40B4-BE49-F238E27FC236}">
                <a16:creationId xmlns:a16="http://schemas.microsoft.com/office/drawing/2014/main" id="{3AE370DC-7821-E08C-E215-73FED910B938}"/>
              </a:ext>
            </a:extLst>
          </p:cNvPr>
          <p:cNvGraphicFramePr>
            <a:graphicFrameLocks noGrp="1"/>
          </p:cNvGraphicFramePr>
          <p:nvPr>
            <p:ph sz="half" idx="4294967295"/>
          </p:nvPr>
        </p:nvGraphicFramePr>
        <p:xfrm>
          <a:off x="6686788" y="1600203"/>
          <a:ext cx="4895612" cy="41147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78155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DFC29-AD7C-5DC1-888F-51E28FDAC1A8}"/>
              </a:ext>
            </a:extLst>
          </p:cNvPr>
          <p:cNvSpPr>
            <a:spLocks noGrp="1"/>
          </p:cNvSpPr>
          <p:nvPr>
            <p:ph type="title"/>
          </p:nvPr>
        </p:nvSpPr>
        <p:spPr/>
        <p:txBody>
          <a:bodyPr/>
          <a:lstStyle/>
          <a:p>
            <a:r>
              <a:rPr lang="en-US" dirty="0"/>
              <a:t>Constant Variance Issues</a:t>
            </a:r>
          </a:p>
        </p:txBody>
      </p:sp>
      <p:pic>
        <p:nvPicPr>
          <p:cNvPr id="5" name="Content Placeholder 4" descr="Chart, scatter chart&#10;&#10;Description automatically generated">
            <a:extLst>
              <a:ext uri="{FF2B5EF4-FFF2-40B4-BE49-F238E27FC236}">
                <a16:creationId xmlns:a16="http://schemas.microsoft.com/office/drawing/2014/main" id="{DA72CD98-515A-68B5-9E59-8CA6F923FDA5}"/>
              </a:ext>
            </a:extLst>
          </p:cNvPr>
          <p:cNvPicPr>
            <a:picLocks noGrp="1" noChangeAspect="1"/>
          </p:cNvPicPr>
          <p:nvPr>
            <p:ph idx="4294967295"/>
          </p:nvPr>
        </p:nvPicPr>
        <p:blipFill rotWithShape="1">
          <a:blip r:embed="rId3">
            <a:extLst>
              <a:ext uri="{28A0092B-C50C-407E-A947-70E740481C1C}">
                <a14:useLocalDpi xmlns:a14="http://schemas.microsoft.com/office/drawing/2010/main" val="0"/>
              </a:ext>
            </a:extLst>
          </a:blip>
          <a:srcRect t="3391"/>
          <a:stretch/>
        </p:blipFill>
        <p:spPr>
          <a:xfrm>
            <a:off x="800100" y="1600200"/>
            <a:ext cx="10591800" cy="4863236"/>
          </a:xfrm>
          <a:prstGeom prst="rect">
            <a:avLst/>
          </a:prstGeom>
        </p:spPr>
      </p:pic>
    </p:spTree>
    <p:extLst>
      <p:ext uri="{BB962C8B-B14F-4D97-AF65-F5344CB8AC3E}">
        <p14:creationId xmlns:p14="http://schemas.microsoft.com/office/powerpoint/2010/main" val="14854584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647D5-0FB4-D233-CDC8-C1CF47C146EB}"/>
              </a:ext>
            </a:extLst>
          </p:cNvPr>
          <p:cNvSpPr>
            <a:spLocks noGrp="1"/>
          </p:cNvSpPr>
          <p:nvPr>
            <p:ph type="title"/>
          </p:nvPr>
        </p:nvSpPr>
        <p:spPr/>
        <p:txBody>
          <a:bodyPr/>
          <a:lstStyle/>
          <a:p>
            <a:r>
              <a:rPr lang="en-US" dirty="0"/>
              <a:t>Trend in Residual vs. Fitted Plot</a:t>
            </a:r>
          </a:p>
        </p:txBody>
      </p:sp>
      <p:pic>
        <p:nvPicPr>
          <p:cNvPr id="5" name="Content Placeholder 4" descr="Chart, scatter chart&#10;&#10;Description automatically generated">
            <a:extLst>
              <a:ext uri="{FF2B5EF4-FFF2-40B4-BE49-F238E27FC236}">
                <a16:creationId xmlns:a16="http://schemas.microsoft.com/office/drawing/2014/main" id="{01E22B0C-0CD6-02A0-F0DC-263F0C2D9332}"/>
              </a:ext>
            </a:extLst>
          </p:cNvPr>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t="2076" r="3146"/>
          <a:stretch/>
        </p:blipFill>
        <p:spPr>
          <a:xfrm>
            <a:off x="918355" y="1605915"/>
            <a:ext cx="10435445" cy="4775522"/>
          </a:xfrm>
        </p:spPr>
      </p:pic>
    </p:spTree>
    <p:extLst>
      <p:ext uri="{BB962C8B-B14F-4D97-AF65-F5344CB8AC3E}">
        <p14:creationId xmlns:p14="http://schemas.microsoft.com/office/powerpoint/2010/main" val="17713477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C5DD8-E7A2-285D-43EC-56C54082694D}"/>
              </a:ext>
            </a:extLst>
          </p:cNvPr>
          <p:cNvSpPr>
            <a:spLocks noGrp="1"/>
          </p:cNvSpPr>
          <p:nvPr>
            <p:ph type="title"/>
          </p:nvPr>
        </p:nvSpPr>
        <p:spPr/>
        <p:txBody>
          <a:bodyPr/>
          <a:lstStyle/>
          <a:p>
            <a:r>
              <a:rPr lang="en-US" dirty="0"/>
              <a:t>Transformation Pros and Cons</a:t>
            </a:r>
          </a:p>
        </p:txBody>
      </p:sp>
      <p:sp>
        <p:nvSpPr>
          <p:cNvPr id="3" name="Content Placeholder 2">
            <a:extLst>
              <a:ext uri="{FF2B5EF4-FFF2-40B4-BE49-F238E27FC236}">
                <a16:creationId xmlns:a16="http://schemas.microsoft.com/office/drawing/2014/main" id="{0E1ACC1A-C6F3-6C1A-913D-D982B92EDE14}"/>
              </a:ext>
            </a:extLst>
          </p:cNvPr>
          <p:cNvSpPr>
            <a:spLocks noGrp="1"/>
          </p:cNvSpPr>
          <p:nvPr>
            <p:ph idx="1"/>
          </p:nvPr>
        </p:nvSpPr>
        <p:spPr/>
        <p:txBody>
          <a:bodyPr/>
          <a:lstStyle/>
          <a:p>
            <a:r>
              <a:rPr lang="en-US" dirty="0"/>
              <a:t>Produces models where assumptions are met</a:t>
            </a:r>
          </a:p>
          <a:p>
            <a:r>
              <a:rPr lang="en-US" dirty="0"/>
              <a:t>Reliable statistical inference on the regression coefficients</a:t>
            </a:r>
          </a:p>
          <a:p>
            <a:r>
              <a:rPr lang="en-US" dirty="0"/>
              <a:t>Interpretation of the coefficients is still readily available for log transformations</a:t>
            </a:r>
          </a:p>
          <a:p>
            <a:r>
              <a:rPr lang="en-US" dirty="0"/>
              <a:t>Interpretation is difficult when using exotic transformations</a:t>
            </a:r>
          </a:p>
          <a:p>
            <a:pPr lvl="1"/>
            <a:r>
              <a:rPr lang="en-US" dirty="0"/>
              <a:t>Nonissue if predicting only</a:t>
            </a:r>
          </a:p>
        </p:txBody>
      </p:sp>
    </p:spTree>
    <p:extLst>
      <p:ext uri="{BB962C8B-B14F-4D97-AF65-F5344CB8AC3E}">
        <p14:creationId xmlns:p14="http://schemas.microsoft.com/office/powerpoint/2010/main" val="833994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E032-0744-4E8C-0C6C-C732F2CFC3C2}"/>
              </a:ext>
            </a:extLst>
          </p:cNvPr>
          <p:cNvSpPr>
            <a:spLocks noGrp="1"/>
          </p:cNvSpPr>
          <p:nvPr>
            <p:ph type="title"/>
          </p:nvPr>
        </p:nvSpPr>
        <p:spPr/>
        <p:txBody>
          <a:bodyPr/>
          <a:lstStyle/>
          <a:p>
            <a:r>
              <a:rPr lang="en-US" dirty="0"/>
              <a:t>Summary of Interpretations</a:t>
            </a:r>
          </a:p>
        </p:txBody>
      </p:sp>
      <mc:AlternateContent xmlns:mc="http://schemas.openxmlformats.org/markup-compatibility/2006" xmlns:a14="http://schemas.microsoft.com/office/drawing/2010/main">
        <mc:Choice Requires="a14">
          <p:graphicFrame>
            <p:nvGraphicFramePr>
              <p:cNvPr id="6" name="Table 4">
                <a:extLst>
                  <a:ext uri="{FF2B5EF4-FFF2-40B4-BE49-F238E27FC236}">
                    <a16:creationId xmlns:a16="http://schemas.microsoft.com/office/drawing/2014/main" id="{6D2EC1C6-C7EF-C43B-F9B9-E6014BB51C9D}"/>
                  </a:ext>
                </a:extLst>
              </p:cNvPr>
              <p:cNvGraphicFramePr>
                <a:graphicFrameLocks/>
              </p:cNvGraphicFramePr>
              <p:nvPr/>
            </p:nvGraphicFramePr>
            <p:xfrm>
              <a:off x="615386" y="1524001"/>
              <a:ext cx="10967013" cy="4572000"/>
            </p:xfrm>
            <a:graphic>
              <a:graphicData uri="http://schemas.openxmlformats.org/drawingml/2006/table">
                <a:tbl>
                  <a:tblPr firstRow="1" bandRow="1">
                    <a:tableStyleId>{5C22544A-7EE6-4342-B048-85BDC9FD1C3A}</a:tableStyleId>
                  </a:tblPr>
                  <a:tblGrid>
                    <a:gridCol w="3589204">
                      <a:extLst>
                        <a:ext uri="{9D8B030D-6E8A-4147-A177-3AD203B41FA5}">
                          <a16:colId xmlns:a16="http://schemas.microsoft.com/office/drawing/2014/main" val="1191914335"/>
                        </a:ext>
                      </a:extLst>
                    </a:gridCol>
                    <a:gridCol w="7377809">
                      <a:extLst>
                        <a:ext uri="{9D8B030D-6E8A-4147-A177-3AD203B41FA5}">
                          <a16:colId xmlns:a16="http://schemas.microsoft.com/office/drawing/2014/main" val="810228864"/>
                        </a:ext>
                      </a:extLst>
                    </a:gridCol>
                  </a:tblGrid>
                  <a:tr h="914400">
                    <a:tc>
                      <a:txBody>
                        <a:bodyPr/>
                        <a:lstStyle/>
                        <a:p>
                          <a:pPr algn="ctr"/>
                          <a:r>
                            <a:rPr lang="en-US" sz="2000" dirty="0"/>
                            <a:t>Model</a:t>
                          </a:r>
                        </a:p>
                      </a:txBody>
                      <a:tcPr anchor="ctr"/>
                    </a:tc>
                    <a:tc>
                      <a:txBody>
                        <a:bodyPr/>
                        <a:lstStyle/>
                        <a:p>
                          <a:pPr algn="ctr"/>
                          <a:r>
                            <a:rPr lang="en-US" sz="2000" dirty="0"/>
                            <a:t>Interpretation of </a:t>
                          </a:r>
                          <a14:m>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𝜷</m:t>
                                  </m:r>
                                </m:e>
                                <m:sub>
                                  <m:r>
                                    <a:rPr lang="en-US" sz="2000" b="1" i="1" smtClean="0">
                                      <a:latin typeface="Cambria Math" panose="02040503050406030204" pitchFamily="18" charset="0"/>
                                    </a:rPr>
                                    <m:t>𝟏</m:t>
                                  </m:r>
                                </m:sub>
                              </m:sSub>
                            </m:oMath>
                          </a14:m>
                          <a:r>
                            <a:rPr lang="en-US" sz="2000" dirty="0"/>
                            <a:t> for continuous predictor </a:t>
                          </a:r>
                          <a14:m>
                            <m:oMath xmlns:m="http://schemas.openxmlformats.org/officeDocument/2006/math">
                              <m:r>
                                <a:rPr lang="en-US" sz="2000" b="1" i="1" smtClean="0">
                                  <a:latin typeface="Cambria Math" panose="02040503050406030204" pitchFamily="18" charset="0"/>
                                </a:rPr>
                                <m:t>𝑿</m:t>
                              </m:r>
                            </m:oMath>
                          </a14:m>
                          <a:endParaRPr lang="en-US" sz="2000" dirty="0"/>
                        </a:p>
                      </a:txBody>
                      <a:tcPr anchor="ctr"/>
                    </a:tc>
                    <a:extLst>
                      <a:ext uri="{0D108BD9-81ED-4DB2-BD59-A6C34878D82A}">
                        <a16:rowId xmlns:a16="http://schemas.microsoft.com/office/drawing/2014/main" val="1341586076"/>
                      </a:ext>
                    </a:extLst>
                  </a:tr>
                  <a:tr h="914400">
                    <a:tc>
                      <a:txBody>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𝑌</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𝑋</m:t>
                                </m:r>
                                <m:r>
                                  <a:rPr lang="en-US" sz="2000" b="0" i="1" smtClean="0">
                                    <a:latin typeface="Cambria Math" panose="02040503050406030204" pitchFamily="18" charset="0"/>
                                  </a:rPr>
                                  <m:t>+…</m:t>
                                </m:r>
                              </m:oMath>
                            </m:oMathPara>
                          </a14:m>
                          <a:endParaRPr lang="en-US" sz="2000" dirty="0"/>
                        </a:p>
                      </a:txBody>
                      <a:tcPr anchor="ctr"/>
                    </a:tc>
                    <a:tc>
                      <a:txBody>
                        <a:bodyPr/>
                        <a:lstStyle/>
                        <a:p>
                          <a:r>
                            <a:rPr lang="en-US" sz="2000" dirty="0"/>
                            <a:t>For 1</a:t>
                          </a:r>
                          <a:r>
                            <a:rPr lang="en-US" sz="2000" baseline="0" dirty="0"/>
                            <a:t> unit i</a:t>
                          </a:r>
                          <a:r>
                            <a:rPr lang="en-US" sz="2000" dirty="0"/>
                            <a:t>ncrease in </a:t>
                          </a:r>
                          <a14:m>
                            <m:oMath xmlns:m="http://schemas.openxmlformats.org/officeDocument/2006/math">
                              <m:r>
                                <a:rPr lang="en-US" sz="2000" b="0" i="1" smtClean="0">
                                  <a:latin typeface="Cambria Math" panose="02040503050406030204" pitchFamily="18" charset="0"/>
                                </a:rPr>
                                <m:t>𝑋</m:t>
                              </m:r>
                            </m:oMath>
                          </a14:m>
                          <a:r>
                            <a:rPr lang="en-US" sz="2000" dirty="0"/>
                            <a:t>, the mean of the response will change by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1</m:t>
                                  </m:r>
                                </m:sub>
                              </m:sSub>
                            </m:oMath>
                          </a14:m>
                          <a:r>
                            <a:rPr lang="en-US" sz="2000" dirty="0"/>
                            <a:t> holding all other variables fixed.</a:t>
                          </a:r>
                        </a:p>
                      </a:txBody>
                      <a:tcPr anchor="ctr"/>
                    </a:tc>
                    <a:extLst>
                      <a:ext uri="{0D108BD9-81ED-4DB2-BD59-A6C34878D82A}">
                        <a16:rowId xmlns:a16="http://schemas.microsoft.com/office/drawing/2014/main" val="2889295274"/>
                      </a:ext>
                    </a:extLst>
                  </a:tr>
                  <a:tr h="914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ln</m:t>
                                </m:r>
                                <m:r>
                                  <a:rPr lang="en-US" sz="2000" b="0" i="1" smtClean="0">
                                    <a:latin typeface="Cambria Math" panose="02040503050406030204" pitchFamily="18" charset="0"/>
                                  </a:rPr>
                                  <m:t>⁡(</m:t>
                                </m:r>
                                <m:r>
                                  <a:rPr lang="en-US" sz="2000" b="0" i="1" smtClean="0">
                                    <a:latin typeface="Cambria Math" panose="02040503050406030204" pitchFamily="18" charset="0"/>
                                  </a:rPr>
                                  <m:t>𝑌</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𝑋</m:t>
                                </m:r>
                                <m:r>
                                  <a:rPr lang="en-US" sz="2000" b="0" i="1" smtClean="0">
                                    <a:latin typeface="Cambria Math" panose="02040503050406030204" pitchFamily="18" charset="0"/>
                                  </a:rPr>
                                  <m:t>+…</m:t>
                                </m:r>
                              </m:oMath>
                            </m:oMathPara>
                          </a14:m>
                          <a:endParaRPr lang="en-US" sz="2000" dirty="0"/>
                        </a:p>
                        <a:p>
                          <a:endParaRPr lang="en-US" sz="2000" dirty="0"/>
                        </a:p>
                      </a:txBody>
                      <a:tcPr anchor="ctr"/>
                    </a:tc>
                    <a:tc>
                      <a:txBody>
                        <a:bodyPr/>
                        <a:lstStyle/>
                        <a:p>
                          <a:r>
                            <a:rPr lang="en-US" sz="2000" dirty="0"/>
                            <a:t>For 1 unit increase in </a:t>
                          </a:r>
                          <a14:m>
                            <m:oMath xmlns:m="http://schemas.openxmlformats.org/officeDocument/2006/math">
                              <m:r>
                                <a:rPr lang="en-US" sz="2000" b="0" i="1" smtClean="0">
                                  <a:latin typeface="Cambria Math" panose="02040503050406030204" pitchFamily="18" charset="0"/>
                                </a:rPr>
                                <m:t>𝑋</m:t>
                              </m:r>
                            </m:oMath>
                          </a14:m>
                          <a:r>
                            <a:rPr lang="en-US" sz="2000" dirty="0"/>
                            <a:t>, the median of the response will change by </a:t>
                          </a:r>
                          <a14:m>
                            <m:oMath xmlns:m="http://schemas.openxmlformats.org/officeDocument/2006/math">
                              <m:r>
                                <a:rPr lang="en-US" sz="2000" b="0" i="1" smtClean="0">
                                  <a:latin typeface="Cambria Math" panose="02040503050406030204" pitchFamily="18" charset="0"/>
                                </a:rPr>
                                <m:t>100∗</m:t>
                              </m:r>
                              <m:d>
                                <m:dPr>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1</m:t>
                                          </m:r>
                                        </m:sub>
                                      </m:sSub>
                                    </m:sup>
                                  </m:sSup>
                                  <m:r>
                                    <a:rPr lang="en-US" sz="2000" b="0" i="1" smtClean="0">
                                      <a:latin typeface="Cambria Math" panose="02040503050406030204" pitchFamily="18" charset="0"/>
                                    </a:rPr>
                                    <m:t>−1</m:t>
                                  </m:r>
                                </m:e>
                              </m:d>
                              <m:r>
                                <a:rPr lang="en-US" sz="2000" b="0" i="1" smtClean="0">
                                  <a:latin typeface="Cambria Math" panose="02040503050406030204" pitchFamily="18" charset="0"/>
                                </a:rPr>
                                <m:t>%</m:t>
                              </m:r>
                            </m:oMath>
                          </a14:m>
                          <a:r>
                            <a:rPr lang="en-US" sz="2000" dirty="0"/>
                            <a:t> holding all other variables fixed.</a:t>
                          </a:r>
                        </a:p>
                      </a:txBody>
                      <a:tcPr anchor="ctr"/>
                    </a:tc>
                    <a:extLst>
                      <a:ext uri="{0D108BD9-81ED-4DB2-BD59-A6C34878D82A}">
                        <a16:rowId xmlns:a16="http://schemas.microsoft.com/office/drawing/2014/main" val="2067085162"/>
                      </a:ext>
                    </a:extLst>
                  </a:tr>
                  <a:tr h="914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𝑌</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1</m:t>
                                    </m:r>
                                  </m:sub>
                                </m:sSub>
                                <m:r>
                                  <m:rPr>
                                    <m:sty m:val="p"/>
                                  </m:rPr>
                                  <a:rPr lang="en-US" sz="2000" b="0" i="0" smtClean="0">
                                    <a:latin typeface="Cambria Math" panose="02040503050406030204" pitchFamily="18" charset="0"/>
                                  </a:rPr>
                                  <m:t>ln</m:t>
                                </m:r>
                                <m:r>
                                  <a:rPr lang="en-US" sz="2000" b="0" i="1" smtClean="0">
                                    <a:latin typeface="Cambria Math" panose="02040503050406030204" pitchFamily="18" charset="0"/>
                                  </a:rPr>
                                  <m:t>⁡(</m:t>
                                </m:r>
                                <m:r>
                                  <a:rPr lang="en-US" sz="2000" b="0" i="1" smtClean="0">
                                    <a:latin typeface="Cambria Math" panose="02040503050406030204" pitchFamily="18" charset="0"/>
                                  </a:rPr>
                                  <m:t>𝑋</m:t>
                                </m:r>
                                <m:r>
                                  <a:rPr lang="en-US" sz="2000" b="0" i="1" smtClean="0">
                                    <a:latin typeface="Cambria Math" panose="02040503050406030204" pitchFamily="18" charset="0"/>
                                  </a:rPr>
                                  <m:t>)+…</m:t>
                                </m:r>
                              </m:oMath>
                            </m:oMathPara>
                          </a14:m>
                          <a:endParaRPr lang="en-US" sz="2000" dirty="0"/>
                        </a:p>
                        <a:p>
                          <a:endParaRPr lang="en-US" sz="2000" dirty="0"/>
                        </a:p>
                      </a:txBody>
                      <a:tcPr anchor="ctr"/>
                    </a:tc>
                    <a:tc>
                      <a:txBody>
                        <a:bodyPr/>
                        <a:lstStyle/>
                        <a:p>
                          <a:r>
                            <a:rPr lang="en-US" sz="2000" dirty="0"/>
                            <a:t>For a doubling</a:t>
                          </a:r>
                          <a:r>
                            <a:rPr lang="en-US" sz="2000" baseline="0" dirty="0"/>
                            <a:t> of </a:t>
                          </a:r>
                          <a14:m>
                            <m:oMath xmlns:m="http://schemas.openxmlformats.org/officeDocument/2006/math">
                              <m:r>
                                <a:rPr lang="en-US" sz="2000" b="0" i="1" smtClean="0">
                                  <a:latin typeface="Cambria Math" panose="02040503050406030204" pitchFamily="18" charset="0"/>
                                </a:rPr>
                                <m:t>𝑋</m:t>
                              </m:r>
                            </m:oMath>
                          </a14:m>
                          <a:r>
                            <a:rPr lang="en-US" sz="2000" dirty="0"/>
                            <a:t>, the mean of the response will  change by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1</m:t>
                                  </m:r>
                                </m:sub>
                              </m:sSub>
                              <m:r>
                                <m:rPr>
                                  <m:sty m:val="p"/>
                                </m:rPr>
                                <a:rPr lang="en-US" sz="2000" b="0" i="0" smtClean="0">
                                  <a:latin typeface="Cambria Math" panose="02040503050406030204" pitchFamily="18" charset="0"/>
                                </a:rPr>
                                <m:t>ln</m:t>
                              </m:r>
                              <m:r>
                                <a:rPr lang="en-US" sz="2000" b="0" i="0" smtClean="0">
                                  <a:latin typeface="Cambria Math" panose="02040503050406030204" pitchFamily="18" charset="0"/>
                                </a:rPr>
                                <m:t>(2)</m:t>
                              </m:r>
                            </m:oMath>
                          </a14:m>
                          <a:r>
                            <a:rPr lang="en-US" sz="2000" dirty="0"/>
                            <a:t> holding all other variables</a:t>
                          </a:r>
                          <a:r>
                            <a:rPr lang="en-US" sz="2000" baseline="0" dirty="0"/>
                            <a:t> fixed.</a:t>
                          </a:r>
                          <a:endParaRPr lang="en-US" sz="2000" dirty="0"/>
                        </a:p>
                      </a:txBody>
                      <a:tcPr anchor="ctr"/>
                    </a:tc>
                    <a:extLst>
                      <a:ext uri="{0D108BD9-81ED-4DB2-BD59-A6C34878D82A}">
                        <a16:rowId xmlns:a16="http://schemas.microsoft.com/office/drawing/2014/main" val="3519582603"/>
                      </a:ext>
                    </a:extLst>
                  </a:tr>
                  <a:tr h="914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ln</m:t>
                                </m:r>
                                <m:r>
                                  <a:rPr lang="en-US" sz="2000" b="0" i="1" smtClean="0">
                                    <a:latin typeface="Cambria Math" panose="02040503050406030204" pitchFamily="18" charset="0"/>
                                  </a:rPr>
                                  <m:t>⁡(</m:t>
                                </m:r>
                                <m:r>
                                  <a:rPr lang="en-US" sz="2000" b="0" i="1" smtClean="0">
                                    <a:latin typeface="Cambria Math" panose="02040503050406030204" pitchFamily="18" charset="0"/>
                                  </a:rPr>
                                  <m:t>𝑌</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1</m:t>
                                    </m:r>
                                  </m:sub>
                                </m:sSub>
                                <m:r>
                                  <m:rPr>
                                    <m:sty m:val="p"/>
                                  </m:rPr>
                                  <a:rPr lang="en-US" sz="2000" b="0" i="0" smtClean="0">
                                    <a:latin typeface="Cambria Math" panose="02040503050406030204" pitchFamily="18" charset="0"/>
                                  </a:rPr>
                                  <m:t>ln</m:t>
                                </m:r>
                                <m:r>
                                  <a:rPr lang="en-US" sz="2000" b="0" i="1" smtClean="0">
                                    <a:latin typeface="Cambria Math" panose="02040503050406030204" pitchFamily="18" charset="0"/>
                                  </a:rPr>
                                  <m:t>⁡(</m:t>
                                </m:r>
                                <m:r>
                                  <a:rPr lang="en-US" sz="2000" b="0" i="1" smtClean="0">
                                    <a:latin typeface="Cambria Math" panose="02040503050406030204" pitchFamily="18" charset="0"/>
                                  </a:rPr>
                                  <m:t>𝑋</m:t>
                                </m:r>
                                <m:r>
                                  <a:rPr lang="en-US" sz="2000" b="0" i="1" smtClean="0">
                                    <a:latin typeface="Cambria Math" panose="02040503050406030204" pitchFamily="18" charset="0"/>
                                  </a:rPr>
                                  <m:t>)+…</m:t>
                                </m:r>
                              </m:oMath>
                            </m:oMathPara>
                          </a14:m>
                          <a:endParaRPr lang="en-US" sz="2000" dirty="0"/>
                        </a:p>
                        <a:p>
                          <a:endParaRPr lang="en-US" sz="20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For a doubling</a:t>
                          </a:r>
                          <a:r>
                            <a:rPr lang="en-US" sz="2000" baseline="0" dirty="0"/>
                            <a:t> of </a:t>
                          </a:r>
                          <a14:m>
                            <m:oMath xmlns:m="http://schemas.openxmlformats.org/officeDocument/2006/math">
                              <m:r>
                                <a:rPr lang="en-US" sz="2000" b="0" i="1" smtClean="0">
                                  <a:latin typeface="Cambria Math" panose="02040503050406030204" pitchFamily="18" charset="0"/>
                                </a:rPr>
                                <m:t>𝑋</m:t>
                              </m:r>
                            </m:oMath>
                          </a14:m>
                          <a:r>
                            <a:rPr lang="en-US" sz="2000" dirty="0"/>
                            <a:t>, the median of the response will change by 100*</a:t>
                          </a:r>
                          <a14:m>
                            <m:oMath xmlns:m="http://schemas.openxmlformats.org/officeDocument/2006/math">
                              <m:d>
                                <m:dPr>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2</m:t>
                                      </m:r>
                                    </m:e>
                                    <m:sup>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1</m:t>
                                          </m:r>
                                        </m:sub>
                                      </m:sSub>
                                    </m:sup>
                                  </m:sSup>
                                  <m:r>
                                    <a:rPr lang="en-US" sz="2000" b="0" i="1" smtClean="0">
                                      <a:latin typeface="Cambria Math" panose="02040503050406030204" pitchFamily="18" charset="0"/>
                                    </a:rPr>
                                    <m:t>−1</m:t>
                                  </m:r>
                                </m:e>
                              </m:d>
                              <m:r>
                                <a:rPr lang="en-US" sz="2000" b="0" i="1" smtClean="0">
                                  <a:latin typeface="Cambria Math" panose="02040503050406030204" pitchFamily="18" charset="0"/>
                                </a:rPr>
                                <m:t>%</m:t>
                              </m:r>
                            </m:oMath>
                          </a14:m>
                          <a:r>
                            <a:rPr lang="en-US" sz="2000" dirty="0"/>
                            <a:t> holding all other variables</a:t>
                          </a:r>
                          <a:r>
                            <a:rPr lang="en-US" sz="2000" baseline="0" dirty="0"/>
                            <a:t> fixed.</a:t>
                          </a:r>
                          <a:endParaRPr lang="en-US" sz="2000" dirty="0"/>
                        </a:p>
                      </a:txBody>
                      <a:tcPr anchor="ctr"/>
                    </a:tc>
                    <a:extLst>
                      <a:ext uri="{0D108BD9-81ED-4DB2-BD59-A6C34878D82A}">
                        <a16:rowId xmlns:a16="http://schemas.microsoft.com/office/drawing/2014/main" val="3637744075"/>
                      </a:ext>
                    </a:extLst>
                  </a:tr>
                </a:tbl>
              </a:graphicData>
            </a:graphic>
          </p:graphicFrame>
        </mc:Choice>
        <mc:Fallback xmlns="">
          <p:graphicFrame>
            <p:nvGraphicFramePr>
              <p:cNvPr id="6" name="Table 4">
                <a:extLst>
                  <a:ext uri="{FF2B5EF4-FFF2-40B4-BE49-F238E27FC236}">
                    <a16:creationId xmlns:a16="http://schemas.microsoft.com/office/drawing/2014/main" id="{6D2EC1C6-C7EF-C43B-F9B9-E6014BB51C9D}"/>
                  </a:ext>
                </a:extLst>
              </p:cNvPr>
              <p:cNvGraphicFramePr>
                <a:graphicFrameLocks/>
              </p:cNvGraphicFramePr>
              <p:nvPr>
                <p:extLst>
                  <p:ext uri="{D42A27DB-BD31-4B8C-83A1-F6EECF244321}">
                    <p14:modId xmlns:p14="http://schemas.microsoft.com/office/powerpoint/2010/main" val="1281439811"/>
                  </p:ext>
                </p:extLst>
              </p:nvPr>
            </p:nvGraphicFramePr>
            <p:xfrm>
              <a:off x="615386" y="1524001"/>
              <a:ext cx="10967013" cy="4572000"/>
            </p:xfrm>
            <a:graphic>
              <a:graphicData uri="http://schemas.openxmlformats.org/drawingml/2006/table">
                <a:tbl>
                  <a:tblPr firstRow="1" bandRow="1">
                    <a:tableStyleId>{5C22544A-7EE6-4342-B048-85BDC9FD1C3A}</a:tableStyleId>
                  </a:tblPr>
                  <a:tblGrid>
                    <a:gridCol w="3589204">
                      <a:extLst>
                        <a:ext uri="{9D8B030D-6E8A-4147-A177-3AD203B41FA5}">
                          <a16:colId xmlns:a16="http://schemas.microsoft.com/office/drawing/2014/main" val="1191914335"/>
                        </a:ext>
                      </a:extLst>
                    </a:gridCol>
                    <a:gridCol w="7377809">
                      <a:extLst>
                        <a:ext uri="{9D8B030D-6E8A-4147-A177-3AD203B41FA5}">
                          <a16:colId xmlns:a16="http://schemas.microsoft.com/office/drawing/2014/main" val="810228864"/>
                        </a:ext>
                      </a:extLst>
                    </a:gridCol>
                  </a:tblGrid>
                  <a:tr h="914400">
                    <a:tc>
                      <a:txBody>
                        <a:bodyPr/>
                        <a:lstStyle/>
                        <a:p>
                          <a:pPr algn="ctr"/>
                          <a:r>
                            <a:rPr lang="en-US" sz="2000" dirty="0"/>
                            <a:t>Model</a:t>
                          </a:r>
                        </a:p>
                      </a:txBody>
                      <a:tcPr anchor="ctr"/>
                    </a:tc>
                    <a:tc>
                      <a:txBody>
                        <a:bodyPr/>
                        <a:lstStyle/>
                        <a:p>
                          <a:endParaRPr lang="en-US"/>
                        </a:p>
                      </a:txBody>
                      <a:tcPr anchor="ctr">
                        <a:blipFill>
                          <a:blip r:embed="rId3"/>
                          <a:stretch>
                            <a:fillRect l="-48720" t="-1333" r="-413" b="-402000"/>
                          </a:stretch>
                        </a:blipFill>
                      </a:tcPr>
                    </a:tc>
                    <a:extLst>
                      <a:ext uri="{0D108BD9-81ED-4DB2-BD59-A6C34878D82A}">
                        <a16:rowId xmlns:a16="http://schemas.microsoft.com/office/drawing/2014/main" val="1341586076"/>
                      </a:ext>
                    </a:extLst>
                  </a:tr>
                  <a:tr h="914400">
                    <a:tc>
                      <a:txBody>
                        <a:bodyPr/>
                        <a:lstStyle/>
                        <a:p>
                          <a:endParaRPr lang="en-US"/>
                        </a:p>
                      </a:txBody>
                      <a:tcPr anchor="ctr">
                        <a:blipFill>
                          <a:blip r:embed="rId3"/>
                          <a:stretch>
                            <a:fillRect l="-170" t="-101333" r="-206452" b="-302000"/>
                          </a:stretch>
                        </a:blipFill>
                      </a:tcPr>
                    </a:tc>
                    <a:tc>
                      <a:txBody>
                        <a:bodyPr/>
                        <a:lstStyle/>
                        <a:p>
                          <a:endParaRPr lang="en-US"/>
                        </a:p>
                      </a:txBody>
                      <a:tcPr anchor="ctr">
                        <a:blipFill>
                          <a:blip r:embed="rId3"/>
                          <a:stretch>
                            <a:fillRect l="-48720" t="-101333" r="-413" b="-302000"/>
                          </a:stretch>
                        </a:blipFill>
                      </a:tcPr>
                    </a:tc>
                    <a:extLst>
                      <a:ext uri="{0D108BD9-81ED-4DB2-BD59-A6C34878D82A}">
                        <a16:rowId xmlns:a16="http://schemas.microsoft.com/office/drawing/2014/main" val="2889295274"/>
                      </a:ext>
                    </a:extLst>
                  </a:tr>
                  <a:tr h="914400">
                    <a:tc>
                      <a:txBody>
                        <a:bodyPr/>
                        <a:lstStyle/>
                        <a:p>
                          <a:endParaRPr lang="en-US"/>
                        </a:p>
                      </a:txBody>
                      <a:tcPr anchor="ctr">
                        <a:blipFill>
                          <a:blip r:embed="rId3"/>
                          <a:stretch>
                            <a:fillRect l="-170" t="-200000" r="-206452" b="-200000"/>
                          </a:stretch>
                        </a:blipFill>
                      </a:tcPr>
                    </a:tc>
                    <a:tc>
                      <a:txBody>
                        <a:bodyPr/>
                        <a:lstStyle/>
                        <a:p>
                          <a:endParaRPr lang="en-US"/>
                        </a:p>
                      </a:txBody>
                      <a:tcPr anchor="ctr">
                        <a:blipFill>
                          <a:blip r:embed="rId3"/>
                          <a:stretch>
                            <a:fillRect l="-48720" t="-200000" r="-413" b="-200000"/>
                          </a:stretch>
                        </a:blipFill>
                      </a:tcPr>
                    </a:tc>
                    <a:extLst>
                      <a:ext uri="{0D108BD9-81ED-4DB2-BD59-A6C34878D82A}">
                        <a16:rowId xmlns:a16="http://schemas.microsoft.com/office/drawing/2014/main" val="2067085162"/>
                      </a:ext>
                    </a:extLst>
                  </a:tr>
                  <a:tr h="914400">
                    <a:tc>
                      <a:txBody>
                        <a:bodyPr/>
                        <a:lstStyle/>
                        <a:p>
                          <a:endParaRPr lang="en-US"/>
                        </a:p>
                      </a:txBody>
                      <a:tcPr anchor="ctr">
                        <a:blipFill>
                          <a:blip r:embed="rId3"/>
                          <a:stretch>
                            <a:fillRect l="-170" t="-302000" r="-206452" b="-101333"/>
                          </a:stretch>
                        </a:blipFill>
                      </a:tcPr>
                    </a:tc>
                    <a:tc>
                      <a:txBody>
                        <a:bodyPr/>
                        <a:lstStyle/>
                        <a:p>
                          <a:endParaRPr lang="en-US"/>
                        </a:p>
                      </a:txBody>
                      <a:tcPr anchor="ctr">
                        <a:blipFill>
                          <a:blip r:embed="rId3"/>
                          <a:stretch>
                            <a:fillRect l="-48720" t="-302000" r="-413" b="-101333"/>
                          </a:stretch>
                        </a:blipFill>
                      </a:tcPr>
                    </a:tc>
                    <a:extLst>
                      <a:ext uri="{0D108BD9-81ED-4DB2-BD59-A6C34878D82A}">
                        <a16:rowId xmlns:a16="http://schemas.microsoft.com/office/drawing/2014/main" val="3519582603"/>
                      </a:ext>
                    </a:extLst>
                  </a:tr>
                  <a:tr h="914400">
                    <a:tc>
                      <a:txBody>
                        <a:bodyPr/>
                        <a:lstStyle/>
                        <a:p>
                          <a:endParaRPr lang="en-US"/>
                        </a:p>
                      </a:txBody>
                      <a:tcPr anchor="ctr">
                        <a:blipFill>
                          <a:blip r:embed="rId3"/>
                          <a:stretch>
                            <a:fillRect l="-170" t="-402000" r="-206452" b="-1333"/>
                          </a:stretch>
                        </a:blipFill>
                      </a:tcPr>
                    </a:tc>
                    <a:tc>
                      <a:txBody>
                        <a:bodyPr/>
                        <a:lstStyle/>
                        <a:p>
                          <a:endParaRPr lang="en-US"/>
                        </a:p>
                      </a:txBody>
                      <a:tcPr anchor="ctr">
                        <a:blipFill>
                          <a:blip r:embed="rId3"/>
                          <a:stretch>
                            <a:fillRect l="-48720" t="-402000" r="-413" b="-1333"/>
                          </a:stretch>
                        </a:blipFill>
                      </a:tcPr>
                    </a:tc>
                    <a:extLst>
                      <a:ext uri="{0D108BD9-81ED-4DB2-BD59-A6C34878D82A}">
                        <a16:rowId xmlns:a16="http://schemas.microsoft.com/office/drawing/2014/main" val="3637744075"/>
                      </a:ext>
                    </a:extLst>
                  </a:tr>
                </a:tbl>
              </a:graphicData>
            </a:graphic>
          </p:graphicFrame>
        </mc:Fallback>
      </mc:AlternateContent>
    </p:spTree>
    <p:extLst>
      <p:ext uri="{BB962C8B-B14F-4D97-AF65-F5344CB8AC3E}">
        <p14:creationId xmlns:p14="http://schemas.microsoft.com/office/powerpoint/2010/main" val="2434193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plot of chunk unnamed-chunk-6">
            <a:extLst>
              <a:ext uri="{FF2B5EF4-FFF2-40B4-BE49-F238E27FC236}">
                <a16:creationId xmlns:a16="http://schemas.microsoft.com/office/drawing/2014/main" id="{9AC7CC03-0FEA-EE67-A943-1AFCEDE80B9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826"/>
          <a:stretch/>
        </p:blipFill>
        <p:spPr bwMode="auto">
          <a:xfrm>
            <a:off x="7162800" y="1346147"/>
            <a:ext cx="2837180" cy="5437928"/>
          </a:xfrm>
          <a:prstGeom prst="rect">
            <a:avLst/>
          </a:prstGeom>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17253E3-5796-BF82-8A9D-4225FF412CB3}"/>
              </a:ext>
            </a:extLst>
          </p:cNvPr>
          <p:cNvSpPr>
            <a:spLocks noGrp="1"/>
          </p:cNvSpPr>
          <p:nvPr>
            <p:ph type="title"/>
          </p:nvPr>
        </p:nvSpPr>
        <p:spPr/>
        <p:txBody>
          <a:bodyPr/>
          <a:lstStyle/>
          <a:p>
            <a:r>
              <a:rPr lang="en-US" dirty="0"/>
              <a:t>Visualizing Interactions</a:t>
            </a:r>
          </a:p>
        </p:txBody>
      </p:sp>
      <p:sp>
        <p:nvSpPr>
          <p:cNvPr id="4" name="Content Placeholder 5">
            <a:extLst>
              <a:ext uri="{FF2B5EF4-FFF2-40B4-BE49-F238E27FC236}">
                <a16:creationId xmlns:a16="http://schemas.microsoft.com/office/drawing/2014/main" id="{5EF3D591-4352-DD20-4147-2D312D850705}"/>
              </a:ext>
            </a:extLst>
          </p:cNvPr>
          <p:cNvSpPr txBox="1">
            <a:spLocks/>
          </p:cNvSpPr>
          <p:nvPr/>
        </p:nvSpPr>
        <p:spPr>
          <a:xfrm>
            <a:off x="1214670" y="1777901"/>
            <a:ext cx="4617170" cy="4394295"/>
          </a:xfrm>
          <a:prstGeom prst="rect">
            <a:avLst/>
          </a:prstGeom>
        </p:spPr>
        <p:txBody>
          <a:bodyPr vert="horz" lIns="91440" tIns="45720" rIns="91440" bIns="45720" rtlCol="0">
            <a:noAutofit/>
          </a:bodyPr>
          <a:lst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charset="0"/>
              <a:buNone/>
            </a:pPr>
            <a:r>
              <a:rPr lang="en-US" dirty="0"/>
              <a:t>Additive</a:t>
            </a:r>
          </a:p>
          <a:p>
            <a:pPr marL="0" indent="0">
              <a:buFont typeface="Arial" charset="0"/>
              <a:buNone/>
            </a:pPr>
            <a:r>
              <a:rPr lang="en-US" dirty="0"/>
              <a:t>lm(y ~ x1 + x2)</a:t>
            </a:r>
          </a:p>
          <a:p>
            <a:pPr marL="0" indent="0">
              <a:buFont typeface="Arial" charset="0"/>
              <a:buNone/>
            </a:pPr>
            <a:endParaRPr lang="en-US" dirty="0"/>
          </a:p>
          <a:p>
            <a:pPr marL="0" indent="0">
              <a:buFont typeface="Arial" charset="0"/>
              <a:buNone/>
            </a:pPr>
            <a:endParaRPr lang="en-US" dirty="0"/>
          </a:p>
          <a:p>
            <a:pPr marL="0" indent="0">
              <a:buFont typeface="Arial" charset="0"/>
              <a:buNone/>
            </a:pPr>
            <a:endParaRPr lang="en-US" dirty="0"/>
          </a:p>
          <a:p>
            <a:pPr marL="0" indent="0">
              <a:buFont typeface="Arial" charset="0"/>
              <a:buNone/>
            </a:pPr>
            <a:r>
              <a:rPr lang="en-US" dirty="0"/>
              <a:t>Nonadditive (interaction)</a:t>
            </a:r>
          </a:p>
          <a:p>
            <a:pPr marL="0" indent="0">
              <a:buFont typeface="Arial" charset="0"/>
              <a:buNone/>
            </a:pPr>
            <a:r>
              <a:rPr lang="en-US" dirty="0"/>
              <a:t>lm(y ~ x1 + x2 + x1:x2)</a:t>
            </a:r>
          </a:p>
        </p:txBody>
      </p:sp>
      <p:cxnSp>
        <p:nvCxnSpPr>
          <p:cNvPr id="6" name="Straight Connector 5">
            <a:extLst>
              <a:ext uri="{FF2B5EF4-FFF2-40B4-BE49-F238E27FC236}">
                <a16:creationId xmlns:a16="http://schemas.microsoft.com/office/drawing/2014/main" id="{3FE93657-8701-4E1D-1E3F-BE7485A527BA}"/>
              </a:ext>
            </a:extLst>
          </p:cNvPr>
          <p:cNvCxnSpPr>
            <a:cxnSpLocks/>
          </p:cNvCxnSpPr>
          <p:nvPr/>
        </p:nvCxnSpPr>
        <p:spPr>
          <a:xfrm>
            <a:off x="1143000" y="4038600"/>
            <a:ext cx="990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13041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253E3-5796-BF82-8A9D-4225FF412CB3}"/>
              </a:ext>
            </a:extLst>
          </p:cNvPr>
          <p:cNvSpPr>
            <a:spLocks noGrp="1"/>
          </p:cNvSpPr>
          <p:nvPr>
            <p:ph type="title"/>
          </p:nvPr>
        </p:nvSpPr>
        <p:spPr/>
        <p:txBody>
          <a:bodyPr>
            <a:noAutofit/>
          </a:bodyPr>
          <a:lstStyle/>
          <a:p>
            <a:r>
              <a:rPr lang="en-US" dirty="0"/>
              <a:t>Visualizing Interactions (cont.)</a:t>
            </a:r>
          </a:p>
        </p:txBody>
      </p:sp>
      <p:pic>
        <p:nvPicPr>
          <p:cNvPr id="7" name="Picture 2">
            <a:extLst>
              <a:ext uri="{FF2B5EF4-FFF2-40B4-BE49-F238E27FC236}">
                <a16:creationId xmlns:a16="http://schemas.microsoft.com/office/drawing/2014/main" id="{561CC7BD-4FF1-5C20-3926-FE83B3C86065}"/>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6661246" y="1752600"/>
            <a:ext cx="3558668" cy="2137912"/>
          </a:xfrm>
        </p:spPr>
      </p:pic>
      <p:sp>
        <p:nvSpPr>
          <p:cNvPr id="4" name="Content Placeholder 5">
            <a:extLst>
              <a:ext uri="{FF2B5EF4-FFF2-40B4-BE49-F238E27FC236}">
                <a16:creationId xmlns:a16="http://schemas.microsoft.com/office/drawing/2014/main" id="{5EF3D591-4352-DD20-4147-2D312D850705}"/>
              </a:ext>
            </a:extLst>
          </p:cNvPr>
          <p:cNvSpPr txBox="1">
            <a:spLocks/>
          </p:cNvSpPr>
          <p:nvPr/>
        </p:nvSpPr>
        <p:spPr>
          <a:xfrm>
            <a:off x="1216152" y="1777902"/>
            <a:ext cx="4666598" cy="4029822"/>
          </a:xfrm>
          <a:prstGeom prst="rect">
            <a:avLst/>
          </a:prstGeom>
        </p:spPr>
        <p:txBody>
          <a:bodyPr vert="horz" lIns="91440" tIns="45720" rIns="91440" bIns="45720" rtlCol="0">
            <a:noAutofit/>
          </a:bodyPr>
          <a:lst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charset="0"/>
              <a:buNone/>
            </a:pPr>
            <a:r>
              <a:rPr lang="en-US" dirty="0"/>
              <a:t>Additive</a:t>
            </a:r>
          </a:p>
          <a:p>
            <a:pPr marL="0" indent="0">
              <a:buFont typeface="Arial" charset="0"/>
              <a:buNone/>
            </a:pPr>
            <a:r>
              <a:rPr lang="en-US" dirty="0"/>
              <a:t>lm(y ~ x1 + x2)</a:t>
            </a:r>
          </a:p>
          <a:p>
            <a:pPr marL="0" indent="0">
              <a:buFont typeface="Arial" charset="0"/>
              <a:buNone/>
            </a:pPr>
            <a:endParaRPr lang="en-US" dirty="0"/>
          </a:p>
          <a:p>
            <a:pPr marL="0" indent="0">
              <a:buFont typeface="Arial" charset="0"/>
              <a:buNone/>
            </a:pPr>
            <a:endParaRPr lang="en-US" dirty="0"/>
          </a:p>
          <a:p>
            <a:pPr marL="0" indent="0">
              <a:buFont typeface="Arial" charset="0"/>
              <a:buNone/>
            </a:pPr>
            <a:endParaRPr lang="en-US" dirty="0"/>
          </a:p>
          <a:p>
            <a:pPr marL="0" indent="0">
              <a:buFont typeface="Arial" charset="0"/>
              <a:buNone/>
            </a:pPr>
            <a:r>
              <a:rPr lang="en-US" dirty="0"/>
              <a:t>Nonadditive (interaction)</a:t>
            </a:r>
          </a:p>
          <a:p>
            <a:pPr marL="0" indent="0">
              <a:buFont typeface="Arial" charset="0"/>
              <a:buNone/>
            </a:pPr>
            <a:r>
              <a:rPr lang="en-US" dirty="0"/>
              <a:t>lm(y ~ x1 + x2 + x1:x2)</a:t>
            </a:r>
          </a:p>
        </p:txBody>
      </p:sp>
      <p:pic>
        <p:nvPicPr>
          <p:cNvPr id="8" name="Picture 2">
            <a:extLst>
              <a:ext uri="{FF2B5EF4-FFF2-40B4-BE49-F238E27FC236}">
                <a16:creationId xmlns:a16="http://schemas.microsoft.com/office/drawing/2014/main" id="{FD29612B-97E2-1AD7-4530-B12231C085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1246" y="4495801"/>
            <a:ext cx="3558668" cy="2138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31636B1F-F01B-27EC-BE20-90B6C14F681A}"/>
              </a:ext>
            </a:extLst>
          </p:cNvPr>
          <p:cNvSpPr txBox="1"/>
          <p:nvPr/>
        </p:nvSpPr>
        <p:spPr>
          <a:xfrm>
            <a:off x="7030880" y="1409135"/>
            <a:ext cx="2819400" cy="369332"/>
          </a:xfrm>
          <a:prstGeom prst="rect">
            <a:avLst/>
          </a:prstGeom>
          <a:noFill/>
        </p:spPr>
        <p:txBody>
          <a:bodyPr wrap="square" rtlCol="0">
            <a:noAutofit/>
          </a:bodyPr>
          <a:lstStyle/>
          <a:p>
            <a:pPr algn="ctr"/>
            <a:r>
              <a:rPr lang="en-US" dirty="0"/>
              <a:t>Two category variables</a:t>
            </a:r>
          </a:p>
        </p:txBody>
      </p:sp>
      <p:sp>
        <p:nvSpPr>
          <p:cNvPr id="9" name="TextBox 8">
            <a:extLst>
              <a:ext uri="{FF2B5EF4-FFF2-40B4-BE49-F238E27FC236}">
                <a16:creationId xmlns:a16="http://schemas.microsoft.com/office/drawing/2014/main" id="{63766D0E-FF8D-0EED-EC87-28EDBD3FE84B}"/>
              </a:ext>
            </a:extLst>
          </p:cNvPr>
          <p:cNvSpPr txBox="1"/>
          <p:nvPr/>
        </p:nvSpPr>
        <p:spPr>
          <a:xfrm>
            <a:off x="6607223" y="4126469"/>
            <a:ext cx="3666714" cy="369332"/>
          </a:xfrm>
          <a:prstGeom prst="rect">
            <a:avLst/>
          </a:prstGeom>
          <a:noFill/>
        </p:spPr>
        <p:txBody>
          <a:bodyPr wrap="square" rtlCol="0">
            <a:noAutofit/>
          </a:bodyPr>
          <a:lstStyle/>
          <a:p>
            <a:pPr algn="ctr"/>
            <a:r>
              <a:rPr lang="en-US" dirty="0"/>
              <a:t>Two category variables interaction</a:t>
            </a:r>
          </a:p>
        </p:txBody>
      </p:sp>
      <p:cxnSp>
        <p:nvCxnSpPr>
          <p:cNvPr id="10" name="Straight Connector 9">
            <a:extLst>
              <a:ext uri="{FF2B5EF4-FFF2-40B4-BE49-F238E27FC236}">
                <a16:creationId xmlns:a16="http://schemas.microsoft.com/office/drawing/2014/main" id="{69BCC966-A3C3-65D6-4CC6-3C62D6C6923B}"/>
              </a:ext>
            </a:extLst>
          </p:cNvPr>
          <p:cNvCxnSpPr>
            <a:cxnSpLocks/>
          </p:cNvCxnSpPr>
          <p:nvPr/>
        </p:nvCxnSpPr>
        <p:spPr>
          <a:xfrm>
            <a:off x="1066800" y="4075639"/>
            <a:ext cx="990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1927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EAD61-5E57-97DF-31ED-A80B2A6B7EF0}"/>
              </a:ext>
            </a:extLst>
          </p:cNvPr>
          <p:cNvSpPr>
            <a:spLocks noGrp="1"/>
          </p:cNvSpPr>
          <p:nvPr>
            <p:ph type="title"/>
          </p:nvPr>
        </p:nvSpPr>
        <p:spPr/>
        <p:txBody>
          <a:bodyPr/>
          <a:lstStyle/>
          <a:p>
            <a:r>
              <a:rPr lang="en-US" dirty="0"/>
              <a:t>Unit 2</a:t>
            </a:r>
          </a:p>
        </p:txBody>
      </p:sp>
      <p:sp>
        <p:nvSpPr>
          <p:cNvPr id="4" name="Text Placeholder 3">
            <a:extLst>
              <a:ext uri="{FF2B5EF4-FFF2-40B4-BE49-F238E27FC236}">
                <a16:creationId xmlns:a16="http://schemas.microsoft.com/office/drawing/2014/main" id="{BF40BB55-0E40-2D24-3722-E5A513D7211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004433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5C988-026A-F773-37D9-897B405FB5B7}"/>
              </a:ext>
            </a:extLst>
          </p:cNvPr>
          <p:cNvSpPr>
            <a:spLocks noGrp="1"/>
          </p:cNvSpPr>
          <p:nvPr>
            <p:ph type="title"/>
          </p:nvPr>
        </p:nvSpPr>
        <p:spPr/>
        <p:txBody>
          <a:bodyPr/>
          <a:lstStyle/>
          <a:p>
            <a:r>
              <a:rPr lang="en-US" dirty="0"/>
              <a:t>The “Error” with MSE</a:t>
            </a:r>
          </a:p>
        </p:txBody>
      </p:sp>
      <p:sp>
        <p:nvSpPr>
          <p:cNvPr id="3" name="Content Placeholder 2">
            <a:extLst>
              <a:ext uri="{FF2B5EF4-FFF2-40B4-BE49-F238E27FC236}">
                <a16:creationId xmlns:a16="http://schemas.microsoft.com/office/drawing/2014/main" id="{EC3548A7-F686-9BC3-5313-1E8E0E047AF6}"/>
              </a:ext>
            </a:extLst>
          </p:cNvPr>
          <p:cNvSpPr>
            <a:spLocks noGrp="1"/>
          </p:cNvSpPr>
          <p:nvPr>
            <p:ph idx="1"/>
          </p:nvPr>
        </p:nvSpPr>
        <p:spPr/>
        <p:txBody>
          <a:bodyPr/>
          <a:lstStyle/>
          <a:p>
            <a:pPr marL="0" indent="0">
              <a:buNone/>
            </a:pPr>
            <a:r>
              <a:rPr lang="en-US" dirty="0"/>
              <a:t>If we calculate the MSE metric on the data set that was used to build the model, then:</a:t>
            </a:r>
          </a:p>
          <a:p>
            <a:pPr marL="514350" indent="-514350">
              <a:buFont typeface="+mj-lt"/>
              <a:buAutoNum type="arabicPeriod"/>
            </a:pPr>
            <a:r>
              <a:rPr lang="en-US" dirty="0"/>
              <a:t>The MSE values are not reliable for comparing models</a:t>
            </a:r>
          </a:p>
          <a:p>
            <a:pPr marL="914400" lvl="1" indent="-514350"/>
            <a:r>
              <a:rPr lang="en-US" dirty="0"/>
              <a:t>Favors complicated models</a:t>
            </a:r>
          </a:p>
          <a:p>
            <a:pPr marL="914400" lvl="1" indent="-514350"/>
            <a:r>
              <a:rPr lang="en-US" dirty="0"/>
              <a:t>Can be driven to 0 artificially</a:t>
            </a:r>
          </a:p>
          <a:p>
            <a:pPr marL="514350" indent="-514350">
              <a:buFont typeface="+mj-lt"/>
              <a:buAutoNum type="arabicPeriod"/>
            </a:pPr>
            <a:r>
              <a:rPr lang="en-US" dirty="0"/>
              <a:t>No guarantee that the MSE will be reproduced on future data</a:t>
            </a:r>
          </a:p>
          <a:p>
            <a:pPr marL="514350" indent="-514350">
              <a:buFont typeface="+mj-lt"/>
              <a:buAutoNum type="arabicPeriod"/>
            </a:pPr>
            <a:endParaRPr lang="en-US" dirty="0"/>
          </a:p>
        </p:txBody>
      </p:sp>
    </p:spTree>
    <p:extLst>
      <p:ext uri="{BB962C8B-B14F-4D97-AF65-F5344CB8AC3E}">
        <p14:creationId xmlns:p14="http://schemas.microsoft.com/office/powerpoint/2010/main" val="2960466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49A51-B57D-02EA-D461-918FA34D56D9}"/>
              </a:ext>
            </a:extLst>
          </p:cNvPr>
          <p:cNvSpPr>
            <a:spLocks noGrp="1"/>
          </p:cNvSpPr>
          <p:nvPr>
            <p:ph type="title"/>
          </p:nvPr>
        </p:nvSpPr>
        <p:spPr/>
        <p:txBody>
          <a:bodyPr/>
          <a:lstStyle/>
          <a:p>
            <a:r>
              <a:rPr lang="en-US" dirty="0"/>
              <a:t>Assessing Reproducibility</a:t>
            </a:r>
          </a:p>
        </p:txBody>
      </p:sp>
      <p:sp>
        <p:nvSpPr>
          <p:cNvPr id="3" name="Content Placeholder 2">
            <a:extLst>
              <a:ext uri="{FF2B5EF4-FFF2-40B4-BE49-F238E27FC236}">
                <a16:creationId xmlns:a16="http://schemas.microsoft.com/office/drawing/2014/main" id="{937C651A-B6FF-01AF-5288-5E97B794E2CA}"/>
              </a:ext>
            </a:extLst>
          </p:cNvPr>
          <p:cNvSpPr>
            <a:spLocks noGrp="1"/>
          </p:cNvSpPr>
          <p:nvPr>
            <p:ph idx="1"/>
          </p:nvPr>
        </p:nvSpPr>
        <p:spPr/>
        <p:txBody>
          <a:bodyPr/>
          <a:lstStyle/>
          <a:p>
            <a:pPr marL="514350" indent="-514350">
              <a:buFont typeface="+mj-lt"/>
              <a:buAutoNum type="arabicPeriod"/>
            </a:pPr>
            <a:r>
              <a:rPr lang="en-US" dirty="0"/>
              <a:t>Take the data set and divide it into two data sets.</a:t>
            </a:r>
          </a:p>
          <a:p>
            <a:pPr lvl="1"/>
            <a:r>
              <a:rPr lang="en-US" dirty="0"/>
              <a:t>The first set has most of the data (70</a:t>
            </a:r>
            <a:r>
              <a:rPr lang="en-US" sz="2800" dirty="0"/>
              <a:t>–</a:t>
            </a:r>
            <a:r>
              <a:rPr lang="en-US" dirty="0"/>
              <a:t>80%) and is referred to as the </a:t>
            </a:r>
            <a:r>
              <a:rPr lang="en-US" b="1" i="1" dirty="0"/>
              <a:t>training set</a:t>
            </a:r>
            <a:r>
              <a:rPr lang="en-US" dirty="0"/>
              <a:t>.</a:t>
            </a:r>
            <a:endParaRPr lang="en-US" b="1" i="1" dirty="0"/>
          </a:p>
          <a:p>
            <a:pPr lvl="1"/>
            <a:r>
              <a:rPr lang="en-US" dirty="0"/>
              <a:t>The remaining data forms the second data set and is called the </a:t>
            </a:r>
            <a:r>
              <a:rPr lang="en-US" b="1" i="1" dirty="0"/>
              <a:t>validation set</a:t>
            </a:r>
            <a:r>
              <a:rPr lang="en-US" dirty="0"/>
              <a:t>.</a:t>
            </a:r>
            <a:endParaRPr lang="en-US" b="1" i="1" dirty="0"/>
          </a:p>
          <a:p>
            <a:pPr marL="514350" indent="-514350">
              <a:buFont typeface="+mj-lt"/>
              <a:buAutoNum type="arabicPeriod"/>
            </a:pPr>
            <a:r>
              <a:rPr lang="en-US" dirty="0"/>
              <a:t>Use the training set to build your candidate models.</a:t>
            </a:r>
          </a:p>
          <a:p>
            <a:pPr marL="514350" indent="-514350">
              <a:buFont typeface="+mj-lt"/>
              <a:buAutoNum type="arabicPeriod"/>
            </a:pPr>
            <a:r>
              <a:rPr lang="en-US" dirty="0"/>
              <a:t>Use your models from step 2 to compute the MSE of the validation data only.</a:t>
            </a:r>
          </a:p>
        </p:txBody>
      </p:sp>
    </p:spTree>
    <p:extLst>
      <p:ext uri="{BB962C8B-B14F-4D97-AF65-F5344CB8AC3E}">
        <p14:creationId xmlns:p14="http://schemas.microsoft.com/office/powerpoint/2010/main" val="667217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FBC14-F1E4-EEDC-DE8D-93708AAC0D94}"/>
              </a:ext>
            </a:extLst>
          </p:cNvPr>
          <p:cNvSpPr>
            <a:spLocks noGrp="1"/>
          </p:cNvSpPr>
          <p:nvPr>
            <p:ph type="title"/>
          </p:nvPr>
        </p:nvSpPr>
        <p:spPr/>
        <p:txBody>
          <a:bodyPr>
            <a:noAutofit/>
          </a:bodyPr>
          <a:lstStyle/>
          <a:p>
            <a:r>
              <a:rPr lang="en-US" dirty="0"/>
              <a:t>Parametric Example</a:t>
            </a:r>
          </a:p>
        </p:txBody>
      </p:sp>
      <p:pic>
        <p:nvPicPr>
          <p:cNvPr id="7" name="Picture 6">
            <a:extLst>
              <a:ext uri="{FF2B5EF4-FFF2-40B4-BE49-F238E27FC236}">
                <a16:creationId xmlns:a16="http://schemas.microsoft.com/office/drawing/2014/main" id="{F224F857-C247-C989-FDF0-7B0A8FCF647C}"/>
              </a:ext>
            </a:extLst>
          </p:cNvPr>
          <p:cNvPicPr>
            <a:picLocks noChangeAspect="1"/>
          </p:cNvPicPr>
          <p:nvPr/>
        </p:nvPicPr>
        <p:blipFill>
          <a:blip r:embed="rId2"/>
          <a:stretch>
            <a:fillRect/>
          </a:stretch>
        </p:blipFill>
        <p:spPr>
          <a:xfrm>
            <a:off x="1828800" y="1600200"/>
            <a:ext cx="8251825" cy="4744376"/>
          </a:xfrm>
          <a:prstGeom prst="rect">
            <a:avLst/>
          </a:prstGeom>
        </p:spPr>
      </p:pic>
    </p:spTree>
    <p:extLst>
      <p:ext uri="{BB962C8B-B14F-4D97-AF65-F5344CB8AC3E}">
        <p14:creationId xmlns:p14="http://schemas.microsoft.com/office/powerpoint/2010/main" val="316764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FBC14-F1E4-EEDC-DE8D-93708AAC0D94}"/>
              </a:ext>
            </a:extLst>
          </p:cNvPr>
          <p:cNvSpPr>
            <a:spLocks noGrp="1"/>
          </p:cNvSpPr>
          <p:nvPr>
            <p:ph type="title"/>
          </p:nvPr>
        </p:nvSpPr>
        <p:spPr/>
        <p:txBody>
          <a:bodyPr/>
          <a:lstStyle/>
          <a:p>
            <a:r>
              <a:rPr lang="en-US" dirty="0"/>
              <a:t>Nonparametric Example</a:t>
            </a:r>
          </a:p>
        </p:txBody>
      </p:sp>
      <p:pic>
        <p:nvPicPr>
          <p:cNvPr id="9" name="Picture 8">
            <a:extLst>
              <a:ext uri="{FF2B5EF4-FFF2-40B4-BE49-F238E27FC236}">
                <a16:creationId xmlns:a16="http://schemas.microsoft.com/office/drawing/2014/main" id="{FA710EF9-FD1A-82DC-891A-CC6220096FAB}"/>
              </a:ext>
            </a:extLst>
          </p:cNvPr>
          <p:cNvPicPr>
            <a:picLocks noChangeAspect="1"/>
          </p:cNvPicPr>
          <p:nvPr/>
        </p:nvPicPr>
        <p:blipFill>
          <a:blip r:embed="rId2"/>
          <a:stretch>
            <a:fillRect/>
          </a:stretch>
        </p:blipFill>
        <p:spPr>
          <a:xfrm>
            <a:off x="1981200" y="1676400"/>
            <a:ext cx="8077200" cy="4643975"/>
          </a:xfrm>
          <a:prstGeom prst="rect">
            <a:avLst/>
          </a:prstGeom>
        </p:spPr>
      </p:pic>
    </p:spTree>
    <p:extLst>
      <p:ext uri="{BB962C8B-B14F-4D97-AF65-F5344CB8AC3E}">
        <p14:creationId xmlns:p14="http://schemas.microsoft.com/office/powerpoint/2010/main" val="30608787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903C3-59B0-859E-4F51-7E8BA59792D3}"/>
              </a:ext>
            </a:extLst>
          </p:cNvPr>
          <p:cNvSpPr>
            <a:spLocks noGrp="1"/>
          </p:cNvSpPr>
          <p:nvPr>
            <p:ph type="title"/>
          </p:nvPr>
        </p:nvSpPr>
        <p:spPr/>
        <p:txBody>
          <a:bodyPr/>
          <a:lstStyle/>
          <a:p>
            <a:r>
              <a:rPr lang="en-US" dirty="0"/>
              <a:t>What about Previous Metrics?</a:t>
            </a:r>
          </a:p>
        </p:txBody>
      </p:sp>
      <p:sp>
        <p:nvSpPr>
          <p:cNvPr id="3" name="Content Placeholder 2">
            <a:extLst>
              <a:ext uri="{FF2B5EF4-FFF2-40B4-BE49-F238E27FC236}">
                <a16:creationId xmlns:a16="http://schemas.microsoft.com/office/drawing/2014/main" id="{0DF84AAE-E93B-E568-D623-AF5AF0BCC2A0}"/>
              </a:ext>
            </a:extLst>
          </p:cNvPr>
          <p:cNvSpPr>
            <a:spLocks noGrp="1"/>
          </p:cNvSpPr>
          <p:nvPr>
            <p:ph idx="1"/>
          </p:nvPr>
        </p:nvSpPr>
        <p:spPr/>
        <p:txBody>
          <a:bodyPr/>
          <a:lstStyle/>
          <a:p>
            <a:r>
              <a:rPr lang="en-US" dirty="0"/>
              <a:t>Common regression metrics to assess fit</a:t>
            </a:r>
          </a:p>
          <a:p>
            <a:pPr lvl="1"/>
            <a:r>
              <a:rPr lang="en-US" dirty="0"/>
              <a:t>R-squared</a:t>
            </a:r>
          </a:p>
          <a:p>
            <a:pPr lvl="1"/>
            <a:r>
              <a:rPr lang="en-US" dirty="0"/>
              <a:t>Adjusted R-squared</a:t>
            </a:r>
          </a:p>
          <a:p>
            <a:pPr lvl="1"/>
            <a:r>
              <a:rPr lang="en-US" dirty="0"/>
              <a:t>Information criterion</a:t>
            </a:r>
          </a:p>
          <a:p>
            <a:r>
              <a:rPr lang="en-US" dirty="0"/>
              <a:t>All these metrics are computed on the training data!</a:t>
            </a:r>
          </a:p>
          <a:p>
            <a:pPr lvl="1"/>
            <a:r>
              <a:rPr lang="en-US" dirty="0"/>
              <a:t>AIC/BIC are preferred</a:t>
            </a:r>
          </a:p>
          <a:p>
            <a:pPr lvl="1"/>
            <a:r>
              <a:rPr lang="en-US" dirty="0"/>
              <a:t>Adjusted R-squared and R-squared tend to favor a more complicated model and will have issues when trying to reproduce</a:t>
            </a:r>
          </a:p>
        </p:txBody>
      </p:sp>
    </p:spTree>
    <p:extLst>
      <p:ext uri="{BB962C8B-B14F-4D97-AF65-F5344CB8AC3E}">
        <p14:creationId xmlns:p14="http://schemas.microsoft.com/office/powerpoint/2010/main" val="3972466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05257-6E2C-5382-4CB4-8D2D723B0F0C}"/>
              </a:ext>
            </a:extLst>
          </p:cNvPr>
          <p:cNvSpPr>
            <a:spLocks noGrp="1"/>
          </p:cNvSpPr>
          <p:nvPr>
            <p:ph type="title"/>
          </p:nvPr>
        </p:nvSpPr>
        <p:spPr/>
        <p:txBody>
          <a:bodyPr/>
          <a:lstStyle/>
          <a:p>
            <a:r>
              <a:rPr lang="en-US" dirty="0"/>
              <a:t>Final Takeaway</a:t>
            </a:r>
          </a:p>
        </p:txBody>
      </p:sp>
      <p:sp>
        <p:nvSpPr>
          <p:cNvPr id="3" name="Content Placeholder 2">
            <a:extLst>
              <a:ext uri="{FF2B5EF4-FFF2-40B4-BE49-F238E27FC236}">
                <a16:creationId xmlns:a16="http://schemas.microsoft.com/office/drawing/2014/main" id="{B2FC1F6B-2E2A-D132-9C2E-4BD59F1FF257}"/>
              </a:ext>
            </a:extLst>
          </p:cNvPr>
          <p:cNvSpPr>
            <a:spLocks noGrp="1"/>
          </p:cNvSpPr>
          <p:nvPr>
            <p:ph idx="1"/>
          </p:nvPr>
        </p:nvSpPr>
        <p:spPr/>
        <p:txBody>
          <a:bodyPr/>
          <a:lstStyle/>
          <a:p>
            <a:pPr marL="0" indent="0">
              <a:buNone/>
            </a:pPr>
            <a:r>
              <a:rPr lang="en-US" dirty="0"/>
              <a:t>Building models using various methods is typically straightforward in software. What is important to always keep in mind is that:</a:t>
            </a:r>
          </a:p>
          <a:p>
            <a:pPr marL="514350" indent="-514350">
              <a:buFont typeface="+mj-lt"/>
              <a:buAutoNum type="arabicPeriod"/>
            </a:pPr>
            <a:r>
              <a:rPr lang="en-US" dirty="0"/>
              <a:t>Evaluating models should always be taken on an independent set of data.</a:t>
            </a:r>
          </a:p>
          <a:p>
            <a:pPr marL="514350" indent="-514350">
              <a:buFont typeface="+mj-lt"/>
              <a:buAutoNum type="arabicPeriod"/>
            </a:pPr>
            <a:r>
              <a:rPr lang="en-US" dirty="0"/>
              <a:t>It is helpful to plot validation MSE’s in a graph that highlights models from least to most complexity to help find the “sweet spot.”</a:t>
            </a:r>
          </a:p>
        </p:txBody>
      </p:sp>
    </p:spTree>
    <p:extLst>
      <p:ext uri="{BB962C8B-B14F-4D97-AF65-F5344CB8AC3E}">
        <p14:creationId xmlns:p14="http://schemas.microsoft.com/office/powerpoint/2010/main" val="2262402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E2BB9-2A08-D55C-144D-414D6E990C6B}"/>
              </a:ext>
            </a:extLst>
          </p:cNvPr>
          <p:cNvSpPr>
            <a:spLocks noGrp="1"/>
          </p:cNvSpPr>
          <p:nvPr>
            <p:ph type="title"/>
          </p:nvPr>
        </p:nvSpPr>
        <p:spPr/>
        <p:txBody>
          <a:bodyPr/>
          <a:lstStyle/>
          <a:p>
            <a:r>
              <a:rPr lang="en-US" dirty="0"/>
              <a:t>Decomposition of MSE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0DA58A-C357-BC1D-9771-3F3FF9D2FEE4}"/>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US" smtClean="0">
                          <a:latin typeface="Cambria Math" panose="02040503050406030204" pitchFamily="18" charset="0"/>
                        </a:rPr>
                        <m:t>𝐸</m:t>
                      </m:r>
                      <m:d>
                        <m:dPr>
                          <m:ctrlPr>
                            <a:rPr lang="en-US" i="1" smtClean="0">
                              <a:latin typeface="Cambria Math" panose="02040503050406030204" pitchFamily="18" charset="0"/>
                            </a:rPr>
                          </m:ctrlPr>
                        </m:dPr>
                        <m:e>
                          <m:r>
                            <a:rPr lang="en-US" smtClean="0">
                              <a:latin typeface="Cambria Math" panose="02040503050406030204" pitchFamily="18" charset="0"/>
                            </a:rPr>
                            <m:t>𝑣𝑎𝑙𝑖𝑑𝑀𝑆𝐸</m:t>
                          </m:r>
                        </m:e>
                      </m:d>
                      <m:r>
                        <a:rPr lang="en-US" smtClean="0">
                          <a:latin typeface="Cambria Math" panose="02040503050406030204" pitchFamily="18" charset="0"/>
                        </a:rPr>
                        <m:t>=</m:t>
                      </m:r>
                      <m:r>
                        <a:rPr lang="en-US" smtClean="0">
                          <a:latin typeface="Cambria Math" panose="02040503050406030204" pitchFamily="18" charset="0"/>
                        </a:rPr>
                        <m:t>𝑉𝑎𝑟</m:t>
                      </m:r>
                      <m:d>
                        <m:dPr>
                          <m:ctrlPr>
                            <a:rPr lang="en-US" i="1" smtClean="0">
                              <a:latin typeface="Cambria Math" panose="02040503050406030204" pitchFamily="18" charset="0"/>
                            </a:rPr>
                          </m:ctrlPr>
                        </m:dPr>
                        <m:e>
                          <m:acc>
                            <m:accPr>
                              <m:chr m:val="̂"/>
                              <m:ctrlPr>
                                <a:rPr lang="en-US" i="1" smtClean="0">
                                  <a:latin typeface="Cambria Math" panose="02040503050406030204" pitchFamily="18" charset="0"/>
                                </a:rPr>
                              </m:ctrlPr>
                            </m:accPr>
                            <m:e>
                              <m:r>
                                <a:rPr lang="en-US" smtClean="0">
                                  <a:latin typeface="Cambria Math" panose="02040503050406030204" pitchFamily="18" charset="0"/>
                                </a:rPr>
                                <m:t>𝑓</m:t>
                              </m:r>
                            </m:e>
                          </m:acc>
                        </m:e>
                      </m:d>
                      <m:r>
                        <a:rPr lang="en-US" smtClean="0">
                          <a:latin typeface="Cambria Math" panose="02040503050406030204" pitchFamily="18" charset="0"/>
                        </a:rPr>
                        <m:t>+</m:t>
                      </m:r>
                      <m:r>
                        <a:rPr lang="en-US" smtClean="0">
                          <a:latin typeface="Cambria Math" panose="02040503050406030204" pitchFamily="18" charset="0"/>
                        </a:rPr>
                        <m:t>𝐵𝑖𝑎𝑠</m:t>
                      </m:r>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acc>
                                <m:accPr>
                                  <m:chr m:val="̂"/>
                                  <m:ctrlPr>
                                    <a:rPr lang="en-US" i="1">
                                      <a:latin typeface="Cambria Math" panose="02040503050406030204" pitchFamily="18" charset="0"/>
                                    </a:rPr>
                                  </m:ctrlPr>
                                </m:accPr>
                                <m:e>
                                  <m:r>
                                    <a:rPr lang="en-US">
                                      <a:latin typeface="Cambria Math" panose="02040503050406030204" pitchFamily="18" charset="0"/>
                                    </a:rPr>
                                    <m:t>𝑓</m:t>
                                  </m:r>
                                </m:e>
                              </m:acc>
                            </m:e>
                          </m:d>
                        </m:e>
                        <m:sup>
                          <m:r>
                            <a:rPr lang="en-US" smtClean="0">
                              <a:latin typeface="Cambria Math" panose="02040503050406030204" pitchFamily="18" charset="0"/>
                            </a:rPr>
                            <m:t>2</m:t>
                          </m:r>
                        </m:sup>
                      </m:sSup>
                      <m:r>
                        <a:rPr lang="en-US" smtClean="0">
                          <a:latin typeface="Cambria Math" panose="02040503050406030204" pitchFamily="18" charset="0"/>
                        </a:rPr>
                        <m:t>+</m:t>
                      </m:r>
                      <m:r>
                        <a:rPr lang="en-US" smtClean="0">
                          <a:latin typeface="Cambria Math" panose="02040503050406030204" pitchFamily="18" charset="0"/>
                        </a:rPr>
                        <m:t>𝑉𝑎𝑟</m:t>
                      </m:r>
                      <m:d>
                        <m:dPr>
                          <m:ctrlPr>
                            <a:rPr lang="en-US" i="1" smtClean="0">
                              <a:latin typeface="Cambria Math" panose="02040503050406030204" pitchFamily="18" charset="0"/>
                            </a:rPr>
                          </m:ctrlPr>
                        </m:dPr>
                        <m:e>
                          <m:r>
                            <a:rPr lang="en-US" smtClean="0">
                              <a:latin typeface="Cambria Math" panose="02040503050406030204" pitchFamily="18" charset="0"/>
                            </a:rPr>
                            <m:t>𝜀</m:t>
                          </m:r>
                        </m:e>
                      </m:d>
                    </m:oMath>
                  </m:oMathPara>
                </a14:m>
                <a:endParaRPr lang="en-US" dirty="0"/>
              </a:p>
              <a:p>
                <a14:m>
                  <m:oMath xmlns:m="http://schemas.openxmlformats.org/officeDocument/2006/math">
                    <m:r>
                      <a:rPr lang="en-US">
                        <a:latin typeface="Cambria Math" panose="02040503050406030204" pitchFamily="18" charset="0"/>
                      </a:rPr>
                      <m:t>𝑉𝑎𝑟</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a:latin typeface="Cambria Math" panose="02040503050406030204" pitchFamily="18" charset="0"/>
                              </a:rPr>
                              <m:t>𝑓</m:t>
                            </m:r>
                          </m:e>
                        </m:acc>
                      </m:e>
                    </m:d>
                  </m:oMath>
                </a14:m>
                <a:r>
                  <a:rPr lang="en-US" dirty="0"/>
                  <a:t>: a measure of how much your model changes from data set to data set</a:t>
                </a:r>
              </a:p>
              <a:p>
                <a14:m>
                  <m:oMath xmlns:m="http://schemas.openxmlformats.org/officeDocument/2006/math">
                    <m:r>
                      <a:rPr lang="en-US">
                        <a:latin typeface="Cambria Math" panose="02040503050406030204" pitchFamily="18" charset="0"/>
                      </a:rPr>
                      <m:t>𝐵𝑖𝑎𝑠</m:t>
                    </m:r>
                    <m:r>
                      <a:rPr lang="en-US" smtClean="0">
                        <a:latin typeface="Cambria Math" panose="02040503050406030204" pitchFamily="18" charset="0"/>
                      </a:rPr>
                      <m:t>(</m:t>
                    </m:r>
                    <m:acc>
                      <m:accPr>
                        <m:chr m:val="̂"/>
                        <m:ctrlPr>
                          <a:rPr lang="en-US" i="1">
                            <a:latin typeface="Cambria Math" panose="02040503050406030204" pitchFamily="18" charset="0"/>
                          </a:rPr>
                        </m:ctrlPr>
                      </m:accPr>
                      <m:e>
                        <m:r>
                          <a:rPr lang="en-US">
                            <a:latin typeface="Cambria Math" panose="02040503050406030204" pitchFamily="18" charset="0"/>
                          </a:rPr>
                          <m:t>𝑓</m:t>
                        </m:r>
                      </m:e>
                    </m:acc>
                  </m:oMath>
                </a14:m>
                <a:r>
                  <a:rPr lang="en-US" dirty="0"/>
                  <a:t>): a measure of, on average, how much your model predicts off target from the true value</a:t>
                </a:r>
              </a:p>
              <a:p>
                <a14:m>
                  <m:oMath xmlns:m="http://schemas.openxmlformats.org/officeDocument/2006/math">
                    <m:r>
                      <a:rPr lang="en-US">
                        <a:latin typeface="Cambria Math" panose="02040503050406030204" pitchFamily="18" charset="0"/>
                      </a:rPr>
                      <m:t>𝑉𝑎𝑟</m:t>
                    </m:r>
                    <m:d>
                      <m:dPr>
                        <m:ctrlPr>
                          <a:rPr lang="en-US" i="1">
                            <a:latin typeface="Cambria Math" panose="02040503050406030204" pitchFamily="18" charset="0"/>
                          </a:rPr>
                        </m:ctrlPr>
                      </m:dPr>
                      <m:e>
                        <m:r>
                          <a:rPr lang="en-US">
                            <a:latin typeface="Cambria Math" panose="02040503050406030204" pitchFamily="18" charset="0"/>
                          </a:rPr>
                          <m:t>𝜀</m:t>
                        </m:r>
                      </m:e>
                    </m:d>
                  </m:oMath>
                </a14:m>
                <a:r>
                  <a:rPr lang="en-US" dirty="0"/>
                  <a:t>: irreducible error about which we cannot do anything</a:t>
                </a:r>
              </a:p>
            </p:txBody>
          </p:sp>
        </mc:Choice>
        <mc:Fallback xmlns="">
          <p:sp>
            <p:nvSpPr>
              <p:cNvPr id="3" name="Content Placeholder 2">
                <a:extLst>
                  <a:ext uri="{FF2B5EF4-FFF2-40B4-BE49-F238E27FC236}">
                    <a16:creationId xmlns:a16="http://schemas.microsoft.com/office/drawing/2014/main" id="{5A0DA58A-C357-BC1D-9771-3F3FF9D2FEE4}"/>
                  </a:ext>
                </a:extLst>
              </p:cNvPr>
              <p:cNvSpPr>
                <a:spLocks noGrp="1" noRot="1" noChangeAspect="1" noMove="1" noResize="1" noEditPoints="1" noAdjustHandles="1" noChangeArrowheads="1" noChangeShapeType="1" noTextEdit="1"/>
              </p:cNvSpPr>
              <p:nvPr>
                <p:ph idx="1"/>
              </p:nvPr>
            </p:nvSpPr>
            <p:spPr>
              <a:blipFill>
                <a:blip r:embed="rId2"/>
                <a:stretch>
                  <a:fillRect l="-1387" r="-1850"/>
                </a:stretch>
              </a:blipFill>
            </p:spPr>
            <p:txBody>
              <a:bodyPr/>
              <a:lstStyle/>
              <a:p>
                <a:r>
                  <a:rPr lang="en-US">
                    <a:noFill/>
                  </a:rPr>
                  <a:t> </a:t>
                </a:r>
              </a:p>
            </p:txBody>
          </p:sp>
        </mc:Fallback>
      </mc:AlternateContent>
    </p:spTree>
    <p:extLst>
      <p:ext uri="{BB962C8B-B14F-4D97-AF65-F5344CB8AC3E}">
        <p14:creationId xmlns:p14="http://schemas.microsoft.com/office/powerpoint/2010/main" val="2250918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429E8-46E7-E5CF-2CD3-0F745E31A94A}"/>
              </a:ext>
            </a:extLst>
          </p:cNvPr>
          <p:cNvSpPr>
            <a:spLocks noGrp="1"/>
          </p:cNvSpPr>
          <p:nvPr>
            <p:ph type="title"/>
          </p:nvPr>
        </p:nvSpPr>
        <p:spPr/>
        <p:txBody>
          <a:bodyPr/>
          <a:lstStyle/>
          <a:p>
            <a:r>
              <a:rPr lang="en-US" dirty="0"/>
              <a:t>Visualizing Bias and Variance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0E4972-A604-992F-2AC2-45D531FF2748}"/>
                  </a:ext>
                </a:extLst>
              </p:cNvPr>
              <p:cNvSpPr>
                <a:spLocks noGrp="1"/>
              </p:cNvSpPr>
              <p:nvPr>
                <p:ph idx="1"/>
              </p:nvPr>
            </p:nvSpPr>
            <p:spPr/>
            <p:txBody>
              <a:bodyPr/>
              <a:lstStyle/>
              <a:p>
                <a:pPr marL="0" indent="0">
                  <a:buNone/>
                </a:pPr>
                <a:r>
                  <a:rPr lang="en-US" dirty="0"/>
                  <a:t>Consider that we have a single predictor variable and the </a:t>
                </a:r>
                <a:r>
                  <a:rPr lang="en-US" b="1" dirty="0"/>
                  <a:t>true</a:t>
                </a:r>
                <a:r>
                  <a:rPr lang="en-US" dirty="0"/>
                  <a:t> relationship it has with the response is a cubic:</a:t>
                </a:r>
              </a:p>
              <a:p>
                <a:endParaRPr lang="en-US" dirty="0"/>
              </a:p>
              <a:p>
                <a:pPr marL="0" indent="0">
                  <a:buNone/>
                </a:pPr>
                <a14:m>
                  <m:oMathPara xmlns:m="http://schemas.openxmlformats.org/officeDocument/2006/math">
                    <m:oMathParaPr>
                      <m:jc m:val="centerGroup"/>
                    </m:oMathParaPr>
                    <m:oMath xmlns:m="http://schemas.openxmlformats.org/officeDocument/2006/math">
                      <m:r>
                        <a:rPr lang="en-US" smtClean="0">
                          <a:latin typeface="Cambria Math" panose="02040503050406030204" pitchFamily="18" charset="0"/>
                        </a:rPr>
                        <m:t>𝑦</m:t>
                      </m:r>
                      <m:r>
                        <a:rPr lang="en-US" smtClean="0">
                          <a:latin typeface="Cambria Math" panose="02040503050406030204" pitchFamily="18" charset="0"/>
                        </a:rPr>
                        <m:t>=</m:t>
                      </m:r>
                      <m:sSub>
                        <m:sSubPr>
                          <m:ctrlPr>
                            <a:rPr lang="en-US" i="1" smtClean="0">
                              <a:latin typeface="Cambria Math" panose="02040503050406030204" pitchFamily="18" charset="0"/>
                            </a:rPr>
                          </m:ctrlPr>
                        </m:sSubPr>
                        <m:e>
                          <m:r>
                            <a:rPr lang="en-US" smtClean="0">
                              <a:latin typeface="Cambria Math" panose="02040503050406030204" pitchFamily="18" charset="0"/>
                            </a:rPr>
                            <m:t>𝛽</m:t>
                          </m:r>
                        </m:e>
                        <m:sub>
                          <m:r>
                            <a:rPr lang="en-US" smtClean="0">
                              <a:latin typeface="Cambria Math" panose="02040503050406030204" pitchFamily="18" charset="0"/>
                            </a:rPr>
                            <m:t>0</m:t>
                          </m:r>
                        </m:sub>
                      </m:sSub>
                      <m:r>
                        <a:rPr lang="en-US" smtClean="0">
                          <a:latin typeface="Cambria Math" panose="02040503050406030204" pitchFamily="18" charset="0"/>
                        </a:rPr>
                        <m:t>+</m:t>
                      </m:r>
                      <m:sSub>
                        <m:sSubPr>
                          <m:ctrlPr>
                            <a:rPr lang="en-US" i="1" smtClean="0">
                              <a:latin typeface="Cambria Math" panose="02040503050406030204" pitchFamily="18" charset="0"/>
                            </a:rPr>
                          </m:ctrlPr>
                        </m:sSubPr>
                        <m:e>
                          <m:r>
                            <a:rPr lang="en-US" smtClean="0">
                              <a:latin typeface="Cambria Math" panose="02040503050406030204" pitchFamily="18" charset="0"/>
                            </a:rPr>
                            <m:t>𝛽</m:t>
                          </m:r>
                        </m:e>
                        <m:sub>
                          <m:r>
                            <a:rPr lang="en-US" smtClean="0">
                              <a:latin typeface="Cambria Math" panose="02040503050406030204" pitchFamily="18" charset="0"/>
                            </a:rPr>
                            <m:t>1</m:t>
                          </m:r>
                        </m:sub>
                      </m:sSub>
                      <m:r>
                        <a:rPr lang="en-US" smtClean="0">
                          <a:latin typeface="Cambria Math" panose="02040503050406030204" pitchFamily="18" charset="0"/>
                        </a:rPr>
                        <m:t>𝑥</m:t>
                      </m:r>
                      <m:r>
                        <a:rPr lang="en-US" smtClean="0">
                          <a:latin typeface="Cambria Math" panose="02040503050406030204" pitchFamily="18" charset="0"/>
                        </a:rPr>
                        <m:t>+</m:t>
                      </m:r>
                      <m:sSub>
                        <m:sSubPr>
                          <m:ctrlPr>
                            <a:rPr lang="en-US" i="1" smtClean="0">
                              <a:latin typeface="Cambria Math" panose="02040503050406030204" pitchFamily="18" charset="0"/>
                            </a:rPr>
                          </m:ctrlPr>
                        </m:sSubPr>
                        <m:e>
                          <m:r>
                            <a:rPr lang="en-US" smtClean="0">
                              <a:latin typeface="Cambria Math" panose="02040503050406030204" pitchFamily="18" charset="0"/>
                            </a:rPr>
                            <m:t>𝛽</m:t>
                          </m:r>
                        </m:e>
                        <m:sub>
                          <m:r>
                            <a:rPr lang="en-US" smtClean="0">
                              <a:latin typeface="Cambria Math" panose="02040503050406030204" pitchFamily="18" charset="0"/>
                            </a:rPr>
                            <m:t>2</m:t>
                          </m:r>
                        </m:sub>
                      </m:sSub>
                      <m:sSup>
                        <m:sSupPr>
                          <m:ctrlPr>
                            <a:rPr lang="en-US" i="1" smtClean="0">
                              <a:latin typeface="Cambria Math" panose="02040503050406030204" pitchFamily="18" charset="0"/>
                            </a:rPr>
                          </m:ctrlPr>
                        </m:sSupPr>
                        <m:e>
                          <m:r>
                            <a:rPr lang="en-US" smtClean="0">
                              <a:latin typeface="Cambria Math" panose="02040503050406030204" pitchFamily="18" charset="0"/>
                            </a:rPr>
                            <m:t>𝑥</m:t>
                          </m:r>
                        </m:e>
                        <m:sup>
                          <m:r>
                            <a:rPr lang="en-US" smtClean="0">
                              <a:latin typeface="Cambria Math" panose="02040503050406030204" pitchFamily="18" charset="0"/>
                            </a:rPr>
                            <m:t>2</m:t>
                          </m:r>
                        </m:sup>
                      </m:sSup>
                      <m:r>
                        <a:rPr lang="en-US" smtClean="0">
                          <a:latin typeface="Cambria Math" panose="02040503050406030204" pitchFamily="18" charset="0"/>
                        </a:rPr>
                        <m:t>+</m:t>
                      </m:r>
                      <m:sSub>
                        <m:sSubPr>
                          <m:ctrlPr>
                            <a:rPr lang="en-US" i="1" smtClean="0">
                              <a:latin typeface="Cambria Math" panose="02040503050406030204" pitchFamily="18" charset="0"/>
                            </a:rPr>
                          </m:ctrlPr>
                        </m:sSubPr>
                        <m:e>
                          <m:r>
                            <a:rPr lang="en-US" smtClean="0">
                              <a:latin typeface="Cambria Math" panose="02040503050406030204" pitchFamily="18" charset="0"/>
                            </a:rPr>
                            <m:t>𝛽</m:t>
                          </m:r>
                        </m:e>
                        <m:sub>
                          <m:r>
                            <a:rPr lang="en-US" smtClean="0">
                              <a:latin typeface="Cambria Math" panose="02040503050406030204" pitchFamily="18" charset="0"/>
                            </a:rPr>
                            <m:t>3</m:t>
                          </m:r>
                        </m:sub>
                      </m:sSub>
                      <m:sSup>
                        <m:sSupPr>
                          <m:ctrlPr>
                            <a:rPr lang="en-US" i="1" smtClean="0">
                              <a:latin typeface="Cambria Math" panose="02040503050406030204" pitchFamily="18" charset="0"/>
                            </a:rPr>
                          </m:ctrlPr>
                        </m:sSupPr>
                        <m:e>
                          <m:r>
                            <a:rPr lang="en-US" smtClean="0">
                              <a:latin typeface="Cambria Math" panose="02040503050406030204" pitchFamily="18" charset="0"/>
                            </a:rPr>
                            <m:t>𝑥</m:t>
                          </m:r>
                        </m:e>
                        <m:sup>
                          <m:r>
                            <a:rPr lang="en-US" smtClean="0">
                              <a:latin typeface="Cambria Math" panose="02040503050406030204" pitchFamily="18" charset="0"/>
                            </a:rPr>
                            <m:t>3</m:t>
                          </m:r>
                        </m:sup>
                      </m:sSup>
                      <m:r>
                        <a:rPr lang="en-US" smtClean="0">
                          <a:latin typeface="Cambria Math" panose="02040503050406030204" pitchFamily="18" charset="0"/>
                        </a:rPr>
                        <m:t>+</m:t>
                      </m:r>
                      <m:r>
                        <m:rPr>
                          <m:sty m:val="p"/>
                        </m:rPr>
                        <a:rPr lang="en-US" smtClean="0">
                          <a:latin typeface="Cambria Math" panose="02040503050406030204" pitchFamily="18" charset="0"/>
                        </a:rPr>
                        <m:t>ε</m:t>
                      </m:r>
                    </m:oMath>
                  </m:oMathPara>
                </a14:m>
                <a:endParaRPr lang="en-US" dirty="0"/>
              </a:p>
            </p:txBody>
          </p:sp>
        </mc:Choice>
        <mc:Fallback xmlns="">
          <p:sp>
            <p:nvSpPr>
              <p:cNvPr id="3" name="Content Placeholder 2">
                <a:extLst>
                  <a:ext uri="{FF2B5EF4-FFF2-40B4-BE49-F238E27FC236}">
                    <a16:creationId xmlns:a16="http://schemas.microsoft.com/office/drawing/2014/main" id="{580E4972-A604-992F-2AC2-45D531FF2748}"/>
                  </a:ext>
                </a:extLst>
              </p:cNvPr>
              <p:cNvSpPr>
                <a:spLocks noGrp="1" noRot="1" noChangeAspect="1" noMove="1" noResize="1" noEditPoints="1" noAdjustHandles="1" noChangeArrowheads="1" noChangeShapeType="1" noTextEdit="1"/>
              </p:cNvSpPr>
              <p:nvPr>
                <p:ph idx="1"/>
              </p:nvPr>
            </p:nvSpPr>
            <p:spPr>
              <a:blipFill>
                <a:blip r:embed="rId2"/>
                <a:stretch>
                  <a:fillRect l="-1387" t="-1681"/>
                </a:stretch>
              </a:blipFill>
            </p:spPr>
            <p:txBody>
              <a:bodyPr/>
              <a:lstStyle/>
              <a:p>
                <a:r>
                  <a:rPr lang="en-US">
                    <a:noFill/>
                  </a:rPr>
                  <a:t> </a:t>
                </a:r>
              </a:p>
            </p:txBody>
          </p:sp>
        </mc:Fallback>
      </mc:AlternateContent>
    </p:spTree>
    <p:extLst>
      <p:ext uri="{BB962C8B-B14F-4D97-AF65-F5344CB8AC3E}">
        <p14:creationId xmlns:p14="http://schemas.microsoft.com/office/powerpoint/2010/main" val="17982468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225521-20DE-0CC9-6FA0-443F31CDAFC6}"/>
              </a:ext>
            </a:extLst>
          </p:cNvPr>
          <p:cNvGrpSpPr/>
          <p:nvPr/>
        </p:nvGrpSpPr>
        <p:grpSpPr>
          <a:xfrm>
            <a:off x="1295400" y="1447800"/>
            <a:ext cx="8839200" cy="5064677"/>
            <a:chOff x="109215" y="597876"/>
            <a:chExt cx="10309893" cy="6098236"/>
          </a:xfrm>
        </p:grpSpPr>
        <p:pic>
          <p:nvPicPr>
            <p:cNvPr id="305" name="Picture 304">
              <a:extLst>
                <a:ext uri="{FF2B5EF4-FFF2-40B4-BE49-F238E27FC236}">
                  <a16:creationId xmlns:a16="http://schemas.microsoft.com/office/drawing/2014/main" id="{00B3A36D-74FE-191C-4745-C3CF619DD1C9}"/>
                </a:ext>
              </a:extLst>
            </p:cNvPr>
            <p:cNvPicPr>
              <a:picLocks noChangeAspect="1"/>
            </p:cNvPicPr>
            <p:nvPr/>
          </p:nvPicPr>
          <p:blipFill rotWithShape="1">
            <a:blip r:embed="rId3"/>
            <a:srcRect t="20000" b="13333"/>
            <a:stretch/>
          </p:blipFill>
          <p:spPr>
            <a:xfrm>
              <a:off x="1275108" y="4887551"/>
              <a:ext cx="9144000" cy="1524000"/>
            </a:xfrm>
            <a:prstGeom prst="rect">
              <a:avLst/>
            </a:prstGeom>
          </p:spPr>
        </p:pic>
        <p:sp>
          <p:nvSpPr>
            <p:cNvPr id="306" name="TextBox 305">
              <a:extLst>
                <a:ext uri="{FF2B5EF4-FFF2-40B4-BE49-F238E27FC236}">
                  <a16:creationId xmlns:a16="http://schemas.microsoft.com/office/drawing/2014/main" id="{D16D87F7-5033-1E1C-B7CD-F77A6F7877E5}"/>
                </a:ext>
              </a:extLst>
            </p:cNvPr>
            <p:cNvSpPr txBox="1"/>
            <p:nvPr/>
          </p:nvSpPr>
          <p:spPr>
            <a:xfrm>
              <a:off x="109215" y="4343402"/>
              <a:ext cx="1043865" cy="592937"/>
            </a:xfrm>
            <a:prstGeom prst="rect">
              <a:avLst/>
            </a:prstGeom>
            <a:noFill/>
          </p:spPr>
          <p:txBody>
            <a:bodyPr wrap="square" rtlCol="0">
              <a:spAutoFit/>
            </a:bodyPr>
            <a:lstStyle/>
            <a:p>
              <a:pPr algn="r"/>
              <a:r>
                <a:rPr lang="en-US" sz="1300" dirty="0"/>
                <a:t>Bias</a:t>
              </a:r>
            </a:p>
            <a:p>
              <a:pPr algn="r"/>
              <a:r>
                <a:rPr lang="en-US" sz="1300" dirty="0"/>
                <a:t>Variance</a:t>
              </a:r>
            </a:p>
          </p:txBody>
        </p:sp>
        <p:sp>
          <p:nvSpPr>
            <p:cNvPr id="307" name="TextBox 306">
              <a:extLst>
                <a:ext uri="{FF2B5EF4-FFF2-40B4-BE49-F238E27FC236}">
                  <a16:creationId xmlns:a16="http://schemas.microsoft.com/office/drawing/2014/main" id="{4AD4356E-785E-2644-2CD1-72CE6BD2B6FE}"/>
                </a:ext>
              </a:extLst>
            </p:cNvPr>
            <p:cNvSpPr txBox="1"/>
            <p:nvPr/>
          </p:nvSpPr>
          <p:spPr>
            <a:xfrm>
              <a:off x="1762680"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8" name="TextBox 307">
              <a:extLst>
                <a:ext uri="{FF2B5EF4-FFF2-40B4-BE49-F238E27FC236}">
                  <a16:creationId xmlns:a16="http://schemas.microsoft.com/office/drawing/2014/main" id="{D93A624A-8E3B-4106-70DA-A7240259A162}"/>
                </a:ext>
              </a:extLst>
            </p:cNvPr>
            <p:cNvSpPr txBox="1"/>
            <p:nvPr/>
          </p:nvSpPr>
          <p:spPr>
            <a:xfrm>
              <a:off x="3591481"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9" name="TextBox 308">
              <a:extLst>
                <a:ext uri="{FF2B5EF4-FFF2-40B4-BE49-F238E27FC236}">
                  <a16:creationId xmlns:a16="http://schemas.microsoft.com/office/drawing/2014/main" id="{9A3B7FD2-D3F3-0EBC-9FE5-52BCBEDA1851}"/>
                </a:ext>
              </a:extLst>
            </p:cNvPr>
            <p:cNvSpPr txBox="1"/>
            <p:nvPr/>
          </p:nvSpPr>
          <p:spPr>
            <a:xfrm>
              <a:off x="5420282" y="4343401"/>
              <a:ext cx="838201" cy="592937"/>
            </a:xfrm>
            <a:prstGeom prst="rect">
              <a:avLst/>
            </a:prstGeom>
            <a:noFill/>
          </p:spPr>
          <p:txBody>
            <a:bodyPr wrap="square" rtlCol="0">
              <a:spAutoFit/>
            </a:bodyPr>
            <a:lstStyle/>
            <a:p>
              <a:pPr algn="ctr"/>
              <a:r>
                <a:rPr lang="en-US" sz="1300" dirty="0"/>
                <a:t>Low</a:t>
              </a:r>
            </a:p>
            <a:p>
              <a:pPr algn="ctr"/>
              <a:r>
                <a:rPr lang="en-US" sz="1300" dirty="0"/>
                <a:t>Low</a:t>
              </a:r>
            </a:p>
          </p:txBody>
        </p:sp>
        <p:sp>
          <p:nvSpPr>
            <p:cNvPr id="310" name="TextBox 309">
              <a:extLst>
                <a:ext uri="{FF2B5EF4-FFF2-40B4-BE49-F238E27FC236}">
                  <a16:creationId xmlns:a16="http://schemas.microsoft.com/office/drawing/2014/main" id="{9A1CD7F5-3B84-5FCD-0C2D-05B0DF56A432}"/>
                </a:ext>
              </a:extLst>
            </p:cNvPr>
            <p:cNvSpPr txBox="1"/>
            <p:nvPr/>
          </p:nvSpPr>
          <p:spPr>
            <a:xfrm>
              <a:off x="7249083" y="4343400"/>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sp>
          <p:nvSpPr>
            <p:cNvPr id="311" name="TextBox 310">
              <a:extLst>
                <a:ext uri="{FF2B5EF4-FFF2-40B4-BE49-F238E27FC236}">
                  <a16:creationId xmlns:a16="http://schemas.microsoft.com/office/drawing/2014/main" id="{3C2102B6-3ADC-8D41-1855-5D2468B787CB}"/>
                </a:ext>
              </a:extLst>
            </p:cNvPr>
            <p:cNvSpPr txBox="1"/>
            <p:nvPr/>
          </p:nvSpPr>
          <p:spPr>
            <a:xfrm>
              <a:off x="9077884" y="4343400"/>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cxnSp>
          <p:nvCxnSpPr>
            <p:cNvPr id="97" name="Straight Connector 96">
              <a:extLst>
                <a:ext uri="{FF2B5EF4-FFF2-40B4-BE49-F238E27FC236}">
                  <a16:creationId xmlns:a16="http://schemas.microsoft.com/office/drawing/2014/main" id="{F3DD4575-AEF4-6933-51D3-D36D778A0279}"/>
                </a:ext>
              </a:extLst>
            </p:cNvPr>
            <p:cNvCxnSpPr>
              <a:cxnSpLocks/>
            </p:cNvCxnSpPr>
            <p:nvPr/>
          </p:nvCxnSpPr>
          <p:spPr>
            <a:xfrm>
              <a:off x="1320935" y="597876"/>
              <a:ext cx="0" cy="3057063"/>
            </a:xfrm>
            <a:prstGeom prst="line">
              <a:avLst/>
            </a:prstGeom>
            <a:ln w="19050"/>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D11FDF47-7A36-09CC-D470-EBD64FD2624F}"/>
                </a:ext>
              </a:extLst>
            </p:cNvPr>
            <p:cNvCxnSpPr>
              <a:cxnSpLocks/>
            </p:cNvCxnSpPr>
            <p:nvPr/>
          </p:nvCxnSpPr>
          <p:spPr>
            <a:xfrm flipH="1" flipV="1">
              <a:off x="1320935" y="3654939"/>
              <a:ext cx="9052346" cy="18644"/>
            </a:xfrm>
            <a:prstGeom prst="line">
              <a:avLst/>
            </a:prstGeom>
            <a:ln w="19050"/>
          </p:spPr>
          <p:style>
            <a:lnRef idx="1">
              <a:schemeClr val="dk1"/>
            </a:lnRef>
            <a:fillRef idx="0">
              <a:schemeClr val="dk1"/>
            </a:fillRef>
            <a:effectRef idx="0">
              <a:schemeClr val="dk1"/>
            </a:effectRef>
            <a:fontRef idx="minor">
              <a:schemeClr val="tx1"/>
            </a:fontRef>
          </p:style>
        </p:cxnSp>
        <p:sp>
          <p:nvSpPr>
            <p:cNvPr id="99" name="TextBox 98">
              <a:extLst>
                <a:ext uri="{FF2B5EF4-FFF2-40B4-BE49-F238E27FC236}">
                  <a16:creationId xmlns:a16="http://schemas.microsoft.com/office/drawing/2014/main" id="{8D8B84C0-9CB3-D7F2-637B-2F00275A98B0}"/>
                </a:ext>
              </a:extLst>
            </p:cNvPr>
            <p:cNvSpPr txBox="1"/>
            <p:nvPr/>
          </p:nvSpPr>
          <p:spPr>
            <a:xfrm>
              <a:off x="375857" y="1983127"/>
              <a:ext cx="777222" cy="352056"/>
            </a:xfrm>
            <a:prstGeom prst="rect">
              <a:avLst/>
            </a:prstGeom>
            <a:noFill/>
          </p:spPr>
          <p:txBody>
            <a:bodyPr wrap="square" rtlCol="0">
              <a:spAutoFit/>
            </a:bodyPr>
            <a:lstStyle/>
            <a:p>
              <a:pPr algn="r"/>
              <a:r>
                <a:rPr lang="en-US" sz="1300" b="1" dirty="0"/>
                <a:t>MSE</a:t>
              </a:r>
            </a:p>
          </p:txBody>
        </p:sp>
        <p:sp>
          <p:nvSpPr>
            <p:cNvPr id="100" name="TextBox 99">
              <a:extLst>
                <a:ext uri="{FF2B5EF4-FFF2-40B4-BE49-F238E27FC236}">
                  <a16:creationId xmlns:a16="http://schemas.microsoft.com/office/drawing/2014/main" id="{A128E684-2B61-7BDD-643A-DB8EB340695D}"/>
                </a:ext>
              </a:extLst>
            </p:cNvPr>
            <p:cNvSpPr txBox="1"/>
            <p:nvPr/>
          </p:nvSpPr>
          <p:spPr>
            <a:xfrm>
              <a:off x="8597619" y="3700697"/>
              <a:ext cx="1775662" cy="352056"/>
            </a:xfrm>
            <a:prstGeom prst="rect">
              <a:avLst/>
            </a:prstGeom>
            <a:noFill/>
          </p:spPr>
          <p:txBody>
            <a:bodyPr wrap="square" rtlCol="0">
              <a:spAutoFit/>
            </a:bodyPr>
            <a:lstStyle/>
            <a:p>
              <a:pPr algn="r"/>
              <a:r>
                <a:rPr lang="en-US" sz="1300" b="1" dirty="0"/>
                <a:t>Too Complicated</a:t>
              </a:r>
            </a:p>
          </p:txBody>
        </p:sp>
        <p:sp>
          <p:nvSpPr>
            <p:cNvPr id="101" name="TextBox 100">
              <a:extLst>
                <a:ext uri="{FF2B5EF4-FFF2-40B4-BE49-F238E27FC236}">
                  <a16:creationId xmlns:a16="http://schemas.microsoft.com/office/drawing/2014/main" id="{643BF72C-5D7E-A58A-B751-05226572E777}"/>
                </a:ext>
              </a:extLst>
            </p:cNvPr>
            <p:cNvSpPr txBox="1"/>
            <p:nvPr/>
          </p:nvSpPr>
          <p:spPr>
            <a:xfrm>
              <a:off x="4913451" y="3700697"/>
              <a:ext cx="1775661" cy="352056"/>
            </a:xfrm>
            <a:prstGeom prst="rect">
              <a:avLst/>
            </a:prstGeom>
            <a:noFill/>
          </p:spPr>
          <p:txBody>
            <a:bodyPr wrap="square" rtlCol="0">
              <a:spAutoFit/>
            </a:bodyPr>
            <a:lstStyle/>
            <a:p>
              <a:pPr algn="ctr"/>
              <a:r>
                <a:rPr lang="en-US" sz="1300" b="1" dirty="0"/>
                <a:t>True Complexity</a:t>
              </a:r>
            </a:p>
          </p:txBody>
        </p:sp>
        <p:sp>
          <p:nvSpPr>
            <p:cNvPr id="102" name="TextBox 101">
              <a:extLst>
                <a:ext uri="{FF2B5EF4-FFF2-40B4-BE49-F238E27FC236}">
                  <a16:creationId xmlns:a16="http://schemas.microsoft.com/office/drawing/2014/main" id="{E4019855-B95A-D0E4-3782-5388188769EF}"/>
                </a:ext>
              </a:extLst>
            </p:cNvPr>
            <p:cNvSpPr txBox="1"/>
            <p:nvPr/>
          </p:nvSpPr>
          <p:spPr>
            <a:xfrm>
              <a:off x="1320935" y="3700697"/>
              <a:ext cx="2610050" cy="352056"/>
            </a:xfrm>
            <a:prstGeom prst="rect">
              <a:avLst/>
            </a:prstGeom>
            <a:noFill/>
          </p:spPr>
          <p:txBody>
            <a:bodyPr wrap="square" rtlCol="0">
              <a:spAutoFit/>
            </a:bodyPr>
            <a:lstStyle/>
            <a:p>
              <a:r>
                <a:rPr lang="en-US" sz="1300" b="1" dirty="0"/>
                <a:t>Not Complicated Enough</a:t>
              </a:r>
            </a:p>
          </p:txBody>
        </p:sp>
        <p:sp>
          <p:nvSpPr>
            <p:cNvPr id="34" name="TextBox 33">
              <a:extLst>
                <a:ext uri="{FF2B5EF4-FFF2-40B4-BE49-F238E27FC236}">
                  <a16:creationId xmlns:a16="http://schemas.microsoft.com/office/drawing/2014/main" id="{FE441A46-2EEB-DE96-4BD1-69E01A03A37C}"/>
                </a:ext>
              </a:extLst>
            </p:cNvPr>
            <p:cNvSpPr txBox="1"/>
            <p:nvPr/>
          </p:nvSpPr>
          <p:spPr>
            <a:xfrm>
              <a:off x="1582261" y="6344056"/>
              <a:ext cx="1199037" cy="352056"/>
            </a:xfrm>
            <a:prstGeom prst="rect">
              <a:avLst/>
            </a:prstGeom>
            <a:noFill/>
          </p:spPr>
          <p:txBody>
            <a:bodyPr wrap="square" rtlCol="0">
              <a:spAutoFit/>
            </a:bodyPr>
            <a:lstStyle/>
            <a:p>
              <a:pPr algn="ctr"/>
              <a:r>
                <a:rPr lang="en-US" sz="1300" dirty="0"/>
                <a:t>Scenario 1</a:t>
              </a:r>
            </a:p>
          </p:txBody>
        </p:sp>
        <p:sp>
          <p:nvSpPr>
            <p:cNvPr id="35" name="TextBox 34">
              <a:extLst>
                <a:ext uri="{FF2B5EF4-FFF2-40B4-BE49-F238E27FC236}">
                  <a16:creationId xmlns:a16="http://schemas.microsoft.com/office/drawing/2014/main" id="{0085BC41-94C3-FF27-8D69-93A34466A2FD}"/>
                </a:ext>
              </a:extLst>
            </p:cNvPr>
            <p:cNvSpPr txBox="1"/>
            <p:nvPr/>
          </p:nvSpPr>
          <p:spPr>
            <a:xfrm>
              <a:off x="3411062" y="6344055"/>
              <a:ext cx="1199037" cy="352056"/>
            </a:xfrm>
            <a:prstGeom prst="rect">
              <a:avLst/>
            </a:prstGeom>
            <a:noFill/>
          </p:spPr>
          <p:txBody>
            <a:bodyPr wrap="square" rtlCol="0">
              <a:spAutoFit/>
            </a:bodyPr>
            <a:lstStyle/>
            <a:p>
              <a:pPr algn="ctr"/>
              <a:r>
                <a:rPr lang="en-US" sz="1300" dirty="0"/>
                <a:t>Scenario 2</a:t>
              </a:r>
            </a:p>
          </p:txBody>
        </p:sp>
        <p:sp>
          <p:nvSpPr>
            <p:cNvPr id="36" name="TextBox 35">
              <a:extLst>
                <a:ext uri="{FF2B5EF4-FFF2-40B4-BE49-F238E27FC236}">
                  <a16:creationId xmlns:a16="http://schemas.microsoft.com/office/drawing/2014/main" id="{D3300674-D71E-AA7C-061F-843B4EE655FA}"/>
                </a:ext>
              </a:extLst>
            </p:cNvPr>
            <p:cNvSpPr txBox="1"/>
            <p:nvPr/>
          </p:nvSpPr>
          <p:spPr>
            <a:xfrm>
              <a:off x="5201762" y="6344055"/>
              <a:ext cx="1199037" cy="352056"/>
            </a:xfrm>
            <a:prstGeom prst="rect">
              <a:avLst/>
            </a:prstGeom>
            <a:noFill/>
          </p:spPr>
          <p:txBody>
            <a:bodyPr wrap="square" rtlCol="0">
              <a:spAutoFit/>
            </a:bodyPr>
            <a:lstStyle/>
            <a:p>
              <a:pPr algn="ctr"/>
              <a:r>
                <a:rPr lang="en-US" sz="1300" dirty="0"/>
                <a:t>Scenario 3</a:t>
              </a:r>
            </a:p>
          </p:txBody>
        </p:sp>
        <p:sp>
          <p:nvSpPr>
            <p:cNvPr id="37" name="TextBox 36">
              <a:extLst>
                <a:ext uri="{FF2B5EF4-FFF2-40B4-BE49-F238E27FC236}">
                  <a16:creationId xmlns:a16="http://schemas.microsoft.com/office/drawing/2014/main" id="{CFD08B03-B4F2-049B-9313-0B0901135D03}"/>
                </a:ext>
              </a:extLst>
            </p:cNvPr>
            <p:cNvSpPr txBox="1"/>
            <p:nvPr/>
          </p:nvSpPr>
          <p:spPr>
            <a:xfrm>
              <a:off x="7068665" y="6344055"/>
              <a:ext cx="1199037" cy="352056"/>
            </a:xfrm>
            <a:prstGeom prst="rect">
              <a:avLst/>
            </a:prstGeom>
            <a:noFill/>
          </p:spPr>
          <p:txBody>
            <a:bodyPr wrap="square" rtlCol="0">
              <a:spAutoFit/>
            </a:bodyPr>
            <a:lstStyle/>
            <a:p>
              <a:pPr algn="ctr"/>
              <a:r>
                <a:rPr lang="en-US" sz="1300" dirty="0"/>
                <a:t>Scenario 4</a:t>
              </a:r>
            </a:p>
          </p:txBody>
        </p:sp>
        <p:sp>
          <p:nvSpPr>
            <p:cNvPr id="38" name="TextBox 37">
              <a:extLst>
                <a:ext uri="{FF2B5EF4-FFF2-40B4-BE49-F238E27FC236}">
                  <a16:creationId xmlns:a16="http://schemas.microsoft.com/office/drawing/2014/main" id="{28A560D3-00E5-1055-89C5-1FAD538D57EF}"/>
                </a:ext>
              </a:extLst>
            </p:cNvPr>
            <p:cNvSpPr txBox="1"/>
            <p:nvPr/>
          </p:nvSpPr>
          <p:spPr>
            <a:xfrm>
              <a:off x="8885931" y="6344055"/>
              <a:ext cx="1199037" cy="352056"/>
            </a:xfrm>
            <a:prstGeom prst="rect">
              <a:avLst/>
            </a:prstGeom>
            <a:noFill/>
          </p:spPr>
          <p:txBody>
            <a:bodyPr wrap="square" rtlCol="0">
              <a:spAutoFit/>
            </a:bodyPr>
            <a:lstStyle/>
            <a:p>
              <a:pPr algn="ctr"/>
              <a:r>
                <a:rPr lang="en-US" sz="1300" dirty="0"/>
                <a:t>Scenario 5</a:t>
              </a:r>
            </a:p>
          </p:txBody>
        </p:sp>
      </p:grpSp>
      <p:sp>
        <p:nvSpPr>
          <p:cNvPr id="3" name="Title 2">
            <a:extLst>
              <a:ext uri="{FF2B5EF4-FFF2-40B4-BE49-F238E27FC236}">
                <a16:creationId xmlns:a16="http://schemas.microsoft.com/office/drawing/2014/main" id="{D30270BC-3724-D6F1-565F-E661D800AB6F}"/>
              </a:ext>
            </a:extLst>
          </p:cNvPr>
          <p:cNvSpPr>
            <a:spLocks noGrp="1"/>
          </p:cNvSpPr>
          <p:nvPr>
            <p:ph type="title"/>
          </p:nvPr>
        </p:nvSpPr>
        <p:spPr/>
        <p:txBody>
          <a:bodyPr/>
          <a:lstStyle/>
          <a:p>
            <a:r>
              <a:rPr lang="en-US" dirty="0"/>
              <a:t>Putting It All Together</a:t>
            </a:r>
          </a:p>
        </p:txBody>
      </p:sp>
    </p:spTree>
    <p:extLst>
      <p:ext uri="{BB962C8B-B14F-4D97-AF65-F5344CB8AC3E}">
        <p14:creationId xmlns:p14="http://schemas.microsoft.com/office/powerpoint/2010/main" val="3916126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225521-20DE-0CC9-6FA0-443F31CDAFC6}"/>
              </a:ext>
            </a:extLst>
          </p:cNvPr>
          <p:cNvGrpSpPr/>
          <p:nvPr/>
        </p:nvGrpSpPr>
        <p:grpSpPr>
          <a:xfrm>
            <a:off x="1295400" y="1447800"/>
            <a:ext cx="8799910" cy="5064677"/>
            <a:chOff x="109215" y="597876"/>
            <a:chExt cx="10264066" cy="6098236"/>
          </a:xfrm>
        </p:grpSpPr>
        <p:sp>
          <p:nvSpPr>
            <p:cNvPr id="306" name="TextBox 305">
              <a:extLst>
                <a:ext uri="{FF2B5EF4-FFF2-40B4-BE49-F238E27FC236}">
                  <a16:creationId xmlns:a16="http://schemas.microsoft.com/office/drawing/2014/main" id="{D16D87F7-5033-1E1C-B7CD-F77A6F7877E5}"/>
                </a:ext>
              </a:extLst>
            </p:cNvPr>
            <p:cNvSpPr txBox="1"/>
            <p:nvPr/>
          </p:nvSpPr>
          <p:spPr>
            <a:xfrm>
              <a:off x="109215" y="4343402"/>
              <a:ext cx="1043865" cy="592937"/>
            </a:xfrm>
            <a:prstGeom prst="rect">
              <a:avLst/>
            </a:prstGeom>
            <a:noFill/>
          </p:spPr>
          <p:txBody>
            <a:bodyPr wrap="square" rtlCol="0">
              <a:spAutoFit/>
            </a:bodyPr>
            <a:lstStyle/>
            <a:p>
              <a:pPr algn="r"/>
              <a:r>
                <a:rPr lang="en-US" sz="1300" dirty="0"/>
                <a:t>Bias</a:t>
              </a:r>
            </a:p>
            <a:p>
              <a:pPr algn="r"/>
              <a:r>
                <a:rPr lang="en-US" sz="1300" dirty="0"/>
                <a:t>Variance</a:t>
              </a:r>
            </a:p>
          </p:txBody>
        </p:sp>
        <p:sp>
          <p:nvSpPr>
            <p:cNvPr id="307" name="TextBox 306">
              <a:extLst>
                <a:ext uri="{FF2B5EF4-FFF2-40B4-BE49-F238E27FC236}">
                  <a16:creationId xmlns:a16="http://schemas.microsoft.com/office/drawing/2014/main" id="{4AD4356E-785E-2644-2CD1-72CE6BD2B6FE}"/>
                </a:ext>
              </a:extLst>
            </p:cNvPr>
            <p:cNvSpPr txBox="1"/>
            <p:nvPr/>
          </p:nvSpPr>
          <p:spPr>
            <a:xfrm>
              <a:off x="1762680"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8" name="TextBox 307">
              <a:extLst>
                <a:ext uri="{FF2B5EF4-FFF2-40B4-BE49-F238E27FC236}">
                  <a16:creationId xmlns:a16="http://schemas.microsoft.com/office/drawing/2014/main" id="{D93A624A-8E3B-4106-70DA-A7240259A162}"/>
                </a:ext>
              </a:extLst>
            </p:cNvPr>
            <p:cNvSpPr txBox="1"/>
            <p:nvPr/>
          </p:nvSpPr>
          <p:spPr>
            <a:xfrm>
              <a:off x="3591481"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9" name="TextBox 308">
              <a:extLst>
                <a:ext uri="{FF2B5EF4-FFF2-40B4-BE49-F238E27FC236}">
                  <a16:creationId xmlns:a16="http://schemas.microsoft.com/office/drawing/2014/main" id="{9A3B7FD2-D3F3-0EBC-9FE5-52BCBEDA1851}"/>
                </a:ext>
              </a:extLst>
            </p:cNvPr>
            <p:cNvSpPr txBox="1"/>
            <p:nvPr/>
          </p:nvSpPr>
          <p:spPr>
            <a:xfrm>
              <a:off x="5420282" y="4343401"/>
              <a:ext cx="838201" cy="592937"/>
            </a:xfrm>
            <a:prstGeom prst="rect">
              <a:avLst/>
            </a:prstGeom>
            <a:noFill/>
          </p:spPr>
          <p:txBody>
            <a:bodyPr wrap="square" rtlCol="0">
              <a:spAutoFit/>
            </a:bodyPr>
            <a:lstStyle/>
            <a:p>
              <a:pPr algn="ctr"/>
              <a:r>
                <a:rPr lang="en-US" sz="1300" dirty="0"/>
                <a:t>Low</a:t>
              </a:r>
            </a:p>
            <a:p>
              <a:pPr algn="ctr"/>
              <a:r>
                <a:rPr lang="en-US" sz="1300" dirty="0"/>
                <a:t>Low</a:t>
              </a:r>
            </a:p>
          </p:txBody>
        </p:sp>
        <p:sp>
          <p:nvSpPr>
            <p:cNvPr id="310" name="TextBox 309">
              <a:extLst>
                <a:ext uri="{FF2B5EF4-FFF2-40B4-BE49-F238E27FC236}">
                  <a16:creationId xmlns:a16="http://schemas.microsoft.com/office/drawing/2014/main" id="{9A1CD7F5-3B84-5FCD-0C2D-05B0DF56A432}"/>
                </a:ext>
              </a:extLst>
            </p:cNvPr>
            <p:cNvSpPr txBox="1"/>
            <p:nvPr/>
          </p:nvSpPr>
          <p:spPr>
            <a:xfrm>
              <a:off x="7249083"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sp>
          <p:nvSpPr>
            <p:cNvPr id="311" name="TextBox 310">
              <a:extLst>
                <a:ext uri="{FF2B5EF4-FFF2-40B4-BE49-F238E27FC236}">
                  <a16:creationId xmlns:a16="http://schemas.microsoft.com/office/drawing/2014/main" id="{3C2102B6-3ADC-8D41-1855-5D2468B787CB}"/>
                </a:ext>
              </a:extLst>
            </p:cNvPr>
            <p:cNvSpPr txBox="1"/>
            <p:nvPr/>
          </p:nvSpPr>
          <p:spPr>
            <a:xfrm>
              <a:off x="9077884"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cxnSp>
          <p:nvCxnSpPr>
            <p:cNvPr id="97" name="Straight Connector 96">
              <a:extLst>
                <a:ext uri="{FF2B5EF4-FFF2-40B4-BE49-F238E27FC236}">
                  <a16:creationId xmlns:a16="http://schemas.microsoft.com/office/drawing/2014/main" id="{F3DD4575-AEF4-6933-51D3-D36D778A0279}"/>
                </a:ext>
              </a:extLst>
            </p:cNvPr>
            <p:cNvCxnSpPr>
              <a:cxnSpLocks/>
            </p:cNvCxnSpPr>
            <p:nvPr/>
          </p:nvCxnSpPr>
          <p:spPr>
            <a:xfrm>
              <a:off x="1320935" y="597876"/>
              <a:ext cx="0" cy="3057063"/>
            </a:xfrm>
            <a:prstGeom prst="line">
              <a:avLst/>
            </a:prstGeom>
            <a:ln w="19050"/>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D11FDF47-7A36-09CC-D470-EBD64FD2624F}"/>
                </a:ext>
              </a:extLst>
            </p:cNvPr>
            <p:cNvCxnSpPr>
              <a:cxnSpLocks/>
            </p:cNvCxnSpPr>
            <p:nvPr/>
          </p:nvCxnSpPr>
          <p:spPr>
            <a:xfrm flipH="1" flipV="1">
              <a:off x="1320935" y="3654939"/>
              <a:ext cx="9052346" cy="18644"/>
            </a:xfrm>
            <a:prstGeom prst="line">
              <a:avLst/>
            </a:prstGeom>
            <a:ln w="19050"/>
          </p:spPr>
          <p:style>
            <a:lnRef idx="1">
              <a:schemeClr val="dk1"/>
            </a:lnRef>
            <a:fillRef idx="0">
              <a:schemeClr val="dk1"/>
            </a:fillRef>
            <a:effectRef idx="0">
              <a:schemeClr val="dk1"/>
            </a:effectRef>
            <a:fontRef idx="minor">
              <a:schemeClr val="tx1"/>
            </a:fontRef>
          </p:style>
        </p:cxnSp>
        <p:sp>
          <p:nvSpPr>
            <p:cNvPr id="99" name="TextBox 98">
              <a:extLst>
                <a:ext uri="{FF2B5EF4-FFF2-40B4-BE49-F238E27FC236}">
                  <a16:creationId xmlns:a16="http://schemas.microsoft.com/office/drawing/2014/main" id="{8D8B84C0-9CB3-D7F2-637B-2F00275A98B0}"/>
                </a:ext>
              </a:extLst>
            </p:cNvPr>
            <p:cNvSpPr txBox="1"/>
            <p:nvPr/>
          </p:nvSpPr>
          <p:spPr>
            <a:xfrm>
              <a:off x="375857" y="1983127"/>
              <a:ext cx="777222" cy="352056"/>
            </a:xfrm>
            <a:prstGeom prst="rect">
              <a:avLst/>
            </a:prstGeom>
            <a:noFill/>
          </p:spPr>
          <p:txBody>
            <a:bodyPr wrap="square" rtlCol="0">
              <a:spAutoFit/>
            </a:bodyPr>
            <a:lstStyle/>
            <a:p>
              <a:pPr algn="r"/>
              <a:r>
                <a:rPr lang="en-US" sz="1300" b="1" dirty="0"/>
                <a:t>MSE</a:t>
              </a:r>
            </a:p>
          </p:txBody>
        </p:sp>
        <p:sp>
          <p:nvSpPr>
            <p:cNvPr id="100" name="TextBox 99">
              <a:extLst>
                <a:ext uri="{FF2B5EF4-FFF2-40B4-BE49-F238E27FC236}">
                  <a16:creationId xmlns:a16="http://schemas.microsoft.com/office/drawing/2014/main" id="{A128E684-2B61-7BDD-643A-DB8EB340695D}"/>
                </a:ext>
              </a:extLst>
            </p:cNvPr>
            <p:cNvSpPr txBox="1"/>
            <p:nvPr/>
          </p:nvSpPr>
          <p:spPr>
            <a:xfrm>
              <a:off x="8597619" y="3700697"/>
              <a:ext cx="1775662" cy="352056"/>
            </a:xfrm>
            <a:prstGeom prst="rect">
              <a:avLst/>
            </a:prstGeom>
            <a:noFill/>
          </p:spPr>
          <p:txBody>
            <a:bodyPr wrap="square" rtlCol="0">
              <a:spAutoFit/>
            </a:bodyPr>
            <a:lstStyle/>
            <a:p>
              <a:pPr algn="r"/>
              <a:r>
                <a:rPr lang="en-US" sz="1300" b="1" dirty="0"/>
                <a:t>Too Complicated</a:t>
              </a:r>
            </a:p>
          </p:txBody>
        </p:sp>
        <p:sp>
          <p:nvSpPr>
            <p:cNvPr id="101" name="TextBox 100">
              <a:extLst>
                <a:ext uri="{FF2B5EF4-FFF2-40B4-BE49-F238E27FC236}">
                  <a16:creationId xmlns:a16="http://schemas.microsoft.com/office/drawing/2014/main" id="{643BF72C-5D7E-A58A-B751-05226572E777}"/>
                </a:ext>
              </a:extLst>
            </p:cNvPr>
            <p:cNvSpPr txBox="1"/>
            <p:nvPr/>
          </p:nvSpPr>
          <p:spPr>
            <a:xfrm>
              <a:off x="4913451" y="3700697"/>
              <a:ext cx="1775661" cy="352056"/>
            </a:xfrm>
            <a:prstGeom prst="rect">
              <a:avLst/>
            </a:prstGeom>
            <a:noFill/>
          </p:spPr>
          <p:txBody>
            <a:bodyPr wrap="square" rtlCol="0">
              <a:spAutoFit/>
            </a:bodyPr>
            <a:lstStyle/>
            <a:p>
              <a:pPr algn="ctr"/>
              <a:r>
                <a:rPr lang="en-US" sz="1300" b="1" dirty="0"/>
                <a:t>True Complexity</a:t>
              </a:r>
            </a:p>
          </p:txBody>
        </p:sp>
        <p:sp>
          <p:nvSpPr>
            <p:cNvPr id="102" name="TextBox 101">
              <a:extLst>
                <a:ext uri="{FF2B5EF4-FFF2-40B4-BE49-F238E27FC236}">
                  <a16:creationId xmlns:a16="http://schemas.microsoft.com/office/drawing/2014/main" id="{E4019855-B95A-D0E4-3782-5388188769EF}"/>
                </a:ext>
              </a:extLst>
            </p:cNvPr>
            <p:cNvSpPr txBox="1"/>
            <p:nvPr/>
          </p:nvSpPr>
          <p:spPr>
            <a:xfrm>
              <a:off x="1320935" y="3700697"/>
              <a:ext cx="2610050" cy="352056"/>
            </a:xfrm>
            <a:prstGeom prst="rect">
              <a:avLst/>
            </a:prstGeom>
            <a:noFill/>
          </p:spPr>
          <p:txBody>
            <a:bodyPr wrap="square" rtlCol="0">
              <a:spAutoFit/>
            </a:bodyPr>
            <a:lstStyle/>
            <a:p>
              <a:r>
                <a:rPr lang="en-US" sz="1300" b="1" dirty="0"/>
                <a:t>Not Complicated Enough</a:t>
              </a:r>
            </a:p>
          </p:txBody>
        </p:sp>
        <p:sp>
          <p:nvSpPr>
            <p:cNvPr id="34" name="TextBox 33">
              <a:extLst>
                <a:ext uri="{FF2B5EF4-FFF2-40B4-BE49-F238E27FC236}">
                  <a16:creationId xmlns:a16="http://schemas.microsoft.com/office/drawing/2014/main" id="{FE441A46-2EEB-DE96-4BD1-69E01A03A37C}"/>
                </a:ext>
              </a:extLst>
            </p:cNvPr>
            <p:cNvSpPr txBox="1"/>
            <p:nvPr/>
          </p:nvSpPr>
          <p:spPr>
            <a:xfrm>
              <a:off x="1582261" y="6344056"/>
              <a:ext cx="1199037" cy="352056"/>
            </a:xfrm>
            <a:prstGeom prst="rect">
              <a:avLst/>
            </a:prstGeom>
            <a:noFill/>
          </p:spPr>
          <p:txBody>
            <a:bodyPr wrap="square" rtlCol="0">
              <a:spAutoFit/>
            </a:bodyPr>
            <a:lstStyle/>
            <a:p>
              <a:pPr algn="ctr"/>
              <a:r>
                <a:rPr lang="en-US" sz="1300" dirty="0"/>
                <a:t>Scenario 1</a:t>
              </a:r>
            </a:p>
          </p:txBody>
        </p:sp>
        <p:sp>
          <p:nvSpPr>
            <p:cNvPr id="35" name="TextBox 34">
              <a:extLst>
                <a:ext uri="{FF2B5EF4-FFF2-40B4-BE49-F238E27FC236}">
                  <a16:creationId xmlns:a16="http://schemas.microsoft.com/office/drawing/2014/main" id="{0085BC41-94C3-FF27-8D69-93A34466A2FD}"/>
                </a:ext>
              </a:extLst>
            </p:cNvPr>
            <p:cNvSpPr txBox="1"/>
            <p:nvPr/>
          </p:nvSpPr>
          <p:spPr>
            <a:xfrm>
              <a:off x="3411062" y="6344055"/>
              <a:ext cx="1199037" cy="352056"/>
            </a:xfrm>
            <a:prstGeom prst="rect">
              <a:avLst/>
            </a:prstGeom>
            <a:noFill/>
          </p:spPr>
          <p:txBody>
            <a:bodyPr wrap="square" rtlCol="0">
              <a:spAutoFit/>
            </a:bodyPr>
            <a:lstStyle/>
            <a:p>
              <a:pPr algn="ctr"/>
              <a:r>
                <a:rPr lang="en-US" sz="1300" dirty="0"/>
                <a:t>Scenario 2</a:t>
              </a:r>
            </a:p>
          </p:txBody>
        </p:sp>
        <p:sp>
          <p:nvSpPr>
            <p:cNvPr id="36" name="TextBox 35">
              <a:extLst>
                <a:ext uri="{FF2B5EF4-FFF2-40B4-BE49-F238E27FC236}">
                  <a16:creationId xmlns:a16="http://schemas.microsoft.com/office/drawing/2014/main" id="{D3300674-D71E-AA7C-061F-843B4EE655FA}"/>
                </a:ext>
              </a:extLst>
            </p:cNvPr>
            <p:cNvSpPr txBox="1"/>
            <p:nvPr/>
          </p:nvSpPr>
          <p:spPr>
            <a:xfrm>
              <a:off x="5201762" y="6344055"/>
              <a:ext cx="1199037" cy="352056"/>
            </a:xfrm>
            <a:prstGeom prst="rect">
              <a:avLst/>
            </a:prstGeom>
            <a:noFill/>
          </p:spPr>
          <p:txBody>
            <a:bodyPr wrap="square" rtlCol="0">
              <a:spAutoFit/>
            </a:bodyPr>
            <a:lstStyle/>
            <a:p>
              <a:pPr algn="ctr"/>
              <a:r>
                <a:rPr lang="en-US" sz="1300" dirty="0"/>
                <a:t>Scenario 3</a:t>
              </a:r>
            </a:p>
          </p:txBody>
        </p:sp>
        <p:sp>
          <p:nvSpPr>
            <p:cNvPr id="37" name="TextBox 36">
              <a:extLst>
                <a:ext uri="{FF2B5EF4-FFF2-40B4-BE49-F238E27FC236}">
                  <a16:creationId xmlns:a16="http://schemas.microsoft.com/office/drawing/2014/main" id="{CFD08B03-B4F2-049B-9313-0B0901135D03}"/>
                </a:ext>
              </a:extLst>
            </p:cNvPr>
            <p:cNvSpPr txBox="1"/>
            <p:nvPr/>
          </p:nvSpPr>
          <p:spPr>
            <a:xfrm>
              <a:off x="7068665" y="6344055"/>
              <a:ext cx="1199037" cy="352056"/>
            </a:xfrm>
            <a:prstGeom prst="rect">
              <a:avLst/>
            </a:prstGeom>
            <a:noFill/>
          </p:spPr>
          <p:txBody>
            <a:bodyPr wrap="square" rtlCol="0">
              <a:spAutoFit/>
            </a:bodyPr>
            <a:lstStyle/>
            <a:p>
              <a:pPr algn="ctr"/>
              <a:r>
                <a:rPr lang="en-US" sz="1300" dirty="0"/>
                <a:t>Scenario 4</a:t>
              </a:r>
            </a:p>
          </p:txBody>
        </p:sp>
        <p:sp>
          <p:nvSpPr>
            <p:cNvPr id="38" name="TextBox 37">
              <a:extLst>
                <a:ext uri="{FF2B5EF4-FFF2-40B4-BE49-F238E27FC236}">
                  <a16:creationId xmlns:a16="http://schemas.microsoft.com/office/drawing/2014/main" id="{28A560D3-00E5-1055-89C5-1FAD538D57EF}"/>
                </a:ext>
              </a:extLst>
            </p:cNvPr>
            <p:cNvSpPr txBox="1"/>
            <p:nvPr/>
          </p:nvSpPr>
          <p:spPr>
            <a:xfrm>
              <a:off x="8885931" y="6344055"/>
              <a:ext cx="1199037" cy="352056"/>
            </a:xfrm>
            <a:prstGeom prst="rect">
              <a:avLst/>
            </a:prstGeom>
            <a:noFill/>
          </p:spPr>
          <p:txBody>
            <a:bodyPr wrap="square" rtlCol="0">
              <a:spAutoFit/>
            </a:bodyPr>
            <a:lstStyle/>
            <a:p>
              <a:pPr algn="ctr"/>
              <a:r>
                <a:rPr lang="en-US" sz="1300" dirty="0"/>
                <a:t>Scenario 5</a:t>
              </a:r>
            </a:p>
          </p:txBody>
        </p:sp>
      </p:grpSp>
      <p:sp>
        <p:nvSpPr>
          <p:cNvPr id="3" name="Title 2">
            <a:extLst>
              <a:ext uri="{FF2B5EF4-FFF2-40B4-BE49-F238E27FC236}">
                <a16:creationId xmlns:a16="http://schemas.microsoft.com/office/drawing/2014/main" id="{D30270BC-3724-D6F1-565F-E661D800AB6F}"/>
              </a:ext>
            </a:extLst>
          </p:cNvPr>
          <p:cNvSpPr>
            <a:spLocks noGrp="1"/>
          </p:cNvSpPr>
          <p:nvPr>
            <p:ph type="title"/>
          </p:nvPr>
        </p:nvSpPr>
        <p:spPr/>
        <p:txBody>
          <a:bodyPr/>
          <a:lstStyle/>
          <a:p>
            <a:r>
              <a:rPr lang="en-US" dirty="0"/>
              <a:t>Putting It All Together</a:t>
            </a:r>
          </a:p>
        </p:txBody>
      </p:sp>
      <p:grpSp>
        <p:nvGrpSpPr>
          <p:cNvPr id="22" name="Group 21">
            <a:extLst>
              <a:ext uri="{FF2B5EF4-FFF2-40B4-BE49-F238E27FC236}">
                <a16:creationId xmlns:a16="http://schemas.microsoft.com/office/drawing/2014/main" id="{AC1CED1F-7185-B521-6D06-ED3F0CC51CFD}"/>
              </a:ext>
            </a:extLst>
          </p:cNvPr>
          <p:cNvGrpSpPr/>
          <p:nvPr/>
        </p:nvGrpSpPr>
        <p:grpSpPr>
          <a:xfrm>
            <a:off x="2407860" y="1468150"/>
            <a:ext cx="7726740" cy="4813153"/>
            <a:chOff x="1406769" y="622350"/>
            <a:chExt cx="9012339" cy="5789201"/>
          </a:xfrm>
        </p:grpSpPr>
        <p:pic>
          <p:nvPicPr>
            <p:cNvPr id="40" name="Picture 39">
              <a:extLst>
                <a:ext uri="{FF2B5EF4-FFF2-40B4-BE49-F238E27FC236}">
                  <a16:creationId xmlns:a16="http://schemas.microsoft.com/office/drawing/2014/main" id="{E145885D-C74C-8081-4BD4-C9A6D60479F9}"/>
                </a:ext>
              </a:extLst>
            </p:cNvPr>
            <p:cNvPicPr>
              <a:picLocks noChangeAspect="1"/>
            </p:cNvPicPr>
            <p:nvPr/>
          </p:nvPicPr>
          <p:blipFill rotWithShape="1">
            <a:blip r:embed="rId3"/>
            <a:srcRect l="21055" t="20000" b="13333"/>
            <a:stretch/>
          </p:blipFill>
          <p:spPr>
            <a:xfrm>
              <a:off x="3200400" y="4887551"/>
              <a:ext cx="7218708" cy="1524000"/>
            </a:xfrm>
            <a:prstGeom prst="rect">
              <a:avLst/>
            </a:prstGeom>
          </p:spPr>
        </p:pic>
        <p:pic>
          <p:nvPicPr>
            <p:cNvPr id="41" name="Picture 40">
              <a:extLst>
                <a:ext uri="{FF2B5EF4-FFF2-40B4-BE49-F238E27FC236}">
                  <a16:creationId xmlns:a16="http://schemas.microsoft.com/office/drawing/2014/main" id="{228B278C-FCDB-285A-7799-9E2DB1A1D287}"/>
                </a:ext>
              </a:extLst>
            </p:cNvPr>
            <p:cNvPicPr>
              <a:picLocks noChangeAspect="1"/>
            </p:cNvPicPr>
            <p:nvPr/>
          </p:nvPicPr>
          <p:blipFill rotWithShape="1">
            <a:blip r:embed="rId3"/>
            <a:srcRect l="1439" t="20000" r="83945" b="13333"/>
            <a:stretch/>
          </p:blipFill>
          <p:spPr>
            <a:xfrm>
              <a:off x="1406769" y="622350"/>
              <a:ext cx="1336431" cy="1524000"/>
            </a:xfrm>
            <a:prstGeom prst="rect">
              <a:avLst/>
            </a:prstGeom>
          </p:spPr>
        </p:pic>
      </p:grpSp>
      <p:grpSp>
        <p:nvGrpSpPr>
          <p:cNvPr id="45" name="Group 44">
            <a:extLst>
              <a:ext uri="{FF2B5EF4-FFF2-40B4-BE49-F238E27FC236}">
                <a16:creationId xmlns:a16="http://schemas.microsoft.com/office/drawing/2014/main" id="{ECB877A6-EC80-E5CC-8863-C7734C522C46}"/>
              </a:ext>
            </a:extLst>
          </p:cNvPr>
          <p:cNvGrpSpPr/>
          <p:nvPr/>
        </p:nvGrpSpPr>
        <p:grpSpPr>
          <a:xfrm>
            <a:off x="10486879" y="2387884"/>
            <a:ext cx="1137735" cy="713164"/>
            <a:chOff x="9831859" y="1234459"/>
            <a:chExt cx="1394710" cy="753829"/>
          </a:xfrm>
        </p:grpSpPr>
        <p:sp>
          <p:nvSpPr>
            <p:cNvPr id="46" name="Rectangle 45">
              <a:extLst>
                <a:ext uri="{FF2B5EF4-FFF2-40B4-BE49-F238E27FC236}">
                  <a16:creationId xmlns:a16="http://schemas.microsoft.com/office/drawing/2014/main" id="{AAD8A26B-9CD2-F60F-5716-8444BF0AFA4A}"/>
                </a:ext>
              </a:extLst>
            </p:cNvPr>
            <p:cNvSpPr/>
            <p:nvPr/>
          </p:nvSpPr>
          <p:spPr>
            <a:xfrm>
              <a:off x="9831859" y="1236922"/>
              <a:ext cx="1342960" cy="75136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A73715C1-FF6C-E1A9-8674-80B3528FFA65}"/>
                </a:ext>
              </a:extLst>
            </p:cNvPr>
            <p:cNvSpPr txBox="1"/>
            <p:nvPr/>
          </p:nvSpPr>
          <p:spPr>
            <a:xfrm>
              <a:off x="9839607" y="1234459"/>
              <a:ext cx="449162" cy="276999"/>
            </a:xfrm>
            <a:prstGeom prst="rect">
              <a:avLst/>
            </a:prstGeom>
            <a:noFill/>
          </p:spPr>
          <p:txBody>
            <a:bodyPr wrap="none" rtlCol="0">
              <a:spAutoFit/>
            </a:bodyPr>
            <a:lstStyle/>
            <a:p>
              <a:r>
                <a:rPr lang="en-US" sz="1200" dirty="0"/>
                <a:t>Key</a:t>
              </a:r>
            </a:p>
          </p:txBody>
        </p:sp>
        <p:sp>
          <p:nvSpPr>
            <p:cNvPr id="48" name="Oval 47">
              <a:extLst>
                <a:ext uri="{FF2B5EF4-FFF2-40B4-BE49-F238E27FC236}">
                  <a16:creationId xmlns:a16="http://schemas.microsoft.com/office/drawing/2014/main" id="{89FB9EAC-E25C-29BC-5606-26B169B8957B}"/>
                </a:ext>
              </a:extLst>
            </p:cNvPr>
            <p:cNvSpPr/>
            <p:nvPr/>
          </p:nvSpPr>
          <p:spPr>
            <a:xfrm>
              <a:off x="9993423" y="1774756"/>
              <a:ext cx="112093" cy="9665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EFA80F95-48BB-F35D-C4D8-37778EE6135B}"/>
                </a:ext>
              </a:extLst>
            </p:cNvPr>
            <p:cNvSpPr/>
            <p:nvPr/>
          </p:nvSpPr>
          <p:spPr>
            <a:xfrm>
              <a:off x="9993423" y="1569339"/>
              <a:ext cx="112093" cy="966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TextBox 49">
              <a:extLst>
                <a:ext uri="{FF2B5EF4-FFF2-40B4-BE49-F238E27FC236}">
                  <a16:creationId xmlns:a16="http://schemas.microsoft.com/office/drawing/2014/main" id="{23FA0415-5649-8D36-EC87-EAB2424A0A08}"/>
                </a:ext>
              </a:extLst>
            </p:cNvPr>
            <p:cNvSpPr txBox="1"/>
            <p:nvPr/>
          </p:nvSpPr>
          <p:spPr>
            <a:xfrm>
              <a:off x="10190823" y="1479167"/>
              <a:ext cx="647764" cy="292794"/>
            </a:xfrm>
            <a:prstGeom prst="rect">
              <a:avLst/>
            </a:prstGeom>
            <a:noFill/>
          </p:spPr>
          <p:txBody>
            <a:bodyPr wrap="none" rtlCol="0">
              <a:spAutoFit/>
            </a:bodyPr>
            <a:lstStyle/>
            <a:p>
              <a:r>
                <a:rPr lang="en-US" sz="1200" dirty="0"/>
                <a:t>Train</a:t>
              </a:r>
            </a:p>
          </p:txBody>
        </p:sp>
        <p:sp>
          <p:nvSpPr>
            <p:cNvPr id="51" name="TextBox 50">
              <a:extLst>
                <a:ext uri="{FF2B5EF4-FFF2-40B4-BE49-F238E27FC236}">
                  <a16:creationId xmlns:a16="http://schemas.microsoft.com/office/drawing/2014/main" id="{6B379285-3B6A-4858-4C6B-E4B1F5CE26A1}"/>
                </a:ext>
              </a:extLst>
            </p:cNvPr>
            <p:cNvSpPr txBox="1"/>
            <p:nvPr/>
          </p:nvSpPr>
          <p:spPr>
            <a:xfrm>
              <a:off x="10190822" y="1684584"/>
              <a:ext cx="1035747" cy="292794"/>
            </a:xfrm>
            <a:prstGeom prst="rect">
              <a:avLst/>
            </a:prstGeom>
            <a:noFill/>
          </p:spPr>
          <p:txBody>
            <a:bodyPr wrap="none" rtlCol="0">
              <a:spAutoFit/>
            </a:bodyPr>
            <a:lstStyle/>
            <a:p>
              <a:r>
                <a:rPr lang="en-US" sz="1200" dirty="0"/>
                <a:t>Validation</a:t>
              </a:r>
            </a:p>
          </p:txBody>
        </p:sp>
      </p:grpSp>
    </p:spTree>
    <p:extLst>
      <p:ext uri="{BB962C8B-B14F-4D97-AF65-F5344CB8AC3E}">
        <p14:creationId xmlns:p14="http://schemas.microsoft.com/office/powerpoint/2010/main" val="15053587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225521-20DE-0CC9-6FA0-443F31CDAFC6}"/>
              </a:ext>
            </a:extLst>
          </p:cNvPr>
          <p:cNvGrpSpPr/>
          <p:nvPr/>
        </p:nvGrpSpPr>
        <p:grpSpPr>
          <a:xfrm>
            <a:off x="1295400" y="1447800"/>
            <a:ext cx="8799910" cy="5064677"/>
            <a:chOff x="109215" y="597876"/>
            <a:chExt cx="10264066" cy="6098236"/>
          </a:xfrm>
        </p:grpSpPr>
        <p:sp>
          <p:nvSpPr>
            <p:cNvPr id="306" name="TextBox 305">
              <a:extLst>
                <a:ext uri="{FF2B5EF4-FFF2-40B4-BE49-F238E27FC236}">
                  <a16:creationId xmlns:a16="http://schemas.microsoft.com/office/drawing/2014/main" id="{D16D87F7-5033-1E1C-B7CD-F77A6F7877E5}"/>
                </a:ext>
              </a:extLst>
            </p:cNvPr>
            <p:cNvSpPr txBox="1"/>
            <p:nvPr/>
          </p:nvSpPr>
          <p:spPr>
            <a:xfrm>
              <a:off x="109215" y="4343402"/>
              <a:ext cx="1043865" cy="592937"/>
            </a:xfrm>
            <a:prstGeom prst="rect">
              <a:avLst/>
            </a:prstGeom>
            <a:noFill/>
          </p:spPr>
          <p:txBody>
            <a:bodyPr wrap="square" rtlCol="0">
              <a:spAutoFit/>
            </a:bodyPr>
            <a:lstStyle/>
            <a:p>
              <a:pPr algn="r"/>
              <a:r>
                <a:rPr lang="en-US" sz="1300" dirty="0"/>
                <a:t>Bias</a:t>
              </a:r>
            </a:p>
            <a:p>
              <a:pPr algn="r"/>
              <a:r>
                <a:rPr lang="en-US" sz="1300" dirty="0"/>
                <a:t>Variance</a:t>
              </a:r>
            </a:p>
          </p:txBody>
        </p:sp>
        <p:sp>
          <p:nvSpPr>
            <p:cNvPr id="307" name="TextBox 306">
              <a:extLst>
                <a:ext uri="{FF2B5EF4-FFF2-40B4-BE49-F238E27FC236}">
                  <a16:creationId xmlns:a16="http://schemas.microsoft.com/office/drawing/2014/main" id="{4AD4356E-785E-2644-2CD1-72CE6BD2B6FE}"/>
                </a:ext>
              </a:extLst>
            </p:cNvPr>
            <p:cNvSpPr txBox="1"/>
            <p:nvPr/>
          </p:nvSpPr>
          <p:spPr>
            <a:xfrm>
              <a:off x="1762680"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8" name="TextBox 307">
              <a:extLst>
                <a:ext uri="{FF2B5EF4-FFF2-40B4-BE49-F238E27FC236}">
                  <a16:creationId xmlns:a16="http://schemas.microsoft.com/office/drawing/2014/main" id="{D93A624A-8E3B-4106-70DA-A7240259A162}"/>
                </a:ext>
              </a:extLst>
            </p:cNvPr>
            <p:cNvSpPr txBox="1"/>
            <p:nvPr/>
          </p:nvSpPr>
          <p:spPr>
            <a:xfrm>
              <a:off x="3591481"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9" name="TextBox 308">
              <a:extLst>
                <a:ext uri="{FF2B5EF4-FFF2-40B4-BE49-F238E27FC236}">
                  <a16:creationId xmlns:a16="http://schemas.microsoft.com/office/drawing/2014/main" id="{9A3B7FD2-D3F3-0EBC-9FE5-52BCBEDA1851}"/>
                </a:ext>
              </a:extLst>
            </p:cNvPr>
            <p:cNvSpPr txBox="1"/>
            <p:nvPr/>
          </p:nvSpPr>
          <p:spPr>
            <a:xfrm>
              <a:off x="5420282" y="4343401"/>
              <a:ext cx="838201" cy="592937"/>
            </a:xfrm>
            <a:prstGeom prst="rect">
              <a:avLst/>
            </a:prstGeom>
            <a:noFill/>
          </p:spPr>
          <p:txBody>
            <a:bodyPr wrap="square" rtlCol="0">
              <a:spAutoFit/>
            </a:bodyPr>
            <a:lstStyle/>
            <a:p>
              <a:pPr algn="ctr"/>
              <a:r>
                <a:rPr lang="en-US" sz="1300" dirty="0"/>
                <a:t>Low</a:t>
              </a:r>
            </a:p>
            <a:p>
              <a:pPr algn="ctr"/>
              <a:r>
                <a:rPr lang="en-US" sz="1300" dirty="0"/>
                <a:t>Low</a:t>
              </a:r>
            </a:p>
          </p:txBody>
        </p:sp>
        <p:sp>
          <p:nvSpPr>
            <p:cNvPr id="310" name="TextBox 309">
              <a:extLst>
                <a:ext uri="{FF2B5EF4-FFF2-40B4-BE49-F238E27FC236}">
                  <a16:creationId xmlns:a16="http://schemas.microsoft.com/office/drawing/2014/main" id="{9A1CD7F5-3B84-5FCD-0C2D-05B0DF56A432}"/>
                </a:ext>
              </a:extLst>
            </p:cNvPr>
            <p:cNvSpPr txBox="1"/>
            <p:nvPr/>
          </p:nvSpPr>
          <p:spPr>
            <a:xfrm>
              <a:off x="7249083"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sp>
          <p:nvSpPr>
            <p:cNvPr id="311" name="TextBox 310">
              <a:extLst>
                <a:ext uri="{FF2B5EF4-FFF2-40B4-BE49-F238E27FC236}">
                  <a16:creationId xmlns:a16="http://schemas.microsoft.com/office/drawing/2014/main" id="{3C2102B6-3ADC-8D41-1855-5D2468B787CB}"/>
                </a:ext>
              </a:extLst>
            </p:cNvPr>
            <p:cNvSpPr txBox="1"/>
            <p:nvPr/>
          </p:nvSpPr>
          <p:spPr>
            <a:xfrm>
              <a:off x="9077884"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cxnSp>
          <p:nvCxnSpPr>
            <p:cNvPr id="97" name="Straight Connector 96">
              <a:extLst>
                <a:ext uri="{FF2B5EF4-FFF2-40B4-BE49-F238E27FC236}">
                  <a16:creationId xmlns:a16="http://schemas.microsoft.com/office/drawing/2014/main" id="{F3DD4575-AEF4-6933-51D3-D36D778A0279}"/>
                </a:ext>
              </a:extLst>
            </p:cNvPr>
            <p:cNvCxnSpPr>
              <a:cxnSpLocks/>
            </p:cNvCxnSpPr>
            <p:nvPr/>
          </p:nvCxnSpPr>
          <p:spPr>
            <a:xfrm>
              <a:off x="1320935" y="597876"/>
              <a:ext cx="0" cy="3057063"/>
            </a:xfrm>
            <a:prstGeom prst="line">
              <a:avLst/>
            </a:prstGeom>
            <a:ln w="19050"/>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D11FDF47-7A36-09CC-D470-EBD64FD2624F}"/>
                </a:ext>
              </a:extLst>
            </p:cNvPr>
            <p:cNvCxnSpPr>
              <a:cxnSpLocks/>
            </p:cNvCxnSpPr>
            <p:nvPr/>
          </p:nvCxnSpPr>
          <p:spPr>
            <a:xfrm flipH="1" flipV="1">
              <a:off x="1320935" y="3654939"/>
              <a:ext cx="9052346" cy="18644"/>
            </a:xfrm>
            <a:prstGeom prst="line">
              <a:avLst/>
            </a:prstGeom>
            <a:ln w="19050"/>
          </p:spPr>
          <p:style>
            <a:lnRef idx="1">
              <a:schemeClr val="dk1"/>
            </a:lnRef>
            <a:fillRef idx="0">
              <a:schemeClr val="dk1"/>
            </a:fillRef>
            <a:effectRef idx="0">
              <a:schemeClr val="dk1"/>
            </a:effectRef>
            <a:fontRef idx="minor">
              <a:schemeClr val="tx1"/>
            </a:fontRef>
          </p:style>
        </p:cxnSp>
        <p:sp>
          <p:nvSpPr>
            <p:cNvPr id="99" name="TextBox 98">
              <a:extLst>
                <a:ext uri="{FF2B5EF4-FFF2-40B4-BE49-F238E27FC236}">
                  <a16:creationId xmlns:a16="http://schemas.microsoft.com/office/drawing/2014/main" id="{8D8B84C0-9CB3-D7F2-637B-2F00275A98B0}"/>
                </a:ext>
              </a:extLst>
            </p:cNvPr>
            <p:cNvSpPr txBox="1"/>
            <p:nvPr/>
          </p:nvSpPr>
          <p:spPr>
            <a:xfrm>
              <a:off x="375857" y="1983127"/>
              <a:ext cx="777222" cy="352056"/>
            </a:xfrm>
            <a:prstGeom prst="rect">
              <a:avLst/>
            </a:prstGeom>
            <a:noFill/>
          </p:spPr>
          <p:txBody>
            <a:bodyPr wrap="square" rtlCol="0">
              <a:spAutoFit/>
            </a:bodyPr>
            <a:lstStyle/>
            <a:p>
              <a:pPr algn="r"/>
              <a:r>
                <a:rPr lang="en-US" sz="1300" b="1" dirty="0"/>
                <a:t>MSE</a:t>
              </a:r>
            </a:p>
          </p:txBody>
        </p:sp>
        <p:sp>
          <p:nvSpPr>
            <p:cNvPr id="100" name="TextBox 99">
              <a:extLst>
                <a:ext uri="{FF2B5EF4-FFF2-40B4-BE49-F238E27FC236}">
                  <a16:creationId xmlns:a16="http://schemas.microsoft.com/office/drawing/2014/main" id="{A128E684-2B61-7BDD-643A-DB8EB340695D}"/>
                </a:ext>
              </a:extLst>
            </p:cNvPr>
            <p:cNvSpPr txBox="1"/>
            <p:nvPr/>
          </p:nvSpPr>
          <p:spPr>
            <a:xfrm>
              <a:off x="8597619" y="3700697"/>
              <a:ext cx="1775662" cy="352056"/>
            </a:xfrm>
            <a:prstGeom prst="rect">
              <a:avLst/>
            </a:prstGeom>
            <a:noFill/>
          </p:spPr>
          <p:txBody>
            <a:bodyPr wrap="square" rtlCol="0">
              <a:spAutoFit/>
            </a:bodyPr>
            <a:lstStyle/>
            <a:p>
              <a:pPr algn="r"/>
              <a:r>
                <a:rPr lang="en-US" sz="1300" b="1" dirty="0"/>
                <a:t>Too Complicated</a:t>
              </a:r>
            </a:p>
          </p:txBody>
        </p:sp>
        <p:sp>
          <p:nvSpPr>
            <p:cNvPr id="101" name="TextBox 100">
              <a:extLst>
                <a:ext uri="{FF2B5EF4-FFF2-40B4-BE49-F238E27FC236}">
                  <a16:creationId xmlns:a16="http://schemas.microsoft.com/office/drawing/2014/main" id="{643BF72C-5D7E-A58A-B751-05226572E777}"/>
                </a:ext>
              </a:extLst>
            </p:cNvPr>
            <p:cNvSpPr txBox="1"/>
            <p:nvPr/>
          </p:nvSpPr>
          <p:spPr>
            <a:xfrm>
              <a:off x="4913451" y="3700697"/>
              <a:ext cx="1775661" cy="352056"/>
            </a:xfrm>
            <a:prstGeom prst="rect">
              <a:avLst/>
            </a:prstGeom>
            <a:noFill/>
          </p:spPr>
          <p:txBody>
            <a:bodyPr wrap="square" rtlCol="0">
              <a:spAutoFit/>
            </a:bodyPr>
            <a:lstStyle/>
            <a:p>
              <a:pPr algn="ctr"/>
              <a:r>
                <a:rPr lang="en-US" sz="1300" b="1" dirty="0"/>
                <a:t>True Complexity</a:t>
              </a:r>
            </a:p>
          </p:txBody>
        </p:sp>
        <p:sp>
          <p:nvSpPr>
            <p:cNvPr id="102" name="TextBox 101">
              <a:extLst>
                <a:ext uri="{FF2B5EF4-FFF2-40B4-BE49-F238E27FC236}">
                  <a16:creationId xmlns:a16="http://schemas.microsoft.com/office/drawing/2014/main" id="{E4019855-B95A-D0E4-3782-5388188769EF}"/>
                </a:ext>
              </a:extLst>
            </p:cNvPr>
            <p:cNvSpPr txBox="1"/>
            <p:nvPr/>
          </p:nvSpPr>
          <p:spPr>
            <a:xfrm>
              <a:off x="1320935" y="3700697"/>
              <a:ext cx="2610050" cy="352056"/>
            </a:xfrm>
            <a:prstGeom prst="rect">
              <a:avLst/>
            </a:prstGeom>
            <a:noFill/>
          </p:spPr>
          <p:txBody>
            <a:bodyPr wrap="square" rtlCol="0">
              <a:spAutoFit/>
            </a:bodyPr>
            <a:lstStyle/>
            <a:p>
              <a:r>
                <a:rPr lang="en-US" sz="1300" b="1" dirty="0"/>
                <a:t>Not Complicated Enough</a:t>
              </a:r>
            </a:p>
          </p:txBody>
        </p:sp>
        <p:sp>
          <p:nvSpPr>
            <p:cNvPr id="34" name="TextBox 33">
              <a:extLst>
                <a:ext uri="{FF2B5EF4-FFF2-40B4-BE49-F238E27FC236}">
                  <a16:creationId xmlns:a16="http://schemas.microsoft.com/office/drawing/2014/main" id="{FE441A46-2EEB-DE96-4BD1-69E01A03A37C}"/>
                </a:ext>
              </a:extLst>
            </p:cNvPr>
            <p:cNvSpPr txBox="1"/>
            <p:nvPr/>
          </p:nvSpPr>
          <p:spPr>
            <a:xfrm>
              <a:off x="1582261" y="6344056"/>
              <a:ext cx="1199037" cy="352056"/>
            </a:xfrm>
            <a:prstGeom prst="rect">
              <a:avLst/>
            </a:prstGeom>
            <a:noFill/>
          </p:spPr>
          <p:txBody>
            <a:bodyPr wrap="square" rtlCol="0">
              <a:spAutoFit/>
            </a:bodyPr>
            <a:lstStyle/>
            <a:p>
              <a:pPr algn="ctr"/>
              <a:r>
                <a:rPr lang="en-US" sz="1300" dirty="0"/>
                <a:t>Scenario 1</a:t>
              </a:r>
            </a:p>
          </p:txBody>
        </p:sp>
        <p:sp>
          <p:nvSpPr>
            <p:cNvPr id="35" name="TextBox 34">
              <a:extLst>
                <a:ext uri="{FF2B5EF4-FFF2-40B4-BE49-F238E27FC236}">
                  <a16:creationId xmlns:a16="http://schemas.microsoft.com/office/drawing/2014/main" id="{0085BC41-94C3-FF27-8D69-93A34466A2FD}"/>
                </a:ext>
              </a:extLst>
            </p:cNvPr>
            <p:cNvSpPr txBox="1"/>
            <p:nvPr/>
          </p:nvSpPr>
          <p:spPr>
            <a:xfrm>
              <a:off x="3411062" y="6344055"/>
              <a:ext cx="1199037" cy="352056"/>
            </a:xfrm>
            <a:prstGeom prst="rect">
              <a:avLst/>
            </a:prstGeom>
            <a:noFill/>
          </p:spPr>
          <p:txBody>
            <a:bodyPr wrap="square" rtlCol="0">
              <a:spAutoFit/>
            </a:bodyPr>
            <a:lstStyle/>
            <a:p>
              <a:pPr algn="ctr"/>
              <a:r>
                <a:rPr lang="en-US" sz="1300" dirty="0"/>
                <a:t>Scenario 2</a:t>
              </a:r>
            </a:p>
          </p:txBody>
        </p:sp>
        <p:sp>
          <p:nvSpPr>
            <p:cNvPr id="36" name="TextBox 35">
              <a:extLst>
                <a:ext uri="{FF2B5EF4-FFF2-40B4-BE49-F238E27FC236}">
                  <a16:creationId xmlns:a16="http://schemas.microsoft.com/office/drawing/2014/main" id="{D3300674-D71E-AA7C-061F-843B4EE655FA}"/>
                </a:ext>
              </a:extLst>
            </p:cNvPr>
            <p:cNvSpPr txBox="1"/>
            <p:nvPr/>
          </p:nvSpPr>
          <p:spPr>
            <a:xfrm>
              <a:off x="5201762" y="6344055"/>
              <a:ext cx="1199037" cy="352056"/>
            </a:xfrm>
            <a:prstGeom prst="rect">
              <a:avLst/>
            </a:prstGeom>
            <a:noFill/>
          </p:spPr>
          <p:txBody>
            <a:bodyPr wrap="square" rtlCol="0">
              <a:spAutoFit/>
            </a:bodyPr>
            <a:lstStyle/>
            <a:p>
              <a:pPr algn="ctr"/>
              <a:r>
                <a:rPr lang="en-US" sz="1300" dirty="0"/>
                <a:t>Scenario 3</a:t>
              </a:r>
            </a:p>
          </p:txBody>
        </p:sp>
        <p:sp>
          <p:nvSpPr>
            <p:cNvPr id="37" name="TextBox 36">
              <a:extLst>
                <a:ext uri="{FF2B5EF4-FFF2-40B4-BE49-F238E27FC236}">
                  <a16:creationId xmlns:a16="http://schemas.microsoft.com/office/drawing/2014/main" id="{CFD08B03-B4F2-049B-9313-0B0901135D03}"/>
                </a:ext>
              </a:extLst>
            </p:cNvPr>
            <p:cNvSpPr txBox="1"/>
            <p:nvPr/>
          </p:nvSpPr>
          <p:spPr>
            <a:xfrm>
              <a:off x="7068665" y="6344055"/>
              <a:ext cx="1199037" cy="352056"/>
            </a:xfrm>
            <a:prstGeom prst="rect">
              <a:avLst/>
            </a:prstGeom>
            <a:noFill/>
          </p:spPr>
          <p:txBody>
            <a:bodyPr wrap="square" rtlCol="0">
              <a:spAutoFit/>
            </a:bodyPr>
            <a:lstStyle/>
            <a:p>
              <a:pPr algn="ctr"/>
              <a:r>
                <a:rPr lang="en-US" sz="1300" dirty="0"/>
                <a:t>Scenario 4</a:t>
              </a:r>
            </a:p>
          </p:txBody>
        </p:sp>
        <p:sp>
          <p:nvSpPr>
            <p:cNvPr id="38" name="TextBox 37">
              <a:extLst>
                <a:ext uri="{FF2B5EF4-FFF2-40B4-BE49-F238E27FC236}">
                  <a16:creationId xmlns:a16="http://schemas.microsoft.com/office/drawing/2014/main" id="{28A560D3-00E5-1055-89C5-1FAD538D57EF}"/>
                </a:ext>
              </a:extLst>
            </p:cNvPr>
            <p:cNvSpPr txBox="1"/>
            <p:nvPr/>
          </p:nvSpPr>
          <p:spPr>
            <a:xfrm>
              <a:off x="8885931" y="6344055"/>
              <a:ext cx="1199037" cy="352056"/>
            </a:xfrm>
            <a:prstGeom prst="rect">
              <a:avLst/>
            </a:prstGeom>
            <a:noFill/>
          </p:spPr>
          <p:txBody>
            <a:bodyPr wrap="square" rtlCol="0">
              <a:spAutoFit/>
            </a:bodyPr>
            <a:lstStyle/>
            <a:p>
              <a:pPr algn="ctr"/>
              <a:r>
                <a:rPr lang="en-US" sz="1300" dirty="0"/>
                <a:t>Scenario 5</a:t>
              </a:r>
            </a:p>
          </p:txBody>
        </p:sp>
      </p:grpSp>
      <p:sp>
        <p:nvSpPr>
          <p:cNvPr id="3" name="Title 2">
            <a:extLst>
              <a:ext uri="{FF2B5EF4-FFF2-40B4-BE49-F238E27FC236}">
                <a16:creationId xmlns:a16="http://schemas.microsoft.com/office/drawing/2014/main" id="{D30270BC-3724-D6F1-565F-E661D800AB6F}"/>
              </a:ext>
            </a:extLst>
          </p:cNvPr>
          <p:cNvSpPr>
            <a:spLocks noGrp="1"/>
          </p:cNvSpPr>
          <p:nvPr>
            <p:ph type="title"/>
          </p:nvPr>
        </p:nvSpPr>
        <p:spPr/>
        <p:txBody>
          <a:bodyPr/>
          <a:lstStyle/>
          <a:p>
            <a:r>
              <a:rPr lang="en-US" dirty="0"/>
              <a:t>Putting It All Together</a:t>
            </a:r>
          </a:p>
        </p:txBody>
      </p:sp>
      <p:pic>
        <p:nvPicPr>
          <p:cNvPr id="40" name="Picture 39">
            <a:extLst>
              <a:ext uri="{FF2B5EF4-FFF2-40B4-BE49-F238E27FC236}">
                <a16:creationId xmlns:a16="http://schemas.microsoft.com/office/drawing/2014/main" id="{E145885D-C74C-8081-4BD4-C9A6D60479F9}"/>
              </a:ext>
            </a:extLst>
          </p:cNvPr>
          <p:cNvPicPr>
            <a:picLocks noChangeAspect="1"/>
          </p:cNvPicPr>
          <p:nvPr/>
        </p:nvPicPr>
        <p:blipFill rotWithShape="1">
          <a:blip r:embed="rId3"/>
          <a:srcRect l="21055" t="20000" b="13333"/>
          <a:stretch/>
        </p:blipFill>
        <p:spPr>
          <a:xfrm>
            <a:off x="3945632" y="5014247"/>
            <a:ext cx="6188968" cy="1267057"/>
          </a:xfrm>
          <a:prstGeom prst="rect">
            <a:avLst/>
          </a:prstGeom>
        </p:spPr>
      </p:pic>
      <p:grpSp>
        <p:nvGrpSpPr>
          <p:cNvPr id="24" name="Group 23">
            <a:extLst>
              <a:ext uri="{FF2B5EF4-FFF2-40B4-BE49-F238E27FC236}">
                <a16:creationId xmlns:a16="http://schemas.microsoft.com/office/drawing/2014/main" id="{882CF646-1843-D75E-904E-80697972DA7E}"/>
              </a:ext>
            </a:extLst>
          </p:cNvPr>
          <p:cNvGrpSpPr/>
          <p:nvPr/>
        </p:nvGrpSpPr>
        <p:grpSpPr>
          <a:xfrm>
            <a:off x="3003735" y="1547549"/>
            <a:ext cx="137162" cy="274321"/>
            <a:chOff x="2022419" y="750912"/>
            <a:chExt cx="137162" cy="320697"/>
          </a:xfrm>
        </p:grpSpPr>
        <p:sp>
          <p:nvSpPr>
            <p:cNvPr id="25" name="Oval 24">
              <a:extLst>
                <a:ext uri="{FF2B5EF4-FFF2-40B4-BE49-F238E27FC236}">
                  <a16:creationId xmlns:a16="http://schemas.microsoft.com/office/drawing/2014/main" id="{D76DBAC1-07A0-2463-2219-3F785E0B4618}"/>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0B88197D-464A-D66A-4193-12DE5B1EE348}"/>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DB4AE8E6-EB6A-691B-F684-5300B5A231B0}"/>
              </a:ext>
            </a:extLst>
          </p:cNvPr>
          <p:cNvGrpSpPr/>
          <p:nvPr/>
        </p:nvGrpSpPr>
        <p:grpSpPr>
          <a:xfrm>
            <a:off x="10486879" y="2387884"/>
            <a:ext cx="1137735" cy="713164"/>
            <a:chOff x="9831859" y="1234459"/>
            <a:chExt cx="1394710" cy="753829"/>
          </a:xfrm>
        </p:grpSpPr>
        <p:sp>
          <p:nvSpPr>
            <p:cNvPr id="42" name="Rectangle 41">
              <a:extLst>
                <a:ext uri="{FF2B5EF4-FFF2-40B4-BE49-F238E27FC236}">
                  <a16:creationId xmlns:a16="http://schemas.microsoft.com/office/drawing/2014/main" id="{0106721C-B169-0F48-0273-D96EE9955403}"/>
                </a:ext>
              </a:extLst>
            </p:cNvPr>
            <p:cNvSpPr/>
            <p:nvPr/>
          </p:nvSpPr>
          <p:spPr>
            <a:xfrm>
              <a:off x="9831859" y="1236922"/>
              <a:ext cx="1342960" cy="75136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96084285-3B70-30C1-F0BC-533DF676C05C}"/>
                </a:ext>
              </a:extLst>
            </p:cNvPr>
            <p:cNvSpPr txBox="1"/>
            <p:nvPr/>
          </p:nvSpPr>
          <p:spPr>
            <a:xfrm>
              <a:off x="9839607" y="1234459"/>
              <a:ext cx="449162" cy="276999"/>
            </a:xfrm>
            <a:prstGeom prst="rect">
              <a:avLst/>
            </a:prstGeom>
            <a:noFill/>
          </p:spPr>
          <p:txBody>
            <a:bodyPr wrap="none" rtlCol="0">
              <a:spAutoFit/>
            </a:bodyPr>
            <a:lstStyle/>
            <a:p>
              <a:r>
                <a:rPr lang="en-US" sz="1200" dirty="0"/>
                <a:t>Key</a:t>
              </a:r>
            </a:p>
          </p:txBody>
        </p:sp>
        <p:sp>
          <p:nvSpPr>
            <p:cNvPr id="44" name="Oval 43">
              <a:extLst>
                <a:ext uri="{FF2B5EF4-FFF2-40B4-BE49-F238E27FC236}">
                  <a16:creationId xmlns:a16="http://schemas.microsoft.com/office/drawing/2014/main" id="{569E8ECE-3611-5194-9B9C-DC33F6D30737}"/>
                </a:ext>
              </a:extLst>
            </p:cNvPr>
            <p:cNvSpPr/>
            <p:nvPr/>
          </p:nvSpPr>
          <p:spPr>
            <a:xfrm>
              <a:off x="9993423" y="1774756"/>
              <a:ext cx="112093" cy="9665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94416AEC-4EAE-F16C-F5AC-BA4571E3AFBF}"/>
                </a:ext>
              </a:extLst>
            </p:cNvPr>
            <p:cNvSpPr/>
            <p:nvPr/>
          </p:nvSpPr>
          <p:spPr>
            <a:xfrm>
              <a:off x="9993423" y="1569339"/>
              <a:ext cx="112093" cy="966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extBox 45">
              <a:extLst>
                <a:ext uri="{FF2B5EF4-FFF2-40B4-BE49-F238E27FC236}">
                  <a16:creationId xmlns:a16="http://schemas.microsoft.com/office/drawing/2014/main" id="{CB8A0DBD-DF16-EE5C-823F-4C108A0E2218}"/>
                </a:ext>
              </a:extLst>
            </p:cNvPr>
            <p:cNvSpPr txBox="1"/>
            <p:nvPr/>
          </p:nvSpPr>
          <p:spPr>
            <a:xfrm>
              <a:off x="10190823" y="1479167"/>
              <a:ext cx="647764" cy="292794"/>
            </a:xfrm>
            <a:prstGeom prst="rect">
              <a:avLst/>
            </a:prstGeom>
            <a:noFill/>
          </p:spPr>
          <p:txBody>
            <a:bodyPr wrap="none" rtlCol="0">
              <a:spAutoFit/>
            </a:bodyPr>
            <a:lstStyle/>
            <a:p>
              <a:r>
                <a:rPr lang="en-US" sz="1200" dirty="0"/>
                <a:t>Train</a:t>
              </a:r>
            </a:p>
          </p:txBody>
        </p:sp>
        <p:sp>
          <p:nvSpPr>
            <p:cNvPr id="47" name="TextBox 46">
              <a:extLst>
                <a:ext uri="{FF2B5EF4-FFF2-40B4-BE49-F238E27FC236}">
                  <a16:creationId xmlns:a16="http://schemas.microsoft.com/office/drawing/2014/main" id="{33BB4D13-87D0-2F4D-81D9-3CF1D259A9A4}"/>
                </a:ext>
              </a:extLst>
            </p:cNvPr>
            <p:cNvSpPr txBox="1"/>
            <p:nvPr/>
          </p:nvSpPr>
          <p:spPr>
            <a:xfrm>
              <a:off x="10190822" y="1684584"/>
              <a:ext cx="1035747" cy="292794"/>
            </a:xfrm>
            <a:prstGeom prst="rect">
              <a:avLst/>
            </a:prstGeom>
            <a:noFill/>
          </p:spPr>
          <p:txBody>
            <a:bodyPr wrap="none" rtlCol="0">
              <a:spAutoFit/>
            </a:bodyPr>
            <a:lstStyle/>
            <a:p>
              <a:r>
                <a:rPr lang="en-US" sz="1200" dirty="0"/>
                <a:t>Validation</a:t>
              </a:r>
            </a:p>
          </p:txBody>
        </p:sp>
      </p:grpSp>
    </p:spTree>
    <p:extLst>
      <p:ext uri="{BB962C8B-B14F-4D97-AF65-F5344CB8AC3E}">
        <p14:creationId xmlns:p14="http://schemas.microsoft.com/office/powerpoint/2010/main" val="12490402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225521-20DE-0CC9-6FA0-443F31CDAFC6}"/>
              </a:ext>
            </a:extLst>
          </p:cNvPr>
          <p:cNvGrpSpPr/>
          <p:nvPr/>
        </p:nvGrpSpPr>
        <p:grpSpPr>
          <a:xfrm>
            <a:off x="1295400" y="1447800"/>
            <a:ext cx="8839200" cy="5064677"/>
            <a:chOff x="109215" y="597876"/>
            <a:chExt cx="10309893" cy="6098236"/>
          </a:xfrm>
        </p:grpSpPr>
        <p:pic>
          <p:nvPicPr>
            <p:cNvPr id="305" name="Picture 304">
              <a:extLst>
                <a:ext uri="{FF2B5EF4-FFF2-40B4-BE49-F238E27FC236}">
                  <a16:creationId xmlns:a16="http://schemas.microsoft.com/office/drawing/2014/main" id="{00B3A36D-74FE-191C-4745-C3CF619DD1C9}"/>
                </a:ext>
              </a:extLst>
            </p:cNvPr>
            <p:cNvPicPr>
              <a:picLocks noChangeAspect="1"/>
            </p:cNvPicPr>
            <p:nvPr/>
          </p:nvPicPr>
          <p:blipFill rotWithShape="1">
            <a:blip r:embed="rId3"/>
            <a:srcRect l="40709" t="20000" b="13333"/>
            <a:stretch/>
          </p:blipFill>
          <p:spPr>
            <a:xfrm>
              <a:off x="4997526" y="4887551"/>
              <a:ext cx="5421582" cy="1524000"/>
            </a:xfrm>
            <a:prstGeom prst="rect">
              <a:avLst/>
            </a:prstGeom>
          </p:spPr>
        </p:pic>
        <p:sp>
          <p:nvSpPr>
            <p:cNvPr id="306" name="TextBox 305">
              <a:extLst>
                <a:ext uri="{FF2B5EF4-FFF2-40B4-BE49-F238E27FC236}">
                  <a16:creationId xmlns:a16="http://schemas.microsoft.com/office/drawing/2014/main" id="{D16D87F7-5033-1E1C-B7CD-F77A6F7877E5}"/>
                </a:ext>
              </a:extLst>
            </p:cNvPr>
            <p:cNvSpPr txBox="1"/>
            <p:nvPr/>
          </p:nvSpPr>
          <p:spPr>
            <a:xfrm>
              <a:off x="109215" y="4343402"/>
              <a:ext cx="1043865" cy="592937"/>
            </a:xfrm>
            <a:prstGeom prst="rect">
              <a:avLst/>
            </a:prstGeom>
            <a:noFill/>
          </p:spPr>
          <p:txBody>
            <a:bodyPr wrap="square" rtlCol="0">
              <a:spAutoFit/>
            </a:bodyPr>
            <a:lstStyle/>
            <a:p>
              <a:pPr algn="r"/>
              <a:r>
                <a:rPr lang="en-US" sz="1300" dirty="0"/>
                <a:t>Bias</a:t>
              </a:r>
            </a:p>
            <a:p>
              <a:pPr algn="r"/>
              <a:r>
                <a:rPr lang="en-US" sz="1300" dirty="0"/>
                <a:t>Variance</a:t>
              </a:r>
            </a:p>
          </p:txBody>
        </p:sp>
        <p:sp>
          <p:nvSpPr>
            <p:cNvPr id="307" name="TextBox 306">
              <a:extLst>
                <a:ext uri="{FF2B5EF4-FFF2-40B4-BE49-F238E27FC236}">
                  <a16:creationId xmlns:a16="http://schemas.microsoft.com/office/drawing/2014/main" id="{4AD4356E-785E-2644-2CD1-72CE6BD2B6FE}"/>
                </a:ext>
              </a:extLst>
            </p:cNvPr>
            <p:cNvSpPr txBox="1"/>
            <p:nvPr/>
          </p:nvSpPr>
          <p:spPr>
            <a:xfrm>
              <a:off x="1762680"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8" name="TextBox 307">
              <a:extLst>
                <a:ext uri="{FF2B5EF4-FFF2-40B4-BE49-F238E27FC236}">
                  <a16:creationId xmlns:a16="http://schemas.microsoft.com/office/drawing/2014/main" id="{D93A624A-8E3B-4106-70DA-A7240259A162}"/>
                </a:ext>
              </a:extLst>
            </p:cNvPr>
            <p:cNvSpPr txBox="1"/>
            <p:nvPr/>
          </p:nvSpPr>
          <p:spPr>
            <a:xfrm>
              <a:off x="3591481"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9" name="TextBox 308">
              <a:extLst>
                <a:ext uri="{FF2B5EF4-FFF2-40B4-BE49-F238E27FC236}">
                  <a16:creationId xmlns:a16="http://schemas.microsoft.com/office/drawing/2014/main" id="{9A3B7FD2-D3F3-0EBC-9FE5-52BCBEDA1851}"/>
                </a:ext>
              </a:extLst>
            </p:cNvPr>
            <p:cNvSpPr txBox="1"/>
            <p:nvPr/>
          </p:nvSpPr>
          <p:spPr>
            <a:xfrm>
              <a:off x="5420282" y="4343401"/>
              <a:ext cx="838201" cy="592937"/>
            </a:xfrm>
            <a:prstGeom prst="rect">
              <a:avLst/>
            </a:prstGeom>
            <a:noFill/>
          </p:spPr>
          <p:txBody>
            <a:bodyPr wrap="square" rtlCol="0">
              <a:spAutoFit/>
            </a:bodyPr>
            <a:lstStyle/>
            <a:p>
              <a:pPr algn="ctr"/>
              <a:r>
                <a:rPr lang="en-US" sz="1300" dirty="0"/>
                <a:t>Low</a:t>
              </a:r>
            </a:p>
            <a:p>
              <a:pPr algn="ctr"/>
              <a:r>
                <a:rPr lang="en-US" sz="1300" dirty="0"/>
                <a:t>Low</a:t>
              </a:r>
            </a:p>
          </p:txBody>
        </p:sp>
        <p:sp>
          <p:nvSpPr>
            <p:cNvPr id="310" name="TextBox 309">
              <a:extLst>
                <a:ext uri="{FF2B5EF4-FFF2-40B4-BE49-F238E27FC236}">
                  <a16:creationId xmlns:a16="http://schemas.microsoft.com/office/drawing/2014/main" id="{9A1CD7F5-3B84-5FCD-0C2D-05B0DF56A432}"/>
                </a:ext>
              </a:extLst>
            </p:cNvPr>
            <p:cNvSpPr txBox="1"/>
            <p:nvPr/>
          </p:nvSpPr>
          <p:spPr>
            <a:xfrm>
              <a:off x="7249083"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sp>
          <p:nvSpPr>
            <p:cNvPr id="311" name="TextBox 310">
              <a:extLst>
                <a:ext uri="{FF2B5EF4-FFF2-40B4-BE49-F238E27FC236}">
                  <a16:creationId xmlns:a16="http://schemas.microsoft.com/office/drawing/2014/main" id="{3C2102B6-3ADC-8D41-1855-5D2468B787CB}"/>
                </a:ext>
              </a:extLst>
            </p:cNvPr>
            <p:cNvSpPr txBox="1"/>
            <p:nvPr/>
          </p:nvSpPr>
          <p:spPr>
            <a:xfrm>
              <a:off x="9077884"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cxnSp>
          <p:nvCxnSpPr>
            <p:cNvPr id="97" name="Straight Connector 96">
              <a:extLst>
                <a:ext uri="{FF2B5EF4-FFF2-40B4-BE49-F238E27FC236}">
                  <a16:creationId xmlns:a16="http://schemas.microsoft.com/office/drawing/2014/main" id="{F3DD4575-AEF4-6933-51D3-D36D778A0279}"/>
                </a:ext>
              </a:extLst>
            </p:cNvPr>
            <p:cNvCxnSpPr>
              <a:cxnSpLocks/>
            </p:cNvCxnSpPr>
            <p:nvPr/>
          </p:nvCxnSpPr>
          <p:spPr>
            <a:xfrm>
              <a:off x="1320935" y="597876"/>
              <a:ext cx="0" cy="3057063"/>
            </a:xfrm>
            <a:prstGeom prst="line">
              <a:avLst/>
            </a:prstGeom>
            <a:ln w="19050"/>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D11FDF47-7A36-09CC-D470-EBD64FD2624F}"/>
                </a:ext>
              </a:extLst>
            </p:cNvPr>
            <p:cNvCxnSpPr>
              <a:cxnSpLocks/>
            </p:cNvCxnSpPr>
            <p:nvPr/>
          </p:nvCxnSpPr>
          <p:spPr>
            <a:xfrm flipH="1" flipV="1">
              <a:off x="1320935" y="3654939"/>
              <a:ext cx="9052346" cy="18644"/>
            </a:xfrm>
            <a:prstGeom prst="line">
              <a:avLst/>
            </a:prstGeom>
            <a:ln w="19050"/>
          </p:spPr>
          <p:style>
            <a:lnRef idx="1">
              <a:schemeClr val="dk1"/>
            </a:lnRef>
            <a:fillRef idx="0">
              <a:schemeClr val="dk1"/>
            </a:fillRef>
            <a:effectRef idx="0">
              <a:schemeClr val="dk1"/>
            </a:effectRef>
            <a:fontRef idx="minor">
              <a:schemeClr val="tx1"/>
            </a:fontRef>
          </p:style>
        </p:cxnSp>
        <p:sp>
          <p:nvSpPr>
            <p:cNvPr id="99" name="TextBox 98">
              <a:extLst>
                <a:ext uri="{FF2B5EF4-FFF2-40B4-BE49-F238E27FC236}">
                  <a16:creationId xmlns:a16="http://schemas.microsoft.com/office/drawing/2014/main" id="{8D8B84C0-9CB3-D7F2-637B-2F00275A98B0}"/>
                </a:ext>
              </a:extLst>
            </p:cNvPr>
            <p:cNvSpPr txBox="1"/>
            <p:nvPr/>
          </p:nvSpPr>
          <p:spPr>
            <a:xfrm>
              <a:off x="375857" y="1983127"/>
              <a:ext cx="777222" cy="352056"/>
            </a:xfrm>
            <a:prstGeom prst="rect">
              <a:avLst/>
            </a:prstGeom>
            <a:noFill/>
          </p:spPr>
          <p:txBody>
            <a:bodyPr wrap="square" rtlCol="0">
              <a:spAutoFit/>
            </a:bodyPr>
            <a:lstStyle/>
            <a:p>
              <a:pPr algn="r"/>
              <a:r>
                <a:rPr lang="en-US" sz="1300" b="1" dirty="0"/>
                <a:t>MSE</a:t>
              </a:r>
            </a:p>
          </p:txBody>
        </p:sp>
        <p:sp>
          <p:nvSpPr>
            <p:cNvPr id="100" name="TextBox 99">
              <a:extLst>
                <a:ext uri="{FF2B5EF4-FFF2-40B4-BE49-F238E27FC236}">
                  <a16:creationId xmlns:a16="http://schemas.microsoft.com/office/drawing/2014/main" id="{A128E684-2B61-7BDD-643A-DB8EB340695D}"/>
                </a:ext>
              </a:extLst>
            </p:cNvPr>
            <p:cNvSpPr txBox="1"/>
            <p:nvPr/>
          </p:nvSpPr>
          <p:spPr>
            <a:xfrm>
              <a:off x="8597619" y="3700697"/>
              <a:ext cx="1775662" cy="352056"/>
            </a:xfrm>
            <a:prstGeom prst="rect">
              <a:avLst/>
            </a:prstGeom>
            <a:noFill/>
          </p:spPr>
          <p:txBody>
            <a:bodyPr wrap="square" rtlCol="0">
              <a:spAutoFit/>
            </a:bodyPr>
            <a:lstStyle/>
            <a:p>
              <a:pPr algn="r"/>
              <a:r>
                <a:rPr lang="en-US" sz="1300" b="1" dirty="0"/>
                <a:t>Too Complicated</a:t>
              </a:r>
            </a:p>
          </p:txBody>
        </p:sp>
        <p:sp>
          <p:nvSpPr>
            <p:cNvPr id="101" name="TextBox 100">
              <a:extLst>
                <a:ext uri="{FF2B5EF4-FFF2-40B4-BE49-F238E27FC236}">
                  <a16:creationId xmlns:a16="http://schemas.microsoft.com/office/drawing/2014/main" id="{643BF72C-5D7E-A58A-B751-05226572E777}"/>
                </a:ext>
              </a:extLst>
            </p:cNvPr>
            <p:cNvSpPr txBox="1"/>
            <p:nvPr/>
          </p:nvSpPr>
          <p:spPr>
            <a:xfrm>
              <a:off x="4913451" y="3700697"/>
              <a:ext cx="1775661" cy="352056"/>
            </a:xfrm>
            <a:prstGeom prst="rect">
              <a:avLst/>
            </a:prstGeom>
            <a:noFill/>
          </p:spPr>
          <p:txBody>
            <a:bodyPr wrap="square" rtlCol="0">
              <a:spAutoFit/>
            </a:bodyPr>
            <a:lstStyle/>
            <a:p>
              <a:pPr algn="ctr"/>
              <a:r>
                <a:rPr lang="en-US" sz="1300" b="1" dirty="0"/>
                <a:t>True Complexity</a:t>
              </a:r>
            </a:p>
          </p:txBody>
        </p:sp>
        <p:sp>
          <p:nvSpPr>
            <p:cNvPr id="102" name="TextBox 101">
              <a:extLst>
                <a:ext uri="{FF2B5EF4-FFF2-40B4-BE49-F238E27FC236}">
                  <a16:creationId xmlns:a16="http://schemas.microsoft.com/office/drawing/2014/main" id="{E4019855-B95A-D0E4-3782-5388188769EF}"/>
                </a:ext>
              </a:extLst>
            </p:cNvPr>
            <p:cNvSpPr txBox="1"/>
            <p:nvPr/>
          </p:nvSpPr>
          <p:spPr>
            <a:xfrm>
              <a:off x="1320935" y="3700697"/>
              <a:ext cx="2698929" cy="352056"/>
            </a:xfrm>
            <a:prstGeom prst="rect">
              <a:avLst/>
            </a:prstGeom>
            <a:noFill/>
          </p:spPr>
          <p:txBody>
            <a:bodyPr wrap="square" rtlCol="0">
              <a:spAutoFit/>
            </a:bodyPr>
            <a:lstStyle/>
            <a:p>
              <a:r>
                <a:rPr lang="en-US" sz="1300" b="1" dirty="0"/>
                <a:t>Not Complicated Enough</a:t>
              </a:r>
            </a:p>
          </p:txBody>
        </p:sp>
        <p:sp>
          <p:nvSpPr>
            <p:cNvPr id="34" name="TextBox 33">
              <a:extLst>
                <a:ext uri="{FF2B5EF4-FFF2-40B4-BE49-F238E27FC236}">
                  <a16:creationId xmlns:a16="http://schemas.microsoft.com/office/drawing/2014/main" id="{FE441A46-2EEB-DE96-4BD1-69E01A03A37C}"/>
                </a:ext>
              </a:extLst>
            </p:cNvPr>
            <p:cNvSpPr txBox="1"/>
            <p:nvPr/>
          </p:nvSpPr>
          <p:spPr>
            <a:xfrm>
              <a:off x="1582261" y="6344056"/>
              <a:ext cx="1199037" cy="352056"/>
            </a:xfrm>
            <a:prstGeom prst="rect">
              <a:avLst/>
            </a:prstGeom>
            <a:noFill/>
          </p:spPr>
          <p:txBody>
            <a:bodyPr wrap="square" rtlCol="0">
              <a:spAutoFit/>
            </a:bodyPr>
            <a:lstStyle/>
            <a:p>
              <a:pPr algn="ctr"/>
              <a:r>
                <a:rPr lang="en-US" sz="1300" dirty="0"/>
                <a:t>Scenario 1</a:t>
              </a:r>
            </a:p>
          </p:txBody>
        </p:sp>
        <p:sp>
          <p:nvSpPr>
            <p:cNvPr id="35" name="TextBox 34">
              <a:extLst>
                <a:ext uri="{FF2B5EF4-FFF2-40B4-BE49-F238E27FC236}">
                  <a16:creationId xmlns:a16="http://schemas.microsoft.com/office/drawing/2014/main" id="{0085BC41-94C3-FF27-8D69-93A34466A2FD}"/>
                </a:ext>
              </a:extLst>
            </p:cNvPr>
            <p:cNvSpPr txBox="1"/>
            <p:nvPr/>
          </p:nvSpPr>
          <p:spPr>
            <a:xfrm>
              <a:off x="3411062" y="6344055"/>
              <a:ext cx="1199037" cy="352056"/>
            </a:xfrm>
            <a:prstGeom prst="rect">
              <a:avLst/>
            </a:prstGeom>
            <a:noFill/>
          </p:spPr>
          <p:txBody>
            <a:bodyPr wrap="square" rtlCol="0">
              <a:spAutoFit/>
            </a:bodyPr>
            <a:lstStyle/>
            <a:p>
              <a:pPr algn="ctr"/>
              <a:r>
                <a:rPr lang="en-US" sz="1300" dirty="0"/>
                <a:t>Scenario 2</a:t>
              </a:r>
            </a:p>
          </p:txBody>
        </p:sp>
        <p:sp>
          <p:nvSpPr>
            <p:cNvPr id="36" name="TextBox 35">
              <a:extLst>
                <a:ext uri="{FF2B5EF4-FFF2-40B4-BE49-F238E27FC236}">
                  <a16:creationId xmlns:a16="http://schemas.microsoft.com/office/drawing/2014/main" id="{D3300674-D71E-AA7C-061F-843B4EE655FA}"/>
                </a:ext>
              </a:extLst>
            </p:cNvPr>
            <p:cNvSpPr txBox="1"/>
            <p:nvPr/>
          </p:nvSpPr>
          <p:spPr>
            <a:xfrm>
              <a:off x="5201762" y="6344055"/>
              <a:ext cx="1199037" cy="352056"/>
            </a:xfrm>
            <a:prstGeom prst="rect">
              <a:avLst/>
            </a:prstGeom>
            <a:noFill/>
          </p:spPr>
          <p:txBody>
            <a:bodyPr wrap="square" rtlCol="0">
              <a:spAutoFit/>
            </a:bodyPr>
            <a:lstStyle/>
            <a:p>
              <a:pPr algn="ctr"/>
              <a:r>
                <a:rPr lang="en-US" sz="1300" dirty="0"/>
                <a:t>Scenario 3</a:t>
              </a:r>
            </a:p>
          </p:txBody>
        </p:sp>
        <p:sp>
          <p:nvSpPr>
            <p:cNvPr id="37" name="TextBox 36">
              <a:extLst>
                <a:ext uri="{FF2B5EF4-FFF2-40B4-BE49-F238E27FC236}">
                  <a16:creationId xmlns:a16="http://schemas.microsoft.com/office/drawing/2014/main" id="{CFD08B03-B4F2-049B-9313-0B0901135D03}"/>
                </a:ext>
              </a:extLst>
            </p:cNvPr>
            <p:cNvSpPr txBox="1"/>
            <p:nvPr/>
          </p:nvSpPr>
          <p:spPr>
            <a:xfrm>
              <a:off x="7068665" y="6344055"/>
              <a:ext cx="1199037" cy="352056"/>
            </a:xfrm>
            <a:prstGeom prst="rect">
              <a:avLst/>
            </a:prstGeom>
            <a:noFill/>
          </p:spPr>
          <p:txBody>
            <a:bodyPr wrap="square" rtlCol="0">
              <a:spAutoFit/>
            </a:bodyPr>
            <a:lstStyle/>
            <a:p>
              <a:pPr algn="ctr"/>
              <a:r>
                <a:rPr lang="en-US" sz="1300" dirty="0"/>
                <a:t>Scenario 4</a:t>
              </a:r>
            </a:p>
          </p:txBody>
        </p:sp>
        <p:sp>
          <p:nvSpPr>
            <p:cNvPr id="38" name="TextBox 37">
              <a:extLst>
                <a:ext uri="{FF2B5EF4-FFF2-40B4-BE49-F238E27FC236}">
                  <a16:creationId xmlns:a16="http://schemas.microsoft.com/office/drawing/2014/main" id="{28A560D3-00E5-1055-89C5-1FAD538D57EF}"/>
                </a:ext>
              </a:extLst>
            </p:cNvPr>
            <p:cNvSpPr txBox="1"/>
            <p:nvPr/>
          </p:nvSpPr>
          <p:spPr>
            <a:xfrm>
              <a:off x="8885931" y="6344055"/>
              <a:ext cx="1199037" cy="352056"/>
            </a:xfrm>
            <a:prstGeom prst="rect">
              <a:avLst/>
            </a:prstGeom>
            <a:noFill/>
          </p:spPr>
          <p:txBody>
            <a:bodyPr wrap="square" rtlCol="0">
              <a:spAutoFit/>
            </a:bodyPr>
            <a:lstStyle/>
            <a:p>
              <a:pPr algn="ctr"/>
              <a:r>
                <a:rPr lang="en-US" sz="1300" dirty="0"/>
                <a:t>Scenario 5</a:t>
              </a:r>
            </a:p>
          </p:txBody>
        </p:sp>
      </p:grpSp>
      <p:sp>
        <p:nvSpPr>
          <p:cNvPr id="3" name="Title 2">
            <a:extLst>
              <a:ext uri="{FF2B5EF4-FFF2-40B4-BE49-F238E27FC236}">
                <a16:creationId xmlns:a16="http://schemas.microsoft.com/office/drawing/2014/main" id="{D30270BC-3724-D6F1-565F-E661D800AB6F}"/>
              </a:ext>
            </a:extLst>
          </p:cNvPr>
          <p:cNvSpPr>
            <a:spLocks noGrp="1"/>
          </p:cNvSpPr>
          <p:nvPr>
            <p:ph type="title"/>
          </p:nvPr>
        </p:nvSpPr>
        <p:spPr/>
        <p:txBody>
          <a:bodyPr/>
          <a:lstStyle/>
          <a:p>
            <a:r>
              <a:rPr lang="en-US" dirty="0"/>
              <a:t>Putting It All Together</a:t>
            </a:r>
          </a:p>
        </p:txBody>
      </p:sp>
      <p:grpSp>
        <p:nvGrpSpPr>
          <p:cNvPr id="22" name="Group 21">
            <a:extLst>
              <a:ext uri="{FF2B5EF4-FFF2-40B4-BE49-F238E27FC236}">
                <a16:creationId xmlns:a16="http://schemas.microsoft.com/office/drawing/2014/main" id="{3019C190-F9AF-FF78-2057-5339F3925793}"/>
              </a:ext>
            </a:extLst>
          </p:cNvPr>
          <p:cNvGrpSpPr/>
          <p:nvPr/>
        </p:nvGrpSpPr>
        <p:grpSpPr>
          <a:xfrm>
            <a:off x="3003735" y="1547549"/>
            <a:ext cx="137162" cy="274321"/>
            <a:chOff x="2022419" y="750912"/>
            <a:chExt cx="137162" cy="320697"/>
          </a:xfrm>
        </p:grpSpPr>
        <p:sp>
          <p:nvSpPr>
            <p:cNvPr id="23" name="Oval 22">
              <a:extLst>
                <a:ext uri="{FF2B5EF4-FFF2-40B4-BE49-F238E27FC236}">
                  <a16:creationId xmlns:a16="http://schemas.microsoft.com/office/drawing/2014/main" id="{C7B16A89-3997-B657-06B5-799674DB2333}"/>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EDD9004C-C238-B616-D61E-713AA02B440B}"/>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8" name="Picture 27">
            <a:extLst>
              <a:ext uri="{FF2B5EF4-FFF2-40B4-BE49-F238E27FC236}">
                <a16:creationId xmlns:a16="http://schemas.microsoft.com/office/drawing/2014/main" id="{FC783A45-6CEB-8CE1-4A06-66D2445043E3}"/>
              </a:ext>
            </a:extLst>
          </p:cNvPr>
          <p:cNvPicPr>
            <a:picLocks noChangeAspect="1"/>
          </p:cNvPicPr>
          <p:nvPr/>
        </p:nvPicPr>
        <p:blipFill rotWithShape="1">
          <a:blip r:embed="rId3"/>
          <a:srcRect l="21270" t="20000" r="63528" b="13333"/>
          <a:stretch/>
        </p:blipFill>
        <p:spPr>
          <a:xfrm>
            <a:off x="3962401" y="1828800"/>
            <a:ext cx="1191838" cy="1265705"/>
          </a:xfrm>
          <a:prstGeom prst="rect">
            <a:avLst/>
          </a:prstGeom>
        </p:spPr>
      </p:pic>
      <p:pic>
        <p:nvPicPr>
          <p:cNvPr id="29" name="Picture 28">
            <a:extLst>
              <a:ext uri="{FF2B5EF4-FFF2-40B4-BE49-F238E27FC236}">
                <a16:creationId xmlns:a16="http://schemas.microsoft.com/office/drawing/2014/main" id="{FBB432CC-2650-F42F-9B9B-F70DE4E41E5D}"/>
              </a:ext>
            </a:extLst>
          </p:cNvPr>
          <p:cNvPicPr>
            <a:picLocks noChangeAspect="1"/>
          </p:cNvPicPr>
          <p:nvPr/>
        </p:nvPicPr>
        <p:blipFill rotWithShape="1">
          <a:blip r:embed="rId3"/>
          <a:srcRect t="20000" r="82851" b="13333"/>
          <a:stretch/>
        </p:blipFill>
        <p:spPr>
          <a:xfrm>
            <a:off x="2294980" y="5010440"/>
            <a:ext cx="1344420" cy="1265705"/>
          </a:xfrm>
          <a:prstGeom prst="rect">
            <a:avLst/>
          </a:prstGeom>
        </p:spPr>
      </p:pic>
      <p:grpSp>
        <p:nvGrpSpPr>
          <p:cNvPr id="42" name="Group 41">
            <a:extLst>
              <a:ext uri="{FF2B5EF4-FFF2-40B4-BE49-F238E27FC236}">
                <a16:creationId xmlns:a16="http://schemas.microsoft.com/office/drawing/2014/main" id="{8595998A-5865-2850-02C1-E770249DFFAB}"/>
              </a:ext>
            </a:extLst>
          </p:cNvPr>
          <p:cNvGrpSpPr/>
          <p:nvPr/>
        </p:nvGrpSpPr>
        <p:grpSpPr>
          <a:xfrm>
            <a:off x="10486879" y="2387884"/>
            <a:ext cx="1137735" cy="713164"/>
            <a:chOff x="9831859" y="1234459"/>
            <a:chExt cx="1394710" cy="753829"/>
          </a:xfrm>
        </p:grpSpPr>
        <p:sp>
          <p:nvSpPr>
            <p:cNvPr id="43" name="Rectangle 42">
              <a:extLst>
                <a:ext uri="{FF2B5EF4-FFF2-40B4-BE49-F238E27FC236}">
                  <a16:creationId xmlns:a16="http://schemas.microsoft.com/office/drawing/2014/main" id="{51C4B543-E1B2-334E-39C2-1644C310C1CB}"/>
                </a:ext>
              </a:extLst>
            </p:cNvPr>
            <p:cNvSpPr/>
            <p:nvPr/>
          </p:nvSpPr>
          <p:spPr>
            <a:xfrm>
              <a:off x="9831859" y="1236922"/>
              <a:ext cx="1342960" cy="75136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33BCD8E9-155A-79B0-1810-19CE46AF2557}"/>
                </a:ext>
              </a:extLst>
            </p:cNvPr>
            <p:cNvSpPr txBox="1"/>
            <p:nvPr/>
          </p:nvSpPr>
          <p:spPr>
            <a:xfrm>
              <a:off x="9839607" y="1234459"/>
              <a:ext cx="449162" cy="276999"/>
            </a:xfrm>
            <a:prstGeom prst="rect">
              <a:avLst/>
            </a:prstGeom>
            <a:noFill/>
          </p:spPr>
          <p:txBody>
            <a:bodyPr wrap="none" rtlCol="0">
              <a:spAutoFit/>
            </a:bodyPr>
            <a:lstStyle/>
            <a:p>
              <a:r>
                <a:rPr lang="en-US" sz="1200" dirty="0"/>
                <a:t>Key</a:t>
              </a:r>
            </a:p>
          </p:txBody>
        </p:sp>
        <p:sp>
          <p:nvSpPr>
            <p:cNvPr id="45" name="Oval 44">
              <a:extLst>
                <a:ext uri="{FF2B5EF4-FFF2-40B4-BE49-F238E27FC236}">
                  <a16:creationId xmlns:a16="http://schemas.microsoft.com/office/drawing/2014/main" id="{86BE9F9F-DD6A-9394-792B-91DBB96297C6}"/>
                </a:ext>
              </a:extLst>
            </p:cNvPr>
            <p:cNvSpPr/>
            <p:nvPr/>
          </p:nvSpPr>
          <p:spPr>
            <a:xfrm>
              <a:off x="9993423" y="1774756"/>
              <a:ext cx="112093" cy="9665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895E963-A415-3DF1-C140-C7CFAE0EEFDB}"/>
                </a:ext>
              </a:extLst>
            </p:cNvPr>
            <p:cNvSpPr/>
            <p:nvPr/>
          </p:nvSpPr>
          <p:spPr>
            <a:xfrm>
              <a:off x="9993423" y="1569339"/>
              <a:ext cx="112093" cy="966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TextBox 46">
              <a:extLst>
                <a:ext uri="{FF2B5EF4-FFF2-40B4-BE49-F238E27FC236}">
                  <a16:creationId xmlns:a16="http://schemas.microsoft.com/office/drawing/2014/main" id="{FEF6B99B-F3B6-A6FB-1717-69B7EE7DC864}"/>
                </a:ext>
              </a:extLst>
            </p:cNvPr>
            <p:cNvSpPr txBox="1"/>
            <p:nvPr/>
          </p:nvSpPr>
          <p:spPr>
            <a:xfrm>
              <a:off x="10190823" y="1479167"/>
              <a:ext cx="647764" cy="292794"/>
            </a:xfrm>
            <a:prstGeom prst="rect">
              <a:avLst/>
            </a:prstGeom>
            <a:noFill/>
          </p:spPr>
          <p:txBody>
            <a:bodyPr wrap="none" rtlCol="0">
              <a:spAutoFit/>
            </a:bodyPr>
            <a:lstStyle/>
            <a:p>
              <a:r>
                <a:rPr lang="en-US" sz="1200" dirty="0"/>
                <a:t>Train</a:t>
              </a:r>
            </a:p>
          </p:txBody>
        </p:sp>
        <p:sp>
          <p:nvSpPr>
            <p:cNvPr id="48" name="TextBox 47">
              <a:extLst>
                <a:ext uri="{FF2B5EF4-FFF2-40B4-BE49-F238E27FC236}">
                  <a16:creationId xmlns:a16="http://schemas.microsoft.com/office/drawing/2014/main" id="{2DD06CFA-0426-F092-2621-C3C36D1D09F3}"/>
                </a:ext>
              </a:extLst>
            </p:cNvPr>
            <p:cNvSpPr txBox="1"/>
            <p:nvPr/>
          </p:nvSpPr>
          <p:spPr>
            <a:xfrm>
              <a:off x="10190822" y="1684584"/>
              <a:ext cx="1035747" cy="292794"/>
            </a:xfrm>
            <a:prstGeom prst="rect">
              <a:avLst/>
            </a:prstGeom>
            <a:noFill/>
          </p:spPr>
          <p:txBody>
            <a:bodyPr wrap="none" rtlCol="0">
              <a:spAutoFit/>
            </a:bodyPr>
            <a:lstStyle/>
            <a:p>
              <a:r>
                <a:rPr lang="en-US" sz="1200" dirty="0"/>
                <a:t>Validation</a:t>
              </a:r>
            </a:p>
          </p:txBody>
        </p:sp>
      </p:grpSp>
    </p:spTree>
    <p:extLst>
      <p:ext uri="{BB962C8B-B14F-4D97-AF65-F5344CB8AC3E}">
        <p14:creationId xmlns:p14="http://schemas.microsoft.com/office/powerpoint/2010/main" val="17220770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225521-20DE-0CC9-6FA0-443F31CDAFC6}"/>
              </a:ext>
            </a:extLst>
          </p:cNvPr>
          <p:cNvGrpSpPr/>
          <p:nvPr/>
        </p:nvGrpSpPr>
        <p:grpSpPr>
          <a:xfrm>
            <a:off x="1295400" y="1447800"/>
            <a:ext cx="8839200" cy="5064677"/>
            <a:chOff x="109215" y="597876"/>
            <a:chExt cx="10309893" cy="6098236"/>
          </a:xfrm>
        </p:grpSpPr>
        <p:pic>
          <p:nvPicPr>
            <p:cNvPr id="305" name="Picture 304">
              <a:extLst>
                <a:ext uri="{FF2B5EF4-FFF2-40B4-BE49-F238E27FC236}">
                  <a16:creationId xmlns:a16="http://schemas.microsoft.com/office/drawing/2014/main" id="{00B3A36D-74FE-191C-4745-C3CF619DD1C9}"/>
                </a:ext>
              </a:extLst>
            </p:cNvPr>
            <p:cNvPicPr>
              <a:picLocks noChangeAspect="1"/>
            </p:cNvPicPr>
            <p:nvPr/>
          </p:nvPicPr>
          <p:blipFill rotWithShape="1">
            <a:blip r:embed="rId3"/>
            <a:srcRect l="40709" t="20000" b="13333"/>
            <a:stretch/>
          </p:blipFill>
          <p:spPr>
            <a:xfrm>
              <a:off x="4997526" y="4887551"/>
              <a:ext cx="5421582" cy="1524000"/>
            </a:xfrm>
            <a:prstGeom prst="rect">
              <a:avLst/>
            </a:prstGeom>
          </p:spPr>
        </p:pic>
        <p:sp>
          <p:nvSpPr>
            <p:cNvPr id="306" name="TextBox 305">
              <a:extLst>
                <a:ext uri="{FF2B5EF4-FFF2-40B4-BE49-F238E27FC236}">
                  <a16:creationId xmlns:a16="http://schemas.microsoft.com/office/drawing/2014/main" id="{D16D87F7-5033-1E1C-B7CD-F77A6F7877E5}"/>
                </a:ext>
              </a:extLst>
            </p:cNvPr>
            <p:cNvSpPr txBox="1"/>
            <p:nvPr/>
          </p:nvSpPr>
          <p:spPr>
            <a:xfrm>
              <a:off x="109215" y="4343402"/>
              <a:ext cx="1043865" cy="592937"/>
            </a:xfrm>
            <a:prstGeom prst="rect">
              <a:avLst/>
            </a:prstGeom>
            <a:noFill/>
          </p:spPr>
          <p:txBody>
            <a:bodyPr wrap="square" rtlCol="0">
              <a:spAutoFit/>
            </a:bodyPr>
            <a:lstStyle/>
            <a:p>
              <a:pPr algn="r"/>
              <a:r>
                <a:rPr lang="en-US" sz="1300" dirty="0"/>
                <a:t>Bias</a:t>
              </a:r>
            </a:p>
            <a:p>
              <a:pPr algn="r"/>
              <a:r>
                <a:rPr lang="en-US" sz="1300" dirty="0"/>
                <a:t>Variance</a:t>
              </a:r>
            </a:p>
          </p:txBody>
        </p:sp>
        <p:sp>
          <p:nvSpPr>
            <p:cNvPr id="307" name="TextBox 306">
              <a:extLst>
                <a:ext uri="{FF2B5EF4-FFF2-40B4-BE49-F238E27FC236}">
                  <a16:creationId xmlns:a16="http://schemas.microsoft.com/office/drawing/2014/main" id="{4AD4356E-785E-2644-2CD1-72CE6BD2B6FE}"/>
                </a:ext>
              </a:extLst>
            </p:cNvPr>
            <p:cNvSpPr txBox="1"/>
            <p:nvPr/>
          </p:nvSpPr>
          <p:spPr>
            <a:xfrm>
              <a:off x="1762680"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8" name="TextBox 307">
              <a:extLst>
                <a:ext uri="{FF2B5EF4-FFF2-40B4-BE49-F238E27FC236}">
                  <a16:creationId xmlns:a16="http://schemas.microsoft.com/office/drawing/2014/main" id="{D93A624A-8E3B-4106-70DA-A7240259A162}"/>
                </a:ext>
              </a:extLst>
            </p:cNvPr>
            <p:cNvSpPr txBox="1"/>
            <p:nvPr/>
          </p:nvSpPr>
          <p:spPr>
            <a:xfrm>
              <a:off x="3591481"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9" name="TextBox 308">
              <a:extLst>
                <a:ext uri="{FF2B5EF4-FFF2-40B4-BE49-F238E27FC236}">
                  <a16:creationId xmlns:a16="http://schemas.microsoft.com/office/drawing/2014/main" id="{9A3B7FD2-D3F3-0EBC-9FE5-52BCBEDA1851}"/>
                </a:ext>
              </a:extLst>
            </p:cNvPr>
            <p:cNvSpPr txBox="1"/>
            <p:nvPr/>
          </p:nvSpPr>
          <p:spPr>
            <a:xfrm>
              <a:off x="5420282" y="4343401"/>
              <a:ext cx="838201" cy="592937"/>
            </a:xfrm>
            <a:prstGeom prst="rect">
              <a:avLst/>
            </a:prstGeom>
            <a:noFill/>
          </p:spPr>
          <p:txBody>
            <a:bodyPr wrap="square" rtlCol="0">
              <a:spAutoFit/>
            </a:bodyPr>
            <a:lstStyle/>
            <a:p>
              <a:pPr algn="ctr"/>
              <a:r>
                <a:rPr lang="en-US" sz="1300" dirty="0"/>
                <a:t>Low</a:t>
              </a:r>
            </a:p>
            <a:p>
              <a:pPr algn="ctr"/>
              <a:r>
                <a:rPr lang="en-US" sz="1300" dirty="0"/>
                <a:t>Low</a:t>
              </a:r>
            </a:p>
          </p:txBody>
        </p:sp>
        <p:sp>
          <p:nvSpPr>
            <p:cNvPr id="310" name="TextBox 309">
              <a:extLst>
                <a:ext uri="{FF2B5EF4-FFF2-40B4-BE49-F238E27FC236}">
                  <a16:creationId xmlns:a16="http://schemas.microsoft.com/office/drawing/2014/main" id="{9A1CD7F5-3B84-5FCD-0C2D-05B0DF56A432}"/>
                </a:ext>
              </a:extLst>
            </p:cNvPr>
            <p:cNvSpPr txBox="1"/>
            <p:nvPr/>
          </p:nvSpPr>
          <p:spPr>
            <a:xfrm>
              <a:off x="7249083"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sp>
          <p:nvSpPr>
            <p:cNvPr id="311" name="TextBox 310">
              <a:extLst>
                <a:ext uri="{FF2B5EF4-FFF2-40B4-BE49-F238E27FC236}">
                  <a16:creationId xmlns:a16="http://schemas.microsoft.com/office/drawing/2014/main" id="{3C2102B6-3ADC-8D41-1855-5D2468B787CB}"/>
                </a:ext>
              </a:extLst>
            </p:cNvPr>
            <p:cNvSpPr txBox="1"/>
            <p:nvPr/>
          </p:nvSpPr>
          <p:spPr>
            <a:xfrm>
              <a:off x="9077884"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cxnSp>
          <p:nvCxnSpPr>
            <p:cNvPr id="97" name="Straight Connector 96">
              <a:extLst>
                <a:ext uri="{FF2B5EF4-FFF2-40B4-BE49-F238E27FC236}">
                  <a16:creationId xmlns:a16="http://schemas.microsoft.com/office/drawing/2014/main" id="{F3DD4575-AEF4-6933-51D3-D36D778A0279}"/>
                </a:ext>
              </a:extLst>
            </p:cNvPr>
            <p:cNvCxnSpPr>
              <a:cxnSpLocks/>
            </p:cNvCxnSpPr>
            <p:nvPr/>
          </p:nvCxnSpPr>
          <p:spPr>
            <a:xfrm>
              <a:off x="1320935" y="597876"/>
              <a:ext cx="0" cy="3057063"/>
            </a:xfrm>
            <a:prstGeom prst="line">
              <a:avLst/>
            </a:prstGeom>
            <a:ln w="19050"/>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D11FDF47-7A36-09CC-D470-EBD64FD2624F}"/>
                </a:ext>
              </a:extLst>
            </p:cNvPr>
            <p:cNvCxnSpPr>
              <a:cxnSpLocks/>
            </p:cNvCxnSpPr>
            <p:nvPr/>
          </p:nvCxnSpPr>
          <p:spPr>
            <a:xfrm flipH="1" flipV="1">
              <a:off x="1320935" y="3654939"/>
              <a:ext cx="9052346" cy="18644"/>
            </a:xfrm>
            <a:prstGeom prst="line">
              <a:avLst/>
            </a:prstGeom>
            <a:ln w="19050"/>
          </p:spPr>
          <p:style>
            <a:lnRef idx="1">
              <a:schemeClr val="dk1"/>
            </a:lnRef>
            <a:fillRef idx="0">
              <a:schemeClr val="dk1"/>
            </a:fillRef>
            <a:effectRef idx="0">
              <a:schemeClr val="dk1"/>
            </a:effectRef>
            <a:fontRef idx="minor">
              <a:schemeClr val="tx1"/>
            </a:fontRef>
          </p:style>
        </p:cxnSp>
        <p:sp>
          <p:nvSpPr>
            <p:cNvPr id="99" name="TextBox 98">
              <a:extLst>
                <a:ext uri="{FF2B5EF4-FFF2-40B4-BE49-F238E27FC236}">
                  <a16:creationId xmlns:a16="http://schemas.microsoft.com/office/drawing/2014/main" id="{8D8B84C0-9CB3-D7F2-637B-2F00275A98B0}"/>
                </a:ext>
              </a:extLst>
            </p:cNvPr>
            <p:cNvSpPr txBox="1"/>
            <p:nvPr/>
          </p:nvSpPr>
          <p:spPr>
            <a:xfrm>
              <a:off x="375857" y="1983127"/>
              <a:ext cx="777222" cy="352056"/>
            </a:xfrm>
            <a:prstGeom prst="rect">
              <a:avLst/>
            </a:prstGeom>
            <a:noFill/>
          </p:spPr>
          <p:txBody>
            <a:bodyPr wrap="square" rtlCol="0">
              <a:spAutoFit/>
            </a:bodyPr>
            <a:lstStyle/>
            <a:p>
              <a:pPr algn="r"/>
              <a:r>
                <a:rPr lang="en-US" sz="1300" b="1" dirty="0"/>
                <a:t>MSE</a:t>
              </a:r>
            </a:p>
          </p:txBody>
        </p:sp>
        <p:sp>
          <p:nvSpPr>
            <p:cNvPr id="100" name="TextBox 99">
              <a:extLst>
                <a:ext uri="{FF2B5EF4-FFF2-40B4-BE49-F238E27FC236}">
                  <a16:creationId xmlns:a16="http://schemas.microsoft.com/office/drawing/2014/main" id="{A128E684-2B61-7BDD-643A-DB8EB340695D}"/>
                </a:ext>
              </a:extLst>
            </p:cNvPr>
            <p:cNvSpPr txBox="1"/>
            <p:nvPr/>
          </p:nvSpPr>
          <p:spPr>
            <a:xfrm>
              <a:off x="8597619" y="3700697"/>
              <a:ext cx="1775662" cy="352056"/>
            </a:xfrm>
            <a:prstGeom prst="rect">
              <a:avLst/>
            </a:prstGeom>
            <a:noFill/>
          </p:spPr>
          <p:txBody>
            <a:bodyPr wrap="square" rtlCol="0">
              <a:spAutoFit/>
            </a:bodyPr>
            <a:lstStyle/>
            <a:p>
              <a:pPr algn="r"/>
              <a:r>
                <a:rPr lang="en-US" sz="1300" b="1" dirty="0"/>
                <a:t>Too Complicated</a:t>
              </a:r>
            </a:p>
          </p:txBody>
        </p:sp>
        <p:sp>
          <p:nvSpPr>
            <p:cNvPr id="101" name="TextBox 100">
              <a:extLst>
                <a:ext uri="{FF2B5EF4-FFF2-40B4-BE49-F238E27FC236}">
                  <a16:creationId xmlns:a16="http://schemas.microsoft.com/office/drawing/2014/main" id="{643BF72C-5D7E-A58A-B751-05226572E777}"/>
                </a:ext>
              </a:extLst>
            </p:cNvPr>
            <p:cNvSpPr txBox="1"/>
            <p:nvPr/>
          </p:nvSpPr>
          <p:spPr>
            <a:xfrm>
              <a:off x="4913451" y="3700697"/>
              <a:ext cx="1775661" cy="352056"/>
            </a:xfrm>
            <a:prstGeom prst="rect">
              <a:avLst/>
            </a:prstGeom>
            <a:noFill/>
          </p:spPr>
          <p:txBody>
            <a:bodyPr wrap="square" rtlCol="0">
              <a:spAutoFit/>
            </a:bodyPr>
            <a:lstStyle/>
            <a:p>
              <a:pPr algn="ctr"/>
              <a:r>
                <a:rPr lang="en-US" sz="1300" b="1" dirty="0"/>
                <a:t>True Complexity</a:t>
              </a:r>
            </a:p>
          </p:txBody>
        </p:sp>
        <p:sp>
          <p:nvSpPr>
            <p:cNvPr id="102" name="TextBox 101">
              <a:extLst>
                <a:ext uri="{FF2B5EF4-FFF2-40B4-BE49-F238E27FC236}">
                  <a16:creationId xmlns:a16="http://schemas.microsoft.com/office/drawing/2014/main" id="{E4019855-B95A-D0E4-3782-5388188769EF}"/>
                </a:ext>
              </a:extLst>
            </p:cNvPr>
            <p:cNvSpPr txBox="1"/>
            <p:nvPr/>
          </p:nvSpPr>
          <p:spPr>
            <a:xfrm>
              <a:off x="1320935" y="3700697"/>
              <a:ext cx="2609654" cy="352056"/>
            </a:xfrm>
            <a:prstGeom prst="rect">
              <a:avLst/>
            </a:prstGeom>
            <a:noFill/>
          </p:spPr>
          <p:txBody>
            <a:bodyPr wrap="square" rtlCol="0">
              <a:spAutoFit/>
            </a:bodyPr>
            <a:lstStyle/>
            <a:p>
              <a:r>
                <a:rPr lang="en-US" sz="1300" b="1" dirty="0"/>
                <a:t>Not Complicated Enough</a:t>
              </a:r>
            </a:p>
          </p:txBody>
        </p:sp>
        <p:sp>
          <p:nvSpPr>
            <p:cNvPr id="34" name="TextBox 33">
              <a:extLst>
                <a:ext uri="{FF2B5EF4-FFF2-40B4-BE49-F238E27FC236}">
                  <a16:creationId xmlns:a16="http://schemas.microsoft.com/office/drawing/2014/main" id="{FE441A46-2EEB-DE96-4BD1-69E01A03A37C}"/>
                </a:ext>
              </a:extLst>
            </p:cNvPr>
            <p:cNvSpPr txBox="1"/>
            <p:nvPr/>
          </p:nvSpPr>
          <p:spPr>
            <a:xfrm>
              <a:off x="1582261" y="6344056"/>
              <a:ext cx="1199037" cy="352056"/>
            </a:xfrm>
            <a:prstGeom prst="rect">
              <a:avLst/>
            </a:prstGeom>
            <a:noFill/>
          </p:spPr>
          <p:txBody>
            <a:bodyPr wrap="square" rtlCol="0">
              <a:spAutoFit/>
            </a:bodyPr>
            <a:lstStyle/>
            <a:p>
              <a:pPr algn="ctr"/>
              <a:r>
                <a:rPr lang="en-US" sz="1300" dirty="0"/>
                <a:t>Scenario 1</a:t>
              </a:r>
            </a:p>
          </p:txBody>
        </p:sp>
        <p:sp>
          <p:nvSpPr>
            <p:cNvPr id="35" name="TextBox 34">
              <a:extLst>
                <a:ext uri="{FF2B5EF4-FFF2-40B4-BE49-F238E27FC236}">
                  <a16:creationId xmlns:a16="http://schemas.microsoft.com/office/drawing/2014/main" id="{0085BC41-94C3-FF27-8D69-93A34466A2FD}"/>
                </a:ext>
              </a:extLst>
            </p:cNvPr>
            <p:cNvSpPr txBox="1"/>
            <p:nvPr/>
          </p:nvSpPr>
          <p:spPr>
            <a:xfrm>
              <a:off x="3411062" y="6344055"/>
              <a:ext cx="1199037" cy="352056"/>
            </a:xfrm>
            <a:prstGeom prst="rect">
              <a:avLst/>
            </a:prstGeom>
            <a:noFill/>
          </p:spPr>
          <p:txBody>
            <a:bodyPr wrap="square" rtlCol="0">
              <a:spAutoFit/>
            </a:bodyPr>
            <a:lstStyle/>
            <a:p>
              <a:pPr algn="ctr"/>
              <a:r>
                <a:rPr lang="en-US" sz="1300" dirty="0"/>
                <a:t>Scenario 2</a:t>
              </a:r>
            </a:p>
          </p:txBody>
        </p:sp>
        <p:sp>
          <p:nvSpPr>
            <p:cNvPr id="36" name="TextBox 35">
              <a:extLst>
                <a:ext uri="{FF2B5EF4-FFF2-40B4-BE49-F238E27FC236}">
                  <a16:creationId xmlns:a16="http://schemas.microsoft.com/office/drawing/2014/main" id="{D3300674-D71E-AA7C-061F-843B4EE655FA}"/>
                </a:ext>
              </a:extLst>
            </p:cNvPr>
            <p:cNvSpPr txBox="1"/>
            <p:nvPr/>
          </p:nvSpPr>
          <p:spPr>
            <a:xfrm>
              <a:off x="5201762" y="6344055"/>
              <a:ext cx="1199037" cy="352056"/>
            </a:xfrm>
            <a:prstGeom prst="rect">
              <a:avLst/>
            </a:prstGeom>
            <a:noFill/>
          </p:spPr>
          <p:txBody>
            <a:bodyPr wrap="square" rtlCol="0">
              <a:spAutoFit/>
            </a:bodyPr>
            <a:lstStyle/>
            <a:p>
              <a:pPr algn="ctr"/>
              <a:r>
                <a:rPr lang="en-US" sz="1300" dirty="0"/>
                <a:t>Scenario 3</a:t>
              </a:r>
            </a:p>
          </p:txBody>
        </p:sp>
        <p:sp>
          <p:nvSpPr>
            <p:cNvPr id="37" name="TextBox 36">
              <a:extLst>
                <a:ext uri="{FF2B5EF4-FFF2-40B4-BE49-F238E27FC236}">
                  <a16:creationId xmlns:a16="http://schemas.microsoft.com/office/drawing/2014/main" id="{CFD08B03-B4F2-049B-9313-0B0901135D03}"/>
                </a:ext>
              </a:extLst>
            </p:cNvPr>
            <p:cNvSpPr txBox="1"/>
            <p:nvPr/>
          </p:nvSpPr>
          <p:spPr>
            <a:xfrm>
              <a:off x="7068665" y="6344055"/>
              <a:ext cx="1199037" cy="352056"/>
            </a:xfrm>
            <a:prstGeom prst="rect">
              <a:avLst/>
            </a:prstGeom>
            <a:noFill/>
          </p:spPr>
          <p:txBody>
            <a:bodyPr wrap="square" rtlCol="0">
              <a:spAutoFit/>
            </a:bodyPr>
            <a:lstStyle/>
            <a:p>
              <a:pPr algn="ctr"/>
              <a:r>
                <a:rPr lang="en-US" sz="1300" dirty="0"/>
                <a:t>Scenario 4</a:t>
              </a:r>
            </a:p>
          </p:txBody>
        </p:sp>
        <p:sp>
          <p:nvSpPr>
            <p:cNvPr id="38" name="TextBox 37">
              <a:extLst>
                <a:ext uri="{FF2B5EF4-FFF2-40B4-BE49-F238E27FC236}">
                  <a16:creationId xmlns:a16="http://schemas.microsoft.com/office/drawing/2014/main" id="{28A560D3-00E5-1055-89C5-1FAD538D57EF}"/>
                </a:ext>
              </a:extLst>
            </p:cNvPr>
            <p:cNvSpPr txBox="1"/>
            <p:nvPr/>
          </p:nvSpPr>
          <p:spPr>
            <a:xfrm>
              <a:off x="8885931" y="6344055"/>
              <a:ext cx="1199037" cy="352056"/>
            </a:xfrm>
            <a:prstGeom prst="rect">
              <a:avLst/>
            </a:prstGeom>
            <a:noFill/>
          </p:spPr>
          <p:txBody>
            <a:bodyPr wrap="square" rtlCol="0">
              <a:spAutoFit/>
            </a:bodyPr>
            <a:lstStyle/>
            <a:p>
              <a:pPr algn="ctr"/>
              <a:r>
                <a:rPr lang="en-US" sz="1300" dirty="0"/>
                <a:t>Scenario 5</a:t>
              </a:r>
            </a:p>
          </p:txBody>
        </p:sp>
      </p:grpSp>
      <p:sp>
        <p:nvSpPr>
          <p:cNvPr id="3" name="Title 2">
            <a:extLst>
              <a:ext uri="{FF2B5EF4-FFF2-40B4-BE49-F238E27FC236}">
                <a16:creationId xmlns:a16="http://schemas.microsoft.com/office/drawing/2014/main" id="{D30270BC-3724-D6F1-565F-E661D800AB6F}"/>
              </a:ext>
            </a:extLst>
          </p:cNvPr>
          <p:cNvSpPr>
            <a:spLocks noGrp="1"/>
          </p:cNvSpPr>
          <p:nvPr>
            <p:ph type="title"/>
          </p:nvPr>
        </p:nvSpPr>
        <p:spPr/>
        <p:txBody>
          <a:bodyPr/>
          <a:lstStyle/>
          <a:p>
            <a:r>
              <a:rPr lang="en-US" dirty="0"/>
              <a:t>Putting It All Together</a:t>
            </a:r>
          </a:p>
        </p:txBody>
      </p:sp>
      <p:grpSp>
        <p:nvGrpSpPr>
          <p:cNvPr id="22" name="Group 21">
            <a:extLst>
              <a:ext uri="{FF2B5EF4-FFF2-40B4-BE49-F238E27FC236}">
                <a16:creationId xmlns:a16="http://schemas.microsoft.com/office/drawing/2014/main" id="{3019C190-F9AF-FF78-2057-5339F3925793}"/>
              </a:ext>
            </a:extLst>
          </p:cNvPr>
          <p:cNvGrpSpPr/>
          <p:nvPr/>
        </p:nvGrpSpPr>
        <p:grpSpPr>
          <a:xfrm>
            <a:off x="3003735" y="1547549"/>
            <a:ext cx="137162" cy="274321"/>
            <a:chOff x="2022419" y="750912"/>
            <a:chExt cx="137162" cy="320697"/>
          </a:xfrm>
        </p:grpSpPr>
        <p:sp>
          <p:nvSpPr>
            <p:cNvPr id="23" name="Oval 22">
              <a:extLst>
                <a:ext uri="{FF2B5EF4-FFF2-40B4-BE49-F238E27FC236}">
                  <a16:creationId xmlns:a16="http://schemas.microsoft.com/office/drawing/2014/main" id="{C7B16A89-3997-B657-06B5-799674DB2333}"/>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EDD9004C-C238-B616-D61E-713AA02B440B}"/>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9" name="Picture 28">
            <a:extLst>
              <a:ext uri="{FF2B5EF4-FFF2-40B4-BE49-F238E27FC236}">
                <a16:creationId xmlns:a16="http://schemas.microsoft.com/office/drawing/2014/main" id="{FBB432CC-2650-F42F-9B9B-F70DE4E41E5D}"/>
              </a:ext>
            </a:extLst>
          </p:cNvPr>
          <p:cNvPicPr>
            <a:picLocks noChangeAspect="1"/>
          </p:cNvPicPr>
          <p:nvPr/>
        </p:nvPicPr>
        <p:blipFill rotWithShape="1">
          <a:blip r:embed="rId3"/>
          <a:srcRect t="20000" r="82851" b="13333"/>
          <a:stretch/>
        </p:blipFill>
        <p:spPr>
          <a:xfrm>
            <a:off x="2294980" y="5010440"/>
            <a:ext cx="1344420" cy="1265705"/>
          </a:xfrm>
          <a:prstGeom prst="rect">
            <a:avLst/>
          </a:prstGeom>
        </p:spPr>
      </p:pic>
      <p:grpSp>
        <p:nvGrpSpPr>
          <p:cNvPr id="32" name="Group 31">
            <a:extLst>
              <a:ext uri="{FF2B5EF4-FFF2-40B4-BE49-F238E27FC236}">
                <a16:creationId xmlns:a16="http://schemas.microsoft.com/office/drawing/2014/main" id="{B96E9CC8-6DEC-05F3-02F0-5823255EC066}"/>
              </a:ext>
            </a:extLst>
          </p:cNvPr>
          <p:cNvGrpSpPr/>
          <p:nvPr/>
        </p:nvGrpSpPr>
        <p:grpSpPr>
          <a:xfrm>
            <a:off x="4571660" y="2392679"/>
            <a:ext cx="137162" cy="274321"/>
            <a:chOff x="2022419" y="750912"/>
            <a:chExt cx="137162" cy="320697"/>
          </a:xfrm>
        </p:grpSpPr>
        <p:sp>
          <p:nvSpPr>
            <p:cNvPr id="33" name="Oval 32">
              <a:extLst>
                <a:ext uri="{FF2B5EF4-FFF2-40B4-BE49-F238E27FC236}">
                  <a16:creationId xmlns:a16="http://schemas.microsoft.com/office/drawing/2014/main" id="{D1F71873-FA7C-CD8D-5D21-A18EB2BC252A}"/>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3D324927-06AF-D6D5-DC55-F45B346DA888}"/>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7" name="Group 46">
            <a:extLst>
              <a:ext uri="{FF2B5EF4-FFF2-40B4-BE49-F238E27FC236}">
                <a16:creationId xmlns:a16="http://schemas.microsoft.com/office/drawing/2014/main" id="{EA21DF86-4960-D2B3-3FA8-F42D9B91CC5A}"/>
              </a:ext>
            </a:extLst>
          </p:cNvPr>
          <p:cNvGrpSpPr/>
          <p:nvPr/>
        </p:nvGrpSpPr>
        <p:grpSpPr>
          <a:xfrm>
            <a:off x="10486879" y="2387884"/>
            <a:ext cx="1137735" cy="713164"/>
            <a:chOff x="9831859" y="1234459"/>
            <a:chExt cx="1394710" cy="753829"/>
          </a:xfrm>
        </p:grpSpPr>
        <p:sp>
          <p:nvSpPr>
            <p:cNvPr id="48" name="Rectangle 47">
              <a:extLst>
                <a:ext uri="{FF2B5EF4-FFF2-40B4-BE49-F238E27FC236}">
                  <a16:creationId xmlns:a16="http://schemas.microsoft.com/office/drawing/2014/main" id="{8D8247C1-8F6A-9ED3-BA3B-7B1C246D48BB}"/>
                </a:ext>
              </a:extLst>
            </p:cNvPr>
            <p:cNvSpPr/>
            <p:nvPr/>
          </p:nvSpPr>
          <p:spPr>
            <a:xfrm>
              <a:off x="9831859" y="1236922"/>
              <a:ext cx="1342960" cy="75136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2A5C7726-DBA6-4ABE-F2E3-8FE509B42ED4}"/>
                </a:ext>
              </a:extLst>
            </p:cNvPr>
            <p:cNvSpPr txBox="1"/>
            <p:nvPr/>
          </p:nvSpPr>
          <p:spPr>
            <a:xfrm>
              <a:off x="9839607" y="1234459"/>
              <a:ext cx="449162" cy="276999"/>
            </a:xfrm>
            <a:prstGeom prst="rect">
              <a:avLst/>
            </a:prstGeom>
            <a:noFill/>
          </p:spPr>
          <p:txBody>
            <a:bodyPr wrap="none" rtlCol="0">
              <a:spAutoFit/>
            </a:bodyPr>
            <a:lstStyle/>
            <a:p>
              <a:r>
                <a:rPr lang="en-US" sz="1200" dirty="0"/>
                <a:t>Key</a:t>
              </a:r>
            </a:p>
          </p:txBody>
        </p:sp>
        <p:sp>
          <p:nvSpPr>
            <p:cNvPr id="50" name="Oval 49">
              <a:extLst>
                <a:ext uri="{FF2B5EF4-FFF2-40B4-BE49-F238E27FC236}">
                  <a16:creationId xmlns:a16="http://schemas.microsoft.com/office/drawing/2014/main" id="{FB99DEA8-B9DA-461D-5E2A-DBC1CEF2CE21}"/>
                </a:ext>
              </a:extLst>
            </p:cNvPr>
            <p:cNvSpPr/>
            <p:nvPr/>
          </p:nvSpPr>
          <p:spPr>
            <a:xfrm>
              <a:off x="9993423" y="1774756"/>
              <a:ext cx="112093" cy="9665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F2FFA1F7-3038-BCA5-BD51-586416D98D25}"/>
                </a:ext>
              </a:extLst>
            </p:cNvPr>
            <p:cNvSpPr/>
            <p:nvPr/>
          </p:nvSpPr>
          <p:spPr>
            <a:xfrm>
              <a:off x="9993423" y="1569339"/>
              <a:ext cx="112093" cy="966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extBox 51">
              <a:extLst>
                <a:ext uri="{FF2B5EF4-FFF2-40B4-BE49-F238E27FC236}">
                  <a16:creationId xmlns:a16="http://schemas.microsoft.com/office/drawing/2014/main" id="{E22FF715-A7B7-13DD-87C5-8A7D8C26BD5F}"/>
                </a:ext>
              </a:extLst>
            </p:cNvPr>
            <p:cNvSpPr txBox="1"/>
            <p:nvPr/>
          </p:nvSpPr>
          <p:spPr>
            <a:xfrm>
              <a:off x="10190823" y="1479167"/>
              <a:ext cx="647764" cy="292794"/>
            </a:xfrm>
            <a:prstGeom prst="rect">
              <a:avLst/>
            </a:prstGeom>
            <a:noFill/>
          </p:spPr>
          <p:txBody>
            <a:bodyPr wrap="none" rtlCol="0">
              <a:spAutoFit/>
            </a:bodyPr>
            <a:lstStyle/>
            <a:p>
              <a:r>
                <a:rPr lang="en-US" sz="1200" dirty="0"/>
                <a:t>Train</a:t>
              </a:r>
            </a:p>
          </p:txBody>
        </p:sp>
        <p:sp>
          <p:nvSpPr>
            <p:cNvPr id="53" name="TextBox 52">
              <a:extLst>
                <a:ext uri="{FF2B5EF4-FFF2-40B4-BE49-F238E27FC236}">
                  <a16:creationId xmlns:a16="http://schemas.microsoft.com/office/drawing/2014/main" id="{9FC58896-0B87-4BE6-36BE-0160F9F41CF3}"/>
                </a:ext>
              </a:extLst>
            </p:cNvPr>
            <p:cNvSpPr txBox="1"/>
            <p:nvPr/>
          </p:nvSpPr>
          <p:spPr>
            <a:xfrm>
              <a:off x="10190822" y="1684584"/>
              <a:ext cx="1035747" cy="292794"/>
            </a:xfrm>
            <a:prstGeom prst="rect">
              <a:avLst/>
            </a:prstGeom>
            <a:noFill/>
          </p:spPr>
          <p:txBody>
            <a:bodyPr wrap="none" rtlCol="0">
              <a:spAutoFit/>
            </a:bodyPr>
            <a:lstStyle/>
            <a:p>
              <a:r>
                <a:rPr lang="en-US" sz="1200" dirty="0"/>
                <a:t>Validation</a:t>
              </a:r>
            </a:p>
          </p:txBody>
        </p:sp>
      </p:grpSp>
    </p:spTree>
    <p:extLst>
      <p:ext uri="{BB962C8B-B14F-4D97-AF65-F5344CB8AC3E}">
        <p14:creationId xmlns:p14="http://schemas.microsoft.com/office/powerpoint/2010/main" val="2162454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225521-20DE-0CC9-6FA0-443F31CDAFC6}"/>
              </a:ext>
            </a:extLst>
          </p:cNvPr>
          <p:cNvGrpSpPr/>
          <p:nvPr/>
        </p:nvGrpSpPr>
        <p:grpSpPr>
          <a:xfrm>
            <a:off x="1295400" y="1447800"/>
            <a:ext cx="8799910" cy="5064677"/>
            <a:chOff x="109215" y="597876"/>
            <a:chExt cx="10264066" cy="6098236"/>
          </a:xfrm>
        </p:grpSpPr>
        <p:pic>
          <p:nvPicPr>
            <p:cNvPr id="305" name="Picture 304">
              <a:extLst>
                <a:ext uri="{FF2B5EF4-FFF2-40B4-BE49-F238E27FC236}">
                  <a16:creationId xmlns:a16="http://schemas.microsoft.com/office/drawing/2014/main" id="{00B3A36D-74FE-191C-4745-C3CF619DD1C9}"/>
                </a:ext>
              </a:extLst>
            </p:cNvPr>
            <p:cNvPicPr>
              <a:picLocks noChangeAspect="1"/>
            </p:cNvPicPr>
            <p:nvPr/>
          </p:nvPicPr>
          <p:blipFill rotWithShape="1">
            <a:blip r:embed="rId3"/>
            <a:srcRect t="20000" r="63528" b="13333"/>
            <a:stretch/>
          </p:blipFill>
          <p:spPr>
            <a:xfrm>
              <a:off x="1275108" y="4887551"/>
              <a:ext cx="3334990" cy="1524000"/>
            </a:xfrm>
            <a:prstGeom prst="rect">
              <a:avLst/>
            </a:prstGeom>
          </p:spPr>
        </p:pic>
        <p:sp>
          <p:nvSpPr>
            <p:cNvPr id="306" name="TextBox 305">
              <a:extLst>
                <a:ext uri="{FF2B5EF4-FFF2-40B4-BE49-F238E27FC236}">
                  <a16:creationId xmlns:a16="http://schemas.microsoft.com/office/drawing/2014/main" id="{D16D87F7-5033-1E1C-B7CD-F77A6F7877E5}"/>
                </a:ext>
              </a:extLst>
            </p:cNvPr>
            <p:cNvSpPr txBox="1"/>
            <p:nvPr/>
          </p:nvSpPr>
          <p:spPr>
            <a:xfrm>
              <a:off x="109215" y="4343402"/>
              <a:ext cx="1043865" cy="592937"/>
            </a:xfrm>
            <a:prstGeom prst="rect">
              <a:avLst/>
            </a:prstGeom>
            <a:noFill/>
          </p:spPr>
          <p:txBody>
            <a:bodyPr wrap="square" rtlCol="0">
              <a:spAutoFit/>
            </a:bodyPr>
            <a:lstStyle/>
            <a:p>
              <a:pPr algn="r"/>
              <a:r>
                <a:rPr lang="en-US" sz="1300" dirty="0"/>
                <a:t>Bias</a:t>
              </a:r>
            </a:p>
            <a:p>
              <a:pPr algn="r"/>
              <a:r>
                <a:rPr lang="en-US" sz="1300" dirty="0"/>
                <a:t>Variance</a:t>
              </a:r>
            </a:p>
          </p:txBody>
        </p:sp>
        <p:sp>
          <p:nvSpPr>
            <p:cNvPr id="307" name="TextBox 306">
              <a:extLst>
                <a:ext uri="{FF2B5EF4-FFF2-40B4-BE49-F238E27FC236}">
                  <a16:creationId xmlns:a16="http://schemas.microsoft.com/office/drawing/2014/main" id="{4AD4356E-785E-2644-2CD1-72CE6BD2B6FE}"/>
                </a:ext>
              </a:extLst>
            </p:cNvPr>
            <p:cNvSpPr txBox="1"/>
            <p:nvPr/>
          </p:nvSpPr>
          <p:spPr>
            <a:xfrm>
              <a:off x="1762680"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8" name="TextBox 307">
              <a:extLst>
                <a:ext uri="{FF2B5EF4-FFF2-40B4-BE49-F238E27FC236}">
                  <a16:creationId xmlns:a16="http://schemas.microsoft.com/office/drawing/2014/main" id="{D93A624A-8E3B-4106-70DA-A7240259A162}"/>
                </a:ext>
              </a:extLst>
            </p:cNvPr>
            <p:cNvSpPr txBox="1"/>
            <p:nvPr/>
          </p:nvSpPr>
          <p:spPr>
            <a:xfrm>
              <a:off x="3591481"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9" name="TextBox 308">
              <a:extLst>
                <a:ext uri="{FF2B5EF4-FFF2-40B4-BE49-F238E27FC236}">
                  <a16:creationId xmlns:a16="http://schemas.microsoft.com/office/drawing/2014/main" id="{9A3B7FD2-D3F3-0EBC-9FE5-52BCBEDA1851}"/>
                </a:ext>
              </a:extLst>
            </p:cNvPr>
            <p:cNvSpPr txBox="1"/>
            <p:nvPr/>
          </p:nvSpPr>
          <p:spPr>
            <a:xfrm>
              <a:off x="5420282" y="4343401"/>
              <a:ext cx="838201" cy="592937"/>
            </a:xfrm>
            <a:prstGeom prst="rect">
              <a:avLst/>
            </a:prstGeom>
            <a:noFill/>
          </p:spPr>
          <p:txBody>
            <a:bodyPr wrap="square" rtlCol="0">
              <a:spAutoFit/>
            </a:bodyPr>
            <a:lstStyle/>
            <a:p>
              <a:pPr algn="ctr"/>
              <a:r>
                <a:rPr lang="en-US" sz="1300" dirty="0"/>
                <a:t>Low</a:t>
              </a:r>
            </a:p>
            <a:p>
              <a:pPr algn="ctr"/>
              <a:r>
                <a:rPr lang="en-US" sz="1300" dirty="0"/>
                <a:t>Low</a:t>
              </a:r>
            </a:p>
          </p:txBody>
        </p:sp>
        <p:sp>
          <p:nvSpPr>
            <p:cNvPr id="310" name="TextBox 309">
              <a:extLst>
                <a:ext uri="{FF2B5EF4-FFF2-40B4-BE49-F238E27FC236}">
                  <a16:creationId xmlns:a16="http://schemas.microsoft.com/office/drawing/2014/main" id="{9A1CD7F5-3B84-5FCD-0C2D-05B0DF56A432}"/>
                </a:ext>
              </a:extLst>
            </p:cNvPr>
            <p:cNvSpPr txBox="1"/>
            <p:nvPr/>
          </p:nvSpPr>
          <p:spPr>
            <a:xfrm>
              <a:off x="7249083"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sp>
          <p:nvSpPr>
            <p:cNvPr id="311" name="TextBox 310">
              <a:extLst>
                <a:ext uri="{FF2B5EF4-FFF2-40B4-BE49-F238E27FC236}">
                  <a16:creationId xmlns:a16="http://schemas.microsoft.com/office/drawing/2014/main" id="{3C2102B6-3ADC-8D41-1855-5D2468B787CB}"/>
                </a:ext>
              </a:extLst>
            </p:cNvPr>
            <p:cNvSpPr txBox="1"/>
            <p:nvPr/>
          </p:nvSpPr>
          <p:spPr>
            <a:xfrm>
              <a:off x="9077884"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cxnSp>
          <p:nvCxnSpPr>
            <p:cNvPr id="97" name="Straight Connector 96">
              <a:extLst>
                <a:ext uri="{FF2B5EF4-FFF2-40B4-BE49-F238E27FC236}">
                  <a16:creationId xmlns:a16="http://schemas.microsoft.com/office/drawing/2014/main" id="{F3DD4575-AEF4-6933-51D3-D36D778A0279}"/>
                </a:ext>
              </a:extLst>
            </p:cNvPr>
            <p:cNvCxnSpPr>
              <a:cxnSpLocks/>
            </p:cNvCxnSpPr>
            <p:nvPr/>
          </p:nvCxnSpPr>
          <p:spPr>
            <a:xfrm>
              <a:off x="1320935" y="597876"/>
              <a:ext cx="0" cy="3057063"/>
            </a:xfrm>
            <a:prstGeom prst="line">
              <a:avLst/>
            </a:prstGeom>
            <a:ln w="19050"/>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D11FDF47-7A36-09CC-D470-EBD64FD2624F}"/>
                </a:ext>
              </a:extLst>
            </p:cNvPr>
            <p:cNvCxnSpPr>
              <a:cxnSpLocks/>
            </p:cNvCxnSpPr>
            <p:nvPr/>
          </p:nvCxnSpPr>
          <p:spPr>
            <a:xfrm flipH="1" flipV="1">
              <a:off x="1320935" y="3654939"/>
              <a:ext cx="9052346" cy="18644"/>
            </a:xfrm>
            <a:prstGeom prst="line">
              <a:avLst/>
            </a:prstGeom>
            <a:ln w="19050"/>
          </p:spPr>
          <p:style>
            <a:lnRef idx="1">
              <a:schemeClr val="dk1"/>
            </a:lnRef>
            <a:fillRef idx="0">
              <a:schemeClr val="dk1"/>
            </a:fillRef>
            <a:effectRef idx="0">
              <a:schemeClr val="dk1"/>
            </a:effectRef>
            <a:fontRef idx="minor">
              <a:schemeClr val="tx1"/>
            </a:fontRef>
          </p:style>
        </p:cxnSp>
        <p:sp>
          <p:nvSpPr>
            <p:cNvPr id="99" name="TextBox 98">
              <a:extLst>
                <a:ext uri="{FF2B5EF4-FFF2-40B4-BE49-F238E27FC236}">
                  <a16:creationId xmlns:a16="http://schemas.microsoft.com/office/drawing/2014/main" id="{8D8B84C0-9CB3-D7F2-637B-2F00275A98B0}"/>
                </a:ext>
              </a:extLst>
            </p:cNvPr>
            <p:cNvSpPr txBox="1"/>
            <p:nvPr/>
          </p:nvSpPr>
          <p:spPr>
            <a:xfrm>
              <a:off x="375857" y="1983127"/>
              <a:ext cx="777222" cy="352056"/>
            </a:xfrm>
            <a:prstGeom prst="rect">
              <a:avLst/>
            </a:prstGeom>
            <a:noFill/>
          </p:spPr>
          <p:txBody>
            <a:bodyPr wrap="square" rtlCol="0">
              <a:spAutoFit/>
            </a:bodyPr>
            <a:lstStyle/>
            <a:p>
              <a:pPr algn="r"/>
              <a:r>
                <a:rPr lang="en-US" sz="1300" b="1" dirty="0"/>
                <a:t>MSE</a:t>
              </a:r>
            </a:p>
          </p:txBody>
        </p:sp>
        <p:sp>
          <p:nvSpPr>
            <p:cNvPr id="100" name="TextBox 99">
              <a:extLst>
                <a:ext uri="{FF2B5EF4-FFF2-40B4-BE49-F238E27FC236}">
                  <a16:creationId xmlns:a16="http://schemas.microsoft.com/office/drawing/2014/main" id="{A128E684-2B61-7BDD-643A-DB8EB340695D}"/>
                </a:ext>
              </a:extLst>
            </p:cNvPr>
            <p:cNvSpPr txBox="1"/>
            <p:nvPr/>
          </p:nvSpPr>
          <p:spPr>
            <a:xfrm>
              <a:off x="8597619" y="3700697"/>
              <a:ext cx="1775662" cy="352056"/>
            </a:xfrm>
            <a:prstGeom prst="rect">
              <a:avLst/>
            </a:prstGeom>
            <a:noFill/>
          </p:spPr>
          <p:txBody>
            <a:bodyPr wrap="square" rtlCol="0">
              <a:spAutoFit/>
            </a:bodyPr>
            <a:lstStyle/>
            <a:p>
              <a:pPr algn="r"/>
              <a:r>
                <a:rPr lang="en-US" sz="1300" b="1" dirty="0"/>
                <a:t>Too Complicated</a:t>
              </a:r>
            </a:p>
          </p:txBody>
        </p:sp>
        <p:sp>
          <p:nvSpPr>
            <p:cNvPr id="101" name="TextBox 100">
              <a:extLst>
                <a:ext uri="{FF2B5EF4-FFF2-40B4-BE49-F238E27FC236}">
                  <a16:creationId xmlns:a16="http://schemas.microsoft.com/office/drawing/2014/main" id="{643BF72C-5D7E-A58A-B751-05226572E777}"/>
                </a:ext>
              </a:extLst>
            </p:cNvPr>
            <p:cNvSpPr txBox="1"/>
            <p:nvPr/>
          </p:nvSpPr>
          <p:spPr>
            <a:xfrm>
              <a:off x="4913451" y="3700697"/>
              <a:ext cx="1775661" cy="352056"/>
            </a:xfrm>
            <a:prstGeom prst="rect">
              <a:avLst/>
            </a:prstGeom>
            <a:noFill/>
          </p:spPr>
          <p:txBody>
            <a:bodyPr wrap="square" rtlCol="0">
              <a:spAutoFit/>
            </a:bodyPr>
            <a:lstStyle/>
            <a:p>
              <a:pPr algn="ctr"/>
              <a:r>
                <a:rPr lang="en-US" sz="1300" b="1" dirty="0"/>
                <a:t>True Complexity</a:t>
              </a:r>
            </a:p>
          </p:txBody>
        </p:sp>
        <p:sp>
          <p:nvSpPr>
            <p:cNvPr id="102" name="TextBox 101">
              <a:extLst>
                <a:ext uri="{FF2B5EF4-FFF2-40B4-BE49-F238E27FC236}">
                  <a16:creationId xmlns:a16="http://schemas.microsoft.com/office/drawing/2014/main" id="{E4019855-B95A-D0E4-3782-5388188769EF}"/>
                </a:ext>
              </a:extLst>
            </p:cNvPr>
            <p:cNvSpPr txBox="1"/>
            <p:nvPr/>
          </p:nvSpPr>
          <p:spPr>
            <a:xfrm>
              <a:off x="1320935" y="3700697"/>
              <a:ext cx="2609654" cy="352056"/>
            </a:xfrm>
            <a:prstGeom prst="rect">
              <a:avLst/>
            </a:prstGeom>
            <a:noFill/>
          </p:spPr>
          <p:txBody>
            <a:bodyPr wrap="square" rtlCol="0">
              <a:spAutoFit/>
            </a:bodyPr>
            <a:lstStyle/>
            <a:p>
              <a:r>
                <a:rPr lang="en-US" sz="1300" b="1" dirty="0"/>
                <a:t>Not Complicated Enough</a:t>
              </a:r>
            </a:p>
          </p:txBody>
        </p:sp>
        <p:sp>
          <p:nvSpPr>
            <p:cNvPr id="34" name="TextBox 33">
              <a:extLst>
                <a:ext uri="{FF2B5EF4-FFF2-40B4-BE49-F238E27FC236}">
                  <a16:creationId xmlns:a16="http://schemas.microsoft.com/office/drawing/2014/main" id="{FE441A46-2EEB-DE96-4BD1-69E01A03A37C}"/>
                </a:ext>
              </a:extLst>
            </p:cNvPr>
            <p:cNvSpPr txBox="1"/>
            <p:nvPr/>
          </p:nvSpPr>
          <p:spPr>
            <a:xfrm>
              <a:off x="1582261" y="6344056"/>
              <a:ext cx="1199037" cy="352056"/>
            </a:xfrm>
            <a:prstGeom prst="rect">
              <a:avLst/>
            </a:prstGeom>
            <a:noFill/>
          </p:spPr>
          <p:txBody>
            <a:bodyPr wrap="square" rtlCol="0">
              <a:spAutoFit/>
            </a:bodyPr>
            <a:lstStyle/>
            <a:p>
              <a:pPr algn="ctr"/>
              <a:r>
                <a:rPr lang="en-US" sz="1300" dirty="0"/>
                <a:t>Scenario 1</a:t>
              </a:r>
            </a:p>
          </p:txBody>
        </p:sp>
        <p:sp>
          <p:nvSpPr>
            <p:cNvPr id="35" name="TextBox 34">
              <a:extLst>
                <a:ext uri="{FF2B5EF4-FFF2-40B4-BE49-F238E27FC236}">
                  <a16:creationId xmlns:a16="http://schemas.microsoft.com/office/drawing/2014/main" id="{0085BC41-94C3-FF27-8D69-93A34466A2FD}"/>
                </a:ext>
              </a:extLst>
            </p:cNvPr>
            <p:cNvSpPr txBox="1"/>
            <p:nvPr/>
          </p:nvSpPr>
          <p:spPr>
            <a:xfrm>
              <a:off x="3411062" y="6344055"/>
              <a:ext cx="1199037" cy="352056"/>
            </a:xfrm>
            <a:prstGeom prst="rect">
              <a:avLst/>
            </a:prstGeom>
            <a:noFill/>
          </p:spPr>
          <p:txBody>
            <a:bodyPr wrap="square" rtlCol="0">
              <a:spAutoFit/>
            </a:bodyPr>
            <a:lstStyle/>
            <a:p>
              <a:pPr algn="ctr"/>
              <a:r>
                <a:rPr lang="en-US" sz="1300" dirty="0"/>
                <a:t>Scenario 2</a:t>
              </a:r>
            </a:p>
          </p:txBody>
        </p:sp>
        <p:sp>
          <p:nvSpPr>
            <p:cNvPr id="36" name="TextBox 35">
              <a:extLst>
                <a:ext uri="{FF2B5EF4-FFF2-40B4-BE49-F238E27FC236}">
                  <a16:creationId xmlns:a16="http://schemas.microsoft.com/office/drawing/2014/main" id="{D3300674-D71E-AA7C-061F-843B4EE655FA}"/>
                </a:ext>
              </a:extLst>
            </p:cNvPr>
            <p:cNvSpPr txBox="1"/>
            <p:nvPr/>
          </p:nvSpPr>
          <p:spPr>
            <a:xfrm>
              <a:off x="5201762" y="6344055"/>
              <a:ext cx="1199037" cy="352056"/>
            </a:xfrm>
            <a:prstGeom prst="rect">
              <a:avLst/>
            </a:prstGeom>
            <a:noFill/>
          </p:spPr>
          <p:txBody>
            <a:bodyPr wrap="square" rtlCol="0">
              <a:spAutoFit/>
            </a:bodyPr>
            <a:lstStyle/>
            <a:p>
              <a:pPr algn="ctr"/>
              <a:r>
                <a:rPr lang="en-US" sz="1300" dirty="0"/>
                <a:t>Scenario 3</a:t>
              </a:r>
            </a:p>
          </p:txBody>
        </p:sp>
        <p:sp>
          <p:nvSpPr>
            <p:cNvPr id="37" name="TextBox 36">
              <a:extLst>
                <a:ext uri="{FF2B5EF4-FFF2-40B4-BE49-F238E27FC236}">
                  <a16:creationId xmlns:a16="http://schemas.microsoft.com/office/drawing/2014/main" id="{CFD08B03-B4F2-049B-9313-0B0901135D03}"/>
                </a:ext>
              </a:extLst>
            </p:cNvPr>
            <p:cNvSpPr txBox="1"/>
            <p:nvPr/>
          </p:nvSpPr>
          <p:spPr>
            <a:xfrm>
              <a:off x="7068665" y="6344055"/>
              <a:ext cx="1199037" cy="352056"/>
            </a:xfrm>
            <a:prstGeom prst="rect">
              <a:avLst/>
            </a:prstGeom>
            <a:noFill/>
          </p:spPr>
          <p:txBody>
            <a:bodyPr wrap="square" rtlCol="0">
              <a:spAutoFit/>
            </a:bodyPr>
            <a:lstStyle/>
            <a:p>
              <a:pPr algn="ctr"/>
              <a:r>
                <a:rPr lang="en-US" sz="1300" dirty="0"/>
                <a:t>Scenario 4</a:t>
              </a:r>
            </a:p>
          </p:txBody>
        </p:sp>
        <p:sp>
          <p:nvSpPr>
            <p:cNvPr id="38" name="TextBox 37">
              <a:extLst>
                <a:ext uri="{FF2B5EF4-FFF2-40B4-BE49-F238E27FC236}">
                  <a16:creationId xmlns:a16="http://schemas.microsoft.com/office/drawing/2014/main" id="{28A560D3-00E5-1055-89C5-1FAD538D57EF}"/>
                </a:ext>
              </a:extLst>
            </p:cNvPr>
            <p:cNvSpPr txBox="1"/>
            <p:nvPr/>
          </p:nvSpPr>
          <p:spPr>
            <a:xfrm>
              <a:off x="8885931" y="6344055"/>
              <a:ext cx="1199037" cy="352056"/>
            </a:xfrm>
            <a:prstGeom prst="rect">
              <a:avLst/>
            </a:prstGeom>
            <a:noFill/>
          </p:spPr>
          <p:txBody>
            <a:bodyPr wrap="square" rtlCol="0">
              <a:spAutoFit/>
            </a:bodyPr>
            <a:lstStyle/>
            <a:p>
              <a:pPr algn="ctr"/>
              <a:r>
                <a:rPr lang="en-US" sz="1300" dirty="0"/>
                <a:t>Scenario 5</a:t>
              </a:r>
            </a:p>
          </p:txBody>
        </p:sp>
      </p:grpSp>
      <p:sp>
        <p:nvSpPr>
          <p:cNvPr id="3" name="Title 2">
            <a:extLst>
              <a:ext uri="{FF2B5EF4-FFF2-40B4-BE49-F238E27FC236}">
                <a16:creationId xmlns:a16="http://schemas.microsoft.com/office/drawing/2014/main" id="{D30270BC-3724-D6F1-565F-E661D800AB6F}"/>
              </a:ext>
            </a:extLst>
          </p:cNvPr>
          <p:cNvSpPr>
            <a:spLocks noGrp="1"/>
          </p:cNvSpPr>
          <p:nvPr>
            <p:ph type="title"/>
          </p:nvPr>
        </p:nvSpPr>
        <p:spPr/>
        <p:txBody>
          <a:bodyPr/>
          <a:lstStyle/>
          <a:p>
            <a:r>
              <a:rPr lang="en-US" dirty="0"/>
              <a:t>Putting It All Together</a:t>
            </a:r>
          </a:p>
        </p:txBody>
      </p:sp>
      <p:grpSp>
        <p:nvGrpSpPr>
          <p:cNvPr id="22" name="Group 21">
            <a:extLst>
              <a:ext uri="{FF2B5EF4-FFF2-40B4-BE49-F238E27FC236}">
                <a16:creationId xmlns:a16="http://schemas.microsoft.com/office/drawing/2014/main" id="{3019C190-F9AF-FF78-2057-5339F3925793}"/>
              </a:ext>
            </a:extLst>
          </p:cNvPr>
          <p:cNvGrpSpPr/>
          <p:nvPr/>
        </p:nvGrpSpPr>
        <p:grpSpPr>
          <a:xfrm>
            <a:off x="3003735" y="1547549"/>
            <a:ext cx="137162" cy="274321"/>
            <a:chOff x="2022419" y="750912"/>
            <a:chExt cx="137162" cy="320697"/>
          </a:xfrm>
        </p:grpSpPr>
        <p:sp>
          <p:nvSpPr>
            <p:cNvPr id="23" name="Oval 22">
              <a:extLst>
                <a:ext uri="{FF2B5EF4-FFF2-40B4-BE49-F238E27FC236}">
                  <a16:creationId xmlns:a16="http://schemas.microsoft.com/office/drawing/2014/main" id="{C7B16A89-3997-B657-06B5-799674DB2333}"/>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EDD9004C-C238-B616-D61E-713AA02B440B}"/>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8" name="Picture 27">
            <a:extLst>
              <a:ext uri="{FF2B5EF4-FFF2-40B4-BE49-F238E27FC236}">
                <a16:creationId xmlns:a16="http://schemas.microsoft.com/office/drawing/2014/main" id="{6C903755-E73A-E8AE-AA6D-5BE0E1F3A193}"/>
              </a:ext>
            </a:extLst>
          </p:cNvPr>
          <p:cNvPicPr>
            <a:picLocks noChangeAspect="1"/>
          </p:cNvPicPr>
          <p:nvPr/>
        </p:nvPicPr>
        <p:blipFill rotWithShape="1">
          <a:blip r:embed="rId3"/>
          <a:srcRect l="61166" t="20000" b="13333"/>
          <a:stretch/>
        </p:blipFill>
        <p:spPr>
          <a:xfrm>
            <a:off x="7090124" y="5010440"/>
            <a:ext cx="3044476" cy="1265705"/>
          </a:xfrm>
          <a:prstGeom prst="rect">
            <a:avLst/>
          </a:prstGeom>
        </p:spPr>
      </p:pic>
      <p:pic>
        <p:nvPicPr>
          <p:cNvPr id="29" name="Picture 28">
            <a:extLst>
              <a:ext uri="{FF2B5EF4-FFF2-40B4-BE49-F238E27FC236}">
                <a16:creationId xmlns:a16="http://schemas.microsoft.com/office/drawing/2014/main" id="{B2261422-89D9-CE4B-C2F1-3BC204815BDE}"/>
              </a:ext>
            </a:extLst>
          </p:cNvPr>
          <p:cNvPicPr>
            <a:picLocks noChangeAspect="1"/>
          </p:cNvPicPr>
          <p:nvPr/>
        </p:nvPicPr>
        <p:blipFill rotWithShape="1">
          <a:blip r:embed="rId3"/>
          <a:srcRect l="39790" t="20000" r="42141" b="18098"/>
          <a:stretch/>
        </p:blipFill>
        <p:spPr>
          <a:xfrm>
            <a:off x="5414318" y="2710962"/>
            <a:ext cx="1416508" cy="1175238"/>
          </a:xfrm>
          <a:prstGeom prst="rect">
            <a:avLst/>
          </a:prstGeom>
        </p:spPr>
      </p:pic>
      <p:grpSp>
        <p:nvGrpSpPr>
          <p:cNvPr id="30" name="Group 29">
            <a:extLst>
              <a:ext uri="{FF2B5EF4-FFF2-40B4-BE49-F238E27FC236}">
                <a16:creationId xmlns:a16="http://schemas.microsoft.com/office/drawing/2014/main" id="{6F6229D6-7547-6A7B-DDBE-8EEAFD13EED1}"/>
              </a:ext>
            </a:extLst>
          </p:cNvPr>
          <p:cNvGrpSpPr/>
          <p:nvPr/>
        </p:nvGrpSpPr>
        <p:grpSpPr>
          <a:xfrm>
            <a:off x="4571660" y="2392679"/>
            <a:ext cx="137162" cy="274321"/>
            <a:chOff x="2022419" y="750912"/>
            <a:chExt cx="137162" cy="320697"/>
          </a:xfrm>
        </p:grpSpPr>
        <p:sp>
          <p:nvSpPr>
            <p:cNvPr id="31" name="Oval 30">
              <a:extLst>
                <a:ext uri="{FF2B5EF4-FFF2-40B4-BE49-F238E27FC236}">
                  <a16:creationId xmlns:a16="http://schemas.microsoft.com/office/drawing/2014/main" id="{5738CDDE-13AB-5136-9C47-B767A297F60B}"/>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6D741F69-5339-E5F1-DC95-31BA2B6F167F}"/>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5" name="Group 44">
            <a:extLst>
              <a:ext uri="{FF2B5EF4-FFF2-40B4-BE49-F238E27FC236}">
                <a16:creationId xmlns:a16="http://schemas.microsoft.com/office/drawing/2014/main" id="{E019E292-73DC-7DBD-8C7E-EE1CA9C4F6E8}"/>
              </a:ext>
            </a:extLst>
          </p:cNvPr>
          <p:cNvGrpSpPr/>
          <p:nvPr/>
        </p:nvGrpSpPr>
        <p:grpSpPr>
          <a:xfrm>
            <a:off x="10486879" y="2387884"/>
            <a:ext cx="1137735" cy="713164"/>
            <a:chOff x="9831859" y="1234459"/>
            <a:chExt cx="1394710" cy="753829"/>
          </a:xfrm>
        </p:grpSpPr>
        <p:sp>
          <p:nvSpPr>
            <p:cNvPr id="46" name="Rectangle 45">
              <a:extLst>
                <a:ext uri="{FF2B5EF4-FFF2-40B4-BE49-F238E27FC236}">
                  <a16:creationId xmlns:a16="http://schemas.microsoft.com/office/drawing/2014/main" id="{C69F3667-EA9B-F739-274E-CF244C7E3E8A}"/>
                </a:ext>
              </a:extLst>
            </p:cNvPr>
            <p:cNvSpPr/>
            <p:nvPr/>
          </p:nvSpPr>
          <p:spPr>
            <a:xfrm>
              <a:off x="9831859" y="1236922"/>
              <a:ext cx="1342960" cy="75136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27184F23-8EBA-203E-B13C-21AA50A9CF63}"/>
                </a:ext>
              </a:extLst>
            </p:cNvPr>
            <p:cNvSpPr txBox="1"/>
            <p:nvPr/>
          </p:nvSpPr>
          <p:spPr>
            <a:xfrm>
              <a:off x="9839607" y="1234459"/>
              <a:ext cx="449162" cy="276999"/>
            </a:xfrm>
            <a:prstGeom prst="rect">
              <a:avLst/>
            </a:prstGeom>
            <a:noFill/>
          </p:spPr>
          <p:txBody>
            <a:bodyPr wrap="none" rtlCol="0">
              <a:spAutoFit/>
            </a:bodyPr>
            <a:lstStyle/>
            <a:p>
              <a:r>
                <a:rPr lang="en-US" sz="1200" dirty="0"/>
                <a:t>Key</a:t>
              </a:r>
            </a:p>
          </p:txBody>
        </p:sp>
        <p:sp>
          <p:nvSpPr>
            <p:cNvPr id="48" name="Oval 47">
              <a:extLst>
                <a:ext uri="{FF2B5EF4-FFF2-40B4-BE49-F238E27FC236}">
                  <a16:creationId xmlns:a16="http://schemas.microsoft.com/office/drawing/2014/main" id="{B575AA7A-AFA7-3D02-C8D5-4CA207B38CDF}"/>
                </a:ext>
              </a:extLst>
            </p:cNvPr>
            <p:cNvSpPr/>
            <p:nvPr/>
          </p:nvSpPr>
          <p:spPr>
            <a:xfrm>
              <a:off x="9993423" y="1774756"/>
              <a:ext cx="112093" cy="9665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0011D29B-D062-2BCB-C586-5ABF1BE8011F}"/>
                </a:ext>
              </a:extLst>
            </p:cNvPr>
            <p:cNvSpPr/>
            <p:nvPr/>
          </p:nvSpPr>
          <p:spPr>
            <a:xfrm>
              <a:off x="9993423" y="1569339"/>
              <a:ext cx="112093" cy="966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TextBox 49">
              <a:extLst>
                <a:ext uri="{FF2B5EF4-FFF2-40B4-BE49-F238E27FC236}">
                  <a16:creationId xmlns:a16="http://schemas.microsoft.com/office/drawing/2014/main" id="{EED5C0B6-53E1-FDEF-2349-B794AFD33AAA}"/>
                </a:ext>
              </a:extLst>
            </p:cNvPr>
            <p:cNvSpPr txBox="1"/>
            <p:nvPr/>
          </p:nvSpPr>
          <p:spPr>
            <a:xfrm>
              <a:off x="10190823" y="1479167"/>
              <a:ext cx="647764" cy="292794"/>
            </a:xfrm>
            <a:prstGeom prst="rect">
              <a:avLst/>
            </a:prstGeom>
            <a:noFill/>
          </p:spPr>
          <p:txBody>
            <a:bodyPr wrap="none" rtlCol="0">
              <a:spAutoFit/>
            </a:bodyPr>
            <a:lstStyle/>
            <a:p>
              <a:r>
                <a:rPr lang="en-US" sz="1200" dirty="0"/>
                <a:t>Train</a:t>
              </a:r>
            </a:p>
          </p:txBody>
        </p:sp>
        <p:sp>
          <p:nvSpPr>
            <p:cNvPr id="51" name="TextBox 50">
              <a:extLst>
                <a:ext uri="{FF2B5EF4-FFF2-40B4-BE49-F238E27FC236}">
                  <a16:creationId xmlns:a16="http://schemas.microsoft.com/office/drawing/2014/main" id="{A69C0E1D-4612-B87A-D415-2908931704E9}"/>
                </a:ext>
              </a:extLst>
            </p:cNvPr>
            <p:cNvSpPr txBox="1"/>
            <p:nvPr/>
          </p:nvSpPr>
          <p:spPr>
            <a:xfrm>
              <a:off x="10190822" y="1684584"/>
              <a:ext cx="1035747" cy="292794"/>
            </a:xfrm>
            <a:prstGeom prst="rect">
              <a:avLst/>
            </a:prstGeom>
            <a:noFill/>
          </p:spPr>
          <p:txBody>
            <a:bodyPr wrap="none" rtlCol="0">
              <a:spAutoFit/>
            </a:bodyPr>
            <a:lstStyle/>
            <a:p>
              <a:r>
                <a:rPr lang="en-US" sz="1200" dirty="0"/>
                <a:t>Validation</a:t>
              </a:r>
            </a:p>
          </p:txBody>
        </p:sp>
      </p:grpSp>
    </p:spTree>
    <p:extLst>
      <p:ext uri="{BB962C8B-B14F-4D97-AF65-F5344CB8AC3E}">
        <p14:creationId xmlns:p14="http://schemas.microsoft.com/office/powerpoint/2010/main" val="41121858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225521-20DE-0CC9-6FA0-443F31CDAFC6}"/>
              </a:ext>
            </a:extLst>
          </p:cNvPr>
          <p:cNvGrpSpPr/>
          <p:nvPr/>
        </p:nvGrpSpPr>
        <p:grpSpPr>
          <a:xfrm>
            <a:off x="1295400" y="1447800"/>
            <a:ext cx="8799910" cy="5064677"/>
            <a:chOff x="109215" y="597876"/>
            <a:chExt cx="10264066" cy="6098236"/>
          </a:xfrm>
        </p:grpSpPr>
        <p:pic>
          <p:nvPicPr>
            <p:cNvPr id="305" name="Picture 304">
              <a:extLst>
                <a:ext uri="{FF2B5EF4-FFF2-40B4-BE49-F238E27FC236}">
                  <a16:creationId xmlns:a16="http://schemas.microsoft.com/office/drawing/2014/main" id="{00B3A36D-74FE-191C-4745-C3CF619DD1C9}"/>
                </a:ext>
              </a:extLst>
            </p:cNvPr>
            <p:cNvPicPr>
              <a:picLocks noChangeAspect="1"/>
            </p:cNvPicPr>
            <p:nvPr/>
          </p:nvPicPr>
          <p:blipFill rotWithShape="1">
            <a:blip r:embed="rId3"/>
            <a:srcRect t="20000" r="63528" b="13333"/>
            <a:stretch/>
          </p:blipFill>
          <p:spPr>
            <a:xfrm>
              <a:off x="1275108" y="4887551"/>
              <a:ext cx="3334990" cy="1524000"/>
            </a:xfrm>
            <a:prstGeom prst="rect">
              <a:avLst/>
            </a:prstGeom>
          </p:spPr>
        </p:pic>
        <p:sp>
          <p:nvSpPr>
            <p:cNvPr id="306" name="TextBox 305">
              <a:extLst>
                <a:ext uri="{FF2B5EF4-FFF2-40B4-BE49-F238E27FC236}">
                  <a16:creationId xmlns:a16="http://schemas.microsoft.com/office/drawing/2014/main" id="{D16D87F7-5033-1E1C-B7CD-F77A6F7877E5}"/>
                </a:ext>
              </a:extLst>
            </p:cNvPr>
            <p:cNvSpPr txBox="1"/>
            <p:nvPr/>
          </p:nvSpPr>
          <p:spPr>
            <a:xfrm>
              <a:off x="109215" y="4343402"/>
              <a:ext cx="1043865" cy="592937"/>
            </a:xfrm>
            <a:prstGeom prst="rect">
              <a:avLst/>
            </a:prstGeom>
            <a:noFill/>
          </p:spPr>
          <p:txBody>
            <a:bodyPr wrap="square" rtlCol="0">
              <a:spAutoFit/>
            </a:bodyPr>
            <a:lstStyle/>
            <a:p>
              <a:pPr algn="r"/>
              <a:r>
                <a:rPr lang="en-US" sz="1300" dirty="0"/>
                <a:t>Bias</a:t>
              </a:r>
            </a:p>
            <a:p>
              <a:pPr algn="r"/>
              <a:r>
                <a:rPr lang="en-US" sz="1300" dirty="0"/>
                <a:t>Variance</a:t>
              </a:r>
            </a:p>
          </p:txBody>
        </p:sp>
        <p:sp>
          <p:nvSpPr>
            <p:cNvPr id="307" name="TextBox 306">
              <a:extLst>
                <a:ext uri="{FF2B5EF4-FFF2-40B4-BE49-F238E27FC236}">
                  <a16:creationId xmlns:a16="http://schemas.microsoft.com/office/drawing/2014/main" id="{4AD4356E-785E-2644-2CD1-72CE6BD2B6FE}"/>
                </a:ext>
              </a:extLst>
            </p:cNvPr>
            <p:cNvSpPr txBox="1"/>
            <p:nvPr/>
          </p:nvSpPr>
          <p:spPr>
            <a:xfrm>
              <a:off x="1762680"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8" name="TextBox 307">
              <a:extLst>
                <a:ext uri="{FF2B5EF4-FFF2-40B4-BE49-F238E27FC236}">
                  <a16:creationId xmlns:a16="http://schemas.microsoft.com/office/drawing/2014/main" id="{D93A624A-8E3B-4106-70DA-A7240259A162}"/>
                </a:ext>
              </a:extLst>
            </p:cNvPr>
            <p:cNvSpPr txBox="1"/>
            <p:nvPr/>
          </p:nvSpPr>
          <p:spPr>
            <a:xfrm>
              <a:off x="3591481"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9" name="TextBox 308">
              <a:extLst>
                <a:ext uri="{FF2B5EF4-FFF2-40B4-BE49-F238E27FC236}">
                  <a16:creationId xmlns:a16="http://schemas.microsoft.com/office/drawing/2014/main" id="{9A3B7FD2-D3F3-0EBC-9FE5-52BCBEDA1851}"/>
                </a:ext>
              </a:extLst>
            </p:cNvPr>
            <p:cNvSpPr txBox="1"/>
            <p:nvPr/>
          </p:nvSpPr>
          <p:spPr>
            <a:xfrm>
              <a:off x="5420282" y="4343401"/>
              <a:ext cx="838201" cy="592937"/>
            </a:xfrm>
            <a:prstGeom prst="rect">
              <a:avLst/>
            </a:prstGeom>
            <a:noFill/>
          </p:spPr>
          <p:txBody>
            <a:bodyPr wrap="square" rtlCol="0">
              <a:spAutoFit/>
            </a:bodyPr>
            <a:lstStyle/>
            <a:p>
              <a:pPr algn="ctr"/>
              <a:r>
                <a:rPr lang="en-US" sz="1300" dirty="0"/>
                <a:t>Low</a:t>
              </a:r>
            </a:p>
            <a:p>
              <a:pPr algn="ctr"/>
              <a:r>
                <a:rPr lang="en-US" sz="1300" dirty="0"/>
                <a:t>Low</a:t>
              </a:r>
            </a:p>
          </p:txBody>
        </p:sp>
        <p:sp>
          <p:nvSpPr>
            <p:cNvPr id="310" name="TextBox 309">
              <a:extLst>
                <a:ext uri="{FF2B5EF4-FFF2-40B4-BE49-F238E27FC236}">
                  <a16:creationId xmlns:a16="http://schemas.microsoft.com/office/drawing/2014/main" id="{9A1CD7F5-3B84-5FCD-0C2D-05B0DF56A432}"/>
                </a:ext>
              </a:extLst>
            </p:cNvPr>
            <p:cNvSpPr txBox="1"/>
            <p:nvPr/>
          </p:nvSpPr>
          <p:spPr>
            <a:xfrm>
              <a:off x="7249083"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sp>
          <p:nvSpPr>
            <p:cNvPr id="311" name="TextBox 310">
              <a:extLst>
                <a:ext uri="{FF2B5EF4-FFF2-40B4-BE49-F238E27FC236}">
                  <a16:creationId xmlns:a16="http://schemas.microsoft.com/office/drawing/2014/main" id="{3C2102B6-3ADC-8D41-1855-5D2468B787CB}"/>
                </a:ext>
              </a:extLst>
            </p:cNvPr>
            <p:cNvSpPr txBox="1"/>
            <p:nvPr/>
          </p:nvSpPr>
          <p:spPr>
            <a:xfrm>
              <a:off x="9077884"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cxnSp>
          <p:nvCxnSpPr>
            <p:cNvPr id="97" name="Straight Connector 96">
              <a:extLst>
                <a:ext uri="{FF2B5EF4-FFF2-40B4-BE49-F238E27FC236}">
                  <a16:creationId xmlns:a16="http://schemas.microsoft.com/office/drawing/2014/main" id="{F3DD4575-AEF4-6933-51D3-D36D778A0279}"/>
                </a:ext>
              </a:extLst>
            </p:cNvPr>
            <p:cNvCxnSpPr>
              <a:cxnSpLocks/>
            </p:cNvCxnSpPr>
            <p:nvPr/>
          </p:nvCxnSpPr>
          <p:spPr>
            <a:xfrm>
              <a:off x="1320935" y="597876"/>
              <a:ext cx="0" cy="3057063"/>
            </a:xfrm>
            <a:prstGeom prst="line">
              <a:avLst/>
            </a:prstGeom>
            <a:ln w="19050"/>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D11FDF47-7A36-09CC-D470-EBD64FD2624F}"/>
                </a:ext>
              </a:extLst>
            </p:cNvPr>
            <p:cNvCxnSpPr>
              <a:cxnSpLocks/>
            </p:cNvCxnSpPr>
            <p:nvPr/>
          </p:nvCxnSpPr>
          <p:spPr>
            <a:xfrm flipH="1" flipV="1">
              <a:off x="1320935" y="3654939"/>
              <a:ext cx="9052346" cy="18644"/>
            </a:xfrm>
            <a:prstGeom prst="line">
              <a:avLst/>
            </a:prstGeom>
            <a:ln w="19050"/>
          </p:spPr>
          <p:style>
            <a:lnRef idx="1">
              <a:schemeClr val="dk1"/>
            </a:lnRef>
            <a:fillRef idx="0">
              <a:schemeClr val="dk1"/>
            </a:fillRef>
            <a:effectRef idx="0">
              <a:schemeClr val="dk1"/>
            </a:effectRef>
            <a:fontRef idx="minor">
              <a:schemeClr val="tx1"/>
            </a:fontRef>
          </p:style>
        </p:cxnSp>
        <p:sp>
          <p:nvSpPr>
            <p:cNvPr id="99" name="TextBox 98">
              <a:extLst>
                <a:ext uri="{FF2B5EF4-FFF2-40B4-BE49-F238E27FC236}">
                  <a16:creationId xmlns:a16="http://schemas.microsoft.com/office/drawing/2014/main" id="{8D8B84C0-9CB3-D7F2-637B-2F00275A98B0}"/>
                </a:ext>
              </a:extLst>
            </p:cNvPr>
            <p:cNvSpPr txBox="1"/>
            <p:nvPr/>
          </p:nvSpPr>
          <p:spPr>
            <a:xfrm>
              <a:off x="375857" y="1983127"/>
              <a:ext cx="777222" cy="352056"/>
            </a:xfrm>
            <a:prstGeom prst="rect">
              <a:avLst/>
            </a:prstGeom>
            <a:noFill/>
          </p:spPr>
          <p:txBody>
            <a:bodyPr wrap="square" rtlCol="0">
              <a:spAutoFit/>
            </a:bodyPr>
            <a:lstStyle/>
            <a:p>
              <a:pPr algn="r"/>
              <a:r>
                <a:rPr lang="en-US" sz="1300" b="1" dirty="0"/>
                <a:t>MSE</a:t>
              </a:r>
            </a:p>
          </p:txBody>
        </p:sp>
        <p:sp>
          <p:nvSpPr>
            <p:cNvPr id="100" name="TextBox 99">
              <a:extLst>
                <a:ext uri="{FF2B5EF4-FFF2-40B4-BE49-F238E27FC236}">
                  <a16:creationId xmlns:a16="http://schemas.microsoft.com/office/drawing/2014/main" id="{A128E684-2B61-7BDD-643A-DB8EB340695D}"/>
                </a:ext>
              </a:extLst>
            </p:cNvPr>
            <p:cNvSpPr txBox="1"/>
            <p:nvPr/>
          </p:nvSpPr>
          <p:spPr>
            <a:xfrm>
              <a:off x="8597619" y="3700697"/>
              <a:ext cx="1775662" cy="352056"/>
            </a:xfrm>
            <a:prstGeom prst="rect">
              <a:avLst/>
            </a:prstGeom>
            <a:noFill/>
          </p:spPr>
          <p:txBody>
            <a:bodyPr wrap="square" rtlCol="0">
              <a:spAutoFit/>
            </a:bodyPr>
            <a:lstStyle/>
            <a:p>
              <a:pPr algn="r"/>
              <a:r>
                <a:rPr lang="en-US" sz="1300" b="1" dirty="0"/>
                <a:t>Too Complicated</a:t>
              </a:r>
            </a:p>
          </p:txBody>
        </p:sp>
        <p:sp>
          <p:nvSpPr>
            <p:cNvPr id="101" name="TextBox 100">
              <a:extLst>
                <a:ext uri="{FF2B5EF4-FFF2-40B4-BE49-F238E27FC236}">
                  <a16:creationId xmlns:a16="http://schemas.microsoft.com/office/drawing/2014/main" id="{643BF72C-5D7E-A58A-B751-05226572E777}"/>
                </a:ext>
              </a:extLst>
            </p:cNvPr>
            <p:cNvSpPr txBox="1"/>
            <p:nvPr/>
          </p:nvSpPr>
          <p:spPr>
            <a:xfrm>
              <a:off x="4913451" y="3700697"/>
              <a:ext cx="1775661" cy="352056"/>
            </a:xfrm>
            <a:prstGeom prst="rect">
              <a:avLst/>
            </a:prstGeom>
            <a:noFill/>
          </p:spPr>
          <p:txBody>
            <a:bodyPr wrap="square" rtlCol="0">
              <a:spAutoFit/>
            </a:bodyPr>
            <a:lstStyle/>
            <a:p>
              <a:pPr algn="ctr"/>
              <a:r>
                <a:rPr lang="en-US" sz="1300" b="1" dirty="0"/>
                <a:t>True Complexity</a:t>
              </a:r>
            </a:p>
          </p:txBody>
        </p:sp>
        <p:sp>
          <p:nvSpPr>
            <p:cNvPr id="102" name="TextBox 101">
              <a:extLst>
                <a:ext uri="{FF2B5EF4-FFF2-40B4-BE49-F238E27FC236}">
                  <a16:creationId xmlns:a16="http://schemas.microsoft.com/office/drawing/2014/main" id="{E4019855-B95A-D0E4-3782-5388188769EF}"/>
                </a:ext>
              </a:extLst>
            </p:cNvPr>
            <p:cNvSpPr txBox="1"/>
            <p:nvPr/>
          </p:nvSpPr>
          <p:spPr>
            <a:xfrm>
              <a:off x="1320935" y="3700697"/>
              <a:ext cx="2609654" cy="352056"/>
            </a:xfrm>
            <a:prstGeom prst="rect">
              <a:avLst/>
            </a:prstGeom>
            <a:noFill/>
          </p:spPr>
          <p:txBody>
            <a:bodyPr wrap="square" rtlCol="0">
              <a:spAutoFit/>
            </a:bodyPr>
            <a:lstStyle/>
            <a:p>
              <a:r>
                <a:rPr lang="en-US" sz="1300" b="1" dirty="0"/>
                <a:t>Not Complicated Enough</a:t>
              </a:r>
            </a:p>
          </p:txBody>
        </p:sp>
        <p:sp>
          <p:nvSpPr>
            <p:cNvPr id="34" name="TextBox 33">
              <a:extLst>
                <a:ext uri="{FF2B5EF4-FFF2-40B4-BE49-F238E27FC236}">
                  <a16:creationId xmlns:a16="http://schemas.microsoft.com/office/drawing/2014/main" id="{FE441A46-2EEB-DE96-4BD1-69E01A03A37C}"/>
                </a:ext>
              </a:extLst>
            </p:cNvPr>
            <p:cNvSpPr txBox="1"/>
            <p:nvPr/>
          </p:nvSpPr>
          <p:spPr>
            <a:xfrm>
              <a:off x="1582261" y="6344056"/>
              <a:ext cx="1199037" cy="352056"/>
            </a:xfrm>
            <a:prstGeom prst="rect">
              <a:avLst/>
            </a:prstGeom>
            <a:noFill/>
          </p:spPr>
          <p:txBody>
            <a:bodyPr wrap="square" rtlCol="0">
              <a:spAutoFit/>
            </a:bodyPr>
            <a:lstStyle/>
            <a:p>
              <a:pPr algn="ctr"/>
              <a:r>
                <a:rPr lang="en-US" sz="1300" dirty="0"/>
                <a:t>Scenario 1</a:t>
              </a:r>
            </a:p>
          </p:txBody>
        </p:sp>
        <p:sp>
          <p:nvSpPr>
            <p:cNvPr id="35" name="TextBox 34">
              <a:extLst>
                <a:ext uri="{FF2B5EF4-FFF2-40B4-BE49-F238E27FC236}">
                  <a16:creationId xmlns:a16="http://schemas.microsoft.com/office/drawing/2014/main" id="{0085BC41-94C3-FF27-8D69-93A34466A2FD}"/>
                </a:ext>
              </a:extLst>
            </p:cNvPr>
            <p:cNvSpPr txBox="1"/>
            <p:nvPr/>
          </p:nvSpPr>
          <p:spPr>
            <a:xfrm>
              <a:off x="3411062" y="6344055"/>
              <a:ext cx="1199037" cy="352056"/>
            </a:xfrm>
            <a:prstGeom prst="rect">
              <a:avLst/>
            </a:prstGeom>
            <a:noFill/>
          </p:spPr>
          <p:txBody>
            <a:bodyPr wrap="square" rtlCol="0">
              <a:spAutoFit/>
            </a:bodyPr>
            <a:lstStyle/>
            <a:p>
              <a:pPr algn="ctr"/>
              <a:r>
                <a:rPr lang="en-US" sz="1300" dirty="0"/>
                <a:t>Scenario 2</a:t>
              </a:r>
            </a:p>
          </p:txBody>
        </p:sp>
        <p:sp>
          <p:nvSpPr>
            <p:cNvPr id="36" name="TextBox 35">
              <a:extLst>
                <a:ext uri="{FF2B5EF4-FFF2-40B4-BE49-F238E27FC236}">
                  <a16:creationId xmlns:a16="http://schemas.microsoft.com/office/drawing/2014/main" id="{D3300674-D71E-AA7C-061F-843B4EE655FA}"/>
                </a:ext>
              </a:extLst>
            </p:cNvPr>
            <p:cNvSpPr txBox="1"/>
            <p:nvPr/>
          </p:nvSpPr>
          <p:spPr>
            <a:xfrm>
              <a:off x="5201762" y="6344055"/>
              <a:ext cx="1199037" cy="352056"/>
            </a:xfrm>
            <a:prstGeom prst="rect">
              <a:avLst/>
            </a:prstGeom>
            <a:noFill/>
          </p:spPr>
          <p:txBody>
            <a:bodyPr wrap="square" rtlCol="0">
              <a:spAutoFit/>
            </a:bodyPr>
            <a:lstStyle/>
            <a:p>
              <a:pPr algn="ctr"/>
              <a:r>
                <a:rPr lang="en-US" sz="1300" dirty="0"/>
                <a:t>Scenario 3</a:t>
              </a:r>
            </a:p>
          </p:txBody>
        </p:sp>
        <p:sp>
          <p:nvSpPr>
            <p:cNvPr id="37" name="TextBox 36">
              <a:extLst>
                <a:ext uri="{FF2B5EF4-FFF2-40B4-BE49-F238E27FC236}">
                  <a16:creationId xmlns:a16="http://schemas.microsoft.com/office/drawing/2014/main" id="{CFD08B03-B4F2-049B-9313-0B0901135D03}"/>
                </a:ext>
              </a:extLst>
            </p:cNvPr>
            <p:cNvSpPr txBox="1"/>
            <p:nvPr/>
          </p:nvSpPr>
          <p:spPr>
            <a:xfrm>
              <a:off x="7068665" y="6344055"/>
              <a:ext cx="1199037" cy="352056"/>
            </a:xfrm>
            <a:prstGeom prst="rect">
              <a:avLst/>
            </a:prstGeom>
            <a:noFill/>
          </p:spPr>
          <p:txBody>
            <a:bodyPr wrap="square" rtlCol="0">
              <a:spAutoFit/>
            </a:bodyPr>
            <a:lstStyle/>
            <a:p>
              <a:pPr algn="ctr"/>
              <a:r>
                <a:rPr lang="en-US" sz="1300" dirty="0"/>
                <a:t>Scenario 4</a:t>
              </a:r>
            </a:p>
          </p:txBody>
        </p:sp>
        <p:sp>
          <p:nvSpPr>
            <p:cNvPr id="38" name="TextBox 37">
              <a:extLst>
                <a:ext uri="{FF2B5EF4-FFF2-40B4-BE49-F238E27FC236}">
                  <a16:creationId xmlns:a16="http://schemas.microsoft.com/office/drawing/2014/main" id="{28A560D3-00E5-1055-89C5-1FAD538D57EF}"/>
                </a:ext>
              </a:extLst>
            </p:cNvPr>
            <p:cNvSpPr txBox="1"/>
            <p:nvPr/>
          </p:nvSpPr>
          <p:spPr>
            <a:xfrm>
              <a:off x="8885931" y="6344055"/>
              <a:ext cx="1199037" cy="352056"/>
            </a:xfrm>
            <a:prstGeom prst="rect">
              <a:avLst/>
            </a:prstGeom>
            <a:noFill/>
          </p:spPr>
          <p:txBody>
            <a:bodyPr wrap="square" rtlCol="0">
              <a:spAutoFit/>
            </a:bodyPr>
            <a:lstStyle/>
            <a:p>
              <a:pPr algn="ctr"/>
              <a:r>
                <a:rPr lang="en-US" sz="1300" dirty="0"/>
                <a:t>Scenario 5</a:t>
              </a:r>
            </a:p>
          </p:txBody>
        </p:sp>
      </p:grpSp>
      <p:sp>
        <p:nvSpPr>
          <p:cNvPr id="3" name="Title 2">
            <a:extLst>
              <a:ext uri="{FF2B5EF4-FFF2-40B4-BE49-F238E27FC236}">
                <a16:creationId xmlns:a16="http://schemas.microsoft.com/office/drawing/2014/main" id="{D30270BC-3724-D6F1-565F-E661D800AB6F}"/>
              </a:ext>
            </a:extLst>
          </p:cNvPr>
          <p:cNvSpPr>
            <a:spLocks noGrp="1"/>
          </p:cNvSpPr>
          <p:nvPr>
            <p:ph type="title"/>
          </p:nvPr>
        </p:nvSpPr>
        <p:spPr/>
        <p:txBody>
          <a:bodyPr/>
          <a:lstStyle/>
          <a:p>
            <a:r>
              <a:rPr lang="en-US" dirty="0"/>
              <a:t>Putting It All Together</a:t>
            </a:r>
          </a:p>
        </p:txBody>
      </p:sp>
      <p:grpSp>
        <p:nvGrpSpPr>
          <p:cNvPr id="22" name="Group 21">
            <a:extLst>
              <a:ext uri="{FF2B5EF4-FFF2-40B4-BE49-F238E27FC236}">
                <a16:creationId xmlns:a16="http://schemas.microsoft.com/office/drawing/2014/main" id="{3019C190-F9AF-FF78-2057-5339F3925793}"/>
              </a:ext>
            </a:extLst>
          </p:cNvPr>
          <p:cNvGrpSpPr/>
          <p:nvPr/>
        </p:nvGrpSpPr>
        <p:grpSpPr>
          <a:xfrm>
            <a:off x="3003735" y="1547549"/>
            <a:ext cx="137162" cy="274321"/>
            <a:chOff x="2022419" y="750912"/>
            <a:chExt cx="137162" cy="320697"/>
          </a:xfrm>
        </p:grpSpPr>
        <p:sp>
          <p:nvSpPr>
            <p:cNvPr id="23" name="Oval 22">
              <a:extLst>
                <a:ext uri="{FF2B5EF4-FFF2-40B4-BE49-F238E27FC236}">
                  <a16:creationId xmlns:a16="http://schemas.microsoft.com/office/drawing/2014/main" id="{C7B16A89-3997-B657-06B5-799674DB2333}"/>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EDD9004C-C238-B616-D61E-713AA02B440B}"/>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 name="Group 24">
            <a:extLst>
              <a:ext uri="{FF2B5EF4-FFF2-40B4-BE49-F238E27FC236}">
                <a16:creationId xmlns:a16="http://schemas.microsoft.com/office/drawing/2014/main" id="{BEFE4508-0BA9-92CD-514B-0FF27534A126}"/>
              </a:ext>
            </a:extLst>
          </p:cNvPr>
          <p:cNvGrpSpPr/>
          <p:nvPr/>
        </p:nvGrpSpPr>
        <p:grpSpPr>
          <a:xfrm>
            <a:off x="4571660" y="2392679"/>
            <a:ext cx="137162" cy="274321"/>
            <a:chOff x="2022419" y="750912"/>
            <a:chExt cx="137162" cy="320697"/>
          </a:xfrm>
        </p:grpSpPr>
        <p:sp>
          <p:nvSpPr>
            <p:cNvPr id="26" name="Oval 25">
              <a:extLst>
                <a:ext uri="{FF2B5EF4-FFF2-40B4-BE49-F238E27FC236}">
                  <a16:creationId xmlns:a16="http://schemas.microsoft.com/office/drawing/2014/main" id="{0FE4543D-FFFC-3188-C520-451F18B8F0FE}"/>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43BC42A9-4B65-845C-6715-0D14766317D9}"/>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8" name="Picture 27">
            <a:extLst>
              <a:ext uri="{FF2B5EF4-FFF2-40B4-BE49-F238E27FC236}">
                <a16:creationId xmlns:a16="http://schemas.microsoft.com/office/drawing/2014/main" id="{6C903755-E73A-E8AE-AA6D-5BE0E1F3A193}"/>
              </a:ext>
            </a:extLst>
          </p:cNvPr>
          <p:cNvPicPr>
            <a:picLocks noChangeAspect="1"/>
          </p:cNvPicPr>
          <p:nvPr/>
        </p:nvPicPr>
        <p:blipFill rotWithShape="1">
          <a:blip r:embed="rId3"/>
          <a:srcRect l="61166" t="20000" b="13333"/>
          <a:stretch/>
        </p:blipFill>
        <p:spPr>
          <a:xfrm>
            <a:off x="7090124" y="5010440"/>
            <a:ext cx="3044476" cy="1265705"/>
          </a:xfrm>
          <a:prstGeom prst="rect">
            <a:avLst/>
          </a:prstGeom>
        </p:spPr>
      </p:pic>
      <p:grpSp>
        <p:nvGrpSpPr>
          <p:cNvPr id="30" name="Group 29">
            <a:extLst>
              <a:ext uri="{FF2B5EF4-FFF2-40B4-BE49-F238E27FC236}">
                <a16:creationId xmlns:a16="http://schemas.microsoft.com/office/drawing/2014/main" id="{E6AA10F5-21F1-3285-A328-C8C954D47C73}"/>
              </a:ext>
            </a:extLst>
          </p:cNvPr>
          <p:cNvGrpSpPr/>
          <p:nvPr/>
        </p:nvGrpSpPr>
        <p:grpSpPr>
          <a:xfrm>
            <a:off x="6106919" y="3558407"/>
            <a:ext cx="137162" cy="274321"/>
            <a:chOff x="2022419" y="750912"/>
            <a:chExt cx="137162" cy="320697"/>
          </a:xfrm>
        </p:grpSpPr>
        <p:sp>
          <p:nvSpPr>
            <p:cNvPr id="31" name="Oval 30">
              <a:extLst>
                <a:ext uri="{FF2B5EF4-FFF2-40B4-BE49-F238E27FC236}">
                  <a16:creationId xmlns:a16="http://schemas.microsoft.com/office/drawing/2014/main" id="{A17FE95A-7668-A54A-001E-2585FF47B896}"/>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DA7A1532-7CF0-C448-4F75-03C475B8191F}"/>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5" name="Group 44">
            <a:extLst>
              <a:ext uri="{FF2B5EF4-FFF2-40B4-BE49-F238E27FC236}">
                <a16:creationId xmlns:a16="http://schemas.microsoft.com/office/drawing/2014/main" id="{F5D41E46-AD7A-82D7-30F7-04F39AEDFC81}"/>
              </a:ext>
            </a:extLst>
          </p:cNvPr>
          <p:cNvGrpSpPr/>
          <p:nvPr/>
        </p:nvGrpSpPr>
        <p:grpSpPr>
          <a:xfrm>
            <a:off x="10486879" y="2387884"/>
            <a:ext cx="1137735" cy="713164"/>
            <a:chOff x="9831859" y="1234459"/>
            <a:chExt cx="1394710" cy="753829"/>
          </a:xfrm>
        </p:grpSpPr>
        <p:sp>
          <p:nvSpPr>
            <p:cNvPr id="46" name="Rectangle 45">
              <a:extLst>
                <a:ext uri="{FF2B5EF4-FFF2-40B4-BE49-F238E27FC236}">
                  <a16:creationId xmlns:a16="http://schemas.microsoft.com/office/drawing/2014/main" id="{229A1429-E63C-C4EC-A5E3-F6AA5838C48B}"/>
                </a:ext>
              </a:extLst>
            </p:cNvPr>
            <p:cNvSpPr/>
            <p:nvPr/>
          </p:nvSpPr>
          <p:spPr>
            <a:xfrm>
              <a:off x="9831859" y="1236922"/>
              <a:ext cx="1342960" cy="75136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73128432-CDCD-005B-1E6A-123877D66BDA}"/>
                </a:ext>
              </a:extLst>
            </p:cNvPr>
            <p:cNvSpPr txBox="1"/>
            <p:nvPr/>
          </p:nvSpPr>
          <p:spPr>
            <a:xfrm>
              <a:off x="9839607" y="1234459"/>
              <a:ext cx="449162" cy="276999"/>
            </a:xfrm>
            <a:prstGeom prst="rect">
              <a:avLst/>
            </a:prstGeom>
            <a:noFill/>
          </p:spPr>
          <p:txBody>
            <a:bodyPr wrap="none" rtlCol="0">
              <a:spAutoFit/>
            </a:bodyPr>
            <a:lstStyle/>
            <a:p>
              <a:r>
                <a:rPr lang="en-US" sz="1200" dirty="0"/>
                <a:t>Key</a:t>
              </a:r>
            </a:p>
          </p:txBody>
        </p:sp>
        <p:sp>
          <p:nvSpPr>
            <p:cNvPr id="48" name="Oval 47">
              <a:extLst>
                <a:ext uri="{FF2B5EF4-FFF2-40B4-BE49-F238E27FC236}">
                  <a16:creationId xmlns:a16="http://schemas.microsoft.com/office/drawing/2014/main" id="{3B86C3B1-BEC7-9B86-0EA2-6041D882E080}"/>
                </a:ext>
              </a:extLst>
            </p:cNvPr>
            <p:cNvSpPr/>
            <p:nvPr/>
          </p:nvSpPr>
          <p:spPr>
            <a:xfrm>
              <a:off x="9993423" y="1774756"/>
              <a:ext cx="112093" cy="9665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4322DC7-3DE1-9BB6-940B-0DF1D902D3BB}"/>
                </a:ext>
              </a:extLst>
            </p:cNvPr>
            <p:cNvSpPr/>
            <p:nvPr/>
          </p:nvSpPr>
          <p:spPr>
            <a:xfrm>
              <a:off x="9993423" y="1569339"/>
              <a:ext cx="112093" cy="966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TextBox 49">
              <a:extLst>
                <a:ext uri="{FF2B5EF4-FFF2-40B4-BE49-F238E27FC236}">
                  <a16:creationId xmlns:a16="http://schemas.microsoft.com/office/drawing/2014/main" id="{62CD3A49-EF65-151B-F463-CB8ECB6F9B5C}"/>
                </a:ext>
              </a:extLst>
            </p:cNvPr>
            <p:cNvSpPr txBox="1"/>
            <p:nvPr/>
          </p:nvSpPr>
          <p:spPr>
            <a:xfrm>
              <a:off x="10190823" y="1479167"/>
              <a:ext cx="647764" cy="292794"/>
            </a:xfrm>
            <a:prstGeom prst="rect">
              <a:avLst/>
            </a:prstGeom>
            <a:noFill/>
          </p:spPr>
          <p:txBody>
            <a:bodyPr wrap="none" rtlCol="0">
              <a:spAutoFit/>
            </a:bodyPr>
            <a:lstStyle/>
            <a:p>
              <a:r>
                <a:rPr lang="en-US" sz="1200" dirty="0"/>
                <a:t>Train</a:t>
              </a:r>
            </a:p>
          </p:txBody>
        </p:sp>
        <p:sp>
          <p:nvSpPr>
            <p:cNvPr id="51" name="TextBox 50">
              <a:extLst>
                <a:ext uri="{FF2B5EF4-FFF2-40B4-BE49-F238E27FC236}">
                  <a16:creationId xmlns:a16="http://schemas.microsoft.com/office/drawing/2014/main" id="{875C6F21-8203-6EAF-CE13-1CE9A0ED8BC3}"/>
                </a:ext>
              </a:extLst>
            </p:cNvPr>
            <p:cNvSpPr txBox="1"/>
            <p:nvPr/>
          </p:nvSpPr>
          <p:spPr>
            <a:xfrm>
              <a:off x="10190822" y="1684584"/>
              <a:ext cx="1035747" cy="292794"/>
            </a:xfrm>
            <a:prstGeom prst="rect">
              <a:avLst/>
            </a:prstGeom>
            <a:noFill/>
          </p:spPr>
          <p:txBody>
            <a:bodyPr wrap="none" rtlCol="0">
              <a:spAutoFit/>
            </a:bodyPr>
            <a:lstStyle/>
            <a:p>
              <a:r>
                <a:rPr lang="en-US" sz="1200" dirty="0"/>
                <a:t>Validation</a:t>
              </a:r>
            </a:p>
          </p:txBody>
        </p:sp>
      </p:grpSp>
    </p:spTree>
    <p:extLst>
      <p:ext uri="{BB962C8B-B14F-4D97-AF65-F5344CB8AC3E}">
        <p14:creationId xmlns:p14="http://schemas.microsoft.com/office/powerpoint/2010/main" val="2429202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225521-20DE-0CC9-6FA0-443F31CDAFC6}"/>
              </a:ext>
            </a:extLst>
          </p:cNvPr>
          <p:cNvGrpSpPr/>
          <p:nvPr/>
        </p:nvGrpSpPr>
        <p:grpSpPr>
          <a:xfrm>
            <a:off x="1295400" y="1447800"/>
            <a:ext cx="8799910" cy="5064677"/>
            <a:chOff x="109215" y="597876"/>
            <a:chExt cx="10264066" cy="6098236"/>
          </a:xfrm>
        </p:grpSpPr>
        <p:pic>
          <p:nvPicPr>
            <p:cNvPr id="305" name="Picture 304">
              <a:extLst>
                <a:ext uri="{FF2B5EF4-FFF2-40B4-BE49-F238E27FC236}">
                  <a16:creationId xmlns:a16="http://schemas.microsoft.com/office/drawing/2014/main" id="{00B3A36D-74FE-191C-4745-C3CF619DD1C9}"/>
                </a:ext>
              </a:extLst>
            </p:cNvPr>
            <p:cNvPicPr>
              <a:picLocks noChangeAspect="1"/>
            </p:cNvPicPr>
            <p:nvPr/>
          </p:nvPicPr>
          <p:blipFill rotWithShape="1">
            <a:blip r:embed="rId3"/>
            <a:srcRect l="1" t="20000" r="42141" b="13333"/>
            <a:stretch/>
          </p:blipFill>
          <p:spPr>
            <a:xfrm>
              <a:off x="1275107" y="4887551"/>
              <a:ext cx="5290528" cy="1524000"/>
            </a:xfrm>
            <a:prstGeom prst="rect">
              <a:avLst/>
            </a:prstGeom>
          </p:spPr>
        </p:pic>
        <p:sp>
          <p:nvSpPr>
            <p:cNvPr id="306" name="TextBox 305">
              <a:extLst>
                <a:ext uri="{FF2B5EF4-FFF2-40B4-BE49-F238E27FC236}">
                  <a16:creationId xmlns:a16="http://schemas.microsoft.com/office/drawing/2014/main" id="{D16D87F7-5033-1E1C-B7CD-F77A6F7877E5}"/>
                </a:ext>
              </a:extLst>
            </p:cNvPr>
            <p:cNvSpPr txBox="1"/>
            <p:nvPr/>
          </p:nvSpPr>
          <p:spPr>
            <a:xfrm>
              <a:off x="109215" y="4343402"/>
              <a:ext cx="1043865" cy="592937"/>
            </a:xfrm>
            <a:prstGeom prst="rect">
              <a:avLst/>
            </a:prstGeom>
            <a:noFill/>
          </p:spPr>
          <p:txBody>
            <a:bodyPr wrap="square" rtlCol="0">
              <a:spAutoFit/>
            </a:bodyPr>
            <a:lstStyle/>
            <a:p>
              <a:pPr algn="r"/>
              <a:r>
                <a:rPr lang="en-US" sz="1300" dirty="0"/>
                <a:t>Bias</a:t>
              </a:r>
            </a:p>
            <a:p>
              <a:pPr algn="r"/>
              <a:r>
                <a:rPr lang="en-US" sz="1300" dirty="0"/>
                <a:t>Variance</a:t>
              </a:r>
            </a:p>
          </p:txBody>
        </p:sp>
        <p:sp>
          <p:nvSpPr>
            <p:cNvPr id="307" name="TextBox 306">
              <a:extLst>
                <a:ext uri="{FF2B5EF4-FFF2-40B4-BE49-F238E27FC236}">
                  <a16:creationId xmlns:a16="http://schemas.microsoft.com/office/drawing/2014/main" id="{4AD4356E-785E-2644-2CD1-72CE6BD2B6FE}"/>
                </a:ext>
              </a:extLst>
            </p:cNvPr>
            <p:cNvSpPr txBox="1"/>
            <p:nvPr/>
          </p:nvSpPr>
          <p:spPr>
            <a:xfrm>
              <a:off x="1762680"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8" name="TextBox 307">
              <a:extLst>
                <a:ext uri="{FF2B5EF4-FFF2-40B4-BE49-F238E27FC236}">
                  <a16:creationId xmlns:a16="http://schemas.microsoft.com/office/drawing/2014/main" id="{D93A624A-8E3B-4106-70DA-A7240259A162}"/>
                </a:ext>
              </a:extLst>
            </p:cNvPr>
            <p:cNvSpPr txBox="1"/>
            <p:nvPr/>
          </p:nvSpPr>
          <p:spPr>
            <a:xfrm>
              <a:off x="3591481"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9" name="TextBox 308">
              <a:extLst>
                <a:ext uri="{FF2B5EF4-FFF2-40B4-BE49-F238E27FC236}">
                  <a16:creationId xmlns:a16="http://schemas.microsoft.com/office/drawing/2014/main" id="{9A3B7FD2-D3F3-0EBC-9FE5-52BCBEDA1851}"/>
                </a:ext>
              </a:extLst>
            </p:cNvPr>
            <p:cNvSpPr txBox="1"/>
            <p:nvPr/>
          </p:nvSpPr>
          <p:spPr>
            <a:xfrm>
              <a:off x="5420282" y="4343401"/>
              <a:ext cx="838201" cy="592937"/>
            </a:xfrm>
            <a:prstGeom prst="rect">
              <a:avLst/>
            </a:prstGeom>
            <a:noFill/>
          </p:spPr>
          <p:txBody>
            <a:bodyPr wrap="square" rtlCol="0">
              <a:spAutoFit/>
            </a:bodyPr>
            <a:lstStyle/>
            <a:p>
              <a:pPr algn="ctr"/>
              <a:r>
                <a:rPr lang="en-US" sz="1300" dirty="0"/>
                <a:t>Low</a:t>
              </a:r>
            </a:p>
            <a:p>
              <a:pPr algn="ctr"/>
              <a:r>
                <a:rPr lang="en-US" sz="1300" dirty="0"/>
                <a:t>Low</a:t>
              </a:r>
            </a:p>
          </p:txBody>
        </p:sp>
        <p:sp>
          <p:nvSpPr>
            <p:cNvPr id="310" name="TextBox 309">
              <a:extLst>
                <a:ext uri="{FF2B5EF4-FFF2-40B4-BE49-F238E27FC236}">
                  <a16:creationId xmlns:a16="http://schemas.microsoft.com/office/drawing/2014/main" id="{9A1CD7F5-3B84-5FCD-0C2D-05B0DF56A432}"/>
                </a:ext>
              </a:extLst>
            </p:cNvPr>
            <p:cNvSpPr txBox="1"/>
            <p:nvPr/>
          </p:nvSpPr>
          <p:spPr>
            <a:xfrm>
              <a:off x="7249083"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sp>
          <p:nvSpPr>
            <p:cNvPr id="311" name="TextBox 310">
              <a:extLst>
                <a:ext uri="{FF2B5EF4-FFF2-40B4-BE49-F238E27FC236}">
                  <a16:creationId xmlns:a16="http://schemas.microsoft.com/office/drawing/2014/main" id="{3C2102B6-3ADC-8D41-1855-5D2468B787CB}"/>
                </a:ext>
              </a:extLst>
            </p:cNvPr>
            <p:cNvSpPr txBox="1"/>
            <p:nvPr/>
          </p:nvSpPr>
          <p:spPr>
            <a:xfrm>
              <a:off x="9077884"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cxnSp>
          <p:nvCxnSpPr>
            <p:cNvPr id="97" name="Straight Connector 96">
              <a:extLst>
                <a:ext uri="{FF2B5EF4-FFF2-40B4-BE49-F238E27FC236}">
                  <a16:creationId xmlns:a16="http://schemas.microsoft.com/office/drawing/2014/main" id="{F3DD4575-AEF4-6933-51D3-D36D778A0279}"/>
                </a:ext>
              </a:extLst>
            </p:cNvPr>
            <p:cNvCxnSpPr>
              <a:cxnSpLocks/>
            </p:cNvCxnSpPr>
            <p:nvPr/>
          </p:nvCxnSpPr>
          <p:spPr>
            <a:xfrm>
              <a:off x="1320935" y="597876"/>
              <a:ext cx="0" cy="3057063"/>
            </a:xfrm>
            <a:prstGeom prst="line">
              <a:avLst/>
            </a:prstGeom>
            <a:ln w="19050"/>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D11FDF47-7A36-09CC-D470-EBD64FD2624F}"/>
                </a:ext>
              </a:extLst>
            </p:cNvPr>
            <p:cNvCxnSpPr>
              <a:cxnSpLocks/>
            </p:cNvCxnSpPr>
            <p:nvPr/>
          </p:nvCxnSpPr>
          <p:spPr>
            <a:xfrm flipH="1" flipV="1">
              <a:off x="1320935" y="3654939"/>
              <a:ext cx="9052346" cy="18644"/>
            </a:xfrm>
            <a:prstGeom prst="line">
              <a:avLst/>
            </a:prstGeom>
            <a:ln w="19050"/>
          </p:spPr>
          <p:style>
            <a:lnRef idx="1">
              <a:schemeClr val="dk1"/>
            </a:lnRef>
            <a:fillRef idx="0">
              <a:schemeClr val="dk1"/>
            </a:fillRef>
            <a:effectRef idx="0">
              <a:schemeClr val="dk1"/>
            </a:effectRef>
            <a:fontRef idx="minor">
              <a:schemeClr val="tx1"/>
            </a:fontRef>
          </p:style>
        </p:cxnSp>
        <p:sp>
          <p:nvSpPr>
            <p:cNvPr id="99" name="TextBox 98">
              <a:extLst>
                <a:ext uri="{FF2B5EF4-FFF2-40B4-BE49-F238E27FC236}">
                  <a16:creationId xmlns:a16="http://schemas.microsoft.com/office/drawing/2014/main" id="{8D8B84C0-9CB3-D7F2-637B-2F00275A98B0}"/>
                </a:ext>
              </a:extLst>
            </p:cNvPr>
            <p:cNvSpPr txBox="1"/>
            <p:nvPr/>
          </p:nvSpPr>
          <p:spPr>
            <a:xfrm>
              <a:off x="375857" y="1983127"/>
              <a:ext cx="777222" cy="352056"/>
            </a:xfrm>
            <a:prstGeom prst="rect">
              <a:avLst/>
            </a:prstGeom>
            <a:noFill/>
          </p:spPr>
          <p:txBody>
            <a:bodyPr wrap="square" rtlCol="0">
              <a:spAutoFit/>
            </a:bodyPr>
            <a:lstStyle/>
            <a:p>
              <a:pPr algn="r"/>
              <a:r>
                <a:rPr lang="en-US" sz="1300" b="1" dirty="0"/>
                <a:t>MSE</a:t>
              </a:r>
            </a:p>
          </p:txBody>
        </p:sp>
        <p:sp>
          <p:nvSpPr>
            <p:cNvPr id="100" name="TextBox 99">
              <a:extLst>
                <a:ext uri="{FF2B5EF4-FFF2-40B4-BE49-F238E27FC236}">
                  <a16:creationId xmlns:a16="http://schemas.microsoft.com/office/drawing/2014/main" id="{A128E684-2B61-7BDD-643A-DB8EB340695D}"/>
                </a:ext>
              </a:extLst>
            </p:cNvPr>
            <p:cNvSpPr txBox="1"/>
            <p:nvPr/>
          </p:nvSpPr>
          <p:spPr>
            <a:xfrm>
              <a:off x="8597619" y="3700697"/>
              <a:ext cx="1775662" cy="352056"/>
            </a:xfrm>
            <a:prstGeom prst="rect">
              <a:avLst/>
            </a:prstGeom>
            <a:noFill/>
          </p:spPr>
          <p:txBody>
            <a:bodyPr wrap="square" rtlCol="0">
              <a:spAutoFit/>
            </a:bodyPr>
            <a:lstStyle/>
            <a:p>
              <a:pPr algn="r"/>
              <a:r>
                <a:rPr lang="en-US" sz="1300" b="1" dirty="0"/>
                <a:t>Too Complicated</a:t>
              </a:r>
            </a:p>
          </p:txBody>
        </p:sp>
        <p:sp>
          <p:nvSpPr>
            <p:cNvPr id="101" name="TextBox 100">
              <a:extLst>
                <a:ext uri="{FF2B5EF4-FFF2-40B4-BE49-F238E27FC236}">
                  <a16:creationId xmlns:a16="http://schemas.microsoft.com/office/drawing/2014/main" id="{643BF72C-5D7E-A58A-B751-05226572E777}"/>
                </a:ext>
              </a:extLst>
            </p:cNvPr>
            <p:cNvSpPr txBox="1"/>
            <p:nvPr/>
          </p:nvSpPr>
          <p:spPr>
            <a:xfrm>
              <a:off x="4913451" y="3700697"/>
              <a:ext cx="1775661" cy="352056"/>
            </a:xfrm>
            <a:prstGeom prst="rect">
              <a:avLst/>
            </a:prstGeom>
            <a:noFill/>
          </p:spPr>
          <p:txBody>
            <a:bodyPr wrap="square" rtlCol="0">
              <a:spAutoFit/>
            </a:bodyPr>
            <a:lstStyle/>
            <a:p>
              <a:pPr algn="ctr"/>
              <a:r>
                <a:rPr lang="en-US" sz="1300" b="1" dirty="0"/>
                <a:t>True Complexity</a:t>
              </a:r>
            </a:p>
          </p:txBody>
        </p:sp>
        <p:sp>
          <p:nvSpPr>
            <p:cNvPr id="102" name="TextBox 101">
              <a:extLst>
                <a:ext uri="{FF2B5EF4-FFF2-40B4-BE49-F238E27FC236}">
                  <a16:creationId xmlns:a16="http://schemas.microsoft.com/office/drawing/2014/main" id="{E4019855-B95A-D0E4-3782-5388188769EF}"/>
                </a:ext>
              </a:extLst>
            </p:cNvPr>
            <p:cNvSpPr txBox="1"/>
            <p:nvPr/>
          </p:nvSpPr>
          <p:spPr>
            <a:xfrm>
              <a:off x="1320935" y="3700697"/>
              <a:ext cx="2609654" cy="352056"/>
            </a:xfrm>
            <a:prstGeom prst="rect">
              <a:avLst/>
            </a:prstGeom>
            <a:noFill/>
          </p:spPr>
          <p:txBody>
            <a:bodyPr wrap="square" rtlCol="0">
              <a:spAutoFit/>
            </a:bodyPr>
            <a:lstStyle/>
            <a:p>
              <a:r>
                <a:rPr lang="en-US" sz="1300" b="1" dirty="0"/>
                <a:t>Not Complicated Enough</a:t>
              </a:r>
            </a:p>
          </p:txBody>
        </p:sp>
        <p:sp>
          <p:nvSpPr>
            <p:cNvPr id="34" name="TextBox 33">
              <a:extLst>
                <a:ext uri="{FF2B5EF4-FFF2-40B4-BE49-F238E27FC236}">
                  <a16:creationId xmlns:a16="http://schemas.microsoft.com/office/drawing/2014/main" id="{FE441A46-2EEB-DE96-4BD1-69E01A03A37C}"/>
                </a:ext>
              </a:extLst>
            </p:cNvPr>
            <p:cNvSpPr txBox="1"/>
            <p:nvPr/>
          </p:nvSpPr>
          <p:spPr>
            <a:xfrm>
              <a:off x="1582261" y="6344056"/>
              <a:ext cx="1199037" cy="352056"/>
            </a:xfrm>
            <a:prstGeom prst="rect">
              <a:avLst/>
            </a:prstGeom>
            <a:noFill/>
          </p:spPr>
          <p:txBody>
            <a:bodyPr wrap="square" rtlCol="0">
              <a:spAutoFit/>
            </a:bodyPr>
            <a:lstStyle/>
            <a:p>
              <a:pPr algn="ctr"/>
              <a:r>
                <a:rPr lang="en-US" sz="1300" dirty="0"/>
                <a:t>Scenario 1</a:t>
              </a:r>
            </a:p>
          </p:txBody>
        </p:sp>
        <p:sp>
          <p:nvSpPr>
            <p:cNvPr id="35" name="TextBox 34">
              <a:extLst>
                <a:ext uri="{FF2B5EF4-FFF2-40B4-BE49-F238E27FC236}">
                  <a16:creationId xmlns:a16="http://schemas.microsoft.com/office/drawing/2014/main" id="{0085BC41-94C3-FF27-8D69-93A34466A2FD}"/>
                </a:ext>
              </a:extLst>
            </p:cNvPr>
            <p:cNvSpPr txBox="1"/>
            <p:nvPr/>
          </p:nvSpPr>
          <p:spPr>
            <a:xfrm>
              <a:off x="3411062" y="6344055"/>
              <a:ext cx="1199037" cy="352056"/>
            </a:xfrm>
            <a:prstGeom prst="rect">
              <a:avLst/>
            </a:prstGeom>
            <a:noFill/>
          </p:spPr>
          <p:txBody>
            <a:bodyPr wrap="square" rtlCol="0">
              <a:spAutoFit/>
            </a:bodyPr>
            <a:lstStyle/>
            <a:p>
              <a:pPr algn="ctr"/>
              <a:r>
                <a:rPr lang="en-US" sz="1300" dirty="0"/>
                <a:t>Scenario 2</a:t>
              </a:r>
            </a:p>
          </p:txBody>
        </p:sp>
        <p:sp>
          <p:nvSpPr>
            <p:cNvPr id="36" name="TextBox 35">
              <a:extLst>
                <a:ext uri="{FF2B5EF4-FFF2-40B4-BE49-F238E27FC236}">
                  <a16:creationId xmlns:a16="http://schemas.microsoft.com/office/drawing/2014/main" id="{D3300674-D71E-AA7C-061F-843B4EE655FA}"/>
                </a:ext>
              </a:extLst>
            </p:cNvPr>
            <p:cNvSpPr txBox="1"/>
            <p:nvPr/>
          </p:nvSpPr>
          <p:spPr>
            <a:xfrm>
              <a:off x="5201762" y="6344055"/>
              <a:ext cx="1199037" cy="352056"/>
            </a:xfrm>
            <a:prstGeom prst="rect">
              <a:avLst/>
            </a:prstGeom>
            <a:noFill/>
          </p:spPr>
          <p:txBody>
            <a:bodyPr wrap="square" rtlCol="0">
              <a:spAutoFit/>
            </a:bodyPr>
            <a:lstStyle/>
            <a:p>
              <a:pPr algn="ctr"/>
              <a:r>
                <a:rPr lang="en-US" sz="1300" dirty="0"/>
                <a:t>Scenario 3</a:t>
              </a:r>
            </a:p>
          </p:txBody>
        </p:sp>
        <p:sp>
          <p:nvSpPr>
            <p:cNvPr id="37" name="TextBox 36">
              <a:extLst>
                <a:ext uri="{FF2B5EF4-FFF2-40B4-BE49-F238E27FC236}">
                  <a16:creationId xmlns:a16="http://schemas.microsoft.com/office/drawing/2014/main" id="{CFD08B03-B4F2-049B-9313-0B0901135D03}"/>
                </a:ext>
              </a:extLst>
            </p:cNvPr>
            <p:cNvSpPr txBox="1"/>
            <p:nvPr/>
          </p:nvSpPr>
          <p:spPr>
            <a:xfrm>
              <a:off x="7068665" y="6344055"/>
              <a:ext cx="1199037" cy="352056"/>
            </a:xfrm>
            <a:prstGeom prst="rect">
              <a:avLst/>
            </a:prstGeom>
            <a:noFill/>
          </p:spPr>
          <p:txBody>
            <a:bodyPr wrap="square" rtlCol="0">
              <a:spAutoFit/>
            </a:bodyPr>
            <a:lstStyle/>
            <a:p>
              <a:pPr algn="ctr"/>
              <a:r>
                <a:rPr lang="en-US" sz="1300" dirty="0"/>
                <a:t>Scenario 4</a:t>
              </a:r>
            </a:p>
          </p:txBody>
        </p:sp>
        <p:sp>
          <p:nvSpPr>
            <p:cNvPr id="38" name="TextBox 37">
              <a:extLst>
                <a:ext uri="{FF2B5EF4-FFF2-40B4-BE49-F238E27FC236}">
                  <a16:creationId xmlns:a16="http://schemas.microsoft.com/office/drawing/2014/main" id="{28A560D3-00E5-1055-89C5-1FAD538D57EF}"/>
                </a:ext>
              </a:extLst>
            </p:cNvPr>
            <p:cNvSpPr txBox="1"/>
            <p:nvPr/>
          </p:nvSpPr>
          <p:spPr>
            <a:xfrm>
              <a:off x="8885931" y="6344055"/>
              <a:ext cx="1199037" cy="352056"/>
            </a:xfrm>
            <a:prstGeom prst="rect">
              <a:avLst/>
            </a:prstGeom>
            <a:noFill/>
          </p:spPr>
          <p:txBody>
            <a:bodyPr wrap="square" rtlCol="0">
              <a:spAutoFit/>
            </a:bodyPr>
            <a:lstStyle/>
            <a:p>
              <a:pPr algn="ctr"/>
              <a:r>
                <a:rPr lang="en-US" sz="1300" dirty="0"/>
                <a:t>Scenario 5</a:t>
              </a:r>
            </a:p>
          </p:txBody>
        </p:sp>
      </p:grpSp>
      <p:sp>
        <p:nvSpPr>
          <p:cNvPr id="3" name="Title 2">
            <a:extLst>
              <a:ext uri="{FF2B5EF4-FFF2-40B4-BE49-F238E27FC236}">
                <a16:creationId xmlns:a16="http://schemas.microsoft.com/office/drawing/2014/main" id="{D30270BC-3724-D6F1-565F-E661D800AB6F}"/>
              </a:ext>
            </a:extLst>
          </p:cNvPr>
          <p:cNvSpPr>
            <a:spLocks noGrp="1"/>
          </p:cNvSpPr>
          <p:nvPr>
            <p:ph type="title"/>
          </p:nvPr>
        </p:nvSpPr>
        <p:spPr/>
        <p:txBody>
          <a:bodyPr/>
          <a:lstStyle/>
          <a:p>
            <a:r>
              <a:rPr lang="en-US" dirty="0"/>
              <a:t>Putting It All Together</a:t>
            </a:r>
          </a:p>
        </p:txBody>
      </p:sp>
      <p:grpSp>
        <p:nvGrpSpPr>
          <p:cNvPr id="22" name="Group 21">
            <a:extLst>
              <a:ext uri="{FF2B5EF4-FFF2-40B4-BE49-F238E27FC236}">
                <a16:creationId xmlns:a16="http://schemas.microsoft.com/office/drawing/2014/main" id="{3019C190-F9AF-FF78-2057-5339F3925793}"/>
              </a:ext>
            </a:extLst>
          </p:cNvPr>
          <p:cNvGrpSpPr/>
          <p:nvPr/>
        </p:nvGrpSpPr>
        <p:grpSpPr>
          <a:xfrm>
            <a:off x="3003735" y="1547549"/>
            <a:ext cx="137162" cy="274321"/>
            <a:chOff x="2022419" y="750912"/>
            <a:chExt cx="137162" cy="320697"/>
          </a:xfrm>
        </p:grpSpPr>
        <p:sp>
          <p:nvSpPr>
            <p:cNvPr id="23" name="Oval 22">
              <a:extLst>
                <a:ext uri="{FF2B5EF4-FFF2-40B4-BE49-F238E27FC236}">
                  <a16:creationId xmlns:a16="http://schemas.microsoft.com/office/drawing/2014/main" id="{C7B16A89-3997-B657-06B5-799674DB2333}"/>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EDD9004C-C238-B616-D61E-713AA02B440B}"/>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 name="Group 24">
            <a:extLst>
              <a:ext uri="{FF2B5EF4-FFF2-40B4-BE49-F238E27FC236}">
                <a16:creationId xmlns:a16="http://schemas.microsoft.com/office/drawing/2014/main" id="{BEFE4508-0BA9-92CD-514B-0FF27534A126}"/>
              </a:ext>
            </a:extLst>
          </p:cNvPr>
          <p:cNvGrpSpPr/>
          <p:nvPr/>
        </p:nvGrpSpPr>
        <p:grpSpPr>
          <a:xfrm>
            <a:off x="4571660" y="2392679"/>
            <a:ext cx="137162" cy="274321"/>
            <a:chOff x="2022419" y="750912"/>
            <a:chExt cx="137162" cy="320697"/>
          </a:xfrm>
        </p:grpSpPr>
        <p:sp>
          <p:nvSpPr>
            <p:cNvPr id="26" name="Oval 25">
              <a:extLst>
                <a:ext uri="{FF2B5EF4-FFF2-40B4-BE49-F238E27FC236}">
                  <a16:creationId xmlns:a16="http://schemas.microsoft.com/office/drawing/2014/main" id="{0FE4543D-FFFC-3188-C520-451F18B8F0FE}"/>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43BC42A9-4B65-845C-6715-0D14766317D9}"/>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8" name="Picture 27">
            <a:extLst>
              <a:ext uri="{FF2B5EF4-FFF2-40B4-BE49-F238E27FC236}">
                <a16:creationId xmlns:a16="http://schemas.microsoft.com/office/drawing/2014/main" id="{6C903755-E73A-E8AE-AA6D-5BE0E1F3A193}"/>
              </a:ext>
            </a:extLst>
          </p:cNvPr>
          <p:cNvPicPr>
            <a:picLocks noChangeAspect="1"/>
          </p:cNvPicPr>
          <p:nvPr/>
        </p:nvPicPr>
        <p:blipFill rotWithShape="1">
          <a:blip r:embed="rId3"/>
          <a:srcRect l="80581" t="20000" b="13333"/>
          <a:stretch/>
        </p:blipFill>
        <p:spPr>
          <a:xfrm>
            <a:off x="8612234" y="5010440"/>
            <a:ext cx="1522366" cy="1265705"/>
          </a:xfrm>
          <a:prstGeom prst="rect">
            <a:avLst/>
          </a:prstGeom>
        </p:spPr>
      </p:pic>
      <p:grpSp>
        <p:nvGrpSpPr>
          <p:cNvPr id="30" name="Group 29">
            <a:extLst>
              <a:ext uri="{FF2B5EF4-FFF2-40B4-BE49-F238E27FC236}">
                <a16:creationId xmlns:a16="http://schemas.microsoft.com/office/drawing/2014/main" id="{E6AA10F5-21F1-3285-A328-C8C954D47C73}"/>
              </a:ext>
            </a:extLst>
          </p:cNvPr>
          <p:cNvGrpSpPr/>
          <p:nvPr/>
        </p:nvGrpSpPr>
        <p:grpSpPr>
          <a:xfrm>
            <a:off x="6106919" y="3558407"/>
            <a:ext cx="137162" cy="274321"/>
            <a:chOff x="2022419" y="750912"/>
            <a:chExt cx="137162" cy="320697"/>
          </a:xfrm>
        </p:grpSpPr>
        <p:sp>
          <p:nvSpPr>
            <p:cNvPr id="31" name="Oval 30">
              <a:extLst>
                <a:ext uri="{FF2B5EF4-FFF2-40B4-BE49-F238E27FC236}">
                  <a16:creationId xmlns:a16="http://schemas.microsoft.com/office/drawing/2014/main" id="{A17FE95A-7668-A54A-001E-2585FF47B896}"/>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DA7A1532-7CF0-C448-4F75-03C475B8191F}"/>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9" name="Picture 38">
            <a:extLst>
              <a:ext uri="{FF2B5EF4-FFF2-40B4-BE49-F238E27FC236}">
                <a16:creationId xmlns:a16="http://schemas.microsoft.com/office/drawing/2014/main" id="{12878E86-51CC-52D8-98B4-118EE596F40F}"/>
              </a:ext>
            </a:extLst>
          </p:cNvPr>
          <p:cNvPicPr>
            <a:picLocks noChangeAspect="1"/>
          </p:cNvPicPr>
          <p:nvPr/>
        </p:nvPicPr>
        <p:blipFill rotWithShape="1">
          <a:blip r:embed="rId3"/>
          <a:srcRect l="61166" t="20000" r="23528" b="13333"/>
          <a:stretch/>
        </p:blipFill>
        <p:spPr>
          <a:xfrm>
            <a:off x="7090124" y="2544295"/>
            <a:ext cx="1199965" cy="1265705"/>
          </a:xfrm>
          <a:prstGeom prst="rect">
            <a:avLst/>
          </a:prstGeom>
        </p:spPr>
      </p:pic>
      <p:grpSp>
        <p:nvGrpSpPr>
          <p:cNvPr id="47" name="Group 46">
            <a:extLst>
              <a:ext uri="{FF2B5EF4-FFF2-40B4-BE49-F238E27FC236}">
                <a16:creationId xmlns:a16="http://schemas.microsoft.com/office/drawing/2014/main" id="{7E9B7D91-D4E0-2784-21BF-3FD52188065C}"/>
              </a:ext>
            </a:extLst>
          </p:cNvPr>
          <p:cNvGrpSpPr/>
          <p:nvPr/>
        </p:nvGrpSpPr>
        <p:grpSpPr>
          <a:xfrm>
            <a:off x="10486879" y="2387884"/>
            <a:ext cx="1137735" cy="713164"/>
            <a:chOff x="9831859" y="1234459"/>
            <a:chExt cx="1394710" cy="753829"/>
          </a:xfrm>
        </p:grpSpPr>
        <p:sp>
          <p:nvSpPr>
            <p:cNvPr id="48" name="Rectangle 47">
              <a:extLst>
                <a:ext uri="{FF2B5EF4-FFF2-40B4-BE49-F238E27FC236}">
                  <a16:creationId xmlns:a16="http://schemas.microsoft.com/office/drawing/2014/main" id="{B2D96FCB-6CE7-E6D5-ABE1-A5BE0691102B}"/>
                </a:ext>
              </a:extLst>
            </p:cNvPr>
            <p:cNvSpPr/>
            <p:nvPr/>
          </p:nvSpPr>
          <p:spPr>
            <a:xfrm>
              <a:off x="9831859" y="1236922"/>
              <a:ext cx="1342960" cy="75136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BA0BC776-B1AE-018C-FA37-0553AFDD14B7}"/>
                </a:ext>
              </a:extLst>
            </p:cNvPr>
            <p:cNvSpPr txBox="1"/>
            <p:nvPr/>
          </p:nvSpPr>
          <p:spPr>
            <a:xfrm>
              <a:off x="9839607" y="1234459"/>
              <a:ext cx="449162" cy="276999"/>
            </a:xfrm>
            <a:prstGeom prst="rect">
              <a:avLst/>
            </a:prstGeom>
            <a:noFill/>
          </p:spPr>
          <p:txBody>
            <a:bodyPr wrap="none" rtlCol="0">
              <a:spAutoFit/>
            </a:bodyPr>
            <a:lstStyle/>
            <a:p>
              <a:r>
                <a:rPr lang="en-US" sz="1200" dirty="0"/>
                <a:t>Key</a:t>
              </a:r>
            </a:p>
          </p:txBody>
        </p:sp>
        <p:sp>
          <p:nvSpPr>
            <p:cNvPr id="50" name="Oval 49">
              <a:extLst>
                <a:ext uri="{FF2B5EF4-FFF2-40B4-BE49-F238E27FC236}">
                  <a16:creationId xmlns:a16="http://schemas.microsoft.com/office/drawing/2014/main" id="{9105559F-6456-D64E-8E1A-17B58E2C7852}"/>
                </a:ext>
              </a:extLst>
            </p:cNvPr>
            <p:cNvSpPr/>
            <p:nvPr/>
          </p:nvSpPr>
          <p:spPr>
            <a:xfrm>
              <a:off x="9993423" y="1774756"/>
              <a:ext cx="112093" cy="9665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FF36F89F-73E4-3BD8-A5BB-A2357998F12D}"/>
                </a:ext>
              </a:extLst>
            </p:cNvPr>
            <p:cNvSpPr/>
            <p:nvPr/>
          </p:nvSpPr>
          <p:spPr>
            <a:xfrm>
              <a:off x="9993423" y="1569339"/>
              <a:ext cx="112093" cy="966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extBox 51">
              <a:extLst>
                <a:ext uri="{FF2B5EF4-FFF2-40B4-BE49-F238E27FC236}">
                  <a16:creationId xmlns:a16="http://schemas.microsoft.com/office/drawing/2014/main" id="{ABEB6B6F-705E-FAA5-1E3E-9B66A4A3719B}"/>
                </a:ext>
              </a:extLst>
            </p:cNvPr>
            <p:cNvSpPr txBox="1"/>
            <p:nvPr/>
          </p:nvSpPr>
          <p:spPr>
            <a:xfrm>
              <a:off x="10190823" y="1479167"/>
              <a:ext cx="647764" cy="292794"/>
            </a:xfrm>
            <a:prstGeom prst="rect">
              <a:avLst/>
            </a:prstGeom>
            <a:noFill/>
          </p:spPr>
          <p:txBody>
            <a:bodyPr wrap="none" rtlCol="0">
              <a:spAutoFit/>
            </a:bodyPr>
            <a:lstStyle/>
            <a:p>
              <a:r>
                <a:rPr lang="en-US" sz="1200" dirty="0"/>
                <a:t>Train</a:t>
              </a:r>
            </a:p>
          </p:txBody>
        </p:sp>
        <p:sp>
          <p:nvSpPr>
            <p:cNvPr id="53" name="TextBox 52">
              <a:extLst>
                <a:ext uri="{FF2B5EF4-FFF2-40B4-BE49-F238E27FC236}">
                  <a16:creationId xmlns:a16="http://schemas.microsoft.com/office/drawing/2014/main" id="{EF6424B1-ADC2-DA0F-A9A1-81E00E3CD25F}"/>
                </a:ext>
              </a:extLst>
            </p:cNvPr>
            <p:cNvSpPr txBox="1"/>
            <p:nvPr/>
          </p:nvSpPr>
          <p:spPr>
            <a:xfrm>
              <a:off x="10190822" y="1684584"/>
              <a:ext cx="1035747" cy="292794"/>
            </a:xfrm>
            <a:prstGeom prst="rect">
              <a:avLst/>
            </a:prstGeom>
            <a:noFill/>
          </p:spPr>
          <p:txBody>
            <a:bodyPr wrap="none" rtlCol="0">
              <a:spAutoFit/>
            </a:bodyPr>
            <a:lstStyle/>
            <a:p>
              <a:r>
                <a:rPr lang="en-US" sz="1200" dirty="0"/>
                <a:t>Validation</a:t>
              </a:r>
            </a:p>
          </p:txBody>
        </p:sp>
      </p:grpSp>
    </p:spTree>
    <p:extLst>
      <p:ext uri="{BB962C8B-B14F-4D97-AF65-F5344CB8AC3E}">
        <p14:creationId xmlns:p14="http://schemas.microsoft.com/office/powerpoint/2010/main" val="459292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225521-20DE-0CC9-6FA0-443F31CDAFC6}"/>
              </a:ext>
            </a:extLst>
          </p:cNvPr>
          <p:cNvGrpSpPr/>
          <p:nvPr/>
        </p:nvGrpSpPr>
        <p:grpSpPr>
          <a:xfrm>
            <a:off x="1295400" y="1447800"/>
            <a:ext cx="8799910" cy="5064677"/>
            <a:chOff x="109215" y="597876"/>
            <a:chExt cx="10264066" cy="6098236"/>
          </a:xfrm>
        </p:grpSpPr>
        <p:pic>
          <p:nvPicPr>
            <p:cNvPr id="305" name="Picture 304">
              <a:extLst>
                <a:ext uri="{FF2B5EF4-FFF2-40B4-BE49-F238E27FC236}">
                  <a16:creationId xmlns:a16="http://schemas.microsoft.com/office/drawing/2014/main" id="{00B3A36D-74FE-191C-4745-C3CF619DD1C9}"/>
                </a:ext>
              </a:extLst>
            </p:cNvPr>
            <p:cNvPicPr>
              <a:picLocks noChangeAspect="1"/>
            </p:cNvPicPr>
            <p:nvPr/>
          </p:nvPicPr>
          <p:blipFill rotWithShape="1">
            <a:blip r:embed="rId3"/>
            <a:srcRect l="1" t="20000" r="42141" b="13333"/>
            <a:stretch/>
          </p:blipFill>
          <p:spPr>
            <a:xfrm>
              <a:off x="1275107" y="4887551"/>
              <a:ext cx="5290528" cy="1524000"/>
            </a:xfrm>
            <a:prstGeom prst="rect">
              <a:avLst/>
            </a:prstGeom>
          </p:spPr>
        </p:pic>
        <p:sp>
          <p:nvSpPr>
            <p:cNvPr id="306" name="TextBox 305">
              <a:extLst>
                <a:ext uri="{FF2B5EF4-FFF2-40B4-BE49-F238E27FC236}">
                  <a16:creationId xmlns:a16="http://schemas.microsoft.com/office/drawing/2014/main" id="{D16D87F7-5033-1E1C-B7CD-F77A6F7877E5}"/>
                </a:ext>
              </a:extLst>
            </p:cNvPr>
            <p:cNvSpPr txBox="1"/>
            <p:nvPr/>
          </p:nvSpPr>
          <p:spPr>
            <a:xfrm>
              <a:off x="109215" y="4343402"/>
              <a:ext cx="1043865" cy="592937"/>
            </a:xfrm>
            <a:prstGeom prst="rect">
              <a:avLst/>
            </a:prstGeom>
            <a:noFill/>
          </p:spPr>
          <p:txBody>
            <a:bodyPr wrap="square" rtlCol="0">
              <a:spAutoFit/>
            </a:bodyPr>
            <a:lstStyle/>
            <a:p>
              <a:pPr algn="r"/>
              <a:r>
                <a:rPr lang="en-US" sz="1300" dirty="0"/>
                <a:t>Bias</a:t>
              </a:r>
            </a:p>
            <a:p>
              <a:pPr algn="r"/>
              <a:r>
                <a:rPr lang="en-US" sz="1300" dirty="0"/>
                <a:t>Variance</a:t>
              </a:r>
            </a:p>
          </p:txBody>
        </p:sp>
        <p:sp>
          <p:nvSpPr>
            <p:cNvPr id="307" name="TextBox 306">
              <a:extLst>
                <a:ext uri="{FF2B5EF4-FFF2-40B4-BE49-F238E27FC236}">
                  <a16:creationId xmlns:a16="http://schemas.microsoft.com/office/drawing/2014/main" id="{4AD4356E-785E-2644-2CD1-72CE6BD2B6FE}"/>
                </a:ext>
              </a:extLst>
            </p:cNvPr>
            <p:cNvSpPr txBox="1"/>
            <p:nvPr/>
          </p:nvSpPr>
          <p:spPr>
            <a:xfrm>
              <a:off x="1762680"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8" name="TextBox 307">
              <a:extLst>
                <a:ext uri="{FF2B5EF4-FFF2-40B4-BE49-F238E27FC236}">
                  <a16:creationId xmlns:a16="http://schemas.microsoft.com/office/drawing/2014/main" id="{D93A624A-8E3B-4106-70DA-A7240259A162}"/>
                </a:ext>
              </a:extLst>
            </p:cNvPr>
            <p:cNvSpPr txBox="1"/>
            <p:nvPr/>
          </p:nvSpPr>
          <p:spPr>
            <a:xfrm>
              <a:off x="3591481"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9" name="TextBox 308">
              <a:extLst>
                <a:ext uri="{FF2B5EF4-FFF2-40B4-BE49-F238E27FC236}">
                  <a16:creationId xmlns:a16="http://schemas.microsoft.com/office/drawing/2014/main" id="{9A3B7FD2-D3F3-0EBC-9FE5-52BCBEDA1851}"/>
                </a:ext>
              </a:extLst>
            </p:cNvPr>
            <p:cNvSpPr txBox="1"/>
            <p:nvPr/>
          </p:nvSpPr>
          <p:spPr>
            <a:xfrm>
              <a:off x="5420282" y="4343401"/>
              <a:ext cx="838201" cy="592937"/>
            </a:xfrm>
            <a:prstGeom prst="rect">
              <a:avLst/>
            </a:prstGeom>
            <a:noFill/>
          </p:spPr>
          <p:txBody>
            <a:bodyPr wrap="square" rtlCol="0">
              <a:spAutoFit/>
            </a:bodyPr>
            <a:lstStyle/>
            <a:p>
              <a:pPr algn="ctr"/>
              <a:r>
                <a:rPr lang="en-US" sz="1300" dirty="0"/>
                <a:t>Low</a:t>
              </a:r>
            </a:p>
            <a:p>
              <a:pPr algn="ctr"/>
              <a:r>
                <a:rPr lang="en-US" sz="1300" dirty="0"/>
                <a:t>Low</a:t>
              </a:r>
            </a:p>
          </p:txBody>
        </p:sp>
        <p:sp>
          <p:nvSpPr>
            <p:cNvPr id="310" name="TextBox 309">
              <a:extLst>
                <a:ext uri="{FF2B5EF4-FFF2-40B4-BE49-F238E27FC236}">
                  <a16:creationId xmlns:a16="http://schemas.microsoft.com/office/drawing/2014/main" id="{9A1CD7F5-3B84-5FCD-0C2D-05B0DF56A432}"/>
                </a:ext>
              </a:extLst>
            </p:cNvPr>
            <p:cNvSpPr txBox="1"/>
            <p:nvPr/>
          </p:nvSpPr>
          <p:spPr>
            <a:xfrm>
              <a:off x="7249083"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sp>
          <p:nvSpPr>
            <p:cNvPr id="311" name="TextBox 310">
              <a:extLst>
                <a:ext uri="{FF2B5EF4-FFF2-40B4-BE49-F238E27FC236}">
                  <a16:creationId xmlns:a16="http://schemas.microsoft.com/office/drawing/2014/main" id="{3C2102B6-3ADC-8D41-1855-5D2468B787CB}"/>
                </a:ext>
              </a:extLst>
            </p:cNvPr>
            <p:cNvSpPr txBox="1"/>
            <p:nvPr/>
          </p:nvSpPr>
          <p:spPr>
            <a:xfrm>
              <a:off x="9077884"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cxnSp>
          <p:nvCxnSpPr>
            <p:cNvPr id="97" name="Straight Connector 96">
              <a:extLst>
                <a:ext uri="{FF2B5EF4-FFF2-40B4-BE49-F238E27FC236}">
                  <a16:creationId xmlns:a16="http://schemas.microsoft.com/office/drawing/2014/main" id="{F3DD4575-AEF4-6933-51D3-D36D778A0279}"/>
                </a:ext>
              </a:extLst>
            </p:cNvPr>
            <p:cNvCxnSpPr>
              <a:cxnSpLocks/>
            </p:cNvCxnSpPr>
            <p:nvPr/>
          </p:nvCxnSpPr>
          <p:spPr>
            <a:xfrm>
              <a:off x="1320935" y="597876"/>
              <a:ext cx="0" cy="3057063"/>
            </a:xfrm>
            <a:prstGeom prst="line">
              <a:avLst/>
            </a:prstGeom>
            <a:ln w="19050"/>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D11FDF47-7A36-09CC-D470-EBD64FD2624F}"/>
                </a:ext>
              </a:extLst>
            </p:cNvPr>
            <p:cNvCxnSpPr>
              <a:cxnSpLocks/>
            </p:cNvCxnSpPr>
            <p:nvPr/>
          </p:nvCxnSpPr>
          <p:spPr>
            <a:xfrm flipH="1" flipV="1">
              <a:off x="1320935" y="3654939"/>
              <a:ext cx="9052346" cy="18644"/>
            </a:xfrm>
            <a:prstGeom prst="line">
              <a:avLst/>
            </a:prstGeom>
            <a:ln w="19050"/>
          </p:spPr>
          <p:style>
            <a:lnRef idx="1">
              <a:schemeClr val="dk1"/>
            </a:lnRef>
            <a:fillRef idx="0">
              <a:schemeClr val="dk1"/>
            </a:fillRef>
            <a:effectRef idx="0">
              <a:schemeClr val="dk1"/>
            </a:effectRef>
            <a:fontRef idx="minor">
              <a:schemeClr val="tx1"/>
            </a:fontRef>
          </p:style>
        </p:cxnSp>
        <p:sp>
          <p:nvSpPr>
            <p:cNvPr id="99" name="TextBox 98">
              <a:extLst>
                <a:ext uri="{FF2B5EF4-FFF2-40B4-BE49-F238E27FC236}">
                  <a16:creationId xmlns:a16="http://schemas.microsoft.com/office/drawing/2014/main" id="{8D8B84C0-9CB3-D7F2-637B-2F00275A98B0}"/>
                </a:ext>
              </a:extLst>
            </p:cNvPr>
            <p:cNvSpPr txBox="1"/>
            <p:nvPr/>
          </p:nvSpPr>
          <p:spPr>
            <a:xfrm>
              <a:off x="375857" y="1983127"/>
              <a:ext cx="777222" cy="352056"/>
            </a:xfrm>
            <a:prstGeom prst="rect">
              <a:avLst/>
            </a:prstGeom>
            <a:noFill/>
          </p:spPr>
          <p:txBody>
            <a:bodyPr wrap="square" rtlCol="0">
              <a:spAutoFit/>
            </a:bodyPr>
            <a:lstStyle/>
            <a:p>
              <a:pPr algn="r"/>
              <a:r>
                <a:rPr lang="en-US" sz="1300" b="1" dirty="0"/>
                <a:t>MSE</a:t>
              </a:r>
            </a:p>
          </p:txBody>
        </p:sp>
        <p:sp>
          <p:nvSpPr>
            <p:cNvPr id="100" name="TextBox 99">
              <a:extLst>
                <a:ext uri="{FF2B5EF4-FFF2-40B4-BE49-F238E27FC236}">
                  <a16:creationId xmlns:a16="http://schemas.microsoft.com/office/drawing/2014/main" id="{A128E684-2B61-7BDD-643A-DB8EB340695D}"/>
                </a:ext>
              </a:extLst>
            </p:cNvPr>
            <p:cNvSpPr txBox="1"/>
            <p:nvPr/>
          </p:nvSpPr>
          <p:spPr>
            <a:xfrm>
              <a:off x="8597619" y="3700697"/>
              <a:ext cx="1775662" cy="352056"/>
            </a:xfrm>
            <a:prstGeom prst="rect">
              <a:avLst/>
            </a:prstGeom>
            <a:noFill/>
          </p:spPr>
          <p:txBody>
            <a:bodyPr wrap="square" rtlCol="0">
              <a:spAutoFit/>
            </a:bodyPr>
            <a:lstStyle/>
            <a:p>
              <a:pPr algn="r"/>
              <a:r>
                <a:rPr lang="en-US" sz="1300" b="1" dirty="0"/>
                <a:t>Too Complicated</a:t>
              </a:r>
            </a:p>
          </p:txBody>
        </p:sp>
        <p:sp>
          <p:nvSpPr>
            <p:cNvPr id="101" name="TextBox 100">
              <a:extLst>
                <a:ext uri="{FF2B5EF4-FFF2-40B4-BE49-F238E27FC236}">
                  <a16:creationId xmlns:a16="http://schemas.microsoft.com/office/drawing/2014/main" id="{643BF72C-5D7E-A58A-B751-05226572E777}"/>
                </a:ext>
              </a:extLst>
            </p:cNvPr>
            <p:cNvSpPr txBox="1"/>
            <p:nvPr/>
          </p:nvSpPr>
          <p:spPr>
            <a:xfrm>
              <a:off x="4913451" y="3700697"/>
              <a:ext cx="1775661" cy="352056"/>
            </a:xfrm>
            <a:prstGeom prst="rect">
              <a:avLst/>
            </a:prstGeom>
            <a:noFill/>
          </p:spPr>
          <p:txBody>
            <a:bodyPr wrap="square" rtlCol="0">
              <a:spAutoFit/>
            </a:bodyPr>
            <a:lstStyle/>
            <a:p>
              <a:pPr algn="ctr"/>
              <a:r>
                <a:rPr lang="en-US" sz="1300" b="1" dirty="0"/>
                <a:t>True Complexity</a:t>
              </a:r>
            </a:p>
          </p:txBody>
        </p:sp>
        <p:sp>
          <p:nvSpPr>
            <p:cNvPr id="102" name="TextBox 101">
              <a:extLst>
                <a:ext uri="{FF2B5EF4-FFF2-40B4-BE49-F238E27FC236}">
                  <a16:creationId xmlns:a16="http://schemas.microsoft.com/office/drawing/2014/main" id="{E4019855-B95A-D0E4-3782-5388188769EF}"/>
                </a:ext>
              </a:extLst>
            </p:cNvPr>
            <p:cNvSpPr txBox="1"/>
            <p:nvPr/>
          </p:nvSpPr>
          <p:spPr>
            <a:xfrm>
              <a:off x="1320935" y="3700697"/>
              <a:ext cx="2609654" cy="352056"/>
            </a:xfrm>
            <a:prstGeom prst="rect">
              <a:avLst/>
            </a:prstGeom>
            <a:noFill/>
          </p:spPr>
          <p:txBody>
            <a:bodyPr wrap="square" rtlCol="0">
              <a:spAutoFit/>
            </a:bodyPr>
            <a:lstStyle/>
            <a:p>
              <a:r>
                <a:rPr lang="en-US" sz="1300" b="1" dirty="0"/>
                <a:t>Not Complicated Enough</a:t>
              </a:r>
            </a:p>
          </p:txBody>
        </p:sp>
        <p:sp>
          <p:nvSpPr>
            <p:cNvPr id="34" name="TextBox 33">
              <a:extLst>
                <a:ext uri="{FF2B5EF4-FFF2-40B4-BE49-F238E27FC236}">
                  <a16:creationId xmlns:a16="http://schemas.microsoft.com/office/drawing/2014/main" id="{FE441A46-2EEB-DE96-4BD1-69E01A03A37C}"/>
                </a:ext>
              </a:extLst>
            </p:cNvPr>
            <p:cNvSpPr txBox="1"/>
            <p:nvPr/>
          </p:nvSpPr>
          <p:spPr>
            <a:xfrm>
              <a:off x="1582261" y="6344056"/>
              <a:ext cx="1199037" cy="352056"/>
            </a:xfrm>
            <a:prstGeom prst="rect">
              <a:avLst/>
            </a:prstGeom>
            <a:noFill/>
          </p:spPr>
          <p:txBody>
            <a:bodyPr wrap="square" rtlCol="0">
              <a:spAutoFit/>
            </a:bodyPr>
            <a:lstStyle/>
            <a:p>
              <a:pPr algn="ctr"/>
              <a:r>
                <a:rPr lang="en-US" sz="1300" dirty="0"/>
                <a:t>Scenario 1</a:t>
              </a:r>
            </a:p>
          </p:txBody>
        </p:sp>
        <p:sp>
          <p:nvSpPr>
            <p:cNvPr id="35" name="TextBox 34">
              <a:extLst>
                <a:ext uri="{FF2B5EF4-FFF2-40B4-BE49-F238E27FC236}">
                  <a16:creationId xmlns:a16="http://schemas.microsoft.com/office/drawing/2014/main" id="{0085BC41-94C3-FF27-8D69-93A34466A2FD}"/>
                </a:ext>
              </a:extLst>
            </p:cNvPr>
            <p:cNvSpPr txBox="1"/>
            <p:nvPr/>
          </p:nvSpPr>
          <p:spPr>
            <a:xfrm>
              <a:off x="3411062" y="6344055"/>
              <a:ext cx="1199037" cy="352056"/>
            </a:xfrm>
            <a:prstGeom prst="rect">
              <a:avLst/>
            </a:prstGeom>
            <a:noFill/>
          </p:spPr>
          <p:txBody>
            <a:bodyPr wrap="square" rtlCol="0">
              <a:spAutoFit/>
            </a:bodyPr>
            <a:lstStyle/>
            <a:p>
              <a:pPr algn="ctr"/>
              <a:r>
                <a:rPr lang="en-US" sz="1300" dirty="0"/>
                <a:t>Scenario 2</a:t>
              </a:r>
            </a:p>
          </p:txBody>
        </p:sp>
        <p:sp>
          <p:nvSpPr>
            <p:cNvPr id="36" name="TextBox 35">
              <a:extLst>
                <a:ext uri="{FF2B5EF4-FFF2-40B4-BE49-F238E27FC236}">
                  <a16:creationId xmlns:a16="http://schemas.microsoft.com/office/drawing/2014/main" id="{D3300674-D71E-AA7C-061F-843B4EE655FA}"/>
                </a:ext>
              </a:extLst>
            </p:cNvPr>
            <p:cNvSpPr txBox="1"/>
            <p:nvPr/>
          </p:nvSpPr>
          <p:spPr>
            <a:xfrm>
              <a:off x="5201762" y="6344055"/>
              <a:ext cx="1199037" cy="352056"/>
            </a:xfrm>
            <a:prstGeom prst="rect">
              <a:avLst/>
            </a:prstGeom>
            <a:noFill/>
          </p:spPr>
          <p:txBody>
            <a:bodyPr wrap="square" rtlCol="0">
              <a:spAutoFit/>
            </a:bodyPr>
            <a:lstStyle/>
            <a:p>
              <a:pPr algn="ctr"/>
              <a:r>
                <a:rPr lang="en-US" sz="1300" dirty="0"/>
                <a:t>Scenario 3</a:t>
              </a:r>
            </a:p>
          </p:txBody>
        </p:sp>
        <p:sp>
          <p:nvSpPr>
            <p:cNvPr id="37" name="TextBox 36">
              <a:extLst>
                <a:ext uri="{FF2B5EF4-FFF2-40B4-BE49-F238E27FC236}">
                  <a16:creationId xmlns:a16="http://schemas.microsoft.com/office/drawing/2014/main" id="{CFD08B03-B4F2-049B-9313-0B0901135D03}"/>
                </a:ext>
              </a:extLst>
            </p:cNvPr>
            <p:cNvSpPr txBox="1"/>
            <p:nvPr/>
          </p:nvSpPr>
          <p:spPr>
            <a:xfrm>
              <a:off x="7068665" y="6344055"/>
              <a:ext cx="1199037" cy="352056"/>
            </a:xfrm>
            <a:prstGeom prst="rect">
              <a:avLst/>
            </a:prstGeom>
            <a:noFill/>
          </p:spPr>
          <p:txBody>
            <a:bodyPr wrap="square" rtlCol="0">
              <a:spAutoFit/>
            </a:bodyPr>
            <a:lstStyle/>
            <a:p>
              <a:pPr algn="ctr"/>
              <a:r>
                <a:rPr lang="en-US" sz="1300" dirty="0"/>
                <a:t>Scenario 4</a:t>
              </a:r>
            </a:p>
          </p:txBody>
        </p:sp>
        <p:sp>
          <p:nvSpPr>
            <p:cNvPr id="38" name="TextBox 37">
              <a:extLst>
                <a:ext uri="{FF2B5EF4-FFF2-40B4-BE49-F238E27FC236}">
                  <a16:creationId xmlns:a16="http://schemas.microsoft.com/office/drawing/2014/main" id="{28A560D3-00E5-1055-89C5-1FAD538D57EF}"/>
                </a:ext>
              </a:extLst>
            </p:cNvPr>
            <p:cNvSpPr txBox="1"/>
            <p:nvPr/>
          </p:nvSpPr>
          <p:spPr>
            <a:xfrm>
              <a:off x="8885931" y="6344055"/>
              <a:ext cx="1199037" cy="352056"/>
            </a:xfrm>
            <a:prstGeom prst="rect">
              <a:avLst/>
            </a:prstGeom>
            <a:noFill/>
          </p:spPr>
          <p:txBody>
            <a:bodyPr wrap="square" rtlCol="0">
              <a:spAutoFit/>
            </a:bodyPr>
            <a:lstStyle/>
            <a:p>
              <a:pPr algn="ctr"/>
              <a:r>
                <a:rPr lang="en-US" sz="1300" dirty="0"/>
                <a:t>Scenario 5</a:t>
              </a:r>
            </a:p>
          </p:txBody>
        </p:sp>
      </p:grpSp>
      <p:sp>
        <p:nvSpPr>
          <p:cNvPr id="3" name="Title 2">
            <a:extLst>
              <a:ext uri="{FF2B5EF4-FFF2-40B4-BE49-F238E27FC236}">
                <a16:creationId xmlns:a16="http://schemas.microsoft.com/office/drawing/2014/main" id="{D30270BC-3724-D6F1-565F-E661D800AB6F}"/>
              </a:ext>
            </a:extLst>
          </p:cNvPr>
          <p:cNvSpPr>
            <a:spLocks noGrp="1"/>
          </p:cNvSpPr>
          <p:nvPr>
            <p:ph type="title"/>
          </p:nvPr>
        </p:nvSpPr>
        <p:spPr/>
        <p:txBody>
          <a:bodyPr/>
          <a:lstStyle/>
          <a:p>
            <a:r>
              <a:rPr lang="en-US" dirty="0"/>
              <a:t>Putting It All Together</a:t>
            </a:r>
          </a:p>
        </p:txBody>
      </p:sp>
      <p:grpSp>
        <p:nvGrpSpPr>
          <p:cNvPr id="22" name="Group 21">
            <a:extLst>
              <a:ext uri="{FF2B5EF4-FFF2-40B4-BE49-F238E27FC236}">
                <a16:creationId xmlns:a16="http://schemas.microsoft.com/office/drawing/2014/main" id="{3019C190-F9AF-FF78-2057-5339F3925793}"/>
              </a:ext>
            </a:extLst>
          </p:cNvPr>
          <p:cNvGrpSpPr/>
          <p:nvPr/>
        </p:nvGrpSpPr>
        <p:grpSpPr>
          <a:xfrm>
            <a:off x="3003735" y="1547549"/>
            <a:ext cx="137162" cy="274321"/>
            <a:chOff x="2022419" y="750912"/>
            <a:chExt cx="137162" cy="320697"/>
          </a:xfrm>
        </p:grpSpPr>
        <p:sp>
          <p:nvSpPr>
            <p:cNvPr id="23" name="Oval 22">
              <a:extLst>
                <a:ext uri="{FF2B5EF4-FFF2-40B4-BE49-F238E27FC236}">
                  <a16:creationId xmlns:a16="http://schemas.microsoft.com/office/drawing/2014/main" id="{C7B16A89-3997-B657-06B5-799674DB2333}"/>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EDD9004C-C238-B616-D61E-713AA02B440B}"/>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 name="Group 24">
            <a:extLst>
              <a:ext uri="{FF2B5EF4-FFF2-40B4-BE49-F238E27FC236}">
                <a16:creationId xmlns:a16="http://schemas.microsoft.com/office/drawing/2014/main" id="{BEFE4508-0BA9-92CD-514B-0FF27534A126}"/>
              </a:ext>
            </a:extLst>
          </p:cNvPr>
          <p:cNvGrpSpPr/>
          <p:nvPr/>
        </p:nvGrpSpPr>
        <p:grpSpPr>
          <a:xfrm>
            <a:off x="4571660" y="2392679"/>
            <a:ext cx="137162" cy="274321"/>
            <a:chOff x="2022419" y="750912"/>
            <a:chExt cx="137162" cy="320697"/>
          </a:xfrm>
        </p:grpSpPr>
        <p:sp>
          <p:nvSpPr>
            <p:cNvPr id="26" name="Oval 25">
              <a:extLst>
                <a:ext uri="{FF2B5EF4-FFF2-40B4-BE49-F238E27FC236}">
                  <a16:creationId xmlns:a16="http://schemas.microsoft.com/office/drawing/2014/main" id="{0FE4543D-FFFC-3188-C520-451F18B8F0FE}"/>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43BC42A9-4B65-845C-6715-0D14766317D9}"/>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8" name="Picture 27">
            <a:extLst>
              <a:ext uri="{FF2B5EF4-FFF2-40B4-BE49-F238E27FC236}">
                <a16:creationId xmlns:a16="http://schemas.microsoft.com/office/drawing/2014/main" id="{6C903755-E73A-E8AE-AA6D-5BE0E1F3A193}"/>
              </a:ext>
            </a:extLst>
          </p:cNvPr>
          <p:cNvPicPr>
            <a:picLocks noChangeAspect="1"/>
          </p:cNvPicPr>
          <p:nvPr/>
        </p:nvPicPr>
        <p:blipFill rotWithShape="1">
          <a:blip r:embed="rId3"/>
          <a:srcRect l="80581" t="20000" b="13333"/>
          <a:stretch/>
        </p:blipFill>
        <p:spPr>
          <a:xfrm>
            <a:off x="8612234" y="5010440"/>
            <a:ext cx="1522366" cy="1265705"/>
          </a:xfrm>
          <a:prstGeom prst="rect">
            <a:avLst/>
          </a:prstGeom>
        </p:spPr>
      </p:pic>
      <p:grpSp>
        <p:nvGrpSpPr>
          <p:cNvPr id="30" name="Group 29">
            <a:extLst>
              <a:ext uri="{FF2B5EF4-FFF2-40B4-BE49-F238E27FC236}">
                <a16:creationId xmlns:a16="http://schemas.microsoft.com/office/drawing/2014/main" id="{E6AA10F5-21F1-3285-A328-C8C954D47C73}"/>
              </a:ext>
            </a:extLst>
          </p:cNvPr>
          <p:cNvGrpSpPr/>
          <p:nvPr/>
        </p:nvGrpSpPr>
        <p:grpSpPr>
          <a:xfrm>
            <a:off x="6106919" y="3558407"/>
            <a:ext cx="137162" cy="274321"/>
            <a:chOff x="2022419" y="750912"/>
            <a:chExt cx="137162" cy="320697"/>
          </a:xfrm>
        </p:grpSpPr>
        <p:sp>
          <p:nvSpPr>
            <p:cNvPr id="31" name="Oval 30">
              <a:extLst>
                <a:ext uri="{FF2B5EF4-FFF2-40B4-BE49-F238E27FC236}">
                  <a16:creationId xmlns:a16="http://schemas.microsoft.com/office/drawing/2014/main" id="{A17FE95A-7668-A54A-001E-2585FF47B896}"/>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DA7A1532-7CF0-C448-4F75-03C475B8191F}"/>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3" name="Group 32">
            <a:extLst>
              <a:ext uri="{FF2B5EF4-FFF2-40B4-BE49-F238E27FC236}">
                <a16:creationId xmlns:a16="http://schemas.microsoft.com/office/drawing/2014/main" id="{28BF628B-1DDF-4FF3-8261-13D651D9DDEA}"/>
              </a:ext>
            </a:extLst>
          </p:cNvPr>
          <p:cNvGrpSpPr/>
          <p:nvPr/>
        </p:nvGrpSpPr>
        <p:grpSpPr>
          <a:xfrm>
            <a:off x="7707510" y="2399380"/>
            <a:ext cx="137162" cy="1511157"/>
            <a:chOff x="2022419" y="-695018"/>
            <a:chExt cx="137162" cy="1766627"/>
          </a:xfrm>
        </p:grpSpPr>
        <p:sp>
          <p:nvSpPr>
            <p:cNvPr id="40" name="Oval 39">
              <a:extLst>
                <a:ext uri="{FF2B5EF4-FFF2-40B4-BE49-F238E27FC236}">
                  <a16:creationId xmlns:a16="http://schemas.microsoft.com/office/drawing/2014/main" id="{565198A6-A6B1-80EC-78D7-CCD9D57EB170}"/>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ADFF9FEE-8F9B-D46C-EB09-B589C01104F1}"/>
                </a:ext>
              </a:extLst>
            </p:cNvPr>
            <p:cNvSpPr/>
            <p:nvPr/>
          </p:nvSpPr>
          <p:spPr>
            <a:xfrm>
              <a:off x="2022419" y="-695018"/>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9" name="Group 48">
            <a:extLst>
              <a:ext uri="{FF2B5EF4-FFF2-40B4-BE49-F238E27FC236}">
                <a16:creationId xmlns:a16="http://schemas.microsoft.com/office/drawing/2014/main" id="{91E7704C-DFB4-5C14-9BD6-90F53E9A6184}"/>
              </a:ext>
            </a:extLst>
          </p:cNvPr>
          <p:cNvGrpSpPr/>
          <p:nvPr/>
        </p:nvGrpSpPr>
        <p:grpSpPr>
          <a:xfrm>
            <a:off x="10486879" y="2387884"/>
            <a:ext cx="1137735" cy="713164"/>
            <a:chOff x="9831859" y="1234459"/>
            <a:chExt cx="1394710" cy="753829"/>
          </a:xfrm>
        </p:grpSpPr>
        <p:sp>
          <p:nvSpPr>
            <p:cNvPr id="50" name="Rectangle 49">
              <a:extLst>
                <a:ext uri="{FF2B5EF4-FFF2-40B4-BE49-F238E27FC236}">
                  <a16:creationId xmlns:a16="http://schemas.microsoft.com/office/drawing/2014/main" id="{156D7ED8-FD41-A39E-69EC-22DCF98CBCC6}"/>
                </a:ext>
              </a:extLst>
            </p:cNvPr>
            <p:cNvSpPr/>
            <p:nvPr/>
          </p:nvSpPr>
          <p:spPr>
            <a:xfrm>
              <a:off x="9831859" y="1236922"/>
              <a:ext cx="1342960" cy="75136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6A9B49F1-2195-95F6-D16F-D248D81EDD26}"/>
                </a:ext>
              </a:extLst>
            </p:cNvPr>
            <p:cNvSpPr txBox="1"/>
            <p:nvPr/>
          </p:nvSpPr>
          <p:spPr>
            <a:xfrm>
              <a:off x="9839607" y="1234459"/>
              <a:ext cx="449162" cy="276999"/>
            </a:xfrm>
            <a:prstGeom prst="rect">
              <a:avLst/>
            </a:prstGeom>
            <a:noFill/>
          </p:spPr>
          <p:txBody>
            <a:bodyPr wrap="none" rtlCol="0">
              <a:spAutoFit/>
            </a:bodyPr>
            <a:lstStyle/>
            <a:p>
              <a:r>
                <a:rPr lang="en-US" sz="1200" dirty="0"/>
                <a:t>Key</a:t>
              </a:r>
            </a:p>
          </p:txBody>
        </p:sp>
        <p:sp>
          <p:nvSpPr>
            <p:cNvPr id="52" name="Oval 51">
              <a:extLst>
                <a:ext uri="{FF2B5EF4-FFF2-40B4-BE49-F238E27FC236}">
                  <a16:creationId xmlns:a16="http://schemas.microsoft.com/office/drawing/2014/main" id="{DA497020-E99C-B701-033C-12325960ED7D}"/>
                </a:ext>
              </a:extLst>
            </p:cNvPr>
            <p:cNvSpPr/>
            <p:nvPr/>
          </p:nvSpPr>
          <p:spPr>
            <a:xfrm>
              <a:off x="9993423" y="1774756"/>
              <a:ext cx="112093" cy="9665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B0D3F55A-CCA5-CD7E-82E1-FCF869CB607B}"/>
                </a:ext>
              </a:extLst>
            </p:cNvPr>
            <p:cNvSpPr/>
            <p:nvPr/>
          </p:nvSpPr>
          <p:spPr>
            <a:xfrm>
              <a:off x="9993423" y="1569339"/>
              <a:ext cx="112093" cy="966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extBox 53">
              <a:extLst>
                <a:ext uri="{FF2B5EF4-FFF2-40B4-BE49-F238E27FC236}">
                  <a16:creationId xmlns:a16="http://schemas.microsoft.com/office/drawing/2014/main" id="{085B1276-4950-02EF-7954-404DAEB97324}"/>
                </a:ext>
              </a:extLst>
            </p:cNvPr>
            <p:cNvSpPr txBox="1"/>
            <p:nvPr/>
          </p:nvSpPr>
          <p:spPr>
            <a:xfrm>
              <a:off x="10190823" y="1479167"/>
              <a:ext cx="647764" cy="292794"/>
            </a:xfrm>
            <a:prstGeom prst="rect">
              <a:avLst/>
            </a:prstGeom>
            <a:noFill/>
          </p:spPr>
          <p:txBody>
            <a:bodyPr wrap="none" rtlCol="0">
              <a:spAutoFit/>
            </a:bodyPr>
            <a:lstStyle/>
            <a:p>
              <a:r>
                <a:rPr lang="en-US" sz="1200" dirty="0"/>
                <a:t>Train</a:t>
              </a:r>
            </a:p>
          </p:txBody>
        </p:sp>
        <p:sp>
          <p:nvSpPr>
            <p:cNvPr id="55" name="TextBox 54">
              <a:extLst>
                <a:ext uri="{FF2B5EF4-FFF2-40B4-BE49-F238E27FC236}">
                  <a16:creationId xmlns:a16="http://schemas.microsoft.com/office/drawing/2014/main" id="{90A17EBE-8078-52D5-82CB-E45CA2D70011}"/>
                </a:ext>
              </a:extLst>
            </p:cNvPr>
            <p:cNvSpPr txBox="1"/>
            <p:nvPr/>
          </p:nvSpPr>
          <p:spPr>
            <a:xfrm>
              <a:off x="10190822" y="1684584"/>
              <a:ext cx="1035747" cy="292794"/>
            </a:xfrm>
            <a:prstGeom prst="rect">
              <a:avLst/>
            </a:prstGeom>
            <a:noFill/>
          </p:spPr>
          <p:txBody>
            <a:bodyPr wrap="none" rtlCol="0">
              <a:spAutoFit/>
            </a:bodyPr>
            <a:lstStyle/>
            <a:p>
              <a:r>
                <a:rPr lang="en-US" sz="1200" dirty="0"/>
                <a:t>Validation</a:t>
              </a:r>
            </a:p>
          </p:txBody>
        </p:sp>
      </p:grpSp>
    </p:spTree>
    <p:extLst>
      <p:ext uri="{BB962C8B-B14F-4D97-AF65-F5344CB8AC3E}">
        <p14:creationId xmlns:p14="http://schemas.microsoft.com/office/powerpoint/2010/main" val="36808384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225521-20DE-0CC9-6FA0-443F31CDAFC6}"/>
              </a:ext>
            </a:extLst>
          </p:cNvPr>
          <p:cNvGrpSpPr/>
          <p:nvPr/>
        </p:nvGrpSpPr>
        <p:grpSpPr>
          <a:xfrm>
            <a:off x="1295400" y="1447800"/>
            <a:ext cx="8799910" cy="5064677"/>
            <a:chOff x="109215" y="597876"/>
            <a:chExt cx="10264066" cy="6098236"/>
          </a:xfrm>
        </p:grpSpPr>
        <p:pic>
          <p:nvPicPr>
            <p:cNvPr id="305" name="Picture 304">
              <a:extLst>
                <a:ext uri="{FF2B5EF4-FFF2-40B4-BE49-F238E27FC236}">
                  <a16:creationId xmlns:a16="http://schemas.microsoft.com/office/drawing/2014/main" id="{00B3A36D-74FE-191C-4745-C3CF619DD1C9}"/>
                </a:ext>
              </a:extLst>
            </p:cNvPr>
            <p:cNvPicPr>
              <a:picLocks noChangeAspect="1"/>
            </p:cNvPicPr>
            <p:nvPr/>
          </p:nvPicPr>
          <p:blipFill rotWithShape="1">
            <a:blip r:embed="rId3"/>
            <a:srcRect l="1" t="20000" r="23527" b="13333"/>
            <a:stretch/>
          </p:blipFill>
          <p:spPr>
            <a:xfrm>
              <a:off x="1275107" y="4887551"/>
              <a:ext cx="6992595" cy="1524000"/>
            </a:xfrm>
            <a:prstGeom prst="rect">
              <a:avLst/>
            </a:prstGeom>
          </p:spPr>
        </p:pic>
        <p:sp>
          <p:nvSpPr>
            <p:cNvPr id="306" name="TextBox 305">
              <a:extLst>
                <a:ext uri="{FF2B5EF4-FFF2-40B4-BE49-F238E27FC236}">
                  <a16:creationId xmlns:a16="http://schemas.microsoft.com/office/drawing/2014/main" id="{D16D87F7-5033-1E1C-B7CD-F77A6F7877E5}"/>
                </a:ext>
              </a:extLst>
            </p:cNvPr>
            <p:cNvSpPr txBox="1"/>
            <p:nvPr/>
          </p:nvSpPr>
          <p:spPr>
            <a:xfrm>
              <a:off x="109215" y="4343402"/>
              <a:ext cx="1043865" cy="592937"/>
            </a:xfrm>
            <a:prstGeom prst="rect">
              <a:avLst/>
            </a:prstGeom>
            <a:noFill/>
          </p:spPr>
          <p:txBody>
            <a:bodyPr wrap="square" rtlCol="0">
              <a:spAutoFit/>
            </a:bodyPr>
            <a:lstStyle/>
            <a:p>
              <a:pPr algn="r"/>
              <a:r>
                <a:rPr lang="en-US" sz="1300" dirty="0"/>
                <a:t>Bias</a:t>
              </a:r>
            </a:p>
            <a:p>
              <a:pPr algn="r"/>
              <a:r>
                <a:rPr lang="en-US" sz="1300" dirty="0"/>
                <a:t>Variance</a:t>
              </a:r>
            </a:p>
          </p:txBody>
        </p:sp>
        <p:sp>
          <p:nvSpPr>
            <p:cNvPr id="307" name="TextBox 306">
              <a:extLst>
                <a:ext uri="{FF2B5EF4-FFF2-40B4-BE49-F238E27FC236}">
                  <a16:creationId xmlns:a16="http://schemas.microsoft.com/office/drawing/2014/main" id="{4AD4356E-785E-2644-2CD1-72CE6BD2B6FE}"/>
                </a:ext>
              </a:extLst>
            </p:cNvPr>
            <p:cNvSpPr txBox="1"/>
            <p:nvPr/>
          </p:nvSpPr>
          <p:spPr>
            <a:xfrm>
              <a:off x="1762680"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8" name="TextBox 307">
              <a:extLst>
                <a:ext uri="{FF2B5EF4-FFF2-40B4-BE49-F238E27FC236}">
                  <a16:creationId xmlns:a16="http://schemas.microsoft.com/office/drawing/2014/main" id="{D93A624A-8E3B-4106-70DA-A7240259A162}"/>
                </a:ext>
              </a:extLst>
            </p:cNvPr>
            <p:cNvSpPr txBox="1"/>
            <p:nvPr/>
          </p:nvSpPr>
          <p:spPr>
            <a:xfrm>
              <a:off x="3591481"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9" name="TextBox 308">
              <a:extLst>
                <a:ext uri="{FF2B5EF4-FFF2-40B4-BE49-F238E27FC236}">
                  <a16:creationId xmlns:a16="http://schemas.microsoft.com/office/drawing/2014/main" id="{9A3B7FD2-D3F3-0EBC-9FE5-52BCBEDA1851}"/>
                </a:ext>
              </a:extLst>
            </p:cNvPr>
            <p:cNvSpPr txBox="1"/>
            <p:nvPr/>
          </p:nvSpPr>
          <p:spPr>
            <a:xfrm>
              <a:off x="5420282" y="4343401"/>
              <a:ext cx="838201" cy="592937"/>
            </a:xfrm>
            <a:prstGeom prst="rect">
              <a:avLst/>
            </a:prstGeom>
            <a:noFill/>
          </p:spPr>
          <p:txBody>
            <a:bodyPr wrap="square" rtlCol="0">
              <a:spAutoFit/>
            </a:bodyPr>
            <a:lstStyle/>
            <a:p>
              <a:pPr algn="ctr"/>
              <a:r>
                <a:rPr lang="en-US" sz="1300" dirty="0"/>
                <a:t>Low</a:t>
              </a:r>
            </a:p>
            <a:p>
              <a:pPr algn="ctr"/>
              <a:r>
                <a:rPr lang="en-US" sz="1300" dirty="0"/>
                <a:t>Low</a:t>
              </a:r>
            </a:p>
          </p:txBody>
        </p:sp>
        <p:sp>
          <p:nvSpPr>
            <p:cNvPr id="310" name="TextBox 309">
              <a:extLst>
                <a:ext uri="{FF2B5EF4-FFF2-40B4-BE49-F238E27FC236}">
                  <a16:creationId xmlns:a16="http://schemas.microsoft.com/office/drawing/2014/main" id="{9A1CD7F5-3B84-5FCD-0C2D-05B0DF56A432}"/>
                </a:ext>
              </a:extLst>
            </p:cNvPr>
            <p:cNvSpPr txBox="1"/>
            <p:nvPr/>
          </p:nvSpPr>
          <p:spPr>
            <a:xfrm>
              <a:off x="7249083"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sp>
          <p:nvSpPr>
            <p:cNvPr id="311" name="TextBox 310">
              <a:extLst>
                <a:ext uri="{FF2B5EF4-FFF2-40B4-BE49-F238E27FC236}">
                  <a16:creationId xmlns:a16="http://schemas.microsoft.com/office/drawing/2014/main" id="{3C2102B6-3ADC-8D41-1855-5D2468B787CB}"/>
                </a:ext>
              </a:extLst>
            </p:cNvPr>
            <p:cNvSpPr txBox="1"/>
            <p:nvPr/>
          </p:nvSpPr>
          <p:spPr>
            <a:xfrm>
              <a:off x="9077884"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cxnSp>
          <p:nvCxnSpPr>
            <p:cNvPr id="97" name="Straight Connector 96">
              <a:extLst>
                <a:ext uri="{FF2B5EF4-FFF2-40B4-BE49-F238E27FC236}">
                  <a16:creationId xmlns:a16="http://schemas.microsoft.com/office/drawing/2014/main" id="{F3DD4575-AEF4-6933-51D3-D36D778A0279}"/>
                </a:ext>
              </a:extLst>
            </p:cNvPr>
            <p:cNvCxnSpPr>
              <a:cxnSpLocks/>
            </p:cNvCxnSpPr>
            <p:nvPr/>
          </p:nvCxnSpPr>
          <p:spPr>
            <a:xfrm>
              <a:off x="1320935" y="597876"/>
              <a:ext cx="0" cy="3057063"/>
            </a:xfrm>
            <a:prstGeom prst="line">
              <a:avLst/>
            </a:prstGeom>
            <a:ln w="19050"/>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D11FDF47-7A36-09CC-D470-EBD64FD2624F}"/>
                </a:ext>
              </a:extLst>
            </p:cNvPr>
            <p:cNvCxnSpPr>
              <a:cxnSpLocks/>
            </p:cNvCxnSpPr>
            <p:nvPr/>
          </p:nvCxnSpPr>
          <p:spPr>
            <a:xfrm flipH="1" flipV="1">
              <a:off x="1320935" y="3654939"/>
              <a:ext cx="9052346" cy="18644"/>
            </a:xfrm>
            <a:prstGeom prst="line">
              <a:avLst/>
            </a:prstGeom>
            <a:ln w="19050"/>
          </p:spPr>
          <p:style>
            <a:lnRef idx="1">
              <a:schemeClr val="dk1"/>
            </a:lnRef>
            <a:fillRef idx="0">
              <a:schemeClr val="dk1"/>
            </a:fillRef>
            <a:effectRef idx="0">
              <a:schemeClr val="dk1"/>
            </a:effectRef>
            <a:fontRef idx="minor">
              <a:schemeClr val="tx1"/>
            </a:fontRef>
          </p:style>
        </p:cxnSp>
        <p:sp>
          <p:nvSpPr>
            <p:cNvPr id="99" name="TextBox 98">
              <a:extLst>
                <a:ext uri="{FF2B5EF4-FFF2-40B4-BE49-F238E27FC236}">
                  <a16:creationId xmlns:a16="http://schemas.microsoft.com/office/drawing/2014/main" id="{8D8B84C0-9CB3-D7F2-637B-2F00275A98B0}"/>
                </a:ext>
              </a:extLst>
            </p:cNvPr>
            <p:cNvSpPr txBox="1"/>
            <p:nvPr/>
          </p:nvSpPr>
          <p:spPr>
            <a:xfrm>
              <a:off x="375857" y="1983127"/>
              <a:ext cx="777222" cy="352056"/>
            </a:xfrm>
            <a:prstGeom prst="rect">
              <a:avLst/>
            </a:prstGeom>
            <a:noFill/>
          </p:spPr>
          <p:txBody>
            <a:bodyPr wrap="square" rtlCol="0">
              <a:spAutoFit/>
            </a:bodyPr>
            <a:lstStyle/>
            <a:p>
              <a:pPr algn="r"/>
              <a:r>
                <a:rPr lang="en-US" sz="1300" b="1" dirty="0"/>
                <a:t>MSE</a:t>
              </a:r>
            </a:p>
          </p:txBody>
        </p:sp>
        <p:sp>
          <p:nvSpPr>
            <p:cNvPr id="100" name="TextBox 99">
              <a:extLst>
                <a:ext uri="{FF2B5EF4-FFF2-40B4-BE49-F238E27FC236}">
                  <a16:creationId xmlns:a16="http://schemas.microsoft.com/office/drawing/2014/main" id="{A128E684-2B61-7BDD-643A-DB8EB340695D}"/>
                </a:ext>
              </a:extLst>
            </p:cNvPr>
            <p:cNvSpPr txBox="1"/>
            <p:nvPr/>
          </p:nvSpPr>
          <p:spPr>
            <a:xfrm>
              <a:off x="8597619" y="3700697"/>
              <a:ext cx="1775662" cy="352056"/>
            </a:xfrm>
            <a:prstGeom prst="rect">
              <a:avLst/>
            </a:prstGeom>
            <a:noFill/>
          </p:spPr>
          <p:txBody>
            <a:bodyPr wrap="square" rtlCol="0">
              <a:spAutoFit/>
            </a:bodyPr>
            <a:lstStyle/>
            <a:p>
              <a:pPr algn="r"/>
              <a:r>
                <a:rPr lang="en-US" sz="1300" b="1" dirty="0"/>
                <a:t>Too Complicated</a:t>
              </a:r>
            </a:p>
          </p:txBody>
        </p:sp>
        <p:sp>
          <p:nvSpPr>
            <p:cNvPr id="101" name="TextBox 100">
              <a:extLst>
                <a:ext uri="{FF2B5EF4-FFF2-40B4-BE49-F238E27FC236}">
                  <a16:creationId xmlns:a16="http://schemas.microsoft.com/office/drawing/2014/main" id="{643BF72C-5D7E-A58A-B751-05226572E777}"/>
                </a:ext>
              </a:extLst>
            </p:cNvPr>
            <p:cNvSpPr txBox="1"/>
            <p:nvPr/>
          </p:nvSpPr>
          <p:spPr>
            <a:xfrm>
              <a:off x="4913451" y="3700697"/>
              <a:ext cx="1775661" cy="352056"/>
            </a:xfrm>
            <a:prstGeom prst="rect">
              <a:avLst/>
            </a:prstGeom>
            <a:noFill/>
          </p:spPr>
          <p:txBody>
            <a:bodyPr wrap="square" rtlCol="0">
              <a:spAutoFit/>
            </a:bodyPr>
            <a:lstStyle/>
            <a:p>
              <a:pPr algn="ctr"/>
              <a:r>
                <a:rPr lang="en-US" sz="1300" b="1" dirty="0"/>
                <a:t>True Complexity</a:t>
              </a:r>
            </a:p>
          </p:txBody>
        </p:sp>
        <p:sp>
          <p:nvSpPr>
            <p:cNvPr id="102" name="TextBox 101">
              <a:extLst>
                <a:ext uri="{FF2B5EF4-FFF2-40B4-BE49-F238E27FC236}">
                  <a16:creationId xmlns:a16="http://schemas.microsoft.com/office/drawing/2014/main" id="{E4019855-B95A-D0E4-3782-5388188769EF}"/>
                </a:ext>
              </a:extLst>
            </p:cNvPr>
            <p:cNvSpPr txBox="1"/>
            <p:nvPr/>
          </p:nvSpPr>
          <p:spPr>
            <a:xfrm>
              <a:off x="1320935" y="3700697"/>
              <a:ext cx="2609654" cy="352056"/>
            </a:xfrm>
            <a:prstGeom prst="rect">
              <a:avLst/>
            </a:prstGeom>
            <a:noFill/>
          </p:spPr>
          <p:txBody>
            <a:bodyPr wrap="square" rtlCol="0">
              <a:spAutoFit/>
            </a:bodyPr>
            <a:lstStyle/>
            <a:p>
              <a:r>
                <a:rPr lang="en-US" sz="1300" b="1" dirty="0"/>
                <a:t>Not Complicated Enough</a:t>
              </a:r>
            </a:p>
          </p:txBody>
        </p:sp>
        <p:sp>
          <p:nvSpPr>
            <p:cNvPr id="34" name="TextBox 33">
              <a:extLst>
                <a:ext uri="{FF2B5EF4-FFF2-40B4-BE49-F238E27FC236}">
                  <a16:creationId xmlns:a16="http://schemas.microsoft.com/office/drawing/2014/main" id="{FE441A46-2EEB-DE96-4BD1-69E01A03A37C}"/>
                </a:ext>
              </a:extLst>
            </p:cNvPr>
            <p:cNvSpPr txBox="1"/>
            <p:nvPr/>
          </p:nvSpPr>
          <p:spPr>
            <a:xfrm>
              <a:off x="1582261" y="6344056"/>
              <a:ext cx="1199037" cy="352056"/>
            </a:xfrm>
            <a:prstGeom prst="rect">
              <a:avLst/>
            </a:prstGeom>
            <a:noFill/>
          </p:spPr>
          <p:txBody>
            <a:bodyPr wrap="square" rtlCol="0">
              <a:spAutoFit/>
            </a:bodyPr>
            <a:lstStyle/>
            <a:p>
              <a:pPr algn="ctr"/>
              <a:r>
                <a:rPr lang="en-US" sz="1300" dirty="0"/>
                <a:t>Scenario 1</a:t>
              </a:r>
            </a:p>
          </p:txBody>
        </p:sp>
        <p:sp>
          <p:nvSpPr>
            <p:cNvPr id="35" name="TextBox 34">
              <a:extLst>
                <a:ext uri="{FF2B5EF4-FFF2-40B4-BE49-F238E27FC236}">
                  <a16:creationId xmlns:a16="http://schemas.microsoft.com/office/drawing/2014/main" id="{0085BC41-94C3-FF27-8D69-93A34466A2FD}"/>
                </a:ext>
              </a:extLst>
            </p:cNvPr>
            <p:cNvSpPr txBox="1"/>
            <p:nvPr/>
          </p:nvSpPr>
          <p:spPr>
            <a:xfrm>
              <a:off x="3411062" y="6344055"/>
              <a:ext cx="1199037" cy="352056"/>
            </a:xfrm>
            <a:prstGeom prst="rect">
              <a:avLst/>
            </a:prstGeom>
            <a:noFill/>
          </p:spPr>
          <p:txBody>
            <a:bodyPr wrap="square" rtlCol="0">
              <a:spAutoFit/>
            </a:bodyPr>
            <a:lstStyle/>
            <a:p>
              <a:pPr algn="ctr"/>
              <a:r>
                <a:rPr lang="en-US" sz="1300" dirty="0"/>
                <a:t>Scenario 2</a:t>
              </a:r>
            </a:p>
          </p:txBody>
        </p:sp>
        <p:sp>
          <p:nvSpPr>
            <p:cNvPr id="36" name="TextBox 35">
              <a:extLst>
                <a:ext uri="{FF2B5EF4-FFF2-40B4-BE49-F238E27FC236}">
                  <a16:creationId xmlns:a16="http://schemas.microsoft.com/office/drawing/2014/main" id="{D3300674-D71E-AA7C-061F-843B4EE655FA}"/>
                </a:ext>
              </a:extLst>
            </p:cNvPr>
            <p:cNvSpPr txBox="1"/>
            <p:nvPr/>
          </p:nvSpPr>
          <p:spPr>
            <a:xfrm>
              <a:off x="5201762" y="6344055"/>
              <a:ext cx="1199037" cy="352056"/>
            </a:xfrm>
            <a:prstGeom prst="rect">
              <a:avLst/>
            </a:prstGeom>
            <a:noFill/>
          </p:spPr>
          <p:txBody>
            <a:bodyPr wrap="square" rtlCol="0">
              <a:spAutoFit/>
            </a:bodyPr>
            <a:lstStyle/>
            <a:p>
              <a:pPr algn="ctr"/>
              <a:r>
                <a:rPr lang="en-US" sz="1300" dirty="0"/>
                <a:t>Scenario 3</a:t>
              </a:r>
            </a:p>
          </p:txBody>
        </p:sp>
        <p:sp>
          <p:nvSpPr>
            <p:cNvPr id="37" name="TextBox 36">
              <a:extLst>
                <a:ext uri="{FF2B5EF4-FFF2-40B4-BE49-F238E27FC236}">
                  <a16:creationId xmlns:a16="http://schemas.microsoft.com/office/drawing/2014/main" id="{CFD08B03-B4F2-049B-9313-0B0901135D03}"/>
                </a:ext>
              </a:extLst>
            </p:cNvPr>
            <p:cNvSpPr txBox="1"/>
            <p:nvPr/>
          </p:nvSpPr>
          <p:spPr>
            <a:xfrm>
              <a:off x="7068665" y="6344055"/>
              <a:ext cx="1199037" cy="352056"/>
            </a:xfrm>
            <a:prstGeom prst="rect">
              <a:avLst/>
            </a:prstGeom>
            <a:noFill/>
          </p:spPr>
          <p:txBody>
            <a:bodyPr wrap="square" rtlCol="0">
              <a:spAutoFit/>
            </a:bodyPr>
            <a:lstStyle/>
            <a:p>
              <a:pPr algn="ctr"/>
              <a:r>
                <a:rPr lang="en-US" sz="1300" dirty="0"/>
                <a:t>Scenario 4</a:t>
              </a:r>
            </a:p>
          </p:txBody>
        </p:sp>
        <p:sp>
          <p:nvSpPr>
            <p:cNvPr id="38" name="TextBox 37">
              <a:extLst>
                <a:ext uri="{FF2B5EF4-FFF2-40B4-BE49-F238E27FC236}">
                  <a16:creationId xmlns:a16="http://schemas.microsoft.com/office/drawing/2014/main" id="{28A560D3-00E5-1055-89C5-1FAD538D57EF}"/>
                </a:ext>
              </a:extLst>
            </p:cNvPr>
            <p:cNvSpPr txBox="1"/>
            <p:nvPr/>
          </p:nvSpPr>
          <p:spPr>
            <a:xfrm>
              <a:off x="8885931" y="6344055"/>
              <a:ext cx="1199037" cy="352056"/>
            </a:xfrm>
            <a:prstGeom prst="rect">
              <a:avLst/>
            </a:prstGeom>
            <a:noFill/>
          </p:spPr>
          <p:txBody>
            <a:bodyPr wrap="square" rtlCol="0">
              <a:spAutoFit/>
            </a:bodyPr>
            <a:lstStyle/>
            <a:p>
              <a:pPr algn="ctr"/>
              <a:r>
                <a:rPr lang="en-US" sz="1300" dirty="0"/>
                <a:t>Scenario 5</a:t>
              </a:r>
            </a:p>
          </p:txBody>
        </p:sp>
      </p:grpSp>
      <p:sp>
        <p:nvSpPr>
          <p:cNvPr id="3" name="Title 2">
            <a:extLst>
              <a:ext uri="{FF2B5EF4-FFF2-40B4-BE49-F238E27FC236}">
                <a16:creationId xmlns:a16="http://schemas.microsoft.com/office/drawing/2014/main" id="{D30270BC-3724-D6F1-565F-E661D800AB6F}"/>
              </a:ext>
            </a:extLst>
          </p:cNvPr>
          <p:cNvSpPr>
            <a:spLocks noGrp="1"/>
          </p:cNvSpPr>
          <p:nvPr>
            <p:ph type="title"/>
          </p:nvPr>
        </p:nvSpPr>
        <p:spPr/>
        <p:txBody>
          <a:bodyPr/>
          <a:lstStyle/>
          <a:p>
            <a:r>
              <a:rPr lang="en-US" dirty="0"/>
              <a:t>Putting It All Together</a:t>
            </a:r>
          </a:p>
        </p:txBody>
      </p:sp>
      <p:grpSp>
        <p:nvGrpSpPr>
          <p:cNvPr id="22" name="Group 21">
            <a:extLst>
              <a:ext uri="{FF2B5EF4-FFF2-40B4-BE49-F238E27FC236}">
                <a16:creationId xmlns:a16="http://schemas.microsoft.com/office/drawing/2014/main" id="{3019C190-F9AF-FF78-2057-5339F3925793}"/>
              </a:ext>
            </a:extLst>
          </p:cNvPr>
          <p:cNvGrpSpPr/>
          <p:nvPr/>
        </p:nvGrpSpPr>
        <p:grpSpPr>
          <a:xfrm>
            <a:off x="3003735" y="1547549"/>
            <a:ext cx="137162" cy="274321"/>
            <a:chOff x="2022419" y="750912"/>
            <a:chExt cx="137162" cy="320697"/>
          </a:xfrm>
        </p:grpSpPr>
        <p:sp>
          <p:nvSpPr>
            <p:cNvPr id="23" name="Oval 22">
              <a:extLst>
                <a:ext uri="{FF2B5EF4-FFF2-40B4-BE49-F238E27FC236}">
                  <a16:creationId xmlns:a16="http://schemas.microsoft.com/office/drawing/2014/main" id="{C7B16A89-3997-B657-06B5-799674DB2333}"/>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EDD9004C-C238-B616-D61E-713AA02B440B}"/>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 name="Group 24">
            <a:extLst>
              <a:ext uri="{FF2B5EF4-FFF2-40B4-BE49-F238E27FC236}">
                <a16:creationId xmlns:a16="http://schemas.microsoft.com/office/drawing/2014/main" id="{BEFE4508-0BA9-92CD-514B-0FF27534A126}"/>
              </a:ext>
            </a:extLst>
          </p:cNvPr>
          <p:cNvGrpSpPr/>
          <p:nvPr/>
        </p:nvGrpSpPr>
        <p:grpSpPr>
          <a:xfrm>
            <a:off x="4571660" y="2392679"/>
            <a:ext cx="137162" cy="274321"/>
            <a:chOff x="2022419" y="750912"/>
            <a:chExt cx="137162" cy="320697"/>
          </a:xfrm>
        </p:grpSpPr>
        <p:sp>
          <p:nvSpPr>
            <p:cNvPr id="26" name="Oval 25">
              <a:extLst>
                <a:ext uri="{FF2B5EF4-FFF2-40B4-BE49-F238E27FC236}">
                  <a16:creationId xmlns:a16="http://schemas.microsoft.com/office/drawing/2014/main" id="{0FE4543D-FFFC-3188-C520-451F18B8F0FE}"/>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43BC42A9-4B65-845C-6715-0D14766317D9}"/>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8" name="Picture 27">
            <a:extLst>
              <a:ext uri="{FF2B5EF4-FFF2-40B4-BE49-F238E27FC236}">
                <a16:creationId xmlns:a16="http://schemas.microsoft.com/office/drawing/2014/main" id="{6C903755-E73A-E8AE-AA6D-5BE0E1F3A193}"/>
              </a:ext>
            </a:extLst>
          </p:cNvPr>
          <p:cNvPicPr>
            <a:picLocks noChangeAspect="1"/>
          </p:cNvPicPr>
          <p:nvPr/>
        </p:nvPicPr>
        <p:blipFill rotWithShape="1">
          <a:blip r:embed="rId3"/>
          <a:srcRect l="80581" t="20000" b="13333"/>
          <a:stretch/>
        </p:blipFill>
        <p:spPr>
          <a:xfrm>
            <a:off x="8612234" y="2051539"/>
            <a:ext cx="1522366" cy="1265705"/>
          </a:xfrm>
          <a:prstGeom prst="rect">
            <a:avLst/>
          </a:prstGeom>
        </p:spPr>
      </p:pic>
      <p:grpSp>
        <p:nvGrpSpPr>
          <p:cNvPr id="30" name="Group 29">
            <a:extLst>
              <a:ext uri="{FF2B5EF4-FFF2-40B4-BE49-F238E27FC236}">
                <a16:creationId xmlns:a16="http://schemas.microsoft.com/office/drawing/2014/main" id="{E6AA10F5-21F1-3285-A328-C8C954D47C73}"/>
              </a:ext>
            </a:extLst>
          </p:cNvPr>
          <p:cNvGrpSpPr/>
          <p:nvPr/>
        </p:nvGrpSpPr>
        <p:grpSpPr>
          <a:xfrm>
            <a:off x="6106919" y="3558407"/>
            <a:ext cx="137162" cy="274321"/>
            <a:chOff x="2022419" y="750912"/>
            <a:chExt cx="137162" cy="320697"/>
          </a:xfrm>
        </p:grpSpPr>
        <p:sp>
          <p:nvSpPr>
            <p:cNvPr id="31" name="Oval 30">
              <a:extLst>
                <a:ext uri="{FF2B5EF4-FFF2-40B4-BE49-F238E27FC236}">
                  <a16:creationId xmlns:a16="http://schemas.microsoft.com/office/drawing/2014/main" id="{A17FE95A-7668-A54A-001E-2585FF47B896}"/>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DA7A1532-7CF0-C448-4F75-03C475B8191F}"/>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3" name="Group 32">
            <a:extLst>
              <a:ext uri="{FF2B5EF4-FFF2-40B4-BE49-F238E27FC236}">
                <a16:creationId xmlns:a16="http://schemas.microsoft.com/office/drawing/2014/main" id="{28BF628B-1DDF-4FF3-8261-13D651D9DDEA}"/>
              </a:ext>
            </a:extLst>
          </p:cNvPr>
          <p:cNvGrpSpPr/>
          <p:nvPr/>
        </p:nvGrpSpPr>
        <p:grpSpPr>
          <a:xfrm>
            <a:off x="7707510" y="2399380"/>
            <a:ext cx="137162" cy="1511157"/>
            <a:chOff x="2022419" y="-695018"/>
            <a:chExt cx="137162" cy="1766627"/>
          </a:xfrm>
        </p:grpSpPr>
        <p:sp>
          <p:nvSpPr>
            <p:cNvPr id="40" name="Oval 39">
              <a:extLst>
                <a:ext uri="{FF2B5EF4-FFF2-40B4-BE49-F238E27FC236}">
                  <a16:creationId xmlns:a16="http://schemas.microsoft.com/office/drawing/2014/main" id="{565198A6-A6B1-80EC-78D7-CCD9D57EB170}"/>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ADFF9FEE-8F9B-D46C-EB09-B589C01104F1}"/>
                </a:ext>
              </a:extLst>
            </p:cNvPr>
            <p:cNvSpPr/>
            <p:nvPr/>
          </p:nvSpPr>
          <p:spPr>
            <a:xfrm>
              <a:off x="2022419" y="-695018"/>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8" name="Group 47">
            <a:extLst>
              <a:ext uri="{FF2B5EF4-FFF2-40B4-BE49-F238E27FC236}">
                <a16:creationId xmlns:a16="http://schemas.microsoft.com/office/drawing/2014/main" id="{8BA86F47-520B-EFE0-BF14-C8D6A63E6522}"/>
              </a:ext>
            </a:extLst>
          </p:cNvPr>
          <p:cNvGrpSpPr/>
          <p:nvPr/>
        </p:nvGrpSpPr>
        <p:grpSpPr>
          <a:xfrm>
            <a:off x="10486879" y="2387884"/>
            <a:ext cx="1137735" cy="713164"/>
            <a:chOff x="9831859" y="1234459"/>
            <a:chExt cx="1394710" cy="753829"/>
          </a:xfrm>
        </p:grpSpPr>
        <p:sp>
          <p:nvSpPr>
            <p:cNvPr id="49" name="Rectangle 48">
              <a:extLst>
                <a:ext uri="{FF2B5EF4-FFF2-40B4-BE49-F238E27FC236}">
                  <a16:creationId xmlns:a16="http://schemas.microsoft.com/office/drawing/2014/main" id="{FEBC3EFC-A907-1333-555C-B88875604AB8}"/>
                </a:ext>
              </a:extLst>
            </p:cNvPr>
            <p:cNvSpPr/>
            <p:nvPr/>
          </p:nvSpPr>
          <p:spPr>
            <a:xfrm>
              <a:off x="9831859" y="1236922"/>
              <a:ext cx="1342960" cy="75136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DE4D1690-F735-934D-25E7-33E54AD03D3E}"/>
                </a:ext>
              </a:extLst>
            </p:cNvPr>
            <p:cNvSpPr txBox="1"/>
            <p:nvPr/>
          </p:nvSpPr>
          <p:spPr>
            <a:xfrm>
              <a:off x="9839607" y="1234459"/>
              <a:ext cx="449162" cy="276999"/>
            </a:xfrm>
            <a:prstGeom prst="rect">
              <a:avLst/>
            </a:prstGeom>
            <a:noFill/>
          </p:spPr>
          <p:txBody>
            <a:bodyPr wrap="none" rtlCol="0">
              <a:spAutoFit/>
            </a:bodyPr>
            <a:lstStyle/>
            <a:p>
              <a:r>
                <a:rPr lang="en-US" sz="1200" dirty="0"/>
                <a:t>Key</a:t>
              </a:r>
            </a:p>
          </p:txBody>
        </p:sp>
        <p:sp>
          <p:nvSpPr>
            <p:cNvPr id="51" name="Oval 50">
              <a:extLst>
                <a:ext uri="{FF2B5EF4-FFF2-40B4-BE49-F238E27FC236}">
                  <a16:creationId xmlns:a16="http://schemas.microsoft.com/office/drawing/2014/main" id="{645CC2D8-BEE5-8D31-27DD-A479BA793724}"/>
                </a:ext>
              </a:extLst>
            </p:cNvPr>
            <p:cNvSpPr/>
            <p:nvPr/>
          </p:nvSpPr>
          <p:spPr>
            <a:xfrm>
              <a:off x="9993423" y="1774756"/>
              <a:ext cx="112093" cy="9665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D32132B3-3C3B-8CB2-98FA-E647E04CA38F}"/>
                </a:ext>
              </a:extLst>
            </p:cNvPr>
            <p:cNvSpPr/>
            <p:nvPr/>
          </p:nvSpPr>
          <p:spPr>
            <a:xfrm>
              <a:off x="9993423" y="1569339"/>
              <a:ext cx="112093" cy="966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extLst>
                <a:ext uri="{FF2B5EF4-FFF2-40B4-BE49-F238E27FC236}">
                  <a16:creationId xmlns:a16="http://schemas.microsoft.com/office/drawing/2014/main" id="{90CB19EB-7330-18AD-1E2D-4ED25E7DE926}"/>
                </a:ext>
              </a:extLst>
            </p:cNvPr>
            <p:cNvSpPr txBox="1"/>
            <p:nvPr/>
          </p:nvSpPr>
          <p:spPr>
            <a:xfrm>
              <a:off x="10190823" y="1479167"/>
              <a:ext cx="647764" cy="292794"/>
            </a:xfrm>
            <a:prstGeom prst="rect">
              <a:avLst/>
            </a:prstGeom>
            <a:noFill/>
          </p:spPr>
          <p:txBody>
            <a:bodyPr wrap="none" rtlCol="0">
              <a:spAutoFit/>
            </a:bodyPr>
            <a:lstStyle/>
            <a:p>
              <a:r>
                <a:rPr lang="en-US" sz="1200" dirty="0"/>
                <a:t>Train</a:t>
              </a:r>
            </a:p>
          </p:txBody>
        </p:sp>
        <p:sp>
          <p:nvSpPr>
            <p:cNvPr id="54" name="TextBox 53">
              <a:extLst>
                <a:ext uri="{FF2B5EF4-FFF2-40B4-BE49-F238E27FC236}">
                  <a16:creationId xmlns:a16="http://schemas.microsoft.com/office/drawing/2014/main" id="{B14FCB34-79E6-4BB5-154B-7015C20372AD}"/>
                </a:ext>
              </a:extLst>
            </p:cNvPr>
            <p:cNvSpPr txBox="1"/>
            <p:nvPr/>
          </p:nvSpPr>
          <p:spPr>
            <a:xfrm>
              <a:off x="10190822" y="1684584"/>
              <a:ext cx="1035747" cy="292794"/>
            </a:xfrm>
            <a:prstGeom prst="rect">
              <a:avLst/>
            </a:prstGeom>
            <a:noFill/>
          </p:spPr>
          <p:txBody>
            <a:bodyPr wrap="none" rtlCol="0">
              <a:spAutoFit/>
            </a:bodyPr>
            <a:lstStyle/>
            <a:p>
              <a:r>
                <a:rPr lang="en-US" sz="1200" dirty="0"/>
                <a:t>Validation</a:t>
              </a:r>
            </a:p>
          </p:txBody>
        </p:sp>
      </p:grpSp>
    </p:spTree>
    <p:extLst>
      <p:ext uri="{BB962C8B-B14F-4D97-AF65-F5344CB8AC3E}">
        <p14:creationId xmlns:p14="http://schemas.microsoft.com/office/powerpoint/2010/main" val="2013381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225521-20DE-0CC9-6FA0-443F31CDAFC6}"/>
              </a:ext>
            </a:extLst>
          </p:cNvPr>
          <p:cNvGrpSpPr/>
          <p:nvPr/>
        </p:nvGrpSpPr>
        <p:grpSpPr>
          <a:xfrm>
            <a:off x="1295400" y="1447800"/>
            <a:ext cx="8799910" cy="5064677"/>
            <a:chOff x="109215" y="597876"/>
            <a:chExt cx="10264066" cy="6098236"/>
          </a:xfrm>
        </p:grpSpPr>
        <p:pic>
          <p:nvPicPr>
            <p:cNvPr id="305" name="Picture 304">
              <a:extLst>
                <a:ext uri="{FF2B5EF4-FFF2-40B4-BE49-F238E27FC236}">
                  <a16:creationId xmlns:a16="http://schemas.microsoft.com/office/drawing/2014/main" id="{00B3A36D-74FE-191C-4745-C3CF619DD1C9}"/>
                </a:ext>
              </a:extLst>
            </p:cNvPr>
            <p:cNvPicPr>
              <a:picLocks noChangeAspect="1"/>
            </p:cNvPicPr>
            <p:nvPr/>
          </p:nvPicPr>
          <p:blipFill rotWithShape="1">
            <a:blip r:embed="rId3"/>
            <a:srcRect l="1" t="20000" r="23527" b="13333"/>
            <a:stretch/>
          </p:blipFill>
          <p:spPr>
            <a:xfrm>
              <a:off x="1275107" y="4887551"/>
              <a:ext cx="6992595" cy="1524000"/>
            </a:xfrm>
            <a:prstGeom prst="rect">
              <a:avLst/>
            </a:prstGeom>
          </p:spPr>
        </p:pic>
        <p:sp>
          <p:nvSpPr>
            <p:cNvPr id="306" name="TextBox 305">
              <a:extLst>
                <a:ext uri="{FF2B5EF4-FFF2-40B4-BE49-F238E27FC236}">
                  <a16:creationId xmlns:a16="http://schemas.microsoft.com/office/drawing/2014/main" id="{D16D87F7-5033-1E1C-B7CD-F77A6F7877E5}"/>
                </a:ext>
              </a:extLst>
            </p:cNvPr>
            <p:cNvSpPr txBox="1"/>
            <p:nvPr/>
          </p:nvSpPr>
          <p:spPr>
            <a:xfrm>
              <a:off x="109215" y="4343402"/>
              <a:ext cx="1043865" cy="592937"/>
            </a:xfrm>
            <a:prstGeom prst="rect">
              <a:avLst/>
            </a:prstGeom>
            <a:noFill/>
          </p:spPr>
          <p:txBody>
            <a:bodyPr wrap="square" rtlCol="0">
              <a:spAutoFit/>
            </a:bodyPr>
            <a:lstStyle/>
            <a:p>
              <a:pPr algn="r"/>
              <a:r>
                <a:rPr lang="en-US" sz="1300" dirty="0"/>
                <a:t>Bias</a:t>
              </a:r>
            </a:p>
            <a:p>
              <a:pPr algn="r"/>
              <a:r>
                <a:rPr lang="en-US" sz="1300" dirty="0"/>
                <a:t>Variance</a:t>
              </a:r>
            </a:p>
          </p:txBody>
        </p:sp>
        <p:sp>
          <p:nvSpPr>
            <p:cNvPr id="307" name="TextBox 306">
              <a:extLst>
                <a:ext uri="{FF2B5EF4-FFF2-40B4-BE49-F238E27FC236}">
                  <a16:creationId xmlns:a16="http://schemas.microsoft.com/office/drawing/2014/main" id="{4AD4356E-785E-2644-2CD1-72CE6BD2B6FE}"/>
                </a:ext>
              </a:extLst>
            </p:cNvPr>
            <p:cNvSpPr txBox="1"/>
            <p:nvPr/>
          </p:nvSpPr>
          <p:spPr>
            <a:xfrm>
              <a:off x="1762680"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8" name="TextBox 307">
              <a:extLst>
                <a:ext uri="{FF2B5EF4-FFF2-40B4-BE49-F238E27FC236}">
                  <a16:creationId xmlns:a16="http://schemas.microsoft.com/office/drawing/2014/main" id="{D93A624A-8E3B-4106-70DA-A7240259A162}"/>
                </a:ext>
              </a:extLst>
            </p:cNvPr>
            <p:cNvSpPr txBox="1"/>
            <p:nvPr/>
          </p:nvSpPr>
          <p:spPr>
            <a:xfrm>
              <a:off x="3591481"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9" name="TextBox 308">
              <a:extLst>
                <a:ext uri="{FF2B5EF4-FFF2-40B4-BE49-F238E27FC236}">
                  <a16:creationId xmlns:a16="http://schemas.microsoft.com/office/drawing/2014/main" id="{9A3B7FD2-D3F3-0EBC-9FE5-52BCBEDA1851}"/>
                </a:ext>
              </a:extLst>
            </p:cNvPr>
            <p:cNvSpPr txBox="1"/>
            <p:nvPr/>
          </p:nvSpPr>
          <p:spPr>
            <a:xfrm>
              <a:off x="5420282" y="4343401"/>
              <a:ext cx="838201" cy="592937"/>
            </a:xfrm>
            <a:prstGeom prst="rect">
              <a:avLst/>
            </a:prstGeom>
            <a:noFill/>
          </p:spPr>
          <p:txBody>
            <a:bodyPr wrap="square" rtlCol="0">
              <a:spAutoFit/>
            </a:bodyPr>
            <a:lstStyle/>
            <a:p>
              <a:pPr algn="ctr"/>
              <a:r>
                <a:rPr lang="en-US" sz="1300" dirty="0"/>
                <a:t>Low</a:t>
              </a:r>
            </a:p>
            <a:p>
              <a:pPr algn="ctr"/>
              <a:r>
                <a:rPr lang="en-US" sz="1300" dirty="0"/>
                <a:t>Low</a:t>
              </a:r>
            </a:p>
          </p:txBody>
        </p:sp>
        <p:sp>
          <p:nvSpPr>
            <p:cNvPr id="310" name="TextBox 309">
              <a:extLst>
                <a:ext uri="{FF2B5EF4-FFF2-40B4-BE49-F238E27FC236}">
                  <a16:creationId xmlns:a16="http://schemas.microsoft.com/office/drawing/2014/main" id="{9A1CD7F5-3B84-5FCD-0C2D-05B0DF56A432}"/>
                </a:ext>
              </a:extLst>
            </p:cNvPr>
            <p:cNvSpPr txBox="1"/>
            <p:nvPr/>
          </p:nvSpPr>
          <p:spPr>
            <a:xfrm>
              <a:off x="7249083"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sp>
          <p:nvSpPr>
            <p:cNvPr id="311" name="TextBox 310">
              <a:extLst>
                <a:ext uri="{FF2B5EF4-FFF2-40B4-BE49-F238E27FC236}">
                  <a16:creationId xmlns:a16="http://schemas.microsoft.com/office/drawing/2014/main" id="{3C2102B6-3ADC-8D41-1855-5D2468B787CB}"/>
                </a:ext>
              </a:extLst>
            </p:cNvPr>
            <p:cNvSpPr txBox="1"/>
            <p:nvPr/>
          </p:nvSpPr>
          <p:spPr>
            <a:xfrm>
              <a:off x="9077884"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cxnSp>
          <p:nvCxnSpPr>
            <p:cNvPr id="97" name="Straight Connector 96">
              <a:extLst>
                <a:ext uri="{FF2B5EF4-FFF2-40B4-BE49-F238E27FC236}">
                  <a16:creationId xmlns:a16="http://schemas.microsoft.com/office/drawing/2014/main" id="{F3DD4575-AEF4-6933-51D3-D36D778A0279}"/>
                </a:ext>
              </a:extLst>
            </p:cNvPr>
            <p:cNvCxnSpPr>
              <a:cxnSpLocks/>
            </p:cNvCxnSpPr>
            <p:nvPr/>
          </p:nvCxnSpPr>
          <p:spPr>
            <a:xfrm>
              <a:off x="1320935" y="597876"/>
              <a:ext cx="0" cy="3057063"/>
            </a:xfrm>
            <a:prstGeom prst="line">
              <a:avLst/>
            </a:prstGeom>
            <a:ln w="19050"/>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D11FDF47-7A36-09CC-D470-EBD64FD2624F}"/>
                </a:ext>
              </a:extLst>
            </p:cNvPr>
            <p:cNvCxnSpPr>
              <a:cxnSpLocks/>
            </p:cNvCxnSpPr>
            <p:nvPr/>
          </p:nvCxnSpPr>
          <p:spPr>
            <a:xfrm flipH="1" flipV="1">
              <a:off x="1320935" y="3654939"/>
              <a:ext cx="9052346" cy="18644"/>
            </a:xfrm>
            <a:prstGeom prst="line">
              <a:avLst/>
            </a:prstGeom>
            <a:ln w="19050"/>
          </p:spPr>
          <p:style>
            <a:lnRef idx="1">
              <a:schemeClr val="dk1"/>
            </a:lnRef>
            <a:fillRef idx="0">
              <a:schemeClr val="dk1"/>
            </a:fillRef>
            <a:effectRef idx="0">
              <a:schemeClr val="dk1"/>
            </a:effectRef>
            <a:fontRef idx="minor">
              <a:schemeClr val="tx1"/>
            </a:fontRef>
          </p:style>
        </p:cxnSp>
        <p:sp>
          <p:nvSpPr>
            <p:cNvPr id="99" name="TextBox 98">
              <a:extLst>
                <a:ext uri="{FF2B5EF4-FFF2-40B4-BE49-F238E27FC236}">
                  <a16:creationId xmlns:a16="http://schemas.microsoft.com/office/drawing/2014/main" id="{8D8B84C0-9CB3-D7F2-637B-2F00275A98B0}"/>
                </a:ext>
              </a:extLst>
            </p:cNvPr>
            <p:cNvSpPr txBox="1"/>
            <p:nvPr/>
          </p:nvSpPr>
          <p:spPr>
            <a:xfrm>
              <a:off x="375857" y="1983127"/>
              <a:ext cx="777222" cy="352056"/>
            </a:xfrm>
            <a:prstGeom prst="rect">
              <a:avLst/>
            </a:prstGeom>
            <a:noFill/>
          </p:spPr>
          <p:txBody>
            <a:bodyPr wrap="square" rtlCol="0">
              <a:spAutoFit/>
            </a:bodyPr>
            <a:lstStyle/>
            <a:p>
              <a:pPr algn="r"/>
              <a:r>
                <a:rPr lang="en-US" sz="1300" b="1" dirty="0"/>
                <a:t>MSE</a:t>
              </a:r>
            </a:p>
          </p:txBody>
        </p:sp>
        <p:sp>
          <p:nvSpPr>
            <p:cNvPr id="100" name="TextBox 99">
              <a:extLst>
                <a:ext uri="{FF2B5EF4-FFF2-40B4-BE49-F238E27FC236}">
                  <a16:creationId xmlns:a16="http://schemas.microsoft.com/office/drawing/2014/main" id="{A128E684-2B61-7BDD-643A-DB8EB340695D}"/>
                </a:ext>
              </a:extLst>
            </p:cNvPr>
            <p:cNvSpPr txBox="1"/>
            <p:nvPr/>
          </p:nvSpPr>
          <p:spPr>
            <a:xfrm>
              <a:off x="8597619" y="3700697"/>
              <a:ext cx="1775662" cy="352056"/>
            </a:xfrm>
            <a:prstGeom prst="rect">
              <a:avLst/>
            </a:prstGeom>
            <a:noFill/>
          </p:spPr>
          <p:txBody>
            <a:bodyPr wrap="square" rtlCol="0">
              <a:spAutoFit/>
            </a:bodyPr>
            <a:lstStyle/>
            <a:p>
              <a:pPr algn="r"/>
              <a:r>
                <a:rPr lang="en-US" sz="1300" b="1" dirty="0"/>
                <a:t>Too Complicated</a:t>
              </a:r>
            </a:p>
          </p:txBody>
        </p:sp>
        <p:sp>
          <p:nvSpPr>
            <p:cNvPr id="101" name="TextBox 100">
              <a:extLst>
                <a:ext uri="{FF2B5EF4-FFF2-40B4-BE49-F238E27FC236}">
                  <a16:creationId xmlns:a16="http://schemas.microsoft.com/office/drawing/2014/main" id="{643BF72C-5D7E-A58A-B751-05226572E777}"/>
                </a:ext>
              </a:extLst>
            </p:cNvPr>
            <p:cNvSpPr txBox="1"/>
            <p:nvPr/>
          </p:nvSpPr>
          <p:spPr>
            <a:xfrm>
              <a:off x="4913451" y="3700697"/>
              <a:ext cx="1775661" cy="352056"/>
            </a:xfrm>
            <a:prstGeom prst="rect">
              <a:avLst/>
            </a:prstGeom>
            <a:noFill/>
          </p:spPr>
          <p:txBody>
            <a:bodyPr wrap="square" rtlCol="0">
              <a:spAutoFit/>
            </a:bodyPr>
            <a:lstStyle/>
            <a:p>
              <a:pPr algn="ctr"/>
              <a:r>
                <a:rPr lang="en-US" sz="1300" b="1" dirty="0"/>
                <a:t>True Complexity</a:t>
              </a:r>
            </a:p>
          </p:txBody>
        </p:sp>
        <p:sp>
          <p:nvSpPr>
            <p:cNvPr id="102" name="TextBox 101">
              <a:extLst>
                <a:ext uri="{FF2B5EF4-FFF2-40B4-BE49-F238E27FC236}">
                  <a16:creationId xmlns:a16="http://schemas.microsoft.com/office/drawing/2014/main" id="{E4019855-B95A-D0E4-3782-5388188769EF}"/>
                </a:ext>
              </a:extLst>
            </p:cNvPr>
            <p:cNvSpPr txBox="1"/>
            <p:nvPr/>
          </p:nvSpPr>
          <p:spPr>
            <a:xfrm>
              <a:off x="1320935" y="3700697"/>
              <a:ext cx="2609654" cy="352056"/>
            </a:xfrm>
            <a:prstGeom prst="rect">
              <a:avLst/>
            </a:prstGeom>
            <a:noFill/>
          </p:spPr>
          <p:txBody>
            <a:bodyPr wrap="square" rtlCol="0">
              <a:spAutoFit/>
            </a:bodyPr>
            <a:lstStyle/>
            <a:p>
              <a:r>
                <a:rPr lang="en-US" sz="1300" b="1" dirty="0"/>
                <a:t>Not Complicated Enough</a:t>
              </a:r>
            </a:p>
          </p:txBody>
        </p:sp>
        <p:sp>
          <p:nvSpPr>
            <p:cNvPr id="34" name="TextBox 33">
              <a:extLst>
                <a:ext uri="{FF2B5EF4-FFF2-40B4-BE49-F238E27FC236}">
                  <a16:creationId xmlns:a16="http://schemas.microsoft.com/office/drawing/2014/main" id="{FE441A46-2EEB-DE96-4BD1-69E01A03A37C}"/>
                </a:ext>
              </a:extLst>
            </p:cNvPr>
            <p:cNvSpPr txBox="1"/>
            <p:nvPr/>
          </p:nvSpPr>
          <p:spPr>
            <a:xfrm>
              <a:off x="1582261" y="6344056"/>
              <a:ext cx="1199037" cy="352056"/>
            </a:xfrm>
            <a:prstGeom prst="rect">
              <a:avLst/>
            </a:prstGeom>
            <a:noFill/>
          </p:spPr>
          <p:txBody>
            <a:bodyPr wrap="square" rtlCol="0">
              <a:spAutoFit/>
            </a:bodyPr>
            <a:lstStyle/>
            <a:p>
              <a:pPr algn="ctr"/>
              <a:r>
                <a:rPr lang="en-US" sz="1300" dirty="0"/>
                <a:t>Scenario 1</a:t>
              </a:r>
            </a:p>
          </p:txBody>
        </p:sp>
        <p:sp>
          <p:nvSpPr>
            <p:cNvPr id="35" name="TextBox 34">
              <a:extLst>
                <a:ext uri="{FF2B5EF4-FFF2-40B4-BE49-F238E27FC236}">
                  <a16:creationId xmlns:a16="http://schemas.microsoft.com/office/drawing/2014/main" id="{0085BC41-94C3-FF27-8D69-93A34466A2FD}"/>
                </a:ext>
              </a:extLst>
            </p:cNvPr>
            <p:cNvSpPr txBox="1"/>
            <p:nvPr/>
          </p:nvSpPr>
          <p:spPr>
            <a:xfrm>
              <a:off x="3411062" y="6344055"/>
              <a:ext cx="1199037" cy="352056"/>
            </a:xfrm>
            <a:prstGeom prst="rect">
              <a:avLst/>
            </a:prstGeom>
            <a:noFill/>
          </p:spPr>
          <p:txBody>
            <a:bodyPr wrap="square" rtlCol="0">
              <a:spAutoFit/>
            </a:bodyPr>
            <a:lstStyle/>
            <a:p>
              <a:pPr algn="ctr"/>
              <a:r>
                <a:rPr lang="en-US" sz="1300" dirty="0"/>
                <a:t>Scenario 2</a:t>
              </a:r>
            </a:p>
          </p:txBody>
        </p:sp>
        <p:sp>
          <p:nvSpPr>
            <p:cNvPr id="36" name="TextBox 35">
              <a:extLst>
                <a:ext uri="{FF2B5EF4-FFF2-40B4-BE49-F238E27FC236}">
                  <a16:creationId xmlns:a16="http://schemas.microsoft.com/office/drawing/2014/main" id="{D3300674-D71E-AA7C-061F-843B4EE655FA}"/>
                </a:ext>
              </a:extLst>
            </p:cNvPr>
            <p:cNvSpPr txBox="1"/>
            <p:nvPr/>
          </p:nvSpPr>
          <p:spPr>
            <a:xfrm>
              <a:off x="5201762" y="6344055"/>
              <a:ext cx="1199037" cy="352056"/>
            </a:xfrm>
            <a:prstGeom prst="rect">
              <a:avLst/>
            </a:prstGeom>
            <a:noFill/>
          </p:spPr>
          <p:txBody>
            <a:bodyPr wrap="square" rtlCol="0">
              <a:spAutoFit/>
            </a:bodyPr>
            <a:lstStyle/>
            <a:p>
              <a:pPr algn="ctr"/>
              <a:r>
                <a:rPr lang="en-US" sz="1300" dirty="0"/>
                <a:t>Scenario 3</a:t>
              </a:r>
            </a:p>
          </p:txBody>
        </p:sp>
        <p:sp>
          <p:nvSpPr>
            <p:cNvPr id="37" name="TextBox 36">
              <a:extLst>
                <a:ext uri="{FF2B5EF4-FFF2-40B4-BE49-F238E27FC236}">
                  <a16:creationId xmlns:a16="http://schemas.microsoft.com/office/drawing/2014/main" id="{CFD08B03-B4F2-049B-9313-0B0901135D03}"/>
                </a:ext>
              </a:extLst>
            </p:cNvPr>
            <p:cNvSpPr txBox="1"/>
            <p:nvPr/>
          </p:nvSpPr>
          <p:spPr>
            <a:xfrm>
              <a:off x="7068665" y="6344055"/>
              <a:ext cx="1199037" cy="352056"/>
            </a:xfrm>
            <a:prstGeom prst="rect">
              <a:avLst/>
            </a:prstGeom>
            <a:noFill/>
          </p:spPr>
          <p:txBody>
            <a:bodyPr wrap="square" rtlCol="0">
              <a:spAutoFit/>
            </a:bodyPr>
            <a:lstStyle/>
            <a:p>
              <a:pPr algn="ctr"/>
              <a:r>
                <a:rPr lang="en-US" sz="1300" dirty="0"/>
                <a:t>Scenario 4</a:t>
              </a:r>
            </a:p>
          </p:txBody>
        </p:sp>
        <p:sp>
          <p:nvSpPr>
            <p:cNvPr id="38" name="TextBox 37">
              <a:extLst>
                <a:ext uri="{FF2B5EF4-FFF2-40B4-BE49-F238E27FC236}">
                  <a16:creationId xmlns:a16="http://schemas.microsoft.com/office/drawing/2014/main" id="{28A560D3-00E5-1055-89C5-1FAD538D57EF}"/>
                </a:ext>
              </a:extLst>
            </p:cNvPr>
            <p:cNvSpPr txBox="1"/>
            <p:nvPr/>
          </p:nvSpPr>
          <p:spPr>
            <a:xfrm>
              <a:off x="8885931" y="6344055"/>
              <a:ext cx="1199037" cy="352056"/>
            </a:xfrm>
            <a:prstGeom prst="rect">
              <a:avLst/>
            </a:prstGeom>
            <a:noFill/>
          </p:spPr>
          <p:txBody>
            <a:bodyPr wrap="square" rtlCol="0">
              <a:spAutoFit/>
            </a:bodyPr>
            <a:lstStyle/>
            <a:p>
              <a:pPr algn="ctr"/>
              <a:r>
                <a:rPr lang="en-US" sz="1300" dirty="0"/>
                <a:t>Scenario 5</a:t>
              </a:r>
            </a:p>
          </p:txBody>
        </p:sp>
      </p:grpSp>
      <p:sp>
        <p:nvSpPr>
          <p:cNvPr id="3" name="Title 2">
            <a:extLst>
              <a:ext uri="{FF2B5EF4-FFF2-40B4-BE49-F238E27FC236}">
                <a16:creationId xmlns:a16="http://schemas.microsoft.com/office/drawing/2014/main" id="{D30270BC-3724-D6F1-565F-E661D800AB6F}"/>
              </a:ext>
            </a:extLst>
          </p:cNvPr>
          <p:cNvSpPr>
            <a:spLocks noGrp="1"/>
          </p:cNvSpPr>
          <p:nvPr>
            <p:ph type="title"/>
          </p:nvPr>
        </p:nvSpPr>
        <p:spPr/>
        <p:txBody>
          <a:bodyPr/>
          <a:lstStyle/>
          <a:p>
            <a:r>
              <a:rPr lang="en-US" dirty="0"/>
              <a:t>Putting It All Together</a:t>
            </a:r>
          </a:p>
        </p:txBody>
      </p:sp>
      <p:grpSp>
        <p:nvGrpSpPr>
          <p:cNvPr id="22" name="Group 21">
            <a:extLst>
              <a:ext uri="{FF2B5EF4-FFF2-40B4-BE49-F238E27FC236}">
                <a16:creationId xmlns:a16="http://schemas.microsoft.com/office/drawing/2014/main" id="{3019C190-F9AF-FF78-2057-5339F3925793}"/>
              </a:ext>
            </a:extLst>
          </p:cNvPr>
          <p:cNvGrpSpPr/>
          <p:nvPr/>
        </p:nvGrpSpPr>
        <p:grpSpPr>
          <a:xfrm>
            <a:off x="3003735" y="1547549"/>
            <a:ext cx="137162" cy="274321"/>
            <a:chOff x="2022419" y="750912"/>
            <a:chExt cx="137162" cy="320697"/>
          </a:xfrm>
        </p:grpSpPr>
        <p:sp>
          <p:nvSpPr>
            <p:cNvPr id="23" name="Oval 22">
              <a:extLst>
                <a:ext uri="{FF2B5EF4-FFF2-40B4-BE49-F238E27FC236}">
                  <a16:creationId xmlns:a16="http://schemas.microsoft.com/office/drawing/2014/main" id="{C7B16A89-3997-B657-06B5-799674DB2333}"/>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EDD9004C-C238-B616-D61E-713AA02B440B}"/>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 name="Group 24">
            <a:extLst>
              <a:ext uri="{FF2B5EF4-FFF2-40B4-BE49-F238E27FC236}">
                <a16:creationId xmlns:a16="http://schemas.microsoft.com/office/drawing/2014/main" id="{BEFE4508-0BA9-92CD-514B-0FF27534A126}"/>
              </a:ext>
            </a:extLst>
          </p:cNvPr>
          <p:cNvGrpSpPr/>
          <p:nvPr/>
        </p:nvGrpSpPr>
        <p:grpSpPr>
          <a:xfrm>
            <a:off x="4571660" y="2392679"/>
            <a:ext cx="137162" cy="274321"/>
            <a:chOff x="2022419" y="750912"/>
            <a:chExt cx="137162" cy="320697"/>
          </a:xfrm>
        </p:grpSpPr>
        <p:sp>
          <p:nvSpPr>
            <p:cNvPr id="26" name="Oval 25">
              <a:extLst>
                <a:ext uri="{FF2B5EF4-FFF2-40B4-BE49-F238E27FC236}">
                  <a16:creationId xmlns:a16="http://schemas.microsoft.com/office/drawing/2014/main" id="{0FE4543D-FFFC-3188-C520-451F18B8F0FE}"/>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43BC42A9-4B65-845C-6715-0D14766317D9}"/>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0" name="Group 29">
            <a:extLst>
              <a:ext uri="{FF2B5EF4-FFF2-40B4-BE49-F238E27FC236}">
                <a16:creationId xmlns:a16="http://schemas.microsoft.com/office/drawing/2014/main" id="{E6AA10F5-21F1-3285-A328-C8C954D47C73}"/>
              </a:ext>
            </a:extLst>
          </p:cNvPr>
          <p:cNvGrpSpPr/>
          <p:nvPr/>
        </p:nvGrpSpPr>
        <p:grpSpPr>
          <a:xfrm>
            <a:off x="6106919" y="3558407"/>
            <a:ext cx="137162" cy="274321"/>
            <a:chOff x="2022419" y="750912"/>
            <a:chExt cx="137162" cy="320697"/>
          </a:xfrm>
        </p:grpSpPr>
        <p:sp>
          <p:nvSpPr>
            <p:cNvPr id="31" name="Oval 30">
              <a:extLst>
                <a:ext uri="{FF2B5EF4-FFF2-40B4-BE49-F238E27FC236}">
                  <a16:creationId xmlns:a16="http://schemas.microsoft.com/office/drawing/2014/main" id="{A17FE95A-7668-A54A-001E-2585FF47B896}"/>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DA7A1532-7CF0-C448-4F75-03C475B8191F}"/>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3" name="Group 32">
            <a:extLst>
              <a:ext uri="{FF2B5EF4-FFF2-40B4-BE49-F238E27FC236}">
                <a16:creationId xmlns:a16="http://schemas.microsoft.com/office/drawing/2014/main" id="{28BF628B-1DDF-4FF3-8261-13D651D9DDEA}"/>
              </a:ext>
            </a:extLst>
          </p:cNvPr>
          <p:cNvGrpSpPr/>
          <p:nvPr/>
        </p:nvGrpSpPr>
        <p:grpSpPr>
          <a:xfrm>
            <a:off x="7707510" y="2399380"/>
            <a:ext cx="137162" cy="1511157"/>
            <a:chOff x="2022419" y="-695018"/>
            <a:chExt cx="137162" cy="1766627"/>
          </a:xfrm>
        </p:grpSpPr>
        <p:sp>
          <p:nvSpPr>
            <p:cNvPr id="40" name="Oval 39">
              <a:extLst>
                <a:ext uri="{FF2B5EF4-FFF2-40B4-BE49-F238E27FC236}">
                  <a16:creationId xmlns:a16="http://schemas.microsoft.com/office/drawing/2014/main" id="{565198A6-A6B1-80EC-78D7-CCD9D57EB170}"/>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ADFF9FEE-8F9B-D46C-EB09-B589C01104F1}"/>
                </a:ext>
              </a:extLst>
            </p:cNvPr>
            <p:cNvSpPr/>
            <p:nvPr/>
          </p:nvSpPr>
          <p:spPr>
            <a:xfrm>
              <a:off x="2022419" y="-695018"/>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8F11582D-6D94-84EC-6023-138BA3BF2B61}"/>
              </a:ext>
            </a:extLst>
          </p:cNvPr>
          <p:cNvGrpSpPr/>
          <p:nvPr/>
        </p:nvGrpSpPr>
        <p:grpSpPr>
          <a:xfrm>
            <a:off x="9262131" y="1524000"/>
            <a:ext cx="137162" cy="2459804"/>
            <a:chOff x="2022419" y="-1804039"/>
            <a:chExt cx="137162" cy="2875648"/>
          </a:xfrm>
        </p:grpSpPr>
        <p:sp>
          <p:nvSpPr>
            <p:cNvPr id="42" name="Oval 41">
              <a:extLst>
                <a:ext uri="{FF2B5EF4-FFF2-40B4-BE49-F238E27FC236}">
                  <a16:creationId xmlns:a16="http://schemas.microsoft.com/office/drawing/2014/main" id="{6EDFB795-4E75-B683-4F9D-E8D7B977F7FF}"/>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E6797AA7-323D-491E-E25A-ADD654184E60}"/>
                </a:ext>
              </a:extLst>
            </p:cNvPr>
            <p:cNvSpPr/>
            <p:nvPr/>
          </p:nvSpPr>
          <p:spPr>
            <a:xfrm>
              <a:off x="2022419" y="-1804039"/>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1" name="Group 50">
            <a:extLst>
              <a:ext uri="{FF2B5EF4-FFF2-40B4-BE49-F238E27FC236}">
                <a16:creationId xmlns:a16="http://schemas.microsoft.com/office/drawing/2014/main" id="{C989F7D4-84CC-C40B-4F9D-5FF5151320F3}"/>
              </a:ext>
            </a:extLst>
          </p:cNvPr>
          <p:cNvGrpSpPr/>
          <p:nvPr/>
        </p:nvGrpSpPr>
        <p:grpSpPr>
          <a:xfrm>
            <a:off x="10486879" y="2387884"/>
            <a:ext cx="1137735" cy="713164"/>
            <a:chOff x="9831859" y="1234459"/>
            <a:chExt cx="1394710" cy="753829"/>
          </a:xfrm>
        </p:grpSpPr>
        <p:sp>
          <p:nvSpPr>
            <p:cNvPr id="52" name="Rectangle 51">
              <a:extLst>
                <a:ext uri="{FF2B5EF4-FFF2-40B4-BE49-F238E27FC236}">
                  <a16:creationId xmlns:a16="http://schemas.microsoft.com/office/drawing/2014/main" id="{5F2E9EA9-6B94-05C3-9047-AA193EB07C6B}"/>
                </a:ext>
              </a:extLst>
            </p:cNvPr>
            <p:cNvSpPr/>
            <p:nvPr/>
          </p:nvSpPr>
          <p:spPr>
            <a:xfrm>
              <a:off x="9831859" y="1236922"/>
              <a:ext cx="1342960" cy="75136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1C5A964C-125D-708B-2F53-17F7D51F8BBC}"/>
                </a:ext>
              </a:extLst>
            </p:cNvPr>
            <p:cNvSpPr txBox="1"/>
            <p:nvPr/>
          </p:nvSpPr>
          <p:spPr>
            <a:xfrm>
              <a:off x="9839607" y="1234459"/>
              <a:ext cx="449162" cy="276999"/>
            </a:xfrm>
            <a:prstGeom prst="rect">
              <a:avLst/>
            </a:prstGeom>
            <a:noFill/>
          </p:spPr>
          <p:txBody>
            <a:bodyPr wrap="none" rtlCol="0">
              <a:spAutoFit/>
            </a:bodyPr>
            <a:lstStyle/>
            <a:p>
              <a:r>
                <a:rPr lang="en-US" sz="1200" dirty="0"/>
                <a:t>Key</a:t>
              </a:r>
            </a:p>
          </p:txBody>
        </p:sp>
        <p:sp>
          <p:nvSpPr>
            <p:cNvPr id="54" name="Oval 53">
              <a:extLst>
                <a:ext uri="{FF2B5EF4-FFF2-40B4-BE49-F238E27FC236}">
                  <a16:creationId xmlns:a16="http://schemas.microsoft.com/office/drawing/2014/main" id="{25787480-3653-7B74-5E10-0E2A14161BC2}"/>
                </a:ext>
              </a:extLst>
            </p:cNvPr>
            <p:cNvSpPr/>
            <p:nvPr/>
          </p:nvSpPr>
          <p:spPr>
            <a:xfrm>
              <a:off x="9993423" y="1774756"/>
              <a:ext cx="112093" cy="9665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CA17C327-716E-D55F-CC92-7A5E84646F4E}"/>
                </a:ext>
              </a:extLst>
            </p:cNvPr>
            <p:cNvSpPr/>
            <p:nvPr/>
          </p:nvSpPr>
          <p:spPr>
            <a:xfrm>
              <a:off x="9993423" y="1569339"/>
              <a:ext cx="112093" cy="966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TextBox 55">
              <a:extLst>
                <a:ext uri="{FF2B5EF4-FFF2-40B4-BE49-F238E27FC236}">
                  <a16:creationId xmlns:a16="http://schemas.microsoft.com/office/drawing/2014/main" id="{19A40ABD-EEF5-6731-2D2C-B7C17F2EB329}"/>
                </a:ext>
              </a:extLst>
            </p:cNvPr>
            <p:cNvSpPr txBox="1"/>
            <p:nvPr/>
          </p:nvSpPr>
          <p:spPr>
            <a:xfrm>
              <a:off x="10190823" y="1479167"/>
              <a:ext cx="647764" cy="292794"/>
            </a:xfrm>
            <a:prstGeom prst="rect">
              <a:avLst/>
            </a:prstGeom>
            <a:noFill/>
          </p:spPr>
          <p:txBody>
            <a:bodyPr wrap="none" rtlCol="0">
              <a:spAutoFit/>
            </a:bodyPr>
            <a:lstStyle/>
            <a:p>
              <a:r>
                <a:rPr lang="en-US" sz="1200" dirty="0"/>
                <a:t>Train</a:t>
              </a:r>
            </a:p>
          </p:txBody>
        </p:sp>
        <p:sp>
          <p:nvSpPr>
            <p:cNvPr id="57" name="TextBox 56">
              <a:extLst>
                <a:ext uri="{FF2B5EF4-FFF2-40B4-BE49-F238E27FC236}">
                  <a16:creationId xmlns:a16="http://schemas.microsoft.com/office/drawing/2014/main" id="{224EB524-E0BA-ABAA-E474-9D4CE37194C7}"/>
                </a:ext>
              </a:extLst>
            </p:cNvPr>
            <p:cNvSpPr txBox="1"/>
            <p:nvPr/>
          </p:nvSpPr>
          <p:spPr>
            <a:xfrm>
              <a:off x="10190822" y="1684584"/>
              <a:ext cx="1035747" cy="292794"/>
            </a:xfrm>
            <a:prstGeom prst="rect">
              <a:avLst/>
            </a:prstGeom>
            <a:noFill/>
          </p:spPr>
          <p:txBody>
            <a:bodyPr wrap="none" rtlCol="0">
              <a:spAutoFit/>
            </a:bodyPr>
            <a:lstStyle/>
            <a:p>
              <a:r>
                <a:rPr lang="en-US" sz="1200" dirty="0"/>
                <a:t>Validation</a:t>
              </a:r>
            </a:p>
          </p:txBody>
        </p:sp>
      </p:grpSp>
    </p:spTree>
    <p:extLst>
      <p:ext uri="{BB962C8B-B14F-4D97-AF65-F5344CB8AC3E}">
        <p14:creationId xmlns:p14="http://schemas.microsoft.com/office/powerpoint/2010/main" val="9014194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225521-20DE-0CC9-6FA0-443F31CDAFC6}"/>
              </a:ext>
            </a:extLst>
          </p:cNvPr>
          <p:cNvGrpSpPr/>
          <p:nvPr/>
        </p:nvGrpSpPr>
        <p:grpSpPr>
          <a:xfrm>
            <a:off x="1295400" y="1447800"/>
            <a:ext cx="8799910" cy="5064677"/>
            <a:chOff x="109215" y="597876"/>
            <a:chExt cx="10264066" cy="6098236"/>
          </a:xfrm>
        </p:grpSpPr>
        <p:pic>
          <p:nvPicPr>
            <p:cNvPr id="305" name="Picture 304">
              <a:extLst>
                <a:ext uri="{FF2B5EF4-FFF2-40B4-BE49-F238E27FC236}">
                  <a16:creationId xmlns:a16="http://schemas.microsoft.com/office/drawing/2014/main" id="{00B3A36D-74FE-191C-4745-C3CF619DD1C9}"/>
                </a:ext>
              </a:extLst>
            </p:cNvPr>
            <p:cNvPicPr>
              <a:picLocks noChangeAspect="1"/>
            </p:cNvPicPr>
            <p:nvPr/>
          </p:nvPicPr>
          <p:blipFill rotWithShape="1">
            <a:blip r:embed="rId3"/>
            <a:srcRect l="1" t="20000" r="1001" b="13333"/>
            <a:stretch/>
          </p:blipFill>
          <p:spPr>
            <a:xfrm>
              <a:off x="1275106" y="4887551"/>
              <a:ext cx="9052337" cy="1524000"/>
            </a:xfrm>
            <a:prstGeom prst="rect">
              <a:avLst/>
            </a:prstGeom>
          </p:spPr>
        </p:pic>
        <p:sp>
          <p:nvSpPr>
            <p:cNvPr id="306" name="TextBox 305">
              <a:extLst>
                <a:ext uri="{FF2B5EF4-FFF2-40B4-BE49-F238E27FC236}">
                  <a16:creationId xmlns:a16="http://schemas.microsoft.com/office/drawing/2014/main" id="{D16D87F7-5033-1E1C-B7CD-F77A6F7877E5}"/>
                </a:ext>
              </a:extLst>
            </p:cNvPr>
            <p:cNvSpPr txBox="1"/>
            <p:nvPr/>
          </p:nvSpPr>
          <p:spPr>
            <a:xfrm>
              <a:off x="109215" y="4343402"/>
              <a:ext cx="1043865" cy="592937"/>
            </a:xfrm>
            <a:prstGeom prst="rect">
              <a:avLst/>
            </a:prstGeom>
            <a:noFill/>
          </p:spPr>
          <p:txBody>
            <a:bodyPr wrap="square" rtlCol="0">
              <a:spAutoFit/>
            </a:bodyPr>
            <a:lstStyle/>
            <a:p>
              <a:pPr algn="r"/>
              <a:r>
                <a:rPr lang="en-US" sz="1300" dirty="0"/>
                <a:t>Bias</a:t>
              </a:r>
            </a:p>
            <a:p>
              <a:pPr algn="r"/>
              <a:r>
                <a:rPr lang="en-US" sz="1300" dirty="0"/>
                <a:t>Variance</a:t>
              </a:r>
            </a:p>
          </p:txBody>
        </p:sp>
        <p:sp>
          <p:nvSpPr>
            <p:cNvPr id="307" name="TextBox 306">
              <a:extLst>
                <a:ext uri="{FF2B5EF4-FFF2-40B4-BE49-F238E27FC236}">
                  <a16:creationId xmlns:a16="http://schemas.microsoft.com/office/drawing/2014/main" id="{4AD4356E-785E-2644-2CD1-72CE6BD2B6FE}"/>
                </a:ext>
              </a:extLst>
            </p:cNvPr>
            <p:cNvSpPr txBox="1"/>
            <p:nvPr/>
          </p:nvSpPr>
          <p:spPr>
            <a:xfrm>
              <a:off x="1762680"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8" name="TextBox 307">
              <a:extLst>
                <a:ext uri="{FF2B5EF4-FFF2-40B4-BE49-F238E27FC236}">
                  <a16:creationId xmlns:a16="http://schemas.microsoft.com/office/drawing/2014/main" id="{D93A624A-8E3B-4106-70DA-A7240259A162}"/>
                </a:ext>
              </a:extLst>
            </p:cNvPr>
            <p:cNvSpPr txBox="1"/>
            <p:nvPr/>
          </p:nvSpPr>
          <p:spPr>
            <a:xfrm>
              <a:off x="3591481" y="4343402"/>
              <a:ext cx="838201" cy="592937"/>
            </a:xfrm>
            <a:prstGeom prst="rect">
              <a:avLst/>
            </a:prstGeom>
            <a:noFill/>
          </p:spPr>
          <p:txBody>
            <a:bodyPr wrap="square" rtlCol="0">
              <a:spAutoFit/>
            </a:bodyPr>
            <a:lstStyle/>
            <a:p>
              <a:pPr algn="ctr"/>
              <a:r>
                <a:rPr lang="en-US" sz="1300" dirty="0"/>
                <a:t>High</a:t>
              </a:r>
            </a:p>
            <a:p>
              <a:pPr algn="ctr"/>
              <a:r>
                <a:rPr lang="en-US" sz="1300" dirty="0"/>
                <a:t>Low</a:t>
              </a:r>
            </a:p>
          </p:txBody>
        </p:sp>
        <p:sp>
          <p:nvSpPr>
            <p:cNvPr id="309" name="TextBox 308">
              <a:extLst>
                <a:ext uri="{FF2B5EF4-FFF2-40B4-BE49-F238E27FC236}">
                  <a16:creationId xmlns:a16="http://schemas.microsoft.com/office/drawing/2014/main" id="{9A3B7FD2-D3F3-0EBC-9FE5-52BCBEDA1851}"/>
                </a:ext>
              </a:extLst>
            </p:cNvPr>
            <p:cNvSpPr txBox="1"/>
            <p:nvPr/>
          </p:nvSpPr>
          <p:spPr>
            <a:xfrm>
              <a:off x="5420282" y="4343401"/>
              <a:ext cx="838201" cy="592937"/>
            </a:xfrm>
            <a:prstGeom prst="rect">
              <a:avLst/>
            </a:prstGeom>
            <a:noFill/>
          </p:spPr>
          <p:txBody>
            <a:bodyPr wrap="square" rtlCol="0">
              <a:spAutoFit/>
            </a:bodyPr>
            <a:lstStyle/>
            <a:p>
              <a:pPr algn="ctr"/>
              <a:r>
                <a:rPr lang="en-US" sz="1300" dirty="0"/>
                <a:t>Low</a:t>
              </a:r>
            </a:p>
            <a:p>
              <a:pPr algn="ctr"/>
              <a:r>
                <a:rPr lang="en-US" sz="1300" dirty="0"/>
                <a:t>Low</a:t>
              </a:r>
            </a:p>
          </p:txBody>
        </p:sp>
        <p:sp>
          <p:nvSpPr>
            <p:cNvPr id="310" name="TextBox 309">
              <a:extLst>
                <a:ext uri="{FF2B5EF4-FFF2-40B4-BE49-F238E27FC236}">
                  <a16:creationId xmlns:a16="http://schemas.microsoft.com/office/drawing/2014/main" id="{9A1CD7F5-3B84-5FCD-0C2D-05B0DF56A432}"/>
                </a:ext>
              </a:extLst>
            </p:cNvPr>
            <p:cNvSpPr txBox="1"/>
            <p:nvPr/>
          </p:nvSpPr>
          <p:spPr>
            <a:xfrm>
              <a:off x="7249083"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sp>
          <p:nvSpPr>
            <p:cNvPr id="311" name="TextBox 310">
              <a:extLst>
                <a:ext uri="{FF2B5EF4-FFF2-40B4-BE49-F238E27FC236}">
                  <a16:creationId xmlns:a16="http://schemas.microsoft.com/office/drawing/2014/main" id="{3C2102B6-3ADC-8D41-1855-5D2468B787CB}"/>
                </a:ext>
              </a:extLst>
            </p:cNvPr>
            <p:cNvSpPr txBox="1"/>
            <p:nvPr/>
          </p:nvSpPr>
          <p:spPr>
            <a:xfrm>
              <a:off x="9077884" y="4343399"/>
              <a:ext cx="838201" cy="592937"/>
            </a:xfrm>
            <a:prstGeom prst="rect">
              <a:avLst/>
            </a:prstGeom>
            <a:noFill/>
          </p:spPr>
          <p:txBody>
            <a:bodyPr wrap="square" rtlCol="0">
              <a:spAutoFit/>
            </a:bodyPr>
            <a:lstStyle/>
            <a:p>
              <a:pPr algn="ctr"/>
              <a:r>
                <a:rPr lang="en-US" sz="1300" dirty="0"/>
                <a:t>Low</a:t>
              </a:r>
            </a:p>
            <a:p>
              <a:pPr algn="ctr"/>
              <a:r>
                <a:rPr lang="en-US" sz="1300" dirty="0"/>
                <a:t>High</a:t>
              </a:r>
            </a:p>
          </p:txBody>
        </p:sp>
        <p:cxnSp>
          <p:nvCxnSpPr>
            <p:cNvPr id="97" name="Straight Connector 96">
              <a:extLst>
                <a:ext uri="{FF2B5EF4-FFF2-40B4-BE49-F238E27FC236}">
                  <a16:creationId xmlns:a16="http://schemas.microsoft.com/office/drawing/2014/main" id="{F3DD4575-AEF4-6933-51D3-D36D778A0279}"/>
                </a:ext>
              </a:extLst>
            </p:cNvPr>
            <p:cNvCxnSpPr>
              <a:cxnSpLocks/>
            </p:cNvCxnSpPr>
            <p:nvPr/>
          </p:nvCxnSpPr>
          <p:spPr>
            <a:xfrm>
              <a:off x="1320935" y="597876"/>
              <a:ext cx="0" cy="3057063"/>
            </a:xfrm>
            <a:prstGeom prst="line">
              <a:avLst/>
            </a:prstGeom>
            <a:ln w="19050"/>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D11FDF47-7A36-09CC-D470-EBD64FD2624F}"/>
                </a:ext>
              </a:extLst>
            </p:cNvPr>
            <p:cNvCxnSpPr>
              <a:cxnSpLocks/>
            </p:cNvCxnSpPr>
            <p:nvPr/>
          </p:nvCxnSpPr>
          <p:spPr>
            <a:xfrm flipH="1" flipV="1">
              <a:off x="1320935" y="3654939"/>
              <a:ext cx="9052346" cy="18644"/>
            </a:xfrm>
            <a:prstGeom prst="line">
              <a:avLst/>
            </a:prstGeom>
            <a:ln w="19050"/>
          </p:spPr>
          <p:style>
            <a:lnRef idx="1">
              <a:schemeClr val="dk1"/>
            </a:lnRef>
            <a:fillRef idx="0">
              <a:schemeClr val="dk1"/>
            </a:fillRef>
            <a:effectRef idx="0">
              <a:schemeClr val="dk1"/>
            </a:effectRef>
            <a:fontRef idx="minor">
              <a:schemeClr val="tx1"/>
            </a:fontRef>
          </p:style>
        </p:cxnSp>
        <p:sp>
          <p:nvSpPr>
            <p:cNvPr id="99" name="TextBox 98">
              <a:extLst>
                <a:ext uri="{FF2B5EF4-FFF2-40B4-BE49-F238E27FC236}">
                  <a16:creationId xmlns:a16="http://schemas.microsoft.com/office/drawing/2014/main" id="{8D8B84C0-9CB3-D7F2-637B-2F00275A98B0}"/>
                </a:ext>
              </a:extLst>
            </p:cNvPr>
            <p:cNvSpPr txBox="1"/>
            <p:nvPr/>
          </p:nvSpPr>
          <p:spPr>
            <a:xfrm>
              <a:off x="375857" y="1983127"/>
              <a:ext cx="777222" cy="352056"/>
            </a:xfrm>
            <a:prstGeom prst="rect">
              <a:avLst/>
            </a:prstGeom>
            <a:noFill/>
          </p:spPr>
          <p:txBody>
            <a:bodyPr wrap="square" rtlCol="0">
              <a:spAutoFit/>
            </a:bodyPr>
            <a:lstStyle/>
            <a:p>
              <a:pPr algn="r"/>
              <a:r>
                <a:rPr lang="en-US" sz="1300" b="1" dirty="0"/>
                <a:t>MSE</a:t>
              </a:r>
            </a:p>
          </p:txBody>
        </p:sp>
        <p:sp>
          <p:nvSpPr>
            <p:cNvPr id="100" name="TextBox 99">
              <a:extLst>
                <a:ext uri="{FF2B5EF4-FFF2-40B4-BE49-F238E27FC236}">
                  <a16:creationId xmlns:a16="http://schemas.microsoft.com/office/drawing/2014/main" id="{A128E684-2B61-7BDD-643A-DB8EB340695D}"/>
                </a:ext>
              </a:extLst>
            </p:cNvPr>
            <p:cNvSpPr txBox="1"/>
            <p:nvPr/>
          </p:nvSpPr>
          <p:spPr>
            <a:xfrm>
              <a:off x="8597619" y="3700697"/>
              <a:ext cx="1775662" cy="352056"/>
            </a:xfrm>
            <a:prstGeom prst="rect">
              <a:avLst/>
            </a:prstGeom>
            <a:noFill/>
          </p:spPr>
          <p:txBody>
            <a:bodyPr wrap="square" rtlCol="0">
              <a:spAutoFit/>
            </a:bodyPr>
            <a:lstStyle/>
            <a:p>
              <a:pPr algn="r"/>
              <a:r>
                <a:rPr lang="en-US" sz="1300" b="1" dirty="0"/>
                <a:t>Too Complicated</a:t>
              </a:r>
            </a:p>
          </p:txBody>
        </p:sp>
        <p:sp>
          <p:nvSpPr>
            <p:cNvPr id="101" name="TextBox 100">
              <a:extLst>
                <a:ext uri="{FF2B5EF4-FFF2-40B4-BE49-F238E27FC236}">
                  <a16:creationId xmlns:a16="http://schemas.microsoft.com/office/drawing/2014/main" id="{643BF72C-5D7E-A58A-B751-05226572E777}"/>
                </a:ext>
              </a:extLst>
            </p:cNvPr>
            <p:cNvSpPr txBox="1"/>
            <p:nvPr/>
          </p:nvSpPr>
          <p:spPr>
            <a:xfrm>
              <a:off x="4913451" y="3700697"/>
              <a:ext cx="1775661" cy="352056"/>
            </a:xfrm>
            <a:prstGeom prst="rect">
              <a:avLst/>
            </a:prstGeom>
            <a:noFill/>
          </p:spPr>
          <p:txBody>
            <a:bodyPr wrap="square" rtlCol="0">
              <a:spAutoFit/>
            </a:bodyPr>
            <a:lstStyle/>
            <a:p>
              <a:pPr algn="ctr"/>
              <a:r>
                <a:rPr lang="en-US" sz="1300" b="1" dirty="0"/>
                <a:t>True Complexity</a:t>
              </a:r>
            </a:p>
          </p:txBody>
        </p:sp>
        <p:sp>
          <p:nvSpPr>
            <p:cNvPr id="102" name="TextBox 101">
              <a:extLst>
                <a:ext uri="{FF2B5EF4-FFF2-40B4-BE49-F238E27FC236}">
                  <a16:creationId xmlns:a16="http://schemas.microsoft.com/office/drawing/2014/main" id="{E4019855-B95A-D0E4-3782-5388188769EF}"/>
                </a:ext>
              </a:extLst>
            </p:cNvPr>
            <p:cNvSpPr txBox="1"/>
            <p:nvPr/>
          </p:nvSpPr>
          <p:spPr>
            <a:xfrm>
              <a:off x="1320935" y="3700697"/>
              <a:ext cx="2609654" cy="352056"/>
            </a:xfrm>
            <a:prstGeom prst="rect">
              <a:avLst/>
            </a:prstGeom>
            <a:noFill/>
          </p:spPr>
          <p:txBody>
            <a:bodyPr wrap="square" rtlCol="0">
              <a:spAutoFit/>
            </a:bodyPr>
            <a:lstStyle/>
            <a:p>
              <a:r>
                <a:rPr lang="en-US" sz="1300" b="1" dirty="0"/>
                <a:t>Not Complicated Enough</a:t>
              </a:r>
            </a:p>
          </p:txBody>
        </p:sp>
        <p:sp>
          <p:nvSpPr>
            <p:cNvPr id="34" name="TextBox 33">
              <a:extLst>
                <a:ext uri="{FF2B5EF4-FFF2-40B4-BE49-F238E27FC236}">
                  <a16:creationId xmlns:a16="http://schemas.microsoft.com/office/drawing/2014/main" id="{FE441A46-2EEB-DE96-4BD1-69E01A03A37C}"/>
                </a:ext>
              </a:extLst>
            </p:cNvPr>
            <p:cNvSpPr txBox="1"/>
            <p:nvPr/>
          </p:nvSpPr>
          <p:spPr>
            <a:xfrm>
              <a:off x="1582261" y="6344056"/>
              <a:ext cx="1199037" cy="352056"/>
            </a:xfrm>
            <a:prstGeom prst="rect">
              <a:avLst/>
            </a:prstGeom>
            <a:noFill/>
          </p:spPr>
          <p:txBody>
            <a:bodyPr wrap="square" rtlCol="0">
              <a:spAutoFit/>
            </a:bodyPr>
            <a:lstStyle/>
            <a:p>
              <a:pPr algn="ctr"/>
              <a:r>
                <a:rPr lang="en-US" sz="1300" dirty="0"/>
                <a:t>Scenario 1</a:t>
              </a:r>
            </a:p>
          </p:txBody>
        </p:sp>
        <p:sp>
          <p:nvSpPr>
            <p:cNvPr id="35" name="TextBox 34">
              <a:extLst>
                <a:ext uri="{FF2B5EF4-FFF2-40B4-BE49-F238E27FC236}">
                  <a16:creationId xmlns:a16="http://schemas.microsoft.com/office/drawing/2014/main" id="{0085BC41-94C3-FF27-8D69-93A34466A2FD}"/>
                </a:ext>
              </a:extLst>
            </p:cNvPr>
            <p:cNvSpPr txBox="1"/>
            <p:nvPr/>
          </p:nvSpPr>
          <p:spPr>
            <a:xfrm>
              <a:off x="3411062" y="6344055"/>
              <a:ext cx="1199037" cy="352056"/>
            </a:xfrm>
            <a:prstGeom prst="rect">
              <a:avLst/>
            </a:prstGeom>
            <a:noFill/>
          </p:spPr>
          <p:txBody>
            <a:bodyPr wrap="square" rtlCol="0">
              <a:spAutoFit/>
            </a:bodyPr>
            <a:lstStyle/>
            <a:p>
              <a:pPr algn="ctr"/>
              <a:r>
                <a:rPr lang="en-US" sz="1300" dirty="0"/>
                <a:t>Scenario 2</a:t>
              </a:r>
            </a:p>
          </p:txBody>
        </p:sp>
        <p:sp>
          <p:nvSpPr>
            <p:cNvPr id="36" name="TextBox 35">
              <a:extLst>
                <a:ext uri="{FF2B5EF4-FFF2-40B4-BE49-F238E27FC236}">
                  <a16:creationId xmlns:a16="http://schemas.microsoft.com/office/drawing/2014/main" id="{D3300674-D71E-AA7C-061F-843B4EE655FA}"/>
                </a:ext>
              </a:extLst>
            </p:cNvPr>
            <p:cNvSpPr txBox="1"/>
            <p:nvPr/>
          </p:nvSpPr>
          <p:spPr>
            <a:xfrm>
              <a:off x="5201762" y="6344055"/>
              <a:ext cx="1199037" cy="352056"/>
            </a:xfrm>
            <a:prstGeom prst="rect">
              <a:avLst/>
            </a:prstGeom>
            <a:noFill/>
          </p:spPr>
          <p:txBody>
            <a:bodyPr wrap="square" rtlCol="0">
              <a:spAutoFit/>
            </a:bodyPr>
            <a:lstStyle/>
            <a:p>
              <a:pPr algn="ctr"/>
              <a:r>
                <a:rPr lang="en-US" sz="1300" dirty="0"/>
                <a:t>Scenario 3</a:t>
              </a:r>
            </a:p>
          </p:txBody>
        </p:sp>
        <p:sp>
          <p:nvSpPr>
            <p:cNvPr id="37" name="TextBox 36">
              <a:extLst>
                <a:ext uri="{FF2B5EF4-FFF2-40B4-BE49-F238E27FC236}">
                  <a16:creationId xmlns:a16="http://schemas.microsoft.com/office/drawing/2014/main" id="{CFD08B03-B4F2-049B-9313-0B0901135D03}"/>
                </a:ext>
              </a:extLst>
            </p:cNvPr>
            <p:cNvSpPr txBox="1"/>
            <p:nvPr/>
          </p:nvSpPr>
          <p:spPr>
            <a:xfrm>
              <a:off x="7068665" y="6344055"/>
              <a:ext cx="1199037" cy="352056"/>
            </a:xfrm>
            <a:prstGeom prst="rect">
              <a:avLst/>
            </a:prstGeom>
            <a:noFill/>
          </p:spPr>
          <p:txBody>
            <a:bodyPr wrap="square" rtlCol="0">
              <a:spAutoFit/>
            </a:bodyPr>
            <a:lstStyle/>
            <a:p>
              <a:pPr algn="ctr"/>
              <a:r>
                <a:rPr lang="en-US" sz="1300" dirty="0"/>
                <a:t>Scenario 4</a:t>
              </a:r>
            </a:p>
          </p:txBody>
        </p:sp>
        <p:sp>
          <p:nvSpPr>
            <p:cNvPr id="38" name="TextBox 37">
              <a:extLst>
                <a:ext uri="{FF2B5EF4-FFF2-40B4-BE49-F238E27FC236}">
                  <a16:creationId xmlns:a16="http://schemas.microsoft.com/office/drawing/2014/main" id="{28A560D3-00E5-1055-89C5-1FAD538D57EF}"/>
                </a:ext>
              </a:extLst>
            </p:cNvPr>
            <p:cNvSpPr txBox="1"/>
            <p:nvPr/>
          </p:nvSpPr>
          <p:spPr>
            <a:xfrm>
              <a:off x="8885931" y="6344055"/>
              <a:ext cx="1199037" cy="352056"/>
            </a:xfrm>
            <a:prstGeom prst="rect">
              <a:avLst/>
            </a:prstGeom>
            <a:noFill/>
          </p:spPr>
          <p:txBody>
            <a:bodyPr wrap="square" rtlCol="0">
              <a:spAutoFit/>
            </a:bodyPr>
            <a:lstStyle/>
            <a:p>
              <a:pPr algn="ctr"/>
              <a:r>
                <a:rPr lang="en-US" sz="1300" dirty="0"/>
                <a:t>Scenario 5</a:t>
              </a:r>
            </a:p>
          </p:txBody>
        </p:sp>
      </p:grpSp>
      <p:sp>
        <p:nvSpPr>
          <p:cNvPr id="3" name="Title 2">
            <a:extLst>
              <a:ext uri="{FF2B5EF4-FFF2-40B4-BE49-F238E27FC236}">
                <a16:creationId xmlns:a16="http://schemas.microsoft.com/office/drawing/2014/main" id="{D30270BC-3724-D6F1-565F-E661D800AB6F}"/>
              </a:ext>
            </a:extLst>
          </p:cNvPr>
          <p:cNvSpPr>
            <a:spLocks noGrp="1"/>
          </p:cNvSpPr>
          <p:nvPr>
            <p:ph type="title"/>
          </p:nvPr>
        </p:nvSpPr>
        <p:spPr/>
        <p:txBody>
          <a:bodyPr/>
          <a:lstStyle/>
          <a:p>
            <a:r>
              <a:rPr lang="en-US" dirty="0"/>
              <a:t>Putting It All Together</a:t>
            </a:r>
          </a:p>
        </p:txBody>
      </p:sp>
      <p:grpSp>
        <p:nvGrpSpPr>
          <p:cNvPr id="22" name="Group 21">
            <a:extLst>
              <a:ext uri="{FF2B5EF4-FFF2-40B4-BE49-F238E27FC236}">
                <a16:creationId xmlns:a16="http://schemas.microsoft.com/office/drawing/2014/main" id="{3019C190-F9AF-FF78-2057-5339F3925793}"/>
              </a:ext>
            </a:extLst>
          </p:cNvPr>
          <p:cNvGrpSpPr/>
          <p:nvPr/>
        </p:nvGrpSpPr>
        <p:grpSpPr>
          <a:xfrm>
            <a:off x="3003735" y="1547549"/>
            <a:ext cx="137162" cy="274321"/>
            <a:chOff x="2022419" y="750912"/>
            <a:chExt cx="137162" cy="320697"/>
          </a:xfrm>
        </p:grpSpPr>
        <p:sp>
          <p:nvSpPr>
            <p:cNvPr id="23" name="Oval 22">
              <a:extLst>
                <a:ext uri="{FF2B5EF4-FFF2-40B4-BE49-F238E27FC236}">
                  <a16:creationId xmlns:a16="http://schemas.microsoft.com/office/drawing/2014/main" id="{C7B16A89-3997-B657-06B5-799674DB2333}"/>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EDD9004C-C238-B616-D61E-713AA02B440B}"/>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 name="Group 24">
            <a:extLst>
              <a:ext uri="{FF2B5EF4-FFF2-40B4-BE49-F238E27FC236}">
                <a16:creationId xmlns:a16="http://schemas.microsoft.com/office/drawing/2014/main" id="{BEFE4508-0BA9-92CD-514B-0FF27534A126}"/>
              </a:ext>
            </a:extLst>
          </p:cNvPr>
          <p:cNvGrpSpPr/>
          <p:nvPr/>
        </p:nvGrpSpPr>
        <p:grpSpPr>
          <a:xfrm>
            <a:off x="4571660" y="2392679"/>
            <a:ext cx="137162" cy="274321"/>
            <a:chOff x="2022419" y="750912"/>
            <a:chExt cx="137162" cy="320697"/>
          </a:xfrm>
        </p:grpSpPr>
        <p:sp>
          <p:nvSpPr>
            <p:cNvPr id="26" name="Oval 25">
              <a:extLst>
                <a:ext uri="{FF2B5EF4-FFF2-40B4-BE49-F238E27FC236}">
                  <a16:creationId xmlns:a16="http://schemas.microsoft.com/office/drawing/2014/main" id="{0FE4543D-FFFC-3188-C520-451F18B8F0FE}"/>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43BC42A9-4B65-845C-6715-0D14766317D9}"/>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0" name="Group 29">
            <a:extLst>
              <a:ext uri="{FF2B5EF4-FFF2-40B4-BE49-F238E27FC236}">
                <a16:creationId xmlns:a16="http://schemas.microsoft.com/office/drawing/2014/main" id="{E6AA10F5-21F1-3285-A328-C8C954D47C73}"/>
              </a:ext>
            </a:extLst>
          </p:cNvPr>
          <p:cNvGrpSpPr/>
          <p:nvPr/>
        </p:nvGrpSpPr>
        <p:grpSpPr>
          <a:xfrm>
            <a:off x="6106919" y="3558407"/>
            <a:ext cx="137162" cy="274321"/>
            <a:chOff x="2022419" y="750912"/>
            <a:chExt cx="137162" cy="320697"/>
          </a:xfrm>
        </p:grpSpPr>
        <p:sp>
          <p:nvSpPr>
            <p:cNvPr id="31" name="Oval 30">
              <a:extLst>
                <a:ext uri="{FF2B5EF4-FFF2-40B4-BE49-F238E27FC236}">
                  <a16:creationId xmlns:a16="http://schemas.microsoft.com/office/drawing/2014/main" id="{A17FE95A-7668-A54A-001E-2585FF47B896}"/>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DA7A1532-7CF0-C448-4F75-03C475B8191F}"/>
                </a:ext>
              </a:extLst>
            </p:cNvPr>
            <p:cNvSpPr/>
            <p:nvPr/>
          </p:nvSpPr>
          <p:spPr>
            <a:xfrm>
              <a:off x="2022419" y="750912"/>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3" name="Group 32">
            <a:extLst>
              <a:ext uri="{FF2B5EF4-FFF2-40B4-BE49-F238E27FC236}">
                <a16:creationId xmlns:a16="http://schemas.microsoft.com/office/drawing/2014/main" id="{28BF628B-1DDF-4FF3-8261-13D651D9DDEA}"/>
              </a:ext>
            </a:extLst>
          </p:cNvPr>
          <p:cNvGrpSpPr/>
          <p:nvPr/>
        </p:nvGrpSpPr>
        <p:grpSpPr>
          <a:xfrm>
            <a:off x="7707510" y="2399380"/>
            <a:ext cx="137162" cy="1511157"/>
            <a:chOff x="2022419" y="-695018"/>
            <a:chExt cx="137162" cy="1766627"/>
          </a:xfrm>
        </p:grpSpPr>
        <p:sp>
          <p:nvSpPr>
            <p:cNvPr id="40" name="Oval 39">
              <a:extLst>
                <a:ext uri="{FF2B5EF4-FFF2-40B4-BE49-F238E27FC236}">
                  <a16:creationId xmlns:a16="http://schemas.microsoft.com/office/drawing/2014/main" id="{565198A6-A6B1-80EC-78D7-CCD9D57EB170}"/>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ADFF9FEE-8F9B-D46C-EB09-B589C01104F1}"/>
                </a:ext>
              </a:extLst>
            </p:cNvPr>
            <p:cNvSpPr/>
            <p:nvPr/>
          </p:nvSpPr>
          <p:spPr>
            <a:xfrm>
              <a:off x="2022419" y="-695018"/>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8F11582D-6D94-84EC-6023-138BA3BF2B61}"/>
              </a:ext>
            </a:extLst>
          </p:cNvPr>
          <p:cNvGrpSpPr/>
          <p:nvPr/>
        </p:nvGrpSpPr>
        <p:grpSpPr>
          <a:xfrm>
            <a:off x="9262131" y="1524000"/>
            <a:ext cx="137162" cy="2459804"/>
            <a:chOff x="2022419" y="-1804039"/>
            <a:chExt cx="137162" cy="2875648"/>
          </a:xfrm>
        </p:grpSpPr>
        <p:sp>
          <p:nvSpPr>
            <p:cNvPr id="42" name="Oval 41">
              <a:extLst>
                <a:ext uri="{FF2B5EF4-FFF2-40B4-BE49-F238E27FC236}">
                  <a16:creationId xmlns:a16="http://schemas.microsoft.com/office/drawing/2014/main" id="{6EDFB795-4E75-B683-4F9D-E8D7B977F7FF}"/>
                </a:ext>
              </a:extLst>
            </p:cNvPr>
            <p:cNvSpPr/>
            <p:nvPr/>
          </p:nvSpPr>
          <p:spPr>
            <a:xfrm>
              <a:off x="2022421" y="936910"/>
              <a:ext cx="137160" cy="134699"/>
            </a:xfrm>
            <a:prstGeom prst="ellipse">
              <a:avLst/>
            </a:prstGeom>
            <a:solidFill>
              <a:srgbClr val="34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E6797AA7-323D-491E-E25A-ADD654184E60}"/>
                </a:ext>
              </a:extLst>
            </p:cNvPr>
            <p:cNvSpPr/>
            <p:nvPr/>
          </p:nvSpPr>
          <p:spPr>
            <a:xfrm>
              <a:off x="2022419" y="-1804039"/>
              <a:ext cx="137160" cy="134699"/>
            </a:xfrm>
            <a:prstGeom prst="ellipse">
              <a:avLst/>
            </a:prstGeom>
            <a:solidFill>
              <a:srgbClr val="CC0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1" name="Group 50">
            <a:extLst>
              <a:ext uri="{FF2B5EF4-FFF2-40B4-BE49-F238E27FC236}">
                <a16:creationId xmlns:a16="http://schemas.microsoft.com/office/drawing/2014/main" id="{C775AD42-B798-F051-9890-48D4E54E6F2C}"/>
              </a:ext>
            </a:extLst>
          </p:cNvPr>
          <p:cNvGrpSpPr/>
          <p:nvPr/>
        </p:nvGrpSpPr>
        <p:grpSpPr>
          <a:xfrm>
            <a:off x="10486879" y="2387884"/>
            <a:ext cx="1137735" cy="713164"/>
            <a:chOff x="9831859" y="1234459"/>
            <a:chExt cx="1394710" cy="753829"/>
          </a:xfrm>
        </p:grpSpPr>
        <p:sp>
          <p:nvSpPr>
            <p:cNvPr id="52" name="Rectangle 51">
              <a:extLst>
                <a:ext uri="{FF2B5EF4-FFF2-40B4-BE49-F238E27FC236}">
                  <a16:creationId xmlns:a16="http://schemas.microsoft.com/office/drawing/2014/main" id="{22AC6EF9-95EB-3595-558D-97C92822B6C9}"/>
                </a:ext>
              </a:extLst>
            </p:cNvPr>
            <p:cNvSpPr/>
            <p:nvPr/>
          </p:nvSpPr>
          <p:spPr>
            <a:xfrm>
              <a:off x="9831859" y="1236922"/>
              <a:ext cx="1342960" cy="75136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9E1580D3-A13A-8CD2-355E-92780DB1B315}"/>
                </a:ext>
              </a:extLst>
            </p:cNvPr>
            <p:cNvSpPr txBox="1"/>
            <p:nvPr/>
          </p:nvSpPr>
          <p:spPr>
            <a:xfrm>
              <a:off x="9839607" y="1234459"/>
              <a:ext cx="449162" cy="276999"/>
            </a:xfrm>
            <a:prstGeom prst="rect">
              <a:avLst/>
            </a:prstGeom>
            <a:noFill/>
          </p:spPr>
          <p:txBody>
            <a:bodyPr wrap="none" rtlCol="0">
              <a:spAutoFit/>
            </a:bodyPr>
            <a:lstStyle/>
            <a:p>
              <a:r>
                <a:rPr lang="en-US" sz="1200" dirty="0"/>
                <a:t>Key</a:t>
              </a:r>
            </a:p>
          </p:txBody>
        </p:sp>
        <p:sp>
          <p:nvSpPr>
            <p:cNvPr id="54" name="Oval 53">
              <a:extLst>
                <a:ext uri="{FF2B5EF4-FFF2-40B4-BE49-F238E27FC236}">
                  <a16:creationId xmlns:a16="http://schemas.microsoft.com/office/drawing/2014/main" id="{EFB0BC7A-03A9-E5C5-9D6C-A3123E7FD35E}"/>
                </a:ext>
              </a:extLst>
            </p:cNvPr>
            <p:cNvSpPr/>
            <p:nvPr/>
          </p:nvSpPr>
          <p:spPr>
            <a:xfrm>
              <a:off x="9993423" y="1774756"/>
              <a:ext cx="112093" cy="9665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FEBE05E1-B623-CA6A-26C2-518C1A23C69F}"/>
                </a:ext>
              </a:extLst>
            </p:cNvPr>
            <p:cNvSpPr/>
            <p:nvPr/>
          </p:nvSpPr>
          <p:spPr>
            <a:xfrm>
              <a:off x="9993423" y="1569339"/>
              <a:ext cx="112093" cy="966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TextBox 55">
              <a:extLst>
                <a:ext uri="{FF2B5EF4-FFF2-40B4-BE49-F238E27FC236}">
                  <a16:creationId xmlns:a16="http://schemas.microsoft.com/office/drawing/2014/main" id="{4F64690F-0F76-4A31-FA89-980BD008A422}"/>
                </a:ext>
              </a:extLst>
            </p:cNvPr>
            <p:cNvSpPr txBox="1"/>
            <p:nvPr/>
          </p:nvSpPr>
          <p:spPr>
            <a:xfrm>
              <a:off x="10190823" y="1479167"/>
              <a:ext cx="647764" cy="292794"/>
            </a:xfrm>
            <a:prstGeom prst="rect">
              <a:avLst/>
            </a:prstGeom>
            <a:noFill/>
          </p:spPr>
          <p:txBody>
            <a:bodyPr wrap="none" rtlCol="0">
              <a:spAutoFit/>
            </a:bodyPr>
            <a:lstStyle/>
            <a:p>
              <a:r>
                <a:rPr lang="en-US" sz="1200" dirty="0"/>
                <a:t>Train</a:t>
              </a:r>
            </a:p>
          </p:txBody>
        </p:sp>
        <p:sp>
          <p:nvSpPr>
            <p:cNvPr id="57" name="TextBox 56">
              <a:extLst>
                <a:ext uri="{FF2B5EF4-FFF2-40B4-BE49-F238E27FC236}">
                  <a16:creationId xmlns:a16="http://schemas.microsoft.com/office/drawing/2014/main" id="{C7326ED4-9542-298F-A16A-AA823BD0404E}"/>
                </a:ext>
              </a:extLst>
            </p:cNvPr>
            <p:cNvSpPr txBox="1"/>
            <p:nvPr/>
          </p:nvSpPr>
          <p:spPr>
            <a:xfrm>
              <a:off x="10190822" y="1684584"/>
              <a:ext cx="1035747" cy="292794"/>
            </a:xfrm>
            <a:prstGeom prst="rect">
              <a:avLst/>
            </a:prstGeom>
            <a:noFill/>
          </p:spPr>
          <p:txBody>
            <a:bodyPr wrap="none" rtlCol="0">
              <a:spAutoFit/>
            </a:bodyPr>
            <a:lstStyle/>
            <a:p>
              <a:r>
                <a:rPr lang="en-US" sz="1200" dirty="0"/>
                <a:t>Validation</a:t>
              </a:r>
            </a:p>
          </p:txBody>
        </p:sp>
      </p:grpSp>
    </p:spTree>
    <p:extLst>
      <p:ext uri="{BB962C8B-B14F-4D97-AF65-F5344CB8AC3E}">
        <p14:creationId xmlns:p14="http://schemas.microsoft.com/office/powerpoint/2010/main" val="26984524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36534-6D46-DA80-5964-7BD381A65DA4}"/>
              </a:ext>
            </a:extLst>
          </p:cNvPr>
          <p:cNvSpPr>
            <a:spLocks noGrp="1"/>
          </p:cNvSpPr>
          <p:nvPr>
            <p:ph type="title"/>
          </p:nvPr>
        </p:nvSpPr>
        <p:spPr/>
        <p:txBody>
          <a:bodyPr/>
          <a:lstStyle/>
          <a:p>
            <a:r>
              <a:rPr lang="en-US" dirty="0"/>
              <a:t>Terminology Link</a:t>
            </a:r>
          </a:p>
        </p:txBody>
      </p:sp>
      <p:sp>
        <p:nvSpPr>
          <p:cNvPr id="3" name="Content Placeholder 2">
            <a:extLst>
              <a:ext uri="{FF2B5EF4-FFF2-40B4-BE49-F238E27FC236}">
                <a16:creationId xmlns:a16="http://schemas.microsoft.com/office/drawing/2014/main" id="{66953D7D-848D-195C-6CB9-77D75C4E2046}"/>
              </a:ext>
            </a:extLst>
          </p:cNvPr>
          <p:cNvSpPr>
            <a:spLocks noGrp="1"/>
          </p:cNvSpPr>
          <p:nvPr>
            <p:ph idx="1"/>
          </p:nvPr>
        </p:nvSpPr>
        <p:spPr/>
        <p:txBody>
          <a:bodyPr/>
          <a:lstStyle/>
          <a:p>
            <a:r>
              <a:rPr lang="en-US" dirty="0"/>
              <a:t>Models that have poor validation MSE due to variance is also communicated as the model suffering from “</a:t>
            </a:r>
            <a:r>
              <a:rPr lang="en-US" b="1" dirty="0"/>
              <a:t>overfitting</a:t>
            </a:r>
            <a:r>
              <a:rPr lang="en-US" dirty="0"/>
              <a:t>.”</a:t>
            </a:r>
          </a:p>
          <a:p>
            <a:r>
              <a:rPr lang="en-US" dirty="0"/>
              <a:t>Models that suffer from validation MSE due to bias can be considered “</a:t>
            </a:r>
            <a:r>
              <a:rPr lang="en-US" b="1" dirty="0"/>
              <a:t>underfitting</a:t>
            </a:r>
            <a:r>
              <a:rPr lang="en-US" dirty="0"/>
              <a:t>,” but this term is typically not used in everyday discussion compared to “overfitting.”</a:t>
            </a:r>
          </a:p>
        </p:txBody>
      </p:sp>
    </p:spTree>
    <p:extLst>
      <p:ext uri="{BB962C8B-B14F-4D97-AF65-F5344CB8AC3E}">
        <p14:creationId xmlns:p14="http://schemas.microsoft.com/office/powerpoint/2010/main" val="2762749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1B622-B94D-202B-678B-7D450BAF1A65}"/>
              </a:ext>
            </a:extLst>
          </p:cNvPr>
          <p:cNvSpPr>
            <a:spLocks noGrp="1"/>
          </p:cNvSpPr>
          <p:nvPr>
            <p:ph type="title"/>
          </p:nvPr>
        </p:nvSpPr>
        <p:spPr/>
        <p:txBody>
          <a:bodyPr/>
          <a:lstStyle/>
          <a:p>
            <a:r>
              <a:rPr lang="en-US" i="1" dirty="0"/>
              <a:t>k</a:t>
            </a:r>
            <a:r>
              <a:rPr lang="en-US" dirty="0"/>
              <a:t>-Fold Cross-Validation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1A9371-8A87-0F52-C72C-A8839CB57F7C}"/>
                  </a:ext>
                </a:extLst>
              </p:cNvPr>
              <p:cNvSpPr>
                <a:spLocks noGrp="1"/>
              </p:cNvSpPr>
              <p:nvPr>
                <p:ph idx="1"/>
              </p:nvPr>
            </p:nvSpPr>
            <p:spPr/>
            <p:txBody>
              <a:bodyPr/>
              <a:lstStyle/>
              <a:p>
                <a:pPr marL="514350" indent="-514350">
                  <a:buFont typeface="+mj-lt"/>
                  <a:buAutoNum type="arabicPeriod"/>
                </a:pPr>
                <a:r>
                  <a:rPr lang="en-US" dirty="0"/>
                  <a:t>Randomly stratify your data set into </a:t>
                </a:r>
                <a14:m>
                  <m:oMath xmlns:m="http://schemas.openxmlformats.org/officeDocument/2006/math">
                    <m:r>
                      <a:rPr lang="en-US" smtClean="0">
                        <a:latin typeface="Cambria Math" panose="02040503050406030204" pitchFamily="18" charset="0"/>
                      </a:rPr>
                      <m:t>𝑘</m:t>
                    </m:r>
                  </m:oMath>
                </a14:m>
                <a:r>
                  <a:rPr lang="en-US" dirty="0"/>
                  <a:t> disjoint data sets</a:t>
                </a:r>
              </a:p>
              <a:p>
                <a:pPr marL="514350" indent="-514350">
                  <a:buFont typeface="+mj-lt"/>
                  <a:buAutoNum type="arabicPeriod"/>
                </a:pPr>
                <a:r>
                  <a:rPr lang="en-US" dirty="0"/>
                  <a:t>For each of the </a:t>
                </a:r>
                <a14:m>
                  <m:oMath xmlns:m="http://schemas.openxmlformats.org/officeDocument/2006/math">
                    <m:r>
                      <a:rPr lang="en-US">
                        <a:latin typeface="Cambria Math" panose="02040503050406030204" pitchFamily="18" charset="0"/>
                      </a:rPr>
                      <m:t>𝑘</m:t>
                    </m:r>
                  </m:oMath>
                </a14:m>
                <a:r>
                  <a:rPr lang="en-US" dirty="0"/>
                  <a:t> data sets (folds):</a:t>
                </a:r>
              </a:p>
              <a:p>
                <a:pPr lvl="1"/>
                <a:r>
                  <a:rPr lang="en-US" dirty="0"/>
                  <a:t>Leave it out. Treat it as the validation set. Train your model on the remaining data.</a:t>
                </a:r>
              </a:p>
              <a:p>
                <a:pPr lvl="1"/>
                <a:r>
                  <a:rPr lang="en-US" dirty="0"/>
                  <a:t>Obtain the validation MSE.</a:t>
                </a:r>
              </a:p>
              <a:p>
                <a:pPr marL="514350" indent="-514350">
                  <a:buFont typeface="+mj-lt"/>
                  <a:buAutoNum type="arabicPeriod"/>
                </a:pPr>
                <a:r>
                  <a:rPr lang="en-US" dirty="0"/>
                  <a:t>Average over all the validation MSEs obtained from</a:t>
                </a:r>
                <a:br>
                  <a:rPr lang="en-US" dirty="0"/>
                </a:br>
                <a:r>
                  <a:rPr lang="en-US" dirty="0"/>
                  <a:t>step 2</a:t>
                </a:r>
              </a:p>
              <a:p>
                <a:pPr marL="514350" indent="-514350">
                  <a:buFont typeface="+mj-lt"/>
                  <a:buAutoNum type="arabicPeriod"/>
                </a:pPr>
                <a:endParaRPr lang="en-US" dirty="0"/>
              </a:p>
              <a:p>
                <a:pPr marL="0" indent="0">
                  <a:buNone/>
                </a:pPr>
                <a:r>
                  <a:rPr lang="en-US" dirty="0"/>
                  <a:t>See videos or slides for animations</a:t>
                </a:r>
              </a:p>
            </p:txBody>
          </p:sp>
        </mc:Choice>
        <mc:Fallback xmlns="">
          <p:sp>
            <p:nvSpPr>
              <p:cNvPr id="3" name="Content Placeholder 2">
                <a:extLst>
                  <a:ext uri="{FF2B5EF4-FFF2-40B4-BE49-F238E27FC236}">
                    <a16:creationId xmlns:a16="http://schemas.microsoft.com/office/drawing/2014/main" id="{E51A9371-8A87-0F52-C72C-A8839CB57F7C}"/>
                  </a:ext>
                </a:extLst>
              </p:cNvPr>
              <p:cNvSpPr>
                <a:spLocks noGrp="1" noRot="1" noChangeAspect="1" noMove="1" noResize="1" noEditPoints="1" noAdjustHandles="1" noChangeArrowheads="1" noChangeShapeType="1" noTextEdit="1"/>
              </p:cNvSpPr>
              <p:nvPr>
                <p:ph idx="1"/>
              </p:nvPr>
            </p:nvSpPr>
            <p:spPr>
              <a:blipFill>
                <a:blip r:embed="rId2"/>
                <a:stretch>
                  <a:fillRect l="-1206" t="-2616"/>
                </a:stretch>
              </a:blipFill>
            </p:spPr>
            <p:txBody>
              <a:bodyPr/>
              <a:lstStyle/>
              <a:p>
                <a:r>
                  <a:rPr lang="en-US">
                    <a:noFill/>
                  </a:rPr>
                  <a:t> </a:t>
                </a:r>
              </a:p>
            </p:txBody>
          </p:sp>
        </mc:Fallback>
      </mc:AlternateContent>
    </p:spTree>
    <p:extLst>
      <p:ext uri="{BB962C8B-B14F-4D97-AF65-F5344CB8AC3E}">
        <p14:creationId xmlns:p14="http://schemas.microsoft.com/office/powerpoint/2010/main" val="101870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4CB8A-AD96-4388-86D5-E7CBB386B1A5}"/>
              </a:ext>
            </a:extLst>
          </p:cNvPr>
          <p:cNvSpPr>
            <a:spLocks noGrp="1"/>
          </p:cNvSpPr>
          <p:nvPr>
            <p:ph type="title"/>
          </p:nvPr>
        </p:nvSpPr>
        <p:spPr/>
        <p:txBody>
          <a:bodyPr/>
          <a:lstStyle/>
          <a:p>
            <a:r>
              <a:rPr lang="en-US" dirty="0"/>
              <a:t>Feature Selection (Functionally)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7AED3B-30FB-253A-BDE4-08F708E6EBD4}"/>
                  </a:ext>
                </a:extLst>
              </p:cNvPr>
              <p:cNvSpPr>
                <a:spLocks noGrp="1"/>
              </p:cNvSpPr>
              <p:nvPr>
                <p:ph idx="1"/>
              </p:nvPr>
            </p:nvSpPr>
            <p:spPr/>
            <p:txBody>
              <a:bodyPr/>
              <a:lstStyle/>
              <a:p>
                <a:r>
                  <a:rPr lang="en-US" dirty="0"/>
                  <a:t>Recall that the MLR model takes the general form:</a:t>
                </a:r>
              </a:p>
              <a:p>
                <a:endParaRPr lang="en-US" dirty="0"/>
              </a:p>
              <a:p>
                <a:pPr marL="0" indent="0">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𝑦</m:t>
                      </m:r>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a:latin typeface="Cambria Math" panose="02040503050406030204" pitchFamily="18" charset="0"/>
                            </a:rPr>
                            <m:t>0</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a:latin typeface="Cambria Math" panose="02040503050406030204" pitchFamily="18" charset="0"/>
                            </a:rPr>
                            <m:t>1</m:t>
                          </m:r>
                        </m:sub>
                      </m:sSub>
                      <m:sSub>
                        <m:sSubPr>
                          <m:ctrlPr>
                            <a:rPr lang="en-US" i="1">
                              <a:latin typeface="Cambria Math" panose="02040503050406030204" pitchFamily="18" charset="0"/>
                            </a:rPr>
                          </m:ctrlPr>
                        </m:sSubPr>
                        <m:e>
                          <m:r>
                            <a:rPr lang="en-US">
                              <a:latin typeface="Cambria Math" panose="02040503050406030204" pitchFamily="18" charset="0"/>
                            </a:rPr>
                            <m:t>𝑥</m:t>
                          </m:r>
                        </m:e>
                        <m:sub>
                          <m:r>
                            <a:rPr lang="en-US">
                              <a:latin typeface="Cambria Math" panose="02040503050406030204" pitchFamily="18" charset="0"/>
                            </a:rPr>
                            <m:t>1</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a:latin typeface="Cambria Math" panose="02040503050406030204" pitchFamily="18" charset="0"/>
                            </a:rPr>
                            <m:t>2</m:t>
                          </m:r>
                        </m:sub>
                      </m:sSub>
                      <m:sSub>
                        <m:sSubPr>
                          <m:ctrlPr>
                            <a:rPr lang="en-US" i="1">
                              <a:latin typeface="Cambria Math" panose="02040503050406030204" pitchFamily="18" charset="0"/>
                            </a:rPr>
                          </m:ctrlPr>
                        </m:sSubPr>
                        <m:e>
                          <m:r>
                            <a:rPr lang="en-US">
                              <a:latin typeface="Cambria Math" panose="02040503050406030204" pitchFamily="18" charset="0"/>
                            </a:rPr>
                            <m:t>𝑥</m:t>
                          </m:r>
                        </m:e>
                        <m:sub>
                          <m:r>
                            <a:rPr lang="en-US">
                              <a:latin typeface="Cambria Math" panose="02040503050406030204" pitchFamily="18" charset="0"/>
                            </a:rPr>
                            <m:t>2</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a:latin typeface="Cambria Math" panose="02040503050406030204" pitchFamily="18" charset="0"/>
                            </a:rPr>
                            <m:t>3</m:t>
                          </m:r>
                        </m:sub>
                      </m:sSub>
                      <m:sSub>
                        <m:sSubPr>
                          <m:ctrlPr>
                            <a:rPr lang="en-US" i="1">
                              <a:latin typeface="Cambria Math" panose="02040503050406030204" pitchFamily="18" charset="0"/>
                            </a:rPr>
                          </m:ctrlPr>
                        </m:sSubPr>
                        <m:e>
                          <m:r>
                            <a:rPr lang="en-US">
                              <a:latin typeface="Cambria Math" panose="02040503050406030204" pitchFamily="18" charset="0"/>
                            </a:rPr>
                            <m:t>𝑥</m:t>
                          </m:r>
                        </m:e>
                        <m:sub>
                          <m:r>
                            <a:rPr lang="en-US">
                              <a:latin typeface="Cambria Math" panose="02040503050406030204" pitchFamily="18" charset="0"/>
                            </a:rPr>
                            <m:t>3</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a:latin typeface="Cambria Math" panose="02040503050406030204" pitchFamily="18" charset="0"/>
                            </a:rPr>
                            <m:t>𝑝</m:t>
                          </m:r>
                        </m:sub>
                      </m:sSub>
                      <m:sSub>
                        <m:sSubPr>
                          <m:ctrlPr>
                            <a:rPr lang="en-US" i="1">
                              <a:latin typeface="Cambria Math" panose="02040503050406030204" pitchFamily="18" charset="0"/>
                            </a:rPr>
                          </m:ctrlPr>
                        </m:sSubPr>
                        <m:e>
                          <m:r>
                            <a:rPr lang="en-US">
                              <a:latin typeface="Cambria Math" panose="02040503050406030204" pitchFamily="18" charset="0"/>
                            </a:rPr>
                            <m:t>𝑥</m:t>
                          </m:r>
                        </m:e>
                        <m:sub>
                          <m:r>
                            <a:rPr lang="en-US">
                              <a:latin typeface="Cambria Math" panose="02040503050406030204" pitchFamily="18" charset="0"/>
                            </a:rPr>
                            <m:t>𝑝</m:t>
                          </m:r>
                        </m:sub>
                      </m:sSub>
                      <m:r>
                        <a:rPr lang="en-US">
                          <a:latin typeface="Cambria Math" panose="02040503050406030204" pitchFamily="18" charset="0"/>
                        </a:rPr>
                        <m:t>+</m:t>
                      </m:r>
                      <m:r>
                        <a:rPr lang="en-US">
                          <a:latin typeface="Cambria Math" panose="02040503050406030204" pitchFamily="18" charset="0"/>
                        </a:rPr>
                        <m:t>𝜖</m:t>
                      </m:r>
                    </m:oMath>
                  </m:oMathPara>
                </a14:m>
                <a:endParaRPr lang="en-US" dirty="0"/>
              </a:p>
              <a:p>
                <a:endParaRPr lang="en-US" dirty="0"/>
              </a:p>
              <a:p>
                <a:r>
                  <a:rPr lang="en-US" dirty="0"/>
                  <a:t>Feature selection is the process of estimating that some of the coefficients are 0; it will produce a reduced model</a:t>
                </a:r>
              </a:p>
            </p:txBody>
          </p:sp>
        </mc:Choice>
        <mc:Fallback xmlns="">
          <p:sp>
            <p:nvSpPr>
              <p:cNvPr id="3" name="Content Placeholder 2">
                <a:extLst>
                  <a:ext uri="{FF2B5EF4-FFF2-40B4-BE49-F238E27FC236}">
                    <a16:creationId xmlns:a16="http://schemas.microsoft.com/office/drawing/2014/main" id="{AD7AED3B-30FB-253A-BDE4-08F708E6EBD4}"/>
                  </a:ext>
                </a:extLst>
              </p:cNvPr>
              <p:cNvSpPr>
                <a:spLocks noGrp="1" noRot="1" noChangeAspect="1" noMove="1" noResize="1" noEditPoints="1" noAdjustHandles="1" noChangeArrowheads="1" noChangeShapeType="1" noTextEdit="1"/>
              </p:cNvSpPr>
              <p:nvPr>
                <p:ph idx="1"/>
              </p:nvPr>
            </p:nvSpPr>
            <p:spPr>
              <a:blipFill>
                <a:blip r:embed="rId2"/>
                <a:stretch>
                  <a:fillRect l="-1387" t="-1681"/>
                </a:stretch>
              </a:blipFill>
            </p:spPr>
            <p:txBody>
              <a:bodyPr/>
              <a:lstStyle/>
              <a:p>
                <a:r>
                  <a:rPr lang="en-US">
                    <a:noFill/>
                  </a:rPr>
                  <a:t> </a:t>
                </a:r>
              </a:p>
            </p:txBody>
          </p:sp>
        </mc:Fallback>
      </mc:AlternateContent>
    </p:spTree>
    <p:extLst>
      <p:ext uri="{BB962C8B-B14F-4D97-AF65-F5344CB8AC3E}">
        <p14:creationId xmlns:p14="http://schemas.microsoft.com/office/powerpoint/2010/main" val="1592049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455F2C-135B-72FB-2354-484968B64DB0}"/>
              </a:ext>
            </a:extLst>
          </p:cNvPr>
          <p:cNvSpPr/>
          <p:nvPr/>
        </p:nvSpPr>
        <p:spPr>
          <a:xfrm>
            <a:off x="533400" y="5334000"/>
            <a:ext cx="11049000" cy="11371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162108D1-5697-EB04-DE25-F331038F1233}"/>
              </a:ext>
            </a:extLst>
          </p:cNvPr>
          <p:cNvSpPr>
            <a:spLocks noGrp="1"/>
          </p:cNvSpPr>
          <p:nvPr>
            <p:ph type="title"/>
          </p:nvPr>
        </p:nvSpPr>
        <p:spPr/>
        <p:txBody>
          <a:bodyPr>
            <a:noAutofit/>
          </a:bodyPr>
          <a:lstStyle/>
          <a:p>
            <a:r>
              <a:rPr lang="en-US" dirty="0"/>
              <a:t>Penalized Regression (High Level)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AEFE3D-452E-CC06-B438-00392F084304}"/>
                  </a:ext>
                </a:extLst>
              </p:cNvPr>
              <p:cNvSpPr>
                <a:spLocks noGrp="1"/>
              </p:cNvSpPr>
              <p:nvPr>
                <p:ph idx="1"/>
              </p:nvPr>
            </p:nvSpPr>
            <p:spPr/>
            <p:txBody>
              <a:bodyPr>
                <a:noAutofit/>
              </a:bodyPr>
              <a:lstStyle/>
              <a:p>
                <a:r>
                  <a:rPr lang="en-US" dirty="0"/>
                  <a:t>Regression coefficients are estimated by minimizing the residual sum of squares (RSS) of the training data</a:t>
                </a:r>
              </a:p>
              <a:p>
                <a:r>
                  <a:rPr lang="en-US" dirty="0"/>
                  <a:t>Penalized regression estimates the coefficients in your model by minimizing:</a:t>
                </a:r>
              </a:p>
              <a:p>
                <a:endParaRPr lang="en-US" dirty="0"/>
              </a:p>
              <a:p>
                <a:pPr marL="0" indent="0">
                  <a:buNone/>
                </a:pPr>
                <a14:m>
                  <m:oMathPara xmlns:m="http://schemas.openxmlformats.org/officeDocument/2006/math">
                    <m:oMathParaPr>
                      <m:jc m:val="centerGroup"/>
                    </m:oMathParaPr>
                    <m:oMath xmlns:m="http://schemas.openxmlformats.org/officeDocument/2006/math">
                      <m:r>
                        <a:rPr lang="en-US" smtClean="0">
                          <a:latin typeface="Cambria Math" panose="02040503050406030204" pitchFamily="18" charset="0"/>
                        </a:rPr>
                        <m:t>𝑅𝑆𝑆</m:t>
                      </m:r>
                      <m:r>
                        <a:rPr lang="en-US" smtClean="0">
                          <a:latin typeface="Cambria Math" panose="02040503050406030204" pitchFamily="18" charset="0"/>
                        </a:rPr>
                        <m:t>+</m:t>
                      </m:r>
                      <m:r>
                        <a:rPr lang="en-US" smtClean="0">
                          <a:latin typeface="Cambria Math" panose="02040503050406030204" pitchFamily="18" charset="0"/>
                        </a:rPr>
                        <m:t>𝑝𝑒𝑛𝑎𝑙𝑡𝑦</m:t>
                      </m:r>
                    </m:oMath>
                  </m:oMathPara>
                </a14:m>
                <a:endParaRPr lang="en-US" dirty="0"/>
              </a:p>
              <a:p>
                <a:endParaRPr lang="en-US" dirty="0"/>
              </a:p>
              <a:p>
                <a:pPr marL="0" indent="0">
                  <a:buNone/>
                </a:pPr>
                <a:r>
                  <a:rPr lang="en-US" dirty="0">
                    <a:solidFill>
                      <a:schemeClr val="bg1"/>
                    </a:solidFill>
                  </a:rPr>
                  <a:t>The penalty term has its own mathematical form, but it is controlled by a parameter </a:t>
                </a:r>
                <a14:m>
                  <m:oMath xmlns:m="http://schemas.openxmlformats.org/officeDocument/2006/math">
                    <m:r>
                      <a:rPr lang="en-US" smtClean="0">
                        <a:solidFill>
                          <a:schemeClr val="bg1"/>
                        </a:solidFill>
                        <a:latin typeface="Cambria Math" panose="02040503050406030204" pitchFamily="18" charset="0"/>
                      </a:rPr>
                      <m:t>𝜆</m:t>
                    </m:r>
                  </m:oMath>
                </a14:m>
                <a:r>
                  <a:rPr lang="en-US" dirty="0">
                    <a:solidFill>
                      <a:schemeClr val="bg1"/>
                    </a:solidFill>
                  </a:rPr>
                  <a:t>.</a:t>
                </a:r>
              </a:p>
            </p:txBody>
          </p:sp>
        </mc:Choice>
        <mc:Fallback xmlns="">
          <p:sp>
            <p:nvSpPr>
              <p:cNvPr id="3" name="Content Placeholder 2">
                <a:extLst>
                  <a:ext uri="{FF2B5EF4-FFF2-40B4-BE49-F238E27FC236}">
                    <a16:creationId xmlns:a16="http://schemas.microsoft.com/office/drawing/2014/main" id="{DFAEFE3D-452E-CC06-B438-00392F084304}"/>
                  </a:ext>
                </a:extLst>
              </p:cNvPr>
              <p:cNvSpPr>
                <a:spLocks noGrp="1" noRot="1" noChangeAspect="1" noMove="1" noResize="1" noEditPoints="1" noAdjustHandles="1" noChangeArrowheads="1" noChangeShapeType="1" noTextEdit="1"/>
              </p:cNvSpPr>
              <p:nvPr>
                <p:ph idx="1"/>
              </p:nvPr>
            </p:nvSpPr>
            <p:spPr>
              <a:blipFill>
                <a:blip r:embed="rId3"/>
                <a:stretch>
                  <a:fillRect l="-1389" t="-1752" b="-10108"/>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F085BA6D-2376-2E52-9577-0EE63FD48071}"/>
              </a:ext>
            </a:extLst>
          </p:cNvPr>
          <p:cNvCxnSpPr>
            <a:cxnSpLocks/>
          </p:cNvCxnSpPr>
          <p:nvPr/>
        </p:nvCxnSpPr>
        <p:spPr>
          <a:xfrm flipV="1">
            <a:off x="6553200" y="4724400"/>
            <a:ext cx="0" cy="6096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61556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E735BC3-1380-0266-3514-DFECFB957FAD}"/>
              </a:ext>
            </a:extLst>
          </p:cNvPr>
          <p:cNvPicPr>
            <a:picLocks noChangeAspect="1"/>
          </p:cNvPicPr>
          <p:nvPr/>
        </p:nvPicPr>
        <p:blipFill>
          <a:blip r:embed="rId2"/>
          <a:stretch>
            <a:fillRect/>
          </a:stretch>
        </p:blipFill>
        <p:spPr>
          <a:xfrm>
            <a:off x="3640993" y="1418492"/>
            <a:ext cx="4910014" cy="4208583"/>
          </a:xfrm>
          <a:prstGeom prst="rect">
            <a:avLst/>
          </a:prstGeom>
        </p:spPr>
      </p:pic>
      <p:sp>
        <p:nvSpPr>
          <p:cNvPr id="2" name="Title 1">
            <a:extLst>
              <a:ext uri="{FF2B5EF4-FFF2-40B4-BE49-F238E27FC236}">
                <a16:creationId xmlns:a16="http://schemas.microsoft.com/office/drawing/2014/main" id="{3123833E-B831-FD02-257B-0EB8B0666AD1}"/>
              </a:ext>
            </a:extLst>
          </p:cNvPr>
          <p:cNvSpPr>
            <a:spLocks noGrp="1"/>
          </p:cNvSpPr>
          <p:nvPr>
            <p:ph type="title"/>
          </p:nvPr>
        </p:nvSpPr>
        <p:spPr/>
        <p:txBody>
          <a:bodyPr/>
          <a:lstStyle/>
          <a:p>
            <a:r>
              <a:rPr lang="en-US" sz="4000" dirty="0"/>
              <a:t>Simple Case of Penalized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A93E3F-C095-48FF-7934-05530716DAB9}"/>
                  </a:ext>
                </a:extLst>
              </p:cNvPr>
              <p:cNvSpPr>
                <a:spLocks noGrp="1"/>
              </p:cNvSpPr>
              <p:nvPr>
                <p:ph idx="1"/>
              </p:nvPr>
            </p:nvSpPr>
            <p:spPr>
              <a:xfrm>
                <a:off x="609600" y="5709138"/>
                <a:ext cx="10972800" cy="949568"/>
              </a:xfrm>
            </p:spPr>
            <p:txBody>
              <a:bodyPr/>
              <a:lstStyle/>
              <a:p>
                <a:pPr marL="0" indent="0">
                  <a:buNone/>
                </a:pPr>
                <a:r>
                  <a:rPr lang="en-US" sz="2800" dirty="0"/>
                  <a:t>To fit a penalized regression model, you must specify the full model </a:t>
                </a:r>
                <a:r>
                  <a:rPr lang="en-US" sz="2800" b="1" dirty="0"/>
                  <a:t>and</a:t>
                </a:r>
                <a:r>
                  <a:rPr lang="en-US" sz="2800" dirty="0"/>
                  <a:t> the penalty value </a:t>
                </a:r>
                <a14:m>
                  <m:oMath xmlns:m="http://schemas.openxmlformats.org/officeDocument/2006/math">
                    <m:r>
                      <a:rPr lang="en-US" sz="2800">
                        <a:latin typeface="Cambria Math" panose="02040503050406030204" pitchFamily="18" charset="0"/>
                      </a:rPr>
                      <m:t>𝜆</m:t>
                    </m:r>
                  </m:oMath>
                </a14:m>
                <a:r>
                  <a:rPr lang="en-US" sz="2800" dirty="0"/>
                  <a:t>.</a:t>
                </a:r>
              </a:p>
            </p:txBody>
          </p:sp>
        </mc:Choice>
        <mc:Fallback xmlns="">
          <p:sp>
            <p:nvSpPr>
              <p:cNvPr id="3" name="Content Placeholder 2">
                <a:extLst>
                  <a:ext uri="{FF2B5EF4-FFF2-40B4-BE49-F238E27FC236}">
                    <a16:creationId xmlns:a16="http://schemas.microsoft.com/office/drawing/2014/main" id="{D9A93E3F-C095-48FF-7934-05530716DAB9}"/>
                  </a:ext>
                </a:extLst>
              </p:cNvPr>
              <p:cNvSpPr>
                <a:spLocks noGrp="1" noRot="1" noChangeAspect="1" noMove="1" noResize="1" noEditPoints="1" noAdjustHandles="1" noChangeArrowheads="1" noChangeShapeType="1" noTextEdit="1"/>
              </p:cNvSpPr>
              <p:nvPr>
                <p:ph idx="1"/>
              </p:nvPr>
            </p:nvSpPr>
            <p:spPr>
              <a:xfrm>
                <a:off x="609600" y="5709138"/>
                <a:ext cx="10972800" cy="949568"/>
              </a:xfrm>
              <a:blipFill>
                <a:blip r:embed="rId3"/>
                <a:stretch>
                  <a:fillRect l="-1111" t="-7097" r="-56" b="-18065"/>
                </a:stretch>
              </a:blipFill>
            </p:spPr>
            <p:txBody>
              <a:bodyPr/>
              <a:lstStyle/>
              <a:p>
                <a:r>
                  <a:rPr lang="en-US">
                    <a:noFill/>
                  </a:rPr>
                  <a:t> </a:t>
                </a:r>
              </a:p>
            </p:txBody>
          </p:sp>
        </mc:Fallback>
      </mc:AlternateContent>
    </p:spTree>
    <p:extLst>
      <p:ext uri="{BB962C8B-B14F-4D97-AF65-F5344CB8AC3E}">
        <p14:creationId xmlns:p14="http://schemas.microsoft.com/office/powerpoint/2010/main" val="21985243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3833E-B831-FD02-257B-0EB8B0666AD1}"/>
              </a:ext>
            </a:extLst>
          </p:cNvPr>
          <p:cNvSpPr>
            <a:spLocks noGrp="1"/>
          </p:cNvSpPr>
          <p:nvPr>
            <p:ph type="title"/>
          </p:nvPr>
        </p:nvSpPr>
        <p:spPr/>
        <p:txBody>
          <a:bodyPr>
            <a:noAutofit/>
          </a:bodyPr>
          <a:lstStyle/>
          <a:p>
            <a:r>
              <a:rPr lang="en-US" sz="4000" dirty="0"/>
              <a:t>Simple Case of Penalized Regression (cont.)</a:t>
            </a:r>
          </a:p>
        </p:txBody>
      </p:sp>
      <p:pic>
        <p:nvPicPr>
          <p:cNvPr id="5" name="Picture 4">
            <a:extLst>
              <a:ext uri="{FF2B5EF4-FFF2-40B4-BE49-F238E27FC236}">
                <a16:creationId xmlns:a16="http://schemas.microsoft.com/office/drawing/2014/main" id="{5E735BC3-1380-0266-3514-DFECFB957FAD}"/>
              </a:ext>
            </a:extLst>
          </p:cNvPr>
          <p:cNvPicPr>
            <a:picLocks noChangeAspect="1"/>
          </p:cNvPicPr>
          <p:nvPr/>
        </p:nvPicPr>
        <p:blipFill>
          <a:blip r:embed="rId2"/>
          <a:stretch>
            <a:fillRect/>
          </a:stretch>
        </p:blipFill>
        <p:spPr>
          <a:xfrm>
            <a:off x="2971800" y="1390134"/>
            <a:ext cx="6248400" cy="5355771"/>
          </a:xfrm>
          <a:prstGeom prst="rect">
            <a:avLst/>
          </a:prstGeom>
        </p:spPr>
      </p:pic>
      <p:sp>
        <p:nvSpPr>
          <p:cNvPr id="7" name="TextBox 6">
            <a:extLst>
              <a:ext uri="{FF2B5EF4-FFF2-40B4-BE49-F238E27FC236}">
                <a16:creationId xmlns:a16="http://schemas.microsoft.com/office/drawing/2014/main" id="{6CA14A58-44B2-BA33-48A5-5941D3AB7D7C}"/>
              </a:ext>
            </a:extLst>
          </p:cNvPr>
          <p:cNvSpPr txBox="1"/>
          <p:nvPr/>
        </p:nvSpPr>
        <p:spPr>
          <a:xfrm>
            <a:off x="9448800" y="4495800"/>
            <a:ext cx="2133600" cy="1676399"/>
          </a:xfrm>
          <a:prstGeom prst="rect">
            <a:avLst/>
          </a:prstGeom>
          <a:noFill/>
          <a:ln w="31750">
            <a:solidFill>
              <a:schemeClr val="tx1"/>
            </a:solidFill>
          </a:ln>
        </p:spPr>
        <p:txBody>
          <a:bodyPr wrap="square" rtlCol="0">
            <a:noAutofit/>
          </a:bodyPr>
          <a:lstStyle/>
          <a:p>
            <a:pPr algn="ctr"/>
            <a:r>
              <a:rPr lang="en-US" sz="2000" dirty="0"/>
              <a:t>The stronger the penalty, the closer the estimated slope gets to 0.</a:t>
            </a:r>
          </a:p>
        </p:txBody>
      </p:sp>
    </p:spTree>
    <p:extLst>
      <p:ext uri="{BB962C8B-B14F-4D97-AF65-F5344CB8AC3E}">
        <p14:creationId xmlns:p14="http://schemas.microsoft.com/office/powerpoint/2010/main" val="89132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0557D-1447-451A-7F64-3C2D0CA51DDE}"/>
              </a:ext>
            </a:extLst>
          </p:cNvPr>
          <p:cNvSpPr>
            <a:spLocks noGrp="1"/>
          </p:cNvSpPr>
          <p:nvPr>
            <p:ph type="title"/>
          </p:nvPr>
        </p:nvSpPr>
        <p:spPr/>
        <p:txBody>
          <a:bodyPr>
            <a:noAutofit/>
          </a:bodyPr>
          <a:lstStyle/>
          <a:p>
            <a:r>
              <a:rPr lang="en-US" dirty="0"/>
              <a:t>Visualizing Penalty Effects in MLR</a:t>
            </a:r>
          </a:p>
        </p:txBody>
      </p:sp>
      <p:sp>
        <p:nvSpPr>
          <p:cNvPr id="11" name="Text Placeholder 5">
            <a:extLst>
              <a:ext uri="{FF2B5EF4-FFF2-40B4-BE49-F238E27FC236}">
                <a16:creationId xmlns:a16="http://schemas.microsoft.com/office/drawing/2014/main" id="{4B6284E2-A372-6DA0-89D4-C59B7352BF2D}"/>
              </a:ext>
            </a:extLst>
          </p:cNvPr>
          <p:cNvSpPr txBox="1">
            <a:spLocks/>
          </p:cNvSpPr>
          <p:nvPr/>
        </p:nvSpPr>
        <p:spPr>
          <a:xfrm>
            <a:off x="6193369" y="1417638"/>
            <a:ext cx="5389033" cy="550058"/>
          </a:xfrm>
          <a:prstGeom prst="rect">
            <a:avLst/>
          </a:prstGeom>
        </p:spPr>
        <p:txBody>
          <a:bodyPr>
            <a:noAutofit/>
          </a:bodyPr>
          <a:lst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sz="2800" b="1" dirty="0"/>
              <a:t>Zoomed in version</a:t>
            </a:r>
          </a:p>
        </p:txBody>
      </p:sp>
      <p:sp>
        <p:nvSpPr>
          <p:cNvPr id="12" name="Text Placeholder 4">
            <a:extLst>
              <a:ext uri="{FF2B5EF4-FFF2-40B4-BE49-F238E27FC236}">
                <a16:creationId xmlns:a16="http://schemas.microsoft.com/office/drawing/2014/main" id="{5D81D109-F062-C68D-8C3C-B5B4241B5A21}"/>
              </a:ext>
            </a:extLst>
          </p:cNvPr>
          <p:cNvSpPr txBox="1">
            <a:spLocks/>
          </p:cNvSpPr>
          <p:nvPr/>
        </p:nvSpPr>
        <p:spPr>
          <a:xfrm>
            <a:off x="609600" y="1417638"/>
            <a:ext cx="5386917" cy="550058"/>
          </a:xfrm>
          <a:prstGeom prst="rect">
            <a:avLst/>
          </a:prstGeom>
        </p:spPr>
        <p:txBody>
          <a:bodyPr>
            <a:noAutofit/>
          </a:bodyPr>
          <a:lst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sz="2800" b="1" dirty="0"/>
              <a:t>Coefficients vs. penalty</a:t>
            </a:r>
          </a:p>
        </p:txBody>
      </p:sp>
      <p:grpSp>
        <p:nvGrpSpPr>
          <p:cNvPr id="57" name="Group 56" descr="plot of chunk unnamed-chunk-4">
            <a:extLst>
              <a:ext uri="{FF2B5EF4-FFF2-40B4-BE49-F238E27FC236}">
                <a16:creationId xmlns:a16="http://schemas.microsoft.com/office/drawing/2014/main" id="{38EC5E55-F43A-27C2-D1B6-8E95C198128F}"/>
              </a:ext>
            </a:extLst>
          </p:cNvPr>
          <p:cNvGrpSpPr/>
          <p:nvPr/>
        </p:nvGrpSpPr>
        <p:grpSpPr>
          <a:xfrm>
            <a:off x="7380036" y="2370882"/>
            <a:ext cx="3015697" cy="4040088"/>
            <a:chOff x="8050785" y="2397526"/>
            <a:chExt cx="1883789" cy="4040088"/>
          </a:xfrm>
        </p:grpSpPr>
        <p:sp>
          <p:nvSpPr>
            <p:cNvPr id="58" name="TextBox 57">
              <a:extLst>
                <a:ext uri="{FF2B5EF4-FFF2-40B4-BE49-F238E27FC236}">
                  <a16:creationId xmlns:a16="http://schemas.microsoft.com/office/drawing/2014/main" id="{614E164F-7C70-92EB-B03C-5CED859FCCBA}"/>
                </a:ext>
              </a:extLst>
            </p:cNvPr>
            <p:cNvSpPr txBox="1"/>
            <p:nvPr/>
          </p:nvSpPr>
          <p:spPr>
            <a:xfrm rot="16200000">
              <a:off x="7674397" y="4246740"/>
              <a:ext cx="851515" cy="98740"/>
            </a:xfrm>
            <a:prstGeom prst="rect">
              <a:avLst/>
            </a:prstGeom>
            <a:solidFill>
              <a:schemeClr val="bg1"/>
            </a:solidFill>
          </p:spPr>
          <p:txBody>
            <a:bodyPr wrap="none" rtlCol="0">
              <a:noAutofit/>
            </a:bodyPr>
            <a:lstStyle/>
            <a:p>
              <a:r>
                <a:rPr lang="en-US" sz="1000" dirty="0"/>
                <a:t>Coefficients</a:t>
              </a:r>
            </a:p>
          </p:txBody>
        </p:sp>
        <p:sp>
          <p:nvSpPr>
            <p:cNvPr id="59" name="TextBox 58">
              <a:extLst>
                <a:ext uri="{FF2B5EF4-FFF2-40B4-BE49-F238E27FC236}">
                  <a16:creationId xmlns:a16="http://schemas.microsoft.com/office/drawing/2014/main" id="{1C7F7A12-5125-9CDC-B471-91877B3CD7F1}"/>
                </a:ext>
              </a:extLst>
            </p:cNvPr>
            <p:cNvSpPr txBox="1"/>
            <p:nvPr/>
          </p:nvSpPr>
          <p:spPr>
            <a:xfrm>
              <a:off x="8398004" y="2397526"/>
              <a:ext cx="325731" cy="246221"/>
            </a:xfrm>
            <a:prstGeom prst="rect">
              <a:avLst/>
            </a:prstGeom>
            <a:noFill/>
          </p:spPr>
          <p:txBody>
            <a:bodyPr wrap="none" rtlCol="0">
              <a:noAutofit/>
            </a:bodyPr>
            <a:lstStyle/>
            <a:p>
              <a:pPr algn="ctr"/>
              <a:r>
                <a:rPr lang="en-US" sz="1000" dirty="0"/>
                <a:t>19</a:t>
              </a:r>
            </a:p>
          </p:txBody>
        </p:sp>
        <p:sp>
          <p:nvSpPr>
            <p:cNvPr id="60" name="TextBox 59">
              <a:extLst>
                <a:ext uri="{FF2B5EF4-FFF2-40B4-BE49-F238E27FC236}">
                  <a16:creationId xmlns:a16="http://schemas.microsoft.com/office/drawing/2014/main" id="{A879F139-C38A-FD68-EA7B-B0F6C60FBBC4}"/>
                </a:ext>
              </a:extLst>
            </p:cNvPr>
            <p:cNvSpPr txBox="1"/>
            <p:nvPr/>
          </p:nvSpPr>
          <p:spPr>
            <a:xfrm>
              <a:off x="8767577" y="2397526"/>
              <a:ext cx="325731" cy="246221"/>
            </a:xfrm>
            <a:prstGeom prst="rect">
              <a:avLst/>
            </a:prstGeom>
            <a:noFill/>
          </p:spPr>
          <p:txBody>
            <a:bodyPr wrap="none" rtlCol="0">
              <a:noAutofit/>
            </a:bodyPr>
            <a:lstStyle/>
            <a:p>
              <a:pPr algn="ctr"/>
              <a:r>
                <a:rPr lang="en-US" sz="1000" dirty="0"/>
                <a:t>17</a:t>
              </a:r>
            </a:p>
          </p:txBody>
        </p:sp>
        <p:sp>
          <p:nvSpPr>
            <p:cNvPr id="61" name="TextBox 60">
              <a:extLst>
                <a:ext uri="{FF2B5EF4-FFF2-40B4-BE49-F238E27FC236}">
                  <a16:creationId xmlns:a16="http://schemas.microsoft.com/office/drawing/2014/main" id="{F0BB89B5-1345-D3E5-BB45-A3F7ABF1D756}"/>
                </a:ext>
              </a:extLst>
            </p:cNvPr>
            <p:cNvSpPr txBox="1"/>
            <p:nvPr/>
          </p:nvSpPr>
          <p:spPr>
            <a:xfrm>
              <a:off x="9111487" y="2397526"/>
              <a:ext cx="325731" cy="246221"/>
            </a:xfrm>
            <a:prstGeom prst="rect">
              <a:avLst/>
            </a:prstGeom>
            <a:noFill/>
          </p:spPr>
          <p:txBody>
            <a:bodyPr wrap="none" rtlCol="0">
              <a:noAutofit/>
            </a:bodyPr>
            <a:lstStyle/>
            <a:p>
              <a:pPr algn="ctr"/>
              <a:r>
                <a:rPr lang="en-US" sz="1000" dirty="0"/>
                <a:t>12</a:t>
              </a:r>
            </a:p>
          </p:txBody>
        </p:sp>
        <p:sp>
          <p:nvSpPr>
            <p:cNvPr id="62" name="TextBox 61">
              <a:extLst>
                <a:ext uri="{FF2B5EF4-FFF2-40B4-BE49-F238E27FC236}">
                  <a16:creationId xmlns:a16="http://schemas.microsoft.com/office/drawing/2014/main" id="{8211929C-9D88-1076-45B2-9C01260E8C24}"/>
                </a:ext>
              </a:extLst>
            </p:cNvPr>
            <p:cNvSpPr txBox="1"/>
            <p:nvPr/>
          </p:nvSpPr>
          <p:spPr>
            <a:xfrm>
              <a:off x="9493152" y="2397526"/>
              <a:ext cx="255198" cy="246221"/>
            </a:xfrm>
            <a:prstGeom prst="rect">
              <a:avLst/>
            </a:prstGeom>
            <a:noFill/>
          </p:spPr>
          <p:txBody>
            <a:bodyPr wrap="none" rtlCol="0">
              <a:noAutofit/>
            </a:bodyPr>
            <a:lstStyle/>
            <a:p>
              <a:pPr algn="ctr"/>
              <a:r>
                <a:rPr lang="en-US" sz="1000" dirty="0"/>
                <a:t>6</a:t>
              </a:r>
            </a:p>
          </p:txBody>
        </p:sp>
        <p:sp>
          <p:nvSpPr>
            <p:cNvPr id="63" name="TextBox 62">
              <a:extLst>
                <a:ext uri="{FF2B5EF4-FFF2-40B4-BE49-F238E27FC236}">
                  <a16:creationId xmlns:a16="http://schemas.microsoft.com/office/drawing/2014/main" id="{62C455AC-AF0A-9E2B-A38A-95DD750DD7B5}"/>
                </a:ext>
              </a:extLst>
            </p:cNvPr>
            <p:cNvSpPr txBox="1"/>
            <p:nvPr/>
          </p:nvSpPr>
          <p:spPr>
            <a:xfrm rot="16200000">
              <a:off x="8213027" y="2729444"/>
              <a:ext cx="360996" cy="182227"/>
            </a:xfrm>
            <a:prstGeom prst="rect">
              <a:avLst/>
            </a:prstGeom>
            <a:noFill/>
          </p:spPr>
          <p:txBody>
            <a:bodyPr wrap="none" rtlCol="0">
              <a:noAutofit/>
            </a:bodyPr>
            <a:lstStyle/>
            <a:p>
              <a:r>
                <a:rPr lang="en-US" sz="1000" dirty="0"/>
                <a:t>1.0</a:t>
              </a:r>
            </a:p>
          </p:txBody>
        </p:sp>
        <p:sp>
          <p:nvSpPr>
            <p:cNvPr id="64" name="TextBox 63">
              <a:extLst>
                <a:ext uri="{FF2B5EF4-FFF2-40B4-BE49-F238E27FC236}">
                  <a16:creationId xmlns:a16="http://schemas.microsoft.com/office/drawing/2014/main" id="{3A6714C6-DF58-83AE-8860-2193D955EC19}"/>
                </a:ext>
              </a:extLst>
            </p:cNvPr>
            <p:cNvSpPr txBox="1"/>
            <p:nvPr/>
          </p:nvSpPr>
          <p:spPr>
            <a:xfrm rot="16200000">
              <a:off x="8213027" y="3463641"/>
              <a:ext cx="360996" cy="182227"/>
            </a:xfrm>
            <a:prstGeom prst="rect">
              <a:avLst/>
            </a:prstGeom>
            <a:noFill/>
          </p:spPr>
          <p:txBody>
            <a:bodyPr wrap="none" rtlCol="0">
              <a:noAutofit/>
            </a:bodyPr>
            <a:lstStyle/>
            <a:p>
              <a:r>
                <a:rPr lang="en-US" sz="1000" dirty="0"/>
                <a:t>0.5</a:t>
              </a:r>
            </a:p>
          </p:txBody>
        </p:sp>
        <p:sp>
          <p:nvSpPr>
            <p:cNvPr id="65" name="TextBox 64">
              <a:extLst>
                <a:ext uri="{FF2B5EF4-FFF2-40B4-BE49-F238E27FC236}">
                  <a16:creationId xmlns:a16="http://schemas.microsoft.com/office/drawing/2014/main" id="{E399A9FB-2614-BD40-B999-2AE0FD624337}"/>
                </a:ext>
              </a:extLst>
            </p:cNvPr>
            <p:cNvSpPr txBox="1"/>
            <p:nvPr/>
          </p:nvSpPr>
          <p:spPr>
            <a:xfrm rot="16200000">
              <a:off x="8213033" y="4196680"/>
              <a:ext cx="360996" cy="182227"/>
            </a:xfrm>
            <a:prstGeom prst="rect">
              <a:avLst/>
            </a:prstGeom>
            <a:noFill/>
          </p:spPr>
          <p:txBody>
            <a:bodyPr wrap="none" rtlCol="0">
              <a:noAutofit/>
            </a:bodyPr>
            <a:lstStyle/>
            <a:p>
              <a:r>
                <a:rPr lang="en-US" sz="1000" dirty="0"/>
                <a:t>0.0</a:t>
              </a:r>
            </a:p>
          </p:txBody>
        </p:sp>
        <p:sp>
          <p:nvSpPr>
            <p:cNvPr id="66" name="TextBox 65">
              <a:extLst>
                <a:ext uri="{FF2B5EF4-FFF2-40B4-BE49-F238E27FC236}">
                  <a16:creationId xmlns:a16="http://schemas.microsoft.com/office/drawing/2014/main" id="{9D71C6E9-5E8E-08F0-D36D-86025CCD44C3}"/>
                </a:ext>
              </a:extLst>
            </p:cNvPr>
            <p:cNvSpPr txBox="1"/>
            <p:nvPr/>
          </p:nvSpPr>
          <p:spPr>
            <a:xfrm rot="16200000">
              <a:off x="8191391" y="4951358"/>
              <a:ext cx="404278" cy="182228"/>
            </a:xfrm>
            <a:prstGeom prst="rect">
              <a:avLst/>
            </a:prstGeom>
            <a:noFill/>
          </p:spPr>
          <p:txBody>
            <a:bodyPr wrap="none" rtlCol="0">
              <a:noAutofit/>
            </a:bodyPr>
            <a:lstStyle/>
            <a:p>
              <a:r>
                <a:rPr lang="en-US" sz="1000" dirty="0"/>
                <a:t>-0.5</a:t>
              </a:r>
            </a:p>
          </p:txBody>
        </p:sp>
        <p:sp>
          <p:nvSpPr>
            <p:cNvPr id="67" name="TextBox 66">
              <a:extLst>
                <a:ext uri="{FF2B5EF4-FFF2-40B4-BE49-F238E27FC236}">
                  <a16:creationId xmlns:a16="http://schemas.microsoft.com/office/drawing/2014/main" id="{8ABE3DA3-9AD7-4BCE-835A-8CB1B375FE9E}"/>
                </a:ext>
              </a:extLst>
            </p:cNvPr>
            <p:cNvSpPr txBox="1"/>
            <p:nvPr/>
          </p:nvSpPr>
          <p:spPr>
            <a:xfrm>
              <a:off x="8792845" y="6191393"/>
              <a:ext cx="891591" cy="246221"/>
            </a:xfrm>
            <a:prstGeom prst="rect">
              <a:avLst/>
            </a:prstGeom>
            <a:noFill/>
          </p:spPr>
          <p:txBody>
            <a:bodyPr wrap="none" rtlCol="0">
              <a:noAutofit/>
            </a:bodyPr>
            <a:lstStyle/>
            <a:p>
              <a:pPr algn="ctr"/>
              <a:r>
                <a:rPr lang="en-US" sz="1000" dirty="0"/>
                <a:t>Log lambda</a:t>
              </a:r>
            </a:p>
          </p:txBody>
        </p:sp>
        <p:sp>
          <p:nvSpPr>
            <p:cNvPr id="68" name="TextBox 67">
              <a:extLst>
                <a:ext uri="{FF2B5EF4-FFF2-40B4-BE49-F238E27FC236}">
                  <a16:creationId xmlns:a16="http://schemas.microsoft.com/office/drawing/2014/main" id="{06C4B4EF-3D4B-EDB4-8A9A-6F77A433E3BD}"/>
                </a:ext>
              </a:extLst>
            </p:cNvPr>
            <p:cNvSpPr txBox="1"/>
            <p:nvPr/>
          </p:nvSpPr>
          <p:spPr>
            <a:xfrm>
              <a:off x="8419123" y="5934316"/>
              <a:ext cx="298480" cy="246221"/>
            </a:xfrm>
            <a:prstGeom prst="rect">
              <a:avLst/>
            </a:prstGeom>
            <a:noFill/>
          </p:spPr>
          <p:txBody>
            <a:bodyPr wrap="none" rtlCol="0">
              <a:noAutofit/>
            </a:bodyPr>
            <a:lstStyle/>
            <a:p>
              <a:pPr algn="ctr"/>
              <a:r>
                <a:rPr lang="en-US" sz="1000" dirty="0"/>
                <a:t>-2</a:t>
              </a:r>
            </a:p>
          </p:txBody>
        </p:sp>
        <p:sp>
          <p:nvSpPr>
            <p:cNvPr id="69" name="TextBox 68">
              <a:extLst>
                <a:ext uri="{FF2B5EF4-FFF2-40B4-BE49-F238E27FC236}">
                  <a16:creationId xmlns:a16="http://schemas.microsoft.com/office/drawing/2014/main" id="{7A949DDF-3A1D-E4E1-98D4-B71A892E9F60}"/>
                </a:ext>
              </a:extLst>
            </p:cNvPr>
            <p:cNvSpPr txBox="1"/>
            <p:nvPr/>
          </p:nvSpPr>
          <p:spPr>
            <a:xfrm>
              <a:off x="8793541" y="5934316"/>
              <a:ext cx="255198" cy="246221"/>
            </a:xfrm>
            <a:prstGeom prst="rect">
              <a:avLst/>
            </a:prstGeom>
            <a:noFill/>
          </p:spPr>
          <p:txBody>
            <a:bodyPr wrap="none" rtlCol="0">
              <a:noAutofit/>
            </a:bodyPr>
            <a:lstStyle/>
            <a:p>
              <a:pPr algn="ctr"/>
              <a:r>
                <a:rPr lang="en-US" sz="1000" dirty="0"/>
                <a:t>0</a:t>
              </a:r>
            </a:p>
          </p:txBody>
        </p:sp>
        <p:sp>
          <p:nvSpPr>
            <p:cNvPr id="70" name="TextBox 69">
              <a:extLst>
                <a:ext uri="{FF2B5EF4-FFF2-40B4-BE49-F238E27FC236}">
                  <a16:creationId xmlns:a16="http://schemas.microsoft.com/office/drawing/2014/main" id="{BF7ADE30-5C4C-077A-B854-EE2968DDEC4B}"/>
                </a:ext>
              </a:extLst>
            </p:cNvPr>
            <p:cNvSpPr txBox="1"/>
            <p:nvPr/>
          </p:nvSpPr>
          <p:spPr>
            <a:xfrm>
              <a:off x="9135094" y="5934316"/>
              <a:ext cx="255198" cy="246221"/>
            </a:xfrm>
            <a:prstGeom prst="rect">
              <a:avLst/>
            </a:prstGeom>
            <a:noFill/>
          </p:spPr>
          <p:txBody>
            <a:bodyPr wrap="none" rtlCol="0">
              <a:noAutofit/>
            </a:bodyPr>
            <a:lstStyle/>
            <a:p>
              <a:pPr algn="ctr"/>
              <a:r>
                <a:rPr lang="en-US" sz="1000" dirty="0"/>
                <a:t>2</a:t>
              </a:r>
            </a:p>
          </p:txBody>
        </p:sp>
        <p:sp>
          <p:nvSpPr>
            <p:cNvPr id="71" name="TextBox 70">
              <a:extLst>
                <a:ext uri="{FF2B5EF4-FFF2-40B4-BE49-F238E27FC236}">
                  <a16:creationId xmlns:a16="http://schemas.microsoft.com/office/drawing/2014/main" id="{F8BDC3B6-8395-0569-D077-B3C942FE4F01}"/>
                </a:ext>
              </a:extLst>
            </p:cNvPr>
            <p:cNvSpPr txBox="1"/>
            <p:nvPr/>
          </p:nvSpPr>
          <p:spPr>
            <a:xfrm>
              <a:off x="9494286" y="5934316"/>
              <a:ext cx="255198" cy="246221"/>
            </a:xfrm>
            <a:prstGeom prst="rect">
              <a:avLst/>
            </a:prstGeom>
            <a:noFill/>
          </p:spPr>
          <p:txBody>
            <a:bodyPr wrap="none" rtlCol="0">
              <a:noAutofit/>
            </a:bodyPr>
            <a:lstStyle/>
            <a:p>
              <a:pPr algn="ctr"/>
              <a:r>
                <a:rPr lang="en-US" sz="1000" dirty="0"/>
                <a:t>4</a:t>
              </a:r>
            </a:p>
          </p:txBody>
        </p:sp>
        <p:grpSp>
          <p:nvGrpSpPr>
            <p:cNvPr id="72" name="Group 71">
              <a:extLst>
                <a:ext uri="{FF2B5EF4-FFF2-40B4-BE49-F238E27FC236}">
                  <a16:creationId xmlns:a16="http://schemas.microsoft.com/office/drawing/2014/main" id="{23F6AFA8-5327-78AF-F079-5BFE15BECABF}"/>
                </a:ext>
              </a:extLst>
            </p:cNvPr>
            <p:cNvGrpSpPr/>
            <p:nvPr/>
          </p:nvGrpSpPr>
          <p:grpSpPr>
            <a:xfrm>
              <a:off x="8568362" y="2669256"/>
              <a:ext cx="1053523" cy="36001"/>
              <a:chOff x="1409700" y="3070520"/>
              <a:chExt cx="1564482" cy="53461"/>
            </a:xfrm>
            <a:noFill/>
          </p:grpSpPr>
          <p:cxnSp>
            <p:nvCxnSpPr>
              <p:cNvPr id="106" name="Straight Connector 105">
                <a:extLst>
                  <a:ext uri="{FF2B5EF4-FFF2-40B4-BE49-F238E27FC236}">
                    <a16:creationId xmlns:a16="http://schemas.microsoft.com/office/drawing/2014/main" id="{B876A9ED-3E0A-77A7-90A6-9CADF738D09A}"/>
                  </a:ext>
                </a:extLst>
              </p:cNvPr>
              <p:cNvCxnSpPr/>
              <p:nvPr/>
            </p:nvCxnSpPr>
            <p:spPr>
              <a:xfrm flipV="1">
                <a:off x="1409700" y="3070521"/>
                <a:ext cx="0" cy="5346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089F719-4305-D88B-1C32-5FE657B5E91F}"/>
                  </a:ext>
                </a:extLst>
              </p:cNvPr>
              <p:cNvCxnSpPr/>
              <p:nvPr/>
            </p:nvCxnSpPr>
            <p:spPr>
              <a:xfrm flipV="1">
                <a:off x="1933575" y="3070521"/>
                <a:ext cx="0" cy="5346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50100386-41EB-8794-2214-156368FE7689}"/>
                  </a:ext>
                </a:extLst>
              </p:cNvPr>
              <p:cNvCxnSpPr/>
              <p:nvPr/>
            </p:nvCxnSpPr>
            <p:spPr>
              <a:xfrm flipV="1">
                <a:off x="2450307" y="3070520"/>
                <a:ext cx="0" cy="5346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50694AB7-EC2C-3CC6-1A01-C7236AC8D483}"/>
                  </a:ext>
                </a:extLst>
              </p:cNvPr>
              <p:cNvCxnSpPr/>
              <p:nvPr/>
            </p:nvCxnSpPr>
            <p:spPr>
              <a:xfrm flipV="1">
                <a:off x="2974182" y="3070521"/>
                <a:ext cx="0" cy="5346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Group 72">
              <a:extLst>
                <a:ext uri="{FF2B5EF4-FFF2-40B4-BE49-F238E27FC236}">
                  <a16:creationId xmlns:a16="http://schemas.microsoft.com/office/drawing/2014/main" id="{DD96D068-62C1-241C-5C4D-2F456B3130C0}"/>
                </a:ext>
              </a:extLst>
            </p:cNvPr>
            <p:cNvGrpSpPr/>
            <p:nvPr/>
          </p:nvGrpSpPr>
          <p:grpSpPr>
            <a:xfrm rot="16200000">
              <a:off x="7417249" y="3901649"/>
              <a:ext cx="2210665" cy="48487"/>
              <a:chOff x="-64662" y="3040292"/>
              <a:chExt cx="3282839" cy="72002"/>
            </a:xfrm>
            <a:noFill/>
          </p:grpSpPr>
          <p:cxnSp>
            <p:nvCxnSpPr>
              <p:cNvPr id="102" name="Straight Connector 101">
                <a:extLst>
                  <a:ext uri="{FF2B5EF4-FFF2-40B4-BE49-F238E27FC236}">
                    <a16:creationId xmlns:a16="http://schemas.microsoft.com/office/drawing/2014/main" id="{5EC74400-C5A1-4464-BB5C-DFFBA6FB6825}"/>
                  </a:ext>
                </a:extLst>
              </p:cNvPr>
              <p:cNvCxnSpPr/>
              <p:nvPr/>
            </p:nvCxnSpPr>
            <p:spPr>
              <a:xfrm flipV="1">
                <a:off x="1035083" y="3040293"/>
                <a:ext cx="0" cy="72001"/>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BBEB8E3F-949A-B206-19F5-B34B90F1B12C}"/>
                  </a:ext>
                </a:extLst>
              </p:cNvPr>
              <p:cNvCxnSpPr>
                <a:cxnSpLocks/>
              </p:cNvCxnSpPr>
              <p:nvPr/>
            </p:nvCxnSpPr>
            <p:spPr>
              <a:xfrm flipV="1">
                <a:off x="2126279" y="3040292"/>
                <a:ext cx="0" cy="720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B9A705D2-5D23-07D7-6A82-B69FA539597E}"/>
                  </a:ext>
                </a:extLst>
              </p:cNvPr>
              <p:cNvCxnSpPr>
                <a:cxnSpLocks/>
              </p:cNvCxnSpPr>
              <p:nvPr/>
            </p:nvCxnSpPr>
            <p:spPr>
              <a:xfrm flipV="1">
                <a:off x="3218177" y="3040292"/>
                <a:ext cx="0" cy="720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999A87F3-9EE4-FC39-EF13-989EB1CD4E33}"/>
                  </a:ext>
                </a:extLst>
              </p:cNvPr>
              <p:cNvCxnSpPr/>
              <p:nvPr/>
            </p:nvCxnSpPr>
            <p:spPr>
              <a:xfrm flipV="1">
                <a:off x="-64662" y="3040294"/>
                <a:ext cx="0" cy="720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4" name="Straight Connector 73">
              <a:extLst>
                <a:ext uri="{FF2B5EF4-FFF2-40B4-BE49-F238E27FC236}">
                  <a16:creationId xmlns:a16="http://schemas.microsoft.com/office/drawing/2014/main" id="{3BE37843-FD2D-1B94-7272-9AF434798AAA}"/>
                </a:ext>
              </a:extLst>
            </p:cNvPr>
            <p:cNvCxnSpPr/>
            <p:nvPr/>
          </p:nvCxnSpPr>
          <p:spPr>
            <a:xfrm>
              <a:off x="8561219" y="5886817"/>
              <a:ext cx="0" cy="4848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4FBBD05-CCC4-368C-5B63-8565A4531C6A}"/>
                </a:ext>
              </a:extLst>
            </p:cNvPr>
            <p:cNvCxnSpPr/>
            <p:nvPr/>
          </p:nvCxnSpPr>
          <p:spPr>
            <a:xfrm>
              <a:off x="8910839" y="5886817"/>
              <a:ext cx="0" cy="4848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016652F7-0E5F-A862-479A-7DF59D758E24}"/>
                </a:ext>
              </a:extLst>
            </p:cNvPr>
            <p:cNvCxnSpPr/>
            <p:nvPr/>
          </p:nvCxnSpPr>
          <p:spPr>
            <a:xfrm>
              <a:off x="9269108" y="5886817"/>
              <a:ext cx="0" cy="4848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3A31F00-8810-3535-584B-4F2101D4D3E2}"/>
                </a:ext>
              </a:extLst>
            </p:cNvPr>
            <p:cNvCxnSpPr/>
            <p:nvPr/>
          </p:nvCxnSpPr>
          <p:spPr>
            <a:xfrm>
              <a:off x="9615569" y="5886817"/>
              <a:ext cx="0" cy="4848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86989EE8-89EA-CCFD-689C-DFCB06620A79}"/>
                </a:ext>
              </a:extLst>
            </p:cNvPr>
            <p:cNvSpPr txBox="1"/>
            <p:nvPr/>
          </p:nvSpPr>
          <p:spPr>
            <a:xfrm rot="16200000">
              <a:off x="8191392" y="5661349"/>
              <a:ext cx="404278" cy="182227"/>
            </a:xfrm>
            <a:prstGeom prst="rect">
              <a:avLst/>
            </a:prstGeom>
            <a:noFill/>
          </p:spPr>
          <p:txBody>
            <a:bodyPr wrap="none" rtlCol="0">
              <a:noAutofit/>
            </a:bodyPr>
            <a:lstStyle/>
            <a:p>
              <a:r>
                <a:rPr lang="en-US" sz="1000" dirty="0"/>
                <a:t>-1.0</a:t>
              </a:r>
            </a:p>
          </p:txBody>
        </p:sp>
        <p:grpSp>
          <p:nvGrpSpPr>
            <p:cNvPr id="79" name="Group 78">
              <a:extLst>
                <a:ext uri="{FF2B5EF4-FFF2-40B4-BE49-F238E27FC236}">
                  <a16:creationId xmlns:a16="http://schemas.microsoft.com/office/drawing/2014/main" id="{8037A93A-E500-B2E8-868C-98C5860EC94B}"/>
                </a:ext>
              </a:extLst>
            </p:cNvPr>
            <p:cNvGrpSpPr/>
            <p:nvPr/>
          </p:nvGrpSpPr>
          <p:grpSpPr>
            <a:xfrm>
              <a:off x="9405938" y="2709863"/>
              <a:ext cx="438150" cy="1585912"/>
              <a:chOff x="9405938" y="2709863"/>
              <a:chExt cx="438150" cy="1585912"/>
            </a:xfrm>
          </p:grpSpPr>
          <p:sp>
            <p:nvSpPr>
              <p:cNvPr id="100" name="Freeform: Shape 99">
                <a:extLst>
                  <a:ext uri="{FF2B5EF4-FFF2-40B4-BE49-F238E27FC236}">
                    <a16:creationId xmlns:a16="http://schemas.microsoft.com/office/drawing/2014/main" id="{903276E8-502A-329E-FB25-200B715CB937}"/>
                  </a:ext>
                </a:extLst>
              </p:cNvPr>
              <p:cNvSpPr/>
              <p:nvPr/>
            </p:nvSpPr>
            <p:spPr>
              <a:xfrm>
                <a:off x="9405938" y="2709863"/>
                <a:ext cx="14287" cy="1585912"/>
              </a:xfrm>
              <a:custGeom>
                <a:avLst/>
                <a:gdLst>
                  <a:gd name="connsiteX0" fmla="*/ 0 w 14287"/>
                  <a:gd name="connsiteY0" fmla="*/ 0 h 1585912"/>
                  <a:gd name="connsiteX1" fmla="*/ 14287 w 14287"/>
                  <a:gd name="connsiteY1" fmla="*/ 1585912 h 1585912"/>
                </a:gdLst>
                <a:ahLst/>
                <a:cxnLst>
                  <a:cxn ang="0">
                    <a:pos x="connsiteX0" y="connsiteY0"/>
                  </a:cxn>
                  <a:cxn ang="0">
                    <a:pos x="connsiteX1" y="connsiteY1"/>
                  </a:cxn>
                </a:cxnLst>
                <a:rect l="l" t="t" r="r" b="b"/>
                <a:pathLst>
                  <a:path w="14287" h="1585912">
                    <a:moveTo>
                      <a:pt x="0" y="0"/>
                    </a:moveTo>
                    <a:lnTo>
                      <a:pt x="14287" y="1585912"/>
                    </a:lnTo>
                  </a:path>
                </a:pathLst>
              </a:cu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01" name="Freeform: Shape 100">
                <a:extLst>
                  <a:ext uri="{FF2B5EF4-FFF2-40B4-BE49-F238E27FC236}">
                    <a16:creationId xmlns:a16="http://schemas.microsoft.com/office/drawing/2014/main" id="{B96D8E70-1320-3A37-3128-F87616BE6482}"/>
                  </a:ext>
                </a:extLst>
              </p:cNvPr>
              <p:cNvSpPr/>
              <p:nvPr/>
            </p:nvSpPr>
            <p:spPr>
              <a:xfrm>
                <a:off x="9725025" y="2762250"/>
                <a:ext cx="119063" cy="1516858"/>
              </a:xfrm>
              <a:custGeom>
                <a:avLst/>
                <a:gdLst>
                  <a:gd name="connsiteX0" fmla="*/ 0 w 123825"/>
                  <a:gd name="connsiteY0" fmla="*/ 0 h 1537607"/>
                  <a:gd name="connsiteX1" fmla="*/ 76200 w 123825"/>
                  <a:gd name="connsiteY1" fmla="*/ 933450 h 1537607"/>
                  <a:gd name="connsiteX2" fmla="*/ 85725 w 123825"/>
                  <a:gd name="connsiteY2" fmla="*/ 1471613 h 1537607"/>
                  <a:gd name="connsiteX3" fmla="*/ 123825 w 123825"/>
                  <a:gd name="connsiteY3" fmla="*/ 1509713 h 1537607"/>
                  <a:gd name="connsiteX0" fmla="*/ 0 w 123825"/>
                  <a:gd name="connsiteY0" fmla="*/ 0 h 1517500"/>
                  <a:gd name="connsiteX1" fmla="*/ 76200 w 123825"/>
                  <a:gd name="connsiteY1" fmla="*/ 933450 h 1517500"/>
                  <a:gd name="connsiteX2" fmla="*/ 85725 w 123825"/>
                  <a:gd name="connsiteY2" fmla="*/ 1388270 h 1517500"/>
                  <a:gd name="connsiteX3" fmla="*/ 123825 w 123825"/>
                  <a:gd name="connsiteY3" fmla="*/ 1509713 h 1517500"/>
                  <a:gd name="connsiteX0" fmla="*/ 0 w 123825"/>
                  <a:gd name="connsiteY0" fmla="*/ 0 h 1509713"/>
                  <a:gd name="connsiteX1" fmla="*/ 76200 w 123825"/>
                  <a:gd name="connsiteY1" fmla="*/ 933450 h 1509713"/>
                  <a:gd name="connsiteX2" fmla="*/ 85725 w 123825"/>
                  <a:gd name="connsiteY2" fmla="*/ 1388270 h 1509713"/>
                  <a:gd name="connsiteX3" fmla="*/ 123825 w 123825"/>
                  <a:gd name="connsiteY3" fmla="*/ 1509713 h 1509713"/>
                  <a:gd name="connsiteX0" fmla="*/ 0 w 119063"/>
                  <a:gd name="connsiteY0" fmla="*/ 0 h 1524001"/>
                  <a:gd name="connsiteX1" fmla="*/ 76200 w 119063"/>
                  <a:gd name="connsiteY1" fmla="*/ 933450 h 1524001"/>
                  <a:gd name="connsiteX2" fmla="*/ 85725 w 119063"/>
                  <a:gd name="connsiteY2" fmla="*/ 1388270 h 1524001"/>
                  <a:gd name="connsiteX3" fmla="*/ 119063 w 119063"/>
                  <a:gd name="connsiteY3" fmla="*/ 1524001 h 1524001"/>
                  <a:gd name="connsiteX0" fmla="*/ 0 w 119063"/>
                  <a:gd name="connsiteY0" fmla="*/ 0 h 1524001"/>
                  <a:gd name="connsiteX1" fmla="*/ 76200 w 119063"/>
                  <a:gd name="connsiteY1" fmla="*/ 933450 h 1524001"/>
                  <a:gd name="connsiteX2" fmla="*/ 85725 w 119063"/>
                  <a:gd name="connsiteY2" fmla="*/ 1388270 h 1524001"/>
                  <a:gd name="connsiteX3" fmla="*/ 119063 w 119063"/>
                  <a:gd name="connsiteY3" fmla="*/ 1524001 h 1524001"/>
                  <a:gd name="connsiteX0" fmla="*/ 0 w 111919"/>
                  <a:gd name="connsiteY0" fmla="*/ 0 h 1512095"/>
                  <a:gd name="connsiteX1" fmla="*/ 76200 w 111919"/>
                  <a:gd name="connsiteY1" fmla="*/ 933450 h 1512095"/>
                  <a:gd name="connsiteX2" fmla="*/ 85725 w 111919"/>
                  <a:gd name="connsiteY2" fmla="*/ 1388270 h 1512095"/>
                  <a:gd name="connsiteX3" fmla="*/ 111919 w 111919"/>
                  <a:gd name="connsiteY3" fmla="*/ 1512095 h 1512095"/>
                  <a:gd name="connsiteX0" fmla="*/ 0 w 119063"/>
                  <a:gd name="connsiteY0" fmla="*/ 0 h 1516858"/>
                  <a:gd name="connsiteX1" fmla="*/ 76200 w 119063"/>
                  <a:gd name="connsiteY1" fmla="*/ 933450 h 1516858"/>
                  <a:gd name="connsiteX2" fmla="*/ 85725 w 119063"/>
                  <a:gd name="connsiteY2" fmla="*/ 1388270 h 1516858"/>
                  <a:gd name="connsiteX3" fmla="*/ 119063 w 119063"/>
                  <a:gd name="connsiteY3" fmla="*/ 1516858 h 1516858"/>
                  <a:gd name="connsiteX0" fmla="*/ 0 w 119063"/>
                  <a:gd name="connsiteY0" fmla="*/ 0 h 1516858"/>
                  <a:gd name="connsiteX1" fmla="*/ 76200 w 119063"/>
                  <a:gd name="connsiteY1" fmla="*/ 933450 h 1516858"/>
                  <a:gd name="connsiteX2" fmla="*/ 95250 w 119063"/>
                  <a:gd name="connsiteY2" fmla="*/ 1390651 h 1516858"/>
                  <a:gd name="connsiteX3" fmla="*/ 119063 w 119063"/>
                  <a:gd name="connsiteY3" fmla="*/ 1516858 h 1516858"/>
                </a:gdLst>
                <a:ahLst/>
                <a:cxnLst>
                  <a:cxn ang="0">
                    <a:pos x="connsiteX0" y="connsiteY0"/>
                  </a:cxn>
                  <a:cxn ang="0">
                    <a:pos x="connsiteX1" y="connsiteY1"/>
                  </a:cxn>
                  <a:cxn ang="0">
                    <a:pos x="connsiteX2" y="connsiteY2"/>
                  </a:cxn>
                  <a:cxn ang="0">
                    <a:pos x="connsiteX3" y="connsiteY3"/>
                  </a:cxn>
                </a:cxnLst>
                <a:rect l="l" t="t" r="r" b="b"/>
                <a:pathLst>
                  <a:path w="119063" h="1516858">
                    <a:moveTo>
                      <a:pt x="0" y="0"/>
                    </a:moveTo>
                    <a:cubicBezTo>
                      <a:pt x="30956" y="344090"/>
                      <a:pt x="60325" y="701675"/>
                      <a:pt x="76200" y="933450"/>
                    </a:cubicBezTo>
                    <a:cubicBezTo>
                      <a:pt x="92075" y="1165225"/>
                      <a:pt x="87313" y="1294607"/>
                      <a:pt x="95250" y="1390651"/>
                    </a:cubicBezTo>
                    <a:cubicBezTo>
                      <a:pt x="103188" y="1486695"/>
                      <a:pt x="106363" y="1486299"/>
                      <a:pt x="119063" y="1516858"/>
                    </a:cubicBezTo>
                  </a:path>
                </a:pathLst>
              </a:cu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grpSp>
        <p:sp>
          <p:nvSpPr>
            <p:cNvPr id="80" name="Freeform: Shape 79">
              <a:extLst>
                <a:ext uri="{FF2B5EF4-FFF2-40B4-BE49-F238E27FC236}">
                  <a16:creationId xmlns:a16="http://schemas.microsoft.com/office/drawing/2014/main" id="{59CE45ED-08DD-9CA3-C262-048AD2717FC8}"/>
                </a:ext>
              </a:extLst>
            </p:cNvPr>
            <p:cNvSpPr/>
            <p:nvPr/>
          </p:nvSpPr>
          <p:spPr>
            <a:xfrm>
              <a:off x="8593931" y="4291013"/>
              <a:ext cx="416719" cy="202406"/>
            </a:xfrm>
            <a:custGeom>
              <a:avLst/>
              <a:gdLst>
                <a:gd name="connsiteX0" fmla="*/ 0 w 416719"/>
                <a:gd name="connsiteY0" fmla="*/ 202406 h 202406"/>
                <a:gd name="connsiteX1" fmla="*/ 154782 w 416719"/>
                <a:gd name="connsiteY1" fmla="*/ 166687 h 202406"/>
                <a:gd name="connsiteX2" fmla="*/ 335757 w 416719"/>
                <a:gd name="connsiteY2" fmla="*/ 85725 h 202406"/>
                <a:gd name="connsiteX3" fmla="*/ 416719 w 416719"/>
                <a:gd name="connsiteY3" fmla="*/ 0 h 202406"/>
              </a:gdLst>
              <a:ahLst/>
              <a:cxnLst>
                <a:cxn ang="0">
                  <a:pos x="connsiteX0" y="connsiteY0"/>
                </a:cxn>
                <a:cxn ang="0">
                  <a:pos x="connsiteX1" y="connsiteY1"/>
                </a:cxn>
                <a:cxn ang="0">
                  <a:pos x="connsiteX2" y="connsiteY2"/>
                </a:cxn>
                <a:cxn ang="0">
                  <a:pos x="connsiteX3" y="connsiteY3"/>
                </a:cxn>
              </a:cxnLst>
              <a:rect l="l" t="t" r="r" b="b"/>
              <a:pathLst>
                <a:path w="416719" h="202406">
                  <a:moveTo>
                    <a:pt x="0" y="202406"/>
                  </a:moveTo>
                  <a:cubicBezTo>
                    <a:pt x="49411" y="194270"/>
                    <a:pt x="98822" y="186134"/>
                    <a:pt x="154782" y="166687"/>
                  </a:cubicBezTo>
                  <a:cubicBezTo>
                    <a:pt x="210742" y="147240"/>
                    <a:pt x="292101" y="113506"/>
                    <a:pt x="335757" y="85725"/>
                  </a:cubicBezTo>
                  <a:cubicBezTo>
                    <a:pt x="379413" y="57944"/>
                    <a:pt x="398066" y="28972"/>
                    <a:pt x="416719" y="0"/>
                  </a:cubicBezTo>
                </a:path>
              </a:pathLst>
            </a:cu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grpSp>
          <p:nvGrpSpPr>
            <p:cNvPr id="81" name="Group 80">
              <a:extLst>
                <a:ext uri="{FF2B5EF4-FFF2-40B4-BE49-F238E27FC236}">
                  <a16:creationId xmlns:a16="http://schemas.microsoft.com/office/drawing/2014/main" id="{C932B135-097A-723E-FD1A-12B220A0D3E2}"/>
                </a:ext>
              </a:extLst>
            </p:cNvPr>
            <p:cNvGrpSpPr/>
            <p:nvPr/>
          </p:nvGrpSpPr>
          <p:grpSpPr>
            <a:xfrm>
              <a:off x="8598694" y="2707481"/>
              <a:ext cx="1283494" cy="3176588"/>
              <a:chOff x="8598694" y="2707481"/>
              <a:chExt cx="1283494" cy="3176588"/>
            </a:xfrm>
          </p:grpSpPr>
          <p:sp>
            <p:nvSpPr>
              <p:cNvPr id="97" name="Freeform: Shape 96">
                <a:extLst>
                  <a:ext uri="{FF2B5EF4-FFF2-40B4-BE49-F238E27FC236}">
                    <a16:creationId xmlns:a16="http://schemas.microsoft.com/office/drawing/2014/main" id="{609FCD4A-ABAD-C695-A90A-478FD804457D}"/>
                  </a:ext>
                </a:extLst>
              </p:cNvPr>
              <p:cNvSpPr/>
              <p:nvPr/>
            </p:nvSpPr>
            <p:spPr>
              <a:xfrm>
                <a:off x="8598694" y="3236119"/>
                <a:ext cx="1283494" cy="1050131"/>
              </a:xfrm>
              <a:custGeom>
                <a:avLst/>
                <a:gdLst>
                  <a:gd name="connsiteX0" fmla="*/ 0 w 1283494"/>
                  <a:gd name="connsiteY0" fmla="*/ 0 h 1050131"/>
                  <a:gd name="connsiteX1" fmla="*/ 164306 w 1283494"/>
                  <a:gd name="connsiteY1" fmla="*/ 26194 h 1050131"/>
                  <a:gd name="connsiteX2" fmla="*/ 257175 w 1283494"/>
                  <a:gd name="connsiteY2" fmla="*/ 126206 h 1050131"/>
                  <a:gd name="connsiteX3" fmla="*/ 383381 w 1283494"/>
                  <a:gd name="connsiteY3" fmla="*/ 376237 h 1050131"/>
                  <a:gd name="connsiteX4" fmla="*/ 435769 w 1283494"/>
                  <a:gd name="connsiteY4" fmla="*/ 483394 h 1050131"/>
                  <a:gd name="connsiteX5" fmla="*/ 592931 w 1283494"/>
                  <a:gd name="connsiteY5" fmla="*/ 435769 h 1050131"/>
                  <a:gd name="connsiteX6" fmla="*/ 826294 w 1283494"/>
                  <a:gd name="connsiteY6" fmla="*/ 450056 h 1050131"/>
                  <a:gd name="connsiteX7" fmla="*/ 983456 w 1283494"/>
                  <a:gd name="connsiteY7" fmla="*/ 504825 h 1050131"/>
                  <a:gd name="connsiteX8" fmla="*/ 1152525 w 1283494"/>
                  <a:gd name="connsiteY8" fmla="*/ 650081 h 1050131"/>
                  <a:gd name="connsiteX9" fmla="*/ 1221581 w 1283494"/>
                  <a:gd name="connsiteY9" fmla="*/ 802481 h 1050131"/>
                  <a:gd name="connsiteX10" fmla="*/ 1283494 w 1283494"/>
                  <a:gd name="connsiteY10" fmla="*/ 1050131 h 1050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83494" h="1050131">
                    <a:moveTo>
                      <a:pt x="0" y="0"/>
                    </a:moveTo>
                    <a:cubicBezTo>
                      <a:pt x="60722" y="2580"/>
                      <a:pt x="121444" y="5160"/>
                      <a:pt x="164306" y="26194"/>
                    </a:cubicBezTo>
                    <a:cubicBezTo>
                      <a:pt x="207168" y="47228"/>
                      <a:pt x="220663" y="67866"/>
                      <a:pt x="257175" y="126206"/>
                    </a:cubicBezTo>
                    <a:cubicBezTo>
                      <a:pt x="293687" y="184546"/>
                      <a:pt x="353615" y="316706"/>
                      <a:pt x="383381" y="376237"/>
                    </a:cubicBezTo>
                    <a:cubicBezTo>
                      <a:pt x="413147" y="435768"/>
                      <a:pt x="400844" y="473472"/>
                      <a:pt x="435769" y="483394"/>
                    </a:cubicBezTo>
                    <a:cubicBezTo>
                      <a:pt x="470694" y="493316"/>
                      <a:pt x="527844" y="441325"/>
                      <a:pt x="592931" y="435769"/>
                    </a:cubicBezTo>
                    <a:cubicBezTo>
                      <a:pt x="658019" y="430213"/>
                      <a:pt x="761207" y="438547"/>
                      <a:pt x="826294" y="450056"/>
                    </a:cubicBezTo>
                    <a:cubicBezTo>
                      <a:pt x="891381" y="461565"/>
                      <a:pt x="929084" y="471488"/>
                      <a:pt x="983456" y="504825"/>
                    </a:cubicBezTo>
                    <a:cubicBezTo>
                      <a:pt x="1037828" y="538162"/>
                      <a:pt x="1112838" y="600472"/>
                      <a:pt x="1152525" y="650081"/>
                    </a:cubicBezTo>
                    <a:cubicBezTo>
                      <a:pt x="1192212" y="699690"/>
                      <a:pt x="1199753" y="735806"/>
                      <a:pt x="1221581" y="802481"/>
                    </a:cubicBezTo>
                    <a:cubicBezTo>
                      <a:pt x="1243409" y="869156"/>
                      <a:pt x="1263451" y="959643"/>
                      <a:pt x="1283494" y="1050131"/>
                    </a:cubicBezTo>
                  </a:path>
                </a:pathLst>
              </a:custGeom>
              <a:noFill/>
              <a:ln w="127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98" name="Freeform: Shape 97">
                <a:extLst>
                  <a:ext uri="{FF2B5EF4-FFF2-40B4-BE49-F238E27FC236}">
                    <a16:creationId xmlns:a16="http://schemas.microsoft.com/office/drawing/2014/main" id="{34B47DF0-1EC0-66E0-788F-4D7C4FD4F7BC}"/>
                  </a:ext>
                </a:extLst>
              </p:cNvPr>
              <p:cNvSpPr/>
              <p:nvPr/>
            </p:nvSpPr>
            <p:spPr>
              <a:xfrm>
                <a:off x="9722644" y="2707481"/>
                <a:ext cx="107156" cy="1578769"/>
              </a:xfrm>
              <a:custGeom>
                <a:avLst/>
                <a:gdLst>
                  <a:gd name="connsiteX0" fmla="*/ 0 w 107156"/>
                  <a:gd name="connsiteY0" fmla="*/ 0 h 1578769"/>
                  <a:gd name="connsiteX1" fmla="*/ 50006 w 107156"/>
                  <a:gd name="connsiteY1" fmla="*/ 840582 h 1578769"/>
                  <a:gd name="connsiteX2" fmla="*/ 69056 w 107156"/>
                  <a:gd name="connsiteY2" fmla="*/ 1376363 h 1578769"/>
                  <a:gd name="connsiteX3" fmla="*/ 71437 w 107156"/>
                  <a:gd name="connsiteY3" fmla="*/ 1512094 h 1578769"/>
                  <a:gd name="connsiteX4" fmla="*/ 107156 w 107156"/>
                  <a:gd name="connsiteY4" fmla="*/ 1578769 h 1578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56" h="1578769">
                    <a:moveTo>
                      <a:pt x="0" y="0"/>
                    </a:moveTo>
                    <a:cubicBezTo>
                      <a:pt x="19248" y="305594"/>
                      <a:pt x="38497" y="611188"/>
                      <a:pt x="50006" y="840582"/>
                    </a:cubicBezTo>
                    <a:cubicBezTo>
                      <a:pt x="61515" y="1069976"/>
                      <a:pt x="65484" y="1264444"/>
                      <a:pt x="69056" y="1376363"/>
                    </a:cubicBezTo>
                    <a:cubicBezTo>
                      <a:pt x="72628" y="1488282"/>
                      <a:pt x="65087" y="1478360"/>
                      <a:pt x="71437" y="1512094"/>
                    </a:cubicBezTo>
                    <a:cubicBezTo>
                      <a:pt x="77787" y="1545828"/>
                      <a:pt x="92471" y="1562298"/>
                      <a:pt x="107156" y="1578769"/>
                    </a:cubicBezTo>
                  </a:path>
                </a:pathLst>
              </a:custGeom>
              <a:noFill/>
              <a:ln w="127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99" name="Freeform: Shape 98">
                <a:extLst>
                  <a:ext uri="{FF2B5EF4-FFF2-40B4-BE49-F238E27FC236}">
                    <a16:creationId xmlns:a16="http://schemas.microsoft.com/office/drawing/2014/main" id="{DDDCA609-D119-673D-C2CA-36D0209ABDB3}"/>
                  </a:ext>
                </a:extLst>
              </p:cNvPr>
              <p:cNvSpPr/>
              <p:nvPr/>
            </p:nvSpPr>
            <p:spPr>
              <a:xfrm>
                <a:off x="9186863" y="4288631"/>
                <a:ext cx="185737" cy="1595438"/>
              </a:xfrm>
              <a:custGeom>
                <a:avLst/>
                <a:gdLst>
                  <a:gd name="connsiteX0" fmla="*/ 204787 w 204787"/>
                  <a:gd name="connsiteY0" fmla="*/ 0 h 1597819"/>
                  <a:gd name="connsiteX1" fmla="*/ 128587 w 204787"/>
                  <a:gd name="connsiteY1" fmla="*/ 1383507 h 1597819"/>
                  <a:gd name="connsiteX2" fmla="*/ 92868 w 204787"/>
                  <a:gd name="connsiteY2" fmla="*/ 1447800 h 1597819"/>
                  <a:gd name="connsiteX3" fmla="*/ 66675 w 204787"/>
                  <a:gd name="connsiteY3" fmla="*/ 985838 h 1597819"/>
                  <a:gd name="connsiteX4" fmla="*/ 30956 w 204787"/>
                  <a:gd name="connsiteY4" fmla="*/ 1245394 h 1597819"/>
                  <a:gd name="connsiteX5" fmla="*/ 0 w 204787"/>
                  <a:gd name="connsiteY5" fmla="*/ 1597819 h 1597819"/>
                  <a:gd name="connsiteX0" fmla="*/ 185737 w 185737"/>
                  <a:gd name="connsiteY0" fmla="*/ 0 h 1595438"/>
                  <a:gd name="connsiteX1" fmla="*/ 109537 w 185737"/>
                  <a:gd name="connsiteY1" fmla="*/ 1383507 h 1595438"/>
                  <a:gd name="connsiteX2" fmla="*/ 73818 w 185737"/>
                  <a:gd name="connsiteY2" fmla="*/ 1447800 h 1595438"/>
                  <a:gd name="connsiteX3" fmla="*/ 47625 w 185737"/>
                  <a:gd name="connsiteY3" fmla="*/ 985838 h 1595438"/>
                  <a:gd name="connsiteX4" fmla="*/ 11906 w 185737"/>
                  <a:gd name="connsiteY4" fmla="*/ 1245394 h 1595438"/>
                  <a:gd name="connsiteX5" fmla="*/ 0 w 185737"/>
                  <a:gd name="connsiteY5" fmla="*/ 1595438 h 1595438"/>
                  <a:gd name="connsiteX0" fmla="*/ 185737 w 185737"/>
                  <a:gd name="connsiteY0" fmla="*/ 0 h 1595438"/>
                  <a:gd name="connsiteX1" fmla="*/ 109537 w 185737"/>
                  <a:gd name="connsiteY1" fmla="*/ 1383507 h 1595438"/>
                  <a:gd name="connsiteX2" fmla="*/ 73818 w 185737"/>
                  <a:gd name="connsiteY2" fmla="*/ 1447800 h 1595438"/>
                  <a:gd name="connsiteX3" fmla="*/ 47625 w 185737"/>
                  <a:gd name="connsiteY3" fmla="*/ 985838 h 1595438"/>
                  <a:gd name="connsiteX4" fmla="*/ 11906 w 185737"/>
                  <a:gd name="connsiteY4" fmla="*/ 1245394 h 1595438"/>
                  <a:gd name="connsiteX5" fmla="*/ 0 w 185737"/>
                  <a:gd name="connsiteY5" fmla="*/ 1595438 h 1595438"/>
                  <a:gd name="connsiteX0" fmla="*/ 185737 w 185737"/>
                  <a:gd name="connsiteY0" fmla="*/ 0 h 1595438"/>
                  <a:gd name="connsiteX1" fmla="*/ 123825 w 185737"/>
                  <a:gd name="connsiteY1" fmla="*/ 1383507 h 1595438"/>
                  <a:gd name="connsiteX2" fmla="*/ 73818 w 185737"/>
                  <a:gd name="connsiteY2" fmla="*/ 1447800 h 1595438"/>
                  <a:gd name="connsiteX3" fmla="*/ 47625 w 185737"/>
                  <a:gd name="connsiteY3" fmla="*/ 985838 h 1595438"/>
                  <a:gd name="connsiteX4" fmla="*/ 11906 w 185737"/>
                  <a:gd name="connsiteY4" fmla="*/ 1245394 h 1595438"/>
                  <a:gd name="connsiteX5" fmla="*/ 0 w 185737"/>
                  <a:gd name="connsiteY5" fmla="*/ 1595438 h 1595438"/>
                  <a:gd name="connsiteX0" fmla="*/ 185737 w 185737"/>
                  <a:gd name="connsiteY0" fmla="*/ 0 h 1595438"/>
                  <a:gd name="connsiteX1" fmla="*/ 123825 w 185737"/>
                  <a:gd name="connsiteY1" fmla="*/ 1383507 h 1595438"/>
                  <a:gd name="connsiteX2" fmla="*/ 73818 w 185737"/>
                  <a:gd name="connsiteY2" fmla="*/ 1447800 h 1595438"/>
                  <a:gd name="connsiteX3" fmla="*/ 45244 w 185737"/>
                  <a:gd name="connsiteY3" fmla="*/ 957263 h 1595438"/>
                  <a:gd name="connsiteX4" fmla="*/ 11906 w 185737"/>
                  <a:gd name="connsiteY4" fmla="*/ 1245394 h 1595438"/>
                  <a:gd name="connsiteX5" fmla="*/ 0 w 185737"/>
                  <a:gd name="connsiteY5" fmla="*/ 1595438 h 1595438"/>
                  <a:gd name="connsiteX0" fmla="*/ 185737 w 185737"/>
                  <a:gd name="connsiteY0" fmla="*/ 0 h 1595438"/>
                  <a:gd name="connsiteX1" fmla="*/ 123825 w 185737"/>
                  <a:gd name="connsiteY1" fmla="*/ 1383507 h 1595438"/>
                  <a:gd name="connsiteX2" fmla="*/ 73818 w 185737"/>
                  <a:gd name="connsiteY2" fmla="*/ 1447800 h 1595438"/>
                  <a:gd name="connsiteX3" fmla="*/ 45244 w 185737"/>
                  <a:gd name="connsiteY3" fmla="*/ 957263 h 1595438"/>
                  <a:gd name="connsiteX4" fmla="*/ 11906 w 185737"/>
                  <a:gd name="connsiteY4" fmla="*/ 1245394 h 1595438"/>
                  <a:gd name="connsiteX5" fmla="*/ 0 w 185737"/>
                  <a:gd name="connsiteY5" fmla="*/ 1595438 h 1595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737" h="1595438">
                    <a:moveTo>
                      <a:pt x="185737" y="0"/>
                    </a:moveTo>
                    <a:cubicBezTo>
                      <a:pt x="156963" y="571103"/>
                      <a:pt x="128191" y="1177926"/>
                      <a:pt x="123825" y="1383507"/>
                    </a:cubicBezTo>
                    <a:cubicBezTo>
                      <a:pt x="119459" y="1589088"/>
                      <a:pt x="86915" y="1518841"/>
                      <a:pt x="73818" y="1447800"/>
                    </a:cubicBezTo>
                    <a:cubicBezTo>
                      <a:pt x="60721" y="1376759"/>
                      <a:pt x="55563" y="990997"/>
                      <a:pt x="45244" y="957263"/>
                    </a:cubicBezTo>
                    <a:cubicBezTo>
                      <a:pt x="34925" y="923529"/>
                      <a:pt x="23018" y="1143397"/>
                      <a:pt x="11906" y="1245394"/>
                    </a:cubicBezTo>
                    <a:cubicBezTo>
                      <a:pt x="794" y="1347391"/>
                      <a:pt x="9922" y="1470224"/>
                      <a:pt x="0" y="1595438"/>
                    </a:cubicBezTo>
                  </a:path>
                </a:pathLst>
              </a:custGeom>
              <a:noFill/>
              <a:ln w="127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grpSp>
        <p:grpSp>
          <p:nvGrpSpPr>
            <p:cNvPr id="82" name="Group 81">
              <a:extLst>
                <a:ext uri="{FF2B5EF4-FFF2-40B4-BE49-F238E27FC236}">
                  <a16:creationId xmlns:a16="http://schemas.microsoft.com/office/drawing/2014/main" id="{49F6FACF-77F5-1067-49CD-1963076651D3}"/>
                </a:ext>
              </a:extLst>
            </p:cNvPr>
            <p:cNvGrpSpPr/>
            <p:nvPr/>
          </p:nvGrpSpPr>
          <p:grpSpPr>
            <a:xfrm>
              <a:off x="8588375" y="3424960"/>
              <a:ext cx="1123950" cy="2467840"/>
              <a:chOff x="8588375" y="3424960"/>
              <a:chExt cx="1123950" cy="2467840"/>
            </a:xfrm>
          </p:grpSpPr>
          <p:grpSp>
            <p:nvGrpSpPr>
              <p:cNvPr id="93" name="Group 92">
                <a:extLst>
                  <a:ext uri="{FF2B5EF4-FFF2-40B4-BE49-F238E27FC236}">
                    <a16:creationId xmlns:a16="http://schemas.microsoft.com/office/drawing/2014/main" id="{4336C412-A04C-D2D0-860D-6AD24D69C258}"/>
                  </a:ext>
                </a:extLst>
              </p:cNvPr>
              <p:cNvGrpSpPr/>
              <p:nvPr/>
            </p:nvGrpSpPr>
            <p:grpSpPr>
              <a:xfrm>
                <a:off x="8588375" y="3424960"/>
                <a:ext cx="1123950" cy="864465"/>
                <a:chOff x="8588375" y="3424960"/>
                <a:chExt cx="1123950" cy="864465"/>
              </a:xfrm>
            </p:grpSpPr>
            <p:sp>
              <p:nvSpPr>
                <p:cNvPr id="95" name="Freeform: Shape 94">
                  <a:extLst>
                    <a:ext uri="{FF2B5EF4-FFF2-40B4-BE49-F238E27FC236}">
                      <a16:creationId xmlns:a16="http://schemas.microsoft.com/office/drawing/2014/main" id="{C8399010-A4E4-B91B-17C0-CAA549F51114}"/>
                    </a:ext>
                  </a:extLst>
                </p:cNvPr>
                <p:cNvSpPr/>
                <p:nvPr/>
              </p:nvSpPr>
              <p:spPr>
                <a:xfrm>
                  <a:off x="8594725" y="3874324"/>
                  <a:ext cx="1117600" cy="415101"/>
                </a:xfrm>
                <a:custGeom>
                  <a:avLst/>
                  <a:gdLst>
                    <a:gd name="connsiteX0" fmla="*/ 0 w 1117600"/>
                    <a:gd name="connsiteY0" fmla="*/ 8701 h 415101"/>
                    <a:gd name="connsiteX1" fmla="*/ 355600 w 1117600"/>
                    <a:gd name="connsiteY1" fmla="*/ 2351 h 415101"/>
                    <a:gd name="connsiteX2" fmla="*/ 587375 w 1117600"/>
                    <a:gd name="connsiteY2" fmla="*/ 43626 h 415101"/>
                    <a:gd name="connsiteX3" fmla="*/ 762000 w 1117600"/>
                    <a:gd name="connsiteY3" fmla="*/ 84901 h 415101"/>
                    <a:gd name="connsiteX4" fmla="*/ 933450 w 1117600"/>
                    <a:gd name="connsiteY4" fmla="*/ 157926 h 415101"/>
                    <a:gd name="connsiteX5" fmla="*/ 1060450 w 1117600"/>
                    <a:gd name="connsiteY5" fmla="*/ 303976 h 415101"/>
                    <a:gd name="connsiteX6" fmla="*/ 1117600 w 1117600"/>
                    <a:gd name="connsiteY6" fmla="*/ 415101 h 415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7600" h="415101">
                      <a:moveTo>
                        <a:pt x="0" y="8701"/>
                      </a:moveTo>
                      <a:cubicBezTo>
                        <a:pt x="128852" y="2615"/>
                        <a:pt x="257704" y="-3470"/>
                        <a:pt x="355600" y="2351"/>
                      </a:cubicBezTo>
                      <a:cubicBezTo>
                        <a:pt x="453496" y="8172"/>
                        <a:pt x="519642" y="29868"/>
                        <a:pt x="587375" y="43626"/>
                      </a:cubicBezTo>
                      <a:cubicBezTo>
                        <a:pt x="655108" y="57384"/>
                        <a:pt x="704321" y="65851"/>
                        <a:pt x="762000" y="84901"/>
                      </a:cubicBezTo>
                      <a:cubicBezTo>
                        <a:pt x="819679" y="103951"/>
                        <a:pt x="883709" y="121414"/>
                        <a:pt x="933450" y="157926"/>
                      </a:cubicBezTo>
                      <a:cubicBezTo>
                        <a:pt x="983191" y="194438"/>
                        <a:pt x="1029758" y="261114"/>
                        <a:pt x="1060450" y="303976"/>
                      </a:cubicBezTo>
                      <a:cubicBezTo>
                        <a:pt x="1091142" y="346838"/>
                        <a:pt x="1104371" y="380969"/>
                        <a:pt x="1117600" y="415101"/>
                      </a:cubicBez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96" name="Freeform: Shape 95">
                  <a:extLst>
                    <a:ext uri="{FF2B5EF4-FFF2-40B4-BE49-F238E27FC236}">
                      <a16:creationId xmlns:a16="http://schemas.microsoft.com/office/drawing/2014/main" id="{10DD384D-DDB3-EAA1-8B2A-28DE273F3469}"/>
                    </a:ext>
                  </a:extLst>
                </p:cNvPr>
                <p:cNvSpPr/>
                <p:nvPr/>
              </p:nvSpPr>
              <p:spPr>
                <a:xfrm>
                  <a:off x="8588375" y="3424960"/>
                  <a:ext cx="758825" cy="864465"/>
                </a:xfrm>
                <a:custGeom>
                  <a:avLst/>
                  <a:gdLst>
                    <a:gd name="connsiteX0" fmla="*/ 0 w 758825"/>
                    <a:gd name="connsiteY0" fmla="*/ 857250 h 860425"/>
                    <a:gd name="connsiteX1" fmla="*/ 196850 w 758825"/>
                    <a:gd name="connsiteY1" fmla="*/ 860425 h 860425"/>
                    <a:gd name="connsiteX2" fmla="*/ 292100 w 758825"/>
                    <a:gd name="connsiteY2" fmla="*/ 622300 h 860425"/>
                    <a:gd name="connsiteX3" fmla="*/ 381000 w 758825"/>
                    <a:gd name="connsiteY3" fmla="*/ 263525 h 860425"/>
                    <a:gd name="connsiteX4" fmla="*/ 422275 w 758825"/>
                    <a:gd name="connsiteY4" fmla="*/ 0 h 860425"/>
                    <a:gd name="connsiteX5" fmla="*/ 504825 w 758825"/>
                    <a:gd name="connsiteY5" fmla="*/ 142875 h 860425"/>
                    <a:gd name="connsiteX6" fmla="*/ 631825 w 758825"/>
                    <a:gd name="connsiteY6" fmla="*/ 641350 h 860425"/>
                    <a:gd name="connsiteX7" fmla="*/ 682625 w 758825"/>
                    <a:gd name="connsiteY7" fmla="*/ 822325 h 860425"/>
                    <a:gd name="connsiteX8" fmla="*/ 758825 w 758825"/>
                    <a:gd name="connsiteY8" fmla="*/ 860425 h 860425"/>
                    <a:gd name="connsiteX0" fmla="*/ 0 w 758825"/>
                    <a:gd name="connsiteY0" fmla="*/ 861290 h 864465"/>
                    <a:gd name="connsiteX1" fmla="*/ 196850 w 758825"/>
                    <a:gd name="connsiteY1" fmla="*/ 864465 h 864465"/>
                    <a:gd name="connsiteX2" fmla="*/ 292100 w 758825"/>
                    <a:gd name="connsiteY2" fmla="*/ 626340 h 864465"/>
                    <a:gd name="connsiteX3" fmla="*/ 381000 w 758825"/>
                    <a:gd name="connsiteY3" fmla="*/ 267565 h 864465"/>
                    <a:gd name="connsiteX4" fmla="*/ 422275 w 758825"/>
                    <a:gd name="connsiteY4" fmla="*/ 4040 h 864465"/>
                    <a:gd name="connsiteX5" fmla="*/ 504825 w 758825"/>
                    <a:gd name="connsiteY5" fmla="*/ 146915 h 864465"/>
                    <a:gd name="connsiteX6" fmla="*/ 631825 w 758825"/>
                    <a:gd name="connsiteY6" fmla="*/ 645390 h 864465"/>
                    <a:gd name="connsiteX7" fmla="*/ 682625 w 758825"/>
                    <a:gd name="connsiteY7" fmla="*/ 826365 h 864465"/>
                    <a:gd name="connsiteX8" fmla="*/ 758825 w 758825"/>
                    <a:gd name="connsiteY8" fmla="*/ 864465 h 864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8825" h="864465">
                      <a:moveTo>
                        <a:pt x="0" y="861290"/>
                      </a:moveTo>
                      <a:lnTo>
                        <a:pt x="196850" y="864465"/>
                      </a:lnTo>
                      <a:lnTo>
                        <a:pt x="292100" y="626340"/>
                      </a:lnTo>
                      <a:lnTo>
                        <a:pt x="381000" y="267565"/>
                      </a:lnTo>
                      <a:lnTo>
                        <a:pt x="422275" y="4040"/>
                      </a:lnTo>
                      <a:cubicBezTo>
                        <a:pt x="442912" y="-16068"/>
                        <a:pt x="469900" y="40023"/>
                        <a:pt x="504825" y="146915"/>
                      </a:cubicBezTo>
                      <a:cubicBezTo>
                        <a:pt x="539750" y="253807"/>
                        <a:pt x="602192" y="532148"/>
                        <a:pt x="631825" y="645390"/>
                      </a:cubicBezTo>
                      <a:lnTo>
                        <a:pt x="682625" y="826365"/>
                      </a:lnTo>
                      <a:lnTo>
                        <a:pt x="758825" y="864465"/>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grpSp>
          <p:sp>
            <p:nvSpPr>
              <p:cNvPr id="94" name="Freeform: Shape 93">
                <a:extLst>
                  <a:ext uri="{FF2B5EF4-FFF2-40B4-BE49-F238E27FC236}">
                    <a16:creationId xmlns:a16="http://schemas.microsoft.com/office/drawing/2014/main" id="{1EAA5A86-BE5C-D5D3-BBF2-DF6F0F53E1F4}"/>
                  </a:ext>
                </a:extLst>
              </p:cNvPr>
              <p:cNvSpPr/>
              <p:nvPr/>
            </p:nvSpPr>
            <p:spPr>
              <a:xfrm>
                <a:off x="8893175" y="4286250"/>
                <a:ext cx="101600" cy="1606550"/>
              </a:xfrm>
              <a:custGeom>
                <a:avLst/>
                <a:gdLst>
                  <a:gd name="connsiteX0" fmla="*/ 101600 w 101600"/>
                  <a:gd name="connsiteY0" fmla="*/ 0 h 1606550"/>
                  <a:gd name="connsiteX1" fmla="*/ 69850 w 101600"/>
                  <a:gd name="connsiteY1" fmla="*/ 739775 h 1606550"/>
                  <a:gd name="connsiteX2" fmla="*/ 19050 w 101600"/>
                  <a:gd name="connsiteY2" fmla="*/ 1368425 h 1606550"/>
                  <a:gd name="connsiteX3" fmla="*/ 0 w 101600"/>
                  <a:gd name="connsiteY3" fmla="*/ 1606550 h 1606550"/>
                </a:gdLst>
                <a:ahLst/>
                <a:cxnLst>
                  <a:cxn ang="0">
                    <a:pos x="connsiteX0" y="connsiteY0"/>
                  </a:cxn>
                  <a:cxn ang="0">
                    <a:pos x="connsiteX1" y="connsiteY1"/>
                  </a:cxn>
                  <a:cxn ang="0">
                    <a:pos x="connsiteX2" y="connsiteY2"/>
                  </a:cxn>
                  <a:cxn ang="0">
                    <a:pos x="connsiteX3" y="connsiteY3"/>
                  </a:cxn>
                </a:cxnLst>
                <a:rect l="l" t="t" r="r" b="b"/>
                <a:pathLst>
                  <a:path w="101600" h="1606550">
                    <a:moveTo>
                      <a:pt x="101600" y="0"/>
                    </a:moveTo>
                    <a:lnTo>
                      <a:pt x="69850" y="739775"/>
                    </a:lnTo>
                    <a:lnTo>
                      <a:pt x="19050" y="1368425"/>
                    </a:lnTo>
                    <a:lnTo>
                      <a:pt x="0" y="1606550"/>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grpSp>
        <p:sp>
          <p:nvSpPr>
            <p:cNvPr id="83" name="Freeform: Shape 82">
              <a:extLst>
                <a:ext uri="{FF2B5EF4-FFF2-40B4-BE49-F238E27FC236}">
                  <a16:creationId xmlns:a16="http://schemas.microsoft.com/office/drawing/2014/main" id="{8630583D-BEF9-4559-7447-9527A25C3CE2}"/>
                </a:ext>
              </a:extLst>
            </p:cNvPr>
            <p:cNvSpPr/>
            <p:nvPr/>
          </p:nvSpPr>
          <p:spPr>
            <a:xfrm>
              <a:off x="8924925" y="2705100"/>
              <a:ext cx="920750" cy="1577975"/>
            </a:xfrm>
            <a:custGeom>
              <a:avLst/>
              <a:gdLst>
                <a:gd name="connsiteX0" fmla="*/ 0 w 927100"/>
                <a:gd name="connsiteY0" fmla="*/ 0 h 1574800"/>
                <a:gd name="connsiteX1" fmla="*/ 101600 w 927100"/>
                <a:gd name="connsiteY1" fmla="*/ 523875 h 1574800"/>
                <a:gd name="connsiteX2" fmla="*/ 171450 w 927100"/>
                <a:gd name="connsiteY2" fmla="*/ 635000 h 1574800"/>
                <a:gd name="connsiteX3" fmla="*/ 285750 w 927100"/>
                <a:gd name="connsiteY3" fmla="*/ 1016000 h 1574800"/>
                <a:gd name="connsiteX4" fmla="*/ 349250 w 927100"/>
                <a:gd name="connsiteY4" fmla="*/ 1257300 h 1574800"/>
                <a:gd name="connsiteX5" fmla="*/ 438150 w 927100"/>
                <a:gd name="connsiteY5" fmla="*/ 1279525 h 1574800"/>
                <a:gd name="connsiteX6" fmla="*/ 577850 w 927100"/>
                <a:gd name="connsiteY6" fmla="*/ 1301750 h 1574800"/>
                <a:gd name="connsiteX7" fmla="*/ 733425 w 927100"/>
                <a:gd name="connsiteY7" fmla="*/ 1346200 h 1574800"/>
                <a:gd name="connsiteX8" fmla="*/ 784225 w 927100"/>
                <a:gd name="connsiteY8" fmla="*/ 1403350 h 1574800"/>
                <a:gd name="connsiteX9" fmla="*/ 787400 w 927100"/>
                <a:gd name="connsiteY9" fmla="*/ 1425575 h 1574800"/>
                <a:gd name="connsiteX10" fmla="*/ 815975 w 927100"/>
                <a:gd name="connsiteY10" fmla="*/ 1431925 h 1574800"/>
                <a:gd name="connsiteX11" fmla="*/ 889000 w 927100"/>
                <a:gd name="connsiteY11" fmla="*/ 1479550 h 1574800"/>
                <a:gd name="connsiteX12" fmla="*/ 927100 w 927100"/>
                <a:gd name="connsiteY12" fmla="*/ 1574800 h 1574800"/>
                <a:gd name="connsiteX0" fmla="*/ 0 w 927100"/>
                <a:gd name="connsiteY0" fmla="*/ 0 h 1574800"/>
                <a:gd name="connsiteX1" fmla="*/ 101600 w 927100"/>
                <a:gd name="connsiteY1" fmla="*/ 523875 h 1574800"/>
                <a:gd name="connsiteX2" fmla="*/ 171450 w 927100"/>
                <a:gd name="connsiteY2" fmla="*/ 635000 h 1574800"/>
                <a:gd name="connsiteX3" fmla="*/ 285750 w 927100"/>
                <a:gd name="connsiteY3" fmla="*/ 1016000 h 1574800"/>
                <a:gd name="connsiteX4" fmla="*/ 349250 w 927100"/>
                <a:gd name="connsiteY4" fmla="*/ 1257300 h 1574800"/>
                <a:gd name="connsiteX5" fmla="*/ 438150 w 927100"/>
                <a:gd name="connsiteY5" fmla="*/ 1279525 h 1574800"/>
                <a:gd name="connsiteX6" fmla="*/ 577850 w 927100"/>
                <a:gd name="connsiteY6" fmla="*/ 1301750 h 1574800"/>
                <a:gd name="connsiteX7" fmla="*/ 733425 w 927100"/>
                <a:gd name="connsiteY7" fmla="*/ 1346200 h 1574800"/>
                <a:gd name="connsiteX8" fmla="*/ 784225 w 927100"/>
                <a:gd name="connsiteY8" fmla="*/ 1403350 h 1574800"/>
                <a:gd name="connsiteX9" fmla="*/ 787400 w 927100"/>
                <a:gd name="connsiteY9" fmla="*/ 1425575 h 1574800"/>
                <a:gd name="connsiteX10" fmla="*/ 815975 w 927100"/>
                <a:gd name="connsiteY10" fmla="*/ 1431925 h 1574800"/>
                <a:gd name="connsiteX11" fmla="*/ 889000 w 927100"/>
                <a:gd name="connsiteY11" fmla="*/ 1479550 h 1574800"/>
                <a:gd name="connsiteX12" fmla="*/ 927100 w 927100"/>
                <a:gd name="connsiteY12" fmla="*/ 1574800 h 1574800"/>
                <a:gd name="connsiteX0" fmla="*/ 0 w 927100"/>
                <a:gd name="connsiteY0" fmla="*/ 0 h 1574800"/>
                <a:gd name="connsiteX1" fmla="*/ 101600 w 927100"/>
                <a:gd name="connsiteY1" fmla="*/ 523875 h 1574800"/>
                <a:gd name="connsiteX2" fmla="*/ 171450 w 927100"/>
                <a:gd name="connsiteY2" fmla="*/ 635000 h 1574800"/>
                <a:gd name="connsiteX3" fmla="*/ 285750 w 927100"/>
                <a:gd name="connsiteY3" fmla="*/ 1016000 h 1574800"/>
                <a:gd name="connsiteX4" fmla="*/ 339725 w 927100"/>
                <a:gd name="connsiteY4" fmla="*/ 1233487 h 1574800"/>
                <a:gd name="connsiteX5" fmla="*/ 438150 w 927100"/>
                <a:gd name="connsiteY5" fmla="*/ 1279525 h 1574800"/>
                <a:gd name="connsiteX6" fmla="*/ 577850 w 927100"/>
                <a:gd name="connsiteY6" fmla="*/ 1301750 h 1574800"/>
                <a:gd name="connsiteX7" fmla="*/ 733425 w 927100"/>
                <a:gd name="connsiteY7" fmla="*/ 1346200 h 1574800"/>
                <a:gd name="connsiteX8" fmla="*/ 784225 w 927100"/>
                <a:gd name="connsiteY8" fmla="*/ 1403350 h 1574800"/>
                <a:gd name="connsiteX9" fmla="*/ 787400 w 927100"/>
                <a:gd name="connsiteY9" fmla="*/ 1425575 h 1574800"/>
                <a:gd name="connsiteX10" fmla="*/ 815975 w 927100"/>
                <a:gd name="connsiteY10" fmla="*/ 1431925 h 1574800"/>
                <a:gd name="connsiteX11" fmla="*/ 889000 w 927100"/>
                <a:gd name="connsiteY11" fmla="*/ 1479550 h 1574800"/>
                <a:gd name="connsiteX12" fmla="*/ 927100 w 927100"/>
                <a:gd name="connsiteY12" fmla="*/ 1574800 h 1574800"/>
                <a:gd name="connsiteX0" fmla="*/ 0 w 927100"/>
                <a:gd name="connsiteY0" fmla="*/ 0 h 1574800"/>
                <a:gd name="connsiteX1" fmla="*/ 101600 w 927100"/>
                <a:gd name="connsiteY1" fmla="*/ 523875 h 1574800"/>
                <a:gd name="connsiteX2" fmla="*/ 171450 w 927100"/>
                <a:gd name="connsiteY2" fmla="*/ 635000 h 1574800"/>
                <a:gd name="connsiteX3" fmla="*/ 290512 w 927100"/>
                <a:gd name="connsiteY3" fmla="*/ 1016000 h 1574800"/>
                <a:gd name="connsiteX4" fmla="*/ 339725 w 927100"/>
                <a:gd name="connsiteY4" fmla="*/ 1233487 h 1574800"/>
                <a:gd name="connsiteX5" fmla="*/ 438150 w 927100"/>
                <a:gd name="connsiteY5" fmla="*/ 1279525 h 1574800"/>
                <a:gd name="connsiteX6" fmla="*/ 577850 w 927100"/>
                <a:gd name="connsiteY6" fmla="*/ 1301750 h 1574800"/>
                <a:gd name="connsiteX7" fmla="*/ 733425 w 927100"/>
                <a:gd name="connsiteY7" fmla="*/ 1346200 h 1574800"/>
                <a:gd name="connsiteX8" fmla="*/ 784225 w 927100"/>
                <a:gd name="connsiteY8" fmla="*/ 1403350 h 1574800"/>
                <a:gd name="connsiteX9" fmla="*/ 787400 w 927100"/>
                <a:gd name="connsiteY9" fmla="*/ 1425575 h 1574800"/>
                <a:gd name="connsiteX10" fmla="*/ 815975 w 927100"/>
                <a:gd name="connsiteY10" fmla="*/ 1431925 h 1574800"/>
                <a:gd name="connsiteX11" fmla="*/ 889000 w 927100"/>
                <a:gd name="connsiteY11" fmla="*/ 1479550 h 1574800"/>
                <a:gd name="connsiteX12" fmla="*/ 927100 w 927100"/>
                <a:gd name="connsiteY12" fmla="*/ 1574800 h 1574800"/>
                <a:gd name="connsiteX0" fmla="*/ 0 w 927100"/>
                <a:gd name="connsiteY0" fmla="*/ 0 h 1574800"/>
                <a:gd name="connsiteX1" fmla="*/ 101600 w 927100"/>
                <a:gd name="connsiteY1" fmla="*/ 523875 h 1574800"/>
                <a:gd name="connsiteX2" fmla="*/ 171450 w 927100"/>
                <a:gd name="connsiteY2" fmla="*/ 635000 h 1574800"/>
                <a:gd name="connsiteX3" fmla="*/ 290512 w 927100"/>
                <a:gd name="connsiteY3" fmla="*/ 1016000 h 1574800"/>
                <a:gd name="connsiteX4" fmla="*/ 339725 w 927100"/>
                <a:gd name="connsiteY4" fmla="*/ 1233487 h 1574800"/>
                <a:gd name="connsiteX5" fmla="*/ 438150 w 927100"/>
                <a:gd name="connsiteY5" fmla="*/ 1279525 h 1574800"/>
                <a:gd name="connsiteX6" fmla="*/ 577850 w 927100"/>
                <a:gd name="connsiteY6" fmla="*/ 1301750 h 1574800"/>
                <a:gd name="connsiteX7" fmla="*/ 733425 w 927100"/>
                <a:gd name="connsiteY7" fmla="*/ 1346200 h 1574800"/>
                <a:gd name="connsiteX8" fmla="*/ 784225 w 927100"/>
                <a:gd name="connsiteY8" fmla="*/ 1403350 h 1574800"/>
                <a:gd name="connsiteX9" fmla="*/ 787400 w 927100"/>
                <a:gd name="connsiteY9" fmla="*/ 1425575 h 1574800"/>
                <a:gd name="connsiteX10" fmla="*/ 815975 w 927100"/>
                <a:gd name="connsiteY10" fmla="*/ 1431925 h 1574800"/>
                <a:gd name="connsiteX11" fmla="*/ 889000 w 927100"/>
                <a:gd name="connsiteY11" fmla="*/ 1479550 h 1574800"/>
                <a:gd name="connsiteX12" fmla="*/ 927100 w 927100"/>
                <a:gd name="connsiteY12" fmla="*/ 1574800 h 1574800"/>
                <a:gd name="connsiteX0" fmla="*/ 0 w 927100"/>
                <a:gd name="connsiteY0" fmla="*/ 0 h 1574800"/>
                <a:gd name="connsiteX1" fmla="*/ 101600 w 927100"/>
                <a:gd name="connsiteY1" fmla="*/ 523875 h 1574800"/>
                <a:gd name="connsiteX2" fmla="*/ 171450 w 927100"/>
                <a:gd name="connsiteY2" fmla="*/ 635000 h 1574800"/>
                <a:gd name="connsiteX3" fmla="*/ 290512 w 927100"/>
                <a:gd name="connsiteY3" fmla="*/ 1016000 h 1574800"/>
                <a:gd name="connsiteX4" fmla="*/ 339725 w 927100"/>
                <a:gd name="connsiteY4" fmla="*/ 1233487 h 1574800"/>
                <a:gd name="connsiteX5" fmla="*/ 438150 w 927100"/>
                <a:gd name="connsiteY5" fmla="*/ 1279525 h 1574800"/>
                <a:gd name="connsiteX6" fmla="*/ 570706 w 927100"/>
                <a:gd name="connsiteY6" fmla="*/ 1294606 h 1574800"/>
                <a:gd name="connsiteX7" fmla="*/ 733425 w 927100"/>
                <a:gd name="connsiteY7" fmla="*/ 1346200 h 1574800"/>
                <a:gd name="connsiteX8" fmla="*/ 784225 w 927100"/>
                <a:gd name="connsiteY8" fmla="*/ 1403350 h 1574800"/>
                <a:gd name="connsiteX9" fmla="*/ 787400 w 927100"/>
                <a:gd name="connsiteY9" fmla="*/ 1425575 h 1574800"/>
                <a:gd name="connsiteX10" fmla="*/ 815975 w 927100"/>
                <a:gd name="connsiteY10" fmla="*/ 1431925 h 1574800"/>
                <a:gd name="connsiteX11" fmla="*/ 889000 w 927100"/>
                <a:gd name="connsiteY11" fmla="*/ 1479550 h 1574800"/>
                <a:gd name="connsiteX12" fmla="*/ 927100 w 927100"/>
                <a:gd name="connsiteY12" fmla="*/ 1574800 h 1574800"/>
                <a:gd name="connsiteX0" fmla="*/ 0 w 927100"/>
                <a:gd name="connsiteY0" fmla="*/ 0 h 1574800"/>
                <a:gd name="connsiteX1" fmla="*/ 101600 w 927100"/>
                <a:gd name="connsiteY1" fmla="*/ 523875 h 1574800"/>
                <a:gd name="connsiteX2" fmla="*/ 171450 w 927100"/>
                <a:gd name="connsiteY2" fmla="*/ 635000 h 1574800"/>
                <a:gd name="connsiteX3" fmla="*/ 290512 w 927100"/>
                <a:gd name="connsiteY3" fmla="*/ 1016000 h 1574800"/>
                <a:gd name="connsiteX4" fmla="*/ 339725 w 927100"/>
                <a:gd name="connsiteY4" fmla="*/ 1233487 h 1574800"/>
                <a:gd name="connsiteX5" fmla="*/ 438150 w 927100"/>
                <a:gd name="connsiteY5" fmla="*/ 1279525 h 1574800"/>
                <a:gd name="connsiteX6" fmla="*/ 570706 w 927100"/>
                <a:gd name="connsiteY6" fmla="*/ 1294606 h 1574800"/>
                <a:gd name="connsiteX7" fmla="*/ 733425 w 927100"/>
                <a:gd name="connsiteY7" fmla="*/ 1346200 h 1574800"/>
                <a:gd name="connsiteX8" fmla="*/ 784225 w 927100"/>
                <a:gd name="connsiteY8" fmla="*/ 1403350 h 1574800"/>
                <a:gd name="connsiteX9" fmla="*/ 787400 w 927100"/>
                <a:gd name="connsiteY9" fmla="*/ 1425575 h 1574800"/>
                <a:gd name="connsiteX10" fmla="*/ 815975 w 927100"/>
                <a:gd name="connsiteY10" fmla="*/ 1431925 h 1574800"/>
                <a:gd name="connsiteX11" fmla="*/ 889000 w 927100"/>
                <a:gd name="connsiteY11" fmla="*/ 1479550 h 1574800"/>
                <a:gd name="connsiteX12" fmla="*/ 927100 w 927100"/>
                <a:gd name="connsiteY12" fmla="*/ 1574800 h 1574800"/>
                <a:gd name="connsiteX0" fmla="*/ 0 w 927100"/>
                <a:gd name="connsiteY0" fmla="*/ 0 h 1574800"/>
                <a:gd name="connsiteX1" fmla="*/ 101600 w 927100"/>
                <a:gd name="connsiteY1" fmla="*/ 523875 h 1574800"/>
                <a:gd name="connsiteX2" fmla="*/ 171450 w 927100"/>
                <a:gd name="connsiteY2" fmla="*/ 635000 h 1574800"/>
                <a:gd name="connsiteX3" fmla="*/ 290512 w 927100"/>
                <a:gd name="connsiteY3" fmla="*/ 1016000 h 1574800"/>
                <a:gd name="connsiteX4" fmla="*/ 339725 w 927100"/>
                <a:gd name="connsiteY4" fmla="*/ 1233487 h 1574800"/>
                <a:gd name="connsiteX5" fmla="*/ 438150 w 927100"/>
                <a:gd name="connsiteY5" fmla="*/ 1279525 h 1574800"/>
                <a:gd name="connsiteX6" fmla="*/ 570706 w 927100"/>
                <a:gd name="connsiteY6" fmla="*/ 1294606 h 1574800"/>
                <a:gd name="connsiteX7" fmla="*/ 733425 w 927100"/>
                <a:gd name="connsiteY7" fmla="*/ 1346200 h 1574800"/>
                <a:gd name="connsiteX8" fmla="*/ 784225 w 927100"/>
                <a:gd name="connsiteY8" fmla="*/ 1403350 h 1574800"/>
                <a:gd name="connsiteX9" fmla="*/ 787400 w 927100"/>
                <a:gd name="connsiteY9" fmla="*/ 1425575 h 1574800"/>
                <a:gd name="connsiteX10" fmla="*/ 811212 w 927100"/>
                <a:gd name="connsiteY10" fmla="*/ 1422400 h 1574800"/>
                <a:gd name="connsiteX11" fmla="*/ 889000 w 927100"/>
                <a:gd name="connsiteY11" fmla="*/ 1479550 h 1574800"/>
                <a:gd name="connsiteX12" fmla="*/ 927100 w 927100"/>
                <a:gd name="connsiteY12" fmla="*/ 1574800 h 1574800"/>
                <a:gd name="connsiteX0" fmla="*/ 0 w 927100"/>
                <a:gd name="connsiteY0" fmla="*/ 0 h 1574800"/>
                <a:gd name="connsiteX1" fmla="*/ 101600 w 927100"/>
                <a:gd name="connsiteY1" fmla="*/ 523875 h 1574800"/>
                <a:gd name="connsiteX2" fmla="*/ 171450 w 927100"/>
                <a:gd name="connsiteY2" fmla="*/ 635000 h 1574800"/>
                <a:gd name="connsiteX3" fmla="*/ 290512 w 927100"/>
                <a:gd name="connsiteY3" fmla="*/ 1016000 h 1574800"/>
                <a:gd name="connsiteX4" fmla="*/ 339725 w 927100"/>
                <a:gd name="connsiteY4" fmla="*/ 1233487 h 1574800"/>
                <a:gd name="connsiteX5" fmla="*/ 438150 w 927100"/>
                <a:gd name="connsiteY5" fmla="*/ 1279525 h 1574800"/>
                <a:gd name="connsiteX6" fmla="*/ 570706 w 927100"/>
                <a:gd name="connsiteY6" fmla="*/ 1294606 h 1574800"/>
                <a:gd name="connsiteX7" fmla="*/ 733425 w 927100"/>
                <a:gd name="connsiteY7" fmla="*/ 1346200 h 1574800"/>
                <a:gd name="connsiteX8" fmla="*/ 784225 w 927100"/>
                <a:gd name="connsiteY8" fmla="*/ 1403350 h 1574800"/>
                <a:gd name="connsiteX9" fmla="*/ 787400 w 927100"/>
                <a:gd name="connsiteY9" fmla="*/ 1425575 h 1574800"/>
                <a:gd name="connsiteX10" fmla="*/ 811212 w 927100"/>
                <a:gd name="connsiteY10" fmla="*/ 1422400 h 1574800"/>
                <a:gd name="connsiteX11" fmla="*/ 889000 w 927100"/>
                <a:gd name="connsiteY11" fmla="*/ 1479550 h 1574800"/>
                <a:gd name="connsiteX12" fmla="*/ 927100 w 927100"/>
                <a:gd name="connsiteY12" fmla="*/ 1574800 h 157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7100" h="1574800">
                  <a:moveTo>
                    <a:pt x="0" y="0"/>
                  </a:moveTo>
                  <a:lnTo>
                    <a:pt x="101600" y="523875"/>
                  </a:lnTo>
                  <a:lnTo>
                    <a:pt x="171450" y="635000"/>
                  </a:lnTo>
                  <a:cubicBezTo>
                    <a:pt x="211137" y="762000"/>
                    <a:pt x="262731" y="865188"/>
                    <a:pt x="290512" y="1016000"/>
                  </a:cubicBezTo>
                  <a:cubicBezTo>
                    <a:pt x="320145" y="1119717"/>
                    <a:pt x="315119" y="1189566"/>
                    <a:pt x="339725" y="1233487"/>
                  </a:cubicBezTo>
                  <a:cubicBezTo>
                    <a:pt x="364331" y="1277408"/>
                    <a:pt x="400050" y="1272117"/>
                    <a:pt x="438150" y="1279525"/>
                  </a:cubicBezTo>
                  <a:lnTo>
                    <a:pt x="570706" y="1294606"/>
                  </a:lnTo>
                  <a:cubicBezTo>
                    <a:pt x="624946" y="1311804"/>
                    <a:pt x="655372" y="1309952"/>
                    <a:pt x="733425" y="1346200"/>
                  </a:cubicBezTo>
                  <a:lnTo>
                    <a:pt x="784225" y="1403350"/>
                  </a:lnTo>
                  <a:lnTo>
                    <a:pt x="787400" y="1425575"/>
                  </a:lnTo>
                  <a:lnTo>
                    <a:pt x="811212" y="1422400"/>
                  </a:lnTo>
                  <a:cubicBezTo>
                    <a:pt x="837141" y="1441450"/>
                    <a:pt x="863071" y="1446213"/>
                    <a:pt x="889000" y="1479550"/>
                  </a:cubicBezTo>
                  <a:lnTo>
                    <a:pt x="927100" y="1574800"/>
                  </a:lnTo>
                </a:path>
              </a:pathLst>
            </a:custGeom>
            <a:noFill/>
            <a:ln w="127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84" name="Freeform: Shape 83">
              <a:extLst>
                <a:ext uri="{FF2B5EF4-FFF2-40B4-BE49-F238E27FC236}">
                  <a16:creationId xmlns:a16="http://schemas.microsoft.com/office/drawing/2014/main" id="{E1D75F38-13E6-217D-DDCD-327AE16C64AB}"/>
                </a:ext>
              </a:extLst>
            </p:cNvPr>
            <p:cNvSpPr/>
            <p:nvPr/>
          </p:nvSpPr>
          <p:spPr>
            <a:xfrm>
              <a:off x="8591550" y="3776663"/>
              <a:ext cx="626269" cy="509587"/>
            </a:xfrm>
            <a:custGeom>
              <a:avLst/>
              <a:gdLst>
                <a:gd name="connsiteX0" fmla="*/ 0 w 626269"/>
                <a:gd name="connsiteY0" fmla="*/ 0 h 509587"/>
                <a:gd name="connsiteX1" fmla="*/ 202406 w 626269"/>
                <a:gd name="connsiteY1" fmla="*/ 33337 h 509587"/>
                <a:gd name="connsiteX2" fmla="*/ 388144 w 626269"/>
                <a:gd name="connsiteY2" fmla="*/ 154781 h 509587"/>
                <a:gd name="connsiteX3" fmla="*/ 497681 w 626269"/>
                <a:gd name="connsiteY3" fmla="*/ 278606 h 509587"/>
                <a:gd name="connsiteX4" fmla="*/ 540544 w 626269"/>
                <a:gd name="connsiteY4" fmla="*/ 326231 h 509587"/>
                <a:gd name="connsiteX5" fmla="*/ 626269 w 626269"/>
                <a:gd name="connsiteY5" fmla="*/ 509587 h 509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269" h="509587">
                  <a:moveTo>
                    <a:pt x="0" y="0"/>
                  </a:moveTo>
                  <a:cubicBezTo>
                    <a:pt x="68857" y="3770"/>
                    <a:pt x="137715" y="7540"/>
                    <a:pt x="202406" y="33337"/>
                  </a:cubicBezTo>
                  <a:cubicBezTo>
                    <a:pt x="267097" y="59134"/>
                    <a:pt x="338932" y="113903"/>
                    <a:pt x="388144" y="154781"/>
                  </a:cubicBezTo>
                  <a:cubicBezTo>
                    <a:pt x="437357" y="195659"/>
                    <a:pt x="472281" y="250031"/>
                    <a:pt x="497681" y="278606"/>
                  </a:cubicBezTo>
                  <a:cubicBezTo>
                    <a:pt x="523081" y="307181"/>
                    <a:pt x="519113" y="287734"/>
                    <a:pt x="540544" y="326231"/>
                  </a:cubicBezTo>
                  <a:cubicBezTo>
                    <a:pt x="561975" y="364728"/>
                    <a:pt x="594122" y="437157"/>
                    <a:pt x="626269" y="509587"/>
                  </a:cubicBezTo>
                </a:path>
              </a:pathLst>
            </a:custGeom>
            <a:noFill/>
            <a:ln w="127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85" name="Freeform: Shape 84">
              <a:extLst>
                <a:ext uri="{FF2B5EF4-FFF2-40B4-BE49-F238E27FC236}">
                  <a16:creationId xmlns:a16="http://schemas.microsoft.com/office/drawing/2014/main" id="{3DB4B1F7-58E8-3740-883E-3664825847BB}"/>
                </a:ext>
              </a:extLst>
            </p:cNvPr>
            <p:cNvSpPr/>
            <p:nvPr/>
          </p:nvSpPr>
          <p:spPr>
            <a:xfrm>
              <a:off x="8586788" y="2707482"/>
              <a:ext cx="478631" cy="1585912"/>
            </a:xfrm>
            <a:custGeom>
              <a:avLst/>
              <a:gdLst>
                <a:gd name="connsiteX0" fmla="*/ 0 w 478631"/>
                <a:gd name="connsiteY0" fmla="*/ 845344 h 962025"/>
                <a:gd name="connsiteX1" fmla="*/ 71437 w 478631"/>
                <a:gd name="connsiteY1" fmla="*/ 873919 h 962025"/>
                <a:gd name="connsiteX2" fmla="*/ 180975 w 478631"/>
                <a:gd name="connsiteY2" fmla="*/ 962025 h 962025"/>
                <a:gd name="connsiteX3" fmla="*/ 478631 w 478631"/>
                <a:gd name="connsiteY3" fmla="*/ 962025 h 962025"/>
                <a:gd name="connsiteX4" fmla="*/ 381000 w 478631"/>
                <a:gd name="connsiteY4" fmla="*/ 0 h 962025"/>
                <a:gd name="connsiteX0" fmla="*/ 0 w 478631"/>
                <a:gd name="connsiteY0" fmla="*/ 1469231 h 1585912"/>
                <a:gd name="connsiteX1" fmla="*/ 71437 w 478631"/>
                <a:gd name="connsiteY1" fmla="*/ 1497806 h 1585912"/>
                <a:gd name="connsiteX2" fmla="*/ 180975 w 478631"/>
                <a:gd name="connsiteY2" fmla="*/ 1585912 h 1585912"/>
                <a:gd name="connsiteX3" fmla="*/ 478631 w 478631"/>
                <a:gd name="connsiteY3" fmla="*/ 1585912 h 1585912"/>
                <a:gd name="connsiteX4" fmla="*/ 350043 w 478631"/>
                <a:gd name="connsiteY4" fmla="*/ 0 h 1585912"/>
                <a:gd name="connsiteX0" fmla="*/ 0 w 478631"/>
                <a:gd name="connsiteY0" fmla="*/ 1469231 h 1585912"/>
                <a:gd name="connsiteX1" fmla="*/ 71437 w 478631"/>
                <a:gd name="connsiteY1" fmla="*/ 1497806 h 1585912"/>
                <a:gd name="connsiteX2" fmla="*/ 180975 w 478631"/>
                <a:gd name="connsiteY2" fmla="*/ 1585912 h 1585912"/>
                <a:gd name="connsiteX3" fmla="*/ 478631 w 478631"/>
                <a:gd name="connsiteY3" fmla="*/ 1585912 h 1585912"/>
                <a:gd name="connsiteX4" fmla="*/ 350043 w 478631"/>
                <a:gd name="connsiteY4" fmla="*/ 0 h 1585912"/>
                <a:gd name="connsiteX0" fmla="*/ 0 w 478631"/>
                <a:gd name="connsiteY0" fmla="*/ 1469231 h 1585912"/>
                <a:gd name="connsiteX1" fmla="*/ 71437 w 478631"/>
                <a:gd name="connsiteY1" fmla="*/ 1497806 h 1585912"/>
                <a:gd name="connsiteX2" fmla="*/ 180975 w 478631"/>
                <a:gd name="connsiteY2" fmla="*/ 1585912 h 1585912"/>
                <a:gd name="connsiteX3" fmla="*/ 478631 w 478631"/>
                <a:gd name="connsiteY3" fmla="*/ 1585912 h 1585912"/>
                <a:gd name="connsiteX4" fmla="*/ 350043 w 478631"/>
                <a:gd name="connsiteY4" fmla="*/ 0 h 158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631" h="1585912">
                  <a:moveTo>
                    <a:pt x="0" y="1469231"/>
                  </a:moveTo>
                  <a:lnTo>
                    <a:pt x="71437" y="1497806"/>
                  </a:lnTo>
                  <a:lnTo>
                    <a:pt x="180975" y="1585912"/>
                  </a:lnTo>
                  <a:lnTo>
                    <a:pt x="478631" y="1585912"/>
                  </a:lnTo>
                  <a:cubicBezTo>
                    <a:pt x="424656" y="1265237"/>
                    <a:pt x="358774" y="432593"/>
                    <a:pt x="350043" y="0"/>
                  </a:cubicBezTo>
                </a:path>
              </a:pathLst>
            </a:custGeom>
            <a:no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cxnSp>
          <p:nvCxnSpPr>
            <p:cNvPr id="86" name="Straight Connector 85">
              <a:extLst>
                <a:ext uri="{FF2B5EF4-FFF2-40B4-BE49-F238E27FC236}">
                  <a16:creationId xmlns:a16="http://schemas.microsoft.com/office/drawing/2014/main" id="{883D79CB-F25D-C096-4CFA-2804DB43A6C7}"/>
                </a:ext>
              </a:extLst>
            </p:cNvPr>
            <p:cNvCxnSpPr>
              <a:cxnSpLocks/>
            </p:cNvCxnSpPr>
            <p:nvPr/>
          </p:nvCxnSpPr>
          <p:spPr>
            <a:xfrm>
              <a:off x="9664578" y="4295775"/>
              <a:ext cx="916" cy="1590675"/>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87" name="Freeform: Shape 86">
              <a:extLst>
                <a:ext uri="{FF2B5EF4-FFF2-40B4-BE49-F238E27FC236}">
                  <a16:creationId xmlns:a16="http://schemas.microsoft.com/office/drawing/2014/main" id="{6A5A99EC-AA68-EDA2-5B17-E57E7EB49966}"/>
                </a:ext>
              </a:extLst>
            </p:cNvPr>
            <p:cNvSpPr/>
            <p:nvPr/>
          </p:nvSpPr>
          <p:spPr>
            <a:xfrm>
              <a:off x="8596313" y="4291013"/>
              <a:ext cx="247650" cy="1069181"/>
            </a:xfrm>
            <a:custGeom>
              <a:avLst/>
              <a:gdLst>
                <a:gd name="connsiteX0" fmla="*/ 247650 w 247650"/>
                <a:gd name="connsiteY0" fmla="*/ 0 h 1069181"/>
                <a:gd name="connsiteX1" fmla="*/ 152400 w 247650"/>
                <a:gd name="connsiteY1" fmla="*/ 623887 h 1069181"/>
                <a:gd name="connsiteX2" fmla="*/ 0 w 247650"/>
                <a:gd name="connsiteY2" fmla="*/ 1069181 h 1069181"/>
                <a:gd name="connsiteX0" fmla="*/ 247650 w 247650"/>
                <a:gd name="connsiteY0" fmla="*/ 0 h 1069181"/>
                <a:gd name="connsiteX1" fmla="*/ 152400 w 247650"/>
                <a:gd name="connsiteY1" fmla="*/ 623887 h 1069181"/>
                <a:gd name="connsiteX2" fmla="*/ 0 w 247650"/>
                <a:gd name="connsiteY2" fmla="*/ 1069181 h 1069181"/>
              </a:gdLst>
              <a:ahLst/>
              <a:cxnLst>
                <a:cxn ang="0">
                  <a:pos x="connsiteX0" y="connsiteY0"/>
                </a:cxn>
                <a:cxn ang="0">
                  <a:pos x="connsiteX1" y="connsiteY1"/>
                </a:cxn>
                <a:cxn ang="0">
                  <a:pos x="connsiteX2" y="connsiteY2"/>
                </a:cxn>
              </a:cxnLst>
              <a:rect l="l" t="t" r="r" b="b"/>
              <a:pathLst>
                <a:path w="247650" h="1069181">
                  <a:moveTo>
                    <a:pt x="247650" y="0"/>
                  </a:moveTo>
                  <a:cubicBezTo>
                    <a:pt x="215900" y="207962"/>
                    <a:pt x="193675" y="445690"/>
                    <a:pt x="152400" y="623887"/>
                  </a:cubicBezTo>
                  <a:cubicBezTo>
                    <a:pt x="111125" y="802084"/>
                    <a:pt x="50800" y="920750"/>
                    <a:pt x="0" y="1069181"/>
                  </a:cubicBezTo>
                </a:path>
              </a:pathLst>
            </a:custGeom>
            <a:noFill/>
            <a:ln w="127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88" name="Freeform: Shape 87">
              <a:extLst>
                <a:ext uri="{FF2B5EF4-FFF2-40B4-BE49-F238E27FC236}">
                  <a16:creationId xmlns:a16="http://schemas.microsoft.com/office/drawing/2014/main" id="{E695DF28-0EC4-D497-F895-A0E8E21E9137}"/>
                </a:ext>
              </a:extLst>
            </p:cNvPr>
            <p:cNvSpPr/>
            <p:nvPr/>
          </p:nvSpPr>
          <p:spPr>
            <a:xfrm>
              <a:off x="8582025" y="4293394"/>
              <a:ext cx="683419" cy="1189305"/>
            </a:xfrm>
            <a:custGeom>
              <a:avLst/>
              <a:gdLst>
                <a:gd name="connsiteX0" fmla="*/ 0 w 676275"/>
                <a:gd name="connsiteY0" fmla="*/ 1190625 h 1200231"/>
                <a:gd name="connsiteX1" fmla="*/ 204788 w 676275"/>
                <a:gd name="connsiteY1" fmla="*/ 1173957 h 1200231"/>
                <a:gd name="connsiteX2" fmla="*/ 414338 w 676275"/>
                <a:gd name="connsiteY2" fmla="*/ 966788 h 1200231"/>
                <a:gd name="connsiteX3" fmla="*/ 550069 w 676275"/>
                <a:gd name="connsiteY3" fmla="*/ 652463 h 1200231"/>
                <a:gd name="connsiteX4" fmla="*/ 676275 w 676275"/>
                <a:gd name="connsiteY4" fmla="*/ 0 h 1200231"/>
                <a:gd name="connsiteX0" fmla="*/ 0 w 676275"/>
                <a:gd name="connsiteY0" fmla="*/ 1190625 h 1193978"/>
                <a:gd name="connsiteX1" fmla="*/ 223838 w 676275"/>
                <a:gd name="connsiteY1" fmla="*/ 1150144 h 1193978"/>
                <a:gd name="connsiteX2" fmla="*/ 414338 w 676275"/>
                <a:gd name="connsiteY2" fmla="*/ 966788 h 1193978"/>
                <a:gd name="connsiteX3" fmla="*/ 550069 w 676275"/>
                <a:gd name="connsiteY3" fmla="*/ 652463 h 1193978"/>
                <a:gd name="connsiteX4" fmla="*/ 676275 w 676275"/>
                <a:gd name="connsiteY4" fmla="*/ 0 h 1193978"/>
                <a:gd name="connsiteX0" fmla="*/ 0 w 676275"/>
                <a:gd name="connsiteY0" fmla="*/ 1190625 h 1194068"/>
                <a:gd name="connsiteX1" fmla="*/ 223838 w 676275"/>
                <a:gd name="connsiteY1" fmla="*/ 1150144 h 1194068"/>
                <a:gd name="connsiteX2" fmla="*/ 404813 w 676275"/>
                <a:gd name="connsiteY2" fmla="*/ 962026 h 1194068"/>
                <a:gd name="connsiteX3" fmla="*/ 550069 w 676275"/>
                <a:gd name="connsiteY3" fmla="*/ 652463 h 1194068"/>
                <a:gd name="connsiteX4" fmla="*/ 676275 w 676275"/>
                <a:gd name="connsiteY4" fmla="*/ 0 h 1194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275" h="1194068">
                  <a:moveTo>
                    <a:pt x="0" y="1190625"/>
                  </a:moveTo>
                  <a:cubicBezTo>
                    <a:pt x="67866" y="1200944"/>
                    <a:pt x="156369" y="1188244"/>
                    <a:pt x="223838" y="1150144"/>
                  </a:cubicBezTo>
                  <a:cubicBezTo>
                    <a:pt x="291307" y="1112044"/>
                    <a:pt x="350441" y="1044973"/>
                    <a:pt x="404813" y="962026"/>
                  </a:cubicBezTo>
                  <a:cubicBezTo>
                    <a:pt x="459185" y="879079"/>
                    <a:pt x="506413" y="813594"/>
                    <a:pt x="550069" y="652463"/>
                  </a:cubicBezTo>
                  <a:cubicBezTo>
                    <a:pt x="593725" y="491332"/>
                    <a:pt x="635000" y="245666"/>
                    <a:pt x="676275" y="0"/>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89" name="Freeform: Shape 88">
              <a:extLst>
                <a:ext uri="{FF2B5EF4-FFF2-40B4-BE49-F238E27FC236}">
                  <a16:creationId xmlns:a16="http://schemas.microsoft.com/office/drawing/2014/main" id="{EFAE1762-9391-6818-CD17-FA8EA63690C8}"/>
                </a:ext>
              </a:extLst>
            </p:cNvPr>
            <p:cNvSpPr/>
            <p:nvPr/>
          </p:nvSpPr>
          <p:spPr>
            <a:xfrm>
              <a:off x="8986365" y="4289424"/>
              <a:ext cx="24286" cy="1592231"/>
            </a:xfrm>
            <a:custGeom>
              <a:avLst/>
              <a:gdLst>
                <a:gd name="connsiteX0" fmla="*/ 0 w 9525"/>
                <a:gd name="connsiteY0" fmla="*/ 1600200 h 1600200"/>
                <a:gd name="connsiteX1" fmla="*/ 4763 w 9525"/>
                <a:gd name="connsiteY1" fmla="*/ 716756 h 1600200"/>
                <a:gd name="connsiteX2" fmla="*/ 9525 w 9525"/>
                <a:gd name="connsiteY2" fmla="*/ 0 h 1600200"/>
                <a:gd name="connsiteX0" fmla="*/ 2604 w 5312"/>
                <a:gd name="connsiteY0" fmla="*/ 9955 h 9955"/>
                <a:gd name="connsiteX1" fmla="*/ 313 w 5312"/>
                <a:gd name="connsiteY1" fmla="*/ 4479 h 9955"/>
                <a:gd name="connsiteX2" fmla="*/ 5312 w 5312"/>
                <a:gd name="connsiteY2" fmla="*/ 0 h 9955"/>
                <a:gd name="connsiteX0" fmla="*/ 4902 w 10000"/>
                <a:gd name="connsiteY0" fmla="*/ 10135 h 10135"/>
                <a:gd name="connsiteX1" fmla="*/ 589 w 10000"/>
                <a:gd name="connsiteY1" fmla="*/ 4499 h 10135"/>
                <a:gd name="connsiteX2" fmla="*/ 10000 w 10000"/>
                <a:gd name="connsiteY2" fmla="*/ 0 h 10135"/>
                <a:gd name="connsiteX0" fmla="*/ 4902 w 10000"/>
                <a:gd name="connsiteY0" fmla="*/ 10045 h 10045"/>
                <a:gd name="connsiteX1" fmla="*/ 589 w 10000"/>
                <a:gd name="connsiteY1" fmla="*/ 4499 h 10045"/>
                <a:gd name="connsiteX2" fmla="*/ 10000 w 10000"/>
                <a:gd name="connsiteY2" fmla="*/ 0 h 10045"/>
              </a:gdLst>
              <a:ahLst/>
              <a:cxnLst>
                <a:cxn ang="0">
                  <a:pos x="connsiteX0" y="connsiteY0"/>
                </a:cxn>
                <a:cxn ang="0">
                  <a:pos x="connsiteX1" y="connsiteY1"/>
                </a:cxn>
                <a:cxn ang="0">
                  <a:pos x="connsiteX2" y="connsiteY2"/>
                </a:cxn>
              </a:cxnLst>
              <a:rect l="l" t="t" r="r" b="b"/>
              <a:pathLst>
                <a:path w="10000" h="10045">
                  <a:moveTo>
                    <a:pt x="4902" y="10045"/>
                  </a:moveTo>
                  <a:cubicBezTo>
                    <a:pt x="8040" y="8197"/>
                    <a:pt x="-2551" y="6348"/>
                    <a:pt x="589" y="4499"/>
                  </a:cubicBezTo>
                  <a:lnTo>
                    <a:pt x="10000"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90" name="Freeform: Shape 89">
              <a:extLst>
                <a:ext uri="{FF2B5EF4-FFF2-40B4-BE49-F238E27FC236}">
                  <a16:creationId xmlns:a16="http://schemas.microsoft.com/office/drawing/2014/main" id="{248A606C-174D-A37B-6FAB-8DB5C7AE12D0}"/>
                </a:ext>
              </a:extLst>
            </p:cNvPr>
            <p:cNvSpPr/>
            <p:nvPr/>
          </p:nvSpPr>
          <p:spPr>
            <a:xfrm>
              <a:off x="9155906" y="4293379"/>
              <a:ext cx="133350" cy="1590690"/>
            </a:xfrm>
            <a:custGeom>
              <a:avLst/>
              <a:gdLst>
                <a:gd name="connsiteX0" fmla="*/ 0 w 145256"/>
                <a:gd name="connsiteY0" fmla="*/ 1585912 h 1590675"/>
                <a:gd name="connsiteX1" fmla="*/ 145256 w 145256"/>
                <a:gd name="connsiteY1" fmla="*/ 0 h 1590675"/>
                <a:gd name="connsiteX2" fmla="*/ 126206 w 145256"/>
                <a:gd name="connsiteY2" fmla="*/ 1590675 h 1590675"/>
                <a:gd name="connsiteX0" fmla="*/ 0 w 133350"/>
                <a:gd name="connsiteY0" fmla="*/ 1590674 h 1590675"/>
                <a:gd name="connsiteX1" fmla="*/ 133350 w 133350"/>
                <a:gd name="connsiteY1" fmla="*/ 0 h 1590675"/>
                <a:gd name="connsiteX2" fmla="*/ 114300 w 133350"/>
                <a:gd name="connsiteY2" fmla="*/ 1590675 h 1590675"/>
                <a:gd name="connsiteX0" fmla="*/ 0 w 139361"/>
                <a:gd name="connsiteY0" fmla="*/ 1590674 h 1590675"/>
                <a:gd name="connsiteX1" fmla="*/ 133350 w 139361"/>
                <a:gd name="connsiteY1" fmla="*/ 0 h 1590675"/>
                <a:gd name="connsiteX2" fmla="*/ 114300 w 139361"/>
                <a:gd name="connsiteY2" fmla="*/ 1590675 h 1590675"/>
                <a:gd name="connsiteX0" fmla="*/ 0 w 133350"/>
                <a:gd name="connsiteY0" fmla="*/ 1590689 h 1590690"/>
                <a:gd name="connsiteX1" fmla="*/ 133350 w 133350"/>
                <a:gd name="connsiteY1" fmla="*/ 15 h 1590690"/>
                <a:gd name="connsiteX2" fmla="*/ 114300 w 133350"/>
                <a:gd name="connsiteY2" fmla="*/ 1590690 h 1590690"/>
              </a:gdLst>
              <a:ahLst/>
              <a:cxnLst>
                <a:cxn ang="0">
                  <a:pos x="connsiteX0" y="connsiteY0"/>
                </a:cxn>
                <a:cxn ang="0">
                  <a:pos x="connsiteX1" y="connsiteY1"/>
                </a:cxn>
                <a:cxn ang="0">
                  <a:pos x="connsiteX2" y="connsiteY2"/>
                </a:cxn>
              </a:cxnLst>
              <a:rect l="l" t="t" r="r" b="b"/>
              <a:pathLst>
                <a:path w="133350" h="1590690">
                  <a:moveTo>
                    <a:pt x="0" y="1590689"/>
                  </a:moveTo>
                  <a:cubicBezTo>
                    <a:pt x="44450" y="1060464"/>
                    <a:pt x="133350" y="4777"/>
                    <a:pt x="133350" y="15"/>
                  </a:cubicBezTo>
                  <a:cubicBezTo>
                    <a:pt x="133350" y="-4747"/>
                    <a:pt x="120650" y="1060465"/>
                    <a:pt x="114300" y="1590690"/>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cxnSp>
          <p:nvCxnSpPr>
            <p:cNvPr id="91" name="Straight Connector 90">
              <a:extLst>
                <a:ext uri="{FF2B5EF4-FFF2-40B4-BE49-F238E27FC236}">
                  <a16:creationId xmlns:a16="http://schemas.microsoft.com/office/drawing/2014/main" id="{9F3F5F87-2B78-36FC-A7AC-B31CC11EF914}"/>
                </a:ext>
              </a:extLst>
            </p:cNvPr>
            <p:cNvCxnSpPr>
              <a:cxnSpLocks/>
            </p:cNvCxnSpPr>
            <p:nvPr/>
          </p:nvCxnSpPr>
          <p:spPr>
            <a:xfrm flipV="1">
              <a:off x="8615911" y="4293394"/>
              <a:ext cx="1287708" cy="11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a16="http://schemas.microsoft.com/office/drawing/2014/main" id="{20AB662D-66E4-C495-4AD7-133499411FFA}"/>
                </a:ext>
              </a:extLst>
            </p:cNvPr>
            <p:cNvSpPr/>
            <p:nvPr/>
          </p:nvSpPr>
          <p:spPr>
            <a:xfrm>
              <a:off x="8542705" y="2705403"/>
              <a:ext cx="1391869" cy="318141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grpSp>
      <p:grpSp>
        <p:nvGrpSpPr>
          <p:cNvPr id="110" name="Group 109" descr="plot of chunk unnamed-chunk-4">
            <a:extLst>
              <a:ext uri="{FF2B5EF4-FFF2-40B4-BE49-F238E27FC236}">
                <a16:creationId xmlns:a16="http://schemas.microsoft.com/office/drawing/2014/main" id="{B6A712D5-26DA-5E15-834B-78E133C2563B}"/>
              </a:ext>
            </a:extLst>
          </p:cNvPr>
          <p:cNvGrpSpPr/>
          <p:nvPr/>
        </p:nvGrpSpPr>
        <p:grpSpPr>
          <a:xfrm>
            <a:off x="1813448" y="2377976"/>
            <a:ext cx="2979220" cy="4032994"/>
            <a:chOff x="1945518" y="2397526"/>
            <a:chExt cx="1864481" cy="3975192"/>
          </a:xfrm>
        </p:grpSpPr>
        <p:sp>
          <p:nvSpPr>
            <p:cNvPr id="111" name="TextBox 110">
              <a:extLst>
                <a:ext uri="{FF2B5EF4-FFF2-40B4-BE49-F238E27FC236}">
                  <a16:creationId xmlns:a16="http://schemas.microsoft.com/office/drawing/2014/main" id="{652EBA88-26EB-8DB3-E16D-AD0DD7062F75}"/>
                </a:ext>
              </a:extLst>
            </p:cNvPr>
            <p:cNvSpPr txBox="1"/>
            <p:nvPr/>
          </p:nvSpPr>
          <p:spPr>
            <a:xfrm>
              <a:off x="2273429" y="2397526"/>
              <a:ext cx="325731" cy="246221"/>
            </a:xfrm>
            <a:prstGeom prst="rect">
              <a:avLst/>
            </a:prstGeom>
            <a:noFill/>
          </p:spPr>
          <p:txBody>
            <a:bodyPr wrap="none" rtlCol="0">
              <a:noAutofit/>
            </a:bodyPr>
            <a:lstStyle/>
            <a:p>
              <a:pPr algn="ctr"/>
              <a:r>
                <a:rPr lang="en-US" sz="1000" dirty="0"/>
                <a:t>19</a:t>
              </a:r>
            </a:p>
          </p:txBody>
        </p:sp>
        <p:sp>
          <p:nvSpPr>
            <p:cNvPr id="112" name="TextBox 111">
              <a:extLst>
                <a:ext uri="{FF2B5EF4-FFF2-40B4-BE49-F238E27FC236}">
                  <a16:creationId xmlns:a16="http://schemas.microsoft.com/office/drawing/2014/main" id="{801816D2-9F93-35D1-B76C-9354448233C0}"/>
                </a:ext>
              </a:extLst>
            </p:cNvPr>
            <p:cNvSpPr txBox="1"/>
            <p:nvPr/>
          </p:nvSpPr>
          <p:spPr>
            <a:xfrm>
              <a:off x="2643002" y="2397526"/>
              <a:ext cx="325731" cy="246221"/>
            </a:xfrm>
            <a:prstGeom prst="rect">
              <a:avLst/>
            </a:prstGeom>
            <a:noFill/>
          </p:spPr>
          <p:txBody>
            <a:bodyPr wrap="none" rtlCol="0">
              <a:noAutofit/>
            </a:bodyPr>
            <a:lstStyle/>
            <a:p>
              <a:pPr algn="ctr"/>
              <a:r>
                <a:rPr lang="en-US" sz="1000" dirty="0"/>
                <a:t>17</a:t>
              </a:r>
            </a:p>
          </p:txBody>
        </p:sp>
        <p:sp>
          <p:nvSpPr>
            <p:cNvPr id="113" name="TextBox 112">
              <a:extLst>
                <a:ext uri="{FF2B5EF4-FFF2-40B4-BE49-F238E27FC236}">
                  <a16:creationId xmlns:a16="http://schemas.microsoft.com/office/drawing/2014/main" id="{927DF9BF-63CD-41EE-0535-36E3E07ACA5F}"/>
                </a:ext>
              </a:extLst>
            </p:cNvPr>
            <p:cNvSpPr txBox="1"/>
            <p:nvPr/>
          </p:nvSpPr>
          <p:spPr>
            <a:xfrm>
              <a:off x="2986912" y="2397526"/>
              <a:ext cx="325731" cy="246221"/>
            </a:xfrm>
            <a:prstGeom prst="rect">
              <a:avLst/>
            </a:prstGeom>
            <a:noFill/>
          </p:spPr>
          <p:txBody>
            <a:bodyPr wrap="none" rtlCol="0">
              <a:noAutofit/>
            </a:bodyPr>
            <a:lstStyle/>
            <a:p>
              <a:pPr algn="ctr"/>
              <a:r>
                <a:rPr lang="en-US" sz="1000" dirty="0"/>
                <a:t>12</a:t>
              </a:r>
            </a:p>
          </p:txBody>
        </p:sp>
        <p:sp>
          <p:nvSpPr>
            <p:cNvPr id="114" name="TextBox 113">
              <a:extLst>
                <a:ext uri="{FF2B5EF4-FFF2-40B4-BE49-F238E27FC236}">
                  <a16:creationId xmlns:a16="http://schemas.microsoft.com/office/drawing/2014/main" id="{33FB28FF-EDBF-61D2-8FB0-1B568056B709}"/>
                </a:ext>
              </a:extLst>
            </p:cNvPr>
            <p:cNvSpPr txBox="1"/>
            <p:nvPr/>
          </p:nvSpPr>
          <p:spPr>
            <a:xfrm>
              <a:off x="3368577" y="2397526"/>
              <a:ext cx="255198" cy="246221"/>
            </a:xfrm>
            <a:prstGeom prst="rect">
              <a:avLst/>
            </a:prstGeom>
            <a:noFill/>
          </p:spPr>
          <p:txBody>
            <a:bodyPr wrap="none" rtlCol="0">
              <a:noAutofit/>
            </a:bodyPr>
            <a:lstStyle/>
            <a:p>
              <a:pPr algn="ctr"/>
              <a:r>
                <a:rPr lang="en-US" sz="1000" dirty="0"/>
                <a:t>6</a:t>
              </a:r>
            </a:p>
          </p:txBody>
        </p:sp>
        <p:sp>
          <p:nvSpPr>
            <p:cNvPr id="115" name="TextBox 114">
              <a:extLst>
                <a:ext uri="{FF2B5EF4-FFF2-40B4-BE49-F238E27FC236}">
                  <a16:creationId xmlns:a16="http://schemas.microsoft.com/office/drawing/2014/main" id="{39C56AEA-B623-F7FD-6FCB-EFF37A689B0C}"/>
                </a:ext>
              </a:extLst>
            </p:cNvPr>
            <p:cNvSpPr txBox="1"/>
            <p:nvPr/>
          </p:nvSpPr>
          <p:spPr>
            <a:xfrm rot="16200000">
              <a:off x="2114452" y="2935356"/>
              <a:ext cx="325730" cy="165492"/>
            </a:xfrm>
            <a:prstGeom prst="rect">
              <a:avLst/>
            </a:prstGeom>
            <a:noFill/>
          </p:spPr>
          <p:txBody>
            <a:bodyPr wrap="none" rtlCol="0">
              <a:noAutofit/>
            </a:bodyPr>
            <a:lstStyle/>
            <a:p>
              <a:r>
                <a:rPr lang="en-US" sz="1000" dirty="0"/>
                <a:t>50</a:t>
              </a:r>
            </a:p>
          </p:txBody>
        </p:sp>
        <p:sp>
          <p:nvSpPr>
            <p:cNvPr id="116" name="TextBox 115">
              <a:extLst>
                <a:ext uri="{FF2B5EF4-FFF2-40B4-BE49-F238E27FC236}">
                  <a16:creationId xmlns:a16="http://schemas.microsoft.com/office/drawing/2014/main" id="{DDC39FB0-9DD9-DC0B-1856-A24C7EA0FACB}"/>
                </a:ext>
              </a:extLst>
            </p:cNvPr>
            <p:cNvSpPr txBox="1"/>
            <p:nvPr/>
          </p:nvSpPr>
          <p:spPr>
            <a:xfrm rot="16200000">
              <a:off x="2149716" y="3732749"/>
              <a:ext cx="255198" cy="165494"/>
            </a:xfrm>
            <a:prstGeom prst="rect">
              <a:avLst/>
            </a:prstGeom>
            <a:noFill/>
          </p:spPr>
          <p:txBody>
            <a:bodyPr wrap="none" rtlCol="0">
              <a:noAutofit/>
            </a:bodyPr>
            <a:lstStyle/>
            <a:p>
              <a:r>
                <a:rPr lang="en-US" sz="1000" dirty="0"/>
                <a:t>0</a:t>
              </a:r>
            </a:p>
          </p:txBody>
        </p:sp>
        <p:sp>
          <p:nvSpPr>
            <p:cNvPr id="117" name="TextBox 116">
              <a:extLst>
                <a:ext uri="{FF2B5EF4-FFF2-40B4-BE49-F238E27FC236}">
                  <a16:creationId xmlns:a16="http://schemas.microsoft.com/office/drawing/2014/main" id="{FAB2F74B-8B07-950A-1464-2E509292FA13}"/>
                </a:ext>
              </a:extLst>
            </p:cNvPr>
            <p:cNvSpPr txBox="1"/>
            <p:nvPr/>
          </p:nvSpPr>
          <p:spPr>
            <a:xfrm rot="16200000">
              <a:off x="2092814" y="4544713"/>
              <a:ext cx="369012" cy="165495"/>
            </a:xfrm>
            <a:prstGeom prst="rect">
              <a:avLst/>
            </a:prstGeom>
            <a:noFill/>
          </p:spPr>
          <p:txBody>
            <a:bodyPr wrap="none" rtlCol="0">
              <a:noAutofit/>
            </a:bodyPr>
            <a:lstStyle/>
            <a:p>
              <a:r>
                <a:rPr lang="en-US" sz="1000" dirty="0"/>
                <a:t>-50</a:t>
              </a:r>
            </a:p>
          </p:txBody>
        </p:sp>
        <p:sp>
          <p:nvSpPr>
            <p:cNvPr id="118" name="TextBox 117">
              <a:extLst>
                <a:ext uri="{FF2B5EF4-FFF2-40B4-BE49-F238E27FC236}">
                  <a16:creationId xmlns:a16="http://schemas.microsoft.com/office/drawing/2014/main" id="{581525E2-EE9E-1055-638F-254D274E8E12}"/>
                </a:ext>
              </a:extLst>
            </p:cNvPr>
            <p:cNvSpPr txBox="1"/>
            <p:nvPr/>
          </p:nvSpPr>
          <p:spPr>
            <a:xfrm rot="16200000">
              <a:off x="2057550" y="5348626"/>
              <a:ext cx="439544" cy="165494"/>
            </a:xfrm>
            <a:prstGeom prst="rect">
              <a:avLst/>
            </a:prstGeom>
            <a:noFill/>
          </p:spPr>
          <p:txBody>
            <a:bodyPr wrap="none" rtlCol="0">
              <a:noAutofit/>
            </a:bodyPr>
            <a:lstStyle/>
            <a:p>
              <a:r>
                <a:rPr lang="en-US" sz="1000" dirty="0"/>
                <a:t>-100</a:t>
              </a:r>
            </a:p>
          </p:txBody>
        </p:sp>
        <p:sp>
          <p:nvSpPr>
            <p:cNvPr id="119" name="TextBox 118">
              <a:extLst>
                <a:ext uri="{FF2B5EF4-FFF2-40B4-BE49-F238E27FC236}">
                  <a16:creationId xmlns:a16="http://schemas.microsoft.com/office/drawing/2014/main" id="{21B53F39-A0A5-D121-E264-60FB80F45E2D}"/>
                </a:ext>
              </a:extLst>
            </p:cNvPr>
            <p:cNvSpPr txBox="1"/>
            <p:nvPr/>
          </p:nvSpPr>
          <p:spPr>
            <a:xfrm rot="16200000">
              <a:off x="1602507" y="4213364"/>
              <a:ext cx="851516" cy="165494"/>
            </a:xfrm>
            <a:prstGeom prst="rect">
              <a:avLst/>
            </a:prstGeom>
            <a:noFill/>
          </p:spPr>
          <p:txBody>
            <a:bodyPr wrap="none" rtlCol="0">
              <a:noAutofit/>
            </a:bodyPr>
            <a:lstStyle/>
            <a:p>
              <a:pPr algn="ctr"/>
              <a:r>
                <a:rPr lang="en-US" sz="1000" dirty="0"/>
                <a:t>Coefficients</a:t>
              </a:r>
            </a:p>
            <a:p>
              <a:pPr algn="ctr"/>
              <a:endParaRPr lang="en-US" sz="1000" dirty="0"/>
            </a:p>
          </p:txBody>
        </p:sp>
        <p:sp>
          <p:nvSpPr>
            <p:cNvPr id="120" name="TextBox 119">
              <a:extLst>
                <a:ext uri="{FF2B5EF4-FFF2-40B4-BE49-F238E27FC236}">
                  <a16:creationId xmlns:a16="http://schemas.microsoft.com/office/drawing/2014/main" id="{5E37C123-360C-F938-55D4-102D195ADD9A}"/>
                </a:ext>
              </a:extLst>
            </p:cNvPr>
            <p:cNvSpPr txBox="1"/>
            <p:nvPr/>
          </p:nvSpPr>
          <p:spPr>
            <a:xfrm>
              <a:off x="2937392" y="2859557"/>
              <a:ext cx="795640" cy="215444"/>
            </a:xfrm>
            <a:prstGeom prst="rect">
              <a:avLst/>
            </a:prstGeom>
            <a:noFill/>
          </p:spPr>
          <p:txBody>
            <a:bodyPr wrap="none" rtlCol="0">
              <a:noAutofit/>
            </a:bodyPr>
            <a:lstStyle/>
            <a:p>
              <a:r>
                <a:rPr lang="en-US" sz="900" dirty="0"/>
                <a:t>CV Selected penalty</a:t>
              </a:r>
            </a:p>
          </p:txBody>
        </p:sp>
        <p:sp>
          <p:nvSpPr>
            <p:cNvPr id="121" name="TextBox 120">
              <a:extLst>
                <a:ext uri="{FF2B5EF4-FFF2-40B4-BE49-F238E27FC236}">
                  <a16:creationId xmlns:a16="http://schemas.microsoft.com/office/drawing/2014/main" id="{D5C6059D-E946-2DF7-0A5C-308D1F496740}"/>
                </a:ext>
              </a:extLst>
            </p:cNvPr>
            <p:cNvSpPr txBox="1"/>
            <p:nvPr/>
          </p:nvSpPr>
          <p:spPr>
            <a:xfrm>
              <a:off x="2668270" y="6126497"/>
              <a:ext cx="891591" cy="246221"/>
            </a:xfrm>
            <a:prstGeom prst="rect">
              <a:avLst/>
            </a:prstGeom>
            <a:noFill/>
          </p:spPr>
          <p:txBody>
            <a:bodyPr wrap="none" rtlCol="0">
              <a:noAutofit/>
            </a:bodyPr>
            <a:lstStyle/>
            <a:p>
              <a:pPr algn="ctr"/>
              <a:r>
                <a:rPr lang="en-US" sz="1000" dirty="0"/>
                <a:t>Log lambda</a:t>
              </a:r>
            </a:p>
          </p:txBody>
        </p:sp>
        <p:sp>
          <p:nvSpPr>
            <p:cNvPr id="122" name="TextBox 121">
              <a:extLst>
                <a:ext uri="{FF2B5EF4-FFF2-40B4-BE49-F238E27FC236}">
                  <a16:creationId xmlns:a16="http://schemas.microsoft.com/office/drawing/2014/main" id="{8218100F-3134-FAD8-D9D9-AEE841558E06}"/>
                </a:ext>
              </a:extLst>
            </p:cNvPr>
            <p:cNvSpPr txBox="1"/>
            <p:nvPr/>
          </p:nvSpPr>
          <p:spPr>
            <a:xfrm>
              <a:off x="2343289" y="5934316"/>
              <a:ext cx="298480" cy="246221"/>
            </a:xfrm>
            <a:prstGeom prst="rect">
              <a:avLst/>
            </a:prstGeom>
            <a:noFill/>
          </p:spPr>
          <p:txBody>
            <a:bodyPr wrap="none" rtlCol="0">
              <a:noAutofit/>
            </a:bodyPr>
            <a:lstStyle/>
            <a:p>
              <a:r>
                <a:rPr lang="en-US" sz="1000" dirty="0"/>
                <a:t>-2</a:t>
              </a:r>
            </a:p>
          </p:txBody>
        </p:sp>
        <p:sp>
          <p:nvSpPr>
            <p:cNvPr id="123" name="TextBox 122">
              <a:extLst>
                <a:ext uri="{FF2B5EF4-FFF2-40B4-BE49-F238E27FC236}">
                  <a16:creationId xmlns:a16="http://schemas.microsoft.com/office/drawing/2014/main" id="{A8CCFE9F-42B9-399F-A541-D0452C94BEA3}"/>
                </a:ext>
              </a:extLst>
            </p:cNvPr>
            <p:cNvSpPr txBox="1"/>
            <p:nvPr/>
          </p:nvSpPr>
          <p:spPr>
            <a:xfrm>
              <a:off x="2721512" y="5934316"/>
              <a:ext cx="255198" cy="246221"/>
            </a:xfrm>
            <a:prstGeom prst="rect">
              <a:avLst/>
            </a:prstGeom>
            <a:noFill/>
          </p:spPr>
          <p:txBody>
            <a:bodyPr wrap="none" rtlCol="0">
              <a:noAutofit/>
            </a:bodyPr>
            <a:lstStyle/>
            <a:p>
              <a:r>
                <a:rPr lang="en-US" sz="1000" dirty="0"/>
                <a:t>0</a:t>
              </a:r>
            </a:p>
          </p:txBody>
        </p:sp>
        <p:sp>
          <p:nvSpPr>
            <p:cNvPr id="124" name="TextBox 123">
              <a:extLst>
                <a:ext uri="{FF2B5EF4-FFF2-40B4-BE49-F238E27FC236}">
                  <a16:creationId xmlns:a16="http://schemas.microsoft.com/office/drawing/2014/main" id="{434385FF-D6C0-BED4-5B97-E1C4964AE3D1}"/>
                </a:ext>
              </a:extLst>
            </p:cNvPr>
            <p:cNvSpPr txBox="1"/>
            <p:nvPr/>
          </p:nvSpPr>
          <p:spPr>
            <a:xfrm>
              <a:off x="3063065" y="5934316"/>
              <a:ext cx="255198" cy="246221"/>
            </a:xfrm>
            <a:prstGeom prst="rect">
              <a:avLst/>
            </a:prstGeom>
            <a:noFill/>
          </p:spPr>
          <p:txBody>
            <a:bodyPr wrap="none" rtlCol="0">
              <a:noAutofit/>
            </a:bodyPr>
            <a:lstStyle/>
            <a:p>
              <a:r>
                <a:rPr lang="en-US" sz="1000" dirty="0"/>
                <a:t>2</a:t>
              </a:r>
            </a:p>
          </p:txBody>
        </p:sp>
        <p:sp>
          <p:nvSpPr>
            <p:cNvPr id="125" name="TextBox 124">
              <a:extLst>
                <a:ext uri="{FF2B5EF4-FFF2-40B4-BE49-F238E27FC236}">
                  <a16:creationId xmlns:a16="http://schemas.microsoft.com/office/drawing/2014/main" id="{0B2F97BA-CCBA-FFBF-D457-ACF277819439}"/>
                </a:ext>
              </a:extLst>
            </p:cNvPr>
            <p:cNvSpPr txBox="1"/>
            <p:nvPr/>
          </p:nvSpPr>
          <p:spPr>
            <a:xfrm>
              <a:off x="3422257" y="5934316"/>
              <a:ext cx="255198" cy="246221"/>
            </a:xfrm>
            <a:prstGeom prst="rect">
              <a:avLst/>
            </a:prstGeom>
            <a:noFill/>
          </p:spPr>
          <p:txBody>
            <a:bodyPr wrap="none" rtlCol="0">
              <a:noAutofit/>
            </a:bodyPr>
            <a:lstStyle/>
            <a:p>
              <a:r>
                <a:rPr lang="en-US" sz="1000" dirty="0"/>
                <a:t>4</a:t>
              </a:r>
            </a:p>
          </p:txBody>
        </p:sp>
        <p:grpSp>
          <p:nvGrpSpPr>
            <p:cNvPr id="126" name="Group 125">
              <a:extLst>
                <a:ext uri="{FF2B5EF4-FFF2-40B4-BE49-F238E27FC236}">
                  <a16:creationId xmlns:a16="http://schemas.microsoft.com/office/drawing/2014/main" id="{13CBA3F7-8109-E72E-A8D2-93460737387D}"/>
                </a:ext>
              </a:extLst>
            </p:cNvPr>
            <p:cNvGrpSpPr/>
            <p:nvPr/>
          </p:nvGrpSpPr>
          <p:grpSpPr>
            <a:xfrm>
              <a:off x="2373748" y="2669256"/>
              <a:ext cx="1436251" cy="3217561"/>
              <a:chOff x="1305692" y="3070520"/>
              <a:chExt cx="2132833" cy="4778080"/>
            </a:xfrm>
            <a:noFill/>
          </p:grpSpPr>
          <p:sp>
            <p:nvSpPr>
              <p:cNvPr id="133" name="Rectangle 132">
                <a:extLst>
                  <a:ext uri="{FF2B5EF4-FFF2-40B4-BE49-F238E27FC236}">
                    <a16:creationId xmlns:a16="http://schemas.microsoft.com/office/drawing/2014/main" id="{D30B2669-D1FB-F917-E495-9C583138DD5B}"/>
                  </a:ext>
                </a:extLst>
              </p:cNvPr>
              <p:cNvSpPr/>
              <p:nvPr/>
            </p:nvSpPr>
            <p:spPr>
              <a:xfrm>
                <a:off x="1371599" y="3124199"/>
                <a:ext cx="2066926" cy="4724401"/>
              </a:xfrm>
              <a:prstGeom prst="rect">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grpSp>
            <p:nvGrpSpPr>
              <p:cNvPr id="134" name="Group 133">
                <a:extLst>
                  <a:ext uri="{FF2B5EF4-FFF2-40B4-BE49-F238E27FC236}">
                    <a16:creationId xmlns:a16="http://schemas.microsoft.com/office/drawing/2014/main" id="{936B0087-6DD5-373E-65D5-D373EBC6DC37}"/>
                  </a:ext>
                </a:extLst>
              </p:cNvPr>
              <p:cNvGrpSpPr/>
              <p:nvPr/>
            </p:nvGrpSpPr>
            <p:grpSpPr>
              <a:xfrm>
                <a:off x="1409700" y="3070520"/>
                <a:ext cx="1564482" cy="53461"/>
                <a:chOff x="1409700" y="3070520"/>
                <a:chExt cx="1564482" cy="53461"/>
              </a:xfrm>
              <a:grpFill/>
            </p:grpSpPr>
            <p:cxnSp>
              <p:nvCxnSpPr>
                <p:cNvPr id="153" name="Straight Connector 152">
                  <a:extLst>
                    <a:ext uri="{FF2B5EF4-FFF2-40B4-BE49-F238E27FC236}">
                      <a16:creationId xmlns:a16="http://schemas.microsoft.com/office/drawing/2014/main" id="{D7A8B966-E222-C77D-68FE-60EF94075AE8}"/>
                    </a:ext>
                  </a:extLst>
                </p:cNvPr>
                <p:cNvCxnSpPr/>
                <p:nvPr/>
              </p:nvCxnSpPr>
              <p:spPr>
                <a:xfrm flipV="1">
                  <a:off x="1409700" y="3070521"/>
                  <a:ext cx="0" cy="5346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621F516C-54C7-A56A-8282-0CA173A2B166}"/>
                    </a:ext>
                  </a:extLst>
                </p:cNvPr>
                <p:cNvCxnSpPr/>
                <p:nvPr/>
              </p:nvCxnSpPr>
              <p:spPr>
                <a:xfrm flipV="1">
                  <a:off x="1933575" y="3070521"/>
                  <a:ext cx="0" cy="5346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7A1583E7-96A1-0F50-A969-50D7C0A092AA}"/>
                    </a:ext>
                  </a:extLst>
                </p:cNvPr>
                <p:cNvCxnSpPr/>
                <p:nvPr/>
              </p:nvCxnSpPr>
              <p:spPr>
                <a:xfrm flipV="1">
                  <a:off x="2450307" y="3070520"/>
                  <a:ext cx="0" cy="5346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BA65845B-C060-930F-869C-894DACFCB235}"/>
                    </a:ext>
                  </a:extLst>
                </p:cNvPr>
                <p:cNvCxnSpPr/>
                <p:nvPr/>
              </p:nvCxnSpPr>
              <p:spPr>
                <a:xfrm flipV="1">
                  <a:off x="2974182" y="3070521"/>
                  <a:ext cx="0" cy="5346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5" name="Group 134">
                <a:extLst>
                  <a:ext uri="{FF2B5EF4-FFF2-40B4-BE49-F238E27FC236}">
                    <a16:creationId xmlns:a16="http://schemas.microsoft.com/office/drawing/2014/main" id="{0049B313-EC18-2081-F8F8-9552E4DC2D4A}"/>
                  </a:ext>
                </a:extLst>
              </p:cNvPr>
              <p:cNvGrpSpPr/>
              <p:nvPr/>
            </p:nvGrpSpPr>
            <p:grpSpPr>
              <a:xfrm rot="16200000">
                <a:off x="-490679" y="5335571"/>
                <a:ext cx="3664744" cy="72001"/>
                <a:chOff x="-690562" y="3040291"/>
                <a:chExt cx="3664744" cy="72001"/>
              </a:xfrm>
              <a:grpFill/>
            </p:grpSpPr>
            <p:cxnSp>
              <p:nvCxnSpPr>
                <p:cNvPr id="150" name="Straight Connector 149">
                  <a:extLst>
                    <a:ext uri="{FF2B5EF4-FFF2-40B4-BE49-F238E27FC236}">
                      <a16:creationId xmlns:a16="http://schemas.microsoft.com/office/drawing/2014/main" id="{729E9A98-C751-DD22-36E2-A4FF8AFC8C1E}"/>
                    </a:ext>
                  </a:extLst>
                </p:cNvPr>
                <p:cNvCxnSpPr/>
                <p:nvPr/>
              </p:nvCxnSpPr>
              <p:spPr>
                <a:xfrm flipV="1">
                  <a:off x="-690562" y="3040292"/>
                  <a:ext cx="0" cy="720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887DAC10-42EE-20CF-6FD7-673A0A0AAB74}"/>
                    </a:ext>
                  </a:extLst>
                </p:cNvPr>
                <p:cNvCxnSpPr>
                  <a:cxnSpLocks/>
                </p:cNvCxnSpPr>
                <p:nvPr/>
              </p:nvCxnSpPr>
              <p:spPr>
                <a:xfrm flipV="1">
                  <a:off x="1754983" y="3040291"/>
                  <a:ext cx="0" cy="720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87B12F9E-8332-A3A6-E285-8FB27F818370}"/>
                    </a:ext>
                  </a:extLst>
                </p:cNvPr>
                <p:cNvCxnSpPr>
                  <a:cxnSpLocks/>
                </p:cNvCxnSpPr>
                <p:nvPr/>
              </p:nvCxnSpPr>
              <p:spPr>
                <a:xfrm flipV="1">
                  <a:off x="2974182" y="3040291"/>
                  <a:ext cx="0" cy="720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6" name="Freeform: Shape 135">
                <a:extLst>
                  <a:ext uri="{FF2B5EF4-FFF2-40B4-BE49-F238E27FC236}">
                    <a16:creationId xmlns:a16="http://schemas.microsoft.com/office/drawing/2014/main" id="{613D2581-D98A-3AAA-BF3A-9EF4EC240433}"/>
                  </a:ext>
                </a:extLst>
              </p:cNvPr>
              <p:cNvSpPr/>
              <p:nvPr/>
            </p:nvSpPr>
            <p:spPr>
              <a:xfrm>
                <a:off x="1447669" y="4567238"/>
                <a:ext cx="1757494" cy="178594"/>
              </a:xfrm>
              <a:custGeom>
                <a:avLst/>
                <a:gdLst>
                  <a:gd name="connsiteX0" fmla="*/ 0 w 1745457"/>
                  <a:gd name="connsiteY0" fmla="*/ 0 h 178593"/>
                  <a:gd name="connsiteX1" fmla="*/ 440532 w 1745457"/>
                  <a:gd name="connsiteY1" fmla="*/ 23812 h 178593"/>
                  <a:gd name="connsiteX2" fmla="*/ 778669 w 1745457"/>
                  <a:gd name="connsiteY2" fmla="*/ 61912 h 178593"/>
                  <a:gd name="connsiteX3" fmla="*/ 1009650 w 1745457"/>
                  <a:gd name="connsiteY3" fmla="*/ 130968 h 178593"/>
                  <a:gd name="connsiteX4" fmla="*/ 1126332 w 1745457"/>
                  <a:gd name="connsiteY4" fmla="*/ 145256 h 178593"/>
                  <a:gd name="connsiteX5" fmla="*/ 1557338 w 1745457"/>
                  <a:gd name="connsiteY5" fmla="*/ 159543 h 178593"/>
                  <a:gd name="connsiteX6" fmla="*/ 1745457 w 1745457"/>
                  <a:gd name="connsiteY6" fmla="*/ 178593 h 178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5457" h="178593">
                    <a:moveTo>
                      <a:pt x="0" y="0"/>
                    </a:moveTo>
                    <a:cubicBezTo>
                      <a:pt x="155377" y="6746"/>
                      <a:pt x="310754" y="13493"/>
                      <a:pt x="440532" y="23812"/>
                    </a:cubicBezTo>
                    <a:cubicBezTo>
                      <a:pt x="570310" y="34131"/>
                      <a:pt x="683816" y="44053"/>
                      <a:pt x="778669" y="61912"/>
                    </a:cubicBezTo>
                    <a:cubicBezTo>
                      <a:pt x="873522" y="79771"/>
                      <a:pt x="951706" y="117077"/>
                      <a:pt x="1009650" y="130968"/>
                    </a:cubicBezTo>
                    <a:cubicBezTo>
                      <a:pt x="1067594" y="144859"/>
                      <a:pt x="1035051" y="140494"/>
                      <a:pt x="1126332" y="145256"/>
                    </a:cubicBezTo>
                    <a:cubicBezTo>
                      <a:pt x="1217613" y="150018"/>
                      <a:pt x="1454151" y="153987"/>
                      <a:pt x="1557338" y="159543"/>
                    </a:cubicBezTo>
                    <a:cubicBezTo>
                      <a:pt x="1660525" y="165099"/>
                      <a:pt x="1702991" y="171846"/>
                      <a:pt x="1745457" y="178593"/>
                    </a:cubicBezTo>
                  </a:path>
                </a:pathLst>
              </a:custGeom>
              <a:grp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37" name="Freeform: Shape 136">
                <a:extLst>
                  <a:ext uri="{FF2B5EF4-FFF2-40B4-BE49-F238E27FC236}">
                    <a16:creationId xmlns:a16="http://schemas.microsoft.com/office/drawing/2014/main" id="{049677DE-89F5-6EBE-351C-19135B7B78E9}"/>
                  </a:ext>
                </a:extLst>
              </p:cNvPr>
              <p:cNvSpPr/>
              <p:nvPr/>
            </p:nvSpPr>
            <p:spPr>
              <a:xfrm>
                <a:off x="1454944" y="3302794"/>
                <a:ext cx="1214438" cy="1447800"/>
              </a:xfrm>
              <a:custGeom>
                <a:avLst/>
                <a:gdLst>
                  <a:gd name="connsiteX0" fmla="*/ 0 w 1193006"/>
                  <a:gd name="connsiteY0" fmla="*/ 0 h 1364456"/>
                  <a:gd name="connsiteX1" fmla="*/ 314325 w 1193006"/>
                  <a:gd name="connsiteY1" fmla="*/ 147637 h 1364456"/>
                  <a:gd name="connsiteX2" fmla="*/ 516731 w 1193006"/>
                  <a:gd name="connsiteY2" fmla="*/ 381000 h 1364456"/>
                  <a:gd name="connsiteX3" fmla="*/ 635794 w 1193006"/>
                  <a:gd name="connsiteY3" fmla="*/ 621506 h 1364456"/>
                  <a:gd name="connsiteX4" fmla="*/ 814387 w 1193006"/>
                  <a:gd name="connsiteY4" fmla="*/ 711994 h 1364456"/>
                  <a:gd name="connsiteX5" fmla="*/ 995362 w 1193006"/>
                  <a:gd name="connsiteY5" fmla="*/ 857250 h 1364456"/>
                  <a:gd name="connsiteX6" fmla="*/ 1100137 w 1193006"/>
                  <a:gd name="connsiteY6" fmla="*/ 1081087 h 1364456"/>
                  <a:gd name="connsiteX7" fmla="*/ 1193006 w 1193006"/>
                  <a:gd name="connsiteY7" fmla="*/ 1364456 h 1364456"/>
                  <a:gd name="connsiteX0" fmla="*/ 0 w 1214438"/>
                  <a:gd name="connsiteY0" fmla="*/ 0 h 1447800"/>
                  <a:gd name="connsiteX1" fmla="*/ 314325 w 1214438"/>
                  <a:gd name="connsiteY1" fmla="*/ 147637 h 1447800"/>
                  <a:gd name="connsiteX2" fmla="*/ 516731 w 1214438"/>
                  <a:gd name="connsiteY2" fmla="*/ 381000 h 1447800"/>
                  <a:gd name="connsiteX3" fmla="*/ 635794 w 1214438"/>
                  <a:gd name="connsiteY3" fmla="*/ 621506 h 1447800"/>
                  <a:gd name="connsiteX4" fmla="*/ 814387 w 1214438"/>
                  <a:gd name="connsiteY4" fmla="*/ 711994 h 1447800"/>
                  <a:gd name="connsiteX5" fmla="*/ 995362 w 1214438"/>
                  <a:gd name="connsiteY5" fmla="*/ 857250 h 1447800"/>
                  <a:gd name="connsiteX6" fmla="*/ 1100137 w 1214438"/>
                  <a:gd name="connsiteY6" fmla="*/ 1081087 h 1447800"/>
                  <a:gd name="connsiteX7" fmla="*/ 1214438 w 1214438"/>
                  <a:gd name="connsiteY7" fmla="*/ 1447800 h 1447800"/>
                  <a:gd name="connsiteX0" fmla="*/ 0 w 1214438"/>
                  <a:gd name="connsiteY0" fmla="*/ 0 h 1447800"/>
                  <a:gd name="connsiteX1" fmla="*/ 314325 w 1214438"/>
                  <a:gd name="connsiteY1" fmla="*/ 147637 h 1447800"/>
                  <a:gd name="connsiteX2" fmla="*/ 516731 w 1214438"/>
                  <a:gd name="connsiteY2" fmla="*/ 381000 h 1447800"/>
                  <a:gd name="connsiteX3" fmla="*/ 635794 w 1214438"/>
                  <a:gd name="connsiteY3" fmla="*/ 621506 h 1447800"/>
                  <a:gd name="connsiteX4" fmla="*/ 814387 w 1214438"/>
                  <a:gd name="connsiteY4" fmla="*/ 711994 h 1447800"/>
                  <a:gd name="connsiteX5" fmla="*/ 995362 w 1214438"/>
                  <a:gd name="connsiteY5" fmla="*/ 857250 h 1447800"/>
                  <a:gd name="connsiteX6" fmla="*/ 1100137 w 1214438"/>
                  <a:gd name="connsiteY6" fmla="*/ 1081087 h 1447800"/>
                  <a:gd name="connsiteX7" fmla="*/ 1200150 w 1214438"/>
                  <a:gd name="connsiteY7" fmla="*/ 1369219 h 1447800"/>
                  <a:gd name="connsiteX8" fmla="*/ 1214438 w 1214438"/>
                  <a:gd name="connsiteY8" fmla="*/ 1447800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4438" h="1447800">
                    <a:moveTo>
                      <a:pt x="0" y="0"/>
                    </a:moveTo>
                    <a:cubicBezTo>
                      <a:pt x="114101" y="42068"/>
                      <a:pt x="228203" y="84137"/>
                      <a:pt x="314325" y="147637"/>
                    </a:cubicBezTo>
                    <a:cubicBezTo>
                      <a:pt x="400447" y="211137"/>
                      <a:pt x="463153" y="302022"/>
                      <a:pt x="516731" y="381000"/>
                    </a:cubicBezTo>
                    <a:cubicBezTo>
                      <a:pt x="570309" y="459978"/>
                      <a:pt x="586185" y="566340"/>
                      <a:pt x="635794" y="621506"/>
                    </a:cubicBezTo>
                    <a:cubicBezTo>
                      <a:pt x="685403" y="676672"/>
                      <a:pt x="754459" y="672703"/>
                      <a:pt x="814387" y="711994"/>
                    </a:cubicBezTo>
                    <a:cubicBezTo>
                      <a:pt x="874315" y="751285"/>
                      <a:pt x="947737" y="795735"/>
                      <a:pt x="995362" y="857250"/>
                    </a:cubicBezTo>
                    <a:cubicBezTo>
                      <a:pt x="1042987" y="918765"/>
                      <a:pt x="1067990" y="996553"/>
                      <a:pt x="1100137" y="1081087"/>
                    </a:cubicBezTo>
                    <a:cubicBezTo>
                      <a:pt x="1132284" y="1165621"/>
                      <a:pt x="1181100" y="1308100"/>
                      <a:pt x="1200150" y="1369219"/>
                    </a:cubicBezTo>
                    <a:cubicBezTo>
                      <a:pt x="1219200" y="1430338"/>
                      <a:pt x="1210072" y="1433909"/>
                      <a:pt x="1214438" y="1447800"/>
                    </a:cubicBezTo>
                  </a:path>
                </a:pathLst>
              </a:custGeom>
              <a:grp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38" name="Freeform: Shape 137">
                <a:extLst>
                  <a:ext uri="{FF2B5EF4-FFF2-40B4-BE49-F238E27FC236}">
                    <a16:creationId xmlns:a16="http://schemas.microsoft.com/office/drawing/2014/main" id="{841F40A8-04C5-B1D6-CC8F-B8BFE2F18D07}"/>
                  </a:ext>
                </a:extLst>
              </p:cNvPr>
              <p:cNvSpPr/>
              <p:nvPr/>
            </p:nvSpPr>
            <p:spPr>
              <a:xfrm>
                <a:off x="1440656" y="4605338"/>
                <a:ext cx="1854994" cy="141557"/>
              </a:xfrm>
              <a:custGeom>
                <a:avLst/>
                <a:gdLst>
                  <a:gd name="connsiteX0" fmla="*/ 0 w 1854994"/>
                  <a:gd name="connsiteY0" fmla="*/ 0 h 141557"/>
                  <a:gd name="connsiteX1" fmla="*/ 352425 w 1854994"/>
                  <a:gd name="connsiteY1" fmla="*/ 11906 h 141557"/>
                  <a:gd name="connsiteX2" fmla="*/ 550069 w 1854994"/>
                  <a:gd name="connsiteY2" fmla="*/ 19050 h 141557"/>
                  <a:gd name="connsiteX3" fmla="*/ 752475 w 1854994"/>
                  <a:gd name="connsiteY3" fmla="*/ 40481 h 141557"/>
                  <a:gd name="connsiteX4" fmla="*/ 971550 w 1854994"/>
                  <a:gd name="connsiteY4" fmla="*/ 88106 h 141557"/>
                  <a:gd name="connsiteX5" fmla="*/ 1162050 w 1854994"/>
                  <a:gd name="connsiteY5" fmla="*/ 95250 h 141557"/>
                  <a:gd name="connsiteX6" fmla="*/ 1547813 w 1854994"/>
                  <a:gd name="connsiteY6" fmla="*/ 111918 h 141557"/>
                  <a:gd name="connsiteX7" fmla="*/ 1683544 w 1854994"/>
                  <a:gd name="connsiteY7" fmla="*/ 138112 h 141557"/>
                  <a:gd name="connsiteX8" fmla="*/ 1854994 w 1854994"/>
                  <a:gd name="connsiteY8" fmla="*/ 140493 h 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4994" h="141557">
                    <a:moveTo>
                      <a:pt x="0" y="0"/>
                    </a:moveTo>
                    <a:lnTo>
                      <a:pt x="352425" y="11906"/>
                    </a:lnTo>
                    <a:cubicBezTo>
                      <a:pt x="444103" y="15081"/>
                      <a:pt x="483394" y="14288"/>
                      <a:pt x="550069" y="19050"/>
                    </a:cubicBezTo>
                    <a:cubicBezTo>
                      <a:pt x="616744" y="23813"/>
                      <a:pt x="682228" y="28972"/>
                      <a:pt x="752475" y="40481"/>
                    </a:cubicBezTo>
                    <a:cubicBezTo>
                      <a:pt x="822722" y="51990"/>
                      <a:pt x="903288" y="78978"/>
                      <a:pt x="971550" y="88106"/>
                    </a:cubicBezTo>
                    <a:cubicBezTo>
                      <a:pt x="1039812" y="97234"/>
                      <a:pt x="1162050" y="95250"/>
                      <a:pt x="1162050" y="95250"/>
                    </a:cubicBezTo>
                    <a:cubicBezTo>
                      <a:pt x="1258094" y="99219"/>
                      <a:pt x="1460897" y="104774"/>
                      <a:pt x="1547813" y="111918"/>
                    </a:cubicBezTo>
                    <a:cubicBezTo>
                      <a:pt x="1634729" y="119062"/>
                      <a:pt x="1632347" y="133350"/>
                      <a:pt x="1683544" y="138112"/>
                    </a:cubicBezTo>
                    <a:cubicBezTo>
                      <a:pt x="1734741" y="142874"/>
                      <a:pt x="1794867" y="141683"/>
                      <a:pt x="1854994" y="140493"/>
                    </a:cubicBezTo>
                  </a:path>
                </a:pathLst>
              </a:custGeom>
              <a:grpFill/>
              <a:ln w="127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39" name="Freeform: Shape 138">
                <a:extLst>
                  <a:ext uri="{FF2B5EF4-FFF2-40B4-BE49-F238E27FC236}">
                    <a16:creationId xmlns:a16="http://schemas.microsoft.com/office/drawing/2014/main" id="{5AE3F341-A715-1667-32AD-3E17B7536707}"/>
                  </a:ext>
                </a:extLst>
              </p:cNvPr>
              <p:cNvSpPr/>
              <p:nvPr/>
            </p:nvSpPr>
            <p:spPr>
              <a:xfrm>
                <a:off x="1457325" y="4674394"/>
                <a:ext cx="590550" cy="92782"/>
              </a:xfrm>
              <a:custGeom>
                <a:avLst/>
                <a:gdLst>
                  <a:gd name="connsiteX0" fmla="*/ 0 w 590550"/>
                  <a:gd name="connsiteY0" fmla="*/ 0 h 92782"/>
                  <a:gd name="connsiteX1" fmla="*/ 161925 w 590550"/>
                  <a:gd name="connsiteY1" fmla="*/ 16669 h 92782"/>
                  <a:gd name="connsiteX2" fmla="*/ 478631 w 590550"/>
                  <a:gd name="connsiteY2" fmla="*/ 59531 h 92782"/>
                  <a:gd name="connsiteX3" fmla="*/ 404813 w 590550"/>
                  <a:gd name="connsiteY3" fmla="*/ 90487 h 92782"/>
                  <a:gd name="connsiteX4" fmla="*/ 590550 w 590550"/>
                  <a:gd name="connsiteY4" fmla="*/ 88106 h 92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92782">
                    <a:moveTo>
                      <a:pt x="0" y="0"/>
                    </a:moveTo>
                    <a:cubicBezTo>
                      <a:pt x="41076" y="3373"/>
                      <a:pt x="82153" y="6747"/>
                      <a:pt x="161925" y="16669"/>
                    </a:cubicBezTo>
                    <a:cubicBezTo>
                      <a:pt x="241697" y="26591"/>
                      <a:pt x="438150" y="47228"/>
                      <a:pt x="478631" y="59531"/>
                    </a:cubicBezTo>
                    <a:cubicBezTo>
                      <a:pt x="519112" y="71834"/>
                      <a:pt x="386160" y="85725"/>
                      <a:pt x="404813" y="90487"/>
                    </a:cubicBezTo>
                    <a:cubicBezTo>
                      <a:pt x="423466" y="95249"/>
                      <a:pt x="507008" y="91677"/>
                      <a:pt x="590550" y="88106"/>
                    </a:cubicBezTo>
                  </a:path>
                </a:pathLst>
              </a:custGeom>
              <a:grp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40" name="Freeform: Shape 139">
                <a:extLst>
                  <a:ext uri="{FF2B5EF4-FFF2-40B4-BE49-F238E27FC236}">
                    <a16:creationId xmlns:a16="http://schemas.microsoft.com/office/drawing/2014/main" id="{22377E16-EBC8-CD70-A897-5EFF0F101F06}"/>
                  </a:ext>
                </a:extLst>
              </p:cNvPr>
              <p:cNvSpPr/>
              <p:nvPr/>
            </p:nvSpPr>
            <p:spPr>
              <a:xfrm>
                <a:off x="1461294" y="4775199"/>
                <a:ext cx="1580356" cy="2900445"/>
              </a:xfrm>
              <a:custGeom>
                <a:avLst/>
                <a:gdLst>
                  <a:gd name="connsiteX0" fmla="*/ 1549400 w 1549400"/>
                  <a:gd name="connsiteY0" fmla="*/ 0 h 2915841"/>
                  <a:gd name="connsiteX1" fmla="*/ 1422400 w 1549400"/>
                  <a:gd name="connsiteY1" fmla="*/ 1365250 h 2915841"/>
                  <a:gd name="connsiteX2" fmla="*/ 1212850 w 1549400"/>
                  <a:gd name="connsiteY2" fmla="*/ 2413000 h 2915841"/>
                  <a:gd name="connsiteX3" fmla="*/ 990600 w 1549400"/>
                  <a:gd name="connsiteY3" fmla="*/ 2863850 h 2915841"/>
                  <a:gd name="connsiteX4" fmla="*/ 609600 w 1549400"/>
                  <a:gd name="connsiteY4" fmla="*/ 2901950 h 2915841"/>
                  <a:gd name="connsiteX5" fmla="*/ 444500 w 1549400"/>
                  <a:gd name="connsiteY5" fmla="*/ 2825750 h 2915841"/>
                  <a:gd name="connsiteX6" fmla="*/ 0 w 1549400"/>
                  <a:gd name="connsiteY6" fmla="*/ 2832100 h 2915841"/>
                  <a:gd name="connsiteX0" fmla="*/ 1580356 w 1580356"/>
                  <a:gd name="connsiteY0" fmla="*/ 0 h 2915841"/>
                  <a:gd name="connsiteX1" fmla="*/ 1453356 w 1580356"/>
                  <a:gd name="connsiteY1" fmla="*/ 1365250 h 2915841"/>
                  <a:gd name="connsiteX2" fmla="*/ 1243806 w 1580356"/>
                  <a:gd name="connsiteY2" fmla="*/ 2413000 h 2915841"/>
                  <a:gd name="connsiteX3" fmla="*/ 1021556 w 1580356"/>
                  <a:gd name="connsiteY3" fmla="*/ 2863850 h 2915841"/>
                  <a:gd name="connsiteX4" fmla="*/ 640556 w 1580356"/>
                  <a:gd name="connsiteY4" fmla="*/ 2901950 h 2915841"/>
                  <a:gd name="connsiteX5" fmla="*/ 475456 w 1580356"/>
                  <a:gd name="connsiteY5" fmla="*/ 2825750 h 2915841"/>
                  <a:gd name="connsiteX6" fmla="*/ 0 w 1580356"/>
                  <a:gd name="connsiteY6" fmla="*/ 2829719 h 2915841"/>
                  <a:gd name="connsiteX0" fmla="*/ 1580356 w 1580356"/>
                  <a:gd name="connsiteY0" fmla="*/ 0 h 2911972"/>
                  <a:gd name="connsiteX1" fmla="*/ 1453356 w 1580356"/>
                  <a:gd name="connsiteY1" fmla="*/ 1365250 h 2911972"/>
                  <a:gd name="connsiteX2" fmla="*/ 1243806 w 1580356"/>
                  <a:gd name="connsiteY2" fmla="*/ 2413000 h 2911972"/>
                  <a:gd name="connsiteX3" fmla="*/ 1021556 w 1580356"/>
                  <a:gd name="connsiteY3" fmla="*/ 2863850 h 2911972"/>
                  <a:gd name="connsiteX4" fmla="*/ 642937 w 1580356"/>
                  <a:gd name="connsiteY4" fmla="*/ 2894806 h 2911972"/>
                  <a:gd name="connsiteX5" fmla="*/ 475456 w 1580356"/>
                  <a:gd name="connsiteY5" fmla="*/ 2825750 h 2911972"/>
                  <a:gd name="connsiteX6" fmla="*/ 0 w 1580356"/>
                  <a:gd name="connsiteY6" fmla="*/ 2829719 h 2911972"/>
                  <a:gd name="connsiteX0" fmla="*/ 1580356 w 1580356"/>
                  <a:gd name="connsiteY0" fmla="*/ 0 h 2899703"/>
                  <a:gd name="connsiteX1" fmla="*/ 1453356 w 1580356"/>
                  <a:gd name="connsiteY1" fmla="*/ 1365250 h 2899703"/>
                  <a:gd name="connsiteX2" fmla="*/ 1243806 w 1580356"/>
                  <a:gd name="connsiteY2" fmla="*/ 2413000 h 2899703"/>
                  <a:gd name="connsiteX3" fmla="*/ 1021556 w 1580356"/>
                  <a:gd name="connsiteY3" fmla="*/ 2840038 h 2899703"/>
                  <a:gd name="connsiteX4" fmla="*/ 642937 w 1580356"/>
                  <a:gd name="connsiteY4" fmla="*/ 2894806 h 2899703"/>
                  <a:gd name="connsiteX5" fmla="*/ 475456 w 1580356"/>
                  <a:gd name="connsiteY5" fmla="*/ 2825750 h 2899703"/>
                  <a:gd name="connsiteX6" fmla="*/ 0 w 1580356"/>
                  <a:gd name="connsiteY6" fmla="*/ 2829719 h 2899703"/>
                  <a:gd name="connsiteX0" fmla="*/ 1580356 w 1580356"/>
                  <a:gd name="connsiteY0" fmla="*/ 0 h 2902534"/>
                  <a:gd name="connsiteX1" fmla="*/ 1453356 w 1580356"/>
                  <a:gd name="connsiteY1" fmla="*/ 1365250 h 2902534"/>
                  <a:gd name="connsiteX2" fmla="*/ 1243806 w 1580356"/>
                  <a:gd name="connsiteY2" fmla="*/ 2413000 h 2902534"/>
                  <a:gd name="connsiteX3" fmla="*/ 1021556 w 1580356"/>
                  <a:gd name="connsiteY3" fmla="*/ 2840038 h 2902534"/>
                  <a:gd name="connsiteX4" fmla="*/ 642937 w 1580356"/>
                  <a:gd name="connsiteY4" fmla="*/ 2894806 h 2902534"/>
                  <a:gd name="connsiteX5" fmla="*/ 475456 w 1580356"/>
                  <a:gd name="connsiteY5" fmla="*/ 2825750 h 2902534"/>
                  <a:gd name="connsiteX6" fmla="*/ 0 w 1580356"/>
                  <a:gd name="connsiteY6" fmla="*/ 2829719 h 2902534"/>
                  <a:gd name="connsiteX0" fmla="*/ 1580356 w 1580356"/>
                  <a:gd name="connsiteY0" fmla="*/ 0 h 2898511"/>
                  <a:gd name="connsiteX1" fmla="*/ 1453356 w 1580356"/>
                  <a:gd name="connsiteY1" fmla="*/ 1365250 h 2898511"/>
                  <a:gd name="connsiteX2" fmla="*/ 1243806 w 1580356"/>
                  <a:gd name="connsiteY2" fmla="*/ 2413000 h 2898511"/>
                  <a:gd name="connsiteX3" fmla="*/ 1042987 w 1580356"/>
                  <a:gd name="connsiteY3" fmla="*/ 2830513 h 2898511"/>
                  <a:gd name="connsiteX4" fmla="*/ 642937 w 1580356"/>
                  <a:gd name="connsiteY4" fmla="*/ 2894806 h 2898511"/>
                  <a:gd name="connsiteX5" fmla="*/ 475456 w 1580356"/>
                  <a:gd name="connsiteY5" fmla="*/ 2825750 h 2898511"/>
                  <a:gd name="connsiteX6" fmla="*/ 0 w 1580356"/>
                  <a:gd name="connsiteY6" fmla="*/ 2829719 h 2898511"/>
                  <a:gd name="connsiteX0" fmla="*/ 1580356 w 1580356"/>
                  <a:gd name="connsiteY0" fmla="*/ 0 h 2900445"/>
                  <a:gd name="connsiteX1" fmla="*/ 1453356 w 1580356"/>
                  <a:gd name="connsiteY1" fmla="*/ 1365250 h 2900445"/>
                  <a:gd name="connsiteX2" fmla="*/ 1243806 w 1580356"/>
                  <a:gd name="connsiteY2" fmla="*/ 2413000 h 2900445"/>
                  <a:gd name="connsiteX3" fmla="*/ 1042987 w 1580356"/>
                  <a:gd name="connsiteY3" fmla="*/ 2830513 h 2900445"/>
                  <a:gd name="connsiteX4" fmla="*/ 642937 w 1580356"/>
                  <a:gd name="connsiteY4" fmla="*/ 2894806 h 2900445"/>
                  <a:gd name="connsiteX5" fmla="*/ 475456 w 1580356"/>
                  <a:gd name="connsiteY5" fmla="*/ 2825750 h 2900445"/>
                  <a:gd name="connsiteX6" fmla="*/ 0 w 1580356"/>
                  <a:gd name="connsiteY6" fmla="*/ 2829719 h 2900445"/>
                  <a:gd name="connsiteX0" fmla="*/ 1580356 w 1580356"/>
                  <a:gd name="connsiteY0" fmla="*/ 0 h 2900445"/>
                  <a:gd name="connsiteX1" fmla="*/ 1453356 w 1580356"/>
                  <a:gd name="connsiteY1" fmla="*/ 1365250 h 2900445"/>
                  <a:gd name="connsiteX2" fmla="*/ 1243806 w 1580356"/>
                  <a:gd name="connsiteY2" fmla="*/ 2413000 h 2900445"/>
                  <a:gd name="connsiteX3" fmla="*/ 1042987 w 1580356"/>
                  <a:gd name="connsiteY3" fmla="*/ 2830513 h 2900445"/>
                  <a:gd name="connsiteX4" fmla="*/ 642937 w 1580356"/>
                  <a:gd name="connsiteY4" fmla="*/ 2894806 h 2900445"/>
                  <a:gd name="connsiteX5" fmla="*/ 475456 w 1580356"/>
                  <a:gd name="connsiteY5" fmla="*/ 2825750 h 2900445"/>
                  <a:gd name="connsiteX6" fmla="*/ 0 w 1580356"/>
                  <a:gd name="connsiteY6" fmla="*/ 2829719 h 290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0356" h="2900445">
                    <a:moveTo>
                      <a:pt x="1580356" y="0"/>
                    </a:moveTo>
                    <a:cubicBezTo>
                      <a:pt x="1544902" y="481541"/>
                      <a:pt x="1509448" y="963083"/>
                      <a:pt x="1453356" y="1365250"/>
                    </a:cubicBezTo>
                    <a:cubicBezTo>
                      <a:pt x="1397264" y="1767417"/>
                      <a:pt x="1328869" y="2173553"/>
                      <a:pt x="1243806" y="2413000"/>
                    </a:cubicBezTo>
                    <a:cubicBezTo>
                      <a:pt x="1158743" y="2652447"/>
                      <a:pt x="1105032" y="2733543"/>
                      <a:pt x="1042987" y="2830513"/>
                    </a:cubicBezTo>
                    <a:cubicBezTo>
                      <a:pt x="980942" y="2927483"/>
                      <a:pt x="737525" y="2895600"/>
                      <a:pt x="642937" y="2894806"/>
                    </a:cubicBezTo>
                    <a:cubicBezTo>
                      <a:pt x="548349" y="2894012"/>
                      <a:pt x="577056" y="2837392"/>
                      <a:pt x="475456" y="2825750"/>
                    </a:cubicBezTo>
                    <a:cubicBezTo>
                      <a:pt x="373856" y="2814108"/>
                      <a:pt x="171450" y="2820723"/>
                      <a:pt x="0" y="2829719"/>
                    </a:cubicBezTo>
                  </a:path>
                </a:pathLst>
              </a:custGeom>
              <a:grp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41" name="Freeform: Shape 140">
                <a:extLst>
                  <a:ext uri="{FF2B5EF4-FFF2-40B4-BE49-F238E27FC236}">
                    <a16:creationId xmlns:a16="http://schemas.microsoft.com/office/drawing/2014/main" id="{68CE093B-10EB-88D6-D357-AA7838BC18C4}"/>
                  </a:ext>
                </a:extLst>
              </p:cNvPr>
              <p:cNvSpPr/>
              <p:nvPr/>
            </p:nvSpPr>
            <p:spPr>
              <a:xfrm>
                <a:off x="1472394" y="4740349"/>
                <a:ext cx="759620" cy="18302"/>
              </a:xfrm>
              <a:custGeom>
                <a:avLst/>
                <a:gdLst>
                  <a:gd name="connsiteX0" fmla="*/ 0 w 779078"/>
                  <a:gd name="connsiteY0" fmla="*/ 16699 h 21462"/>
                  <a:gd name="connsiteX1" fmla="*/ 280988 w 779078"/>
                  <a:gd name="connsiteY1" fmla="*/ 16699 h 21462"/>
                  <a:gd name="connsiteX2" fmla="*/ 704850 w 779078"/>
                  <a:gd name="connsiteY2" fmla="*/ 31 h 21462"/>
                  <a:gd name="connsiteX3" fmla="*/ 776288 w 779078"/>
                  <a:gd name="connsiteY3" fmla="*/ 21462 h 21462"/>
                  <a:gd name="connsiteX0" fmla="*/ 0 w 776288"/>
                  <a:gd name="connsiteY0" fmla="*/ 16699 h 21462"/>
                  <a:gd name="connsiteX1" fmla="*/ 280988 w 776288"/>
                  <a:gd name="connsiteY1" fmla="*/ 16699 h 21462"/>
                  <a:gd name="connsiteX2" fmla="*/ 704850 w 776288"/>
                  <a:gd name="connsiteY2" fmla="*/ 31 h 21462"/>
                  <a:gd name="connsiteX3" fmla="*/ 776288 w 776288"/>
                  <a:gd name="connsiteY3" fmla="*/ 21462 h 21462"/>
                  <a:gd name="connsiteX0" fmla="*/ 0 w 776288"/>
                  <a:gd name="connsiteY0" fmla="*/ 16699 h 21462"/>
                  <a:gd name="connsiteX1" fmla="*/ 280988 w 776288"/>
                  <a:gd name="connsiteY1" fmla="*/ 16699 h 21462"/>
                  <a:gd name="connsiteX2" fmla="*/ 704850 w 776288"/>
                  <a:gd name="connsiteY2" fmla="*/ 31 h 21462"/>
                  <a:gd name="connsiteX3" fmla="*/ 776288 w 776288"/>
                  <a:gd name="connsiteY3" fmla="*/ 21462 h 21462"/>
                  <a:gd name="connsiteX0" fmla="*/ 0 w 754857"/>
                  <a:gd name="connsiteY0" fmla="*/ 16699 h 18302"/>
                  <a:gd name="connsiteX1" fmla="*/ 280988 w 754857"/>
                  <a:gd name="connsiteY1" fmla="*/ 16699 h 18302"/>
                  <a:gd name="connsiteX2" fmla="*/ 704850 w 754857"/>
                  <a:gd name="connsiteY2" fmla="*/ 31 h 18302"/>
                  <a:gd name="connsiteX3" fmla="*/ 754857 w 754857"/>
                  <a:gd name="connsiteY3" fmla="*/ 16699 h 18302"/>
                  <a:gd name="connsiteX0" fmla="*/ 0 w 754857"/>
                  <a:gd name="connsiteY0" fmla="*/ 16699 h 18302"/>
                  <a:gd name="connsiteX1" fmla="*/ 280988 w 754857"/>
                  <a:gd name="connsiteY1" fmla="*/ 16699 h 18302"/>
                  <a:gd name="connsiteX2" fmla="*/ 681037 w 754857"/>
                  <a:gd name="connsiteY2" fmla="*/ 31 h 18302"/>
                  <a:gd name="connsiteX3" fmla="*/ 754857 w 754857"/>
                  <a:gd name="connsiteY3" fmla="*/ 16699 h 18302"/>
                  <a:gd name="connsiteX0" fmla="*/ 0 w 754857"/>
                  <a:gd name="connsiteY0" fmla="*/ 16699 h 18302"/>
                  <a:gd name="connsiteX1" fmla="*/ 280988 w 754857"/>
                  <a:gd name="connsiteY1" fmla="*/ 16699 h 18302"/>
                  <a:gd name="connsiteX2" fmla="*/ 681037 w 754857"/>
                  <a:gd name="connsiteY2" fmla="*/ 31 h 18302"/>
                  <a:gd name="connsiteX3" fmla="*/ 754857 w 754857"/>
                  <a:gd name="connsiteY3" fmla="*/ 9555 h 18302"/>
                  <a:gd name="connsiteX0" fmla="*/ 0 w 759620"/>
                  <a:gd name="connsiteY0" fmla="*/ 16699 h 18302"/>
                  <a:gd name="connsiteX1" fmla="*/ 280988 w 759620"/>
                  <a:gd name="connsiteY1" fmla="*/ 16699 h 18302"/>
                  <a:gd name="connsiteX2" fmla="*/ 681037 w 759620"/>
                  <a:gd name="connsiteY2" fmla="*/ 31 h 18302"/>
                  <a:gd name="connsiteX3" fmla="*/ 759620 w 759620"/>
                  <a:gd name="connsiteY3" fmla="*/ 7174 h 18302"/>
                </a:gdLst>
                <a:ahLst/>
                <a:cxnLst>
                  <a:cxn ang="0">
                    <a:pos x="connsiteX0" y="connsiteY0"/>
                  </a:cxn>
                  <a:cxn ang="0">
                    <a:pos x="connsiteX1" y="connsiteY1"/>
                  </a:cxn>
                  <a:cxn ang="0">
                    <a:pos x="connsiteX2" y="connsiteY2"/>
                  </a:cxn>
                  <a:cxn ang="0">
                    <a:pos x="connsiteX3" y="connsiteY3"/>
                  </a:cxn>
                </a:cxnLst>
                <a:rect l="l" t="t" r="r" b="b"/>
                <a:pathLst>
                  <a:path w="759620" h="18302">
                    <a:moveTo>
                      <a:pt x="0" y="16699"/>
                    </a:moveTo>
                    <a:cubicBezTo>
                      <a:pt x="81756" y="18088"/>
                      <a:pt x="167482" y="19477"/>
                      <a:pt x="280988" y="16699"/>
                    </a:cubicBezTo>
                    <a:cubicBezTo>
                      <a:pt x="394494" y="13921"/>
                      <a:pt x="598487" y="-763"/>
                      <a:pt x="681037" y="31"/>
                    </a:cubicBezTo>
                    <a:cubicBezTo>
                      <a:pt x="713580" y="5587"/>
                      <a:pt x="708026" y="-764"/>
                      <a:pt x="759620" y="7174"/>
                    </a:cubicBezTo>
                  </a:path>
                </a:pathLst>
              </a:custGeom>
              <a:grp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42" name="Freeform: Shape 141">
                <a:extLst>
                  <a:ext uri="{FF2B5EF4-FFF2-40B4-BE49-F238E27FC236}">
                    <a16:creationId xmlns:a16="http://schemas.microsoft.com/office/drawing/2014/main" id="{2BE1A970-5C6E-2AB5-6366-972768007A75}"/>
                  </a:ext>
                </a:extLst>
              </p:cNvPr>
              <p:cNvSpPr/>
              <p:nvPr/>
            </p:nvSpPr>
            <p:spPr>
              <a:xfrm>
                <a:off x="1464469" y="4733925"/>
                <a:ext cx="335756" cy="7144"/>
              </a:xfrm>
              <a:custGeom>
                <a:avLst/>
                <a:gdLst>
                  <a:gd name="connsiteX0" fmla="*/ 0 w 335756"/>
                  <a:gd name="connsiteY0" fmla="*/ 0 h 7144"/>
                  <a:gd name="connsiteX1" fmla="*/ 335756 w 335756"/>
                  <a:gd name="connsiteY1" fmla="*/ 7144 h 7144"/>
                </a:gdLst>
                <a:ahLst/>
                <a:cxnLst>
                  <a:cxn ang="0">
                    <a:pos x="connsiteX0" y="connsiteY0"/>
                  </a:cxn>
                  <a:cxn ang="0">
                    <a:pos x="connsiteX1" y="connsiteY1"/>
                  </a:cxn>
                </a:cxnLst>
                <a:rect l="l" t="t" r="r" b="b"/>
                <a:pathLst>
                  <a:path w="335756" h="7144">
                    <a:moveTo>
                      <a:pt x="0" y="0"/>
                    </a:moveTo>
                    <a:lnTo>
                      <a:pt x="335756" y="7144"/>
                    </a:lnTo>
                  </a:path>
                </a:pathLst>
              </a:custGeom>
              <a:grpFill/>
              <a:ln w="127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43" name="Freeform: Shape 142">
                <a:extLst>
                  <a:ext uri="{FF2B5EF4-FFF2-40B4-BE49-F238E27FC236}">
                    <a16:creationId xmlns:a16="http://schemas.microsoft.com/office/drawing/2014/main" id="{A5B62101-284E-D06B-1B95-FB1BB0B76B80}"/>
                  </a:ext>
                </a:extLst>
              </p:cNvPr>
              <p:cNvSpPr/>
              <p:nvPr/>
            </p:nvSpPr>
            <p:spPr>
              <a:xfrm>
                <a:off x="2231231" y="4745831"/>
                <a:ext cx="697707" cy="7144"/>
              </a:xfrm>
              <a:custGeom>
                <a:avLst/>
                <a:gdLst>
                  <a:gd name="connsiteX0" fmla="*/ 0 w 697707"/>
                  <a:gd name="connsiteY0" fmla="*/ 0 h 7144"/>
                  <a:gd name="connsiteX1" fmla="*/ 697707 w 697707"/>
                  <a:gd name="connsiteY1" fmla="*/ 7144 h 7144"/>
                </a:gdLst>
                <a:ahLst/>
                <a:cxnLst>
                  <a:cxn ang="0">
                    <a:pos x="connsiteX0" y="connsiteY0"/>
                  </a:cxn>
                  <a:cxn ang="0">
                    <a:pos x="connsiteX1" y="connsiteY1"/>
                  </a:cxn>
                </a:cxnLst>
                <a:rect l="l" t="t" r="r" b="b"/>
                <a:pathLst>
                  <a:path w="697707" h="7144">
                    <a:moveTo>
                      <a:pt x="0" y="0"/>
                    </a:moveTo>
                    <a:lnTo>
                      <a:pt x="697707" y="7144"/>
                    </a:lnTo>
                  </a:path>
                </a:pathLst>
              </a:custGeom>
              <a:grp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44" name="Freeform: Shape 143">
                <a:extLst>
                  <a:ext uri="{FF2B5EF4-FFF2-40B4-BE49-F238E27FC236}">
                    <a16:creationId xmlns:a16="http://schemas.microsoft.com/office/drawing/2014/main" id="{DE63D7C0-C2EE-0930-5CDD-14DFAF546E72}"/>
                  </a:ext>
                </a:extLst>
              </p:cNvPr>
              <p:cNvSpPr/>
              <p:nvPr/>
            </p:nvSpPr>
            <p:spPr>
              <a:xfrm>
                <a:off x="1462088" y="4764881"/>
                <a:ext cx="552450" cy="47625"/>
              </a:xfrm>
              <a:custGeom>
                <a:avLst/>
                <a:gdLst>
                  <a:gd name="connsiteX0" fmla="*/ 0 w 552450"/>
                  <a:gd name="connsiteY0" fmla="*/ 42863 h 47625"/>
                  <a:gd name="connsiteX1" fmla="*/ 295275 w 552450"/>
                  <a:gd name="connsiteY1" fmla="*/ 47625 h 47625"/>
                  <a:gd name="connsiteX2" fmla="*/ 466725 w 552450"/>
                  <a:gd name="connsiteY2" fmla="*/ 4763 h 47625"/>
                  <a:gd name="connsiteX3" fmla="*/ 552450 w 552450"/>
                  <a:gd name="connsiteY3" fmla="*/ 0 h 47625"/>
                </a:gdLst>
                <a:ahLst/>
                <a:cxnLst>
                  <a:cxn ang="0">
                    <a:pos x="connsiteX0" y="connsiteY0"/>
                  </a:cxn>
                  <a:cxn ang="0">
                    <a:pos x="connsiteX1" y="connsiteY1"/>
                  </a:cxn>
                  <a:cxn ang="0">
                    <a:pos x="connsiteX2" y="connsiteY2"/>
                  </a:cxn>
                  <a:cxn ang="0">
                    <a:pos x="connsiteX3" y="connsiteY3"/>
                  </a:cxn>
                </a:cxnLst>
                <a:rect l="l" t="t" r="r" b="b"/>
                <a:pathLst>
                  <a:path w="552450" h="47625">
                    <a:moveTo>
                      <a:pt x="0" y="42863"/>
                    </a:moveTo>
                    <a:lnTo>
                      <a:pt x="295275" y="47625"/>
                    </a:lnTo>
                    <a:lnTo>
                      <a:pt x="466725" y="4763"/>
                    </a:lnTo>
                    <a:lnTo>
                      <a:pt x="552450" y="0"/>
                    </a:lnTo>
                  </a:path>
                </a:pathLst>
              </a:custGeom>
              <a:grp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45" name="Freeform: Shape 144">
                <a:extLst>
                  <a:ext uri="{FF2B5EF4-FFF2-40B4-BE49-F238E27FC236}">
                    <a16:creationId xmlns:a16="http://schemas.microsoft.com/office/drawing/2014/main" id="{53115F89-D608-CDF2-D173-74DBF81AD073}"/>
                  </a:ext>
                </a:extLst>
              </p:cNvPr>
              <p:cNvSpPr/>
              <p:nvPr/>
            </p:nvSpPr>
            <p:spPr>
              <a:xfrm>
                <a:off x="1462088" y="4774406"/>
                <a:ext cx="1028700" cy="66675"/>
              </a:xfrm>
              <a:custGeom>
                <a:avLst/>
                <a:gdLst>
                  <a:gd name="connsiteX0" fmla="*/ 0 w 1028700"/>
                  <a:gd name="connsiteY0" fmla="*/ 66675 h 66675"/>
                  <a:gd name="connsiteX1" fmla="*/ 352425 w 1028700"/>
                  <a:gd name="connsiteY1" fmla="*/ 59532 h 66675"/>
                  <a:gd name="connsiteX2" fmla="*/ 564356 w 1028700"/>
                  <a:gd name="connsiteY2" fmla="*/ 42863 h 66675"/>
                  <a:gd name="connsiteX3" fmla="*/ 826293 w 1028700"/>
                  <a:gd name="connsiteY3" fmla="*/ 16669 h 66675"/>
                  <a:gd name="connsiteX4" fmla="*/ 942975 w 1028700"/>
                  <a:gd name="connsiteY4" fmla="*/ 0 h 66675"/>
                  <a:gd name="connsiteX5" fmla="*/ 1028700 w 1028700"/>
                  <a:gd name="connsiteY5" fmla="*/ 2382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8700" h="66675">
                    <a:moveTo>
                      <a:pt x="0" y="66675"/>
                    </a:moveTo>
                    <a:lnTo>
                      <a:pt x="352425" y="59532"/>
                    </a:lnTo>
                    <a:lnTo>
                      <a:pt x="564356" y="42863"/>
                    </a:lnTo>
                    <a:lnTo>
                      <a:pt x="826293" y="16669"/>
                    </a:lnTo>
                    <a:lnTo>
                      <a:pt x="942975" y="0"/>
                    </a:lnTo>
                    <a:lnTo>
                      <a:pt x="1028700" y="2382"/>
                    </a:lnTo>
                  </a:path>
                </a:pathLst>
              </a:custGeom>
              <a:grpFill/>
              <a:ln w="127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46" name="Freeform: Shape 145">
                <a:extLst>
                  <a:ext uri="{FF2B5EF4-FFF2-40B4-BE49-F238E27FC236}">
                    <a16:creationId xmlns:a16="http://schemas.microsoft.com/office/drawing/2014/main" id="{2EE5686D-9B97-8EA4-22C5-E0EF08AE633D}"/>
                  </a:ext>
                </a:extLst>
              </p:cNvPr>
              <p:cNvSpPr/>
              <p:nvPr/>
            </p:nvSpPr>
            <p:spPr>
              <a:xfrm>
                <a:off x="1464469" y="4781550"/>
                <a:ext cx="1012031" cy="238125"/>
              </a:xfrm>
              <a:custGeom>
                <a:avLst/>
                <a:gdLst>
                  <a:gd name="connsiteX0" fmla="*/ 0 w 1012031"/>
                  <a:gd name="connsiteY0" fmla="*/ 95250 h 238125"/>
                  <a:gd name="connsiteX1" fmla="*/ 166687 w 1012031"/>
                  <a:gd name="connsiteY1" fmla="*/ 102394 h 238125"/>
                  <a:gd name="connsiteX2" fmla="*/ 421481 w 1012031"/>
                  <a:gd name="connsiteY2" fmla="*/ 152400 h 238125"/>
                  <a:gd name="connsiteX3" fmla="*/ 554831 w 1012031"/>
                  <a:gd name="connsiteY3" fmla="*/ 200025 h 238125"/>
                  <a:gd name="connsiteX4" fmla="*/ 645319 w 1012031"/>
                  <a:gd name="connsiteY4" fmla="*/ 238125 h 238125"/>
                  <a:gd name="connsiteX5" fmla="*/ 750094 w 1012031"/>
                  <a:gd name="connsiteY5" fmla="*/ 200025 h 238125"/>
                  <a:gd name="connsiteX6" fmla="*/ 797719 w 1012031"/>
                  <a:gd name="connsiteY6" fmla="*/ 185738 h 238125"/>
                  <a:gd name="connsiteX7" fmla="*/ 866775 w 1012031"/>
                  <a:gd name="connsiteY7" fmla="*/ 123825 h 238125"/>
                  <a:gd name="connsiteX8" fmla="*/ 981075 w 1012031"/>
                  <a:gd name="connsiteY8" fmla="*/ 45244 h 238125"/>
                  <a:gd name="connsiteX9" fmla="*/ 1012031 w 1012031"/>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12031" h="238125">
                    <a:moveTo>
                      <a:pt x="0" y="95250"/>
                    </a:moveTo>
                    <a:lnTo>
                      <a:pt x="166687" y="102394"/>
                    </a:lnTo>
                    <a:lnTo>
                      <a:pt x="421481" y="152400"/>
                    </a:lnTo>
                    <a:lnTo>
                      <a:pt x="554831" y="200025"/>
                    </a:lnTo>
                    <a:lnTo>
                      <a:pt x="645319" y="238125"/>
                    </a:lnTo>
                    <a:lnTo>
                      <a:pt x="750094" y="200025"/>
                    </a:lnTo>
                    <a:lnTo>
                      <a:pt x="797719" y="185738"/>
                    </a:lnTo>
                    <a:lnTo>
                      <a:pt x="866775" y="123825"/>
                    </a:lnTo>
                    <a:lnTo>
                      <a:pt x="981075" y="45244"/>
                    </a:lnTo>
                    <a:lnTo>
                      <a:pt x="1012031" y="0"/>
                    </a:lnTo>
                  </a:path>
                </a:pathLst>
              </a:cu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47" name="Freeform: Shape 146">
                <a:extLst>
                  <a:ext uri="{FF2B5EF4-FFF2-40B4-BE49-F238E27FC236}">
                    <a16:creationId xmlns:a16="http://schemas.microsoft.com/office/drawing/2014/main" id="{CA9DF301-DFD7-E675-68E5-3C7F0A837C15}"/>
                  </a:ext>
                </a:extLst>
              </p:cNvPr>
              <p:cNvSpPr/>
              <p:nvPr/>
            </p:nvSpPr>
            <p:spPr>
              <a:xfrm>
                <a:off x="1459706" y="4776788"/>
                <a:ext cx="600075" cy="521493"/>
              </a:xfrm>
              <a:custGeom>
                <a:avLst/>
                <a:gdLst>
                  <a:gd name="connsiteX0" fmla="*/ 0 w 600075"/>
                  <a:gd name="connsiteY0" fmla="*/ 521493 h 521493"/>
                  <a:gd name="connsiteX1" fmla="*/ 176213 w 600075"/>
                  <a:gd name="connsiteY1" fmla="*/ 450056 h 521493"/>
                  <a:gd name="connsiteX2" fmla="*/ 323850 w 600075"/>
                  <a:gd name="connsiteY2" fmla="*/ 371475 h 521493"/>
                  <a:gd name="connsiteX3" fmla="*/ 431007 w 600075"/>
                  <a:gd name="connsiteY3" fmla="*/ 266700 h 521493"/>
                  <a:gd name="connsiteX4" fmla="*/ 545307 w 600075"/>
                  <a:gd name="connsiteY4" fmla="*/ 135731 h 521493"/>
                  <a:gd name="connsiteX5" fmla="*/ 600075 w 600075"/>
                  <a:gd name="connsiteY5" fmla="*/ 0 h 521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0075" h="521493">
                    <a:moveTo>
                      <a:pt x="0" y="521493"/>
                    </a:moveTo>
                    <a:lnTo>
                      <a:pt x="176213" y="450056"/>
                    </a:lnTo>
                    <a:lnTo>
                      <a:pt x="323850" y="371475"/>
                    </a:lnTo>
                    <a:lnTo>
                      <a:pt x="431007" y="266700"/>
                    </a:lnTo>
                    <a:lnTo>
                      <a:pt x="545307" y="135731"/>
                    </a:lnTo>
                    <a:lnTo>
                      <a:pt x="600075" y="0"/>
                    </a:lnTo>
                  </a:path>
                </a:pathLst>
              </a:cu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cxnSp>
            <p:nvCxnSpPr>
              <p:cNvPr id="148" name="Straight Connector 147">
                <a:extLst>
                  <a:ext uri="{FF2B5EF4-FFF2-40B4-BE49-F238E27FC236}">
                    <a16:creationId xmlns:a16="http://schemas.microsoft.com/office/drawing/2014/main" id="{E17470D7-3022-33EB-AF3B-EB945A7652D3}"/>
                  </a:ext>
                </a:extLst>
              </p:cNvPr>
              <p:cNvCxnSpPr>
                <a:cxnSpLocks/>
              </p:cNvCxnSpPr>
              <p:nvPr/>
            </p:nvCxnSpPr>
            <p:spPr>
              <a:xfrm>
                <a:off x="2147887" y="3299054"/>
                <a:ext cx="23813" cy="4412386"/>
              </a:xfrm>
              <a:prstGeom prst="line">
                <a:avLst/>
              </a:prstGeom>
              <a:grpFill/>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9" name="Freeform: Shape 148">
                <a:extLst>
                  <a:ext uri="{FF2B5EF4-FFF2-40B4-BE49-F238E27FC236}">
                    <a16:creationId xmlns:a16="http://schemas.microsoft.com/office/drawing/2014/main" id="{A238BA12-5383-7B5E-329B-50C56951E8AB}"/>
                  </a:ext>
                </a:extLst>
              </p:cNvPr>
              <p:cNvSpPr/>
              <p:nvPr/>
            </p:nvSpPr>
            <p:spPr>
              <a:xfrm>
                <a:off x="2924902" y="4758679"/>
                <a:ext cx="335756" cy="7144"/>
              </a:xfrm>
              <a:custGeom>
                <a:avLst/>
                <a:gdLst>
                  <a:gd name="connsiteX0" fmla="*/ 0 w 335756"/>
                  <a:gd name="connsiteY0" fmla="*/ 0 h 7144"/>
                  <a:gd name="connsiteX1" fmla="*/ 335756 w 335756"/>
                  <a:gd name="connsiteY1" fmla="*/ 7144 h 7144"/>
                </a:gdLst>
                <a:ahLst/>
                <a:cxnLst>
                  <a:cxn ang="0">
                    <a:pos x="connsiteX0" y="connsiteY0"/>
                  </a:cxn>
                  <a:cxn ang="0">
                    <a:pos x="connsiteX1" y="connsiteY1"/>
                  </a:cxn>
                </a:cxnLst>
                <a:rect l="l" t="t" r="r" b="b"/>
                <a:pathLst>
                  <a:path w="335756" h="7144">
                    <a:moveTo>
                      <a:pt x="0" y="0"/>
                    </a:moveTo>
                    <a:lnTo>
                      <a:pt x="335756" y="7144"/>
                    </a:lnTo>
                  </a:path>
                </a:pathLst>
              </a:custGeom>
              <a:grpFill/>
              <a:ln w="127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grpSp>
        <p:cxnSp>
          <p:nvCxnSpPr>
            <p:cNvPr id="127" name="Straight Connector 126">
              <a:extLst>
                <a:ext uri="{FF2B5EF4-FFF2-40B4-BE49-F238E27FC236}">
                  <a16:creationId xmlns:a16="http://schemas.microsoft.com/office/drawing/2014/main" id="{7D780579-229E-00B2-A156-374B9694F5AC}"/>
                </a:ext>
              </a:extLst>
            </p:cNvPr>
            <p:cNvCxnSpPr/>
            <p:nvPr/>
          </p:nvCxnSpPr>
          <p:spPr>
            <a:xfrm>
              <a:off x="2443787" y="5886817"/>
              <a:ext cx="0" cy="4848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563CBDF8-6FC7-9970-5A63-FB25F5A69504}"/>
                </a:ext>
              </a:extLst>
            </p:cNvPr>
            <p:cNvCxnSpPr/>
            <p:nvPr/>
          </p:nvCxnSpPr>
          <p:spPr>
            <a:xfrm>
              <a:off x="2798169" y="5886817"/>
              <a:ext cx="0" cy="4848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A4FDA73-598C-E53B-6007-26E87AF57411}"/>
                </a:ext>
              </a:extLst>
            </p:cNvPr>
            <p:cNvCxnSpPr/>
            <p:nvPr/>
          </p:nvCxnSpPr>
          <p:spPr>
            <a:xfrm>
              <a:off x="3144533" y="5886817"/>
              <a:ext cx="0" cy="4848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B5E4742A-2E3C-B5BB-80A1-8A7FF353722A}"/>
                </a:ext>
              </a:extLst>
            </p:cNvPr>
            <p:cNvCxnSpPr/>
            <p:nvPr/>
          </p:nvCxnSpPr>
          <p:spPr>
            <a:xfrm>
              <a:off x="3500518" y="5886817"/>
              <a:ext cx="0" cy="4848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0D956772-92C7-0629-447A-FD9533A992D5}"/>
                </a:ext>
              </a:extLst>
            </p:cNvPr>
            <p:cNvCxnSpPr>
              <a:cxnSpLocks/>
            </p:cNvCxnSpPr>
            <p:nvPr/>
          </p:nvCxnSpPr>
          <p:spPr>
            <a:xfrm>
              <a:off x="2477463" y="3815496"/>
              <a:ext cx="1294051" cy="0"/>
            </a:xfrm>
            <a:prstGeom prst="line">
              <a:avLst/>
            </a:prstGeom>
            <a:no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Freeform: Shape 131">
              <a:extLst>
                <a:ext uri="{FF2B5EF4-FFF2-40B4-BE49-F238E27FC236}">
                  <a16:creationId xmlns:a16="http://schemas.microsoft.com/office/drawing/2014/main" id="{694C415C-4740-A478-8E14-ECCA747161A3}"/>
                </a:ext>
              </a:extLst>
            </p:cNvPr>
            <p:cNvSpPr/>
            <p:nvPr/>
          </p:nvSpPr>
          <p:spPr>
            <a:xfrm>
              <a:off x="2482798" y="3784119"/>
              <a:ext cx="211667" cy="1603"/>
            </a:xfrm>
            <a:custGeom>
              <a:avLst/>
              <a:gdLst>
                <a:gd name="connsiteX0" fmla="*/ 0 w 314325"/>
                <a:gd name="connsiteY0" fmla="*/ 2381 h 2381"/>
                <a:gd name="connsiteX1" fmla="*/ 314325 w 314325"/>
                <a:gd name="connsiteY1" fmla="*/ 0 h 2381"/>
                <a:gd name="connsiteX2" fmla="*/ 314325 w 314325"/>
                <a:gd name="connsiteY2" fmla="*/ 0 h 2381"/>
              </a:gdLst>
              <a:ahLst/>
              <a:cxnLst>
                <a:cxn ang="0">
                  <a:pos x="connsiteX0" y="connsiteY0"/>
                </a:cxn>
                <a:cxn ang="0">
                  <a:pos x="connsiteX1" y="connsiteY1"/>
                </a:cxn>
                <a:cxn ang="0">
                  <a:pos x="connsiteX2" y="connsiteY2"/>
                </a:cxn>
              </a:cxnLst>
              <a:rect l="l" t="t" r="r" b="b"/>
              <a:pathLst>
                <a:path w="314325" h="2381">
                  <a:moveTo>
                    <a:pt x="0" y="2381"/>
                  </a:moveTo>
                  <a:lnTo>
                    <a:pt x="314325" y="0"/>
                  </a:lnTo>
                  <a:lnTo>
                    <a:pt x="314325" y="0"/>
                  </a:lnTo>
                </a:path>
              </a:pathLst>
            </a:cu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grpSp>
    </p:spTree>
    <p:extLst>
      <p:ext uri="{BB962C8B-B14F-4D97-AF65-F5344CB8AC3E}">
        <p14:creationId xmlns:p14="http://schemas.microsoft.com/office/powerpoint/2010/main" val="1035620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A76C-5546-D38D-B365-3EB9915177AD}"/>
              </a:ext>
            </a:extLst>
          </p:cNvPr>
          <p:cNvSpPr>
            <a:spLocks noGrp="1"/>
          </p:cNvSpPr>
          <p:nvPr>
            <p:ph type="title"/>
          </p:nvPr>
        </p:nvSpPr>
        <p:spPr/>
        <p:txBody>
          <a:bodyPr/>
          <a:lstStyle/>
          <a:p>
            <a:r>
              <a:rPr lang="en-US" dirty="0"/>
              <a:t>The Main Idea</a:t>
            </a:r>
          </a:p>
        </p:txBody>
      </p:sp>
      <p:sp>
        <p:nvSpPr>
          <p:cNvPr id="3" name="Content Placeholder 2">
            <a:extLst>
              <a:ext uri="{FF2B5EF4-FFF2-40B4-BE49-F238E27FC236}">
                <a16:creationId xmlns:a16="http://schemas.microsoft.com/office/drawing/2014/main" id="{202659F8-E07E-1A02-9ADA-E4A3118FB7BB}"/>
              </a:ext>
            </a:extLst>
          </p:cNvPr>
          <p:cNvSpPr>
            <a:spLocks noGrp="1"/>
          </p:cNvSpPr>
          <p:nvPr>
            <p:ph idx="1"/>
          </p:nvPr>
        </p:nvSpPr>
        <p:spPr/>
        <p:txBody>
          <a:bodyPr>
            <a:normAutofit lnSpcReduction="10000"/>
          </a:bodyPr>
          <a:lstStyle/>
          <a:p>
            <a:r>
              <a:rPr lang="en-US" sz="2800" dirty="0"/>
              <a:t>Overly complicated models will have an artificially low </a:t>
            </a:r>
            <a:r>
              <a:rPr lang="en-US" sz="2800" b="1" dirty="0"/>
              <a:t>train</a:t>
            </a:r>
            <a:r>
              <a:rPr lang="en-US" sz="2800" dirty="0"/>
              <a:t> MSE.</a:t>
            </a:r>
          </a:p>
          <a:p>
            <a:pPr lvl="1"/>
            <a:r>
              <a:rPr lang="en-US" sz="2400" dirty="0"/>
              <a:t>Coefficients estimated use training data</a:t>
            </a:r>
          </a:p>
          <a:p>
            <a:r>
              <a:rPr lang="en-US" sz="2800" dirty="0"/>
              <a:t>By adding a penalty term, we bias the coefficients toward 0.</a:t>
            </a:r>
          </a:p>
          <a:p>
            <a:pPr lvl="1"/>
            <a:r>
              <a:rPr lang="en-US" sz="2400" dirty="0"/>
              <a:t>Force the fit to be a bit worse on training data</a:t>
            </a:r>
          </a:p>
          <a:p>
            <a:pPr lvl="1"/>
            <a:r>
              <a:rPr lang="en-US" sz="2400" dirty="0"/>
              <a:t>Should reproduce better on future data sets</a:t>
            </a:r>
          </a:p>
          <a:p>
            <a:r>
              <a:rPr lang="en-US" sz="2800" dirty="0"/>
              <a:t>Some coefficients will effectively be 0.</a:t>
            </a:r>
          </a:p>
          <a:p>
            <a:pPr lvl="1"/>
            <a:r>
              <a:rPr lang="en-US" sz="2400" dirty="0"/>
              <a:t>Removed from the model entirely</a:t>
            </a:r>
          </a:p>
          <a:p>
            <a:r>
              <a:rPr lang="en-US" sz="2800" dirty="0"/>
              <a:t>Final question: How do you pick the penalty term?</a:t>
            </a:r>
          </a:p>
          <a:p>
            <a:endParaRPr lang="en-US" dirty="0"/>
          </a:p>
          <a:p>
            <a:pPr marL="0" indent="0">
              <a:buNone/>
            </a:pPr>
            <a:r>
              <a:rPr lang="en-US" sz="2800" dirty="0"/>
              <a:t>See videos/full slides for technical details</a:t>
            </a:r>
          </a:p>
        </p:txBody>
      </p:sp>
    </p:spTree>
    <p:extLst>
      <p:ext uri="{BB962C8B-B14F-4D97-AF65-F5344CB8AC3E}">
        <p14:creationId xmlns:p14="http://schemas.microsoft.com/office/powerpoint/2010/main" val="65805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CE201-51B4-1CF5-EBAD-2AF73D1BB0D3}"/>
              </a:ext>
            </a:extLst>
          </p:cNvPr>
          <p:cNvSpPr>
            <a:spLocks noGrp="1"/>
          </p:cNvSpPr>
          <p:nvPr>
            <p:ph type="title"/>
          </p:nvPr>
        </p:nvSpPr>
        <p:spPr/>
        <p:txBody>
          <a:bodyPr>
            <a:noAutofit/>
          </a:bodyPr>
          <a:lstStyle/>
          <a:p>
            <a:r>
              <a:rPr lang="en-US" sz="4000" dirty="0"/>
              <a:t>Penalty Controls Complexity</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E1D7301-4D60-EEC2-B627-E3D610038877}"/>
                  </a:ext>
                </a:extLst>
              </p:cNvPr>
              <p:cNvSpPr>
                <a:spLocks noGrp="1"/>
              </p:cNvSpPr>
              <p:nvPr>
                <p:ph idx="1"/>
              </p:nvPr>
            </p:nvSpPr>
            <p:spPr>
              <a:xfrm>
                <a:off x="609599" y="1600203"/>
                <a:ext cx="7816899" cy="4525963"/>
              </a:xfrm>
            </p:spPr>
            <p:txBody>
              <a:bodyPr>
                <a:noAutofit/>
              </a:bodyPr>
              <a:lstStyle/>
              <a:p>
                <a:r>
                  <a:rPr lang="en-US" sz="2600" dirty="0"/>
                  <a:t>If we choose the penalty at the dashed line:</a:t>
                </a:r>
              </a:p>
              <a:p>
                <a:endParaRPr lang="en-US" sz="2600" dirty="0"/>
              </a:p>
              <a:p>
                <a:pPr marL="0" indent="0">
                  <a:buNone/>
                </a:pPr>
                <a14:m>
                  <m:oMathPara xmlns:m="http://schemas.openxmlformats.org/officeDocument/2006/math">
                    <m:oMathParaPr>
                      <m:jc m:val="centerGroup"/>
                    </m:oMathParaPr>
                    <m:oMath xmlns:m="http://schemas.openxmlformats.org/officeDocument/2006/math">
                      <m:acc>
                        <m:accPr>
                          <m:chr m:val="̂"/>
                          <m:ctrlPr>
                            <a:rPr lang="en-US" sz="2600" i="1">
                              <a:latin typeface="Cambria Math" panose="02040503050406030204" pitchFamily="18" charset="0"/>
                            </a:rPr>
                          </m:ctrlPr>
                        </m:accPr>
                        <m:e>
                          <m:r>
                            <a:rPr lang="en-US" sz="2600">
                              <a:latin typeface="Cambria Math" panose="02040503050406030204" pitchFamily="18" charset="0"/>
                            </a:rPr>
                            <m:t>𝑦</m:t>
                          </m:r>
                        </m:e>
                      </m:acc>
                      <m:r>
                        <a:rPr lang="en-US" sz="2600" dirty="0">
                          <a:latin typeface="Cambria Math" panose="02040503050406030204" pitchFamily="18" charset="0"/>
                        </a:rPr>
                        <m:t>=2+</m:t>
                      </m:r>
                      <m:sSub>
                        <m:sSubPr>
                          <m:ctrlPr>
                            <a:rPr lang="en-US" sz="2600" i="1" dirty="0">
                              <a:latin typeface="Cambria Math" panose="02040503050406030204" pitchFamily="18" charset="0"/>
                            </a:rPr>
                          </m:ctrlPr>
                        </m:sSubPr>
                        <m:e>
                          <m:r>
                            <a:rPr lang="en-US" sz="2600" dirty="0">
                              <a:latin typeface="Cambria Math" panose="02040503050406030204" pitchFamily="18" charset="0"/>
                            </a:rPr>
                            <m:t>−120</m:t>
                          </m:r>
                          <m:r>
                            <a:rPr lang="en-US" sz="2600" dirty="0">
                              <a:latin typeface="Cambria Math" panose="02040503050406030204" pitchFamily="18" charset="0"/>
                            </a:rPr>
                            <m:t>𝑥</m:t>
                          </m:r>
                        </m:e>
                        <m:sub>
                          <m:r>
                            <a:rPr lang="en-US" sz="2600" dirty="0">
                              <a:latin typeface="Cambria Math" panose="02040503050406030204" pitchFamily="18" charset="0"/>
                            </a:rPr>
                            <m:t>1</m:t>
                          </m:r>
                        </m:sub>
                      </m:sSub>
                      <m:r>
                        <a:rPr lang="en-US" sz="2600" dirty="0">
                          <a:latin typeface="Cambria Math" panose="02040503050406030204" pitchFamily="18" charset="0"/>
                        </a:rPr>
                        <m:t>−20_</m:t>
                      </m:r>
                      <m:sSub>
                        <m:sSubPr>
                          <m:ctrlPr>
                            <a:rPr lang="en-US" sz="2600" i="1" dirty="0">
                              <a:latin typeface="Cambria Math" panose="02040503050406030204" pitchFamily="18" charset="0"/>
                            </a:rPr>
                          </m:ctrlPr>
                        </m:sSubPr>
                        <m:e>
                          <m:r>
                            <a:rPr lang="en-US" sz="2600" dirty="0">
                              <a:latin typeface="Cambria Math" panose="02040503050406030204" pitchFamily="18" charset="0"/>
                            </a:rPr>
                            <m:t>𝑥</m:t>
                          </m:r>
                        </m:e>
                        <m:sub>
                          <m:r>
                            <a:rPr lang="en-US" sz="2600" dirty="0">
                              <a:latin typeface="Cambria Math" panose="02040503050406030204" pitchFamily="18" charset="0"/>
                            </a:rPr>
                            <m:t>2</m:t>
                          </m:r>
                        </m:sub>
                      </m:sSub>
                      <m:r>
                        <a:rPr lang="en-US" sz="2600" dirty="0">
                          <a:latin typeface="Cambria Math" panose="02040503050406030204" pitchFamily="18" charset="0"/>
                        </a:rPr>
                        <m:t>+</m:t>
                      </m:r>
                      <m:sSub>
                        <m:sSubPr>
                          <m:ctrlPr>
                            <a:rPr lang="en-US" sz="2600" i="1" dirty="0">
                              <a:latin typeface="Cambria Math" panose="02040503050406030204" pitchFamily="18" charset="0"/>
                            </a:rPr>
                          </m:ctrlPr>
                        </m:sSubPr>
                        <m:e>
                          <m:r>
                            <a:rPr lang="en-US" sz="2600" dirty="0">
                              <a:latin typeface="Cambria Math" panose="02040503050406030204" pitchFamily="18" charset="0"/>
                            </a:rPr>
                            <m:t>12</m:t>
                          </m:r>
                          <m:r>
                            <a:rPr lang="en-US" sz="2600" dirty="0">
                              <a:latin typeface="Cambria Math" panose="02040503050406030204" pitchFamily="18" charset="0"/>
                            </a:rPr>
                            <m:t>𝑥</m:t>
                          </m:r>
                        </m:e>
                        <m:sub>
                          <m:r>
                            <a:rPr lang="en-US" sz="2600" dirty="0">
                              <a:latin typeface="Cambria Math" panose="02040503050406030204" pitchFamily="18" charset="0"/>
                            </a:rPr>
                            <m:t>6</m:t>
                          </m:r>
                        </m:sub>
                      </m:sSub>
                      <m:r>
                        <a:rPr lang="en-US" sz="2600" dirty="0">
                          <a:latin typeface="Cambria Math" panose="02040503050406030204" pitchFamily="18" charset="0"/>
                        </a:rPr>
                        <m:t>+13</m:t>
                      </m:r>
                      <m:sSub>
                        <m:sSubPr>
                          <m:ctrlPr>
                            <a:rPr lang="en-US" sz="2600" i="1" dirty="0">
                              <a:latin typeface="Cambria Math" panose="02040503050406030204" pitchFamily="18" charset="0"/>
                            </a:rPr>
                          </m:ctrlPr>
                        </m:sSubPr>
                        <m:e>
                          <m:r>
                            <a:rPr lang="en-US" sz="2600" dirty="0">
                              <a:latin typeface="Cambria Math" panose="02040503050406030204" pitchFamily="18" charset="0"/>
                            </a:rPr>
                            <m:t>𝑥</m:t>
                          </m:r>
                        </m:e>
                        <m:sub>
                          <m:r>
                            <a:rPr lang="en-US" sz="2600" dirty="0">
                              <a:latin typeface="Cambria Math" panose="02040503050406030204" pitchFamily="18" charset="0"/>
                            </a:rPr>
                            <m:t>7</m:t>
                          </m:r>
                        </m:sub>
                      </m:sSub>
                      <m:r>
                        <a:rPr lang="en-US" sz="2600" dirty="0">
                          <a:latin typeface="Cambria Math" panose="02040503050406030204" pitchFamily="18" charset="0"/>
                        </a:rPr>
                        <m:t>+40</m:t>
                      </m:r>
                      <m:sSub>
                        <m:sSubPr>
                          <m:ctrlPr>
                            <a:rPr lang="en-US" sz="2600" i="1" dirty="0">
                              <a:latin typeface="Cambria Math" panose="02040503050406030204" pitchFamily="18" charset="0"/>
                            </a:rPr>
                          </m:ctrlPr>
                        </m:sSubPr>
                        <m:e>
                          <m:r>
                            <a:rPr lang="en-US" sz="2600" dirty="0">
                              <a:latin typeface="Cambria Math" panose="02040503050406030204" pitchFamily="18" charset="0"/>
                            </a:rPr>
                            <m:t>𝑥</m:t>
                          </m:r>
                        </m:e>
                        <m:sub>
                          <m:r>
                            <a:rPr lang="en-US" sz="2600" dirty="0">
                              <a:latin typeface="Cambria Math" panose="02040503050406030204" pitchFamily="18" charset="0"/>
                            </a:rPr>
                            <m:t>8</m:t>
                          </m:r>
                        </m:sub>
                      </m:sSub>
                    </m:oMath>
                  </m:oMathPara>
                </a14:m>
                <a:endParaRPr lang="en-US" sz="2600" dirty="0"/>
              </a:p>
              <a:p>
                <a:pPr marL="0" indent="0">
                  <a:buNone/>
                </a:pPr>
                <a:endParaRPr lang="en-US" sz="2600" dirty="0"/>
              </a:p>
              <a:p>
                <a:r>
                  <a:rPr lang="en-US" sz="2600" dirty="0"/>
                  <a:t>If we choose the penalty at the red line, we get a reduced model:</a:t>
                </a:r>
              </a:p>
              <a:p>
                <a:pPr marL="0" indent="0">
                  <a:buNone/>
                </a:pPr>
                <a:endParaRPr lang="en-US" sz="2600" dirty="0"/>
              </a:p>
              <a:p>
                <a:pPr marL="1146175" indent="0">
                  <a:buNone/>
                </a:pPr>
                <a14:m>
                  <m:oMathPara xmlns:m="http://schemas.openxmlformats.org/officeDocument/2006/math">
                    <m:oMathParaPr>
                      <m:jc m:val="left"/>
                    </m:oMathParaPr>
                    <m:oMath xmlns:m="http://schemas.openxmlformats.org/officeDocument/2006/math">
                      <m:acc>
                        <m:accPr>
                          <m:chr m:val="̂"/>
                          <m:ctrlPr>
                            <a:rPr lang="en-US" sz="2600" i="1">
                              <a:latin typeface="Cambria Math" panose="02040503050406030204" pitchFamily="18" charset="0"/>
                            </a:rPr>
                          </m:ctrlPr>
                        </m:accPr>
                        <m:e>
                          <m:r>
                            <a:rPr lang="en-US" sz="2600">
                              <a:latin typeface="Cambria Math" panose="02040503050406030204" pitchFamily="18" charset="0"/>
                            </a:rPr>
                            <m:t>𝑦</m:t>
                          </m:r>
                        </m:e>
                      </m:acc>
                      <m:r>
                        <a:rPr lang="en-US" sz="2600" dirty="0">
                          <a:latin typeface="Cambria Math" panose="02040503050406030204" pitchFamily="18" charset="0"/>
                        </a:rPr>
                        <m:t>=1+</m:t>
                      </m:r>
                      <m:sSub>
                        <m:sSubPr>
                          <m:ctrlPr>
                            <a:rPr lang="en-US" sz="2600" i="1" dirty="0">
                              <a:latin typeface="Cambria Math" panose="02040503050406030204" pitchFamily="18" charset="0"/>
                            </a:rPr>
                          </m:ctrlPr>
                        </m:sSubPr>
                        <m:e>
                          <m:r>
                            <a:rPr lang="en-US" sz="2600" dirty="0">
                              <a:latin typeface="Cambria Math" panose="02040503050406030204" pitchFamily="18" charset="0"/>
                            </a:rPr>
                            <m:t>−40</m:t>
                          </m:r>
                          <m:r>
                            <a:rPr lang="en-US" sz="2600" dirty="0">
                              <a:latin typeface="Cambria Math" panose="02040503050406030204" pitchFamily="18" charset="0"/>
                            </a:rPr>
                            <m:t>𝑥</m:t>
                          </m:r>
                        </m:e>
                        <m:sub>
                          <m:r>
                            <a:rPr lang="en-US" sz="2600" dirty="0">
                              <a:latin typeface="Cambria Math" panose="02040503050406030204" pitchFamily="18" charset="0"/>
                            </a:rPr>
                            <m:t>1</m:t>
                          </m:r>
                        </m:sub>
                      </m:sSub>
                      <m:r>
                        <a:rPr lang="en-US" sz="2600" dirty="0">
                          <a:latin typeface="Cambria Math" panose="02040503050406030204" pitchFamily="18" charset="0"/>
                        </a:rPr>
                        <m:t>−0</m:t>
                      </m:r>
                      <m:sSub>
                        <m:sSubPr>
                          <m:ctrlPr>
                            <a:rPr lang="en-US" sz="2600" i="1" dirty="0">
                              <a:latin typeface="Cambria Math" panose="02040503050406030204" pitchFamily="18" charset="0"/>
                            </a:rPr>
                          </m:ctrlPr>
                        </m:sSubPr>
                        <m:e>
                          <m:r>
                            <a:rPr lang="en-US" sz="2600" dirty="0">
                              <a:latin typeface="Cambria Math" panose="02040503050406030204" pitchFamily="18" charset="0"/>
                            </a:rPr>
                            <m:t>𝑥</m:t>
                          </m:r>
                        </m:e>
                        <m:sub>
                          <m:r>
                            <a:rPr lang="en-US" sz="2600" dirty="0">
                              <a:latin typeface="Cambria Math" panose="02040503050406030204" pitchFamily="18" charset="0"/>
                            </a:rPr>
                            <m:t>2</m:t>
                          </m:r>
                        </m:sub>
                      </m:sSub>
                      <m:r>
                        <a:rPr lang="en-US" sz="2600" dirty="0">
                          <a:latin typeface="Cambria Math" panose="02040503050406030204" pitchFamily="18" charset="0"/>
                        </a:rPr>
                        <m:t>+</m:t>
                      </m:r>
                      <m:sSub>
                        <m:sSubPr>
                          <m:ctrlPr>
                            <a:rPr lang="en-US" sz="2600" i="1" dirty="0">
                              <a:latin typeface="Cambria Math" panose="02040503050406030204" pitchFamily="18" charset="0"/>
                            </a:rPr>
                          </m:ctrlPr>
                        </m:sSubPr>
                        <m:e>
                          <m:r>
                            <a:rPr lang="en-US" sz="2600" dirty="0">
                              <a:latin typeface="Cambria Math" panose="02040503050406030204" pitchFamily="18" charset="0"/>
                            </a:rPr>
                            <m:t>3</m:t>
                          </m:r>
                          <m:r>
                            <a:rPr lang="en-US" sz="2600" dirty="0">
                              <a:latin typeface="Cambria Math" panose="02040503050406030204" pitchFamily="18" charset="0"/>
                            </a:rPr>
                            <m:t>𝑥</m:t>
                          </m:r>
                        </m:e>
                        <m:sub>
                          <m:r>
                            <a:rPr lang="en-US" sz="2600" dirty="0">
                              <a:latin typeface="Cambria Math" panose="02040503050406030204" pitchFamily="18" charset="0"/>
                            </a:rPr>
                            <m:t>6</m:t>
                          </m:r>
                        </m:sub>
                      </m:sSub>
                      <m:r>
                        <a:rPr lang="en-US" sz="2600" dirty="0">
                          <a:latin typeface="Cambria Math" panose="02040503050406030204" pitchFamily="18" charset="0"/>
                        </a:rPr>
                        <m:t>+4</m:t>
                      </m:r>
                      <m:sSub>
                        <m:sSubPr>
                          <m:ctrlPr>
                            <a:rPr lang="en-US" sz="2600" i="1" dirty="0">
                              <a:latin typeface="Cambria Math" panose="02040503050406030204" pitchFamily="18" charset="0"/>
                            </a:rPr>
                          </m:ctrlPr>
                        </m:sSubPr>
                        <m:e>
                          <m:r>
                            <a:rPr lang="en-US" sz="2600" dirty="0">
                              <a:latin typeface="Cambria Math" panose="02040503050406030204" pitchFamily="18" charset="0"/>
                            </a:rPr>
                            <m:t>𝑥</m:t>
                          </m:r>
                        </m:e>
                        <m:sub>
                          <m:r>
                            <a:rPr lang="en-US" sz="2600" dirty="0">
                              <a:latin typeface="Cambria Math" panose="02040503050406030204" pitchFamily="18" charset="0"/>
                            </a:rPr>
                            <m:t>7</m:t>
                          </m:r>
                        </m:sub>
                      </m:sSub>
                      <m:r>
                        <a:rPr lang="en-US" sz="2600" dirty="0">
                          <a:latin typeface="Cambria Math" panose="02040503050406030204" pitchFamily="18" charset="0"/>
                        </a:rPr>
                        <m:t>+0</m:t>
                      </m:r>
                      <m:sSub>
                        <m:sSubPr>
                          <m:ctrlPr>
                            <a:rPr lang="en-US" sz="2600" i="1" dirty="0">
                              <a:latin typeface="Cambria Math" panose="02040503050406030204" pitchFamily="18" charset="0"/>
                            </a:rPr>
                          </m:ctrlPr>
                        </m:sSubPr>
                        <m:e>
                          <m:r>
                            <a:rPr lang="en-US" sz="2600" dirty="0">
                              <a:latin typeface="Cambria Math" panose="02040503050406030204" pitchFamily="18" charset="0"/>
                            </a:rPr>
                            <m:t>𝑥</m:t>
                          </m:r>
                        </m:e>
                        <m:sub>
                          <m:r>
                            <a:rPr lang="en-US" sz="2600" dirty="0">
                              <a:latin typeface="Cambria Math" panose="02040503050406030204" pitchFamily="18" charset="0"/>
                            </a:rPr>
                            <m:t>8</m:t>
                          </m:r>
                        </m:sub>
                      </m:sSub>
                      <m:r>
                        <a:rPr lang="en-US" sz="2600" b="0" i="0" dirty="0" smtClean="0">
                          <a:latin typeface="Cambria Math" panose="02040503050406030204" pitchFamily="18" charset="0"/>
                        </a:rPr>
                        <m:t> </m:t>
                      </m:r>
                    </m:oMath>
                  </m:oMathPara>
                </a14:m>
                <a:endParaRPr lang="en-US" sz="2600" b="0" i="0" dirty="0">
                  <a:latin typeface="Cambria Math" panose="02040503050406030204" pitchFamily="18" charset="0"/>
                </a:endParaRPr>
              </a:p>
              <a:p>
                <a:pPr marL="1146175" indent="0">
                  <a:buNone/>
                  <a:tabLst>
                    <a:tab pos="1481138" algn="l"/>
                  </a:tabLst>
                </a:pPr>
                <a14:m>
                  <m:oMathPara xmlns:m="http://schemas.openxmlformats.org/officeDocument/2006/math">
                    <m:oMathParaPr>
                      <m:jc m:val="centerGroup"/>
                    </m:oMathParaPr>
                    <m:oMath xmlns:m="http://schemas.openxmlformats.org/officeDocument/2006/math">
                      <m:r>
                        <a:rPr lang="en-US" sz="2600" dirty="0">
                          <a:latin typeface="Cambria Math" panose="02040503050406030204" pitchFamily="18" charset="0"/>
                        </a:rPr>
                        <m:t>=1+</m:t>
                      </m:r>
                      <m:sSub>
                        <m:sSubPr>
                          <m:ctrlPr>
                            <a:rPr lang="en-US" sz="2600" i="1" dirty="0">
                              <a:latin typeface="Cambria Math" panose="02040503050406030204" pitchFamily="18" charset="0"/>
                            </a:rPr>
                          </m:ctrlPr>
                        </m:sSubPr>
                        <m:e>
                          <m:r>
                            <a:rPr lang="en-US" sz="2600" dirty="0">
                              <a:latin typeface="Cambria Math" panose="02040503050406030204" pitchFamily="18" charset="0"/>
                            </a:rPr>
                            <m:t>−40</m:t>
                          </m:r>
                          <m:r>
                            <a:rPr lang="en-US" sz="2600" dirty="0">
                              <a:latin typeface="Cambria Math" panose="02040503050406030204" pitchFamily="18" charset="0"/>
                            </a:rPr>
                            <m:t>𝑥</m:t>
                          </m:r>
                        </m:e>
                        <m:sub>
                          <m:r>
                            <a:rPr lang="en-US" sz="2600" dirty="0">
                              <a:latin typeface="Cambria Math" panose="02040503050406030204" pitchFamily="18" charset="0"/>
                            </a:rPr>
                            <m:t>1</m:t>
                          </m:r>
                        </m:sub>
                      </m:sSub>
                      <m:r>
                        <a:rPr lang="en-US" sz="2600" dirty="0">
                          <a:latin typeface="Cambria Math" panose="02040503050406030204" pitchFamily="18" charset="0"/>
                        </a:rPr>
                        <m:t>+</m:t>
                      </m:r>
                      <m:sSub>
                        <m:sSubPr>
                          <m:ctrlPr>
                            <a:rPr lang="en-US" sz="2600" i="1" dirty="0">
                              <a:latin typeface="Cambria Math" panose="02040503050406030204" pitchFamily="18" charset="0"/>
                            </a:rPr>
                          </m:ctrlPr>
                        </m:sSubPr>
                        <m:e>
                          <m:r>
                            <a:rPr lang="en-US" sz="2600" dirty="0">
                              <a:latin typeface="Cambria Math" panose="02040503050406030204" pitchFamily="18" charset="0"/>
                            </a:rPr>
                            <m:t>3</m:t>
                          </m:r>
                          <m:r>
                            <a:rPr lang="en-US" sz="2600" dirty="0">
                              <a:latin typeface="Cambria Math" panose="02040503050406030204" pitchFamily="18" charset="0"/>
                            </a:rPr>
                            <m:t>𝑥</m:t>
                          </m:r>
                        </m:e>
                        <m:sub>
                          <m:r>
                            <a:rPr lang="en-US" sz="2600" dirty="0">
                              <a:latin typeface="Cambria Math" panose="02040503050406030204" pitchFamily="18" charset="0"/>
                            </a:rPr>
                            <m:t>6</m:t>
                          </m:r>
                        </m:sub>
                      </m:sSub>
                      <m:r>
                        <a:rPr lang="en-US" sz="2600" dirty="0">
                          <a:latin typeface="Cambria Math" panose="02040503050406030204" pitchFamily="18" charset="0"/>
                        </a:rPr>
                        <m:t>+4</m:t>
                      </m:r>
                      <m:sSub>
                        <m:sSubPr>
                          <m:ctrlPr>
                            <a:rPr lang="en-US" sz="2600" i="1" dirty="0">
                              <a:latin typeface="Cambria Math" panose="02040503050406030204" pitchFamily="18" charset="0"/>
                            </a:rPr>
                          </m:ctrlPr>
                        </m:sSubPr>
                        <m:e>
                          <m:r>
                            <a:rPr lang="en-US" sz="2600" dirty="0">
                              <a:latin typeface="Cambria Math" panose="02040503050406030204" pitchFamily="18" charset="0"/>
                            </a:rPr>
                            <m:t>𝑥</m:t>
                          </m:r>
                        </m:e>
                        <m:sub>
                          <m:r>
                            <a:rPr lang="en-US" sz="2600" dirty="0">
                              <a:latin typeface="Cambria Math" panose="02040503050406030204" pitchFamily="18" charset="0"/>
                            </a:rPr>
                            <m:t>7</m:t>
                          </m:r>
                        </m:sub>
                      </m:sSub>
                    </m:oMath>
                  </m:oMathPara>
                </a14:m>
                <a:endParaRPr lang="en-US" sz="2600" dirty="0"/>
              </a:p>
            </p:txBody>
          </p:sp>
        </mc:Choice>
        <mc:Fallback xmlns="">
          <p:sp>
            <p:nvSpPr>
              <p:cNvPr id="4" name="Content Placeholder 3">
                <a:extLst>
                  <a:ext uri="{FF2B5EF4-FFF2-40B4-BE49-F238E27FC236}">
                    <a16:creationId xmlns:a16="http://schemas.microsoft.com/office/drawing/2014/main" id="{EE1D7301-4D60-EEC2-B627-E3D610038877}"/>
                  </a:ext>
                </a:extLst>
              </p:cNvPr>
              <p:cNvSpPr>
                <a:spLocks noGrp="1" noRot="1" noChangeAspect="1" noMove="1" noResize="1" noEditPoints="1" noAdjustHandles="1" noChangeArrowheads="1" noChangeShapeType="1" noTextEdit="1"/>
              </p:cNvSpPr>
              <p:nvPr>
                <p:ph idx="1"/>
              </p:nvPr>
            </p:nvSpPr>
            <p:spPr>
              <a:xfrm>
                <a:off x="609599" y="1600203"/>
                <a:ext cx="7816899" cy="4525963"/>
              </a:xfrm>
              <a:blipFill>
                <a:blip r:embed="rId3"/>
                <a:stretch>
                  <a:fillRect l="-1170" t="-1348" r="-156"/>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DAB74C03-030A-C950-7158-F94AFBD15A83}"/>
              </a:ext>
            </a:extLst>
          </p:cNvPr>
          <p:cNvGrpSpPr/>
          <p:nvPr/>
        </p:nvGrpSpPr>
        <p:grpSpPr>
          <a:xfrm>
            <a:off x="8574761" y="1600202"/>
            <a:ext cx="2856278" cy="4032994"/>
            <a:chOff x="8574761" y="1600202"/>
            <a:chExt cx="2856278" cy="4032994"/>
          </a:xfrm>
        </p:grpSpPr>
        <p:grpSp>
          <p:nvGrpSpPr>
            <p:cNvPr id="64" name="Group 63">
              <a:extLst>
                <a:ext uri="{FF2B5EF4-FFF2-40B4-BE49-F238E27FC236}">
                  <a16:creationId xmlns:a16="http://schemas.microsoft.com/office/drawing/2014/main" id="{F59F7FF5-4227-47AE-F738-40DEC9485605}"/>
                </a:ext>
              </a:extLst>
            </p:cNvPr>
            <p:cNvGrpSpPr/>
            <p:nvPr/>
          </p:nvGrpSpPr>
          <p:grpSpPr>
            <a:xfrm>
              <a:off x="9275024" y="2365723"/>
              <a:ext cx="1576773" cy="1930249"/>
              <a:chOff x="8556940" y="2342533"/>
              <a:chExt cx="2049806" cy="2509323"/>
            </a:xfrm>
          </p:grpSpPr>
          <mc:AlternateContent xmlns:mc="http://schemas.openxmlformats.org/markup-compatibility/2006" xmlns:a14="http://schemas.microsoft.com/office/drawing/2010/main">
            <mc:Choice Requires="a14">
              <p:sp>
                <p:nvSpPr>
                  <p:cNvPr id="65" name="Rectangle 64">
                    <a:extLst>
                      <a:ext uri="{FF2B5EF4-FFF2-40B4-BE49-F238E27FC236}">
                        <a16:creationId xmlns:a16="http://schemas.microsoft.com/office/drawing/2014/main" id="{D18A2EC1-C809-FF5F-6938-44EDB6027929}"/>
                      </a:ext>
                    </a:extLst>
                  </p:cNvPr>
                  <p:cNvSpPr/>
                  <p:nvPr/>
                </p:nvSpPr>
                <p:spPr>
                  <a:xfrm>
                    <a:off x="10158957" y="4531769"/>
                    <a:ext cx="447789" cy="320087"/>
                  </a:xfrm>
                  <a:prstGeom prst="rect">
                    <a:avLst/>
                  </a:prstGeom>
                </p:spPr>
                <p:txBody>
                  <a:bodyPr wrap="none">
                    <a:noAutofit/>
                  </a:bodyPr>
                  <a:lstStyle/>
                  <a:p>
                    <a:pPr/>
                    <a14:m>
                      <m:oMathPara xmlns:m="http://schemas.openxmlformats.org/officeDocument/2006/math">
                        <m:oMathParaPr>
                          <m:jc m:val="centerGroup"/>
                        </m:oMathParaPr>
                        <m:oMath xmlns:m="http://schemas.openxmlformats.org/officeDocument/2006/math">
                          <m:sSub>
                            <m:sSubPr>
                              <m:ctrlPr>
                                <a:rPr lang="en-US" sz="1000" i="1" dirty="0" smtClean="0">
                                  <a:solidFill>
                                    <a:schemeClr val="accent5">
                                      <a:lumMod val="75000"/>
                                    </a:schemeClr>
                                  </a:solidFill>
                                  <a:latin typeface="Cambria Math" panose="02040503050406030204" pitchFamily="18" charset="0"/>
                                </a:rPr>
                              </m:ctrlPr>
                            </m:sSubPr>
                            <m:e>
                              <m:r>
                                <a:rPr lang="en-US" sz="1000" i="1" dirty="0">
                                  <a:solidFill>
                                    <a:schemeClr val="accent5">
                                      <a:lumMod val="75000"/>
                                    </a:schemeClr>
                                  </a:solidFill>
                                  <a:latin typeface="Cambria Math" panose="02040503050406030204" pitchFamily="18" charset="0"/>
                                </a:rPr>
                                <m:t>𝑥</m:t>
                              </m:r>
                            </m:e>
                            <m:sub>
                              <m:r>
                                <a:rPr lang="en-US" sz="1000" i="1" dirty="0">
                                  <a:solidFill>
                                    <a:schemeClr val="accent5">
                                      <a:lumMod val="75000"/>
                                    </a:schemeClr>
                                  </a:solidFill>
                                  <a:latin typeface="Cambria Math" panose="02040503050406030204" pitchFamily="18" charset="0"/>
                                </a:rPr>
                                <m:t>1</m:t>
                              </m:r>
                            </m:sub>
                          </m:sSub>
                        </m:oMath>
                      </m:oMathPara>
                    </a14:m>
                    <a:endParaRPr lang="en-US" sz="1000" dirty="0">
                      <a:solidFill>
                        <a:schemeClr val="accent5">
                          <a:lumMod val="75000"/>
                        </a:schemeClr>
                      </a:solidFill>
                    </a:endParaRPr>
                  </a:p>
                </p:txBody>
              </p:sp>
            </mc:Choice>
            <mc:Fallback xmlns="">
              <p:sp>
                <p:nvSpPr>
                  <p:cNvPr id="65" name="Rectangle 64">
                    <a:extLst>
                      <a:ext uri="{FF2B5EF4-FFF2-40B4-BE49-F238E27FC236}">
                        <a16:creationId xmlns:a16="http://schemas.microsoft.com/office/drawing/2014/main" id="{D18A2EC1-C809-FF5F-6938-44EDB6027929}"/>
                      </a:ext>
                    </a:extLst>
                  </p:cNvPr>
                  <p:cNvSpPr>
                    <a:spLocks noRot="1" noChangeAspect="1" noMove="1" noResize="1" noEditPoints="1" noAdjustHandles="1" noChangeArrowheads="1" noChangeShapeType="1" noTextEdit="1"/>
                  </p:cNvSpPr>
                  <p:nvPr/>
                </p:nvSpPr>
                <p:spPr>
                  <a:xfrm>
                    <a:off x="10158957" y="4531769"/>
                    <a:ext cx="447789" cy="3200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05A6CFFF-8369-665E-4ED4-0F8BA3668958}"/>
                      </a:ext>
                    </a:extLst>
                  </p:cNvPr>
                  <p:cNvSpPr/>
                  <p:nvPr/>
                </p:nvSpPr>
                <p:spPr>
                  <a:xfrm>
                    <a:off x="9650005" y="3348226"/>
                    <a:ext cx="451624" cy="320087"/>
                  </a:xfrm>
                  <a:prstGeom prst="rect">
                    <a:avLst/>
                  </a:prstGeom>
                </p:spPr>
                <p:txBody>
                  <a:bodyPr wrap="none">
                    <a:noAutofit/>
                  </a:bodyPr>
                  <a:lstStyle/>
                  <a:p>
                    <a:pPr/>
                    <a14:m>
                      <m:oMathPara xmlns:m="http://schemas.openxmlformats.org/officeDocument/2006/math">
                        <m:oMathParaPr>
                          <m:jc m:val="centerGroup"/>
                        </m:oMathParaPr>
                        <m:oMath xmlns:m="http://schemas.openxmlformats.org/officeDocument/2006/math">
                          <m:sSub>
                            <m:sSubPr>
                              <m:ctrlPr>
                                <a:rPr lang="en-US" sz="1000" i="1" dirty="0">
                                  <a:latin typeface="Cambria Math" panose="02040503050406030204" pitchFamily="18" charset="0"/>
                                </a:rPr>
                              </m:ctrlPr>
                            </m:sSubPr>
                            <m:e>
                              <m:r>
                                <a:rPr lang="en-US" sz="1000" i="1" dirty="0">
                                  <a:latin typeface="Cambria Math" panose="02040503050406030204" pitchFamily="18" charset="0"/>
                                </a:rPr>
                                <m:t>𝑥</m:t>
                              </m:r>
                            </m:e>
                            <m:sub>
                              <m:r>
                                <a:rPr lang="en-US" sz="1000" i="1" dirty="0">
                                  <a:latin typeface="Cambria Math" panose="02040503050406030204" pitchFamily="18" charset="0"/>
                                </a:rPr>
                                <m:t>2</m:t>
                              </m:r>
                            </m:sub>
                          </m:sSub>
                        </m:oMath>
                      </m:oMathPara>
                    </a14:m>
                    <a:endParaRPr lang="en-US" sz="1000" dirty="0"/>
                  </a:p>
                </p:txBody>
              </p:sp>
            </mc:Choice>
            <mc:Fallback xmlns="">
              <p:sp>
                <p:nvSpPr>
                  <p:cNvPr id="66" name="Rectangle 65">
                    <a:extLst>
                      <a:ext uri="{FF2B5EF4-FFF2-40B4-BE49-F238E27FC236}">
                        <a16:creationId xmlns:a16="http://schemas.microsoft.com/office/drawing/2014/main" id="{05A6CFFF-8369-665E-4ED4-0F8BA3668958}"/>
                      </a:ext>
                    </a:extLst>
                  </p:cNvPr>
                  <p:cNvSpPr>
                    <a:spLocks noRot="1" noChangeAspect="1" noMove="1" noResize="1" noEditPoints="1" noAdjustHandles="1" noChangeArrowheads="1" noChangeShapeType="1" noTextEdit="1"/>
                  </p:cNvSpPr>
                  <p:nvPr/>
                </p:nvSpPr>
                <p:spPr>
                  <a:xfrm>
                    <a:off x="9650005" y="3348226"/>
                    <a:ext cx="451624" cy="3200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2CF964C4-86E6-75B5-D1F1-77C4D2B05E14}"/>
                      </a:ext>
                    </a:extLst>
                  </p:cNvPr>
                  <p:cNvSpPr/>
                  <p:nvPr/>
                </p:nvSpPr>
                <p:spPr>
                  <a:xfrm>
                    <a:off x="8556940" y="2689590"/>
                    <a:ext cx="451624" cy="320087"/>
                  </a:xfrm>
                  <a:prstGeom prst="rect">
                    <a:avLst/>
                  </a:prstGeom>
                </p:spPr>
                <p:txBody>
                  <a:bodyPr wrap="none">
                    <a:noAutofit/>
                  </a:bodyPr>
                  <a:lstStyle/>
                  <a:p>
                    <a:pPr/>
                    <a14:m>
                      <m:oMathPara xmlns:m="http://schemas.openxmlformats.org/officeDocument/2006/math">
                        <m:oMathParaPr>
                          <m:jc m:val="centerGroup"/>
                        </m:oMathParaPr>
                        <m:oMath xmlns:m="http://schemas.openxmlformats.org/officeDocument/2006/math">
                          <m:sSub>
                            <m:sSubPr>
                              <m:ctrlPr>
                                <a:rPr lang="en-US" sz="1000" i="1" dirty="0" smtClean="0">
                                  <a:solidFill>
                                    <a:schemeClr val="accent3">
                                      <a:lumMod val="40000"/>
                                      <a:lumOff val="60000"/>
                                    </a:schemeClr>
                                  </a:solidFill>
                                  <a:latin typeface="Cambria Math" panose="02040503050406030204" pitchFamily="18" charset="0"/>
                                </a:rPr>
                              </m:ctrlPr>
                            </m:sSubPr>
                            <m:e>
                              <m:r>
                                <a:rPr lang="en-US" sz="1000" i="1" dirty="0">
                                  <a:solidFill>
                                    <a:schemeClr val="accent3">
                                      <a:lumMod val="40000"/>
                                      <a:lumOff val="60000"/>
                                    </a:schemeClr>
                                  </a:solidFill>
                                  <a:latin typeface="Cambria Math" panose="02040503050406030204" pitchFamily="18" charset="0"/>
                                </a:rPr>
                                <m:t>𝑥</m:t>
                              </m:r>
                            </m:e>
                            <m:sub>
                              <m:r>
                                <a:rPr lang="en-US" sz="1000" i="1" dirty="0">
                                  <a:solidFill>
                                    <a:schemeClr val="accent3">
                                      <a:lumMod val="40000"/>
                                      <a:lumOff val="60000"/>
                                    </a:schemeClr>
                                  </a:solidFill>
                                  <a:latin typeface="Cambria Math" panose="02040503050406030204" pitchFamily="18" charset="0"/>
                                </a:rPr>
                                <m:t>6</m:t>
                              </m:r>
                            </m:sub>
                          </m:sSub>
                        </m:oMath>
                      </m:oMathPara>
                    </a14:m>
                    <a:endParaRPr lang="en-US" sz="1000" dirty="0">
                      <a:solidFill>
                        <a:schemeClr val="accent3">
                          <a:lumMod val="40000"/>
                          <a:lumOff val="60000"/>
                        </a:schemeClr>
                      </a:solidFill>
                    </a:endParaRPr>
                  </a:p>
                </p:txBody>
              </p:sp>
            </mc:Choice>
            <mc:Fallback xmlns="">
              <p:sp>
                <p:nvSpPr>
                  <p:cNvPr id="67" name="Rectangle 66">
                    <a:extLst>
                      <a:ext uri="{FF2B5EF4-FFF2-40B4-BE49-F238E27FC236}">
                        <a16:creationId xmlns:a16="http://schemas.microsoft.com/office/drawing/2014/main" id="{2CF964C4-86E6-75B5-D1F1-77C4D2B05E14}"/>
                      </a:ext>
                    </a:extLst>
                  </p:cNvPr>
                  <p:cNvSpPr>
                    <a:spLocks noRot="1" noChangeAspect="1" noMove="1" noResize="1" noEditPoints="1" noAdjustHandles="1" noChangeArrowheads="1" noChangeShapeType="1" noTextEdit="1"/>
                  </p:cNvSpPr>
                  <p:nvPr/>
                </p:nvSpPr>
                <p:spPr>
                  <a:xfrm>
                    <a:off x="8556940" y="2689590"/>
                    <a:ext cx="451624" cy="32008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a:extLst>
                      <a:ext uri="{FF2B5EF4-FFF2-40B4-BE49-F238E27FC236}">
                        <a16:creationId xmlns:a16="http://schemas.microsoft.com/office/drawing/2014/main" id="{34DB3A79-8FA8-52C5-5389-EC7778FE5DBD}"/>
                      </a:ext>
                    </a:extLst>
                  </p:cNvPr>
                  <p:cNvSpPr/>
                  <p:nvPr/>
                </p:nvSpPr>
                <p:spPr>
                  <a:xfrm>
                    <a:off x="8936937" y="2688453"/>
                    <a:ext cx="451624" cy="320087"/>
                  </a:xfrm>
                  <a:prstGeom prst="rect">
                    <a:avLst/>
                  </a:prstGeom>
                </p:spPr>
                <p:txBody>
                  <a:bodyPr wrap="none">
                    <a:noAutofit/>
                  </a:bodyPr>
                  <a:lstStyle/>
                  <a:p>
                    <a:pPr/>
                    <a14:m>
                      <m:oMathPara xmlns:m="http://schemas.openxmlformats.org/officeDocument/2006/math">
                        <m:oMathParaPr>
                          <m:jc m:val="centerGroup"/>
                        </m:oMathParaPr>
                        <m:oMath xmlns:m="http://schemas.openxmlformats.org/officeDocument/2006/math">
                          <m:sSub>
                            <m:sSubPr>
                              <m:ctrlPr>
                                <a:rPr lang="en-US" sz="1000" i="1" dirty="0" smtClean="0">
                                  <a:solidFill>
                                    <a:srgbClr val="D83961"/>
                                  </a:solidFill>
                                  <a:latin typeface="Cambria Math" panose="02040503050406030204" pitchFamily="18" charset="0"/>
                                </a:rPr>
                              </m:ctrlPr>
                            </m:sSubPr>
                            <m:e>
                              <m:r>
                                <a:rPr lang="en-US" sz="1000" i="1" dirty="0">
                                  <a:solidFill>
                                    <a:srgbClr val="D83961"/>
                                  </a:solidFill>
                                  <a:latin typeface="Cambria Math" panose="02040503050406030204" pitchFamily="18" charset="0"/>
                                </a:rPr>
                                <m:t>𝑥</m:t>
                              </m:r>
                            </m:e>
                            <m:sub>
                              <m:r>
                                <a:rPr lang="en-US" sz="1000" i="1" dirty="0">
                                  <a:solidFill>
                                    <a:srgbClr val="D83961"/>
                                  </a:solidFill>
                                  <a:latin typeface="Cambria Math" panose="02040503050406030204" pitchFamily="18" charset="0"/>
                                </a:rPr>
                                <m:t>7</m:t>
                              </m:r>
                            </m:sub>
                          </m:sSub>
                        </m:oMath>
                      </m:oMathPara>
                    </a14:m>
                    <a:endParaRPr lang="en-US" sz="1000" dirty="0">
                      <a:solidFill>
                        <a:srgbClr val="D83961"/>
                      </a:solidFill>
                    </a:endParaRPr>
                  </a:p>
                </p:txBody>
              </p:sp>
            </mc:Choice>
            <mc:Fallback xmlns="">
              <p:sp>
                <p:nvSpPr>
                  <p:cNvPr id="68" name="Rectangle 67">
                    <a:extLst>
                      <a:ext uri="{FF2B5EF4-FFF2-40B4-BE49-F238E27FC236}">
                        <a16:creationId xmlns:a16="http://schemas.microsoft.com/office/drawing/2014/main" id="{34DB3A79-8FA8-52C5-5389-EC7778FE5DBD}"/>
                      </a:ext>
                    </a:extLst>
                  </p:cNvPr>
                  <p:cNvSpPr>
                    <a:spLocks noRot="1" noChangeAspect="1" noMove="1" noResize="1" noEditPoints="1" noAdjustHandles="1" noChangeArrowheads="1" noChangeShapeType="1" noTextEdit="1"/>
                  </p:cNvSpPr>
                  <p:nvPr/>
                </p:nvSpPr>
                <p:spPr>
                  <a:xfrm>
                    <a:off x="8936937" y="2688453"/>
                    <a:ext cx="451624" cy="32008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Rectangle 68">
                    <a:extLst>
                      <a:ext uri="{FF2B5EF4-FFF2-40B4-BE49-F238E27FC236}">
                        <a16:creationId xmlns:a16="http://schemas.microsoft.com/office/drawing/2014/main" id="{0C55A4B4-7000-2374-3672-E7F785989303}"/>
                      </a:ext>
                    </a:extLst>
                  </p:cNvPr>
                  <p:cNvSpPr/>
                  <p:nvPr/>
                </p:nvSpPr>
                <p:spPr>
                  <a:xfrm>
                    <a:off x="9907673" y="2342533"/>
                    <a:ext cx="451624" cy="320087"/>
                  </a:xfrm>
                  <a:prstGeom prst="rect">
                    <a:avLst/>
                  </a:prstGeom>
                </p:spPr>
                <p:txBody>
                  <a:bodyPr wrap="none">
                    <a:noAutofit/>
                  </a:bodyPr>
                  <a:lstStyle/>
                  <a:p>
                    <a:pPr/>
                    <a14:m>
                      <m:oMathPara xmlns:m="http://schemas.openxmlformats.org/officeDocument/2006/math">
                        <m:oMathParaPr>
                          <m:jc m:val="centerGroup"/>
                        </m:oMathParaPr>
                        <m:oMath xmlns:m="http://schemas.openxmlformats.org/officeDocument/2006/math">
                          <m:sSub>
                            <m:sSubPr>
                              <m:ctrlPr>
                                <a:rPr lang="en-US" sz="1000" i="1" dirty="0" smtClean="0">
                                  <a:solidFill>
                                    <a:schemeClr val="accent3"/>
                                  </a:solidFill>
                                  <a:latin typeface="Cambria Math" panose="02040503050406030204" pitchFamily="18" charset="0"/>
                                </a:rPr>
                              </m:ctrlPr>
                            </m:sSubPr>
                            <m:e>
                              <m:r>
                                <a:rPr lang="en-US" sz="1000" i="1" dirty="0">
                                  <a:solidFill>
                                    <a:schemeClr val="accent3"/>
                                  </a:solidFill>
                                  <a:latin typeface="Cambria Math" panose="02040503050406030204" pitchFamily="18" charset="0"/>
                                </a:rPr>
                                <m:t>𝑥</m:t>
                              </m:r>
                            </m:e>
                            <m:sub>
                              <m:r>
                                <a:rPr lang="en-US" sz="1000" i="1" dirty="0">
                                  <a:solidFill>
                                    <a:schemeClr val="accent3"/>
                                  </a:solidFill>
                                  <a:latin typeface="Cambria Math" panose="02040503050406030204" pitchFamily="18" charset="0"/>
                                </a:rPr>
                                <m:t>8</m:t>
                              </m:r>
                            </m:sub>
                          </m:sSub>
                        </m:oMath>
                      </m:oMathPara>
                    </a14:m>
                    <a:endParaRPr lang="en-US" sz="1000" dirty="0">
                      <a:solidFill>
                        <a:schemeClr val="accent3"/>
                      </a:solidFill>
                    </a:endParaRPr>
                  </a:p>
                </p:txBody>
              </p:sp>
            </mc:Choice>
            <mc:Fallback xmlns="">
              <p:sp>
                <p:nvSpPr>
                  <p:cNvPr id="69" name="Rectangle 68">
                    <a:extLst>
                      <a:ext uri="{FF2B5EF4-FFF2-40B4-BE49-F238E27FC236}">
                        <a16:creationId xmlns:a16="http://schemas.microsoft.com/office/drawing/2014/main" id="{0C55A4B4-7000-2374-3672-E7F785989303}"/>
                      </a:ext>
                    </a:extLst>
                  </p:cNvPr>
                  <p:cNvSpPr>
                    <a:spLocks noRot="1" noChangeAspect="1" noMove="1" noResize="1" noEditPoints="1" noAdjustHandles="1" noChangeArrowheads="1" noChangeShapeType="1" noTextEdit="1"/>
                  </p:cNvSpPr>
                  <p:nvPr/>
                </p:nvSpPr>
                <p:spPr>
                  <a:xfrm>
                    <a:off x="9907673" y="2342533"/>
                    <a:ext cx="451624" cy="320087"/>
                  </a:xfrm>
                  <a:prstGeom prst="rect">
                    <a:avLst/>
                  </a:prstGeom>
                  <a:blipFill>
                    <a:blip r:embed="rId8"/>
                    <a:stretch>
                      <a:fillRect/>
                    </a:stretch>
                  </a:blipFill>
                </p:spPr>
                <p:txBody>
                  <a:bodyPr/>
                  <a:lstStyle/>
                  <a:p>
                    <a:r>
                      <a:rPr lang="en-US">
                        <a:noFill/>
                      </a:rPr>
                      <a:t> </a:t>
                    </a:r>
                  </a:p>
                </p:txBody>
              </p:sp>
            </mc:Fallback>
          </mc:AlternateContent>
        </p:grpSp>
        <p:grpSp>
          <p:nvGrpSpPr>
            <p:cNvPr id="70" name="Group 69" descr="plot of chunk unnamed-chunk-4">
              <a:extLst>
                <a:ext uri="{FF2B5EF4-FFF2-40B4-BE49-F238E27FC236}">
                  <a16:creationId xmlns:a16="http://schemas.microsoft.com/office/drawing/2014/main" id="{044862F4-78BB-EA6F-B64E-EC10B34259AD}"/>
                </a:ext>
              </a:extLst>
            </p:cNvPr>
            <p:cNvGrpSpPr/>
            <p:nvPr/>
          </p:nvGrpSpPr>
          <p:grpSpPr>
            <a:xfrm>
              <a:off x="8574761" y="1600202"/>
              <a:ext cx="2856278" cy="4032994"/>
              <a:chOff x="2022459" y="2397526"/>
              <a:chExt cx="1787540" cy="3975192"/>
            </a:xfrm>
          </p:grpSpPr>
          <p:sp>
            <p:nvSpPr>
              <p:cNvPr id="72" name="TextBox 71">
                <a:extLst>
                  <a:ext uri="{FF2B5EF4-FFF2-40B4-BE49-F238E27FC236}">
                    <a16:creationId xmlns:a16="http://schemas.microsoft.com/office/drawing/2014/main" id="{13868EC5-9E53-60A4-4639-08253E94511E}"/>
                  </a:ext>
                </a:extLst>
              </p:cNvPr>
              <p:cNvSpPr txBox="1"/>
              <p:nvPr/>
            </p:nvSpPr>
            <p:spPr>
              <a:xfrm>
                <a:off x="2273429" y="2397526"/>
                <a:ext cx="325731" cy="246221"/>
              </a:xfrm>
              <a:prstGeom prst="rect">
                <a:avLst/>
              </a:prstGeom>
              <a:noFill/>
            </p:spPr>
            <p:txBody>
              <a:bodyPr wrap="none" rtlCol="0">
                <a:noAutofit/>
              </a:bodyPr>
              <a:lstStyle/>
              <a:p>
                <a:pPr algn="ctr"/>
                <a:r>
                  <a:rPr lang="en-US" sz="1000" dirty="0"/>
                  <a:t>19</a:t>
                </a:r>
              </a:p>
            </p:txBody>
          </p:sp>
          <p:sp>
            <p:nvSpPr>
              <p:cNvPr id="73" name="TextBox 72">
                <a:extLst>
                  <a:ext uri="{FF2B5EF4-FFF2-40B4-BE49-F238E27FC236}">
                    <a16:creationId xmlns:a16="http://schemas.microsoft.com/office/drawing/2014/main" id="{8FA870DD-D072-DD50-5403-2482C31C338C}"/>
                  </a:ext>
                </a:extLst>
              </p:cNvPr>
              <p:cNvSpPr txBox="1"/>
              <p:nvPr/>
            </p:nvSpPr>
            <p:spPr>
              <a:xfrm>
                <a:off x="2643002" y="2397526"/>
                <a:ext cx="325731" cy="246221"/>
              </a:xfrm>
              <a:prstGeom prst="rect">
                <a:avLst/>
              </a:prstGeom>
              <a:noFill/>
            </p:spPr>
            <p:txBody>
              <a:bodyPr wrap="none" rtlCol="0">
                <a:noAutofit/>
              </a:bodyPr>
              <a:lstStyle/>
              <a:p>
                <a:pPr algn="ctr"/>
                <a:r>
                  <a:rPr lang="en-US" sz="1000" dirty="0"/>
                  <a:t>17</a:t>
                </a:r>
              </a:p>
            </p:txBody>
          </p:sp>
          <p:sp>
            <p:nvSpPr>
              <p:cNvPr id="74" name="TextBox 73">
                <a:extLst>
                  <a:ext uri="{FF2B5EF4-FFF2-40B4-BE49-F238E27FC236}">
                    <a16:creationId xmlns:a16="http://schemas.microsoft.com/office/drawing/2014/main" id="{8DCB97F0-BB94-6F20-77FF-5D2A672FF18E}"/>
                  </a:ext>
                </a:extLst>
              </p:cNvPr>
              <p:cNvSpPr txBox="1"/>
              <p:nvPr/>
            </p:nvSpPr>
            <p:spPr>
              <a:xfrm>
                <a:off x="2986912" y="2397526"/>
                <a:ext cx="325731" cy="246221"/>
              </a:xfrm>
              <a:prstGeom prst="rect">
                <a:avLst/>
              </a:prstGeom>
              <a:noFill/>
            </p:spPr>
            <p:txBody>
              <a:bodyPr wrap="none" rtlCol="0">
                <a:noAutofit/>
              </a:bodyPr>
              <a:lstStyle/>
              <a:p>
                <a:pPr algn="ctr"/>
                <a:r>
                  <a:rPr lang="en-US" sz="1000" dirty="0"/>
                  <a:t>12</a:t>
                </a:r>
              </a:p>
            </p:txBody>
          </p:sp>
          <p:sp>
            <p:nvSpPr>
              <p:cNvPr id="75" name="TextBox 74">
                <a:extLst>
                  <a:ext uri="{FF2B5EF4-FFF2-40B4-BE49-F238E27FC236}">
                    <a16:creationId xmlns:a16="http://schemas.microsoft.com/office/drawing/2014/main" id="{5136FBE7-0E84-0B29-EDAD-F33A5561E3C3}"/>
                  </a:ext>
                </a:extLst>
              </p:cNvPr>
              <p:cNvSpPr txBox="1"/>
              <p:nvPr/>
            </p:nvSpPr>
            <p:spPr>
              <a:xfrm>
                <a:off x="3368577" y="2397526"/>
                <a:ext cx="255198" cy="246221"/>
              </a:xfrm>
              <a:prstGeom prst="rect">
                <a:avLst/>
              </a:prstGeom>
              <a:noFill/>
            </p:spPr>
            <p:txBody>
              <a:bodyPr wrap="none" rtlCol="0">
                <a:noAutofit/>
              </a:bodyPr>
              <a:lstStyle/>
              <a:p>
                <a:pPr algn="ctr"/>
                <a:r>
                  <a:rPr lang="en-US" sz="1000" dirty="0"/>
                  <a:t>6</a:t>
                </a:r>
              </a:p>
            </p:txBody>
          </p:sp>
          <p:sp>
            <p:nvSpPr>
              <p:cNvPr id="76" name="TextBox 75">
                <a:extLst>
                  <a:ext uri="{FF2B5EF4-FFF2-40B4-BE49-F238E27FC236}">
                    <a16:creationId xmlns:a16="http://schemas.microsoft.com/office/drawing/2014/main" id="{653DE074-BFBA-7DEE-498A-853979BB7318}"/>
                  </a:ext>
                </a:extLst>
              </p:cNvPr>
              <p:cNvSpPr txBox="1"/>
              <p:nvPr/>
            </p:nvSpPr>
            <p:spPr>
              <a:xfrm rot="16200000">
                <a:off x="2114452" y="2935356"/>
                <a:ext cx="325730" cy="165492"/>
              </a:xfrm>
              <a:prstGeom prst="rect">
                <a:avLst/>
              </a:prstGeom>
              <a:noFill/>
            </p:spPr>
            <p:txBody>
              <a:bodyPr wrap="none" rtlCol="0">
                <a:noAutofit/>
              </a:bodyPr>
              <a:lstStyle/>
              <a:p>
                <a:r>
                  <a:rPr lang="en-US" sz="1000" dirty="0"/>
                  <a:t>50</a:t>
                </a:r>
              </a:p>
            </p:txBody>
          </p:sp>
          <p:sp>
            <p:nvSpPr>
              <p:cNvPr id="77" name="TextBox 76">
                <a:extLst>
                  <a:ext uri="{FF2B5EF4-FFF2-40B4-BE49-F238E27FC236}">
                    <a16:creationId xmlns:a16="http://schemas.microsoft.com/office/drawing/2014/main" id="{8336690F-7ABB-EE66-ECF2-148344BC6631}"/>
                  </a:ext>
                </a:extLst>
              </p:cNvPr>
              <p:cNvSpPr txBox="1"/>
              <p:nvPr/>
            </p:nvSpPr>
            <p:spPr>
              <a:xfrm rot="16200000">
                <a:off x="2149716" y="3732749"/>
                <a:ext cx="255198" cy="165494"/>
              </a:xfrm>
              <a:prstGeom prst="rect">
                <a:avLst/>
              </a:prstGeom>
              <a:noFill/>
            </p:spPr>
            <p:txBody>
              <a:bodyPr wrap="none" rtlCol="0">
                <a:noAutofit/>
              </a:bodyPr>
              <a:lstStyle/>
              <a:p>
                <a:r>
                  <a:rPr lang="en-US" sz="1000" dirty="0"/>
                  <a:t>0</a:t>
                </a:r>
              </a:p>
            </p:txBody>
          </p:sp>
          <p:sp>
            <p:nvSpPr>
              <p:cNvPr id="78" name="TextBox 77">
                <a:extLst>
                  <a:ext uri="{FF2B5EF4-FFF2-40B4-BE49-F238E27FC236}">
                    <a16:creationId xmlns:a16="http://schemas.microsoft.com/office/drawing/2014/main" id="{2A6AB6AD-BE3E-BAF2-DD4C-49297E6B8288}"/>
                  </a:ext>
                </a:extLst>
              </p:cNvPr>
              <p:cNvSpPr txBox="1"/>
              <p:nvPr/>
            </p:nvSpPr>
            <p:spPr>
              <a:xfrm rot="16200000">
                <a:off x="2092814" y="4544713"/>
                <a:ext cx="369012" cy="165495"/>
              </a:xfrm>
              <a:prstGeom prst="rect">
                <a:avLst/>
              </a:prstGeom>
              <a:noFill/>
            </p:spPr>
            <p:txBody>
              <a:bodyPr wrap="none" rtlCol="0">
                <a:noAutofit/>
              </a:bodyPr>
              <a:lstStyle/>
              <a:p>
                <a:r>
                  <a:rPr lang="en-US" sz="1000" dirty="0"/>
                  <a:t>-50</a:t>
                </a:r>
              </a:p>
            </p:txBody>
          </p:sp>
          <p:sp>
            <p:nvSpPr>
              <p:cNvPr id="79" name="TextBox 78">
                <a:extLst>
                  <a:ext uri="{FF2B5EF4-FFF2-40B4-BE49-F238E27FC236}">
                    <a16:creationId xmlns:a16="http://schemas.microsoft.com/office/drawing/2014/main" id="{42B6B198-280E-23C8-A1F0-9054259AFC05}"/>
                  </a:ext>
                </a:extLst>
              </p:cNvPr>
              <p:cNvSpPr txBox="1"/>
              <p:nvPr/>
            </p:nvSpPr>
            <p:spPr>
              <a:xfrm rot="16200000">
                <a:off x="2057550" y="5348626"/>
                <a:ext cx="439544" cy="165494"/>
              </a:xfrm>
              <a:prstGeom prst="rect">
                <a:avLst/>
              </a:prstGeom>
              <a:noFill/>
            </p:spPr>
            <p:txBody>
              <a:bodyPr wrap="none" rtlCol="0">
                <a:noAutofit/>
              </a:bodyPr>
              <a:lstStyle/>
              <a:p>
                <a:r>
                  <a:rPr lang="en-US" sz="1000" dirty="0"/>
                  <a:t>-100</a:t>
                </a:r>
              </a:p>
            </p:txBody>
          </p:sp>
          <p:sp>
            <p:nvSpPr>
              <p:cNvPr id="80" name="TextBox 79">
                <a:extLst>
                  <a:ext uri="{FF2B5EF4-FFF2-40B4-BE49-F238E27FC236}">
                    <a16:creationId xmlns:a16="http://schemas.microsoft.com/office/drawing/2014/main" id="{C5B03E50-3E18-C120-9C93-F774E4CB087B}"/>
                  </a:ext>
                </a:extLst>
              </p:cNvPr>
              <p:cNvSpPr txBox="1"/>
              <p:nvPr/>
            </p:nvSpPr>
            <p:spPr>
              <a:xfrm rot="16200000">
                <a:off x="1679448" y="4213364"/>
                <a:ext cx="851516" cy="165494"/>
              </a:xfrm>
              <a:prstGeom prst="rect">
                <a:avLst/>
              </a:prstGeom>
              <a:noFill/>
            </p:spPr>
            <p:txBody>
              <a:bodyPr wrap="none" rtlCol="0">
                <a:noAutofit/>
              </a:bodyPr>
              <a:lstStyle/>
              <a:p>
                <a:pPr algn="ctr"/>
                <a:r>
                  <a:rPr lang="en-US" sz="1000" dirty="0"/>
                  <a:t>Coefficients</a:t>
                </a:r>
              </a:p>
              <a:p>
                <a:pPr algn="ctr"/>
                <a:endParaRPr lang="en-US" sz="1000" dirty="0"/>
              </a:p>
            </p:txBody>
          </p:sp>
          <p:sp>
            <p:nvSpPr>
              <p:cNvPr id="81" name="TextBox 80">
                <a:extLst>
                  <a:ext uri="{FF2B5EF4-FFF2-40B4-BE49-F238E27FC236}">
                    <a16:creationId xmlns:a16="http://schemas.microsoft.com/office/drawing/2014/main" id="{23EDA279-6533-1690-D295-BDB2C3F2DD44}"/>
                  </a:ext>
                </a:extLst>
              </p:cNvPr>
              <p:cNvSpPr txBox="1"/>
              <p:nvPr/>
            </p:nvSpPr>
            <p:spPr>
              <a:xfrm>
                <a:off x="2937392" y="2859557"/>
                <a:ext cx="795640" cy="215444"/>
              </a:xfrm>
              <a:prstGeom prst="rect">
                <a:avLst/>
              </a:prstGeom>
              <a:noFill/>
            </p:spPr>
            <p:txBody>
              <a:bodyPr wrap="none" rtlCol="0">
                <a:noAutofit/>
              </a:bodyPr>
              <a:lstStyle/>
              <a:p>
                <a:r>
                  <a:rPr lang="en-US" sz="900" dirty="0"/>
                  <a:t>CV Selected penalty</a:t>
                </a:r>
              </a:p>
            </p:txBody>
          </p:sp>
          <p:sp>
            <p:nvSpPr>
              <p:cNvPr id="82" name="TextBox 81">
                <a:extLst>
                  <a:ext uri="{FF2B5EF4-FFF2-40B4-BE49-F238E27FC236}">
                    <a16:creationId xmlns:a16="http://schemas.microsoft.com/office/drawing/2014/main" id="{925A8298-CDD3-77EF-17EB-DC40834CF0A6}"/>
                  </a:ext>
                </a:extLst>
              </p:cNvPr>
              <p:cNvSpPr txBox="1"/>
              <p:nvPr/>
            </p:nvSpPr>
            <p:spPr>
              <a:xfrm>
                <a:off x="2668270" y="6126497"/>
                <a:ext cx="891591" cy="246221"/>
              </a:xfrm>
              <a:prstGeom prst="rect">
                <a:avLst/>
              </a:prstGeom>
              <a:noFill/>
            </p:spPr>
            <p:txBody>
              <a:bodyPr wrap="none" rtlCol="0">
                <a:noAutofit/>
              </a:bodyPr>
              <a:lstStyle/>
              <a:p>
                <a:pPr algn="ctr"/>
                <a:r>
                  <a:rPr lang="en-US" sz="1000" dirty="0"/>
                  <a:t>Log lambda</a:t>
                </a:r>
              </a:p>
            </p:txBody>
          </p:sp>
          <p:sp>
            <p:nvSpPr>
              <p:cNvPr id="83" name="TextBox 82">
                <a:extLst>
                  <a:ext uri="{FF2B5EF4-FFF2-40B4-BE49-F238E27FC236}">
                    <a16:creationId xmlns:a16="http://schemas.microsoft.com/office/drawing/2014/main" id="{B396DE52-25C9-2101-50D8-BAA115179FA2}"/>
                  </a:ext>
                </a:extLst>
              </p:cNvPr>
              <p:cNvSpPr txBox="1"/>
              <p:nvPr/>
            </p:nvSpPr>
            <p:spPr>
              <a:xfrm>
                <a:off x="2343289" y="5934316"/>
                <a:ext cx="298480" cy="246221"/>
              </a:xfrm>
              <a:prstGeom prst="rect">
                <a:avLst/>
              </a:prstGeom>
              <a:noFill/>
            </p:spPr>
            <p:txBody>
              <a:bodyPr wrap="none" rtlCol="0">
                <a:noAutofit/>
              </a:bodyPr>
              <a:lstStyle/>
              <a:p>
                <a:r>
                  <a:rPr lang="en-US" sz="1000" dirty="0"/>
                  <a:t>-2</a:t>
                </a:r>
              </a:p>
            </p:txBody>
          </p:sp>
          <p:sp>
            <p:nvSpPr>
              <p:cNvPr id="84" name="TextBox 83">
                <a:extLst>
                  <a:ext uri="{FF2B5EF4-FFF2-40B4-BE49-F238E27FC236}">
                    <a16:creationId xmlns:a16="http://schemas.microsoft.com/office/drawing/2014/main" id="{DDD055EF-F239-70D8-07FB-294C15A1336C}"/>
                  </a:ext>
                </a:extLst>
              </p:cNvPr>
              <p:cNvSpPr txBox="1"/>
              <p:nvPr/>
            </p:nvSpPr>
            <p:spPr>
              <a:xfrm>
                <a:off x="2721512" y="5934316"/>
                <a:ext cx="255198" cy="246221"/>
              </a:xfrm>
              <a:prstGeom prst="rect">
                <a:avLst/>
              </a:prstGeom>
              <a:noFill/>
            </p:spPr>
            <p:txBody>
              <a:bodyPr wrap="none" rtlCol="0">
                <a:noAutofit/>
              </a:bodyPr>
              <a:lstStyle/>
              <a:p>
                <a:r>
                  <a:rPr lang="en-US" sz="1000" dirty="0"/>
                  <a:t>0</a:t>
                </a:r>
              </a:p>
            </p:txBody>
          </p:sp>
          <p:sp>
            <p:nvSpPr>
              <p:cNvPr id="85" name="TextBox 84">
                <a:extLst>
                  <a:ext uri="{FF2B5EF4-FFF2-40B4-BE49-F238E27FC236}">
                    <a16:creationId xmlns:a16="http://schemas.microsoft.com/office/drawing/2014/main" id="{38DB5111-05B4-A231-B330-D6BDEE53CEA2}"/>
                  </a:ext>
                </a:extLst>
              </p:cNvPr>
              <p:cNvSpPr txBox="1"/>
              <p:nvPr/>
            </p:nvSpPr>
            <p:spPr>
              <a:xfrm>
                <a:off x="3063065" y="5934316"/>
                <a:ext cx="255198" cy="246221"/>
              </a:xfrm>
              <a:prstGeom prst="rect">
                <a:avLst/>
              </a:prstGeom>
              <a:noFill/>
            </p:spPr>
            <p:txBody>
              <a:bodyPr wrap="none" rtlCol="0">
                <a:noAutofit/>
              </a:bodyPr>
              <a:lstStyle/>
              <a:p>
                <a:r>
                  <a:rPr lang="en-US" sz="1000" dirty="0"/>
                  <a:t>2</a:t>
                </a:r>
              </a:p>
            </p:txBody>
          </p:sp>
          <p:sp>
            <p:nvSpPr>
              <p:cNvPr id="86" name="TextBox 85">
                <a:extLst>
                  <a:ext uri="{FF2B5EF4-FFF2-40B4-BE49-F238E27FC236}">
                    <a16:creationId xmlns:a16="http://schemas.microsoft.com/office/drawing/2014/main" id="{02233A53-E8AE-6E1B-31D9-66B04D580060}"/>
                  </a:ext>
                </a:extLst>
              </p:cNvPr>
              <p:cNvSpPr txBox="1"/>
              <p:nvPr/>
            </p:nvSpPr>
            <p:spPr>
              <a:xfrm>
                <a:off x="3422257" y="5934316"/>
                <a:ext cx="255198" cy="192182"/>
              </a:xfrm>
              <a:prstGeom prst="rect">
                <a:avLst/>
              </a:prstGeom>
              <a:noFill/>
            </p:spPr>
            <p:txBody>
              <a:bodyPr wrap="none" rtlCol="0">
                <a:noAutofit/>
              </a:bodyPr>
              <a:lstStyle/>
              <a:p>
                <a:r>
                  <a:rPr lang="en-US" sz="1000" dirty="0"/>
                  <a:t>4</a:t>
                </a:r>
              </a:p>
            </p:txBody>
          </p:sp>
          <p:grpSp>
            <p:nvGrpSpPr>
              <p:cNvPr id="87" name="Group 86">
                <a:extLst>
                  <a:ext uri="{FF2B5EF4-FFF2-40B4-BE49-F238E27FC236}">
                    <a16:creationId xmlns:a16="http://schemas.microsoft.com/office/drawing/2014/main" id="{24968A8C-0928-61D4-3508-E0A6D31D3035}"/>
                  </a:ext>
                </a:extLst>
              </p:cNvPr>
              <p:cNvGrpSpPr/>
              <p:nvPr/>
            </p:nvGrpSpPr>
            <p:grpSpPr>
              <a:xfrm>
                <a:off x="2373748" y="2669256"/>
                <a:ext cx="1436251" cy="3217561"/>
                <a:chOff x="1305692" y="3070520"/>
                <a:chExt cx="2132833" cy="4778080"/>
              </a:xfrm>
              <a:noFill/>
            </p:grpSpPr>
            <p:sp>
              <p:nvSpPr>
                <p:cNvPr id="94" name="Rectangle 93">
                  <a:extLst>
                    <a:ext uri="{FF2B5EF4-FFF2-40B4-BE49-F238E27FC236}">
                      <a16:creationId xmlns:a16="http://schemas.microsoft.com/office/drawing/2014/main" id="{2FC9C70D-1DBF-2CB6-2C25-835AE3EA259F}"/>
                    </a:ext>
                  </a:extLst>
                </p:cNvPr>
                <p:cNvSpPr/>
                <p:nvPr/>
              </p:nvSpPr>
              <p:spPr>
                <a:xfrm>
                  <a:off x="1371599" y="3124199"/>
                  <a:ext cx="2066926" cy="4724401"/>
                </a:xfrm>
                <a:prstGeom prst="rect">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grpSp>
              <p:nvGrpSpPr>
                <p:cNvPr id="95" name="Group 94">
                  <a:extLst>
                    <a:ext uri="{FF2B5EF4-FFF2-40B4-BE49-F238E27FC236}">
                      <a16:creationId xmlns:a16="http://schemas.microsoft.com/office/drawing/2014/main" id="{CC3AF288-B30E-E85B-F861-7B3669B2B780}"/>
                    </a:ext>
                  </a:extLst>
                </p:cNvPr>
                <p:cNvGrpSpPr/>
                <p:nvPr/>
              </p:nvGrpSpPr>
              <p:grpSpPr>
                <a:xfrm>
                  <a:off x="1409700" y="3070520"/>
                  <a:ext cx="1564482" cy="53461"/>
                  <a:chOff x="1409700" y="3070520"/>
                  <a:chExt cx="1564482" cy="53461"/>
                </a:xfrm>
                <a:grpFill/>
              </p:grpSpPr>
              <p:cxnSp>
                <p:nvCxnSpPr>
                  <p:cNvPr id="114" name="Straight Connector 113">
                    <a:extLst>
                      <a:ext uri="{FF2B5EF4-FFF2-40B4-BE49-F238E27FC236}">
                        <a16:creationId xmlns:a16="http://schemas.microsoft.com/office/drawing/2014/main" id="{384B4211-B2BC-5663-180E-BAB41903E6A1}"/>
                      </a:ext>
                    </a:extLst>
                  </p:cNvPr>
                  <p:cNvCxnSpPr/>
                  <p:nvPr/>
                </p:nvCxnSpPr>
                <p:spPr>
                  <a:xfrm flipV="1">
                    <a:off x="1409700" y="3070521"/>
                    <a:ext cx="0" cy="5346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31C87388-6C94-0902-94D6-CD860CD32D7C}"/>
                      </a:ext>
                    </a:extLst>
                  </p:cNvPr>
                  <p:cNvCxnSpPr/>
                  <p:nvPr/>
                </p:nvCxnSpPr>
                <p:spPr>
                  <a:xfrm flipV="1">
                    <a:off x="1933575" y="3070521"/>
                    <a:ext cx="0" cy="5346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9762A120-B6D6-C819-F4A5-0B3F60453E6B}"/>
                      </a:ext>
                    </a:extLst>
                  </p:cNvPr>
                  <p:cNvCxnSpPr/>
                  <p:nvPr/>
                </p:nvCxnSpPr>
                <p:spPr>
                  <a:xfrm flipV="1">
                    <a:off x="2450307" y="3070520"/>
                    <a:ext cx="0" cy="5346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2F1B0E85-A39B-A9C3-D784-0ED95A92BC5F}"/>
                      </a:ext>
                    </a:extLst>
                  </p:cNvPr>
                  <p:cNvCxnSpPr/>
                  <p:nvPr/>
                </p:nvCxnSpPr>
                <p:spPr>
                  <a:xfrm flipV="1">
                    <a:off x="2974182" y="3070521"/>
                    <a:ext cx="0" cy="5346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6" name="Group 95">
                  <a:extLst>
                    <a:ext uri="{FF2B5EF4-FFF2-40B4-BE49-F238E27FC236}">
                      <a16:creationId xmlns:a16="http://schemas.microsoft.com/office/drawing/2014/main" id="{6F6CFA2C-AB49-6963-35F2-E86E554CAD0F}"/>
                    </a:ext>
                  </a:extLst>
                </p:cNvPr>
                <p:cNvGrpSpPr/>
                <p:nvPr/>
              </p:nvGrpSpPr>
              <p:grpSpPr>
                <a:xfrm rot="16200000">
                  <a:off x="-490679" y="5335571"/>
                  <a:ext cx="3664744" cy="72001"/>
                  <a:chOff x="-690562" y="3040291"/>
                  <a:chExt cx="3664744" cy="72001"/>
                </a:xfrm>
                <a:grpFill/>
              </p:grpSpPr>
              <p:cxnSp>
                <p:nvCxnSpPr>
                  <p:cNvPr id="111" name="Straight Connector 110">
                    <a:extLst>
                      <a:ext uri="{FF2B5EF4-FFF2-40B4-BE49-F238E27FC236}">
                        <a16:creationId xmlns:a16="http://schemas.microsoft.com/office/drawing/2014/main" id="{A8ECEADD-2F1A-63C3-E0B4-F1CC31CEB19E}"/>
                      </a:ext>
                    </a:extLst>
                  </p:cNvPr>
                  <p:cNvCxnSpPr/>
                  <p:nvPr/>
                </p:nvCxnSpPr>
                <p:spPr>
                  <a:xfrm flipV="1">
                    <a:off x="-690562" y="3040292"/>
                    <a:ext cx="0" cy="720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D14FA76-AF85-FB9D-B57E-2C6FCC69B21E}"/>
                      </a:ext>
                    </a:extLst>
                  </p:cNvPr>
                  <p:cNvCxnSpPr>
                    <a:cxnSpLocks/>
                  </p:cNvCxnSpPr>
                  <p:nvPr/>
                </p:nvCxnSpPr>
                <p:spPr>
                  <a:xfrm flipV="1">
                    <a:off x="1754983" y="3040291"/>
                    <a:ext cx="0" cy="720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4700E139-0E8C-E4DD-C8E5-6ABEC05D71EA}"/>
                      </a:ext>
                    </a:extLst>
                  </p:cNvPr>
                  <p:cNvCxnSpPr>
                    <a:cxnSpLocks/>
                  </p:cNvCxnSpPr>
                  <p:nvPr/>
                </p:nvCxnSpPr>
                <p:spPr>
                  <a:xfrm flipV="1">
                    <a:off x="2974182" y="3040291"/>
                    <a:ext cx="0" cy="720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7" name="Freeform: Shape 96">
                  <a:extLst>
                    <a:ext uri="{FF2B5EF4-FFF2-40B4-BE49-F238E27FC236}">
                      <a16:creationId xmlns:a16="http://schemas.microsoft.com/office/drawing/2014/main" id="{62641B1B-B02B-6BA8-DB3A-DFDCCE0B13C8}"/>
                    </a:ext>
                  </a:extLst>
                </p:cNvPr>
                <p:cNvSpPr/>
                <p:nvPr/>
              </p:nvSpPr>
              <p:spPr>
                <a:xfrm>
                  <a:off x="1447669" y="4567238"/>
                  <a:ext cx="1757494" cy="178594"/>
                </a:xfrm>
                <a:custGeom>
                  <a:avLst/>
                  <a:gdLst>
                    <a:gd name="connsiteX0" fmla="*/ 0 w 1745457"/>
                    <a:gd name="connsiteY0" fmla="*/ 0 h 178593"/>
                    <a:gd name="connsiteX1" fmla="*/ 440532 w 1745457"/>
                    <a:gd name="connsiteY1" fmla="*/ 23812 h 178593"/>
                    <a:gd name="connsiteX2" fmla="*/ 778669 w 1745457"/>
                    <a:gd name="connsiteY2" fmla="*/ 61912 h 178593"/>
                    <a:gd name="connsiteX3" fmla="*/ 1009650 w 1745457"/>
                    <a:gd name="connsiteY3" fmla="*/ 130968 h 178593"/>
                    <a:gd name="connsiteX4" fmla="*/ 1126332 w 1745457"/>
                    <a:gd name="connsiteY4" fmla="*/ 145256 h 178593"/>
                    <a:gd name="connsiteX5" fmla="*/ 1557338 w 1745457"/>
                    <a:gd name="connsiteY5" fmla="*/ 159543 h 178593"/>
                    <a:gd name="connsiteX6" fmla="*/ 1745457 w 1745457"/>
                    <a:gd name="connsiteY6" fmla="*/ 178593 h 178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5457" h="178593">
                      <a:moveTo>
                        <a:pt x="0" y="0"/>
                      </a:moveTo>
                      <a:cubicBezTo>
                        <a:pt x="155377" y="6746"/>
                        <a:pt x="310754" y="13493"/>
                        <a:pt x="440532" y="23812"/>
                      </a:cubicBezTo>
                      <a:cubicBezTo>
                        <a:pt x="570310" y="34131"/>
                        <a:pt x="683816" y="44053"/>
                        <a:pt x="778669" y="61912"/>
                      </a:cubicBezTo>
                      <a:cubicBezTo>
                        <a:pt x="873522" y="79771"/>
                        <a:pt x="951706" y="117077"/>
                        <a:pt x="1009650" y="130968"/>
                      </a:cubicBezTo>
                      <a:cubicBezTo>
                        <a:pt x="1067594" y="144859"/>
                        <a:pt x="1035051" y="140494"/>
                        <a:pt x="1126332" y="145256"/>
                      </a:cubicBezTo>
                      <a:cubicBezTo>
                        <a:pt x="1217613" y="150018"/>
                        <a:pt x="1454151" y="153987"/>
                        <a:pt x="1557338" y="159543"/>
                      </a:cubicBezTo>
                      <a:cubicBezTo>
                        <a:pt x="1660525" y="165099"/>
                        <a:pt x="1702991" y="171846"/>
                        <a:pt x="1745457" y="178593"/>
                      </a:cubicBezTo>
                    </a:path>
                  </a:pathLst>
                </a:custGeom>
                <a:grp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98" name="Freeform: Shape 97">
                  <a:extLst>
                    <a:ext uri="{FF2B5EF4-FFF2-40B4-BE49-F238E27FC236}">
                      <a16:creationId xmlns:a16="http://schemas.microsoft.com/office/drawing/2014/main" id="{C21EB929-66D6-DEDC-F481-9D9305443DD8}"/>
                    </a:ext>
                  </a:extLst>
                </p:cNvPr>
                <p:cNvSpPr/>
                <p:nvPr/>
              </p:nvSpPr>
              <p:spPr>
                <a:xfrm>
                  <a:off x="1454944" y="3302794"/>
                  <a:ext cx="1214438" cy="1447800"/>
                </a:xfrm>
                <a:custGeom>
                  <a:avLst/>
                  <a:gdLst>
                    <a:gd name="connsiteX0" fmla="*/ 0 w 1193006"/>
                    <a:gd name="connsiteY0" fmla="*/ 0 h 1364456"/>
                    <a:gd name="connsiteX1" fmla="*/ 314325 w 1193006"/>
                    <a:gd name="connsiteY1" fmla="*/ 147637 h 1364456"/>
                    <a:gd name="connsiteX2" fmla="*/ 516731 w 1193006"/>
                    <a:gd name="connsiteY2" fmla="*/ 381000 h 1364456"/>
                    <a:gd name="connsiteX3" fmla="*/ 635794 w 1193006"/>
                    <a:gd name="connsiteY3" fmla="*/ 621506 h 1364456"/>
                    <a:gd name="connsiteX4" fmla="*/ 814387 w 1193006"/>
                    <a:gd name="connsiteY4" fmla="*/ 711994 h 1364456"/>
                    <a:gd name="connsiteX5" fmla="*/ 995362 w 1193006"/>
                    <a:gd name="connsiteY5" fmla="*/ 857250 h 1364456"/>
                    <a:gd name="connsiteX6" fmla="*/ 1100137 w 1193006"/>
                    <a:gd name="connsiteY6" fmla="*/ 1081087 h 1364456"/>
                    <a:gd name="connsiteX7" fmla="*/ 1193006 w 1193006"/>
                    <a:gd name="connsiteY7" fmla="*/ 1364456 h 1364456"/>
                    <a:gd name="connsiteX0" fmla="*/ 0 w 1214438"/>
                    <a:gd name="connsiteY0" fmla="*/ 0 h 1447800"/>
                    <a:gd name="connsiteX1" fmla="*/ 314325 w 1214438"/>
                    <a:gd name="connsiteY1" fmla="*/ 147637 h 1447800"/>
                    <a:gd name="connsiteX2" fmla="*/ 516731 w 1214438"/>
                    <a:gd name="connsiteY2" fmla="*/ 381000 h 1447800"/>
                    <a:gd name="connsiteX3" fmla="*/ 635794 w 1214438"/>
                    <a:gd name="connsiteY3" fmla="*/ 621506 h 1447800"/>
                    <a:gd name="connsiteX4" fmla="*/ 814387 w 1214438"/>
                    <a:gd name="connsiteY4" fmla="*/ 711994 h 1447800"/>
                    <a:gd name="connsiteX5" fmla="*/ 995362 w 1214438"/>
                    <a:gd name="connsiteY5" fmla="*/ 857250 h 1447800"/>
                    <a:gd name="connsiteX6" fmla="*/ 1100137 w 1214438"/>
                    <a:gd name="connsiteY6" fmla="*/ 1081087 h 1447800"/>
                    <a:gd name="connsiteX7" fmla="*/ 1214438 w 1214438"/>
                    <a:gd name="connsiteY7" fmla="*/ 1447800 h 1447800"/>
                    <a:gd name="connsiteX0" fmla="*/ 0 w 1214438"/>
                    <a:gd name="connsiteY0" fmla="*/ 0 h 1447800"/>
                    <a:gd name="connsiteX1" fmla="*/ 314325 w 1214438"/>
                    <a:gd name="connsiteY1" fmla="*/ 147637 h 1447800"/>
                    <a:gd name="connsiteX2" fmla="*/ 516731 w 1214438"/>
                    <a:gd name="connsiteY2" fmla="*/ 381000 h 1447800"/>
                    <a:gd name="connsiteX3" fmla="*/ 635794 w 1214438"/>
                    <a:gd name="connsiteY3" fmla="*/ 621506 h 1447800"/>
                    <a:gd name="connsiteX4" fmla="*/ 814387 w 1214438"/>
                    <a:gd name="connsiteY4" fmla="*/ 711994 h 1447800"/>
                    <a:gd name="connsiteX5" fmla="*/ 995362 w 1214438"/>
                    <a:gd name="connsiteY5" fmla="*/ 857250 h 1447800"/>
                    <a:gd name="connsiteX6" fmla="*/ 1100137 w 1214438"/>
                    <a:gd name="connsiteY6" fmla="*/ 1081087 h 1447800"/>
                    <a:gd name="connsiteX7" fmla="*/ 1200150 w 1214438"/>
                    <a:gd name="connsiteY7" fmla="*/ 1369219 h 1447800"/>
                    <a:gd name="connsiteX8" fmla="*/ 1214438 w 1214438"/>
                    <a:gd name="connsiteY8" fmla="*/ 1447800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4438" h="1447800">
                      <a:moveTo>
                        <a:pt x="0" y="0"/>
                      </a:moveTo>
                      <a:cubicBezTo>
                        <a:pt x="114101" y="42068"/>
                        <a:pt x="228203" y="84137"/>
                        <a:pt x="314325" y="147637"/>
                      </a:cubicBezTo>
                      <a:cubicBezTo>
                        <a:pt x="400447" y="211137"/>
                        <a:pt x="463153" y="302022"/>
                        <a:pt x="516731" y="381000"/>
                      </a:cubicBezTo>
                      <a:cubicBezTo>
                        <a:pt x="570309" y="459978"/>
                        <a:pt x="586185" y="566340"/>
                        <a:pt x="635794" y="621506"/>
                      </a:cubicBezTo>
                      <a:cubicBezTo>
                        <a:pt x="685403" y="676672"/>
                        <a:pt x="754459" y="672703"/>
                        <a:pt x="814387" y="711994"/>
                      </a:cubicBezTo>
                      <a:cubicBezTo>
                        <a:pt x="874315" y="751285"/>
                        <a:pt x="947737" y="795735"/>
                        <a:pt x="995362" y="857250"/>
                      </a:cubicBezTo>
                      <a:cubicBezTo>
                        <a:pt x="1042987" y="918765"/>
                        <a:pt x="1067990" y="996553"/>
                        <a:pt x="1100137" y="1081087"/>
                      </a:cubicBezTo>
                      <a:cubicBezTo>
                        <a:pt x="1132284" y="1165621"/>
                        <a:pt x="1181100" y="1308100"/>
                        <a:pt x="1200150" y="1369219"/>
                      </a:cubicBezTo>
                      <a:cubicBezTo>
                        <a:pt x="1219200" y="1430338"/>
                        <a:pt x="1210072" y="1433909"/>
                        <a:pt x="1214438" y="1447800"/>
                      </a:cubicBezTo>
                    </a:path>
                  </a:pathLst>
                </a:custGeom>
                <a:grp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99" name="Freeform: Shape 98">
                  <a:extLst>
                    <a:ext uri="{FF2B5EF4-FFF2-40B4-BE49-F238E27FC236}">
                      <a16:creationId xmlns:a16="http://schemas.microsoft.com/office/drawing/2014/main" id="{22C934EE-473A-1788-71DE-61473CC1E6FE}"/>
                    </a:ext>
                  </a:extLst>
                </p:cNvPr>
                <p:cNvSpPr/>
                <p:nvPr/>
              </p:nvSpPr>
              <p:spPr>
                <a:xfrm>
                  <a:off x="1440656" y="4605338"/>
                  <a:ext cx="1854994" cy="141557"/>
                </a:xfrm>
                <a:custGeom>
                  <a:avLst/>
                  <a:gdLst>
                    <a:gd name="connsiteX0" fmla="*/ 0 w 1854994"/>
                    <a:gd name="connsiteY0" fmla="*/ 0 h 141557"/>
                    <a:gd name="connsiteX1" fmla="*/ 352425 w 1854994"/>
                    <a:gd name="connsiteY1" fmla="*/ 11906 h 141557"/>
                    <a:gd name="connsiteX2" fmla="*/ 550069 w 1854994"/>
                    <a:gd name="connsiteY2" fmla="*/ 19050 h 141557"/>
                    <a:gd name="connsiteX3" fmla="*/ 752475 w 1854994"/>
                    <a:gd name="connsiteY3" fmla="*/ 40481 h 141557"/>
                    <a:gd name="connsiteX4" fmla="*/ 971550 w 1854994"/>
                    <a:gd name="connsiteY4" fmla="*/ 88106 h 141557"/>
                    <a:gd name="connsiteX5" fmla="*/ 1162050 w 1854994"/>
                    <a:gd name="connsiteY5" fmla="*/ 95250 h 141557"/>
                    <a:gd name="connsiteX6" fmla="*/ 1547813 w 1854994"/>
                    <a:gd name="connsiteY6" fmla="*/ 111918 h 141557"/>
                    <a:gd name="connsiteX7" fmla="*/ 1683544 w 1854994"/>
                    <a:gd name="connsiteY7" fmla="*/ 138112 h 141557"/>
                    <a:gd name="connsiteX8" fmla="*/ 1854994 w 1854994"/>
                    <a:gd name="connsiteY8" fmla="*/ 140493 h 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4994" h="141557">
                      <a:moveTo>
                        <a:pt x="0" y="0"/>
                      </a:moveTo>
                      <a:lnTo>
                        <a:pt x="352425" y="11906"/>
                      </a:lnTo>
                      <a:cubicBezTo>
                        <a:pt x="444103" y="15081"/>
                        <a:pt x="483394" y="14288"/>
                        <a:pt x="550069" y="19050"/>
                      </a:cubicBezTo>
                      <a:cubicBezTo>
                        <a:pt x="616744" y="23813"/>
                        <a:pt x="682228" y="28972"/>
                        <a:pt x="752475" y="40481"/>
                      </a:cubicBezTo>
                      <a:cubicBezTo>
                        <a:pt x="822722" y="51990"/>
                        <a:pt x="903288" y="78978"/>
                        <a:pt x="971550" y="88106"/>
                      </a:cubicBezTo>
                      <a:cubicBezTo>
                        <a:pt x="1039812" y="97234"/>
                        <a:pt x="1162050" y="95250"/>
                        <a:pt x="1162050" y="95250"/>
                      </a:cubicBezTo>
                      <a:cubicBezTo>
                        <a:pt x="1258094" y="99219"/>
                        <a:pt x="1460897" y="104774"/>
                        <a:pt x="1547813" y="111918"/>
                      </a:cubicBezTo>
                      <a:cubicBezTo>
                        <a:pt x="1634729" y="119062"/>
                        <a:pt x="1632347" y="133350"/>
                        <a:pt x="1683544" y="138112"/>
                      </a:cubicBezTo>
                      <a:cubicBezTo>
                        <a:pt x="1734741" y="142874"/>
                        <a:pt x="1794867" y="141683"/>
                        <a:pt x="1854994" y="140493"/>
                      </a:cubicBezTo>
                    </a:path>
                  </a:pathLst>
                </a:custGeom>
                <a:grpFill/>
                <a:ln w="127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00" name="Freeform: Shape 99">
                  <a:extLst>
                    <a:ext uri="{FF2B5EF4-FFF2-40B4-BE49-F238E27FC236}">
                      <a16:creationId xmlns:a16="http://schemas.microsoft.com/office/drawing/2014/main" id="{2B0420CE-84D0-6B38-1AE3-730C93A881CC}"/>
                    </a:ext>
                  </a:extLst>
                </p:cNvPr>
                <p:cNvSpPr/>
                <p:nvPr/>
              </p:nvSpPr>
              <p:spPr>
                <a:xfrm>
                  <a:off x="1457325" y="4674394"/>
                  <a:ext cx="590550" cy="92782"/>
                </a:xfrm>
                <a:custGeom>
                  <a:avLst/>
                  <a:gdLst>
                    <a:gd name="connsiteX0" fmla="*/ 0 w 590550"/>
                    <a:gd name="connsiteY0" fmla="*/ 0 h 92782"/>
                    <a:gd name="connsiteX1" fmla="*/ 161925 w 590550"/>
                    <a:gd name="connsiteY1" fmla="*/ 16669 h 92782"/>
                    <a:gd name="connsiteX2" fmla="*/ 478631 w 590550"/>
                    <a:gd name="connsiteY2" fmla="*/ 59531 h 92782"/>
                    <a:gd name="connsiteX3" fmla="*/ 404813 w 590550"/>
                    <a:gd name="connsiteY3" fmla="*/ 90487 h 92782"/>
                    <a:gd name="connsiteX4" fmla="*/ 590550 w 590550"/>
                    <a:gd name="connsiteY4" fmla="*/ 88106 h 92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92782">
                      <a:moveTo>
                        <a:pt x="0" y="0"/>
                      </a:moveTo>
                      <a:cubicBezTo>
                        <a:pt x="41076" y="3373"/>
                        <a:pt x="82153" y="6747"/>
                        <a:pt x="161925" y="16669"/>
                      </a:cubicBezTo>
                      <a:cubicBezTo>
                        <a:pt x="241697" y="26591"/>
                        <a:pt x="438150" y="47228"/>
                        <a:pt x="478631" y="59531"/>
                      </a:cubicBezTo>
                      <a:cubicBezTo>
                        <a:pt x="519112" y="71834"/>
                        <a:pt x="386160" y="85725"/>
                        <a:pt x="404813" y="90487"/>
                      </a:cubicBezTo>
                      <a:cubicBezTo>
                        <a:pt x="423466" y="95249"/>
                        <a:pt x="507008" y="91677"/>
                        <a:pt x="590550" y="88106"/>
                      </a:cubicBezTo>
                    </a:path>
                  </a:pathLst>
                </a:custGeom>
                <a:grp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01" name="Freeform: Shape 100">
                  <a:extLst>
                    <a:ext uri="{FF2B5EF4-FFF2-40B4-BE49-F238E27FC236}">
                      <a16:creationId xmlns:a16="http://schemas.microsoft.com/office/drawing/2014/main" id="{537F7D23-ADDF-049A-EDBA-D0F185D69CF7}"/>
                    </a:ext>
                  </a:extLst>
                </p:cNvPr>
                <p:cNvSpPr/>
                <p:nvPr/>
              </p:nvSpPr>
              <p:spPr>
                <a:xfrm>
                  <a:off x="1461294" y="4775199"/>
                  <a:ext cx="1580356" cy="2900445"/>
                </a:xfrm>
                <a:custGeom>
                  <a:avLst/>
                  <a:gdLst>
                    <a:gd name="connsiteX0" fmla="*/ 1549400 w 1549400"/>
                    <a:gd name="connsiteY0" fmla="*/ 0 h 2915841"/>
                    <a:gd name="connsiteX1" fmla="*/ 1422400 w 1549400"/>
                    <a:gd name="connsiteY1" fmla="*/ 1365250 h 2915841"/>
                    <a:gd name="connsiteX2" fmla="*/ 1212850 w 1549400"/>
                    <a:gd name="connsiteY2" fmla="*/ 2413000 h 2915841"/>
                    <a:gd name="connsiteX3" fmla="*/ 990600 w 1549400"/>
                    <a:gd name="connsiteY3" fmla="*/ 2863850 h 2915841"/>
                    <a:gd name="connsiteX4" fmla="*/ 609600 w 1549400"/>
                    <a:gd name="connsiteY4" fmla="*/ 2901950 h 2915841"/>
                    <a:gd name="connsiteX5" fmla="*/ 444500 w 1549400"/>
                    <a:gd name="connsiteY5" fmla="*/ 2825750 h 2915841"/>
                    <a:gd name="connsiteX6" fmla="*/ 0 w 1549400"/>
                    <a:gd name="connsiteY6" fmla="*/ 2832100 h 2915841"/>
                    <a:gd name="connsiteX0" fmla="*/ 1580356 w 1580356"/>
                    <a:gd name="connsiteY0" fmla="*/ 0 h 2915841"/>
                    <a:gd name="connsiteX1" fmla="*/ 1453356 w 1580356"/>
                    <a:gd name="connsiteY1" fmla="*/ 1365250 h 2915841"/>
                    <a:gd name="connsiteX2" fmla="*/ 1243806 w 1580356"/>
                    <a:gd name="connsiteY2" fmla="*/ 2413000 h 2915841"/>
                    <a:gd name="connsiteX3" fmla="*/ 1021556 w 1580356"/>
                    <a:gd name="connsiteY3" fmla="*/ 2863850 h 2915841"/>
                    <a:gd name="connsiteX4" fmla="*/ 640556 w 1580356"/>
                    <a:gd name="connsiteY4" fmla="*/ 2901950 h 2915841"/>
                    <a:gd name="connsiteX5" fmla="*/ 475456 w 1580356"/>
                    <a:gd name="connsiteY5" fmla="*/ 2825750 h 2915841"/>
                    <a:gd name="connsiteX6" fmla="*/ 0 w 1580356"/>
                    <a:gd name="connsiteY6" fmla="*/ 2829719 h 2915841"/>
                    <a:gd name="connsiteX0" fmla="*/ 1580356 w 1580356"/>
                    <a:gd name="connsiteY0" fmla="*/ 0 h 2911972"/>
                    <a:gd name="connsiteX1" fmla="*/ 1453356 w 1580356"/>
                    <a:gd name="connsiteY1" fmla="*/ 1365250 h 2911972"/>
                    <a:gd name="connsiteX2" fmla="*/ 1243806 w 1580356"/>
                    <a:gd name="connsiteY2" fmla="*/ 2413000 h 2911972"/>
                    <a:gd name="connsiteX3" fmla="*/ 1021556 w 1580356"/>
                    <a:gd name="connsiteY3" fmla="*/ 2863850 h 2911972"/>
                    <a:gd name="connsiteX4" fmla="*/ 642937 w 1580356"/>
                    <a:gd name="connsiteY4" fmla="*/ 2894806 h 2911972"/>
                    <a:gd name="connsiteX5" fmla="*/ 475456 w 1580356"/>
                    <a:gd name="connsiteY5" fmla="*/ 2825750 h 2911972"/>
                    <a:gd name="connsiteX6" fmla="*/ 0 w 1580356"/>
                    <a:gd name="connsiteY6" fmla="*/ 2829719 h 2911972"/>
                    <a:gd name="connsiteX0" fmla="*/ 1580356 w 1580356"/>
                    <a:gd name="connsiteY0" fmla="*/ 0 h 2899703"/>
                    <a:gd name="connsiteX1" fmla="*/ 1453356 w 1580356"/>
                    <a:gd name="connsiteY1" fmla="*/ 1365250 h 2899703"/>
                    <a:gd name="connsiteX2" fmla="*/ 1243806 w 1580356"/>
                    <a:gd name="connsiteY2" fmla="*/ 2413000 h 2899703"/>
                    <a:gd name="connsiteX3" fmla="*/ 1021556 w 1580356"/>
                    <a:gd name="connsiteY3" fmla="*/ 2840038 h 2899703"/>
                    <a:gd name="connsiteX4" fmla="*/ 642937 w 1580356"/>
                    <a:gd name="connsiteY4" fmla="*/ 2894806 h 2899703"/>
                    <a:gd name="connsiteX5" fmla="*/ 475456 w 1580356"/>
                    <a:gd name="connsiteY5" fmla="*/ 2825750 h 2899703"/>
                    <a:gd name="connsiteX6" fmla="*/ 0 w 1580356"/>
                    <a:gd name="connsiteY6" fmla="*/ 2829719 h 2899703"/>
                    <a:gd name="connsiteX0" fmla="*/ 1580356 w 1580356"/>
                    <a:gd name="connsiteY0" fmla="*/ 0 h 2902534"/>
                    <a:gd name="connsiteX1" fmla="*/ 1453356 w 1580356"/>
                    <a:gd name="connsiteY1" fmla="*/ 1365250 h 2902534"/>
                    <a:gd name="connsiteX2" fmla="*/ 1243806 w 1580356"/>
                    <a:gd name="connsiteY2" fmla="*/ 2413000 h 2902534"/>
                    <a:gd name="connsiteX3" fmla="*/ 1021556 w 1580356"/>
                    <a:gd name="connsiteY3" fmla="*/ 2840038 h 2902534"/>
                    <a:gd name="connsiteX4" fmla="*/ 642937 w 1580356"/>
                    <a:gd name="connsiteY4" fmla="*/ 2894806 h 2902534"/>
                    <a:gd name="connsiteX5" fmla="*/ 475456 w 1580356"/>
                    <a:gd name="connsiteY5" fmla="*/ 2825750 h 2902534"/>
                    <a:gd name="connsiteX6" fmla="*/ 0 w 1580356"/>
                    <a:gd name="connsiteY6" fmla="*/ 2829719 h 2902534"/>
                    <a:gd name="connsiteX0" fmla="*/ 1580356 w 1580356"/>
                    <a:gd name="connsiteY0" fmla="*/ 0 h 2898511"/>
                    <a:gd name="connsiteX1" fmla="*/ 1453356 w 1580356"/>
                    <a:gd name="connsiteY1" fmla="*/ 1365250 h 2898511"/>
                    <a:gd name="connsiteX2" fmla="*/ 1243806 w 1580356"/>
                    <a:gd name="connsiteY2" fmla="*/ 2413000 h 2898511"/>
                    <a:gd name="connsiteX3" fmla="*/ 1042987 w 1580356"/>
                    <a:gd name="connsiteY3" fmla="*/ 2830513 h 2898511"/>
                    <a:gd name="connsiteX4" fmla="*/ 642937 w 1580356"/>
                    <a:gd name="connsiteY4" fmla="*/ 2894806 h 2898511"/>
                    <a:gd name="connsiteX5" fmla="*/ 475456 w 1580356"/>
                    <a:gd name="connsiteY5" fmla="*/ 2825750 h 2898511"/>
                    <a:gd name="connsiteX6" fmla="*/ 0 w 1580356"/>
                    <a:gd name="connsiteY6" fmla="*/ 2829719 h 2898511"/>
                    <a:gd name="connsiteX0" fmla="*/ 1580356 w 1580356"/>
                    <a:gd name="connsiteY0" fmla="*/ 0 h 2900445"/>
                    <a:gd name="connsiteX1" fmla="*/ 1453356 w 1580356"/>
                    <a:gd name="connsiteY1" fmla="*/ 1365250 h 2900445"/>
                    <a:gd name="connsiteX2" fmla="*/ 1243806 w 1580356"/>
                    <a:gd name="connsiteY2" fmla="*/ 2413000 h 2900445"/>
                    <a:gd name="connsiteX3" fmla="*/ 1042987 w 1580356"/>
                    <a:gd name="connsiteY3" fmla="*/ 2830513 h 2900445"/>
                    <a:gd name="connsiteX4" fmla="*/ 642937 w 1580356"/>
                    <a:gd name="connsiteY4" fmla="*/ 2894806 h 2900445"/>
                    <a:gd name="connsiteX5" fmla="*/ 475456 w 1580356"/>
                    <a:gd name="connsiteY5" fmla="*/ 2825750 h 2900445"/>
                    <a:gd name="connsiteX6" fmla="*/ 0 w 1580356"/>
                    <a:gd name="connsiteY6" fmla="*/ 2829719 h 2900445"/>
                    <a:gd name="connsiteX0" fmla="*/ 1580356 w 1580356"/>
                    <a:gd name="connsiteY0" fmla="*/ 0 h 2900445"/>
                    <a:gd name="connsiteX1" fmla="*/ 1453356 w 1580356"/>
                    <a:gd name="connsiteY1" fmla="*/ 1365250 h 2900445"/>
                    <a:gd name="connsiteX2" fmla="*/ 1243806 w 1580356"/>
                    <a:gd name="connsiteY2" fmla="*/ 2413000 h 2900445"/>
                    <a:gd name="connsiteX3" fmla="*/ 1042987 w 1580356"/>
                    <a:gd name="connsiteY3" fmla="*/ 2830513 h 2900445"/>
                    <a:gd name="connsiteX4" fmla="*/ 642937 w 1580356"/>
                    <a:gd name="connsiteY4" fmla="*/ 2894806 h 2900445"/>
                    <a:gd name="connsiteX5" fmla="*/ 475456 w 1580356"/>
                    <a:gd name="connsiteY5" fmla="*/ 2825750 h 2900445"/>
                    <a:gd name="connsiteX6" fmla="*/ 0 w 1580356"/>
                    <a:gd name="connsiteY6" fmla="*/ 2829719 h 290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0356" h="2900445">
                      <a:moveTo>
                        <a:pt x="1580356" y="0"/>
                      </a:moveTo>
                      <a:cubicBezTo>
                        <a:pt x="1544902" y="481541"/>
                        <a:pt x="1509448" y="963083"/>
                        <a:pt x="1453356" y="1365250"/>
                      </a:cubicBezTo>
                      <a:cubicBezTo>
                        <a:pt x="1397264" y="1767417"/>
                        <a:pt x="1328869" y="2173553"/>
                        <a:pt x="1243806" y="2413000"/>
                      </a:cubicBezTo>
                      <a:cubicBezTo>
                        <a:pt x="1158743" y="2652447"/>
                        <a:pt x="1105032" y="2733543"/>
                        <a:pt x="1042987" y="2830513"/>
                      </a:cubicBezTo>
                      <a:cubicBezTo>
                        <a:pt x="980942" y="2927483"/>
                        <a:pt x="737525" y="2895600"/>
                        <a:pt x="642937" y="2894806"/>
                      </a:cubicBezTo>
                      <a:cubicBezTo>
                        <a:pt x="548349" y="2894012"/>
                        <a:pt x="577056" y="2837392"/>
                        <a:pt x="475456" y="2825750"/>
                      </a:cubicBezTo>
                      <a:cubicBezTo>
                        <a:pt x="373856" y="2814108"/>
                        <a:pt x="171450" y="2820723"/>
                        <a:pt x="0" y="2829719"/>
                      </a:cubicBezTo>
                    </a:path>
                  </a:pathLst>
                </a:custGeom>
                <a:grp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02" name="Freeform: Shape 101">
                  <a:extLst>
                    <a:ext uri="{FF2B5EF4-FFF2-40B4-BE49-F238E27FC236}">
                      <a16:creationId xmlns:a16="http://schemas.microsoft.com/office/drawing/2014/main" id="{4B750C39-0836-2E04-45D9-57F08CD35B4B}"/>
                    </a:ext>
                  </a:extLst>
                </p:cNvPr>
                <p:cNvSpPr/>
                <p:nvPr/>
              </p:nvSpPr>
              <p:spPr>
                <a:xfrm>
                  <a:off x="1472394" y="4740349"/>
                  <a:ext cx="759620" cy="18302"/>
                </a:xfrm>
                <a:custGeom>
                  <a:avLst/>
                  <a:gdLst>
                    <a:gd name="connsiteX0" fmla="*/ 0 w 779078"/>
                    <a:gd name="connsiteY0" fmla="*/ 16699 h 21462"/>
                    <a:gd name="connsiteX1" fmla="*/ 280988 w 779078"/>
                    <a:gd name="connsiteY1" fmla="*/ 16699 h 21462"/>
                    <a:gd name="connsiteX2" fmla="*/ 704850 w 779078"/>
                    <a:gd name="connsiteY2" fmla="*/ 31 h 21462"/>
                    <a:gd name="connsiteX3" fmla="*/ 776288 w 779078"/>
                    <a:gd name="connsiteY3" fmla="*/ 21462 h 21462"/>
                    <a:gd name="connsiteX0" fmla="*/ 0 w 776288"/>
                    <a:gd name="connsiteY0" fmla="*/ 16699 h 21462"/>
                    <a:gd name="connsiteX1" fmla="*/ 280988 w 776288"/>
                    <a:gd name="connsiteY1" fmla="*/ 16699 h 21462"/>
                    <a:gd name="connsiteX2" fmla="*/ 704850 w 776288"/>
                    <a:gd name="connsiteY2" fmla="*/ 31 h 21462"/>
                    <a:gd name="connsiteX3" fmla="*/ 776288 w 776288"/>
                    <a:gd name="connsiteY3" fmla="*/ 21462 h 21462"/>
                    <a:gd name="connsiteX0" fmla="*/ 0 w 776288"/>
                    <a:gd name="connsiteY0" fmla="*/ 16699 h 21462"/>
                    <a:gd name="connsiteX1" fmla="*/ 280988 w 776288"/>
                    <a:gd name="connsiteY1" fmla="*/ 16699 h 21462"/>
                    <a:gd name="connsiteX2" fmla="*/ 704850 w 776288"/>
                    <a:gd name="connsiteY2" fmla="*/ 31 h 21462"/>
                    <a:gd name="connsiteX3" fmla="*/ 776288 w 776288"/>
                    <a:gd name="connsiteY3" fmla="*/ 21462 h 21462"/>
                    <a:gd name="connsiteX0" fmla="*/ 0 w 754857"/>
                    <a:gd name="connsiteY0" fmla="*/ 16699 h 18302"/>
                    <a:gd name="connsiteX1" fmla="*/ 280988 w 754857"/>
                    <a:gd name="connsiteY1" fmla="*/ 16699 h 18302"/>
                    <a:gd name="connsiteX2" fmla="*/ 704850 w 754857"/>
                    <a:gd name="connsiteY2" fmla="*/ 31 h 18302"/>
                    <a:gd name="connsiteX3" fmla="*/ 754857 w 754857"/>
                    <a:gd name="connsiteY3" fmla="*/ 16699 h 18302"/>
                    <a:gd name="connsiteX0" fmla="*/ 0 w 754857"/>
                    <a:gd name="connsiteY0" fmla="*/ 16699 h 18302"/>
                    <a:gd name="connsiteX1" fmla="*/ 280988 w 754857"/>
                    <a:gd name="connsiteY1" fmla="*/ 16699 h 18302"/>
                    <a:gd name="connsiteX2" fmla="*/ 681037 w 754857"/>
                    <a:gd name="connsiteY2" fmla="*/ 31 h 18302"/>
                    <a:gd name="connsiteX3" fmla="*/ 754857 w 754857"/>
                    <a:gd name="connsiteY3" fmla="*/ 16699 h 18302"/>
                    <a:gd name="connsiteX0" fmla="*/ 0 w 754857"/>
                    <a:gd name="connsiteY0" fmla="*/ 16699 h 18302"/>
                    <a:gd name="connsiteX1" fmla="*/ 280988 w 754857"/>
                    <a:gd name="connsiteY1" fmla="*/ 16699 h 18302"/>
                    <a:gd name="connsiteX2" fmla="*/ 681037 w 754857"/>
                    <a:gd name="connsiteY2" fmla="*/ 31 h 18302"/>
                    <a:gd name="connsiteX3" fmla="*/ 754857 w 754857"/>
                    <a:gd name="connsiteY3" fmla="*/ 9555 h 18302"/>
                    <a:gd name="connsiteX0" fmla="*/ 0 w 759620"/>
                    <a:gd name="connsiteY0" fmla="*/ 16699 h 18302"/>
                    <a:gd name="connsiteX1" fmla="*/ 280988 w 759620"/>
                    <a:gd name="connsiteY1" fmla="*/ 16699 h 18302"/>
                    <a:gd name="connsiteX2" fmla="*/ 681037 w 759620"/>
                    <a:gd name="connsiteY2" fmla="*/ 31 h 18302"/>
                    <a:gd name="connsiteX3" fmla="*/ 759620 w 759620"/>
                    <a:gd name="connsiteY3" fmla="*/ 7174 h 18302"/>
                  </a:gdLst>
                  <a:ahLst/>
                  <a:cxnLst>
                    <a:cxn ang="0">
                      <a:pos x="connsiteX0" y="connsiteY0"/>
                    </a:cxn>
                    <a:cxn ang="0">
                      <a:pos x="connsiteX1" y="connsiteY1"/>
                    </a:cxn>
                    <a:cxn ang="0">
                      <a:pos x="connsiteX2" y="connsiteY2"/>
                    </a:cxn>
                    <a:cxn ang="0">
                      <a:pos x="connsiteX3" y="connsiteY3"/>
                    </a:cxn>
                  </a:cxnLst>
                  <a:rect l="l" t="t" r="r" b="b"/>
                  <a:pathLst>
                    <a:path w="759620" h="18302">
                      <a:moveTo>
                        <a:pt x="0" y="16699"/>
                      </a:moveTo>
                      <a:cubicBezTo>
                        <a:pt x="81756" y="18088"/>
                        <a:pt x="167482" y="19477"/>
                        <a:pt x="280988" y="16699"/>
                      </a:cubicBezTo>
                      <a:cubicBezTo>
                        <a:pt x="394494" y="13921"/>
                        <a:pt x="598487" y="-763"/>
                        <a:pt x="681037" y="31"/>
                      </a:cubicBezTo>
                      <a:cubicBezTo>
                        <a:pt x="713580" y="5587"/>
                        <a:pt x="708026" y="-764"/>
                        <a:pt x="759620" y="7174"/>
                      </a:cubicBezTo>
                    </a:path>
                  </a:pathLst>
                </a:custGeom>
                <a:grp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03" name="Freeform: Shape 102">
                  <a:extLst>
                    <a:ext uri="{FF2B5EF4-FFF2-40B4-BE49-F238E27FC236}">
                      <a16:creationId xmlns:a16="http://schemas.microsoft.com/office/drawing/2014/main" id="{AB87E4BA-E7DF-1C7B-C915-58CFDDED0B22}"/>
                    </a:ext>
                  </a:extLst>
                </p:cNvPr>
                <p:cNvSpPr/>
                <p:nvPr/>
              </p:nvSpPr>
              <p:spPr>
                <a:xfrm>
                  <a:off x="1464469" y="4733925"/>
                  <a:ext cx="335756" cy="7144"/>
                </a:xfrm>
                <a:custGeom>
                  <a:avLst/>
                  <a:gdLst>
                    <a:gd name="connsiteX0" fmla="*/ 0 w 335756"/>
                    <a:gd name="connsiteY0" fmla="*/ 0 h 7144"/>
                    <a:gd name="connsiteX1" fmla="*/ 335756 w 335756"/>
                    <a:gd name="connsiteY1" fmla="*/ 7144 h 7144"/>
                  </a:gdLst>
                  <a:ahLst/>
                  <a:cxnLst>
                    <a:cxn ang="0">
                      <a:pos x="connsiteX0" y="connsiteY0"/>
                    </a:cxn>
                    <a:cxn ang="0">
                      <a:pos x="connsiteX1" y="connsiteY1"/>
                    </a:cxn>
                  </a:cxnLst>
                  <a:rect l="l" t="t" r="r" b="b"/>
                  <a:pathLst>
                    <a:path w="335756" h="7144">
                      <a:moveTo>
                        <a:pt x="0" y="0"/>
                      </a:moveTo>
                      <a:lnTo>
                        <a:pt x="335756" y="7144"/>
                      </a:lnTo>
                    </a:path>
                  </a:pathLst>
                </a:custGeom>
                <a:grpFill/>
                <a:ln w="127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04" name="Freeform: Shape 103">
                  <a:extLst>
                    <a:ext uri="{FF2B5EF4-FFF2-40B4-BE49-F238E27FC236}">
                      <a16:creationId xmlns:a16="http://schemas.microsoft.com/office/drawing/2014/main" id="{B571C711-B2D6-B08F-0C25-E82AC73D5974}"/>
                    </a:ext>
                  </a:extLst>
                </p:cNvPr>
                <p:cNvSpPr/>
                <p:nvPr/>
              </p:nvSpPr>
              <p:spPr>
                <a:xfrm>
                  <a:off x="2231231" y="4745831"/>
                  <a:ext cx="697707" cy="7144"/>
                </a:xfrm>
                <a:custGeom>
                  <a:avLst/>
                  <a:gdLst>
                    <a:gd name="connsiteX0" fmla="*/ 0 w 697707"/>
                    <a:gd name="connsiteY0" fmla="*/ 0 h 7144"/>
                    <a:gd name="connsiteX1" fmla="*/ 697707 w 697707"/>
                    <a:gd name="connsiteY1" fmla="*/ 7144 h 7144"/>
                  </a:gdLst>
                  <a:ahLst/>
                  <a:cxnLst>
                    <a:cxn ang="0">
                      <a:pos x="connsiteX0" y="connsiteY0"/>
                    </a:cxn>
                    <a:cxn ang="0">
                      <a:pos x="connsiteX1" y="connsiteY1"/>
                    </a:cxn>
                  </a:cxnLst>
                  <a:rect l="l" t="t" r="r" b="b"/>
                  <a:pathLst>
                    <a:path w="697707" h="7144">
                      <a:moveTo>
                        <a:pt x="0" y="0"/>
                      </a:moveTo>
                      <a:lnTo>
                        <a:pt x="697707" y="7144"/>
                      </a:lnTo>
                    </a:path>
                  </a:pathLst>
                </a:custGeom>
                <a:grp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05" name="Freeform: Shape 104">
                  <a:extLst>
                    <a:ext uri="{FF2B5EF4-FFF2-40B4-BE49-F238E27FC236}">
                      <a16:creationId xmlns:a16="http://schemas.microsoft.com/office/drawing/2014/main" id="{170DDB13-3CD9-DD46-7595-992BDBD30F41}"/>
                    </a:ext>
                  </a:extLst>
                </p:cNvPr>
                <p:cNvSpPr/>
                <p:nvPr/>
              </p:nvSpPr>
              <p:spPr>
                <a:xfrm>
                  <a:off x="1462088" y="4764881"/>
                  <a:ext cx="552450" cy="47625"/>
                </a:xfrm>
                <a:custGeom>
                  <a:avLst/>
                  <a:gdLst>
                    <a:gd name="connsiteX0" fmla="*/ 0 w 552450"/>
                    <a:gd name="connsiteY0" fmla="*/ 42863 h 47625"/>
                    <a:gd name="connsiteX1" fmla="*/ 295275 w 552450"/>
                    <a:gd name="connsiteY1" fmla="*/ 47625 h 47625"/>
                    <a:gd name="connsiteX2" fmla="*/ 466725 w 552450"/>
                    <a:gd name="connsiteY2" fmla="*/ 4763 h 47625"/>
                    <a:gd name="connsiteX3" fmla="*/ 552450 w 552450"/>
                    <a:gd name="connsiteY3" fmla="*/ 0 h 47625"/>
                  </a:gdLst>
                  <a:ahLst/>
                  <a:cxnLst>
                    <a:cxn ang="0">
                      <a:pos x="connsiteX0" y="connsiteY0"/>
                    </a:cxn>
                    <a:cxn ang="0">
                      <a:pos x="connsiteX1" y="connsiteY1"/>
                    </a:cxn>
                    <a:cxn ang="0">
                      <a:pos x="connsiteX2" y="connsiteY2"/>
                    </a:cxn>
                    <a:cxn ang="0">
                      <a:pos x="connsiteX3" y="connsiteY3"/>
                    </a:cxn>
                  </a:cxnLst>
                  <a:rect l="l" t="t" r="r" b="b"/>
                  <a:pathLst>
                    <a:path w="552450" h="47625">
                      <a:moveTo>
                        <a:pt x="0" y="42863"/>
                      </a:moveTo>
                      <a:lnTo>
                        <a:pt x="295275" y="47625"/>
                      </a:lnTo>
                      <a:lnTo>
                        <a:pt x="466725" y="4763"/>
                      </a:lnTo>
                      <a:lnTo>
                        <a:pt x="552450" y="0"/>
                      </a:lnTo>
                    </a:path>
                  </a:pathLst>
                </a:custGeom>
                <a:grp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06" name="Freeform: Shape 105">
                  <a:extLst>
                    <a:ext uri="{FF2B5EF4-FFF2-40B4-BE49-F238E27FC236}">
                      <a16:creationId xmlns:a16="http://schemas.microsoft.com/office/drawing/2014/main" id="{DE682A47-ADA6-345C-B05E-060F13FABCB3}"/>
                    </a:ext>
                  </a:extLst>
                </p:cNvPr>
                <p:cNvSpPr/>
                <p:nvPr/>
              </p:nvSpPr>
              <p:spPr>
                <a:xfrm>
                  <a:off x="1462088" y="4774406"/>
                  <a:ext cx="1028700" cy="66675"/>
                </a:xfrm>
                <a:custGeom>
                  <a:avLst/>
                  <a:gdLst>
                    <a:gd name="connsiteX0" fmla="*/ 0 w 1028700"/>
                    <a:gd name="connsiteY0" fmla="*/ 66675 h 66675"/>
                    <a:gd name="connsiteX1" fmla="*/ 352425 w 1028700"/>
                    <a:gd name="connsiteY1" fmla="*/ 59532 h 66675"/>
                    <a:gd name="connsiteX2" fmla="*/ 564356 w 1028700"/>
                    <a:gd name="connsiteY2" fmla="*/ 42863 h 66675"/>
                    <a:gd name="connsiteX3" fmla="*/ 826293 w 1028700"/>
                    <a:gd name="connsiteY3" fmla="*/ 16669 h 66675"/>
                    <a:gd name="connsiteX4" fmla="*/ 942975 w 1028700"/>
                    <a:gd name="connsiteY4" fmla="*/ 0 h 66675"/>
                    <a:gd name="connsiteX5" fmla="*/ 1028700 w 1028700"/>
                    <a:gd name="connsiteY5" fmla="*/ 2382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8700" h="66675">
                      <a:moveTo>
                        <a:pt x="0" y="66675"/>
                      </a:moveTo>
                      <a:lnTo>
                        <a:pt x="352425" y="59532"/>
                      </a:lnTo>
                      <a:lnTo>
                        <a:pt x="564356" y="42863"/>
                      </a:lnTo>
                      <a:lnTo>
                        <a:pt x="826293" y="16669"/>
                      </a:lnTo>
                      <a:lnTo>
                        <a:pt x="942975" y="0"/>
                      </a:lnTo>
                      <a:lnTo>
                        <a:pt x="1028700" y="2382"/>
                      </a:lnTo>
                    </a:path>
                  </a:pathLst>
                </a:custGeom>
                <a:grpFill/>
                <a:ln w="127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07" name="Freeform: Shape 106">
                  <a:extLst>
                    <a:ext uri="{FF2B5EF4-FFF2-40B4-BE49-F238E27FC236}">
                      <a16:creationId xmlns:a16="http://schemas.microsoft.com/office/drawing/2014/main" id="{09980ED1-0174-E7BF-96A2-297D5819D0EE}"/>
                    </a:ext>
                  </a:extLst>
                </p:cNvPr>
                <p:cNvSpPr/>
                <p:nvPr/>
              </p:nvSpPr>
              <p:spPr>
                <a:xfrm>
                  <a:off x="1464469" y="4781550"/>
                  <a:ext cx="1012031" cy="238125"/>
                </a:xfrm>
                <a:custGeom>
                  <a:avLst/>
                  <a:gdLst>
                    <a:gd name="connsiteX0" fmla="*/ 0 w 1012031"/>
                    <a:gd name="connsiteY0" fmla="*/ 95250 h 238125"/>
                    <a:gd name="connsiteX1" fmla="*/ 166687 w 1012031"/>
                    <a:gd name="connsiteY1" fmla="*/ 102394 h 238125"/>
                    <a:gd name="connsiteX2" fmla="*/ 421481 w 1012031"/>
                    <a:gd name="connsiteY2" fmla="*/ 152400 h 238125"/>
                    <a:gd name="connsiteX3" fmla="*/ 554831 w 1012031"/>
                    <a:gd name="connsiteY3" fmla="*/ 200025 h 238125"/>
                    <a:gd name="connsiteX4" fmla="*/ 645319 w 1012031"/>
                    <a:gd name="connsiteY4" fmla="*/ 238125 h 238125"/>
                    <a:gd name="connsiteX5" fmla="*/ 750094 w 1012031"/>
                    <a:gd name="connsiteY5" fmla="*/ 200025 h 238125"/>
                    <a:gd name="connsiteX6" fmla="*/ 797719 w 1012031"/>
                    <a:gd name="connsiteY6" fmla="*/ 185738 h 238125"/>
                    <a:gd name="connsiteX7" fmla="*/ 866775 w 1012031"/>
                    <a:gd name="connsiteY7" fmla="*/ 123825 h 238125"/>
                    <a:gd name="connsiteX8" fmla="*/ 981075 w 1012031"/>
                    <a:gd name="connsiteY8" fmla="*/ 45244 h 238125"/>
                    <a:gd name="connsiteX9" fmla="*/ 1012031 w 1012031"/>
                    <a:gd name="connsiteY9" fmla="*/ 0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12031" h="238125">
                      <a:moveTo>
                        <a:pt x="0" y="95250"/>
                      </a:moveTo>
                      <a:lnTo>
                        <a:pt x="166687" y="102394"/>
                      </a:lnTo>
                      <a:lnTo>
                        <a:pt x="421481" y="152400"/>
                      </a:lnTo>
                      <a:lnTo>
                        <a:pt x="554831" y="200025"/>
                      </a:lnTo>
                      <a:lnTo>
                        <a:pt x="645319" y="238125"/>
                      </a:lnTo>
                      <a:lnTo>
                        <a:pt x="750094" y="200025"/>
                      </a:lnTo>
                      <a:lnTo>
                        <a:pt x="797719" y="185738"/>
                      </a:lnTo>
                      <a:lnTo>
                        <a:pt x="866775" y="123825"/>
                      </a:lnTo>
                      <a:lnTo>
                        <a:pt x="981075" y="45244"/>
                      </a:lnTo>
                      <a:lnTo>
                        <a:pt x="1012031" y="0"/>
                      </a:lnTo>
                    </a:path>
                  </a:pathLst>
                </a:cu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sp>
              <p:nvSpPr>
                <p:cNvPr id="108" name="Freeform: Shape 107">
                  <a:extLst>
                    <a:ext uri="{FF2B5EF4-FFF2-40B4-BE49-F238E27FC236}">
                      <a16:creationId xmlns:a16="http://schemas.microsoft.com/office/drawing/2014/main" id="{43CD3BBF-A798-E189-39DD-FF63AD665E5D}"/>
                    </a:ext>
                  </a:extLst>
                </p:cNvPr>
                <p:cNvSpPr/>
                <p:nvPr/>
              </p:nvSpPr>
              <p:spPr>
                <a:xfrm>
                  <a:off x="1459706" y="4776788"/>
                  <a:ext cx="600075" cy="521493"/>
                </a:xfrm>
                <a:custGeom>
                  <a:avLst/>
                  <a:gdLst>
                    <a:gd name="connsiteX0" fmla="*/ 0 w 600075"/>
                    <a:gd name="connsiteY0" fmla="*/ 521493 h 521493"/>
                    <a:gd name="connsiteX1" fmla="*/ 176213 w 600075"/>
                    <a:gd name="connsiteY1" fmla="*/ 450056 h 521493"/>
                    <a:gd name="connsiteX2" fmla="*/ 323850 w 600075"/>
                    <a:gd name="connsiteY2" fmla="*/ 371475 h 521493"/>
                    <a:gd name="connsiteX3" fmla="*/ 431007 w 600075"/>
                    <a:gd name="connsiteY3" fmla="*/ 266700 h 521493"/>
                    <a:gd name="connsiteX4" fmla="*/ 545307 w 600075"/>
                    <a:gd name="connsiteY4" fmla="*/ 135731 h 521493"/>
                    <a:gd name="connsiteX5" fmla="*/ 600075 w 600075"/>
                    <a:gd name="connsiteY5" fmla="*/ 0 h 521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0075" h="521493">
                      <a:moveTo>
                        <a:pt x="0" y="521493"/>
                      </a:moveTo>
                      <a:lnTo>
                        <a:pt x="176213" y="450056"/>
                      </a:lnTo>
                      <a:lnTo>
                        <a:pt x="323850" y="371475"/>
                      </a:lnTo>
                      <a:lnTo>
                        <a:pt x="431007" y="266700"/>
                      </a:lnTo>
                      <a:lnTo>
                        <a:pt x="545307" y="135731"/>
                      </a:lnTo>
                      <a:lnTo>
                        <a:pt x="600075" y="0"/>
                      </a:lnTo>
                    </a:path>
                  </a:pathLst>
                </a:cu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cxnSp>
              <p:nvCxnSpPr>
                <p:cNvPr id="109" name="Straight Connector 108">
                  <a:extLst>
                    <a:ext uri="{FF2B5EF4-FFF2-40B4-BE49-F238E27FC236}">
                      <a16:creationId xmlns:a16="http://schemas.microsoft.com/office/drawing/2014/main" id="{DEF9F855-EEBD-39E1-778C-69C008B066A1}"/>
                    </a:ext>
                  </a:extLst>
                </p:cNvPr>
                <p:cNvCxnSpPr>
                  <a:cxnSpLocks/>
                </p:cNvCxnSpPr>
                <p:nvPr/>
              </p:nvCxnSpPr>
              <p:spPr>
                <a:xfrm>
                  <a:off x="2147887" y="3299054"/>
                  <a:ext cx="23813" cy="4412386"/>
                </a:xfrm>
                <a:prstGeom prst="line">
                  <a:avLst/>
                </a:prstGeom>
                <a:grpFill/>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0" name="Freeform: Shape 109">
                  <a:extLst>
                    <a:ext uri="{FF2B5EF4-FFF2-40B4-BE49-F238E27FC236}">
                      <a16:creationId xmlns:a16="http://schemas.microsoft.com/office/drawing/2014/main" id="{14AFD390-5D93-6D05-3214-92F114EA2C36}"/>
                    </a:ext>
                  </a:extLst>
                </p:cNvPr>
                <p:cNvSpPr/>
                <p:nvPr/>
              </p:nvSpPr>
              <p:spPr>
                <a:xfrm>
                  <a:off x="2924902" y="4758679"/>
                  <a:ext cx="335756" cy="7144"/>
                </a:xfrm>
                <a:custGeom>
                  <a:avLst/>
                  <a:gdLst>
                    <a:gd name="connsiteX0" fmla="*/ 0 w 335756"/>
                    <a:gd name="connsiteY0" fmla="*/ 0 h 7144"/>
                    <a:gd name="connsiteX1" fmla="*/ 335756 w 335756"/>
                    <a:gd name="connsiteY1" fmla="*/ 7144 h 7144"/>
                  </a:gdLst>
                  <a:ahLst/>
                  <a:cxnLst>
                    <a:cxn ang="0">
                      <a:pos x="connsiteX0" y="connsiteY0"/>
                    </a:cxn>
                    <a:cxn ang="0">
                      <a:pos x="connsiteX1" y="connsiteY1"/>
                    </a:cxn>
                  </a:cxnLst>
                  <a:rect l="l" t="t" r="r" b="b"/>
                  <a:pathLst>
                    <a:path w="335756" h="7144">
                      <a:moveTo>
                        <a:pt x="0" y="0"/>
                      </a:moveTo>
                      <a:lnTo>
                        <a:pt x="335756" y="7144"/>
                      </a:lnTo>
                    </a:path>
                  </a:pathLst>
                </a:custGeom>
                <a:grpFill/>
                <a:ln w="127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grpSp>
          <p:cxnSp>
            <p:nvCxnSpPr>
              <p:cNvPr id="88" name="Straight Connector 87">
                <a:extLst>
                  <a:ext uri="{FF2B5EF4-FFF2-40B4-BE49-F238E27FC236}">
                    <a16:creationId xmlns:a16="http://schemas.microsoft.com/office/drawing/2014/main" id="{FF65E8C6-625A-CC37-F501-BF7D5648A406}"/>
                  </a:ext>
                </a:extLst>
              </p:cNvPr>
              <p:cNvCxnSpPr/>
              <p:nvPr/>
            </p:nvCxnSpPr>
            <p:spPr>
              <a:xfrm>
                <a:off x="2443787" y="5886817"/>
                <a:ext cx="0" cy="4848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03B79C5F-F433-F75D-BF37-076F0BAFAC42}"/>
                  </a:ext>
                </a:extLst>
              </p:cNvPr>
              <p:cNvCxnSpPr/>
              <p:nvPr/>
            </p:nvCxnSpPr>
            <p:spPr>
              <a:xfrm>
                <a:off x="2798169" y="5886817"/>
                <a:ext cx="0" cy="4848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100B782-BC94-FF73-A176-DF38950DAE3C}"/>
                  </a:ext>
                </a:extLst>
              </p:cNvPr>
              <p:cNvCxnSpPr/>
              <p:nvPr/>
            </p:nvCxnSpPr>
            <p:spPr>
              <a:xfrm>
                <a:off x="3144533" y="5886817"/>
                <a:ext cx="0" cy="4848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AB74704-44F4-E10C-8596-E18556ADCA75}"/>
                  </a:ext>
                </a:extLst>
              </p:cNvPr>
              <p:cNvCxnSpPr/>
              <p:nvPr/>
            </p:nvCxnSpPr>
            <p:spPr>
              <a:xfrm>
                <a:off x="3500518" y="5886817"/>
                <a:ext cx="0" cy="4848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E7C685AE-EEF3-FA58-9DB9-6719F8B6EDE8}"/>
                  </a:ext>
                </a:extLst>
              </p:cNvPr>
              <p:cNvCxnSpPr>
                <a:cxnSpLocks/>
              </p:cNvCxnSpPr>
              <p:nvPr/>
            </p:nvCxnSpPr>
            <p:spPr>
              <a:xfrm>
                <a:off x="2477463" y="3815496"/>
                <a:ext cx="1294051" cy="0"/>
              </a:xfrm>
              <a:prstGeom prst="line">
                <a:avLst/>
              </a:prstGeom>
              <a:no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Freeform: Shape 92">
                <a:extLst>
                  <a:ext uri="{FF2B5EF4-FFF2-40B4-BE49-F238E27FC236}">
                    <a16:creationId xmlns:a16="http://schemas.microsoft.com/office/drawing/2014/main" id="{46BDC0E3-A323-A1F6-B55C-A67246269576}"/>
                  </a:ext>
                </a:extLst>
              </p:cNvPr>
              <p:cNvSpPr/>
              <p:nvPr/>
            </p:nvSpPr>
            <p:spPr>
              <a:xfrm>
                <a:off x="2482798" y="3784119"/>
                <a:ext cx="211667" cy="1603"/>
              </a:xfrm>
              <a:custGeom>
                <a:avLst/>
                <a:gdLst>
                  <a:gd name="connsiteX0" fmla="*/ 0 w 314325"/>
                  <a:gd name="connsiteY0" fmla="*/ 2381 h 2381"/>
                  <a:gd name="connsiteX1" fmla="*/ 314325 w 314325"/>
                  <a:gd name="connsiteY1" fmla="*/ 0 h 2381"/>
                  <a:gd name="connsiteX2" fmla="*/ 314325 w 314325"/>
                  <a:gd name="connsiteY2" fmla="*/ 0 h 2381"/>
                </a:gdLst>
                <a:ahLst/>
                <a:cxnLst>
                  <a:cxn ang="0">
                    <a:pos x="connsiteX0" y="connsiteY0"/>
                  </a:cxn>
                  <a:cxn ang="0">
                    <a:pos x="connsiteX1" y="connsiteY1"/>
                  </a:cxn>
                  <a:cxn ang="0">
                    <a:pos x="connsiteX2" y="connsiteY2"/>
                  </a:cxn>
                </a:cxnLst>
                <a:rect l="l" t="t" r="r" b="b"/>
                <a:pathLst>
                  <a:path w="314325" h="2381">
                    <a:moveTo>
                      <a:pt x="0" y="2381"/>
                    </a:moveTo>
                    <a:lnTo>
                      <a:pt x="314325" y="0"/>
                    </a:lnTo>
                    <a:lnTo>
                      <a:pt x="314325" y="0"/>
                    </a:lnTo>
                  </a:path>
                </a:pathLst>
              </a:cu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000" dirty="0">
                  <a:solidFill>
                    <a:schemeClr val="tx1"/>
                  </a:solidFill>
                </a:endParaRPr>
              </a:p>
            </p:txBody>
          </p:sp>
        </p:grpSp>
      </p:grpSp>
      <p:cxnSp>
        <p:nvCxnSpPr>
          <p:cNvPr id="71" name="Straight Connector 70">
            <a:extLst>
              <a:ext uri="{FF2B5EF4-FFF2-40B4-BE49-F238E27FC236}">
                <a16:creationId xmlns:a16="http://schemas.microsoft.com/office/drawing/2014/main" id="{68AF1D48-E56C-7587-90BF-62AEF710669F}"/>
              </a:ext>
            </a:extLst>
          </p:cNvPr>
          <p:cNvCxnSpPr>
            <a:cxnSpLocks/>
          </p:cNvCxnSpPr>
          <p:nvPr/>
        </p:nvCxnSpPr>
        <p:spPr>
          <a:xfrm flipH="1">
            <a:off x="10922687" y="1885275"/>
            <a:ext cx="8711" cy="325495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9896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586F3-F885-A997-46FB-9412CEB4CFBB}"/>
              </a:ext>
            </a:extLst>
          </p:cNvPr>
          <p:cNvSpPr>
            <a:spLocks noGrp="1"/>
          </p:cNvSpPr>
          <p:nvPr>
            <p:ph type="title"/>
          </p:nvPr>
        </p:nvSpPr>
        <p:spPr/>
        <p:txBody>
          <a:bodyPr/>
          <a:lstStyle/>
          <a:p>
            <a:r>
              <a:rPr lang="en-US" dirty="0"/>
              <a:t>Penalty Selection via </a:t>
            </a:r>
            <a:r>
              <a:rPr lang="en-US" i="1" dirty="0"/>
              <a:t>k</a:t>
            </a:r>
            <a:r>
              <a:rPr lang="en-US" dirty="0"/>
              <a:t>-Fold</a:t>
            </a:r>
          </a:p>
        </p:txBody>
      </p:sp>
      <p:sp>
        <p:nvSpPr>
          <p:cNvPr id="3" name="Content Placeholder 2">
            <a:extLst>
              <a:ext uri="{FF2B5EF4-FFF2-40B4-BE49-F238E27FC236}">
                <a16:creationId xmlns:a16="http://schemas.microsoft.com/office/drawing/2014/main" id="{FE78C47F-FAE5-88AB-76CA-B29397F38E85}"/>
              </a:ext>
            </a:extLst>
          </p:cNvPr>
          <p:cNvSpPr>
            <a:spLocks noGrp="1"/>
          </p:cNvSpPr>
          <p:nvPr>
            <p:ph idx="1"/>
          </p:nvPr>
        </p:nvSpPr>
        <p:spPr>
          <a:xfrm>
            <a:off x="609600" y="1600203"/>
            <a:ext cx="6324600" cy="4525963"/>
          </a:xfrm>
        </p:spPr>
        <p:txBody>
          <a:bodyPr/>
          <a:lstStyle/>
          <a:p>
            <a:r>
              <a:rPr lang="en-US" i="1" dirty="0"/>
              <a:t>k</a:t>
            </a:r>
            <a:r>
              <a:rPr lang="en-US" dirty="0"/>
              <a:t>-fold cross-validation is used to determine the optimal penalty term.</a:t>
            </a:r>
          </a:p>
          <a:p>
            <a:r>
              <a:rPr lang="en-US" dirty="0"/>
              <a:t>If a more complex model is needed, then the penalty will be very small.</a:t>
            </a:r>
          </a:p>
          <a:p>
            <a:r>
              <a:rPr lang="en-US" dirty="0"/>
              <a:t>In this example, the chosen penalty results in six coefficients retained out of 17 total.</a:t>
            </a:r>
          </a:p>
        </p:txBody>
      </p:sp>
      <p:pic>
        <p:nvPicPr>
          <p:cNvPr id="5" name="Content Placeholder 3">
            <a:extLst>
              <a:ext uri="{FF2B5EF4-FFF2-40B4-BE49-F238E27FC236}">
                <a16:creationId xmlns:a16="http://schemas.microsoft.com/office/drawing/2014/main" id="{16C7AB37-CE11-FC92-7D02-0949F53A2497}"/>
              </a:ext>
            </a:extLst>
          </p:cNvPr>
          <p:cNvPicPr>
            <a:picLocks noGrp="1" noChangeAspect="1"/>
          </p:cNvPicPr>
          <p:nvPr>
            <p:ph sz="half" idx="4294967295"/>
          </p:nvPr>
        </p:nvPicPr>
        <p:blipFill rotWithShape="1">
          <a:blip r:embed="rId2"/>
          <a:srcRect t="8122" r="10063"/>
          <a:stretch/>
        </p:blipFill>
        <p:spPr>
          <a:xfrm>
            <a:off x="7086601" y="1600202"/>
            <a:ext cx="4495800" cy="3793659"/>
          </a:xfrm>
        </p:spPr>
      </p:pic>
    </p:spTree>
    <p:extLst>
      <p:ext uri="{BB962C8B-B14F-4D97-AF65-F5344CB8AC3E}">
        <p14:creationId xmlns:p14="http://schemas.microsoft.com/office/powerpoint/2010/main" val="441146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4ED209-432B-95D2-1C2C-69DDB971F4DC}"/>
              </a:ext>
            </a:extLst>
          </p:cNvPr>
          <p:cNvSpPr>
            <a:spLocks noGrp="1"/>
          </p:cNvSpPr>
          <p:nvPr>
            <p:ph type="title"/>
          </p:nvPr>
        </p:nvSpPr>
        <p:spPr/>
        <p:txBody>
          <a:bodyPr/>
          <a:lstStyle/>
          <a:p>
            <a:r>
              <a:rPr lang="en-US" dirty="0"/>
              <a:t>Unit 3</a:t>
            </a:r>
          </a:p>
        </p:txBody>
      </p:sp>
      <p:sp>
        <p:nvSpPr>
          <p:cNvPr id="5" name="Text Placeholder 4">
            <a:extLst>
              <a:ext uri="{FF2B5EF4-FFF2-40B4-BE49-F238E27FC236}">
                <a16:creationId xmlns:a16="http://schemas.microsoft.com/office/drawing/2014/main" id="{A7D438DC-1C60-00D1-4685-BD17ABC11A1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156143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971CB5-0EAB-9E91-1A8B-C1DF9E31FA70}"/>
              </a:ext>
            </a:extLst>
          </p:cNvPr>
          <p:cNvSpPr>
            <a:spLocks noGrp="1"/>
          </p:cNvSpPr>
          <p:nvPr>
            <p:ph type="title"/>
          </p:nvPr>
        </p:nvSpPr>
        <p:spPr/>
        <p:txBody>
          <a:bodyPr/>
          <a:lstStyle/>
          <a:p>
            <a:r>
              <a:rPr lang="en-US" dirty="0"/>
              <a:t>Difficulties with MLR</a:t>
            </a:r>
          </a:p>
        </p:txBody>
      </p:sp>
      <p:sp>
        <p:nvSpPr>
          <p:cNvPr id="5" name="Content Placeholder 4">
            <a:extLst>
              <a:ext uri="{FF2B5EF4-FFF2-40B4-BE49-F238E27FC236}">
                <a16:creationId xmlns:a16="http://schemas.microsoft.com/office/drawing/2014/main" id="{01652DB5-4731-7FF3-9FC8-E0BF942F0855}"/>
              </a:ext>
            </a:extLst>
          </p:cNvPr>
          <p:cNvSpPr>
            <a:spLocks noGrp="1"/>
          </p:cNvSpPr>
          <p:nvPr>
            <p:ph idx="1"/>
          </p:nvPr>
        </p:nvSpPr>
        <p:spPr/>
        <p:txBody>
          <a:bodyPr/>
          <a:lstStyle/>
          <a:p>
            <a:r>
              <a:rPr lang="en-US" dirty="0"/>
              <a:t>No transformation really works to make assumptions look reasonable.</a:t>
            </a:r>
          </a:p>
          <a:p>
            <a:r>
              <a:rPr lang="en-US" dirty="0"/>
              <a:t>I found a transformation that works, but the transformation doesn’t allow for interpretation, which is what I </a:t>
            </a:r>
            <a:r>
              <a:rPr lang="en-US" b="1" dirty="0"/>
              <a:t>need</a:t>
            </a:r>
            <a:r>
              <a:rPr lang="en-US" dirty="0"/>
              <a:t> for my problem.</a:t>
            </a:r>
          </a:p>
          <a:p>
            <a:r>
              <a:rPr lang="en-US" dirty="0"/>
              <a:t>I need model complexity, but it’s suffering from high variance.</a:t>
            </a:r>
          </a:p>
        </p:txBody>
      </p:sp>
    </p:spTree>
    <p:extLst>
      <p:ext uri="{BB962C8B-B14F-4D97-AF65-F5344CB8AC3E}">
        <p14:creationId xmlns:p14="http://schemas.microsoft.com/office/powerpoint/2010/main" val="3197165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04E48-CD45-6778-D2F9-1558CFB79D2E}"/>
              </a:ext>
            </a:extLst>
          </p:cNvPr>
          <p:cNvSpPr>
            <a:spLocks noGrp="1"/>
          </p:cNvSpPr>
          <p:nvPr>
            <p:ph type="title"/>
          </p:nvPr>
        </p:nvSpPr>
        <p:spPr/>
        <p:txBody>
          <a:bodyPr/>
          <a:lstStyle/>
          <a:p>
            <a:r>
              <a:rPr lang="en-US" dirty="0"/>
              <a:t>A Solution</a:t>
            </a:r>
          </a:p>
        </p:txBody>
      </p:sp>
      <p:sp>
        <p:nvSpPr>
          <p:cNvPr id="3" name="Content Placeholder 2">
            <a:extLst>
              <a:ext uri="{FF2B5EF4-FFF2-40B4-BE49-F238E27FC236}">
                <a16:creationId xmlns:a16="http://schemas.microsoft.com/office/drawing/2014/main" id="{8E058119-3AF1-9BA8-D57C-0BD6E965E4F6}"/>
              </a:ext>
            </a:extLst>
          </p:cNvPr>
          <p:cNvSpPr>
            <a:spLocks noGrp="1"/>
          </p:cNvSpPr>
          <p:nvPr>
            <p:ph idx="1"/>
          </p:nvPr>
        </p:nvSpPr>
        <p:spPr/>
        <p:txBody>
          <a:bodyPr/>
          <a:lstStyle/>
          <a:p>
            <a:r>
              <a:rPr lang="en-US" dirty="0"/>
              <a:t>The </a:t>
            </a:r>
            <a:r>
              <a:rPr lang="en-US" b="1" dirty="0"/>
              <a:t>bootstrap</a:t>
            </a:r>
            <a:r>
              <a:rPr lang="en-US" dirty="0"/>
              <a:t> is a procedure that allows us to circumvent these issues</a:t>
            </a:r>
          </a:p>
          <a:p>
            <a:r>
              <a:rPr lang="en-US" dirty="0"/>
              <a:t>Can also be used to help solve a lot of other statistical procedures with similar issues</a:t>
            </a:r>
          </a:p>
          <a:p>
            <a:r>
              <a:rPr lang="en-US" dirty="0"/>
              <a:t>Is utilized heavily in many nonparametric predictive modeling tools such as the well-known random forest algorithm</a:t>
            </a:r>
          </a:p>
        </p:txBody>
      </p:sp>
    </p:spTree>
    <p:extLst>
      <p:ext uri="{BB962C8B-B14F-4D97-AF65-F5344CB8AC3E}">
        <p14:creationId xmlns:p14="http://schemas.microsoft.com/office/powerpoint/2010/main" val="216290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270CF-D43A-6D1C-DE82-8E9B37DCFAFD}"/>
              </a:ext>
            </a:extLst>
          </p:cNvPr>
          <p:cNvSpPr>
            <a:spLocks noGrp="1"/>
          </p:cNvSpPr>
          <p:nvPr>
            <p:ph type="title"/>
          </p:nvPr>
        </p:nvSpPr>
        <p:spPr/>
        <p:txBody>
          <a:bodyPr/>
          <a:lstStyle/>
          <a:p>
            <a:r>
              <a:rPr lang="en-US" dirty="0"/>
              <a:t>Bootstrap Key Analogy</a:t>
            </a:r>
          </a:p>
        </p:txBody>
      </p:sp>
      <p:sp>
        <p:nvSpPr>
          <p:cNvPr id="3" name="Content Placeholder 2">
            <a:extLst>
              <a:ext uri="{FF2B5EF4-FFF2-40B4-BE49-F238E27FC236}">
                <a16:creationId xmlns:a16="http://schemas.microsoft.com/office/drawing/2014/main" id="{8CFEBD20-E14A-FA49-51B7-9E932B2BA9EB}"/>
              </a:ext>
            </a:extLst>
          </p:cNvPr>
          <p:cNvSpPr>
            <a:spLocks noGrp="1"/>
          </p:cNvSpPr>
          <p:nvPr>
            <p:ph idx="1"/>
          </p:nvPr>
        </p:nvSpPr>
        <p:spPr/>
        <p:txBody>
          <a:bodyPr/>
          <a:lstStyle/>
          <a:p>
            <a:pPr marL="0" indent="0" algn="ctr">
              <a:buNone/>
            </a:pPr>
            <a:r>
              <a:rPr lang="en-US" dirty="0"/>
              <a:t>The population is to the sample</a:t>
            </a:r>
          </a:p>
          <a:p>
            <a:pPr marL="0" indent="0" algn="ctr">
              <a:buNone/>
            </a:pPr>
            <a:r>
              <a:rPr lang="en-US" dirty="0"/>
              <a:t>as</a:t>
            </a:r>
          </a:p>
          <a:p>
            <a:pPr marL="0" indent="0" algn="ctr">
              <a:buNone/>
            </a:pPr>
            <a:r>
              <a:rPr lang="en-US" dirty="0"/>
              <a:t>the sample is to the bootstrap samples.</a:t>
            </a:r>
          </a:p>
        </p:txBody>
      </p:sp>
    </p:spTree>
    <p:extLst>
      <p:ext uri="{BB962C8B-B14F-4D97-AF65-F5344CB8AC3E}">
        <p14:creationId xmlns:p14="http://schemas.microsoft.com/office/powerpoint/2010/main" val="39105001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6291-64F2-237C-85D1-67C69332C244}"/>
              </a:ext>
            </a:extLst>
          </p:cNvPr>
          <p:cNvSpPr>
            <a:spLocks noGrp="1"/>
          </p:cNvSpPr>
          <p:nvPr>
            <p:ph type="title"/>
          </p:nvPr>
        </p:nvSpPr>
        <p:spPr/>
        <p:txBody>
          <a:bodyPr/>
          <a:lstStyle/>
          <a:p>
            <a:r>
              <a:rPr lang="en-US" dirty="0"/>
              <a:t>Bootstrap: Main Idea</a:t>
            </a:r>
          </a:p>
        </p:txBody>
      </p:sp>
      <p:sp>
        <p:nvSpPr>
          <p:cNvPr id="3" name="Content Placeholder 2">
            <a:extLst>
              <a:ext uri="{FF2B5EF4-FFF2-40B4-BE49-F238E27FC236}">
                <a16:creationId xmlns:a16="http://schemas.microsoft.com/office/drawing/2014/main" id="{A4DB078C-E930-67F2-2250-787649724162}"/>
              </a:ext>
            </a:extLst>
          </p:cNvPr>
          <p:cNvSpPr>
            <a:spLocks noGrp="1"/>
          </p:cNvSpPr>
          <p:nvPr>
            <p:ph idx="1"/>
          </p:nvPr>
        </p:nvSpPr>
        <p:spPr/>
        <p:txBody>
          <a:bodyPr/>
          <a:lstStyle/>
          <a:p>
            <a:r>
              <a:rPr lang="en-US" dirty="0"/>
              <a:t>Mimics the idea of creating the sampling distribution by creating multiple samples from your original sample (bootstrap samples)</a:t>
            </a:r>
          </a:p>
          <a:p>
            <a:r>
              <a:rPr lang="en-US" dirty="0"/>
              <a:t>Available sampling distribution allows for computing the standard error for any statistic of interest</a:t>
            </a:r>
          </a:p>
          <a:p>
            <a:r>
              <a:rPr lang="en-US" dirty="0"/>
              <a:t>The entire distribution can be used to compute a confidence interval</a:t>
            </a:r>
          </a:p>
        </p:txBody>
      </p:sp>
    </p:spTree>
    <p:extLst>
      <p:ext uri="{BB962C8B-B14F-4D97-AF65-F5344CB8AC3E}">
        <p14:creationId xmlns:p14="http://schemas.microsoft.com/office/powerpoint/2010/main" val="3220928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1FB85-4479-7334-CCEB-D0CE38CBFB2B}"/>
              </a:ext>
            </a:extLst>
          </p:cNvPr>
          <p:cNvSpPr>
            <a:spLocks noGrp="1"/>
          </p:cNvSpPr>
          <p:nvPr>
            <p:ph type="title"/>
          </p:nvPr>
        </p:nvSpPr>
        <p:spPr/>
        <p:txBody>
          <a:bodyPr/>
          <a:lstStyle/>
          <a:p>
            <a:r>
              <a:rPr lang="en-US" dirty="0"/>
              <a:t>Bootstrap Sampling Pseudo Code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99283D6-DC7B-230A-3CA9-B9ECDDAB02E8}"/>
                  </a:ext>
                </a:extLst>
              </p:cNvPr>
              <p:cNvSpPr>
                <a:spLocks noGrp="1"/>
              </p:cNvSpPr>
              <p:nvPr>
                <p:ph idx="1"/>
              </p:nvPr>
            </p:nvSpPr>
            <p:spPr/>
            <p:txBody>
              <a:bodyPr/>
              <a:lstStyle/>
              <a:p>
                <a:pPr marL="514350" indent="-514350">
                  <a:buFont typeface="+mj-lt"/>
                  <a:buAutoNum type="arabicPeriod"/>
                </a:pPr>
                <a:r>
                  <a:rPr lang="en-US" dirty="0"/>
                  <a:t>Determine the sample size of your data set, </a:t>
                </a:r>
                <a14:m>
                  <m:oMath xmlns:m="http://schemas.openxmlformats.org/officeDocument/2006/math">
                    <m:r>
                      <a:rPr lang="en-US" smtClean="0">
                        <a:latin typeface="Cambria Math" panose="02040503050406030204" pitchFamily="18" charset="0"/>
                      </a:rPr>
                      <m:t>𝑛</m:t>
                    </m:r>
                  </m:oMath>
                </a14:m>
                <a:r>
                  <a:rPr lang="en-US" dirty="0"/>
                  <a:t>.</a:t>
                </a:r>
              </a:p>
              <a:p>
                <a:pPr marL="514350" indent="-514350">
                  <a:buFont typeface="+mj-lt"/>
                  <a:buAutoNum type="arabicPeriod"/>
                </a:pPr>
                <a:r>
                  <a:rPr lang="en-US" dirty="0"/>
                  <a:t>Randomly pick an observation from your data set; once selected, put it back (sample with replacement).</a:t>
                </a:r>
              </a:p>
              <a:p>
                <a:pPr marL="514350" indent="-514350">
                  <a:buFont typeface="+mj-lt"/>
                  <a:buAutoNum type="arabicPeriod"/>
                </a:pPr>
                <a:r>
                  <a:rPr lang="en-US" dirty="0"/>
                  <a:t>Repeat step 2 until you get </a:t>
                </a:r>
                <a14:m>
                  <m:oMath xmlns:m="http://schemas.openxmlformats.org/officeDocument/2006/math">
                    <m:r>
                      <a:rPr lang="en-US">
                        <a:latin typeface="Cambria Math" panose="02040503050406030204" pitchFamily="18" charset="0"/>
                      </a:rPr>
                      <m:t>𝑛</m:t>
                    </m:r>
                  </m:oMath>
                </a14:m>
                <a:r>
                  <a:rPr lang="en-US" dirty="0"/>
                  <a:t> data points (bootstrap sample).</a:t>
                </a:r>
              </a:p>
              <a:p>
                <a:pPr marL="514350" indent="-514350">
                  <a:buFont typeface="+mj-lt"/>
                  <a:buAutoNum type="arabicPeriod"/>
                </a:pPr>
                <a:r>
                  <a:rPr lang="en-US" dirty="0"/>
                  <a:t>Repeat steps 2 and 3 many times </a:t>
                </a:r>
                <a14:m>
                  <m:oMath xmlns:m="http://schemas.openxmlformats.org/officeDocument/2006/math">
                    <m:r>
                      <a:rPr lang="en-US" smtClean="0">
                        <a:latin typeface="Cambria Math" panose="02040503050406030204" pitchFamily="18" charset="0"/>
                      </a:rPr>
                      <m:t>(</m:t>
                    </m:r>
                    <m:r>
                      <a:rPr lang="en-US" smtClean="0">
                        <a:latin typeface="Cambria Math" panose="02040503050406030204" pitchFamily="18" charset="0"/>
                      </a:rPr>
                      <m:t>𝐵</m:t>
                    </m:r>
                    <m:r>
                      <a:rPr lang="en-US" smtClean="0">
                        <a:latin typeface="Cambria Math" panose="02040503050406030204" pitchFamily="18" charset="0"/>
                      </a:rPr>
                      <m:t> </m:t>
                    </m:r>
                    <m:r>
                      <a:rPr lang="en-US" smtClean="0">
                        <a:latin typeface="Cambria Math" panose="02040503050406030204" pitchFamily="18" charset="0"/>
                      </a:rPr>
                      <m:t>𝑡𝑖𝑚𝑒𝑠</m:t>
                    </m:r>
                    <m:r>
                      <a:rPr lang="en-US" smtClean="0">
                        <a:latin typeface="Cambria Math" panose="02040503050406030204" pitchFamily="18" charset="0"/>
                      </a:rPr>
                      <m:t>)</m:t>
                    </m:r>
                  </m:oMath>
                </a14:m>
                <a:r>
                  <a:rPr lang="en-US" dirty="0"/>
                  <a:t> to obtain numerous bootstrap samples.</a:t>
                </a:r>
              </a:p>
            </p:txBody>
          </p:sp>
        </mc:Choice>
        <mc:Fallback xmlns="">
          <p:sp>
            <p:nvSpPr>
              <p:cNvPr id="3" name="Content Placeholder 2">
                <a:extLst>
                  <a:ext uri="{FF2B5EF4-FFF2-40B4-BE49-F238E27FC236}">
                    <a16:creationId xmlns:a16="http://schemas.microsoft.com/office/drawing/2014/main" id="{399283D6-DC7B-230A-3CA9-B9ECDDAB02E8}"/>
                  </a:ext>
                </a:extLst>
              </p:cNvPr>
              <p:cNvSpPr>
                <a:spLocks noGrp="1" noRot="1" noChangeAspect="1" noMove="1" noResize="1" noEditPoints="1" noAdjustHandles="1" noChangeArrowheads="1" noChangeShapeType="1" noTextEdit="1"/>
              </p:cNvSpPr>
              <p:nvPr>
                <p:ph idx="1"/>
              </p:nvPr>
            </p:nvSpPr>
            <p:spPr>
              <a:blipFill>
                <a:blip r:embed="rId2"/>
                <a:stretch>
                  <a:fillRect l="-1278" t="-1752"/>
                </a:stretch>
              </a:blipFill>
            </p:spPr>
            <p:txBody>
              <a:bodyPr/>
              <a:lstStyle/>
              <a:p>
                <a:r>
                  <a:rPr lang="en-US">
                    <a:noFill/>
                  </a:rPr>
                  <a:t> </a:t>
                </a:r>
              </a:p>
            </p:txBody>
          </p:sp>
        </mc:Fallback>
      </mc:AlternateContent>
    </p:spTree>
    <p:extLst>
      <p:ext uri="{BB962C8B-B14F-4D97-AF65-F5344CB8AC3E}">
        <p14:creationId xmlns:p14="http://schemas.microsoft.com/office/powerpoint/2010/main" val="3858285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28E6AE2D-C5A2-6D04-A070-F7CBC0A15DE0}"/>
              </a:ext>
            </a:extLst>
          </p:cNvPr>
          <p:cNvGraphicFramePr>
            <a:graphicFrameLocks noGrp="1"/>
          </p:cNvGraphicFramePr>
          <p:nvPr>
            <p:ph idx="4294967295"/>
          </p:nvPr>
        </p:nvGraphicFramePr>
        <p:xfrm>
          <a:off x="778717" y="1636917"/>
          <a:ext cx="1133732" cy="3008436"/>
        </p:xfrm>
        <a:graphic>
          <a:graphicData uri="http://schemas.openxmlformats.org/drawingml/2006/table">
            <a:tbl>
              <a:tblPr firstRow="1" bandRow="1">
                <a:tableStyleId>{93296810-A885-4BE3-A3E7-6D5BEEA58F35}</a:tableStyleId>
              </a:tblPr>
              <a:tblGrid>
                <a:gridCol w="1133732">
                  <a:extLst>
                    <a:ext uri="{9D8B030D-6E8A-4147-A177-3AD203B41FA5}">
                      <a16:colId xmlns:a16="http://schemas.microsoft.com/office/drawing/2014/main" val="4198427240"/>
                    </a:ext>
                  </a:extLst>
                </a:gridCol>
              </a:tblGrid>
              <a:tr h="813876">
                <a:tc>
                  <a:txBody>
                    <a:bodyPr/>
                    <a:lstStyle/>
                    <a:p>
                      <a:pPr algn="ctr"/>
                      <a:r>
                        <a:rPr lang="en-US" dirty="0"/>
                        <a:t>Your Sample</a:t>
                      </a:r>
                    </a:p>
                  </a:txBody>
                  <a:tcPr anchor="ctr"/>
                </a:tc>
                <a:extLst>
                  <a:ext uri="{0D108BD9-81ED-4DB2-BD59-A6C34878D82A}">
                    <a16:rowId xmlns:a16="http://schemas.microsoft.com/office/drawing/2014/main" val="2861302482"/>
                  </a:ext>
                </a:extLst>
              </a:tr>
              <a:tr h="325673">
                <a:tc>
                  <a:txBody>
                    <a:bodyPr/>
                    <a:lstStyle/>
                    <a:p>
                      <a:pPr algn="ctr"/>
                      <a:r>
                        <a:rPr lang="en-US" dirty="0"/>
                        <a:t>2</a:t>
                      </a:r>
                    </a:p>
                  </a:txBody>
                  <a:tcPr/>
                </a:tc>
                <a:extLst>
                  <a:ext uri="{0D108BD9-81ED-4DB2-BD59-A6C34878D82A}">
                    <a16:rowId xmlns:a16="http://schemas.microsoft.com/office/drawing/2014/main" val="2092285199"/>
                  </a:ext>
                </a:extLst>
              </a:tr>
              <a:tr h="325673">
                <a:tc>
                  <a:txBody>
                    <a:bodyPr/>
                    <a:lstStyle/>
                    <a:p>
                      <a:pPr algn="ctr"/>
                      <a:r>
                        <a:rPr lang="en-US" dirty="0"/>
                        <a:t>7</a:t>
                      </a:r>
                    </a:p>
                  </a:txBody>
                  <a:tcPr/>
                </a:tc>
                <a:extLst>
                  <a:ext uri="{0D108BD9-81ED-4DB2-BD59-A6C34878D82A}">
                    <a16:rowId xmlns:a16="http://schemas.microsoft.com/office/drawing/2014/main" val="3447318797"/>
                  </a:ext>
                </a:extLst>
              </a:tr>
              <a:tr h="325673">
                <a:tc>
                  <a:txBody>
                    <a:bodyPr/>
                    <a:lstStyle/>
                    <a:p>
                      <a:pPr algn="ctr"/>
                      <a:r>
                        <a:rPr lang="en-US" dirty="0"/>
                        <a:t>3</a:t>
                      </a:r>
                    </a:p>
                  </a:txBody>
                  <a:tcPr/>
                </a:tc>
                <a:extLst>
                  <a:ext uri="{0D108BD9-81ED-4DB2-BD59-A6C34878D82A}">
                    <a16:rowId xmlns:a16="http://schemas.microsoft.com/office/drawing/2014/main" val="3506493476"/>
                  </a:ext>
                </a:extLst>
              </a:tr>
              <a:tr h="325673">
                <a:tc>
                  <a:txBody>
                    <a:bodyPr/>
                    <a:lstStyle/>
                    <a:p>
                      <a:pPr algn="ctr"/>
                      <a:r>
                        <a:rPr lang="en-US" dirty="0"/>
                        <a:t>4</a:t>
                      </a:r>
                    </a:p>
                  </a:txBody>
                  <a:tcPr/>
                </a:tc>
                <a:extLst>
                  <a:ext uri="{0D108BD9-81ED-4DB2-BD59-A6C34878D82A}">
                    <a16:rowId xmlns:a16="http://schemas.microsoft.com/office/drawing/2014/main" val="4153438071"/>
                  </a:ext>
                </a:extLst>
              </a:tr>
              <a:tr h="325673">
                <a:tc>
                  <a:txBody>
                    <a:bodyPr/>
                    <a:lstStyle/>
                    <a:p>
                      <a:pPr algn="ctr"/>
                      <a:r>
                        <a:rPr lang="en-US" dirty="0"/>
                        <a:t>10</a:t>
                      </a:r>
                    </a:p>
                  </a:txBody>
                  <a:tcPr/>
                </a:tc>
                <a:extLst>
                  <a:ext uri="{0D108BD9-81ED-4DB2-BD59-A6C34878D82A}">
                    <a16:rowId xmlns:a16="http://schemas.microsoft.com/office/drawing/2014/main" val="66318644"/>
                  </a:ext>
                </a:extLst>
              </a:tr>
              <a:tr h="325673">
                <a:tc>
                  <a:txBody>
                    <a:bodyPr/>
                    <a:lstStyle/>
                    <a:p>
                      <a:pPr algn="ctr"/>
                      <a:r>
                        <a:rPr lang="en-US" dirty="0"/>
                        <a:t>6</a:t>
                      </a:r>
                    </a:p>
                  </a:txBody>
                  <a:tcPr/>
                </a:tc>
                <a:extLst>
                  <a:ext uri="{0D108BD9-81ED-4DB2-BD59-A6C34878D82A}">
                    <a16:rowId xmlns:a16="http://schemas.microsoft.com/office/drawing/2014/main" val="1430696392"/>
                  </a:ext>
                </a:extLst>
              </a:tr>
            </a:tbl>
          </a:graphicData>
        </a:graphic>
      </p:graphicFrame>
      <p:graphicFrame>
        <p:nvGraphicFramePr>
          <p:cNvPr id="27" name="Table 4">
            <a:extLst>
              <a:ext uri="{FF2B5EF4-FFF2-40B4-BE49-F238E27FC236}">
                <a16:creationId xmlns:a16="http://schemas.microsoft.com/office/drawing/2014/main" id="{B861A2AF-8ADD-3AB3-5625-8C37590D2821}"/>
              </a:ext>
            </a:extLst>
          </p:cNvPr>
          <p:cNvGraphicFramePr>
            <a:graphicFrameLocks/>
          </p:cNvGraphicFramePr>
          <p:nvPr/>
        </p:nvGraphicFramePr>
        <p:xfrm>
          <a:off x="4161146" y="1636917"/>
          <a:ext cx="1268104" cy="3008436"/>
        </p:xfrm>
        <a:graphic>
          <a:graphicData uri="http://schemas.openxmlformats.org/drawingml/2006/table">
            <a:tbl>
              <a:tblPr firstRow="1" bandRow="1">
                <a:tableStyleId>{93296810-A885-4BE3-A3E7-6D5BEEA58F35}</a:tableStyleId>
              </a:tblPr>
              <a:tblGrid>
                <a:gridCol w="1268104">
                  <a:extLst>
                    <a:ext uri="{9D8B030D-6E8A-4147-A177-3AD203B41FA5}">
                      <a16:colId xmlns:a16="http://schemas.microsoft.com/office/drawing/2014/main" val="4198427240"/>
                    </a:ext>
                  </a:extLst>
                </a:gridCol>
              </a:tblGrid>
              <a:tr h="813876">
                <a:tc>
                  <a:txBody>
                    <a:bodyPr/>
                    <a:lstStyle/>
                    <a:p>
                      <a:pPr algn="ctr"/>
                      <a:r>
                        <a:rPr lang="en-US" dirty="0"/>
                        <a:t>Bootstrap Sample 1</a:t>
                      </a:r>
                    </a:p>
                  </a:txBody>
                  <a:tcPr anchor="ctr"/>
                </a:tc>
                <a:extLst>
                  <a:ext uri="{0D108BD9-81ED-4DB2-BD59-A6C34878D82A}">
                    <a16:rowId xmlns:a16="http://schemas.microsoft.com/office/drawing/2014/main" val="2861302482"/>
                  </a:ext>
                </a:extLst>
              </a:tr>
              <a:tr h="325673">
                <a:tc>
                  <a:txBody>
                    <a:bodyPr/>
                    <a:lstStyle/>
                    <a:p>
                      <a:pPr algn="ctr"/>
                      <a:endParaRPr lang="en-US" dirty="0"/>
                    </a:p>
                  </a:txBody>
                  <a:tcPr/>
                </a:tc>
                <a:extLst>
                  <a:ext uri="{0D108BD9-81ED-4DB2-BD59-A6C34878D82A}">
                    <a16:rowId xmlns:a16="http://schemas.microsoft.com/office/drawing/2014/main" val="2092285199"/>
                  </a:ext>
                </a:extLst>
              </a:tr>
              <a:tr h="325673">
                <a:tc>
                  <a:txBody>
                    <a:bodyPr/>
                    <a:lstStyle/>
                    <a:p>
                      <a:pPr algn="ctr"/>
                      <a:endParaRPr lang="en-US" dirty="0"/>
                    </a:p>
                  </a:txBody>
                  <a:tcPr/>
                </a:tc>
                <a:extLst>
                  <a:ext uri="{0D108BD9-81ED-4DB2-BD59-A6C34878D82A}">
                    <a16:rowId xmlns:a16="http://schemas.microsoft.com/office/drawing/2014/main" val="3447318797"/>
                  </a:ext>
                </a:extLst>
              </a:tr>
              <a:tr h="325673">
                <a:tc>
                  <a:txBody>
                    <a:bodyPr/>
                    <a:lstStyle/>
                    <a:p>
                      <a:pPr algn="ctr"/>
                      <a:endParaRPr lang="en-US" dirty="0"/>
                    </a:p>
                  </a:txBody>
                  <a:tcPr/>
                </a:tc>
                <a:extLst>
                  <a:ext uri="{0D108BD9-81ED-4DB2-BD59-A6C34878D82A}">
                    <a16:rowId xmlns:a16="http://schemas.microsoft.com/office/drawing/2014/main" val="3506493476"/>
                  </a:ext>
                </a:extLst>
              </a:tr>
              <a:tr h="325673">
                <a:tc>
                  <a:txBody>
                    <a:bodyPr/>
                    <a:lstStyle/>
                    <a:p>
                      <a:pPr algn="ctr"/>
                      <a:endParaRPr lang="en-US" dirty="0"/>
                    </a:p>
                  </a:txBody>
                  <a:tcPr/>
                </a:tc>
                <a:extLst>
                  <a:ext uri="{0D108BD9-81ED-4DB2-BD59-A6C34878D82A}">
                    <a16:rowId xmlns:a16="http://schemas.microsoft.com/office/drawing/2014/main" val="4153438071"/>
                  </a:ext>
                </a:extLst>
              </a:tr>
              <a:tr h="325673">
                <a:tc>
                  <a:txBody>
                    <a:bodyPr/>
                    <a:lstStyle/>
                    <a:p>
                      <a:pPr algn="ctr"/>
                      <a:endParaRPr lang="en-US" dirty="0"/>
                    </a:p>
                  </a:txBody>
                  <a:tcPr/>
                </a:tc>
                <a:extLst>
                  <a:ext uri="{0D108BD9-81ED-4DB2-BD59-A6C34878D82A}">
                    <a16:rowId xmlns:a16="http://schemas.microsoft.com/office/drawing/2014/main" val="66318644"/>
                  </a:ext>
                </a:extLst>
              </a:tr>
              <a:tr h="325673">
                <a:tc>
                  <a:txBody>
                    <a:bodyPr/>
                    <a:lstStyle/>
                    <a:p>
                      <a:pPr algn="ctr"/>
                      <a:endParaRPr lang="en-US" dirty="0"/>
                    </a:p>
                  </a:txBody>
                  <a:tcPr/>
                </a:tc>
                <a:extLst>
                  <a:ext uri="{0D108BD9-81ED-4DB2-BD59-A6C34878D82A}">
                    <a16:rowId xmlns:a16="http://schemas.microsoft.com/office/drawing/2014/main" val="1430696392"/>
                  </a:ext>
                </a:extLst>
              </a:tr>
            </a:tbl>
          </a:graphicData>
        </a:graphic>
      </p:graphicFrame>
      <p:grpSp>
        <p:nvGrpSpPr>
          <p:cNvPr id="9" name="Group 8">
            <a:extLst>
              <a:ext uri="{FF2B5EF4-FFF2-40B4-BE49-F238E27FC236}">
                <a16:creationId xmlns:a16="http://schemas.microsoft.com/office/drawing/2014/main" id="{CBE4217E-B706-1B82-A294-0EF9605AE898}"/>
              </a:ext>
            </a:extLst>
          </p:cNvPr>
          <p:cNvGrpSpPr/>
          <p:nvPr/>
        </p:nvGrpSpPr>
        <p:grpSpPr>
          <a:xfrm>
            <a:off x="2038533" y="1636917"/>
            <a:ext cx="1989100" cy="751675"/>
            <a:chOff x="6330500" y="3372891"/>
            <a:chExt cx="2720699" cy="1028144"/>
          </a:xfrm>
        </p:grpSpPr>
        <p:grpSp>
          <p:nvGrpSpPr>
            <p:cNvPr id="29" name="Group 28">
              <a:extLst>
                <a:ext uri="{FF2B5EF4-FFF2-40B4-BE49-F238E27FC236}">
                  <a16:creationId xmlns:a16="http://schemas.microsoft.com/office/drawing/2014/main" id="{9C767B04-D1DC-0AA4-4F99-9772D73609B5}"/>
                </a:ext>
              </a:extLst>
            </p:cNvPr>
            <p:cNvGrpSpPr/>
            <p:nvPr/>
          </p:nvGrpSpPr>
          <p:grpSpPr>
            <a:xfrm flipH="1">
              <a:off x="6330500" y="3372891"/>
              <a:ext cx="2720699" cy="1028144"/>
              <a:chOff x="6583915" y="3372891"/>
              <a:chExt cx="2720699" cy="1028144"/>
            </a:xfrm>
          </p:grpSpPr>
          <p:sp>
            <p:nvSpPr>
              <p:cNvPr id="30" name="Freeform 5">
                <a:extLst>
                  <a:ext uri="{FF2B5EF4-FFF2-40B4-BE49-F238E27FC236}">
                    <a16:creationId xmlns:a16="http://schemas.microsoft.com/office/drawing/2014/main" id="{68680FC7-4317-D4E8-A4CF-0A7BF2CCF9E0}"/>
                  </a:ext>
                </a:extLst>
              </p:cNvPr>
              <p:cNvSpPr>
                <a:spLocks/>
              </p:cNvSpPr>
              <p:nvPr/>
            </p:nvSpPr>
            <p:spPr bwMode="auto">
              <a:xfrm>
                <a:off x="8080515"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1" name="Freeform 5">
                <a:extLst>
                  <a:ext uri="{FF2B5EF4-FFF2-40B4-BE49-F238E27FC236}">
                    <a16:creationId xmlns:a16="http://schemas.microsoft.com/office/drawing/2014/main" id="{30F21C45-544B-8392-64AF-A6B400448787}"/>
                  </a:ext>
                </a:extLst>
              </p:cNvPr>
              <p:cNvSpPr>
                <a:spLocks/>
              </p:cNvSpPr>
              <p:nvPr/>
            </p:nvSpPr>
            <p:spPr bwMode="auto">
              <a:xfrm>
                <a:off x="7361204"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nvGrpSpPr>
              <p:cNvPr id="32" name="Group 31">
                <a:extLst>
                  <a:ext uri="{FF2B5EF4-FFF2-40B4-BE49-F238E27FC236}">
                    <a16:creationId xmlns:a16="http://schemas.microsoft.com/office/drawing/2014/main" id="{020EF95E-2C42-5E12-1FD3-F18FE08BA52B}"/>
                  </a:ext>
                </a:extLst>
              </p:cNvPr>
              <p:cNvGrpSpPr/>
              <p:nvPr/>
            </p:nvGrpSpPr>
            <p:grpSpPr>
              <a:xfrm>
                <a:off x="6583915" y="3372892"/>
                <a:ext cx="1234278" cy="1028143"/>
                <a:chOff x="1451772" y="4010848"/>
                <a:chExt cx="5337253" cy="4445888"/>
              </a:xfrm>
            </p:grpSpPr>
            <p:sp>
              <p:nvSpPr>
                <p:cNvPr id="35" name="Freeform 5">
                  <a:extLst>
                    <a:ext uri="{FF2B5EF4-FFF2-40B4-BE49-F238E27FC236}">
                      <a16:creationId xmlns:a16="http://schemas.microsoft.com/office/drawing/2014/main" id="{A7751FAD-6C48-F950-1E41-2A3C2C72091E}"/>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6" name="Freeform 6">
                  <a:extLst>
                    <a:ext uri="{FF2B5EF4-FFF2-40B4-BE49-F238E27FC236}">
                      <a16:creationId xmlns:a16="http://schemas.microsoft.com/office/drawing/2014/main" id="{F102450B-B03B-1C8D-E8BF-2339247D7FE0}"/>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33" name="Freeform 6">
                <a:extLst>
                  <a:ext uri="{FF2B5EF4-FFF2-40B4-BE49-F238E27FC236}">
                    <a16:creationId xmlns:a16="http://schemas.microsoft.com/office/drawing/2014/main" id="{D3CA5600-CCBC-AA00-AC6F-0220256F6BD2}"/>
                  </a:ext>
                </a:extLst>
              </p:cNvPr>
              <p:cNvSpPr>
                <a:spLocks/>
              </p:cNvSpPr>
              <p:nvPr/>
            </p:nvSpPr>
            <p:spPr bwMode="auto">
              <a:xfrm>
                <a:off x="7343923"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4" name="Freeform 6">
                <a:extLst>
                  <a:ext uri="{FF2B5EF4-FFF2-40B4-BE49-F238E27FC236}">
                    <a16:creationId xmlns:a16="http://schemas.microsoft.com/office/drawing/2014/main" id="{A96477D8-9393-CC99-5DD0-C609F89606EB}"/>
                  </a:ext>
                </a:extLst>
              </p:cNvPr>
              <p:cNvSpPr>
                <a:spLocks/>
              </p:cNvSpPr>
              <p:nvPr/>
            </p:nvSpPr>
            <p:spPr bwMode="auto">
              <a:xfrm>
                <a:off x="8063234"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7" name="TextBox 6">
              <a:extLst>
                <a:ext uri="{FF2B5EF4-FFF2-40B4-BE49-F238E27FC236}">
                  <a16:creationId xmlns:a16="http://schemas.microsoft.com/office/drawing/2014/main" id="{FA60B041-461E-E7F6-C520-2A292B643AB4}"/>
                </a:ext>
              </a:extLst>
            </p:cNvPr>
            <p:cNvSpPr txBox="1"/>
            <p:nvPr/>
          </p:nvSpPr>
          <p:spPr>
            <a:xfrm>
              <a:off x="6881304" y="3421496"/>
              <a:ext cx="1533062" cy="884054"/>
            </a:xfrm>
            <a:prstGeom prst="rect">
              <a:avLst/>
            </a:prstGeom>
            <a:noFill/>
          </p:spPr>
          <p:txBody>
            <a:bodyPr wrap="none" rtlCol="0">
              <a:spAutoFit/>
            </a:bodyPr>
            <a:lstStyle/>
            <a:p>
              <a:pPr algn="ctr"/>
              <a:r>
                <a:rPr lang="en-US" dirty="0">
                  <a:solidFill>
                    <a:schemeClr val="bg1"/>
                  </a:solidFill>
                </a:rPr>
                <a:t>Random </a:t>
              </a:r>
            </a:p>
            <a:p>
              <a:pPr algn="ctr"/>
              <a:r>
                <a:rPr lang="en-US" dirty="0">
                  <a:solidFill>
                    <a:schemeClr val="bg1"/>
                  </a:solidFill>
                </a:rPr>
                <a:t>select</a:t>
              </a:r>
            </a:p>
          </p:txBody>
        </p:sp>
      </p:grpSp>
      <p:sp>
        <p:nvSpPr>
          <p:cNvPr id="37" name="Rounded Rectangle 36">
            <a:extLst>
              <a:ext uri="{FF2B5EF4-FFF2-40B4-BE49-F238E27FC236}">
                <a16:creationId xmlns:a16="http://schemas.microsoft.com/office/drawing/2014/main" id="{143820F2-ABC2-FCF8-1565-F5CB7D365640}"/>
              </a:ext>
            </a:extLst>
          </p:cNvPr>
          <p:cNvSpPr/>
          <p:nvPr/>
        </p:nvSpPr>
        <p:spPr>
          <a:xfrm>
            <a:off x="652632" y="712640"/>
            <a:ext cx="1385901" cy="701439"/>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Role as population</a:t>
            </a:r>
          </a:p>
        </p:txBody>
      </p:sp>
    </p:spTree>
    <p:extLst>
      <p:ext uri="{BB962C8B-B14F-4D97-AF65-F5344CB8AC3E}">
        <p14:creationId xmlns:p14="http://schemas.microsoft.com/office/powerpoint/2010/main" val="1512092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08333E-6 1.48148E-6 L 2.08333E-6 0.35856 " pathEditMode="relative" rAng="0" ptsTypes="AA">
                                      <p:cBhvr>
                                        <p:cTn id="6" dur="2000" fill="hold"/>
                                        <p:tgtEl>
                                          <p:spTgt spid="9"/>
                                        </p:tgtEl>
                                        <p:attrNameLst>
                                          <p:attrName>ppt_x</p:attrName>
                                          <p:attrName>ppt_y</p:attrName>
                                        </p:attrNameLst>
                                      </p:cBhvr>
                                      <p:rCtr x="0" y="1791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28E6AE2D-C5A2-6D04-A070-F7CBC0A15DE0}"/>
              </a:ext>
            </a:extLst>
          </p:cNvPr>
          <p:cNvGraphicFramePr>
            <a:graphicFrameLocks noGrp="1"/>
          </p:cNvGraphicFramePr>
          <p:nvPr>
            <p:ph idx="4294967295"/>
          </p:nvPr>
        </p:nvGraphicFramePr>
        <p:xfrm>
          <a:off x="778717" y="1636917"/>
          <a:ext cx="1133732" cy="3008436"/>
        </p:xfrm>
        <a:graphic>
          <a:graphicData uri="http://schemas.openxmlformats.org/drawingml/2006/table">
            <a:tbl>
              <a:tblPr firstRow="1" bandRow="1">
                <a:tableStyleId>{93296810-A885-4BE3-A3E7-6D5BEEA58F35}</a:tableStyleId>
              </a:tblPr>
              <a:tblGrid>
                <a:gridCol w="1133732">
                  <a:extLst>
                    <a:ext uri="{9D8B030D-6E8A-4147-A177-3AD203B41FA5}">
                      <a16:colId xmlns:a16="http://schemas.microsoft.com/office/drawing/2014/main" val="4198427240"/>
                    </a:ext>
                  </a:extLst>
                </a:gridCol>
              </a:tblGrid>
              <a:tr h="813876">
                <a:tc>
                  <a:txBody>
                    <a:bodyPr/>
                    <a:lstStyle/>
                    <a:p>
                      <a:pPr algn="ctr"/>
                      <a:r>
                        <a:rPr lang="en-US" dirty="0"/>
                        <a:t>Your Sample</a:t>
                      </a:r>
                    </a:p>
                  </a:txBody>
                  <a:tcPr anchor="ctr"/>
                </a:tc>
                <a:extLst>
                  <a:ext uri="{0D108BD9-81ED-4DB2-BD59-A6C34878D82A}">
                    <a16:rowId xmlns:a16="http://schemas.microsoft.com/office/drawing/2014/main" val="2861302482"/>
                  </a:ext>
                </a:extLst>
              </a:tr>
              <a:tr h="325673">
                <a:tc>
                  <a:txBody>
                    <a:bodyPr/>
                    <a:lstStyle/>
                    <a:p>
                      <a:pPr algn="ctr"/>
                      <a:r>
                        <a:rPr lang="en-US" dirty="0"/>
                        <a:t>2</a:t>
                      </a:r>
                    </a:p>
                  </a:txBody>
                  <a:tcPr/>
                </a:tc>
                <a:extLst>
                  <a:ext uri="{0D108BD9-81ED-4DB2-BD59-A6C34878D82A}">
                    <a16:rowId xmlns:a16="http://schemas.microsoft.com/office/drawing/2014/main" val="2092285199"/>
                  </a:ext>
                </a:extLst>
              </a:tr>
              <a:tr h="325673">
                <a:tc>
                  <a:txBody>
                    <a:bodyPr/>
                    <a:lstStyle/>
                    <a:p>
                      <a:pPr algn="ctr"/>
                      <a:r>
                        <a:rPr lang="en-US" dirty="0"/>
                        <a:t>7</a:t>
                      </a:r>
                    </a:p>
                  </a:txBody>
                  <a:tcPr/>
                </a:tc>
                <a:extLst>
                  <a:ext uri="{0D108BD9-81ED-4DB2-BD59-A6C34878D82A}">
                    <a16:rowId xmlns:a16="http://schemas.microsoft.com/office/drawing/2014/main" val="3447318797"/>
                  </a:ext>
                </a:extLst>
              </a:tr>
              <a:tr h="325673">
                <a:tc>
                  <a:txBody>
                    <a:bodyPr/>
                    <a:lstStyle/>
                    <a:p>
                      <a:pPr algn="ctr"/>
                      <a:r>
                        <a:rPr lang="en-US" dirty="0"/>
                        <a:t>3</a:t>
                      </a:r>
                    </a:p>
                  </a:txBody>
                  <a:tcPr/>
                </a:tc>
                <a:extLst>
                  <a:ext uri="{0D108BD9-81ED-4DB2-BD59-A6C34878D82A}">
                    <a16:rowId xmlns:a16="http://schemas.microsoft.com/office/drawing/2014/main" val="3506493476"/>
                  </a:ext>
                </a:extLst>
              </a:tr>
              <a:tr h="325673">
                <a:tc>
                  <a:txBody>
                    <a:bodyPr/>
                    <a:lstStyle/>
                    <a:p>
                      <a:pPr algn="ctr"/>
                      <a:r>
                        <a:rPr lang="en-US" dirty="0"/>
                        <a:t>4</a:t>
                      </a:r>
                    </a:p>
                  </a:txBody>
                  <a:tcPr/>
                </a:tc>
                <a:extLst>
                  <a:ext uri="{0D108BD9-81ED-4DB2-BD59-A6C34878D82A}">
                    <a16:rowId xmlns:a16="http://schemas.microsoft.com/office/drawing/2014/main" val="4153438071"/>
                  </a:ext>
                </a:extLst>
              </a:tr>
              <a:tr h="325673">
                <a:tc>
                  <a:txBody>
                    <a:bodyPr/>
                    <a:lstStyle/>
                    <a:p>
                      <a:pPr algn="ctr"/>
                      <a:r>
                        <a:rPr lang="en-US" dirty="0"/>
                        <a:t>10</a:t>
                      </a:r>
                    </a:p>
                  </a:txBody>
                  <a:tcPr/>
                </a:tc>
                <a:extLst>
                  <a:ext uri="{0D108BD9-81ED-4DB2-BD59-A6C34878D82A}">
                    <a16:rowId xmlns:a16="http://schemas.microsoft.com/office/drawing/2014/main" val="66318644"/>
                  </a:ext>
                </a:extLst>
              </a:tr>
              <a:tr h="325673">
                <a:tc>
                  <a:txBody>
                    <a:bodyPr/>
                    <a:lstStyle/>
                    <a:p>
                      <a:pPr algn="ctr"/>
                      <a:r>
                        <a:rPr lang="en-US" dirty="0"/>
                        <a:t>6</a:t>
                      </a:r>
                    </a:p>
                  </a:txBody>
                  <a:tcPr/>
                </a:tc>
                <a:extLst>
                  <a:ext uri="{0D108BD9-81ED-4DB2-BD59-A6C34878D82A}">
                    <a16:rowId xmlns:a16="http://schemas.microsoft.com/office/drawing/2014/main" val="1430696392"/>
                  </a:ext>
                </a:extLst>
              </a:tr>
            </a:tbl>
          </a:graphicData>
        </a:graphic>
      </p:graphicFrame>
      <p:graphicFrame>
        <p:nvGraphicFramePr>
          <p:cNvPr id="27" name="Table 4">
            <a:extLst>
              <a:ext uri="{FF2B5EF4-FFF2-40B4-BE49-F238E27FC236}">
                <a16:creationId xmlns:a16="http://schemas.microsoft.com/office/drawing/2014/main" id="{B861A2AF-8ADD-3AB3-5625-8C37590D2821}"/>
              </a:ext>
            </a:extLst>
          </p:cNvPr>
          <p:cNvGraphicFramePr>
            <a:graphicFrameLocks/>
          </p:cNvGraphicFramePr>
          <p:nvPr/>
        </p:nvGraphicFramePr>
        <p:xfrm>
          <a:off x="4161146" y="1636917"/>
          <a:ext cx="1268104" cy="3008436"/>
        </p:xfrm>
        <a:graphic>
          <a:graphicData uri="http://schemas.openxmlformats.org/drawingml/2006/table">
            <a:tbl>
              <a:tblPr firstRow="1" bandRow="1">
                <a:tableStyleId>{93296810-A885-4BE3-A3E7-6D5BEEA58F35}</a:tableStyleId>
              </a:tblPr>
              <a:tblGrid>
                <a:gridCol w="1268104">
                  <a:extLst>
                    <a:ext uri="{9D8B030D-6E8A-4147-A177-3AD203B41FA5}">
                      <a16:colId xmlns:a16="http://schemas.microsoft.com/office/drawing/2014/main" val="4198427240"/>
                    </a:ext>
                  </a:extLst>
                </a:gridCol>
              </a:tblGrid>
              <a:tr h="813876">
                <a:tc>
                  <a:txBody>
                    <a:bodyPr/>
                    <a:lstStyle/>
                    <a:p>
                      <a:pPr algn="ctr"/>
                      <a:r>
                        <a:rPr lang="en-US" dirty="0"/>
                        <a:t>Bootstrap Sample 1</a:t>
                      </a:r>
                    </a:p>
                  </a:txBody>
                  <a:tcPr anchor="ctr"/>
                </a:tc>
                <a:extLst>
                  <a:ext uri="{0D108BD9-81ED-4DB2-BD59-A6C34878D82A}">
                    <a16:rowId xmlns:a16="http://schemas.microsoft.com/office/drawing/2014/main" val="2861302482"/>
                  </a:ext>
                </a:extLst>
              </a:tr>
              <a:tr h="325673">
                <a:tc>
                  <a:txBody>
                    <a:bodyPr/>
                    <a:lstStyle/>
                    <a:p>
                      <a:pPr algn="ctr"/>
                      <a:r>
                        <a:rPr lang="en-US" dirty="0"/>
                        <a:t>3</a:t>
                      </a:r>
                    </a:p>
                  </a:txBody>
                  <a:tcPr/>
                </a:tc>
                <a:extLst>
                  <a:ext uri="{0D108BD9-81ED-4DB2-BD59-A6C34878D82A}">
                    <a16:rowId xmlns:a16="http://schemas.microsoft.com/office/drawing/2014/main" val="2092285199"/>
                  </a:ext>
                </a:extLst>
              </a:tr>
              <a:tr h="325673">
                <a:tc>
                  <a:txBody>
                    <a:bodyPr/>
                    <a:lstStyle/>
                    <a:p>
                      <a:pPr algn="ctr"/>
                      <a:endParaRPr lang="en-US" dirty="0"/>
                    </a:p>
                  </a:txBody>
                  <a:tcPr/>
                </a:tc>
                <a:extLst>
                  <a:ext uri="{0D108BD9-81ED-4DB2-BD59-A6C34878D82A}">
                    <a16:rowId xmlns:a16="http://schemas.microsoft.com/office/drawing/2014/main" val="3447318797"/>
                  </a:ext>
                </a:extLst>
              </a:tr>
              <a:tr h="325673">
                <a:tc>
                  <a:txBody>
                    <a:bodyPr/>
                    <a:lstStyle/>
                    <a:p>
                      <a:pPr algn="ctr"/>
                      <a:endParaRPr lang="en-US" dirty="0"/>
                    </a:p>
                  </a:txBody>
                  <a:tcPr/>
                </a:tc>
                <a:extLst>
                  <a:ext uri="{0D108BD9-81ED-4DB2-BD59-A6C34878D82A}">
                    <a16:rowId xmlns:a16="http://schemas.microsoft.com/office/drawing/2014/main" val="3506493476"/>
                  </a:ext>
                </a:extLst>
              </a:tr>
              <a:tr h="325673">
                <a:tc>
                  <a:txBody>
                    <a:bodyPr/>
                    <a:lstStyle/>
                    <a:p>
                      <a:pPr algn="ctr"/>
                      <a:endParaRPr lang="en-US" dirty="0"/>
                    </a:p>
                  </a:txBody>
                  <a:tcPr/>
                </a:tc>
                <a:extLst>
                  <a:ext uri="{0D108BD9-81ED-4DB2-BD59-A6C34878D82A}">
                    <a16:rowId xmlns:a16="http://schemas.microsoft.com/office/drawing/2014/main" val="4153438071"/>
                  </a:ext>
                </a:extLst>
              </a:tr>
              <a:tr h="325673">
                <a:tc>
                  <a:txBody>
                    <a:bodyPr/>
                    <a:lstStyle/>
                    <a:p>
                      <a:pPr algn="ctr"/>
                      <a:endParaRPr lang="en-US" dirty="0"/>
                    </a:p>
                  </a:txBody>
                  <a:tcPr/>
                </a:tc>
                <a:extLst>
                  <a:ext uri="{0D108BD9-81ED-4DB2-BD59-A6C34878D82A}">
                    <a16:rowId xmlns:a16="http://schemas.microsoft.com/office/drawing/2014/main" val="66318644"/>
                  </a:ext>
                </a:extLst>
              </a:tr>
              <a:tr h="325673">
                <a:tc>
                  <a:txBody>
                    <a:bodyPr/>
                    <a:lstStyle/>
                    <a:p>
                      <a:pPr algn="ctr"/>
                      <a:endParaRPr lang="en-US" dirty="0"/>
                    </a:p>
                  </a:txBody>
                  <a:tcPr/>
                </a:tc>
                <a:extLst>
                  <a:ext uri="{0D108BD9-81ED-4DB2-BD59-A6C34878D82A}">
                    <a16:rowId xmlns:a16="http://schemas.microsoft.com/office/drawing/2014/main" val="1430696392"/>
                  </a:ext>
                </a:extLst>
              </a:tr>
            </a:tbl>
          </a:graphicData>
        </a:graphic>
      </p:graphicFrame>
      <p:grpSp>
        <p:nvGrpSpPr>
          <p:cNvPr id="9" name="Group 8">
            <a:extLst>
              <a:ext uri="{FF2B5EF4-FFF2-40B4-BE49-F238E27FC236}">
                <a16:creationId xmlns:a16="http://schemas.microsoft.com/office/drawing/2014/main" id="{CBE4217E-B706-1B82-A294-0EF9605AE898}"/>
              </a:ext>
            </a:extLst>
          </p:cNvPr>
          <p:cNvGrpSpPr/>
          <p:nvPr/>
        </p:nvGrpSpPr>
        <p:grpSpPr>
          <a:xfrm>
            <a:off x="1980262" y="2977366"/>
            <a:ext cx="1989100" cy="751675"/>
            <a:chOff x="6330500" y="3372891"/>
            <a:chExt cx="2720699" cy="1028144"/>
          </a:xfrm>
        </p:grpSpPr>
        <p:grpSp>
          <p:nvGrpSpPr>
            <p:cNvPr id="29" name="Group 28">
              <a:extLst>
                <a:ext uri="{FF2B5EF4-FFF2-40B4-BE49-F238E27FC236}">
                  <a16:creationId xmlns:a16="http://schemas.microsoft.com/office/drawing/2014/main" id="{9C767B04-D1DC-0AA4-4F99-9772D73609B5}"/>
                </a:ext>
              </a:extLst>
            </p:cNvPr>
            <p:cNvGrpSpPr/>
            <p:nvPr/>
          </p:nvGrpSpPr>
          <p:grpSpPr>
            <a:xfrm flipH="1">
              <a:off x="6330500" y="3372891"/>
              <a:ext cx="2720699" cy="1028144"/>
              <a:chOff x="6583915" y="3372891"/>
              <a:chExt cx="2720699" cy="1028144"/>
            </a:xfrm>
          </p:grpSpPr>
          <p:sp>
            <p:nvSpPr>
              <p:cNvPr id="30" name="Freeform 5">
                <a:extLst>
                  <a:ext uri="{FF2B5EF4-FFF2-40B4-BE49-F238E27FC236}">
                    <a16:creationId xmlns:a16="http://schemas.microsoft.com/office/drawing/2014/main" id="{68680FC7-4317-D4E8-A4CF-0A7BF2CCF9E0}"/>
                  </a:ext>
                </a:extLst>
              </p:cNvPr>
              <p:cNvSpPr>
                <a:spLocks/>
              </p:cNvSpPr>
              <p:nvPr/>
            </p:nvSpPr>
            <p:spPr bwMode="auto">
              <a:xfrm>
                <a:off x="8080515"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1" name="Freeform 5">
                <a:extLst>
                  <a:ext uri="{FF2B5EF4-FFF2-40B4-BE49-F238E27FC236}">
                    <a16:creationId xmlns:a16="http://schemas.microsoft.com/office/drawing/2014/main" id="{30F21C45-544B-8392-64AF-A6B400448787}"/>
                  </a:ext>
                </a:extLst>
              </p:cNvPr>
              <p:cNvSpPr>
                <a:spLocks/>
              </p:cNvSpPr>
              <p:nvPr/>
            </p:nvSpPr>
            <p:spPr bwMode="auto">
              <a:xfrm>
                <a:off x="7361204"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nvGrpSpPr>
              <p:cNvPr id="32" name="Group 31">
                <a:extLst>
                  <a:ext uri="{FF2B5EF4-FFF2-40B4-BE49-F238E27FC236}">
                    <a16:creationId xmlns:a16="http://schemas.microsoft.com/office/drawing/2014/main" id="{020EF95E-2C42-5E12-1FD3-F18FE08BA52B}"/>
                  </a:ext>
                </a:extLst>
              </p:cNvPr>
              <p:cNvGrpSpPr/>
              <p:nvPr/>
            </p:nvGrpSpPr>
            <p:grpSpPr>
              <a:xfrm>
                <a:off x="6583915" y="3372892"/>
                <a:ext cx="1234278" cy="1028143"/>
                <a:chOff x="1451772" y="4010848"/>
                <a:chExt cx="5337253" cy="4445888"/>
              </a:xfrm>
            </p:grpSpPr>
            <p:sp>
              <p:nvSpPr>
                <p:cNvPr id="35" name="Freeform 5">
                  <a:extLst>
                    <a:ext uri="{FF2B5EF4-FFF2-40B4-BE49-F238E27FC236}">
                      <a16:creationId xmlns:a16="http://schemas.microsoft.com/office/drawing/2014/main" id="{A7751FAD-6C48-F950-1E41-2A3C2C72091E}"/>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6" name="Freeform 6">
                  <a:extLst>
                    <a:ext uri="{FF2B5EF4-FFF2-40B4-BE49-F238E27FC236}">
                      <a16:creationId xmlns:a16="http://schemas.microsoft.com/office/drawing/2014/main" id="{F102450B-B03B-1C8D-E8BF-2339247D7FE0}"/>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33" name="Freeform 6">
                <a:extLst>
                  <a:ext uri="{FF2B5EF4-FFF2-40B4-BE49-F238E27FC236}">
                    <a16:creationId xmlns:a16="http://schemas.microsoft.com/office/drawing/2014/main" id="{D3CA5600-CCBC-AA00-AC6F-0220256F6BD2}"/>
                  </a:ext>
                </a:extLst>
              </p:cNvPr>
              <p:cNvSpPr>
                <a:spLocks/>
              </p:cNvSpPr>
              <p:nvPr/>
            </p:nvSpPr>
            <p:spPr bwMode="auto">
              <a:xfrm>
                <a:off x="7343923"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4" name="Freeform 6">
                <a:extLst>
                  <a:ext uri="{FF2B5EF4-FFF2-40B4-BE49-F238E27FC236}">
                    <a16:creationId xmlns:a16="http://schemas.microsoft.com/office/drawing/2014/main" id="{A96477D8-9393-CC99-5DD0-C609F89606EB}"/>
                  </a:ext>
                </a:extLst>
              </p:cNvPr>
              <p:cNvSpPr>
                <a:spLocks/>
              </p:cNvSpPr>
              <p:nvPr/>
            </p:nvSpPr>
            <p:spPr bwMode="auto">
              <a:xfrm>
                <a:off x="8063234"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7" name="TextBox 6">
              <a:extLst>
                <a:ext uri="{FF2B5EF4-FFF2-40B4-BE49-F238E27FC236}">
                  <a16:creationId xmlns:a16="http://schemas.microsoft.com/office/drawing/2014/main" id="{FA60B041-461E-E7F6-C520-2A292B643AB4}"/>
                </a:ext>
              </a:extLst>
            </p:cNvPr>
            <p:cNvSpPr txBox="1"/>
            <p:nvPr/>
          </p:nvSpPr>
          <p:spPr>
            <a:xfrm>
              <a:off x="6881304" y="3421496"/>
              <a:ext cx="1533062" cy="884054"/>
            </a:xfrm>
            <a:prstGeom prst="rect">
              <a:avLst/>
            </a:prstGeom>
            <a:noFill/>
          </p:spPr>
          <p:txBody>
            <a:bodyPr wrap="none" rtlCol="0">
              <a:spAutoFit/>
            </a:bodyPr>
            <a:lstStyle/>
            <a:p>
              <a:pPr algn="ctr"/>
              <a:r>
                <a:rPr lang="en-US" dirty="0">
                  <a:solidFill>
                    <a:schemeClr val="bg1"/>
                  </a:solidFill>
                </a:rPr>
                <a:t>Random </a:t>
              </a:r>
            </a:p>
            <a:p>
              <a:pPr algn="ctr"/>
              <a:r>
                <a:rPr lang="en-US" dirty="0">
                  <a:solidFill>
                    <a:schemeClr val="bg1"/>
                  </a:solidFill>
                </a:rPr>
                <a:t>select</a:t>
              </a:r>
            </a:p>
          </p:txBody>
        </p:sp>
      </p:grpSp>
      <p:sp>
        <p:nvSpPr>
          <p:cNvPr id="37" name="Rounded Rectangle 36">
            <a:extLst>
              <a:ext uri="{FF2B5EF4-FFF2-40B4-BE49-F238E27FC236}">
                <a16:creationId xmlns:a16="http://schemas.microsoft.com/office/drawing/2014/main" id="{143820F2-ABC2-FCF8-1565-F5CB7D365640}"/>
              </a:ext>
            </a:extLst>
          </p:cNvPr>
          <p:cNvSpPr/>
          <p:nvPr/>
        </p:nvSpPr>
        <p:spPr>
          <a:xfrm>
            <a:off x="652632" y="712640"/>
            <a:ext cx="1385901" cy="701439"/>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Role as population</a:t>
            </a:r>
          </a:p>
        </p:txBody>
      </p:sp>
    </p:spTree>
    <p:extLst>
      <p:ext uri="{BB962C8B-B14F-4D97-AF65-F5344CB8AC3E}">
        <p14:creationId xmlns:p14="http://schemas.microsoft.com/office/powerpoint/2010/main" val="41218515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28E6AE2D-C5A2-6D04-A070-F7CBC0A15DE0}"/>
              </a:ext>
            </a:extLst>
          </p:cNvPr>
          <p:cNvGraphicFramePr>
            <a:graphicFrameLocks noGrp="1"/>
          </p:cNvGraphicFramePr>
          <p:nvPr>
            <p:ph idx="4294967295"/>
          </p:nvPr>
        </p:nvGraphicFramePr>
        <p:xfrm>
          <a:off x="778717" y="1636917"/>
          <a:ext cx="1133732" cy="3008436"/>
        </p:xfrm>
        <a:graphic>
          <a:graphicData uri="http://schemas.openxmlformats.org/drawingml/2006/table">
            <a:tbl>
              <a:tblPr firstRow="1" bandRow="1">
                <a:tableStyleId>{93296810-A885-4BE3-A3E7-6D5BEEA58F35}</a:tableStyleId>
              </a:tblPr>
              <a:tblGrid>
                <a:gridCol w="1133732">
                  <a:extLst>
                    <a:ext uri="{9D8B030D-6E8A-4147-A177-3AD203B41FA5}">
                      <a16:colId xmlns:a16="http://schemas.microsoft.com/office/drawing/2014/main" val="4198427240"/>
                    </a:ext>
                  </a:extLst>
                </a:gridCol>
              </a:tblGrid>
              <a:tr h="813876">
                <a:tc>
                  <a:txBody>
                    <a:bodyPr/>
                    <a:lstStyle/>
                    <a:p>
                      <a:pPr algn="ctr"/>
                      <a:r>
                        <a:rPr lang="en-US" dirty="0"/>
                        <a:t>Your Sample</a:t>
                      </a:r>
                    </a:p>
                  </a:txBody>
                  <a:tcPr anchor="ctr"/>
                </a:tc>
                <a:extLst>
                  <a:ext uri="{0D108BD9-81ED-4DB2-BD59-A6C34878D82A}">
                    <a16:rowId xmlns:a16="http://schemas.microsoft.com/office/drawing/2014/main" val="2861302482"/>
                  </a:ext>
                </a:extLst>
              </a:tr>
              <a:tr h="325673">
                <a:tc>
                  <a:txBody>
                    <a:bodyPr/>
                    <a:lstStyle/>
                    <a:p>
                      <a:pPr algn="ctr"/>
                      <a:r>
                        <a:rPr lang="en-US" dirty="0"/>
                        <a:t>2</a:t>
                      </a:r>
                    </a:p>
                  </a:txBody>
                  <a:tcPr/>
                </a:tc>
                <a:extLst>
                  <a:ext uri="{0D108BD9-81ED-4DB2-BD59-A6C34878D82A}">
                    <a16:rowId xmlns:a16="http://schemas.microsoft.com/office/drawing/2014/main" val="2092285199"/>
                  </a:ext>
                </a:extLst>
              </a:tr>
              <a:tr h="325673">
                <a:tc>
                  <a:txBody>
                    <a:bodyPr/>
                    <a:lstStyle/>
                    <a:p>
                      <a:pPr algn="ctr"/>
                      <a:r>
                        <a:rPr lang="en-US" dirty="0"/>
                        <a:t>7</a:t>
                      </a:r>
                    </a:p>
                  </a:txBody>
                  <a:tcPr/>
                </a:tc>
                <a:extLst>
                  <a:ext uri="{0D108BD9-81ED-4DB2-BD59-A6C34878D82A}">
                    <a16:rowId xmlns:a16="http://schemas.microsoft.com/office/drawing/2014/main" val="3447318797"/>
                  </a:ext>
                </a:extLst>
              </a:tr>
              <a:tr h="325673">
                <a:tc>
                  <a:txBody>
                    <a:bodyPr/>
                    <a:lstStyle/>
                    <a:p>
                      <a:pPr algn="ctr"/>
                      <a:r>
                        <a:rPr lang="en-US" dirty="0"/>
                        <a:t>3</a:t>
                      </a:r>
                    </a:p>
                  </a:txBody>
                  <a:tcPr/>
                </a:tc>
                <a:extLst>
                  <a:ext uri="{0D108BD9-81ED-4DB2-BD59-A6C34878D82A}">
                    <a16:rowId xmlns:a16="http://schemas.microsoft.com/office/drawing/2014/main" val="3506493476"/>
                  </a:ext>
                </a:extLst>
              </a:tr>
              <a:tr h="325673">
                <a:tc>
                  <a:txBody>
                    <a:bodyPr/>
                    <a:lstStyle/>
                    <a:p>
                      <a:pPr algn="ctr"/>
                      <a:r>
                        <a:rPr lang="en-US" dirty="0"/>
                        <a:t>4</a:t>
                      </a:r>
                    </a:p>
                  </a:txBody>
                  <a:tcPr/>
                </a:tc>
                <a:extLst>
                  <a:ext uri="{0D108BD9-81ED-4DB2-BD59-A6C34878D82A}">
                    <a16:rowId xmlns:a16="http://schemas.microsoft.com/office/drawing/2014/main" val="4153438071"/>
                  </a:ext>
                </a:extLst>
              </a:tr>
              <a:tr h="325673">
                <a:tc>
                  <a:txBody>
                    <a:bodyPr/>
                    <a:lstStyle/>
                    <a:p>
                      <a:pPr algn="ctr"/>
                      <a:r>
                        <a:rPr lang="en-US" dirty="0"/>
                        <a:t>10</a:t>
                      </a:r>
                    </a:p>
                  </a:txBody>
                  <a:tcPr/>
                </a:tc>
                <a:extLst>
                  <a:ext uri="{0D108BD9-81ED-4DB2-BD59-A6C34878D82A}">
                    <a16:rowId xmlns:a16="http://schemas.microsoft.com/office/drawing/2014/main" val="66318644"/>
                  </a:ext>
                </a:extLst>
              </a:tr>
              <a:tr h="325673">
                <a:tc>
                  <a:txBody>
                    <a:bodyPr/>
                    <a:lstStyle/>
                    <a:p>
                      <a:pPr algn="ctr"/>
                      <a:r>
                        <a:rPr lang="en-US" dirty="0"/>
                        <a:t>6</a:t>
                      </a:r>
                    </a:p>
                  </a:txBody>
                  <a:tcPr/>
                </a:tc>
                <a:extLst>
                  <a:ext uri="{0D108BD9-81ED-4DB2-BD59-A6C34878D82A}">
                    <a16:rowId xmlns:a16="http://schemas.microsoft.com/office/drawing/2014/main" val="1430696392"/>
                  </a:ext>
                </a:extLst>
              </a:tr>
            </a:tbl>
          </a:graphicData>
        </a:graphic>
      </p:graphicFrame>
      <p:graphicFrame>
        <p:nvGraphicFramePr>
          <p:cNvPr id="27" name="Table 4">
            <a:extLst>
              <a:ext uri="{FF2B5EF4-FFF2-40B4-BE49-F238E27FC236}">
                <a16:creationId xmlns:a16="http://schemas.microsoft.com/office/drawing/2014/main" id="{B861A2AF-8ADD-3AB3-5625-8C37590D2821}"/>
              </a:ext>
            </a:extLst>
          </p:cNvPr>
          <p:cNvGraphicFramePr>
            <a:graphicFrameLocks/>
          </p:cNvGraphicFramePr>
          <p:nvPr/>
        </p:nvGraphicFramePr>
        <p:xfrm>
          <a:off x="4161146" y="1636917"/>
          <a:ext cx="1268104" cy="3008436"/>
        </p:xfrm>
        <a:graphic>
          <a:graphicData uri="http://schemas.openxmlformats.org/drawingml/2006/table">
            <a:tbl>
              <a:tblPr firstRow="1" bandRow="1">
                <a:tableStyleId>{93296810-A885-4BE3-A3E7-6D5BEEA58F35}</a:tableStyleId>
              </a:tblPr>
              <a:tblGrid>
                <a:gridCol w="1268104">
                  <a:extLst>
                    <a:ext uri="{9D8B030D-6E8A-4147-A177-3AD203B41FA5}">
                      <a16:colId xmlns:a16="http://schemas.microsoft.com/office/drawing/2014/main" val="4198427240"/>
                    </a:ext>
                  </a:extLst>
                </a:gridCol>
              </a:tblGrid>
              <a:tr h="813876">
                <a:tc>
                  <a:txBody>
                    <a:bodyPr/>
                    <a:lstStyle/>
                    <a:p>
                      <a:pPr algn="ctr"/>
                      <a:r>
                        <a:rPr lang="en-US" dirty="0"/>
                        <a:t>Bootstrap Sample 1</a:t>
                      </a:r>
                    </a:p>
                  </a:txBody>
                  <a:tcPr anchor="ctr"/>
                </a:tc>
                <a:extLst>
                  <a:ext uri="{0D108BD9-81ED-4DB2-BD59-A6C34878D82A}">
                    <a16:rowId xmlns:a16="http://schemas.microsoft.com/office/drawing/2014/main" val="2861302482"/>
                  </a:ext>
                </a:extLst>
              </a:tr>
              <a:tr h="325673">
                <a:tc>
                  <a:txBody>
                    <a:bodyPr/>
                    <a:lstStyle/>
                    <a:p>
                      <a:pPr algn="ctr"/>
                      <a:r>
                        <a:rPr lang="en-US" dirty="0"/>
                        <a:t>3</a:t>
                      </a:r>
                    </a:p>
                  </a:txBody>
                  <a:tcPr/>
                </a:tc>
                <a:extLst>
                  <a:ext uri="{0D108BD9-81ED-4DB2-BD59-A6C34878D82A}">
                    <a16:rowId xmlns:a16="http://schemas.microsoft.com/office/drawing/2014/main" val="2092285199"/>
                  </a:ext>
                </a:extLst>
              </a:tr>
              <a:tr h="325673">
                <a:tc>
                  <a:txBody>
                    <a:bodyPr/>
                    <a:lstStyle/>
                    <a:p>
                      <a:pPr algn="ctr"/>
                      <a:r>
                        <a:rPr lang="en-US" dirty="0"/>
                        <a:t>7</a:t>
                      </a:r>
                    </a:p>
                  </a:txBody>
                  <a:tcPr/>
                </a:tc>
                <a:extLst>
                  <a:ext uri="{0D108BD9-81ED-4DB2-BD59-A6C34878D82A}">
                    <a16:rowId xmlns:a16="http://schemas.microsoft.com/office/drawing/2014/main" val="3447318797"/>
                  </a:ext>
                </a:extLst>
              </a:tr>
              <a:tr h="325673">
                <a:tc>
                  <a:txBody>
                    <a:bodyPr/>
                    <a:lstStyle/>
                    <a:p>
                      <a:pPr algn="ctr"/>
                      <a:endParaRPr lang="en-US" dirty="0"/>
                    </a:p>
                  </a:txBody>
                  <a:tcPr/>
                </a:tc>
                <a:extLst>
                  <a:ext uri="{0D108BD9-81ED-4DB2-BD59-A6C34878D82A}">
                    <a16:rowId xmlns:a16="http://schemas.microsoft.com/office/drawing/2014/main" val="3506493476"/>
                  </a:ext>
                </a:extLst>
              </a:tr>
              <a:tr h="325673">
                <a:tc>
                  <a:txBody>
                    <a:bodyPr/>
                    <a:lstStyle/>
                    <a:p>
                      <a:pPr algn="ctr"/>
                      <a:endParaRPr lang="en-US" dirty="0"/>
                    </a:p>
                  </a:txBody>
                  <a:tcPr/>
                </a:tc>
                <a:extLst>
                  <a:ext uri="{0D108BD9-81ED-4DB2-BD59-A6C34878D82A}">
                    <a16:rowId xmlns:a16="http://schemas.microsoft.com/office/drawing/2014/main" val="4153438071"/>
                  </a:ext>
                </a:extLst>
              </a:tr>
              <a:tr h="325673">
                <a:tc>
                  <a:txBody>
                    <a:bodyPr/>
                    <a:lstStyle/>
                    <a:p>
                      <a:pPr algn="ctr"/>
                      <a:endParaRPr lang="en-US" dirty="0"/>
                    </a:p>
                  </a:txBody>
                  <a:tcPr/>
                </a:tc>
                <a:extLst>
                  <a:ext uri="{0D108BD9-81ED-4DB2-BD59-A6C34878D82A}">
                    <a16:rowId xmlns:a16="http://schemas.microsoft.com/office/drawing/2014/main" val="66318644"/>
                  </a:ext>
                </a:extLst>
              </a:tr>
              <a:tr h="325673">
                <a:tc>
                  <a:txBody>
                    <a:bodyPr/>
                    <a:lstStyle/>
                    <a:p>
                      <a:pPr algn="ctr"/>
                      <a:endParaRPr lang="en-US" dirty="0"/>
                    </a:p>
                  </a:txBody>
                  <a:tcPr/>
                </a:tc>
                <a:extLst>
                  <a:ext uri="{0D108BD9-81ED-4DB2-BD59-A6C34878D82A}">
                    <a16:rowId xmlns:a16="http://schemas.microsoft.com/office/drawing/2014/main" val="1430696392"/>
                  </a:ext>
                </a:extLst>
              </a:tr>
            </a:tbl>
          </a:graphicData>
        </a:graphic>
      </p:graphicFrame>
      <p:grpSp>
        <p:nvGrpSpPr>
          <p:cNvPr id="9" name="Group 8">
            <a:extLst>
              <a:ext uri="{FF2B5EF4-FFF2-40B4-BE49-F238E27FC236}">
                <a16:creationId xmlns:a16="http://schemas.microsoft.com/office/drawing/2014/main" id="{CBE4217E-B706-1B82-A294-0EF9605AE898}"/>
              </a:ext>
            </a:extLst>
          </p:cNvPr>
          <p:cNvGrpSpPr/>
          <p:nvPr/>
        </p:nvGrpSpPr>
        <p:grpSpPr>
          <a:xfrm>
            <a:off x="1980262" y="2648744"/>
            <a:ext cx="1989100" cy="751675"/>
            <a:chOff x="6330500" y="3372891"/>
            <a:chExt cx="2720699" cy="1028144"/>
          </a:xfrm>
        </p:grpSpPr>
        <p:grpSp>
          <p:nvGrpSpPr>
            <p:cNvPr id="29" name="Group 28">
              <a:extLst>
                <a:ext uri="{FF2B5EF4-FFF2-40B4-BE49-F238E27FC236}">
                  <a16:creationId xmlns:a16="http://schemas.microsoft.com/office/drawing/2014/main" id="{9C767B04-D1DC-0AA4-4F99-9772D73609B5}"/>
                </a:ext>
              </a:extLst>
            </p:cNvPr>
            <p:cNvGrpSpPr/>
            <p:nvPr/>
          </p:nvGrpSpPr>
          <p:grpSpPr>
            <a:xfrm flipH="1">
              <a:off x="6330500" y="3372891"/>
              <a:ext cx="2720699" cy="1028144"/>
              <a:chOff x="6583915" y="3372891"/>
              <a:chExt cx="2720699" cy="1028144"/>
            </a:xfrm>
          </p:grpSpPr>
          <p:sp>
            <p:nvSpPr>
              <p:cNvPr id="30" name="Freeform 5">
                <a:extLst>
                  <a:ext uri="{FF2B5EF4-FFF2-40B4-BE49-F238E27FC236}">
                    <a16:creationId xmlns:a16="http://schemas.microsoft.com/office/drawing/2014/main" id="{68680FC7-4317-D4E8-A4CF-0A7BF2CCF9E0}"/>
                  </a:ext>
                </a:extLst>
              </p:cNvPr>
              <p:cNvSpPr>
                <a:spLocks/>
              </p:cNvSpPr>
              <p:nvPr/>
            </p:nvSpPr>
            <p:spPr bwMode="auto">
              <a:xfrm>
                <a:off x="8080515"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1" name="Freeform 5">
                <a:extLst>
                  <a:ext uri="{FF2B5EF4-FFF2-40B4-BE49-F238E27FC236}">
                    <a16:creationId xmlns:a16="http://schemas.microsoft.com/office/drawing/2014/main" id="{30F21C45-544B-8392-64AF-A6B400448787}"/>
                  </a:ext>
                </a:extLst>
              </p:cNvPr>
              <p:cNvSpPr>
                <a:spLocks/>
              </p:cNvSpPr>
              <p:nvPr/>
            </p:nvSpPr>
            <p:spPr bwMode="auto">
              <a:xfrm>
                <a:off x="7361204"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nvGrpSpPr>
              <p:cNvPr id="32" name="Group 31">
                <a:extLst>
                  <a:ext uri="{FF2B5EF4-FFF2-40B4-BE49-F238E27FC236}">
                    <a16:creationId xmlns:a16="http://schemas.microsoft.com/office/drawing/2014/main" id="{020EF95E-2C42-5E12-1FD3-F18FE08BA52B}"/>
                  </a:ext>
                </a:extLst>
              </p:cNvPr>
              <p:cNvGrpSpPr/>
              <p:nvPr/>
            </p:nvGrpSpPr>
            <p:grpSpPr>
              <a:xfrm>
                <a:off x="6583915" y="3372892"/>
                <a:ext cx="1234278" cy="1028143"/>
                <a:chOff x="1451772" y="4010848"/>
                <a:chExt cx="5337253" cy="4445888"/>
              </a:xfrm>
            </p:grpSpPr>
            <p:sp>
              <p:nvSpPr>
                <p:cNvPr id="35" name="Freeform 5">
                  <a:extLst>
                    <a:ext uri="{FF2B5EF4-FFF2-40B4-BE49-F238E27FC236}">
                      <a16:creationId xmlns:a16="http://schemas.microsoft.com/office/drawing/2014/main" id="{A7751FAD-6C48-F950-1E41-2A3C2C72091E}"/>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6" name="Freeform 6">
                  <a:extLst>
                    <a:ext uri="{FF2B5EF4-FFF2-40B4-BE49-F238E27FC236}">
                      <a16:creationId xmlns:a16="http://schemas.microsoft.com/office/drawing/2014/main" id="{F102450B-B03B-1C8D-E8BF-2339247D7FE0}"/>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33" name="Freeform 6">
                <a:extLst>
                  <a:ext uri="{FF2B5EF4-FFF2-40B4-BE49-F238E27FC236}">
                    <a16:creationId xmlns:a16="http://schemas.microsoft.com/office/drawing/2014/main" id="{D3CA5600-CCBC-AA00-AC6F-0220256F6BD2}"/>
                  </a:ext>
                </a:extLst>
              </p:cNvPr>
              <p:cNvSpPr>
                <a:spLocks/>
              </p:cNvSpPr>
              <p:nvPr/>
            </p:nvSpPr>
            <p:spPr bwMode="auto">
              <a:xfrm>
                <a:off x="7343923"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4" name="Freeform 6">
                <a:extLst>
                  <a:ext uri="{FF2B5EF4-FFF2-40B4-BE49-F238E27FC236}">
                    <a16:creationId xmlns:a16="http://schemas.microsoft.com/office/drawing/2014/main" id="{A96477D8-9393-CC99-5DD0-C609F89606EB}"/>
                  </a:ext>
                </a:extLst>
              </p:cNvPr>
              <p:cNvSpPr>
                <a:spLocks/>
              </p:cNvSpPr>
              <p:nvPr/>
            </p:nvSpPr>
            <p:spPr bwMode="auto">
              <a:xfrm>
                <a:off x="8063234"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7" name="TextBox 6">
              <a:extLst>
                <a:ext uri="{FF2B5EF4-FFF2-40B4-BE49-F238E27FC236}">
                  <a16:creationId xmlns:a16="http://schemas.microsoft.com/office/drawing/2014/main" id="{FA60B041-461E-E7F6-C520-2A292B643AB4}"/>
                </a:ext>
              </a:extLst>
            </p:cNvPr>
            <p:cNvSpPr txBox="1"/>
            <p:nvPr/>
          </p:nvSpPr>
          <p:spPr>
            <a:xfrm>
              <a:off x="6881304" y="3421496"/>
              <a:ext cx="1533062" cy="884054"/>
            </a:xfrm>
            <a:prstGeom prst="rect">
              <a:avLst/>
            </a:prstGeom>
            <a:noFill/>
          </p:spPr>
          <p:txBody>
            <a:bodyPr wrap="none" rtlCol="0">
              <a:spAutoFit/>
            </a:bodyPr>
            <a:lstStyle/>
            <a:p>
              <a:pPr algn="ctr"/>
              <a:r>
                <a:rPr lang="en-US" dirty="0">
                  <a:solidFill>
                    <a:schemeClr val="bg1"/>
                  </a:solidFill>
                </a:rPr>
                <a:t>Random </a:t>
              </a:r>
            </a:p>
            <a:p>
              <a:pPr algn="ctr"/>
              <a:r>
                <a:rPr lang="en-US" dirty="0">
                  <a:solidFill>
                    <a:schemeClr val="bg1"/>
                  </a:solidFill>
                </a:rPr>
                <a:t>select</a:t>
              </a:r>
            </a:p>
          </p:txBody>
        </p:sp>
      </p:grpSp>
      <p:sp>
        <p:nvSpPr>
          <p:cNvPr id="37" name="Rounded Rectangle 36">
            <a:extLst>
              <a:ext uri="{FF2B5EF4-FFF2-40B4-BE49-F238E27FC236}">
                <a16:creationId xmlns:a16="http://schemas.microsoft.com/office/drawing/2014/main" id="{143820F2-ABC2-FCF8-1565-F5CB7D365640}"/>
              </a:ext>
            </a:extLst>
          </p:cNvPr>
          <p:cNvSpPr/>
          <p:nvPr/>
        </p:nvSpPr>
        <p:spPr>
          <a:xfrm>
            <a:off x="652632" y="712640"/>
            <a:ext cx="1385901" cy="701439"/>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Role as population</a:t>
            </a:r>
          </a:p>
        </p:txBody>
      </p:sp>
    </p:spTree>
    <p:extLst>
      <p:ext uri="{BB962C8B-B14F-4D97-AF65-F5344CB8AC3E}">
        <p14:creationId xmlns:p14="http://schemas.microsoft.com/office/powerpoint/2010/main" val="230661438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28E6AE2D-C5A2-6D04-A070-F7CBC0A15DE0}"/>
              </a:ext>
            </a:extLst>
          </p:cNvPr>
          <p:cNvGraphicFramePr>
            <a:graphicFrameLocks noGrp="1"/>
          </p:cNvGraphicFramePr>
          <p:nvPr>
            <p:ph idx="4294967295"/>
          </p:nvPr>
        </p:nvGraphicFramePr>
        <p:xfrm>
          <a:off x="778717" y="1636917"/>
          <a:ext cx="1133732" cy="3008436"/>
        </p:xfrm>
        <a:graphic>
          <a:graphicData uri="http://schemas.openxmlformats.org/drawingml/2006/table">
            <a:tbl>
              <a:tblPr firstRow="1" bandRow="1">
                <a:tableStyleId>{93296810-A885-4BE3-A3E7-6D5BEEA58F35}</a:tableStyleId>
              </a:tblPr>
              <a:tblGrid>
                <a:gridCol w="1133732">
                  <a:extLst>
                    <a:ext uri="{9D8B030D-6E8A-4147-A177-3AD203B41FA5}">
                      <a16:colId xmlns:a16="http://schemas.microsoft.com/office/drawing/2014/main" val="4198427240"/>
                    </a:ext>
                  </a:extLst>
                </a:gridCol>
              </a:tblGrid>
              <a:tr h="813876">
                <a:tc>
                  <a:txBody>
                    <a:bodyPr/>
                    <a:lstStyle/>
                    <a:p>
                      <a:pPr algn="ctr"/>
                      <a:r>
                        <a:rPr lang="en-US" dirty="0"/>
                        <a:t>Your Sample</a:t>
                      </a:r>
                    </a:p>
                  </a:txBody>
                  <a:tcPr anchor="ctr"/>
                </a:tc>
                <a:extLst>
                  <a:ext uri="{0D108BD9-81ED-4DB2-BD59-A6C34878D82A}">
                    <a16:rowId xmlns:a16="http://schemas.microsoft.com/office/drawing/2014/main" val="2861302482"/>
                  </a:ext>
                </a:extLst>
              </a:tr>
              <a:tr h="325673">
                <a:tc>
                  <a:txBody>
                    <a:bodyPr/>
                    <a:lstStyle/>
                    <a:p>
                      <a:pPr algn="ctr"/>
                      <a:r>
                        <a:rPr lang="en-US" dirty="0"/>
                        <a:t>2</a:t>
                      </a:r>
                    </a:p>
                  </a:txBody>
                  <a:tcPr/>
                </a:tc>
                <a:extLst>
                  <a:ext uri="{0D108BD9-81ED-4DB2-BD59-A6C34878D82A}">
                    <a16:rowId xmlns:a16="http://schemas.microsoft.com/office/drawing/2014/main" val="2092285199"/>
                  </a:ext>
                </a:extLst>
              </a:tr>
              <a:tr h="325673">
                <a:tc>
                  <a:txBody>
                    <a:bodyPr/>
                    <a:lstStyle/>
                    <a:p>
                      <a:pPr algn="ctr"/>
                      <a:r>
                        <a:rPr lang="en-US" dirty="0"/>
                        <a:t>7</a:t>
                      </a:r>
                    </a:p>
                  </a:txBody>
                  <a:tcPr/>
                </a:tc>
                <a:extLst>
                  <a:ext uri="{0D108BD9-81ED-4DB2-BD59-A6C34878D82A}">
                    <a16:rowId xmlns:a16="http://schemas.microsoft.com/office/drawing/2014/main" val="3447318797"/>
                  </a:ext>
                </a:extLst>
              </a:tr>
              <a:tr h="325673">
                <a:tc>
                  <a:txBody>
                    <a:bodyPr/>
                    <a:lstStyle/>
                    <a:p>
                      <a:pPr algn="ctr"/>
                      <a:r>
                        <a:rPr lang="en-US" dirty="0"/>
                        <a:t>3</a:t>
                      </a:r>
                    </a:p>
                  </a:txBody>
                  <a:tcPr/>
                </a:tc>
                <a:extLst>
                  <a:ext uri="{0D108BD9-81ED-4DB2-BD59-A6C34878D82A}">
                    <a16:rowId xmlns:a16="http://schemas.microsoft.com/office/drawing/2014/main" val="3506493476"/>
                  </a:ext>
                </a:extLst>
              </a:tr>
              <a:tr h="325673">
                <a:tc>
                  <a:txBody>
                    <a:bodyPr/>
                    <a:lstStyle/>
                    <a:p>
                      <a:pPr algn="ctr"/>
                      <a:r>
                        <a:rPr lang="en-US" dirty="0"/>
                        <a:t>4</a:t>
                      </a:r>
                    </a:p>
                  </a:txBody>
                  <a:tcPr/>
                </a:tc>
                <a:extLst>
                  <a:ext uri="{0D108BD9-81ED-4DB2-BD59-A6C34878D82A}">
                    <a16:rowId xmlns:a16="http://schemas.microsoft.com/office/drawing/2014/main" val="4153438071"/>
                  </a:ext>
                </a:extLst>
              </a:tr>
              <a:tr h="325673">
                <a:tc>
                  <a:txBody>
                    <a:bodyPr/>
                    <a:lstStyle/>
                    <a:p>
                      <a:pPr algn="ctr"/>
                      <a:r>
                        <a:rPr lang="en-US" dirty="0"/>
                        <a:t>10</a:t>
                      </a:r>
                    </a:p>
                  </a:txBody>
                  <a:tcPr/>
                </a:tc>
                <a:extLst>
                  <a:ext uri="{0D108BD9-81ED-4DB2-BD59-A6C34878D82A}">
                    <a16:rowId xmlns:a16="http://schemas.microsoft.com/office/drawing/2014/main" val="66318644"/>
                  </a:ext>
                </a:extLst>
              </a:tr>
              <a:tr h="325673">
                <a:tc>
                  <a:txBody>
                    <a:bodyPr/>
                    <a:lstStyle/>
                    <a:p>
                      <a:pPr algn="ctr"/>
                      <a:r>
                        <a:rPr lang="en-US" dirty="0"/>
                        <a:t>6</a:t>
                      </a:r>
                    </a:p>
                  </a:txBody>
                  <a:tcPr/>
                </a:tc>
                <a:extLst>
                  <a:ext uri="{0D108BD9-81ED-4DB2-BD59-A6C34878D82A}">
                    <a16:rowId xmlns:a16="http://schemas.microsoft.com/office/drawing/2014/main" val="1430696392"/>
                  </a:ext>
                </a:extLst>
              </a:tr>
            </a:tbl>
          </a:graphicData>
        </a:graphic>
      </p:graphicFrame>
      <p:graphicFrame>
        <p:nvGraphicFramePr>
          <p:cNvPr id="27" name="Table 4">
            <a:extLst>
              <a:ext uri="{FF2B5EF4-FFF2-40B4-BE49-F238E27FC236}">
                <a16:creationId xmlns:a16="http://schemas.microsoft.com/office/drawing/2014/main" id="{B861A2AF-8ADD-3AB3-5625-8C37590D2821}"/>
              </a:ext>
            </a:extLst>
          </p:cNvPr>
          <p:cNvGraphicFramePr>
            <a:graphicFrameLocks/>
          </p:cNvGraphicFramePr>
          <p:nvPr/>
        </p:nvGraphicFramePr>
        <p:xfrm>
          <a:off x="4161146" y="1636917"/>
          <a:ext cx="1268104" cy="3008436"/>
        </p:xfrm>
        <a:graphic>
          <a:graphicData uri="http://schemas.openxmlformats.org/drawingml/2006/table">
            <a:tbl>
              <a:tblPr firstRow="1" bandRow="1">
                <a:tableStyleId>{93296810-A885-4BE3-A3E7-6D5BEEA58F35}</a:tableStyleId>
              </a:tblPr>
              <a:tblGrid>
                <a:gridCol w="1268104">
                  <a:extLst>
                    <a:ext uri="{9D8B030D-6E8A-4147-A177-3AD203B41FA5}">
                      <a16:colId xmlns:a16="http://schemas.microsoft.com/office/drawing/2014/main" val="4198427240"/>
                    </a:ext>
                  </a:extLst>
                </a:gridCol>
              </a:tblGrid>
              <a:tr h="813876">
                <a:tc>
                  <a:txBody>
                    <a:bodyPr/>
                    <a:lstStyle/>
                    <a:p>
                      <a:pPr algn="ctr"/>
                      <a:r>
                        <a:rPr lang="en-US" dirty="0"/>
                        <a:t>Bootstrap Sample 1</a:t>
                      </a:r>
                    </a:p>
                  </a:txBody>
                  <a:tcPr anchor="ctr"/>
                </a:tc>
                <a:extLst>
                  <a:ext uri="{0D108BD9-81ED-4DB2-BD59-A6C34878D82A}">
                    <a16:rowId xmlns:a16="http://schemas.microsoft.com/office/drawing/2014/main" val="2861302482"/>
                  </a:ext>
                </a:extLst>
              </a:tr>
              <a:tr h="325673">
                <a:tc>
                  <a:txBody>
                    <a:bodyPr/>
                    <a:lstStyle/>
                    <a:p>
                      <a:pPr algn="ctr"/>
                      <a:r>
                        <a:rPr lang="en-US" dirty="0"/>
                        <a:t>3</a:t>
                      </a:r>
                    </a:p>
                  </a:txBody>
                  <a:tcPr/>
                </a:tc>
                <a:extLst>
                  <a:ext uri="{0D108BD9-81ED-4DB2-BD59-A6C34878D82A}">
                    <a16:rowId xmlns:a16="http://schemas.microsoft.com/office/drawing/2014/main" val="2092285199"/>
                  </a:ext>
                </a:extLst>
              </a:tr>
              <a:tr h="325673">
                <a:tc>
                  <a:txBody>
                    <a:bodyPr/>
                    <a:lstStyle/>
                    <a:p>
                      <a:pPr algn="ctr"/>
                      <a:r>
                        <a:rPr lang="en-US" dirty="0"/>
                        <a:t>7</a:t>
                      </a:r>
                    </a:p>
                  </a:txBody>
                  <a:tcPr/>
                </a:tc>
                <a:extLst>
                  <a:ext uri="{0D108BD9-81ED-4DB2-BD59-A6C34878D82A}">
                    <a16:rowId xmlns:a16="http://schemas.microsoft.com/office/drawing/2014/main" val="3447318797"/>
                  </a:ext>
                </a:extLst>
              </a:tr>
              <a:tr h="325673">
                <a:tc>
                  <a:txBody>
                    <a:bodyPr/>
                    <a:lstStyle/>
                    <a:p>
                      <a:pPr algn="ctr"/>
                      <a:r>
                        <a:rPr lang="en-US" dirty="0"/>
                        <a:t>3</a:t>
                      </a:r>
                    </a:p>
                  </a:txBody>
                  <a:tcPr/>
                </a:tc>
                <a:extLst>
                  <a:ext uri="{0D108BD9-81ED-4DB2-BD59-A6C34878D82A}">
                    <a16:rowId xmlns:a16="http://schemas.microsoft.com/office/drawing/2014/main" val="3506493476"/>
                  </a:ext>
                </a:extLst>
              </a:tr>
              <a:tr h="325673">
                <a:tc>
                  <a:txBody>
                    <a:bodyPr/>
                    <a:lstStyle/>
                    <a:p>
                      <a:pPr algn="ctr"/>
                      <a:endParaRPr lang="en-US" dirty="0"/>
                    </a:p>
                  </a:txBody>
                  <a:tcPr/>
                </a:tc>
                <a:extLst>
                  <a:ext uri="{0D108BD9-81ED-4DB2-BD59-A6C34878D82A}">
                    <a16:rowId xmlns:a16="http://schemas.microsoft.com/office/drawing/2014/main" val="4153438071"/>
                  </a:ext>
                </a:extLst>
              </a:tr>
              <a:tr h="325673">
                <a:tc>
                  <a:txBody>
                    <a:bodyPr/>
                    <a:lstStyle/>
                    <a:p>
                      <a:pPr algn="ctr"/>
                      <a:endParaRPr lang="en-US" dirty="0"/>
                    </a:p>
                  </a:txBody>
                  <a:tcPr/>
                </a:tc>
                <a:extLst>
                  <a:ext uri="{0D108BD9-81ED-4DB2-BD59-A6C34878D82A}">
                    <a16:rowId xmlns:a16="http://schemas.microsoft.com/office/drawing/2014/main" val="66318644"/>
                  </a:ext>
                </a:extLst>
              </a:tr>
              <a:tr h="325673">
                <a:tc>
                  <a:txBody>
                    <a:bodyPr/>
                    <a:lstStyle/>
                    <a:p>
                      <a:pPr algn="ctr"/>
                      <a:endParaRPr lang="en-US" dirty="0"/>
                    </a:p>
                  </a:txBody>
                  <a:tcPr/>
                </a:tc>
                <a:extLst>
                  <a:ext uri="{0D108BD9-81ED-4DB2-BD59-A6C34878D82A}">
                    <a16:rowId xmlns:a16="http://schemas.microsoft.com/office/drawing/2014/main" val="1430696392"/>
                  </a:ext>
                </a:extLst>
              </a:tr>
            </a:tbl>
          </a:graphicData>
        </a:graphic>
      </p:graphicFrame>
      <p:grpSp>
        <p:nvGrpSpPr>
          <p:cNvPr id="9" name="Group 8">
            <a:extLst>
              <a:ext uri="{FF2B5EF4-FFF2-40B4-BE49-F238E27FC236}">
                <a16:creationId xmlns:a16="http://schemas.microsoft.com/office/drawing/2014/main" id="{CBE4217E-B706-1B82-A294-0EF9605AE898}"/>
              </a:ext>
            </a:extLst>
          </p:cNvPr>
          <p:cNvGrpSpPr/>
          <p:nvPr/>
        </p:nvGrpSpPr>
        <p:grpSpPr>
          <a:xfrm>
            <a:off x="1980262" y="2991650"/>
            <a:ext cx="1989100" cy="751675"/>
            <a:chOff x="6330500" y="3372891"/>
            <a:chExt cx="2720699" cy="1028144"/>
          </a:xfrm>
        </p:grpSpPr>
        <p:grpSp>
          <p:nvGrpSpPr>
            <p:cNvPr id="29" name="Group 28">
              <a:extLst>
                <a:ext uri="{FF2B5EF4-FFF2-40B4-BE49-F238E27FC236}">
                  <a16:creationId xmlns:a16="http://schemas.microsoft.com/office/drawing/2014/main" id="{9C767B04-D1DC-0AA4-4F99-9772D73609B5}"/>
                </a:ext>
              </a:extLst>
            </p:cNvPr>
            <p:cNvGrpSpPr/>
            <p:nvPr/>
          </p:nvGrpSpPr>
          <p:grpSpPr>
            <a:xfrm flipH="1">
              <a:off x="6330500" y="3372891"/>
              <a:ext cx="2720699" cy="1028144"/>
              <a:chOff x="6583915" y="3372891"/>
              <a:chExt cx="2720699" cy="1028144"/>
            </a:xfrm>
          </p:grpSpPr>
          <p:sp>
            <p:nvSpPr>
              <p:cNvPr id="30" name="Freeform 5">
                <a:extLst>
                  <a:ext uri="{FF2B5EF4-FFF2-40B4-BE49-F238E27FC236}">
                    <a16:creationId xmlns:a16="http://schemas.microsoft.com/office/drawing/2014/main" id="{68680FC7-4317-D4E8-A4CF-0A7BF2CCF9E0}"/>
                  </a:ext>
                </a:extLst>
              </p:cNvPr>
              <p:cNvSpPr>
                <a:spLocks/>
              </p:cNvSpPr>
              <p:nvPr/>
            </p:nvSpPr>
            <p:spPr bwMode="auto">
              <a:xfrm>
                <a:off x="8080515"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1" name="Freeform 5">
                <a:extLst>
                  <a:ext uri="{FF2B5EF4-FFF2-40B4-BE49-F238E27FC236}">
                    <a16:creationId xmlns:a16="http://schemas.microsoft.com/office/drawing/2014/main" id="{30F21C45-544B-8392-64AF-A6B400448787}"/>
                  </a:ext>
                </a:extLst>
              </p:cNvPr>
              <p:cNvSpPr>
                <a:spLocks/>
              </p:cNvSpPr>
              <p:nvPr/>
            </p:nvSpPr>
            <p:spPr bwMode="auto">
              <a:xfrm>
                <a:off x="7361204"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nvGrpSpPr>
              <p:cNvPr id="32" name="Group 31">
                <a:extLst>
                  <a:ext uri="{FF2B5EF4-FFF2-40B4-BE49-F238E27FC236}">
                    <a16:creationId xmlns:a16="http://schemas.microsoft.com/office/drawing/2014/main" id="{020EF95E-2C42-5E12-1FD3-F18FE08BA52B}"/>
                  </a:ext>
                </a:extLst>
              </p:cNvPr>
              <p:cNvGrpSpPr/>
              <p:nvPr/>
            </p:nvGrpSpPr>
            <p:grpSpPr>
              <a:xfrm>
                <a:off x="6583915" y="3372892"/>
                <a:ext cx="1234278" cy="1028143"/>
                <a:chOff x="1451772" y="4010848"/>
                <a:chExt cx="5337253" cy="4445888"/>
              </a:xfrm>
            </p:grpSpPr>
            <p:sp>
              <p:nvSpPr>
                <p:cNvPr id="35" name="Freeform 5">
                  <a:extLst>
                    <a:ext uri="{FF2B5EF4-FFF2-40B4-BE49-F238E27FC236}">
                      <a16:creationId xmlns:a16="http://schemas.microsoft.com/office/drawing/2014/main" id="{A7751FAD-6C48-F950-1E41-2A3C2C72091E}"/>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6" name="Freeform 6">
                  <a:extLst>
                    <a:ext uri="{FF2B5EF4-FFF2-40B4-BE49-F238E27FC236}">
                      <a16:creationId xmlns:a16="http://schemas.microsoft.com/office/drawing/2014/main" id="{F102450B-B03B-1C8D-E8BF-2339247D7FE0}"/>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33" name="Freeform 6">
                <a:extLst>
                  <a:ext uri="{FF2B5EF4-FFF2-40B4-BE49-F238E27FC236}">
                    <a16:creationId xmlns:a16="http://schemas.microsoft.com/office/drawing/2014/main" id="{D3CA5600-CCBC-AA00-AC6F-0220256F6BD2}"/>
                  </a:ext>
                </a:extLst>
              </p:cNvPr>
              <p:cNvSpPr>
                <a:spLocks/>
              </p:cNvSpPr>
              <p:nvPr/>
            </p:nvSpPr>
            <p:spPr bwMode="auto">
              <a:xfrm>
                <a:off x="7343923"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4" name="Freeform 6">
                <a:extLst>
                  <a:ext uri="{FF2B5EF4-FFF2-40B4-BE49-F238E27FC236}">
                    <a16:creationId xmlns:a16="http://schemas.microsoft.com/office/drawing/2014/main" id="{A96477D8-9393-CC99-5DD0-C609F89606EB}"/>
                  </a:ext>
                </a:extLst>
              </p:cNvPr>
              <p:cNvSpPr>
                <a:spLocks/>
              </p:cNvSpPr>
              <p:nvPr/>
            </p:nvSpPr>
            <p:spPr bwMode="auto">
              <a:xfrm>
                <a:off x="8063234"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7" name="TextBox 6">
              <a:extLst>
                <a:ext uri="{FF2B5EF4-FFF2-40B4-BE49-F238E27FC236}">
                  <a16:creationId xmlns:a16="http://schemas.microsoft.com/office/drawing/2014/main" id="{FA60B041-461E-E7F6-C520-2A292B643AB4}"/>
                </a:ext>
              </a:extLst>
            </p:cNvPr>
            <p:cNvSpPr txBox="1"/>
            <p:nvPr/>
          </p:nvSpPr>
          <p:spPr>
            <a:xfrm>
              <a:off x="6881304" y="3421496"/>
              <a:ext cx="1533062" cy="884054"/>
            </a:xfrm>
            <a:prstGeom prst="rect">
              <a:avLst/>
            </a:prstGeom>
            <a:noFill/>
          </p:spPr>
          <p:txBody>
            <a:bodyPr wrap="none" rtlCol="0">
              <a:spAutoFit/>
            </a:bodyPr>
            <a:lstStyle/>
            <a:p>
              <a:pPr algn="ctr"/>
              <a:r>
                <a:rPr lang="en-US" dirty="0">
                  <a:solidFill>
                    <a:schemeClr val="bg1"/>
                  </a:solidFill>
                </a:rPr>
                <a:t>Random </a:t>
              </a:r>
            </a:p>
            <a:p>
              <a:pPr algn="ctr"/>
              <a:r>
                <a:rPr lang="en-US" dirty="0">
                  <a:solidFill>
                    <a:schemeClr val="bg1"/>
                  </a:solidFill>
                </a:rPr>
                <a:t>select</a:t>
              </a:r>
            </a:p>
          </p:txBody>
        </p:sp>
      </p:grpSp>
      <p:sp>
        <p:nvSpPr>
          <p:cNvPr id="37" name="Rounded Rectangle 36">
            <a:extLst>
              <a:ext uri="{FF2B5EF4-FFF2-40B4-BE49-F238E27FC236}">
                <a16:creationId xmlns:a16="http://schemas.microsoft.com/office/drawing/2014/main" id="{143820F2-ABC2-FCF8-1565-F5CB7D365640}"/>
              </a:ext>
            </a:extLst>
          </p:cNvPr>
          <p:cNvSpPr/>
          <p:nvPr/>
        </p:nvSpPr>
        <p:spPr>
          <a:xfrm>
            <a:off x="652632" y="712640"/>
            <a:ext cx="1385901" cy="701439"/>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Role as population</a:t>
            </a:r>
          </a:p>
        </p:txBody>
      </p:sp>
    </p:spTree>
    <p:extLst>
      <p:ext uri="{BB962C8B-B14F-4D97-AF65-F5344CB8AC3E}">
        <p14:creationId xmlns:p14="http://schemas.microsoft.com/office/powerpoint/2010/main" val="6730399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28E6AE2D-C5A2-6D04-A070-F7CBC0A15DE0}"/>
              </a:ext>
            </a:extLst>
          </p:cNvPr>
          <p:cNvGraphicFramePr>
            <a:graphicFrameLocks noGrp="1"/>
          </p:cNvGraphicFramePr>
          <p:nvPr>
            <p:ph idx="4294967295"/>
          </p:nvPr>
        </p:nvGraphicFramePr>
        <p:xfrm>
          <a:off x="778717" y="1636917"/>
          <a:ext cx="1133732" cy="3008436"/>
        </p:xfrm>
        <a:graphic>
          <a:graphicData uri="http://schemas.openxmlformats.org/drawingml/2006/table">
            <a:tbl>
              <a:tblPr firstRow="1" bandRow="1">
                <a:tableStyleId>{93296810-A885-4BE3-A3E7-6D5BEEA58F35}</a:tableStyleId>
              </a:tblPr>
              <a:tblGrid>
                <a:gridCol w="1133732">
                  <a:extLst>
                    <a:ext uri="{9D8B030D-6E8A-4147-A177-3AD203B41FA5}">
                      <a16:colId xmlns:a16="http://schemas.microsoft.com/office/drawing/2014/main" val="4198427240"/>
                    </a:ext>
                  </a:extLst>
                </a:gridCol>
              </a:tblGrid>
              <a:tr h="813876">
                <a:tc>
                  <a:txBody>
                    <a:bodyPr/>
                    <a:lstStyle/>
                    <a:p>
                      <a:pPr algn="ctr"/>
                      <a:r>
                        <a:rPr lang="en-US" dirty="0"/>
                        <a:t>Your Sample</a:t>
                      </a:r>
                    </a:p>
                  </a:txBody>
                  <a:tcPr anchor="ctr"/>
                </a:tc>
                <a:extLst>
                  <a:ext uri="{0D108BD9-81ED-4DB2-BD59-A6C34878D82A}">
                    <a16:rowId xmlns:a16="http://schemas.microsoft.com/office/drawing/2014/main" val="2861302482"/>
                  </a:ext>
                </a:extLst>
              </a:tr>
              <a:tr h="325673">
                <a:tc>
                  <a:txBody>
                    <a:bodyPr/>
                    <a:lstStyle/>
                    <a:p>
                      <a:pPr algn="ctr"/>
                      <a:r>
                        <a:rPr lang="en-US" dirty="0"/>
                        <a:t>2</a:t>
                      </a:r>
                    </a:p>
                  </a:txBody>
                  <a:tcPr/>
                </a:tc>
                <a:extLst>
                  <a:ext uri="{0D108BD9-81ED-4DB2-BD59-A6C34878D82A}">
                    <a16:rowId xmlns:a16="http://schemas.microsoft.com/office/drawing/2014/main" val="2092285199"/>
                  </a:ext>
                </a:extLst>
              </a:tr>
              <a:tr h="325673">
                <a:tc>
                  <a:txBody>
                    <a:bodyPr/>
                    <a:lstStyle/>
                    <a:p>
                      <a:pPr algn="ctr"/>
                      <a:r>
                        <a:rPr lang="en-US" dirty="0"/>
                        <a:t>7</a:t>
                      </a:r>
                    </a:p>
                  </a:txBody>
                  <a:tcPr/>
                </a:tc>
                <a:extLst>
                  <a:ext uri="{0D108BD9-81ED-4DB2-BD59-A6C34878D82A}">
                    <a16:rowId xmlns:a16="http://schemas.microsoft.com/office/drawing/2014/main" val="3447318797"/>
                  </a:ext>
                </a:extLst>
              </a:tr>
              <a:tr h="325673">
                <a:tc>
                  <a:txBody>
                    <a:bodyPr/>
                    <a:lstStyle/>
                    <a:p>
                      <a:pPr algn="ctr"/>
                      <a:r>
                        <a:rPr lang="en-US" dirty="0"/>
                        <a:t>3</a:t>
                      </a:r>
                    </a:p>
                  </a:txBody>
                  <a:tcPr/>
                </a:tc>
                <a:extLst>
                  <a:ext uri="{0D108BD9-81ED-4DB2-BD59-A6C34878D82A}">
                    <a16:rowId xmlns:a16="http://schemas.microsoft.com/office/drawing/2014/main" val="3506493476"/>
                  </a:ext>
                </a:extLst>
              </a:tr>
              <a:tr h="325673">
                <a:tc>
                  <a:txBody>
                    <a:bodyPr/>
                    <a:lstStyle/>
                    <a:p>
                      <a:pPr algn="ctr"/>
                      <a:r>
                        <a:rPr lang="en-US" dirty="0"/>
                        <a:t>4</a:t>
                      </a:r>
                    </a:p>
                  </a:txBody>
                  <a:tcPr/>
                </a:tc>
                <a:extLst>
                  <a:ext uri="{0D108BD9-81ED-4DB2-BD59-A6C34878D82A}">
                    <a16:rowId xmlns:a16="http://schemas.microsoft.com/office/drawing/2014/main" val="4153438071"/>
                  </a:ext>
                </a:extLst>
              </a:tr>
              <a:tr h="325673">
                <a:tc>
                  <a:txBody>
                    <a:bodyPr/>
                    <a:lstStyle/>
                    <a:p>
                      <a:pPr algn="ctr"/>
                      <a:r>
                        <a:rPr lang="en-US" dirty="0"/>
                        <a:t>10</a:t>
                      </a:r>
                    </a:p>
                  </a:txBody>
                  <a:tcPr/>
                </a:tc>
                <a:extLst>
                  <a:ext uri="{0D108BD9-81ED-4DB2-BD59-A6C34878D82A}">
                    <a16:rowId xmlns:a16="http://schemas.microsoft.com/office/drawing/2014/main" val="66318644"/>
                  </a:ext>
                </a:extLst>
              </a:tr>
              <a:tr h="325673">
                <a:tc>
                  <a:txBody>
                    <a:bodyPr/>
                    <a:lstStyle/>
                    <a:p>
                      <a:pPr algn="ctr"/>
                      <a:r>
                        <a:rPr lang="en-US" dirty="0"/>
                        <a:t>6</a:t>
                      </a:r>
                    </a:p>
                  </a:txBody>
                  <a:tcPr/>
                </a:tc>
                <a:extLst>
                  <a:ext uri="{0D108BD9-81ED-4DB2-BD59-A6C34878D82A}">
                    <a16:rowId xmlns:a16="http://schemas.microsoft.com/office/drawing/2014/main" val="1430696392"/>
                  </a:ext>
                </a:extLst>
              </a:tr>
            </a:tbl>
          </a:graphicData>
        </a:graphic>
      </p:graphicFrame>
      <p:graphicFrame>
        <p:nvGraphicFramePr>
          <p:cNvPr id="27" name="Table 4">
            <a:extLst>
              <a:ext uri="{FF2B5EF4-FFF2-40B4-BE49-F238E27FC236}">
                <a16:creationId xmlns:a16="http://schemas.microsoft.com/office/drawing/2014/main" id="{B861A2AF-8ADD-3AB3-5625-8C37590D2821}"/>
              </a:ext>
            </a:extLst>
          </p:cNvPr>
          <p:cNvGraphicFramePr>
            <a:graphicFrameLocks/>
          </p:cNvGraphicFramePr>
          <p:nvPr/>
        </p:nvGraphicFramePr>
        <p:xfrm>
          <a:off x="4161146" y="1636917"/>
          <a:ext cx="1268104" cy="3008436"/>
        </p:xfrm>
        <a:graphic>
          <a:graphicData uri="http://schemas.openxmlformats.org/drawingml/2006/table">
            <a:tbl>
              <a:tblPr firstRow="1" bandRow="1">
                <a:tableStyleId>{93296810-A885-4BE3-A3E7-6D5BEEA58F35}</a:tableStyleId>
              </a:tblPr>
              <a:tblGrid>
                <a:gridCol w="1268104">
                  <a:extLst>
                    <a:ext uri="{9D8B030D-6E8A-4147-A177-3AD203B41FA5}">
                      <a16:colId xmlns:a16="http://schemas.microsoft.com/office/drawing/2014/main" val="4198427240"/>
                    </a:ext>
                  </a:extLst>
                </a:gridCol>
              </a:tblGrid>
              <a:tr h="813876">
                <a:tc>
                  <a:txBody>
                    <a:bodyPr/>
                    <a:lstStyle/>
                    <a:p>
                      <a:pPr algn="ctr"/>
                      <a:r>
                        <a:rPr lang="en-US" dirty="0"/>
                        <a:t>Bootstrap Sample 1</a:t>
                      </a:r>
                    </a:p>
                  </a:txBody>
                  <a:tcPr anchor="ctr"/>
                </a:tc>
                <a:extLst>
                  <a:ext uri="{0D108BD9-81ED-4DB2-BD59-A6C34878D82A}">
                    <a16:rowId xmlns:a16="http://schemas.microsoft.com/office/drawing/2014/main" val="2861302482"/>
                  </a:ext>
                </a:extLst>
              </a:tr>
              <a:tr h="325673">
                <a:tc>
                  <a:txBody>
                    <a:bodyPr/>
                    <a:lstStyle/>
                    <a:p>
                      <a:pPr algn="ctr"/>
                      <a:r>
                        <a:rPr lang="en-US" dirty="0"/>
                        <a:t>3</a:t>
                      </a:r>
                    </a:p>
                  </a:txBody>
                  <a:tcPr/>
                </a:tc>
                <a:extLst>
                  <a:ext uri="{0D108BD9-81ED-4DB2-BD59-A6C34878D82A}">
                    <a16:rowId xmlns:a16="http://schemas.microsoft.com/office/drawing/2014/main" val="2092285199"/>
                  </a:ext>
                </a:extLst>
              </a:tr>
              <a:tr h="325673">
                <a:tc>
                  <a:txBody>
                    <a:bodyPr/>
                    <a:lstStyle/>
                    <a:p>
                      <a:pPr algn="ctr"/>
                      <a:r>
                        <a:rPr lang="en-US" dirty="0"/>
                        <a:t>7</a:t>
                      </a:r>
                    </a:p>
                  </a:txBody>
                  <a:tcPr/>
                </a:tc>
                <a:extLst>
                  <a:ext uri="{0D108BD9-81ED-4DB2-BD59-A6C34878D82A}">
                    <a16:rowId xmlns:a16="http://schemas.microsoft.com/office/drawing/2014/main" val="3447318797"/>
                  </a:ext>
                </a:extLst>
              </a:tr>
              <a:tr h="325673">
                <a:tc>
                  <a:txBody>
                    <a:bodyPr/>
                    <a:lstStyle/>
                    <a:p>
                      <a:pPr algn="ctr"/>
                      <a:r>
                        <a:rPr lang="en-US" dirty="0"/>
                        <a:t>3</a:t>
                      </a:r>
                    </a:p>
                  </a:txBody>
                  <a:tcPr/>
                </a:tc>
                <a:extLst>
                  <a:ext uri="{0D108BD9-81ED-4DB2-BD59-A6C34878D82A}">
                    <a16:rowId xmlns:a16="http://schemas.microsoft.com/office/drawing/2014/main" val="3506493476"/>
                  </a:ext>
                </a:extLst>
              </a:tr>
              <a:tr h="325673">
                <a:tc>
                  <a:txBody>
                    <a:bodyPr/>
                    <a:lstStyle/>
                    <a:p>
                      <a:pPr algn="ctr"/>
                      <a:r>
                        <a:rPr lang="en-US" dirty="0"/>
                        <a:t>10</a:t>
                      </a:r>
                    </a:p>
                  </a:txBody>
                  <a:tcPr/>
                </a:tc>
                <a:extLst>
                  <a:ext uri="{0D108BD9-81ED-4DB2-BD59-A6C34878D82A}">
                    <a16:rowId xmlns:a16="http://schemas.microsoft.com/office/drawing/2014/main" val="4153438071"/>
                  </a:ext>
                </a:extLst>
              </a:tr>
              <a:tr h="325673">
                <a:tc>
                  <a:txBody>
                    <a:bodyPr/>
                    <a:lstStyle/>
                    <a:p>
                      <a:pPr algn="ctr"/>
                      <a:r>
                        <a:rPr lang="en-US" dirty="0"/>
                        <a:t>3</a:t>
                      </a:r>
                    </a:p>
                  </a:txBody>
                  <a:tcPr/>
                </a:tc>
                <a:extLst>
                  <a:ext uri="{0D108BD9-81ED-4DB2-BD59-A6C34878D82A}">
                    <a16:rowId xmlns:a16="http://schemas.microsoft.com/office/drawing/2014/main" val="66318644"/>
                  </a:ext>
                </a:extLst>
              </a:tr>
              <a:tr h="325673">
                <a:tc>
                  <a:txBody>
                    <a:bodyPr/>
                    <a:lstStyle/>
                    <a:p>
                      <a:pPr algn="ctr"/>
                      <a:r>
                        <a:rPr lang="en-US" dirty="0"/>
                        <a:t>2</a:t>
                      </a:r>
                    </a:p>
                  </a:txBody>
                  <a:tcPr/>
                </a:tc>
                <a:extLst>
                  <a:ext uri="{0D108BD9-81ED-4DB2-BD59-A6C34878D82A}">
                    <a16:rowId xmlns:a16="http://schemas.microsoft.com/office/drawing/2014/main" val="1430696392"/>
                  </a:ext>
                </a:extLst>
              </a:tr>
            </a:tbl>
          </a:graphicData>
        </a:graphic>
      </p:graphicFrame>
      <p:grpSp>
        <p:nvGrpSpPr>
          <p:cNvPr id="9" name="Group 8">
            <a:extLst>
              <a:ext uri="{FF2B5EF4-FFF2-40B4-BE49-F238E27FC236}">
                <a16:creationId xmlns:a16="http://schemas.microsoft.com/office/drawing/2014/main" id="{CBE4217E-B706-1B82-A294-0EF9605AE898}"/>
              </a:ext>
            </a:extLst>
          </p:cNvPr>
          <p:cNvGrpSpPr/>
          <p:nvPr/>
        </p:nvGrpSpPr>
        <p:grpSpPr>
          <a:xfrm>
            <a:off x="1980262" y="2277266"/>
            <a:ext cx="1989100" cy="751675"/>
            <a:chOff x="6330500" y="3372891"/>
            <a:chExt cx="2720699" cy="1028144"/>
          </a:xfrm>
        </p:grpSpPr>
        <p:grpSp>
          <p:nvGrpSpPr>
            <p:cNvPr id="29" name="Group 28">
              <a:extLst>
                <a:ext uri="{FF2B5EF4-FFF2-40B4-BE49-F238E27FC236}">
                  <a16:creationId xmlns:a16="http://schemas.microsoft.com/office/drawing/2014/main" id="{9C767B04-D1DC-0AA4-4F99-9772D73609B5}"/>
                </a:ext>
              </a:extLst>
            </p:cNvPr>
            <p:cNvGrpSpPr/>
            <p:nvPr/>
          </p:nvGrpSpPr>
          <p:grpSpPr>
            <a:xfrm flipH="1">
              <a:off x="6330500" y="3372891"/>
              <a:ext cx="2720699" cy="1028144"/>
              <a:chOff x="6583915" y="3372891"/>
              <a:chExt cx="2720699" cy="1028144"/>
            </a:xfrm>
          </p:grpSpPr>
          <p:sp>
            <p:nvSpPr>
              <p:cNvPr id="30" name="Freeform 5">
                <a:extLst>
                  <a:ext uri="{FF2B5EF4-FFF2-40B4-BE49-F238E27FC236}">
                    <a16:creationId xmlns:a16="http://schemas.microsoft.com/office/drawing/2014/main" id="{68680FC7-4317-D4E8-A4CF-0A7BF2CCF9E0}"/>
                  </a:ext>
                </a:extLst>
              </p:cNvPr>
              <p:cNvSpPr>
                <a:spLocks/>
              </p:cNvSpPr>
              <p:nvPr/>
            </p:nvSpPr>
            <p:spPr bwMode="auto">
              <a:xfrm>
                <a:off x="8080515"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1" name="Freeform 5">
                <a:extLst>
                  <a:ext uri="{FF2B5EF4-FFF2-40B4-BE49-F238E27FC236}">
                    <a16:creationId xmlns:a16="http://schemas.microsoft.com/office/drawing/2014/main" id="{30F21C45-544B-8392-64AF-A6B400448787}"/>
                  </a:ext>
                </a:extLst>
              </p:cNvPr>
              <p:cNvSpPr>
                <a:spLocks/>
              </p:cNvSpPr>
              <p:nvPr/>
            </p:nvSpPr>
            <p:spPr bwMode="auto">
              <a:xfrm>
                <a:off x="7361204"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nvGrpSpPr>
              <p:cNvPr id="32" name="Group 31">
                <a:extLst>
                  <a:ext uri="{FF2B5EF4-FFF2-40B4-BE49-F238E27FC236}">
                    <a16:creationId xmlns:a16="http://schemas.microsoft.com/office/drawing/2014/main" id="{020EF95E-2C42-5E12-1FD3-F18FE08BA52B}"/>
                  </a:ext>
                </a:extLst>
              </p:cNvPr>
              <p:cNvGrpSpPr/>
              <p:nvPr/>
            </p:nvGrpSpPr>
            <p:grpSpPr>
              <a:xfrm>
                <a:off x="6583915" y="3372892"/>
                <a:ext cx="1234278" cy="1028143"/>
                <a:chOff x="1451772" y="4010848"/>
                <a:chExt cx="5337253" cy="4445888"/>
              </a:xfrm>
            </p:grpSpPr>
            <p:sp>
              <p:nvSpPr>
                <p:cNvPr id="35" name="Freeform 5">
                  <a:extLst>
                    <a:ext uri="{FF2B5EF4-FFF2-40B4-BE49-F238E27FC236}">
                      <a16:creationId xmlns:a16="http://schemas.microsoft.com/office/drawing/2014/main" id="{A7751FAD-6C48-F950-1E41-2A3C2C72091E}"/>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6" name="Freeform 6">
                  <a:extLst>
                    <a:ext uri="{FF2B5EF4-FFF2-40B4-BE49-F238E27FC236}">
                      <a16:creationId xmlns:a16="http://schemas.microsoft.com/office/drawing/2014/main" id="{F102450B-B03B-1C8D-E8BF-2339247D7FE0}"/>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33" name="Freeform 6">
                <a:extLst>
                  <a:ext uri="{FF2B5EF4-FFF2-40B4-BE49-F238E27FC236}">
                    <a16:creationId xmlns:a16="http://schemas.microsoft.com/office/drawing/2014/main" id="{D3CA5600-CCBC-AA00-AC6F-0220256F6BD2}"/>
                  </a:ext>
                </a:extLst>
              </p:cNvPr>
              <p:cNvSpPr>
                <a:spLocks/>
              </p:cNvSpPr>
              <p:nvPr/>
            </p:nvSpPr>
            <p:spPr bwMode="auto">
              <a:xfrm>
                <a:off x="7343923"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4" name="Freeform 6">
                <a:extLst>
                  <a:ext uri="{FF2B5EF4-FFF2-40B4-BE49-F238E27FC236}">
                    <a16:creationId xmlns:a16="http://schemas.microsoft.com/office/drawing/2014/main" id="{A96477D8-9393-CC99-5DD0-C609F89606EB}"/>
                  </a:ext>
                </a:extLst>
              </p:cNvPr>
              <p:cNvSpPr>
                <a:spLocks/>
              </p:cNvSpPr>
              <p:nvPr/>
            </p:nvSpPr>
            <p:spPr bwMode="auto">
              <a:xfrm>
                <a:off x="8063234"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7" name="TextBox 6">
              <a:extLst>
                <a:ext uri="{FF2B5EF4-FFF2-40B4-BE49-F238E27FC236}">
                  <a16:creationId xmlns:a16="http://schemas.microsoft.com/office/drawing/2014/main" id="{FA60B041-461E-E7F6-C520-2A292B643AB4}"/>
                </a:ext>
              </a:extLst>
            </p:cNvPr>
            <p:cNvSpPr txBox="1"/>
            <p:nvPr/>
          </p:nvSpPr>
          <p:spPr>
            <a:xfrm>
              <a:off x="6881304" y="3421496"/>
              <a:ext cx="1533062" cy="884054"/>
            </a:xfrm>
            <a:prstGeom prst="rect">
              <a:avLst/>
            </a:prstGeom>
            <a:noFill/>
          </p:spPr>
          <p:txBody>
            <a:bodyPr wrap="none" rtlCol="0">
              <a:spAutoFit/>
            </a:bodyPr>
            <a:lstStyle/>
            <a:p>
              <a:pPr algn="ctr"/>
              <a:r>
                <a:rPr lang="en-US" dirty="0">
                  <a:solidFill>
                    <a:schemeClr val="bg1"/>
                  </a:solidFill>
                </a:rPr>
                <a:t>Random </a:t>
              </a:r>
            </a:p>
            <a:p>
              <a:pPr algn="ctr"/>
              <a:r>
                <a:rPr lang="en-US" dirty="0">
                  <a:solidFill>
                    <a:schemeClr val="bg1"/>
                  </a:solidFill>
                </a:rPr>
                <a:t>select</a:t>
              </a:r>
            </a:p>
          </p:txBody>
        </p:sp>
      </p:grpSp>
      <p:sp>
        <p:nvSpPr>
          <p:cNvPr id="37" name="Rounded Rectangle 36">
            <a:extLst>
              <a:ext uri="{FF2B5EF4-FFF2-40B4-BE49-F238E27FC236}">
                <a16:creationId xmlns:a16="http://schemas.microsoft.com/office/drawing/2014/main" id="{143820F2-ABC2-FCF8-1565-F5CB7D365640}"/>
              </a:ext>
            </a:extLst>
          </p:cNvPr>
          <p:cNvSpPr/>
          <p:nvPr/>
        </p:nvSpPr>
        <p:spPr>
          <a:xfrm>
            <a:off x="652632" y="712640"/>
            <a:ext cx="1385901" cy="701439"/>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Role as population</a:t>
            </a:r>
          </a:p>
        </p:txBody>
      </p:sp>
      <p:sp>
        <p:nvSpPr>
          <p:cNvPr id="2" name="Rounded Rectangle 1">
            <a:extLst>
              <a:ext uri="{FF2B5EF4-FFF2-40B4-BE49-F238E27FC236}">
                <a16:creationId xmlns:a16="http://schemas.microsoft.com/office/drawing/2014/main" id="{937B3773-DAE4-6536-2F02-8C69BCEE1153}"/>
              </a:ext>
            </a:extLst>
          </p:cNvPr>
          <p:cNvSpPr/>
          <p:nvPr/>
        </p:nvSpPr>
        <p:spPr>
          <a:xfrm>
            <a:off x="6096000" y="2438399"/>
            <a:ext cx="5317283" cy="1600201"/>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Continue until bootstrap sample has same number of data values as your original sample. This completes one bootstrap sample.</a:t>
            </a:r>
          </a:p>
        </p:txBody>
      </p:sp>
    </p:spTree>
    <p:extLst>
      <p:ext uri="{BB962C8B-B14F-4D97-AF65-F5344CB8AC3E}">
        <p14:creationId xmlns:p14="http://schemas.microsoft.com/office/powerpoint/2010/main" val="39595953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28E6AE2D-C5A2-6D04-A070-F7CBC0A15DE0}"/>
              </a:ext>
            </a:extLst>
          </p:cNvPr>
          <p:cNvGraphicFramePr>
            <a:graphicFrameLocks noGrp="1"/>
          </p:cNvGraphicFramePr>
          <p:nvPr>
            <p:ph idx="4294967295"/>
          </p:nvPr>
        </p:nvGraphicFramePr>
        <p:xfrm>
          <a:off x="778717" y="1636917"/>
          <a:ext cx="1133732" cy="3008436"/>
        </p:xfrm>
        <a:graphic>
          <a:graphicData uri="http://schemas.openxmlformats.org/drawingml/2006/table">
            <a:tbl>
              <a:tblPr firstRow="1" bandRow="1">
                <a:tableStyleId>{93296810-A885-4BE3-A3E7-6D5BEEA58F35}</a:tableStyleId>
              </a:tblPr>
              <a:tblGrid>
                <a:gridCol w="1133732">
                  <a:extLst>
                    <a:ext uri="{9D8B030D-6E8A-4147-A177-3AD203B41FA5}">
                      <a16:colId xmlns:a16="http://schemas.microsoft.com/office/drawing/2014/main" val="4198427240"/>
                    </a:ext>
                  </a:extLst>
                </a:gridCol>
              </a:tblGrid>
              <a:tr h="813876">
                <a:tc>
                  <a:txBody>
                    <a:bodyPr/>
                    <a:lstStyle/>
                    <a:p>
                      <a:pPr algn="ctr"/>
                      <a:r>
                        <a:rPr lang="en-US" dirty="0"/>
                        <a:t>Your Sample</a:t>
                      </a:r>
                    </a:p>
                  </a:txBody>
                  <a:tcPr anchor="ctr"/>
                </a:tc>
                <a:extLst>
                  <a:ext uri="{0D108BD9-81ED-4DB2-BD59-A6C34878D82A}">
                    <a16:rowId xmlns:a16="http://schemas.microsoft.com/office/drawing/2014/main" val="2861302482"/>
                  </a:ext>
                </a:extLst>
              </a:tr>
              <a:tr h="325673">
                <a:tc>
                  <a:txBody>
                    <a:bodyPr/>
                    <a:lstStyle/>
                    <a:p>
                      <a:pPr algn="ctr"/>
                      <a:r>
                        <a:rPr lang="en-US" dirty="0"/>
                        <a:t>2</a:t>
                      </a:r>
                    </a:p>
                  </a:txBody>
                  <a:tcPr/>
                </a:tc>
                <a:extLst>
                  <a:ext uri="{0D108BD9-81ED-4DB2-BD59-A6C34878D82A}">
                    <a16:rowId xmlns:a16="http://schemas.microsoft.com/office/drawing/2014/main" val="2092285199"/>
                  </a:ext>
                </a:extLst>
              </a:tr>
              <a:tr h="325673">
                <a:tc>
                  <a:txBody>
                    <a:bodyPr/>
                    <a:lstStyle/>
                    <a:p>
                      <a:pPr algn="ctr"/>
                      <a:r>
                        <a:rPr lang="en-US" dirty="0"/>
                        <a:t>7</a:t>
                      </a:r>
                    </a:p>
                  </a:txBody>
                  <a:tcPr/>
                </a:tc>
                <a:extLst>
                  <a:ext uri="{0D108BD9-81ED-4DB2-BD59-A6C34878D82A}">
                    <a16:rowId xmlns:a16="http://schemas.microsoft.com/office/drawing/2014/main" val="3447318797"/>
                  </a:ext>
                </a:extLst>
              </a:tr>
              <a:tr h="325673">
                <a:tc>
                  <a:txBody>
                    <a:bodyPr/>
                    <a:lstStyle/>
                    <a:p>
                      <a:pPr algn="ctr"/>
                      <a:r>
                        <a:rPr lang="en-US" dirty="0"/>
                        <a:t>3</a:t>
                      </a:r>
                    </a:p>
                  </a:txBody>
                  <a:tcPr/>
                </a:tc>
                <a:extLst>
                  <a:ext uri="{0D108BD9-81ED-4DB2-BD59-A6C34878D82A}">
                    <a16:rowId xmlns:a16="http://schemas.microsoft.com/office/drawing/2014/main" val="3506493476"/>
                  </a:ext>
                </a:extLst>
              </a:tr>
              <a:tr h="325673">
                <a:tc>
                  <a:txBody>
                    <a:bodyPr/>
                    <a:lstStyle/>
                    <a:p>
                      <a:pPr algn="ctr"/>
                      <a:r>
                        <a:rPr lang="en-US" dirty="0"/>
                        <a:t>4</a:t>
                      </a:r>
                    </a:p>
                  </a:txBody>
                  <a:tcPr/>
                </a:tc>
                <a:extLst>
                  <a:ext uri="{0D108BD9-81ED-4DB2-BD59-A6C34878D82A}">
                    <a16:rowId xmlns:a16="http://schemas.microsoft.com/office/drawing/2014/main" val="4153438071"/>
                  </a:ext>
                </a:extLst>
              </a:tr>
              <a:tr h="325673">
                <a:tc>
                  <a:txBody>
                    <a:bodyPr/>
                    <a:lstStyle/>
                    <a:p>
                      <a:pPr algn="ctr"/>
                      <a:r>
                        <a:rPr lang="en-US" dirty="0"/>
                        <a:t>10</a:t>
                      </a:r>
                    </a:p>
                  </a:txBody>
                  <a:tcPr/>
                </a:tc>
                <a:extLst>
                  <a:ext uri="{0D108BD9-81ED-4DB2-BD59-A6C34878D82A}">
                    <a16:rowId xmlns:a16="http://schemas.microsoft.com/office/drawing/2014/main" val="66318644"/>
                  </a:ext>
                </a:extLst>
              </a:tr>
              <a:tr h="325673">
                <a:tc>
                  <a:txBody>
                    <a:bodyPr/>
                    <a:lstStyle/>
                    <a:p>
                      <a:pPr algn="ctr"/>
                      <a:r>
                        <a:rPr lang="en-US" dirty="0"/>
                        <a:t>6</a:t>
                      </a:r>
                    </a:p>
                  </a:txBody>
                  <a:tcPr/>
                </a:tc>
                <a:extLst>
                  <a:ext uri="{0D108BD9-81ED-4DB2-BD59-A6C34878D82A}">
                    <a16:rowId xmlns:a16="http://schemas.microsoft.com/office/drawing/2014/main" val="1430696392"/>
                  </a:ext>
                </a:extLst>
              </a:tr>
            </a:tbl>
          </a:graphicData>
        </a:graphic>
      </p:graphicFrame>
      <p:grpSp>
        <p:nvGrpSpPr>
          <p:cNvPr id="9" name="Group 8">
            <a:extLst>
              <a:ext uri="{FF2B5EF4-FFF2-40B4-BE49-F238E27FC236}">
                <a16:creationId xmlns:a16="http://schemas.microsoft.com/office/drawing/2014/main" id="{CBE4217E-B706-1B82-A294-0EF9605AE898}"/>
              </a:ext>
            </a:extLst>
          </p:cNvPr>
          <p:cNvGrpSpPr/>
          <p:nvPr/>
        </p:nvGrpSpPr>
        <p:grpSpPr>
          <a:xfrm>
            <a:off x="1980262" y="2277266"/>
            <a:ext cx="1989100" cy="751675"/>
            <a:chOff x="6330500" y="3372891"/>
            <a:chExt cx="2720699" cy="1028144"/>
          </a:xfrm>
        </p:grpSpPr>
        <p:grpSp>
          <p:nvGrpSpPr>
            <p:cNvPr id="29" name="Group 28">
              <a:extLst>
                <a:ext uri="{FF2B5EF4-FFF2-40B4-BE49-F238E27FC236}">
                  <a16:creationId xmlns:a16="http://schemas.microsoft.com/office/drawing/2014/main" id="{9C767B04-D1DC-0AA4-4F99-9772D73609B5}"/>
                </a:ext>
              </a:extLst>
            </p:cNvPr>
            <p:cNvGrpSpPr/>
            <p:nvPr/>
          </p:nvGrpSpPr>
          <p:grpSpPr>
            <a:xfrm flipH="1">
              <a:off x="6330500" y="3372891"/>
              <a:ext cx="2720699" cy="1028144"/>
              <a:chOff x="6583915" y="3372891"/>
              <a:chExt cx="2720699" cy="1028144"/>
            </a:xfrm>
          </p:grpSpPr>
          <p:sp>
            <p:nvSpPr>
              <p:cNvPr id="30" name="Freeform 5">
                <a:extLst>
                  <a:ext uri="{FF2B5EF4-FFF2-40B4-BE49-F238E27FC236}">
                    <a16:creationId xmlns:a16="http://schemas.microsoft.com/office/drawing/2014/main" id="{68680FC7-4317-D4E8-A4CF-0A7BF2CCF9E0}"/>
                  </a:ext>
                </a:extLst>
              </p:cNvPr>
              <p:cNvSpPr>
                <a:spLocks/>
              </p:cNvSpPr>
              <p:nvPr/>
            </p:nvSpPr>
            <p:spPr bwMode="auto">
              <a:xfrm>
                <a:off x="8080515"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1" name="Freeform 5">
                <a:extLst>
                  <a:ext uri="{FF2B5EF4-FFF2-40B4-BE49-F238E27FC236}">
                    <a16:creationId xmlns:a16="http://schemas.microsoft.com/office/drawing/2014/main" id="{30F21C45-544B-8392-64AF-A6B400448787}"/>
                  </a:ext>
                </a:extLst>
              </p:cNvPr>
              <p:cNvSpPr>
                <a:spLocks/>
              </p:cNvSpPr>
              <p:nvPr/>
            </p:nvSpPr>
            <p:spPr bwMode="auto">
              <a:xfrm>
                <a:off x="7361204"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nvGrpSpPr>
              <p:cNvPr id="32" name="Group 31">
                <a:extLst>
                  <a:ext uri="{FF2B5EF4-FFF2-40B4-BE49-F238E27FC236}">
                    <a16:creationId xmlns:a16="http://schemas.microsoft.com/office/drawing/2014/main" id="{020EF95E-2C42-5E12-1FD3-F18FE08BA52B}"/>
                  </a:ext>
                </a:extLst>
              </p:cNvPr>
              <p:cNvGrpSpPr/>
              <p:nvPr/>
            </p:nvGrpSpPr>
            <p:grpSpPr>
              <a:xfrm>
                <a:off x="6583915" y="3372892"/>
                <a:ext cx="1234278" cy="1028143"/>
                <a:chOff x="1451772" y="4010848"/>
                <a:chExt cx="5337253" cy="4445888"/>
              </a:xfrm>
            </p:grpSpPr>
            <p:sp>
              <p:nvSpPr>
                <p:cNvPr id="35" name="Freeform 5">
                  <a:extLst>
                    <a:ext uri="{FF2B5EF4-FFF2-40B4-BE49-F238E27FC236}">
                      <a16:creationId xmlns:a16="http://schemas.microsoft.com/office/drawing/2014/main" id="{A7751FAD-6C48-F950-1E41-2A3C2C72091E}"/>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6" name="Freeform 6">
                  <a:extLst>
                    <a:ext uri="{FF2B5EF4-FFF2-40B4-BE49-F238E27FC236}">
                      <a16:creationId xmlns:a16="http://schemas.microsoft.com/office/drawing/2014/main" id="{F102450B-B03B-1C8D-E8BF-2339247D7FE0}"/>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33" name="Freeform 6">
                <a:extLst>
                  <a:ext uri="{FF2B5EF4-FFF2-40B4-BE49-F238E27FC236}">
                    <a16:creationId xmlns:a16="http://schemas.microsoft.com/office/drawing/2014/main" id="{D3CA5600-CCBC-AA00-AC6F-0220256F6BD2}"/>
                  </a:ext>
                </a:extLst>
              </p:cNvPr>
              <p:cNvSpPr>
                <a:spLocks/>
              </p:cNvSpPr>
              <p:nvPr/>
            </p:nvSpPr>
            <p:spPr bwMode="auto">
              <a:xfrm>
                <a:off x="7343923"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4" name="Freeform 6">
                <a:extLst>
                  <a:ext uri="{FF2B5EF4-FFF2-40B4-BE49-F238E27FC236}">
                    <a16:creationId xmlns:a16="http://schemas.microsoft.com/office/drawing/2014/main" id="{A96477D8-9393-CC99-5DD0-C609F89606EB}"/>
                  </a:ext>
                </a:extLst>
              </p:cNvPr>
              <p:cNvSpPr>
                <a:spLocks/>
              </p:cNvSpPr>
              <p:nvPr/>
            </p:nvSpPr>
            <p:spPr bwMode="auto">
              <a:xfrm>
                <a:off x="8063234"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7" name="TextBox 6">
              <a:extLst>
                <a:ext uri="{FF2B5EF4-FFF2-40B4-BE49-F238E27FC236}">
                  <a16:creationId xmlns:a16="http://schemas.microsoft.com/office/drawing/2014/main" id="{FA60B041-461E-E7F6-C520-2A292B643AB4}"/>
                </a:ext>
              </a:extLst>
            </p:cNvPr>
            <p:cNvSpPr txBox="1"/>
            <p:nvPr/>
          </p:nvSpPr>
          <p:spPr>
            <a:xfrm>
              <a:off x="6881304" y="3421496"/>
              <a:ext cx="1533062" cy="884054"/>
            </a:xfrm>
            <a:prstGeom prst="rect">
              <a:avLst/>
            </a:prstGeom>
            <a:noFill/>
          </p:spPr>
          <p:txBody>
            <a:bodyPr wrap="none" rtlCol="0">
              <a:spAutoFit/>
            </a:bodyPr>
            <a:lstStyle/>
            <a:p>
              <a:pPr algn="ctr"/>
              <a:r>
                <a:rPr lang="en-US" dirty="0">
                  <a:solidFill>
                    <a:schemeClr val="bg1"/>
                  </a:solidFill>
                </a:rPr>
                <a:t>Random </a:t>
              </a:r>
            </a:p>
            <a:p>
              <a:pPr algn="ctr"/>
              <a:r>
                <a:rPr lang="en-US" dirty="0">
                  <a:solidFill>
                    <a:schemeClr val="bg1"/>
                  </a:solidFill>
                </a:rPr>
                <a:t>select</a:t>
              </a:r>
            </a:p>
          </p:txBody>
        </p:sp>
      </p:grpSp>
      <p:sp>
        <p:nvSpPr>
          <p:cNvPr id="37" name="Rounded Rectangle 36">
            <a:extLst>
              <a:ext uri="{FF2B5EF4-FFF2-40B4-BE49-F238E27FC236}">
                <a16:creationId xmlns:a16="http://schemas.microsoft.com/office/drawing/2014/main" id="{143820F2-ABC2-FCF8-1565-F5CB7D365640}"/>
              </a:ext>
            </a:extLst>
          </p:cNvPr>
          <p:cNvSpPr/>
          <p:nvPr/>
        </p:nvSpPr>
        <p:spPr>
          <a:xfrm>
            <a:off x="652632" y="712640"/>
            <a:ext cx="1385901" cy="701439"/>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Role as population</a:t>
            </a:r>
          </a:p>
        </p:txBody>
      </p:sp>
      <p:grpSp>
        <p:nvGrpSpPr>
          <p:cNvPr id="16" name="Group 15">
            <a:extLst>
              <a:ext uri="{FF2B5EF4-FFF2-40B4-BE49-F238E27FC236}">
                <a16:creationId xmlns:a16="http://schemas.microsoft.com/office/drawing/2014/main" id="{78D0876B-51FB-16B3-1379-4F0E8A171D8F}"/>
              </a:ext>
            </a:extLst>
          </p:cNvPr>
          <p:cNvGrpSpPr/>
          <p:nvPr/>
        </p:nvGrpSpPr>
        <p:grpSpPr>
          <a:xfrm>
            <a:off x="8072730" y="2967240"/>
            <a:ext cx="375044" cy="72912"/>
            <a:chOff x="8682417" y="2934358"/>
            <a:chExt cx="375044" cy="72912"/>
          </a:xfrm>
        </p:grpSpPr>
        <p:sp>
          <p:nvSpPr>
            <p:cNvPr id="17" name="Oval 16">
              <a:extLst>
                <a:ext uri="{FF2B5EF4-FFF2-40B4-BE49-F238E27FC236}">
                  <a16:creationId xmlns:a16="http://schemas.microsoft.com/office/drawing/2014/main" id="{3703C806-4640-C8EB-4FE6-7E8F3C9DE508}"/>
                </a:ext>
              </a:extLst>
            </p:cNvPr>
            <p:cNvSpPr/>
            <p:nvPr/>
          </p:nvSpPr>
          <p:spPr>
            <a:xfrm flipH="1">
              <a:off x="8682417" y="2934358"/>
              <a:ext cx="72912" cy="729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8" name="Oval 17">
              <a:extLst>
                <a:ext uri="{FF2B5EF4-FFF2-40B4-BE49-F238E27FC236}">
                  <a16:creationId xmlns:a16="http://schemas.microsoft.com/office/drawing/2014/main" id="{0B99AF45-A03F-72AE-1411-25D9DB0424DD}"/>
                </a:ext>
              </a:extLst>
            </p:cNvPr>
            <p:cNvSpPr/>
            <p:nvPr/>
          </p:nvSpPr>
          <p:spPr>
            <a:xfrm flipH="1">
              <a:off x="8833486" y="2934358"/>
              <a:ext cx="72912" cy="729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Oval 18">
              <a:extLst>
                <a:ext uri="{FF2B5EF4-FFF2-40B4-BE49-F238E27FC236}">
                  <a16:creationId xmlns:a16="http://schemas.microsoft.com/office/drawing/2014/main" id="{602DE6BC-2B73-5A44-948E-67820E7A5015}"/>
                </a:ext>
              </a:extLst>
            </p:cNvPr>
            <p:cNvSpPr/>
            <p:nvPr/>
          </p:nvSpPr>
          <p:spPr>
            <a:xfrm flipH="1">
              <a:off x="8984549" y="2934358"/>
              <a:ext cx="72912" cy="729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aphicFrame>
        <p:nvGraphicFramePr>
          <p:cNvPr id="21" name="Table 4">
            <a:extLst>
              <a:ext uri="{FF2B5EF4-FFF2-40B4-BE49-F238E27FC236}">
                <a16:creationId xmlns:a16="http://schemas.microsoft.com/office/drawing/2014/main" id="{F66434DE-FEE7-8EF6-3213-42EE88B0C770}"/>
              </a:ext>
            </a:extLst>
          </p:cNvPr>
          <p:cNvGraphicFramePr>
            <a:graphicFrameLocks/>
          </p:cNvGraphicFramePr>
          <p:nvPr/>
        </p:nvGraphicFramePr>
        <p:xfrm>
          <a:off x="9320005" y="1636917"/>
          <a:ext cx="1268104" cy="3008436"/>
        </p:xfrm>
        <a:graphic>
          <a:graphicData uri="http://schemas.openxmlformats.org/drawingml/2006/table">
            <a:tbl>
              <a:tblPr firstRow="1" bandRow="1">
                <a:tableStyleId>{93296810-A885-4BE3-A3E7-6D5BEEA58F35}</a:tableStyleId>
              </a:tblPr>
              <a:tblGrid>
                <a:gridCol w="1268104">
                  <a:extLst>
                    <a:ext uri="{9D8B030D-6E8A-4147-A177-3AD203B41FA5}">
                      <a16:colId xmlns:a16="http://schemas.microsoft.com/office/drawing/2014/main" val="4198427240"/>
                    </a:ext>
                  </a:extLst>
                </a:gridCol>
              </a:tblGrid>
              <a:tr h="813876">
                <a:tc>
                  <a:txBody>
                    <a:bodyPr/>
                    <a:lstStyle/>
                    <a:p>
                      <a:pPr algn="ctr"/>
                      <a:r>
                        <a:rPr lang="en-US" dirty="0"/>
                        <a:t>Bootstrap Sample </a:t>
                      </a:r>
                      <a:r>
                        <a:rPr lang="en-US" i="1" dirty="0"/>
                        <a:t>B</a:t>
                      </a:r>
                    </a:p>
                  </a:txBody>
                  <a:tcPr anchor="ctr"/>
                </a:tc>
                <a:extLst>
                  <a:ext uri="{0D108BD9-81ED-4DB2-BD59-A6C34878D82A}">
                    <a16:rowId xmlns:a16="http://schemas.microsoft.com/office/drawing/2014/main" val="2861302482"/>
                  </a:ext>
                </a:extLst>
              </a:tr>
              <a:tr h="325673">
                <a:tc>
                  <a:txBody>
                    <a:bodyPr/>
                    <a:lstStyle/>
                    <a:p>
                      <a:pPr algn="ctr"/>
                      <a:r>
                        <a:rPr lang="en-US" dirty="0"/>
                        <a:t>6</a:t>
                      </a:r>
                    </a:p>
                  </a:txBody>
                  <a:tcPr/>
                </a:tc>
                <a:extLst>
                  <a:ext uri="{0D108BD9-81ED-4DB2-BD59-A6C34878D82A}">
                    <a16:rowId xmlns:a16="http://schemas.microsoft.com/office/drawing/2014/main" val="2092285199"/>
                  </a:ext>
                </a:extLst>
              </a:tr>
              <a:tr h="325673">
                <a:tc>
                  <a:txBody>
                    <a:bodyPr/>
                    <a:lstStyle/>
                    <a:p>
                      <a:pPr algn="ctr"/>
                      <a:r>
                        <a:rPr lang="en-US" dirty="0"/>
                        <a:t>6</a:t>
                      </a:r>
                    </a:p>
                  </a:txBody>
                  <a:tcPr/>
                </a:tc>
                <a:extLst>
                  <a:ext uri="{0D108BD9-81ED-4DB2-BD59-A6C34878D82A}">
                    <a16:rowId xmlns:a16="http://schemas.microsoft.com/office/drawing/2014/main" val="3447318797"/>
                  </a:ext>
                </a:extLst>
              </a:tr>
              <a:tr h="325673">
                <a:tc>
                  <a:txBody>
                    <a:bodyPr/>
                    <a:lstStyle/>
                    <a:p>
                      <a:pPr algn="ctr"/>
                      <a:r>
                        <a:rPr lang="en-US" dirty="0"/>
                        <a:t>10</a:t>
                      </a:r>
                    </a:p>
                  </a:txBody>
                  <a:tcPr/>
                </a:tc>
                <a:extLst>
                  <a:ext uri="{0D108BD9-81ED-4DB2-BD59-A6C34878D82A}">
                    <a16:rowId xmlns:a16="http://schemas.microsoft.com/office/drawing/2014/main" val="3506493476"/>
                  </a:ext>
                </a:extLst>
              </a:tr>
              <a:tr h="325673">
                <a:tc>
                  <a:txBody>
                    <a:bodyPr/>
                    <a:lstStyle/>
                    <a:p>
                      <a:pPr algn="ctr"/>
                      <a:r>
                        <a:rPr lang="en-US" dirty="0"/>
                        <a:t>4</a:t>
                      </a:r>
                    </a:p>
                  </a:txBody>
                  <a:tcPr/>
                </a:tc>
                <a:extLst>
                  <a:ext uri="{0D108BD9-81ED-4DB2-BD59-A6C34878D82A}">
                    <a16:rowId xmlns:a16="http://schemas.microsoft.com/office/drawing/2014/main" val="4153438071"/>
                  </a:ext>
                </a:extLst>
              </a:tr>
              <a:tr h="325673">
                <a:tc>
                  <a:txBody>
                    <a:bodyPr/>
                    <a:lstStyle/>
                    <a:p>
                      <a:pPr algn="ctr"/>
                      <a:r>
                        <a:rPr lang="en-US" dirty="0"/>
                        <a:t>4</a:t>
                      </a:r>
                    </a:p>
                  </a:txBody>
                  <a:tcPr/>
                </a:tc>
                <a:extLst>
                  <a:ext uri="{0D108BD9-81ED-4DB2-BD59-A6C34878D82A}">
                    <a16:rowId xmlns:a16="http://schemas.microsoft.com/office/drawing/2014/main" val="66318644"/>
                  </a:ext>
                </a:extLst>
              </a:tr>
              <a:tr h="325673">
                <a:tc>
                  <a:txBody>
                    <a:bodyPr/>
                    <a:lstStyle/>
                    <a:p>
                      <a:pPr algn="ctr"/>
                      <a:r>
                        <a:rPr lang="en-US" dirty="0"/>
                        <a:t>7</a:t>
                      </a:r>
                    </a:p>
                  </a:txBody>
                  <a:tcPr/>
                </a:tc>
                <a:extLst>
                  <a:ext uri="{0D108BD9-81ED-4DB2-BD59-A6C34878D82A}">
                    <a16:rowId xmlns:a16="http://schemas.microsoft.com/office/drawing/2014/main" val="1430696392"/>
                  </a:ext>
                </a:extLst>
              </a:tr>
            </a:tbl>
          </a:graphicData>
        </a:graphic>
      </p:graphicFrame>
      <p:sp>
        <p:nvSpPr>
          <p:cNvPr id="134" name="Rounded Rectangle 133">
            <a:extLst>
              <a:ext uri="{FF2B5EF4-FFF2-40B4-BE49-F238E27FC236}">
                <a16:creationId xmlns:a16="http://schemas.microsoft.com/office/drawing/2014/main" id="{566CD1AF-CABF-3553-9C2C-9D67A1D8064A}"/>
              </a:ext>
            </a:extLst>
          </p:cNvPr>
          <p:cNvSpPr/>
          <p:nvPr/>
        </p:nvSpPr>
        <p:spPr>
          <a:xfrm>
            <a:off x="5971002" y="5105400"/>
            <a:ext cx="4617107" cy="985370"/>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Repeat the sampling procedure numerous times to generate numerous bootstrap samples.</a:t>
            </a:r>
          </a:p>
        </p:txBody>
      </p:sp>
      <p:graphicFrame>
        <p:nvGraphicFramePr>
          <p:cNvPr id="83" name="Table 4">
            <a:extLst>
              <a:ext uri="{FF2B5EF4-FFF2-40B4-BE49-F238E27FC236}">
                <a16:creationId xmlns:a16="http://schemas.microsoft.com/office/drawing/2014/main" id="{FF210378-5AD0-F6BB-3936-52F5809A6238}"/>
              </a:ext>
            </a:extLst>
          </p:cNvPr>
          <p:cNvGraphicFramePr>
            <a:graphicFrameLocks/>
          </p:cNvGraphicFramePr>
          <p:nvPr/>
        </p:nvGraphicFramePr>
        <p:xfrm>
          <a:off x="4161146" y="1636917"/>
          <a:ext cx="1268104" cy="3008436"/>
        </p:xfrm>
        <a:graphic>
          <a:graphicData uri="http://schemas.openxmlformats.org/drawingml/2006/table">
            <a:tbl>
              <a:tblPr firstRow="1" bandRow="1">
                <a:tableStyleId>{93296810-A885-4BE3-A3E7-6D5BEEA58F35}</a:tableStyleId>
              </a:tblPr>
              <a:tblGrid>
                <a:gridCol w="1268104">
                  <a:extLst>
                    <a:ext uri="{9D8B030D-6E8A-4147-A177-3AD203B41FA5}">
                      <a16:colId xmlns:a16="http://schemas.microsoft.com/office/drawing/2014/main" val="4198427240"/>
                    </a:ext>
                  </a:extLst>
                </a:gridCol>
              </a:tblGrid>
              <a:tr h="813876">
                <a:tc>
                  <a:txBody>
                    <a:bodyPr/>
                    <a:lstStyle/>
                    <a:p>
                      <a:pPr algn="ctr"/>
                      <a:r>
                        <a:rPr lang="en-US" dirty="0"/>
                        <a:t>Bootstrap Sample 1</a:t>
                      </a:r>
                    </a:p>
                  </a:txBody>
                  <a:tcPr anchor="ctr"/>
                </a:tc>
                <a:extLst>
                  <a:ext uri="{0D108BD9-81ED-4DB2-BD59-A6C34878D82A}">
                    <a16:rowId xmlns:a16="http://schemas.microsoft.com/office/drawing/2014/main" val="2861302482"/>
                  </a:ext>
                </a:extLst>
              </a:tr>
              <a:tr h="325673">
                <a:tc>
                  <a:txBody>
                    <a:bodyPr/>
                    <a:lstStyle/>
                    <a:p>
                      <a:pPr algn="ctr"/>
                      <a:r>
                        <a:rPr lang="en-US" dirty="0"/>
                        <a:t>3</a:t>
                      </a:r>
                    </a:p>
                  </a:txBody>
                  <a:tcPr/>
                </a:tc>
                <a:extLst>
                  <a:ext uri="{0D108BD9-81ED-4DB2-BD59-A6C34878D82A}">
                    <a16:rowId xmlns:a16="http://schemas.microsoft.com/office/drawing/2014/main" val="2092285199"/>
                  </a:ext>
                </a:extLst>
              </a:tr>
              <a:tr h="325673">
                <a:tc>
                  <a:txBody>
                    <a:bodyPr/>
                    <a:lstStyle/>
                    <a:p>
                      <a:pPr algn="ctr"/>
                      <a:r>
                        <a:rPr lang="en-US" dirty="0"/>
                        <a:t>7</a:t>
                      </a:r>
                    </a:p>
                  </a:txBody>
                  <a:tcPr/>
                </a:tc>
                <a:extLst>
                  <a:ext uri="{0D108BD9-81ED-4DB2-BD59-A6C34878D82A}">
                    <a16:rowId xmlns:a16="http://schemas.microsoft.com/office/drawing/2014/main" val="3447318797"/>
                  </a:ext>
                </a:extLst>
              </a:tr>
              <a:tr h="325673">
                <a:tc>
                  <a:txBody>
                    <a:bodyPr/>
                    <a:lstStyle/>
                    <a:p>
                      <a:pPr algn="ctr"/>
                      <a:r>
                        <a:rPr lang="en-US" dirty="0"/>
                        <a:t>3</a:t>
                      </a:r>
                    </a:p>
                  </a:txBody>
                  <a:tcPr/>
                </a:tc>
                <a:extLst>
                  <a:ext uri="{0D108BD9-81ED-4DB2-BD59-A6C34878D82A}">
                    <a16:rowId xmlns:a16="http://schemas.microsoft.com/office/drawing/2014/main" val="3506493476"/>
                  </a:ext>
                </a:extLst>
              </a:tr>
              <a:tr h="325673">
                <a:tc>
                  <a:txBody>
                    <a:bodyPr/>
                    <a:lstStyle/>
                    <a:p>
                      <a:pPr algn="ctr"/>
                      <a:r>
                        <a:rPr lang="en-US" dirty="0"/>
                        <a:t>10</a:t>
                      </a:r>
                    </a:p>
                  </a:txBody>
                  <a:tcPr/>
                </a:tc>
                <a:extLst>
                  <a:ext uri="{0D108BD9-81ED-4DB2-BD59-A6C34878D82A}">
                    <a16:rowId xmlns:a16="http://schemas.microsoft.com/office/drawing/2014/main" val="4153438071"/>
                  </a:ext>
                </a:extLst>
              </a:tr>
              <a:tr h="325673">
                <a:tc>
                  <a:txBody>
                    <a:bodyPr/>
                    <a:lstStyle/>
                    <a:p>
                      <a:pPr algn="ctr"/>
                      <a:r>
                        <a:rPr lang="en-US" dirty="0"/>
                        <a:t>3</a:t>
                      </a:r>
                    </a:p>
                  </a:txBody>
                  <a:tcPr/>
                </a:tc>
                <a:extLst>
                  <a:ext uri="{0D108BD9-81ED-4DB2-BD59-A6C34878D82A}">
                    <a16:rowId xmlns:a16="http://schemas.microsoft.com/office/drawing/2014/main" val="66318644"/>
                  </a:ext>
                </a:extLst>
              </a:tr>
              <a:tr h="325673">
                <a:tc>
                  <a:txBody>
                    <a:bodyPr/>
                    <a:lstStyle/>
                    <a:p>
                      <a:pPr algn="ctr"/>
                      <a:r>
                        <a:rPr lang="en-US" dirty="0"/>
                        <a:t>2</a:t>
                      </a:r>
                    </a:p>
                  </a:txBody>
                  <a:tcPr/>
                </a:tc>
                <a:extLst>
                  <a:ext uri="{0D108BD9-81ED-4DB2-BD59-A6C34878D82A}">
                    <a16:rowId xmlns:a16="http://schemas.microsoft.com/office/drawing/2014/main" val="1430696392"/>
                  </a:ext>
                </a:extLst>
              </a:tr>
            </a:tbl>
          </a:graphicData>
        </a:graphic>
      </p:graphicFrame>
      <p:graphicFrame>
        <p:nvGraphicFramePr>
          <p:cNvPr id="88" name="Table 4">
            <a:extLst>
              <a:ext uri="{FF2B5EF4-FFF2-40B4-BE49-F238E27FC236}">
                <a16:creationId xmlns:a16="http://schemas.microsoft.com/office/drawing/2014/main" id="{2954F970-D384-AED1-D997-DD87EDF4C2CB}"/>
              </a:ext>
            </a:extLst>
          </p:cNvPr>
          <p:cNvGraphicFramePr>
            <a:graphicFrameLocks/>
          </p:cNvGraphicFramePr>
          <p:nvPr/>
        </p:nvGraphicFramePr>
        <p:xfrm>
          <a:off x="5971002" y="1636917"/>
          <a:ext cx="1268104" cy="3008436"/>
        </p:xfrm>
        <a:graphic>
          <a:graphicData uri="http://schemas.openxmlformats.org/drawingml/2006/table">
            <a:tbl>
              <a:tblPr firstRow="1" bandRow="1">
                <a:tableStyleId>{93296810-A885-4BE3-A3E7-6D5BEEA58F35}</a:tableStyleId>
              </a:tblPr>
              <a:tblGrid>
                <a:gridCol w="1268104">
                  <a:extLst>
                    <a:ext uri="{9D8B030D-6E8A-4147-A177-3AD203B41FA5}">
                      <a16:colId xmlns:a16="http://schemas.microsoft.com/office/drawing/2014/main" val="4198427240"/>
                    </a:ext>
                  </a:extLst>
                </a:gridCol>
              </a:tblGrid>
              <a:tr h="813876">
                <a:tc>
                  <a:txBody>
                    <a:bodyPr/>
                    <a:lstStyle/>
                    <a:p>
                      <a:pPr algn="ctr"/>
                      <a:r>
                        <a:rPr lang="en-US" dirty="0"/>
                        <a:t>Bootstrap Sample 2</a:t>
                      </a:r>
                    </a:p>
                  </a:txBody>
                  <a:tcPr anchor="ctr"/>
                </a:tc>
                <a:extLst>
                  <a:ext uri="{0D108BD9-81ED-4DB2-BD59-A6C34878D82A}">
                    <a16:rowId xmlns:a16="http://schemas.microsoft.com/office/drawing/2014/main" val="2861302482"/>
                  </a:ext>
                </a:extLst>
              </a:tr>
              <a:tr h="325673">
                <a:tc>
                  <a:txBody>
                    <a:bodyPr/>
                    <a:lstStyle/>
                    <a:p>
                      <a:pPr algn="ctr"/>
                      <a:r>
                        <a:rPr lang="en-US" dirty="0"/>
                        <a:t>4</a:t>
                      </a:r>
                    </a:p>
                  </a:txBody>
                  <a:tcPr/>
                </a:tc>
                <a:extLst>
                  <a:ext uri="{0D108BD9-81ED-4DB2-BD59-A6C34878D82A}">
                    <a16:rowId xmlns:a16="http://schemas.microsoft.com/office/drawing/2014/main" val="2092285199"/>
                  </a:ext>
                </a:extLst>
              </a:tr>
              <a:tr h="325673">
                <a:tc>
                  <a:txBody>
                    <a:bodyPr/>
                    <a:lstStyle/>
                    <a:p>
                      <a:pPr algn="ctr"/>
                      <a:r>
                        <a:rPr lang="en-US" dirty="0"/>
                        <a:t>10</a:t>
                      </a:r>
                    </a:p>
                  </a:txBody>
                  <a:tcPr/>
                </a:tc>
                <a:extLst>
                  <a:ext uri="{0D108BD9-81ED-4DB2-BD59-A6C34878D82A}">
                    <a16:rowId xmlns:a16="http://schemas.microsoft.com/office/drawing/2014/main" val="3447318797"/>
                  </a:ext>
                </a:extLst>
              </a:tr>
              <a:tr h="325673">
                <a:tc>
                  <a:txBody>
                    <a:bodyPr/>
                    <a:lstStyle/>
                    <a:p>
                      <a:pPr algn="ctr"/>
                      <a:r>
                        <a:rPr lang="en-US" dirty="0"/>
                        <a:t>7</a:t>
                      </a:r>
                    </a:p>
                  </a:txBody>
                  <a:tcPr/>
                </a:tc>
                <a:extLst>
                  <a:ext uri="{0D108BD9-81ED-4DB2-BD59-A6C34878D82A}">
                    <a16:rowId xmlns:a16="http://schemas.microsoft.com/office/drawing/2014/main" val="3506493476"/>
                  </a:ext>
                </a:extLst>
              </a:tr>
              <a:tr h="325673">
                <a:tc>
                  <a:txBody>
                    <a:bodyPr/>
                    <a:lstStyle/>
                    <a:p>
                      <a:pPr algn="ctr"/>
                      <a:r>
                        <a:rPr lang="en-US" dirty="0"/>
                        <a:t>6</a:t>
                      </a:r>
                    </a:p>
                  </a:txBody>
                  <a:tcPr/>
                </a:tc>
                <a:extLst>
                  <a:ext uri="{0D108BD9-81ED-4DB2-BD59-A6C34878D82A}">
                    <a16:rowId xmlns:a16="http://schemas.microsoft.com/office/drawing/2014/main" val="4153438071"/>
                  </a:ext>
                </a:extLst>
              </a:tr>
              <a:tr h="325673">
                <a:tc>
                  <a:txBody>
                    <a:bodyPr/>
                    <a:lstStyle/>
                    <a:p>
                      <a:pPr algn="ctr"/>
                      <a:r>
                        <a:rPr lang="en-US" dirty="0"/>
                        <a:t>10</a:t>
                      </a:r>
                    </a:p>
                  </a:txBody>
                  <a:tcPr/>
                </a:tc>
                <a:extLst>
                  <a:ext uri="{0D108BD9-81ED-4DB2-BD59-A6C34878D82A}">
                    <a16:rowId xmlns:a16="http://schemas.microsoft.com/office/drawing/2014/main" val="66318644"/>
                  </a:ext>
                </a:extLst>
              </a:tr>
              <a:tr h="325673">
                <a:tc>
                  <a:txBody>
                    <a:bodyPr/>
                    <a:lstStyle/>
                    <a:p>
                      <a:pPr algn="ctr"/>
                      <a:r>
                        <a:rPr lang="en-US" dirty="0"/>
                        <a:t>2</a:t>
                      </a:r>
                    </a:p>
                  </a:txBody>
                  <a:tcPr/>
                </a:tc>
                <a:extLst>
                  <a:ext uri="{0D108BD9-81ED-4DB2-BD59-A6C34878D82A}">
                    <a16:rowId xmlns:a16="http://schemas.microsoft.com/office/drawing/2014/main" val="1430696392"/>
                  </a:ext>
                </a:extLst>
              </a:tr>
            </a:tbl>
          </a:graphicData>
        </a:graphic>
      </p:graphicFrame>
    </p:spTree>
    <p:extLst>
      <p:ext uri="{BB962C8B-B14F-4D97-AF65-F5344CB8AC3E}">
        <p14:creationId xmlns:p14="http://schemas.microsoft.com/office/powerpoint/2010/main" val="29699620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28E6AE2D-C5A2-6D04-A070-F7CBC0A15DE0}"/>
              </a:ext>
            </a:extLst>
          </p:cNvPr>
          <p:cNvGraphicFramePr>
            <a:graphicFrameLocks noGrp="1"/>
          </p:cNvGraphicFramePr>
          <p:nvPr>
            <p:ph idx="4294967295"/>
          </p:nvPr>
        </p:nvGraphicFramePr>
        <p:xfrm>
          <a:off x="778717" y="1636917"/>
          <a:ext cx="1133732" cy="3008436"/>
        </p:xfrm>
        <a:graphic>
          <a:graphicData uri="http://schemas.openxmlformats.org/drawingml/2006/table">
            <a:tbl>
              <a:tblPr firstRow="1" bandRow="1">
                <a:tableStyleId>{93296810-A885-4BE3-A3E7-6D5BEEA58F35}</a:tableStyleId>
              </a:tblPr>
              <a:tblGrid>
                <a:gridCol w="1133732">
                  <a:extLst>
                    <a:ext uri="{9D8B030D-6E8A-4147-A177-3AD203B41FA5}">
                      <a16:colId xmlns:a16="http://schemas.microsoft.com/office/drawing/2014/main" val="4198427240"/>
                    </a:ext>
                  </a:extLst>
                </a:gridCol>
              </a:tblGrid>
              <a:tr h="813876">
                <a:tc>
                  <a:txBody>
                    <a:bodyPr/>
                    <a:lstStyle/>
                    <a:p>
                      <a:pPr algn="ctr"/>
                      <a:r>
                        <a:rPr lang="en-US" dirty="0"/>
                        <a:t>Your Sample</a:t>
                      </a:r>
                    </a:p>
                  </a:txBody>
                  <a:tcPr anchor="ctr"/>
                </a:tc>
                <a:extLst>
                  <a:ext uri="{0D108BD9-81ED-4DB2-BD59-A6C34878D82A}">
                    <a16:rowId xmlns:a16="http://schemas.microsoft.com/office/drawing/2014/main" val="2861302482"/>
                  </a:ext>
                </a:extLst>
              </a:tr>
              <a:tr h="325673">
                <a:tc>
                  <a:txBody>
                    <a:bodyPr/>
                    <a:lstStyle/>
                    <a:p>
                      <a:pPr algn="ctr"/>
                      <a:r>
                        <a:rPr lang="en-US" dirty="0"/>
                        <a:t>2</a:t>
                      </a:r>
                    </a:p>
                  </a:txBody>
                  <a:tcPr/>
                </a:tc>
                <a:extLst>
                  <a:ext uri="{0D108BD9-81ED-4DB2-BD59-A6C34878D82A}">
                    <a16:rowId xmlns:a16="http://schemas.microsoft.com/office/drawing/2014/main" val="2092285199"/>
                  </a:ext>
                </a:extLst>
              </a:tr>
              <a:tr h="325673">
                <a:tc>
                  <a:txBody>
                    <a:bodyPr/>
                    <a:lstStyle/>
                    <a:p>
                      <a:pPr algn="ctr"/>
                      <a:r>
                        <a:rPr lang="en-US" dirty="0"/>
                        <a:t>7</a:t>
                      </a:r>
                    </a:p>
                  </a:txBody>
                  <a:tcPr/>
                </a:tc>
                <a:extLst>
                  <a:ext uri="{0D108BD9-81ED-4DB2-BD59-A6C34878D82A}">
                    <a16:rowId xmlns:a16="http://schemas.microsoft.com/office/drawing/2014/main" val="3447318797"/>
                  </a:ext>
                </a:extLst>
              </a:tr>
              <a:tr h="325673">
                <a:tc>
                  <a:txBody>
                    <a:bodyPr/>
                    <a:lstStyle/>
                    <a:p>
                      <a:pPr algn="ctr"/>
                      <a:r>
                        <a:rPr lang="en-US" dirty="0"/>
                        <a:t>3</a:t>
                      </a:r>
                    </a:p>
                  </a:txBody>
                  <a:tcPr/>
                </a:tc>
                <a:extLst>
                  <a:ext uri="{0D108BD9-81ED-4DB2-BD59-A6C34878D82A}">
                    <a16:rowId xmlns:a16="http://schemas.microsoft.com/office/drawing/2014/main" val="3506493476"/>
                  </a:ext>
                </a:extLst>
              </a:tr>
              <a:tr h="325673">
                <a:tc>
                  <a:txBody>
                    <a:bodyPr/>
                    <a:lstStyle/>
                    <a:p>
                      <a:pPr algn="ctr"/>
                      <a:r>
                        <a:rPr lang="en-US" dirty="0"/>
                        <a:t>4</a:t>
                      </a:r>
                    </a:p>
                  </a:txBody>
                  <a:tcPr/>
                </a:tc>
                <a:extLst>
                  <a:ext uri="{0D108BD9-81ED-4DB2-BD59-A6C34878D82A}">
                    <a16:rowId xmlns:a16="http://schemas.microsoft.com/office/drawing/2014/main" val="4153438071"/>
                  </a:ext>
                </a:extLst>
              </a:tr>
              <a:tr h="325673">
                <a:tc>
                  <a:txBody>
                    <a:bodyPr/>
                    <a:lstStyle/>
                    <a:p>
                      <a:pPr algn="ctr"/>
                      <a:r>
                        <a:rPr lang="en-US" dirty="0"/>
                        <a:t>10</a:t>
                      </a:r>
                    </a:p>
                  </a:txBody>
                  <a:tcPr/>
                </a:tc>
                <a:extLst>
                  <a:ext uri="{0D108BD9-81ED-4DB2-BD59-A6C34878D82A}">
                    <a16:rowId xmlns:a16="http://schemas.microsoft.com/office/drawing/2014/main" val="66318644"/>
                  </a:ext>
                </a:extLst>
              </a:tr>
              <a:tr h="325673">
                <a:tc>
                  <a:txBody>
                    <a:bodyPr/>
                    <a:lstStyle/>
                    <a:p>
                      <a:pPr algn="ctr"/>
                      <a:r>
                        <a:rPr lang="en-US" dirty="0"/>
                        <a:t>6</a:t>
                      </a:r>
                    </a:p>
                  </a:txBody>
                  <a:tcPr/>
                </a:tc>
                <a:extLst>
                  <a:ext uri="{0D108BD9-81ED-4DB2-BD59-A6C34878D82A}">
                    <a16:rowId xmlns:a16="http://schemas.microsoft.com/office/drawing/2014/main" val="1430696392"/>
                  </a:ext>
                </a:extLst>
              </a:tr>
            </a:tbl>
          </a:graphicData>
        </a:graphic>
      </p:graphicFrame>
      <p:graphicFrame>
        <p:nvGraphicFramePr>
          <p:cNvPr id="27" name="Table 4">
            <a:extLst>
              <a:ext uri="{FF2B5EF4-FFF2-40B4-BE49-F238E27FC236}">
                <a16:creationId xmlns:a16="http://schemas.microsoft.com/office/drawing/2014/main" id="{B861A2AF-8ADD-3AB3-5625-8C37590D2821}"/>
              </a:ext>
            </a:extLst>
          </p:cNvPr>
          <p:cNvGraphicFramePr>
            <a:graphicFrameLocks/>
          </p:cNvGraphicFramePr>
          <p:nvPr/>
        </p:nvGraphicFramePr>
        <p:xfrm>
          <a:off x="4161146" y="609600"/>
          <a:ext cx="1268104" cy="3008436"/>
        </p:xfrm>
        <a:graphic>
          <a:graphicData uri="http://schemas.openxmlformats.org/drawingml/2006/table">
            <a:tbl>
              <a:tblPr firstRow="1" bandRow="1">
                <a:tableStyleId>{93296810-A885-4BE3-A3E7-6D5BEEA58F35}</a:tableStyleId>
              </a:tblPr>
              <a:tblGrid>
                <a:gridCol w="1268104">
                  <a:extLst>
                    <a:ext uri="{9D8B030D-6E8A-4147-A177-3AD203B41FA5}">
                      <a16:colId xmlns:a16="http://schemas.microsoft.com/office/drawing/2014/main" val="4198427240"/>
                    </a:ext>
                  </a:extLst>
                </a:gridCol>
              </a:tblGrid>
              <a:tr h="813876">
                <a:tc>
                  <a:txBody>
                    <a:bodyPr/>
                    <a:lstStyle/>
                    <a:p>
                      <a:pPr algn="ctr"/>
                      <a:r>
                        <a:rPr lang="en-US" dirty="0"/>
                        <a:t>Bootstrap Sample 1</a:t>
                      </a:r>
                    </a:p>
                  </a:txBody>
                  <a:tcPr anchor="ctr"/>
                </a:tc>
                <a:extLst>
                  <a:ext uri="{0D108BD9-81ED-4DB2-BD59-A6C34878D82A}">
                    <a16:rowId xmlns:a16="http://schemas.microsoft.com/office/drawing/2014/main" val="2861302482"/>
                  </a:ext>
                </a:extLst>
              </a:tr>
              <a:tr h="325673">
                <a:tc>
                  <a:txBody>
                    <a:bodyPr/>
                    <a:lstStyle/>
                    <a:p>
                      <a:pPr algn="ctr"/>
                      <a:r>
                        <a:rPr lang="en-US" dirty="0"/>
                        <a:t>3</a:t>
                      </a:r>
                    </a:p>
                  </a:txBody>
                  <a:tcPr/>
                </a:tc>
                <a:extLst>
                  <a:ext uri="{0D108BD9-81ED-4DB2-BD59-A6C34878D82A}">
                    <a16:rowId xmlns:a16="http://schemas.microsoft.com/office/drawing/2014/main" val="2092285199"/>
                  </a:ext>
                </a:extLst>
              </a:tr>
              <a:tr h="325673">
                <a:tc>
                  <a:txBody>
                    <a:bodyPr/>
                    <a:lstStyle/>
                    <a:p>
                      <a:pPr algn="ctr"/>
                      <a:r>
                        <a:rPr lang="en-US" dirty="0"/>
                        <a:t>7</a:t>
                      </a:r>
                    </a:p>
                  </a:txBody>
                  <a:tcPr/>
                </a:tc>
                <a:extLst>
                  <a:ext uri="{0D108BD9-81ED-4DB2-BD59-A6C34878D82A}">
                    <a16:rowId xmlns:a16="http://schemas.microsoft.com/office/drawing/2014/main" val="3447318797"/>
                  </a:ext>
                </a:extLst>
              </a:tr>
              <a:tr h="325673">
                <a:tc>
                  <a:txBody>
                    <a:bodyPr/>
                    <a:lstStyle/>
                    <a:p>
                      <a:pPr algn="ctr"/>
                      <a:r>
                        <a:rPr lang="en-US" dirty="0"/>
                        <a:t>3</a:t>
                      </a:r>
                    </a:p>
                  </a:txBody>
                  <a:tcPr/>
                </a:tc>
                <a:extLst>
                  <a:ext uri="{0D108BD9-81ED-4DB2-BD59-A6C34878D82A}">
                    <a16:rowId xmlns:a16="http://schemas.microsoft.com/office/drawing/2014/main" val="3506493476"/>
                  </a:ext>
                </a:extLst>
              </a:tr>
              <a:tr h="325673">
                <a:tc>
                  <a:txBody>
                    <a:bodyPr/>
                    <a:lstStyle/>
                    <a:p>
                      <a:pPr algn="ctr"/>
                      <a:r>
                        <a:rPr lang="en-US" dirty="0"/>
                        <a:t>10</a:t>
                      </a:r>
                    </a:p>
                  </a:txBody>
                  <a:tcPr/>
                </a:tc>
                <a:extLst>
                  <a:ext uri="{0D108BD9-81ED-4DB2-BD59-A6C34878D82A}">
                    <a16:rowId xmlns:a16="http://schemas.microsoft.com/office/drawing/2014/main" val="4153438071"/>
                  </a:ext>
                </a:extLst>
              </a:tr>
              <a:tr h="325673">
                <a:tc>
                  <a:txBody>
                    <a:bodyPr/>
                    <a:lstStyle/>
                    <a:p>
                      <a:pPr algn="ctr"/>
                      <a:r>
                        <a:rPr lang="en-US" dirty="0"/>
                        <a:t>3</a:t>
                      </a:r>
                    </a:p>
                  </a:txBody>
                  <a:tcPr/>
                </a:tc>
                <a:extLst>
                  <a:ext uri="{0D108BD9-81ED-4DB2-BD59-A6C34878D82A}">
                    <a16:rowId xmlns:a16="http://schemas.microsoft.com/office/drawing/2014/main" val="66318644"/>
                  </a:ext>
                </a:extLst>
              </a:tr>
              <a:tr h="325673">
                <a:tc>
                  <a:txBody>
                    <a:bodyPr/>
                    <a:lstStyle/>
                    <a:p>
                      <a:pPr algn="ctr"/>
                      <a:r>
                        <a:rPr lang="en-US" dirty="0"/>
                        <a:t>2</a:t>
                      </a:r>
                    </a:p>
                  </a:txBody>
                  <a:tcPr/>
                </a:tc>
                <a:extLst>
                  <a:ext uri="{0D108BD9-81ED-4DB2-BD59-A6C34878D82A}">
                    <a16:rowId xmlns:a16="http://schemas.microsoft.com/office/drawing/2014/main" val="1430696392"/>
                  </a:ext>
                </a:extLst>
              </a:tr>
            </a:tbl>
          </a:graphicData>
        </a:graphic>
      </p:graphicFrame>
      <p:grpSp>
        <p:nvGrpSpPr>
          <p:cNvPr id="9" name="Group 8">
            <a:extLst>
              <a:ext uri="{FF2B5EF4-FFF2-40B4-BE49-F238E27FC236}">
                <a16:creationId xmlns:a16="http://schemas.microsoft.com/office/drawing/2014/main" id="{CBE4217E-B706-1B82-A294-0EF9605AE898}"/>
              </a:ext>
            </a:extLst>
          </p:cNvPr>
          <p:cNvGrpSpPr/>
          <p:nvPr/>
        </p:nvGrpSpPr>
        <p:grpSpPr>
          <a:xfrm>
            <a:off x="1980262" y="2277266"/>
            <a:ext cx="1989100" cy="751675"/>
            <a:chOff x="6330500" y="3372891"/>
            <a:chExt cx="2720699" cy="1028144"/>
          </a:xfrm>
        </p:grpSpPr>
        <p:grpSp>
          <p:nvGrpSpPr>
            <p:cNvPr id="29" name="Group 28">
              <a:extLst>
                <a:ext uri="{FF2B5EF4-FFF2-40B4-BE49-F238E27FC236}">
                  <a16:creationId xmlns:a16="http://schemas.microsoft.com/office/drawing/2014/main" id="{9C767B04-D1DC-0AA4-4F99-9772D73609B5}"/>
                </a:ext>
              </a:extLst>
            </p:cNvPr>
            <p:cNvGrpSpPr/>
            <p:nvPr/>
          </p:nvGrpSpPr>
          <p:grpSpPr>
            <a:xfrm flipH="1">
              <a:off x="6330500" y="3372891"/>
              <a:ext cx="2720699" cy="1028144"/>
              <a:chOff x="6583915" y="3372891"/>
              <a:chExt cx="2720699" cy="1028144"/>
            </a:xfrm>
          </p:grpSpPr>
          <p:sp>
            <p:nvSpPr>
              <p:cNvPr id="30" name="Freeform 5">
                <a:extLst>
                  <a:ext uri="{FF2B5EF4-FFF2-40B4-BE49-F238E27FC236}">
                    <a16:creationId xmlns:a16="http://schemas.microsoft.com/office/drawing/2014/main" id="{68680FC7-4317-D4E8-A4CF-0A7BF2CCF9E0}"/>
                  </a:ext>
                </a:extLst>
              </p:cNvPr>
              <p:cNvSpPr>
                <a:spLocks/>
              </p:cNvSpPr>
              <p:nvPr/>
            </p:nvSpPr>
            <p:spPr bwMode="auto">
              <a:xfrm>
                <a:off x="8080515"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1" name="Freeform 5">
                <a:extLst>
                  <a:ext uri="{FF2B5EF4-FFF2-40B4-BE49-F238E27FC236}">
                    <a16:creationId xmlns:a16="http://schemas.microsoft.com/office/drawing/2014/main" id="{30F21C45-544B-8392-64AF-A6B400448787}"/>
                  </a:ext>
                </a:extLst>
              </p:cNvPr>
              <p:cNvSpPr>
                <a:spLocks/>
              </p:cNvSpPr>
              <p:nvPr/>
            </p:nvSpPr>
            <p:spPr bwMode="auto">
              <a:xfrm>
                <a:off x="7361204"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nvGrpSpPr>
              <p:cNvPr id="32" name="Group 31">
                <a:extLst>
                  <a:ext uri="{FF2B5EF4-FFF2-40B4-BE49-F238E27FC236}">
                    <a16:creationId xmlns:a16="http://schemas.microsoft.com/office/drawing/2014/main" id="{020EF95E-2C42-5E12-1FD3-F18FE08BA52B}"/>
                  </a:ext>
                </a:extLst>
              </p:cNvPr>
              <p:cNvGrpSpPr/>
              <p:nvPr/>
            </p:nvGrpSpPr>
            <p:grpSpPr>
              <a:xfrm>
                <a:off x="6583915" y="3372892"/>
                <a:ext cx="1234278" cy="1028143"/>
                <a:chOff x="1451772" y="4010848"/>
                <a:chExt cx="5337253" cy="4445888"/>
              </a:xfrm>
            </p:grpSpPr>
            <p:sp>
              <p:nvSpPr>
                <p:cNvPr id="35" name="Freeform 5">
                  <a:extLst>
                    <a:ext uri="{FF2B5EF4-FFF2-40B4-BE49-F238E27FC236}">
                      <a16:creationId xmlns:a16="http://schemas.microsoft.com/office/drawing/2014/main" id="{A7751FAD-6C48-F950-1E41-2A3C2C72091E}"/>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6" name="Freeform 6">
                  <a:extLst>
                    <a:ext uri="{FF2B5EF4-FFF2-40B4-BE49-F238E27FC236}">
                      <a16:creationId xmlns:a16="http://schemas.microsoft.com/office/drawing/2014/main" id="{F102450B-B03B-1C8D-E8BF-2339247D7FE0}"/>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33" name="Freeform 6">
                <a:extLst>
                  <a:ext uri="{FF2B5EF4-FFF2-40B4-BE49-F238E27FC236}">
                    <a16:creationId xmlns:a16="http://schemas.microsoft.com/office/drawing/2014/main" id="{D3CA5600-CCBC-AA00-AC6F-0220256F6BD2}"/>
                  </a:ext>
                </a:extLst>
              </p:cNvPr>
              <p:cNvSpPr>
                <a:spLocks/>
              </p:cNvSpPr>
              <p:nvPr/>
            </p:nvSpPr>
            <p:spPr bwMode="auto">
              <a:xfrm>
                <a:off x="7343923"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34" name="Freeform 6">
                <a:extLst>
                  <a:ext uri="{FF2B5EF4-FFF2-40B4-BE49-F238E27FC236}">
                    <a16:creationId xmlns:a16="http://schemas.microsoft.com/office/drawing/2014/main" id="{A96477D8-9393-CC99-5DD0-C609F89606EB}"/>
                  </a:ext>
                </a:extLst>
              </p:cNvPr>
              <p:cNvSpPr>
                <a:spLocks/>
              </p:cNvSpPr>
              <p:nvPr/>
            </p:nvSpPr>
            <p:spPr bwMode="auto">
              <a:xfrm>
                <a:off x="8063234"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7" name="TextBox 6">
              <a:extLst>
                <a:ext uri="{FF2B5EF4-FFF2-40B4-BE49-F238E27FC236}">
                  <a16:creationId xmlns:a16="http://schemas.microsoft.com/office/drawing/2014/main" id="{FA60B041-461E-E7F6-C520-2A292B643AB4}"/>
                </a:ext>
              </a:extLst>
            </p:cNvPr>
            <p:cNvSpPr txBox="1"/>
            <p:nvPr/>
          </p:nvSpPr>
          <p:spPr>
            <a:xfrm>
              <a:off x="6881304" y="3421496"/>
              <a:ext cx="1533062" cy="884054"/>
            </a:xfrm>
            <a:prstGeom prst="rect">
              <a:avLst/>
            </a:prstGeom>
            <a:noFill/>
          </p:spPr>
          <p:txBody>
            <a:bodyPr wrap="none" rtlCol="0">
              <a:spAutoFit/>
            </a:bodyPr>
            <a:lstStyle/>
            <a:p>
              <a:pPr algn="ctr"/>
              <a:r>
                <a:rPr lang="en-US" dirty="0">
                  <a:solidFill>
                    <a:schemeClr val="bg1"/>
                  </a:solidFill>
                </a:rPr>
                <a:t>Random </a:t>
              </a:r>
            </a:p>
            <a:p>
              <a:pPr algn="ctr"/>
              <a:r>
                <a:rPr lang="en-US" dirty="0">
                  <a:solidFill>
                    <a:schemeClr val="bg1"/>
                  </a:solidFill>
                </a:rPr>
                <a:t>select</a:t>
              </a:r>
            </a:p>
          </p:txBody>
        </p:sp>
      </p:grpSp>
      <p:sp>
        <p:nvSpPr>
          <p:cNvPr id="37" name="Rounded Rectangle 36">
            <a:extLst>
              <a:ext uri="{FF2B5EF4-FFF2-40B4-BE49-F238E27FC236}">
                <a16:creationId xmlns:a16="http://schemas.microsoft.com/office/drawing/2014/main" id="{143820F2-ABC2-FCF8-1565-F5CB7D365640}"/>
              </a:ext>
            </a:extLst>
          </p:cNvPr>
          <p:cNvSpPr/>
          <p:nvPr/>
        </p:nvSpPr>
        <p:spPr>
          <a:xfrm>
            <a:off x="652632" y="712640"/>
            <a:ext cx="1385901" cy="701439"/>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Role as population</a:t>
            </a:r>
          </a:p>
        </p:txBody>
      </p:sp>
      <p:grpSp>
        <p:nvGrpSpPr>
          <p:cNvPr id="16" name="Group 15">
            <a:extLst>
              <a:ext uri="{FF2B5EF4-FFF2-40B4-BE49-F238E27FC236}">
                <a16:creationId xmlns:a16="http://schemas.microsoft.com/office/drawing/2014/main" id="{78D0876B-51FB-16B3-1379-4F0E8A171D8F}"/>
              </a:ext>
            </a:extLst>
          </p:cNvPr>
          <p:cNvGrpSpPr/>
          <p:nvPr/>
        </p:nvGrpSpPr>
        <p:grpSpPr>
          <a:xfrm>
            <a:off x="8068043" y="1892753"/>
            <a:ext cx="375044" cy="72912"/>
            <a:chOff x="8682417" y="2934358"/>
            <a:chExt cx="375044" cy="72912"/>
          </a:xfrm>
        </p:grpSpPr>
        <p:sp>
          <p:nvSpPr>
            <p:cNvPr id="17" name="Oval 16">
              <a:extLst>
                <a:ext uri="{FF2B5EF4-FFF2-40B4-BE49-F238E27FC236}">
                  <a16:creationId xmlns:a16="http://schemas.microsoft.com/office/drawing/2014/main" id="{3703C806-4640-C8EB-4FE6-7E8F3C9DE508}"/>
                </a:ext>
              </a:extLst>
            </p:cNvPr>
            <p:cNvSpPr/>
            <p:nvPr/>
          </p:nvSpPr>
          <p:spPr>
            <a:xfrm flipH="1">
              <a:off x="8682417" y="2934358"/>
              <a:ext cx="72912" cy="729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8" name="Oval 17">
              <a:extLst>
                <a:ext uri="{FF2B5EF4-FFF2-40B4-BE49-F238E27FC236}">
                  <a16:creationId xmlns:a16="http://schemas.microsoft.com/office/drawing/2014/main" id="{0B99AF45-A03F-72AE-1411-25D9DB0424DD}"/>
                </a:ext>
              </a:extLst>
            </p:cNvPr>
            <p:cNvSpPr/>
            <p:nvPr/>
          </p:nvSpPr>
          <p:spPr>
            <a:xfrm flipH="1">
              <a:off x="8833486" y="2934358"/>
              <a:ext cx="72912" cy="729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Oval 18">
              <a:extLst>
                <a:ext uri="{FF2B5EF4-FFF2-40B4-BE49-F238E27FC236}">
                  <a16:creationId xmlns:a16="http://schemas.microsoft.com/office/drawing/2014/main" id="{602DE6BC-2B73-5A44-948E-67820E7A5015}"/>
                </a:ext>
              </a:extLst>
            </p:cNvPr>
            <p:cNvSpPr/>
            <p:nvPr/>
          </p:nvSpPr>
          <p:spPr>
            <a:xfrm flipH="1">
              <a:off x="8984549" y="2934358"/>
              <a:ext cx="72912" cy="729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aphicFrame>
        <p:nvGraphicFramePr>
          <p:cNvPr id="20" name="Table 4">
            <a:extLst>
              <a:ext uri="{FF2B5EF4-FFF2-40B4-BE49-F238E27FC236}">
                <a16:creationId xmlns:a16="http://schemas.microsoft.com/office/drawing/2014/main" id="{D463B250-B03D-68BA-1249-0356A56BC47E}"/>
              </a:ext>
            </a:extLst>
          </p:cNvPr>
          <p:cNvGraphicFramePr>
            <a:graphicFrameLocks/>
          </p:cNvGraphicFramePr>
          <p:nvPr/>
        </p:nvGraphicFramePr>
        <p:xfrm>
          <a:off x="5971002" y="609600"/>
          <a:ext cx="1268104" cy="3008436"/>
        </p:xfrm>
        <a:graphic>
          <a:graphicData uri="http://schemas.openxmlformats.org/drawingml/2006/table">
            <a:tbl>
              <a:tblPr firstRow="1" bandRow="1">
                <a:tableStyleId>{93296810-A885-4BE3-A3E7-6D5BEEA58F35}</a:tableStyleId>
              </a:tblPr>
              <a:tblGrid>
                <a:gridCol w="1268104">
                  <a:extLst>
                    <a:ext uri="{9D8B030D-6E8A-4147-A177-3AD203B41FA5}">
                      <a16:colId xmlns:a16="http://schemas.microsoft.com/office/drawing/2014/main" val="4198427240"/>
                    </a:ext>
                  </a:extLst>
                </a:gridCol>
              </a:tblGrid>
              <a:tr h="813876">
                <a:tc>
                  <a:txBody>
                    <a:bodyPr/>
                    <a:lstStyle/>
                    <a:p>
                      <a:pPr algn="ctr"/>
                      <a:r>
                        <a:rPr lang="en-US" dirty="0"/>
                        <a:t>Bootstrap Sample 2</a:t>
                      </a:r>
                    </a:p>
                  </a:txBody>
                  <a:tcPr anchor="ctr"/>
                </a:tc>
                <a:extLst>
                  <a:ext uri="{0D108BD9-81ED-4DB2-BD59-A6C34878D82A}">
                    <a16:rowId xmlns:a16="http://schemas.microsoft.com/office/drawing/2014/main" val="2861302482"/>
                  </a:ext>
                </a:extLst>
              </a:tr>
              <a:tr h="325673">
                <a:tc>
                  <a:txBody>
                    <a:bodyPr/>
                    <a:lstStyle/>
                    <a:p>
                      <a:pPr algn="ctr"/>
                      <a:r>
                        <a:rPr lang="en-US" dirty="0"/>
                        <a:t>4</a:t>
                      </a:r>
                    </a:p>
                  </a:txBody>
                  <a:tcPr/>
                </a:tc>
                <a:extLst>
                  <a:ext uri="{0D108BD9-81ED-4DB2-BD59-A6C34878D82A}">
                    <a16:rowId xmlns:a16="http://schemas.microsoft.com/office/drawing/2014/main" val="2092285199"/>
                  </a:ext>
                </a:extLst>
              </a:tr>
              <a:tr h="325673">
                <a:tc>
                  <a:txBody>
                    <a:bodyPr/>
                    <a:lstStyle/>
                    <a:p>
                      <a:pPr algn="ctr"/>
                      <a:r>
                        <a:rPr lang="en-US" dirty="0"/>
                        <a:t>10</a:t>
                      </a:r>
                    </a:p>
                  </a:txBody>
                  <a:tcPr/>
                </a:tc>
                <a:extLst>
                  <a:ext uri="{0D108BD9-81ED-4DB2-BD59-A6C34878D82A}">
                    <a16:rowId xmlns:a16="http://schemas.microsoft.com/office/drawing/2014/main" val="3447318797"/>
                  </a:ext>
                </a:extLst>
              </a:tr>
              <a:tr h="325673">
                <a:tc>
                  <a:txBody>
                    <a:bodyPr/>
                    <a:lstStyle/>
                    <a:p>
                      <a:pPr algn="ctr"/>
                      <a:r>
                        <a:rPr lang="en-US" dirty="0"/>
                        <a:t>7</a:t>
                      </a:r>
                    </a:p>
                  </a:txBody>
                  <a:tcPr/>
                </a:tc>
                <a:extLst>
                  <a:ext uri="{0D108BD9-81ED-4DB2-BD59-A6C34878D82A}">
                    <a16:rowId xmlns:a16="http://schemas.microsoft.com/office/drawing/2014/main" val="3506493476"/>
                  </a:ext>
                </a:extLst>
              </a:tr>
              <a:tr h="325673">
                <a:tc>
                  <a:txBody>
                    <a:bodyPr/>
                    <a:lstStyle/>
                    <a:p>
                      <a:pPr algn="ctr"/>
                      <a:r>
                        <a:rPr lang="en-US" dirty="0"/>
                        <a:t>6</a:t>
                      </a:r>
                    </a:p>
                  </a:txBody>
                  <a:tcPr/>
                </a:tc>
                <a:extLst>
                  <a:ext uri="{0D108BD9-81ED-4DB2-BD59-A6C34878D82A}">
                    <a16:rowId xmlns:a16="http://schemas.microsoft.com/office/drawing/2014/main" val="4153438071"/>
                  </a:ext>
                </a:extLst>
              </a:tr>
              <a:tr h="325673">
                <a:tc>
                  <a:txBody>
                    <a:bodyPr/>
                    <a:lstStyle/>
                    <a:p>
                      <a:pPr algn="ctr"/>
                      <a:r>
                        <a:rPr lang="en-US" dirty="0"/>
                        <a:t>10</a:t>
                      </a:r>
                    </a:p>
                  </a:txBody>
                  <a:tcPr/>
                </a:tc>
                <a:extLst>
                  <a:ext uri="{0D108BD9-81ED-4DB2-BD59-A6C34878D82A}">
                    <a16:rowId xmlns:a16="http://schemas.microsoft.com/office/drawing/2014/main" val="66318644"/>
                  </a:ext>
                </a:extLst>
              </a:tr>
              <a:tr h="325673">
                <a:tc>
                  <a:txBody>
                    <a:bodyPr/>
                    <a:lstStyle/>
                    <a:p>
                      <a:pPr algn="ctr"/>
                      <a:r>
                        <a:rPr lang="en-US" dirty="0"/>
                        <a:t>2</a:t>
                      </a:r>
                    </a:p>
                  </a:txBody>
                  <a:tcPr/>
                </a:tc>
                <a:extLst>
                  <a:ext uri="{0D108BD9-81ED-4DB2-BD59-A6C34878D82A}">
                    <a16:rowId xmlns:a16="http://schemas.microsoft.com/office/drawing/2014/main" val="1430696392"/>
                  </a:ext>
                </a:extLst>
              </a:tr>
            </a:tbl>
          </a:graphicData>
        </a:graphic>
      </p:graphicFrame>
      <p:graphicFrame>
        <p:nvGraphicFramePr>
          <p:cNvPr id="21" name="Table 4">
            <a:extLst>
              <a:ext uri="{FF2B5EF4-FFF2-40B4-BE49-F238E27FC236}">
                <a16:creationId xmlns:a16="http://schemas.microsoft.com/office/drawing/2014/main" id="{F66434DE-FEE7-8EF6-3213-42EE88B0C770}"/>
              </a:ext>
            </a:extLst>
          </p:cNvPr>
          <p:cNvGraphicFramePr>
            <a:graphicFrameLocks/>
          </p:cNvGraphicFramePr>
          <p:nvPr/>
        </p:nvGraphicFramePr>
        <p:xfrm>
          <a:off x="9315319" y="609600"/>
          <a:ext cx="1268104" cy="3008436"/>
        </p:xfrm>
        <a:graphic>
          <a:graphicData uri="http://schemas.openxmlformats.org/drawingml/2006/table">
            <a:tbl>
              <a:tblPr firstRow="1" bandRow="1">
                <a:tableStyleId>{93296810-A885-4BE3-A3E7-6D5BEEA58F35}</a:tableStyleId>
              </a:tblPr>
              <a:tblGrid>
                <a:gridCol w="1268104">
                  <a:extLst>
                    <a:ext uri="{9D8B030D-6E8A-4147-A177-3AD203B41FA5}">
                      <a16:colId xmlns:a16="http://schemas.microsoft.com/office/drawing/2014/main" val="4198427240"/>
                    </a:ext>
                  </a:extLst>
                </a:gridCol>
              </a:tblGrid>
              <a:tr h="813876">
                <a:tc>
                  <a:txBody>
                    <a:bodyPr/>
                    <a:lstStyle/>
                    <a:p>
                      <a:pPr algn="ctr"/>
                      <a:r>
                        <a:rPr lang="en-US" dirty="0"/>
                        <a:t>Bootstrap Sample </a:t>
                      </a:r>
                      <a:r>
                        <a:rPr lang="en-US" i="1" dirty="0"/>
                        <a:t>B</a:t>
                      </a:r>
                    </a:p>
                  </a:txBody>
                  <a:tcPr anchor="ctr"/>
                </a:tc>
                <a:extLst>
                  <a:ext uri="{0D108BD9-81ED-4DB2-BD59-A6C34878D82A}">
                    <a16:rowId xmlns:a16="http://schemas.microsoft.com/office/drawing/2014/main" val="2861302482"/>
                  </a:ext>
                </a:extLst>
              </a:tr>
              <a:tr h="325673">
                <a:tc>
                  <a:txBody>
                    <a:bodyPr/>
                    <a:lstStyle/>
                    <a:p>
                      <a:pPr algn="ctr"/>
                      <a:r>
                        <a:rPr lang="en-US" dirty="0"/>
                        <a:t>6</a:t>
                      </a:r>
                    </a:p>
                  </a:txBody>
                  <a:tcPr/>
                </a:tc>
                <a:extLst>
                  <a:ext uri="{0D108BD9-81ED-4DB2-BD59-A6C34878D82A}">
                    <a16:rowId xmlns:a16="http://schemas.microsoft.com/office/drawing/2014/main" val="2092285199"/>
                  </a:ext>
                </a:extLst>
              </a:tr>
              <a:tr h="325673">
                <a:tc>
                  <a:txBody>
                    <a:bodyPr/>
                    <a:lstStyle/>
                    <a:p>
                      <a:pPr algn="ctr"/>
                      <a:r>
                        <a:rPr lang="en-US" dirty="0"/>
                        <a:t>6</a:t>
                      </a:r>
                    </a:p>
                  </a:txBody>
                  <a:tcPr/>
                </a:tc>
                <a:extLst>
                  <a:ext uri="{0D108BD9-81ED-4DB2-BD59-A6C34878D82A}">
                    <a16:rowId xmlns:a16="http://schemas.microsoft.com/office/drawing/2014/main" val="3447318797"/>
                  </a:ext>
                </a:extLst>
              </a:tr>
              <a:tr h="325673">
                <a:tc>
                  <a:txBody>
                    <a:bodyPr/>
                    <a:lstStyle/>
                    <a:p>
                      <a:pPr algn="ctr"/>
                      <a:r>
                        <a:rPr lang="en-US" dirty="0"/>
                        <a:t>10</a:t>
                      </a:r>
                    </a:p>
                  </a:txBody>
                  <a:tcPr/>
                </a:tc>
                <a:extLst>
                  <a:ext uri="{0D108BD9-81ED-4DB2-BD59-A6C34878D82A}">
                    <a16:rowId xmlns:a16="http://schemas.microsoft.com/office/drawing/2014/main" val="3506493476"/>
                  </a:ext>
                </a:extLst>
              </a:tr>
              <a:tr h="325673">
                <a:tc>
                  <a:txBody>
                    <a:bodyPr/>
                    <a:lstStyle/>
                    <a:p>
                      <a:pPr algn="ctr"/>
                      <a:r>
                        <a:rPr lang="en-US" dirty="0"/>
                        <a:t>4</a:t>
                      </a:r>
                    </a:p>
                  </a:txBody>
                  <a:tcPr/>
                </a:tc>
                <a:extLst>
                  <a:ext uri="{0D108BD9-81ED-4DB2-BD59-A6C34878D82A}">
                    <a16:rowId xmlns:a16="http://schemas.microsoft.com/office/drawing/2014/main" val="4153438071"/>
                  </a:ext>
                </a:extLst>
              </a:tr>
              <a:tr h="325673">
                <a:tc>
                  <a:txBody>
                    <a:bodyPr/>
                    <a:lstStyle/>
                    <a:p>
                      <a:pPr algn="ctr"/>
                      <a:r>
                        <a:rPr lang="en-US" dirty="0"/>
                        <a:t>4</a:t>
                      </a:r>
                    </a:p>
                  </a:txBody>
                  <a:tcPr/>
                </a:tc>
                <a:extLst>
                  <a:ext uri="{0D108BD9-81ED-4DB2-BD59-A6C34878D82A}">
                    <a16:rowId xmlns:a16="http://schemas.microsoft.com/office/drawing/2014/main" val="66318644"/>
                  </a:ext>
                </a:extLst>
              </a:tr>
              <a:tr h="325673">
                <a:tc>
                  <a:txBody>
                    <a:bodyPr/>
                    <a:lstStyle/>
                    <a:p>
                      <a:pPr algn="ctr"/>
                      <a:r>
                        <a:rPr lang="en-US" dirty="0"/>
                        <a:t>7</a:t>
                      </a:r>
                    </a:p>
                  </a:txBody>
                  <a:tcPr/>
                </a:tc>
                <a:extLst>
                  <a:ext uri="{0D108BD9-81ED-4DB2-BD59-A6C34878D82A}">
                    <a16:rowId xmlns:a16="http://schemas.microsoft.com/office/drawing/2014/main" val="1430696392"/>
                  </a:ext>
                </a:extLst>
              </a:tr>
            </a:tbl>
          </a:graphicData>
        </a:graphic>
      </p:graphicFrame>
      <mc:AlternateContent xmlns:mc="http://schemas.openxmlformats.org/markup-compatibility/2006" xmlns:a14="http://schemas.microsoft.com/office/drawing/2010/main">
        <mc:Choice Requires="a14">
          <p:sp>
            <p:nvSpPr>
              <p:cNvPr id="76" name="Rounded Rectangle 75">
                <a:extLst>
                  <a:ext uri="{FF2B5EF4-FFF2-40B4-BE49-F238E27FC236}">
                    <a16:creationId xmlns:a16="http://schemas.microsoft.com/office/drawing/2014/main" id="{F6E30EEA-DADC-9069-BDE8-51EE72EC1056}"/>
                  </a:ext>
                </a:extLst>
              </p:cNvPr>
              <p:cNvSpPr/>
              <p:nvPr/>
            </p:nvSpPr>
            <p:spPr>
              <a:xfrm>
                <a:off x="9342527" y="3861886"/>
                <a:ext cx="1168477" cy="284231"/>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acc>
                        <m:accPr>
                          <m:chr m:val="̅"/>
                          <m:ctrlPr>
                            <a:rPr lang="en-US" i="1" smtClean="0">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𝑋</m:t>
                          </m:r>
                        </m:e>
                      </m:acc>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6.2</m:t>
                      </m:r>
                    </m:oMath>
                  </m:oMathPara>
                </a14:m>
                <a:endParaRPr lang="en-US" dirty="0">
                  <a:solidFill>
                    <a:schemeClr val="tx1"/>
                  </a:solidFill>
                </a:endParaRPr>
              </a:p>
            </p:txBody>
          </p:sp>
        </mc:Choice>
        <mc:Fallback xmlns="">
          <p:sp>
            <p:nvSpPr>
              <p:cNvPr id="76" name="Rounded Rectangle 75">
                <a:extLst>
                  <a:ext uri="{FF2B5EF4-FFF2-40B4-BE49-F238E27FC236}">
                    <a16:creationId xmlns:a16="http://schemas.microsoft.com/office/drawing/2014/main" id="{F6E30EEA-DADC-9069-BDE8-51EE72EC1056}"/>
                  </a:ext>
                </a:extLst>
              </p:cNvPr>
              <p:cNvSpPr>
                <a:spLocks noRot="1" noChangeAspect="1" noMove="1" noResize="1" noEditPoints="1" noAdjustHandles="1" noChangeArrowheads="1" noChangeShapeType="1" noTextEdit="1"/>
              </p:cNvSpPr>
              <p:nvPr/>
            </p:nvSpPr>
            <p:spPr>
              <a:xfrm>
                <a:off x="9342527" y="3861886"/>
                <a:ext cx="1168477" cy="284231"/>
              </a:xfrm>
              <a:prstGeom prst="roundRect">
                <a:avLst/>
              </a:prstGeom>
              <a:blipFill>
                <a:blip r:embed="rId2"/>
                <a:stretch>
                  <a:fillRect b="-4000"/>
                </a:stretch>
              </a:blipFill>
              <a:ln>
                <a:solidFill>
                  <a:schemeClr val="accent2"/>
                </a:solidFill>
              </a:ln>
            </p:spPr>
            <p:txBody>
              <a:bodyPr/>
              <a:lstStyle/>
              <a:p>
                <a:r>
                  <a:rPr lang="en-US">
                    <a:noFill/>
                  </a:rPr>
                  <a:t> </a:t>
                </a:r>
              </a:p>
            </p:txBody>
          </p:sp>
        </mc:Fallback>
      </mc:AlternateContent>
      <p:cxnSp>
        <p:nvCxnSpPr>
          <p:cNvPr id="119" name="Straight Arrow Connector 118">
            <a:extLst>
              <a:ext uri="{FF2B5EF4-FFF2-40B4-BE49-F238E27FC236}">
                <a16:creationId xmlns:a16="http://schemas.microsoft.com/office/drawing/2014/main" id="{E7FF6808-5432-C9B6-0AED-E1F78D75172E}"/>
              </a:ext>
            </a:extLst>
          </p:cNvPr>
          <p:cNvCxnSpPr>
            <a:cxnSpLocks/>
            <a:stCxn id="133" idx="2"/>
            <a:endCxn id="122" idx="7"/>
          </p:cNvCxnSpPr>
          <p:nvPr/>
        </p:nvCxnSpPr>
        <p:spPr>
          <a:xfrm>
            <a:off x="4792087" y="4146117"/>
            <a:ext cx="2233293" cy="654059"/>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grpSp>
        <p:nvGrpSpPr>
          <p:cNvPr id="120" name="Group 119">
            <a:extLst>
              <a:ext uri="{FF2B5EF4-FFF2-40B4-BE49-F238E27FC236}">
                <a16:creationId xmlns:a16="http://schemas.microsoft.com/office/drawing/2014/main" id="{DA316B7D-E022-9EB2-E055-17F9A7D55A2F}"/>
              </a:ext>
            </a:extLst>
          </p:cNvPr>
          <p:cNvGrpSpPr/>
          <p:nvPr/>
        </p:nvGrpSpPr>
        <p:grpSpPr>
          <a:xfrm rot="1311083">
            <a:off x="6975527" y="4738902"/>
            <a:ext cx="183714" cy="153032"/>
            <a:chOff x="1451772" y="4010848"/>
            <a:chExt cx="5337253" cy="4445888"/>
          </a:xfrm>
        </p:grpSpPr>
        <p:sp>
          <p:nvSpPr>
            <p:cNvPr id="121" name="Freeform 5">
              <a:extLst>
                <a:ext uri="{FF2B5EF4-FFF2-40B4-BE49-F238E27FC236}">
                  <a16:creationId xmlns:a16="http://schemas.microsoft.com/office/drawing/2014/main" id="{C7621CD8-936B-F108-01B9-FB3920688CCE}"/>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122" name="Freeform 6">
              <a:extLst>
                <a:ext uri="{FF2B5EF4-FFF2-40B4-BE49-F238E27FC236}">
                  <a16:creationId xmlns:a16="http://schemas.microsoft.com/office/drawing/2014/main" id="{6E03D8CC-3889-A1BF-6849-268F02DB55B8}"/>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cxnSp>
        <p:nvCxnSpPr>
          <p:cNvPr id="123" name="Straight Arrow Connector 122">
            <a:extLst>
              <a:ext uri="{FF2B5EF4-FFF2-40B4-BE49-F238E27FC236}">
                <a16:creationId xmlns:a16="http://schemas.microsoft.com/office/drawing/2014/main" id="{31B04FBF-4CA0-34EF-EE38-79766923861D}"/>
              </a:ext>
            </a:extLst>
          </p:cNvPr>
          <p:cNvCxnSpPr>
            <a:cxnSpLocks/>
            <a:stCxn id="132" idx="2"/>
            <a:endCxn id="126" idx="7"/>
          </p:cNvCxnSpPr>
          <p:nvPr/>
        </p:nvCxnSpPr>
        <p:spPr>
          <a:xfrm>
            <a:off x="6581299" y="4146117"/>
            <a:ext cx="698488" cy="38549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grpSp>
        <p:nvGrpSpPr>
          <p:cNvPr id="124" name="Group 123">
            <a:extLst>
              <a:ext uri="{FF2B5EF4-FFF2-40B4-BE49-F238E27FC236}">
                <a16:creationId xmlns:a16="http://schemas.microsoft.com/office/drawing/2014/main" id="{17E3D287-8C82-1C3E-E17D-D610A768EE37}"/>
              </a:ext>
            </a:extLst>
          </p:cNvPr>
          <p:cNvGrpSpPr/>
          <p:nvPr/>
        </p:nvGrpSpPr>
        <p:grpSpPr>
          <a:xfrm rot="2060850">
            <a:off x="7225641" y="4479060"/>
            <a:ext cx="183714" cy="153032"/>
            <a:chOff x="1451772" y="4010848"/>
            <a:chExt cx="5337253" cy="4445888"/>
          </a:xfrm>
        </p:grpSpPr>
        <p:sp>
          <p:nvSpPr>
            <p:cNvPr id="125" name="Freeform 5">
              <a:extLst>
                <a:ext uri="{FF2B5EF4-FFF2-40B4-BE49-F238E27FC236}">
                  <a16:creationId xmlns:a16="http://schemas.microsoft.com/office/drawing/2014/main" id="{6EF9CBA3-AEDB-21D3-4A61-A9AFAC2CE09D}"/>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126" name="Freeform 6">
              <a:extLst>
                <a:ext uri="{FF2B5EF4-FFF2-40B4-BE49-F238E27FC236}">
                  <a16:creationId xmlns:a16="http://schemas.microsoft.com/office/drawing/2014/main" id="{9AFC11B8-87EF-2C99-E3D8-D31166FD116F}"/>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cxnSp>
        <p:nvCxnSpPr>
          <p:cNvPr id="127" name="Straight Arrow Connector 126">
            <a:extLst>
              <a:ext uri="{FF2B5EF4-FFF2-40B4-BE49-F238E27FC236}">
                <a16:creationId xmlns:a16="http://schemas.microsoft.com/office/drawing/2014/main" id="{D9F46328-4575-3BEC-6CD3-4EEA2D9FD227}"/>
              </a:ext>
            </a:extLst>
          </p:cNvPr>
          <p:cNvCxnSpPr>
            <a:cxnSpLocks/>
            <a:stCxn id="76" idx="2"/>
            <a:endCxn id="130" idx="7"/>
          </p:cNvCxnSpPr>
          <p:nvPr/>
        </p:nvCxnSpPr>
        <p:spPr>
          <a:xfrm flipH="1">
            <a:off x="9222897" y="4146117"/>
            <a:ext cx="703869" cy="329263"/>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grpSp>
        <p:nvGrpSpPr>
          <p:cNvPr id="128" name="Group 127">
            <a:extLst>
              <a:ext uri="{FF2B5EF4-FFF2-40B4-BE49-F238E27FC236}">
                <a16:creationId xmlns:a16="http://schemas.microsoft.com/office/drawing/2014/main" id="{0ABFD65A-9A7A-D29D-BDB7-AC57710E2E29}"/>
              </a:ext>
            </a:extLst>
          </p:cNvPr>
          <p:cNvGrpSpPr/>
          <p:nvPr/>
        </p:nvGrpSpPr>
        <p:grpSpPr>
          <a:xfrm rot="8799898">
            <a:off x="9094546" y="4424648"/>
            <a:ext cx="183714" cy="153032"/>
            <a:chOff x="1451772" y="4010848"/>
            <a:chExt cx="5337253" cy="4445888"/>
          </a:xfrm>
        </p:grpSpPr>
        <p:sp>
          <p:nvSpPr>
            <p:cNvPr id="129" name="Freeform 5">
              <a:extLst>
                <a:ext uri="{FF2B5EF4-FFF2-40B4-BE49-F238E27FC236}">
                  <a16:creationId xmlns:a16="http://schemas.microsoft.com/office/drawing/2014/main" id="{CFFF5E8E-6025-7D2C-BE49-97134B7E0B34}"/>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130" name="Freeform 6">
              <a:extLst>
                <a:ext uri="{FF2B5EF4-FFF2-40B4-BE49-F238E27FC236}">
                  <a16:creationId xmlns:a16="http://schemas.microsoft.com/office/drawing/2014/main" id="{7CE0DDC0-CF6A-B477-6D7F-FAD32FFA0A2E}"/>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mc:AlternateContent xmlns:mc="http://schemas.openxmlformats.org/markup-compatibility/2006" xmlns:a14="http://schemas.microsoft.com/office/drawing/2010/main">
        <mc:Choice Requires="a14">
          <p:sp>
            <p:nvSpPr>
              <p:cNvPr id="132" name="Rounded Rectangle 131">
                <a:extLst>
                  <a:ext uri="{FF2B5EF4-FFF2-40B4-BE49-F238E27FC236}">
                    <a16:creationId xmlns:a16="http://schemas.microsoft.com/office/drawing/2014/main" id="{CC5A96B6-6083-34C0-3DE9-F26E13577512}"/>
                  </a:ext>
                </a:extLst>
              </p:cNvPr>
              <p:cNvSpPr/>
              <p:nvPr/>
            </p:nvSpPr>
            <p:spPr>
              <a:xfrm>
                <a:off x="6046870" y="3804417"/>
                <a:ext cx="1068858" cy="341700"/>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acc>
                        <m:accPr>
                          <m:chr m:val="̅"/>
                          <m:ctrlPr>
                            <a:rPr lang="en-US" i="1" smtClean="0">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𝑋</m:t>
                          </m:r>
                        </m:e>
                      </m:acc>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6.5</m:t>
                      </m:r>
                    </m:oMath>
                  </m:oMathPara>
                </a14:m>
                <a:endParaRPr lang="en-US" dirty="0">
                  <a:solidFill>
                    <a:schemeClr val="tx1"/>
                  </a:solidFill>
                </a:endParaRPr>
              </a:p>
            </p:txBody>
          </p:sp>
        </mc:Choice>
        <mc:Fallback xmlns="">
          <p:sp>
            <p:nvSpPr>
              <p:cNvPr id="132" name="Rounded Rectangle 131">
                <a:extLst>
                  <a:ext uri="{FF2B5EF4-FFF2-40B4-BE49-F238E27FC236}">
                    <a16:creationId xmlns:a16="http://schemas.microsoft.com/office/drawing/2014/main" id="{CC5A96B6-6083-34C0-3DE9-F26E13577512}"/>
                  </a:ext>
                </a:extLst>
              </p:cNvPr>
              <p:cNvSpPr>
                <a:spLocks noRot="1" noChangeAspect="1" noMove="1" noResize="1" noEditPoints="1" noAdjustHandles="1" noChangeArrowheads="1" noChangeShapeType="1" noTextEdit="1"/>
              </p:cNvSpPr>
              <p:nvPr/>
            </p:nvSpPr>
            <p:spPr>
              <a:xfrm>
                <a:off x="6046870" y="3804417"/>
                <a:ext cx="1068858" cy="341700"/>
              </a:xfrm>
              <a:prstGeom prst="roundRect">
                <a:avLst/>
              </a:prstGeom>
              <a:blipFill>
                <a:blip r:embed="rId3"/>
                <a:stretch>
                  <a:fillRect/>
                </a:stretch>
              </a:blipFill>
              <a:ln>
                <a:solidFill>
                  <a:schemeClr val="accent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3" name="Rounded Rectangle 132">
                <a:extLst>
                  <a:ext uri="{FF2B5EF4-FFF2-40B4-BE49-F238E27FC236}">
                    <a16:creationId xmlns:a16="http://schemas.microsoft.com/office/drawing/2014/main" id="{72EE4472-D57D-9081-D952-A2F2612D8B5A}"/>
                  </a:ext>
                </a:extLst>
              </p:cNvPr>
              <p:cNvSpPr/>
              <p:nvPr/>
            </p:nvSpPr>
            <p:spPr>
              <a:xfrm>
                <a:off x="4257658" y="3804417"/>
                <a:ext cx="1068858" cy="341700"/>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acc>
                        <m:accPr>
                          <m:chr m:val="̅"/>
                          <m:ctrlPr>
                            <a:rPr lang="en-US" i="1" smtClean="0">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𝑋</m:t>
                          </m:r>
                        </m:e>
                      </m:acc>
                      <m:r>
                        <a:rPr lang="en-US" i="1">
                          <a:solidFill>
                            <a:schemeClr val="tx1"/>
                          </a:solidFill>
                          <a:latin typeface="Cambria Math" panose="02040503050406030204" pitchFamily="18" charset="0"/>
                        </a:rPr>
                        <m:t>=4.7</m:t>
                      </m:r>
                    </m:oMath>
                  </m:oMathPara>
                </a14:m>
                <a:endParaRPr lang="en-US" dirty="0">
                  <a:solidFill>
                    <a:schemeClr val="tx1"/>
                  </a:solidFill>
                </a:endParaRPr>
              </a:p>
            </p:txBody>
          </p:sp>
        </mc:Choice>
        <mc:Fallback xmlns="">
          <p:sp>
            <p:nvSpPr>
              <p:cNvPr id="133" name="Rounded Rectangle 132">
                <a:extLst>
                  <a:ext uri="{FF2B5EF4-FFF2-40B4-BE49-F238E27FC236}">
                    <a16:creationId xmlns:a16="http://schemas.microsoft.com/office/drawing/2014/main" id="{72EE4472-D57D-9081-D952-A2F2612D8B5A}"/>
                  </a:ext>
                </a:extLst>
              </p:cNvPr>
              <p:cNvSpPr>
                <a:spLocks noRot="1" noChangeAspect="1" noMove="1" noResize="1" noEditPoints="1" noAdjustHandles="1" noChangeArrowheads="1" noChangeShapeType="1" noTextEdit="1"/>
              </p:cNvSpPr>
              <p:nvPr/>
            </p:nvSpPr>
            <p:spPr>
              <a:xfrm>
                <a:off x="4257658" y="3804417"/>
                <a:ext cx="1068858" cy="341700"/>
              </a:xfrm>
              <a:prstGeom prst="roundRect">
                <a:avLst/>
              </a:prstGeom>
              <a:blipFill>
                <a:blip r:embed="rId4"/>
                <a:stretch>
                  <a:fillRect/>
                </a:stretch>
              </a:blipFill>
              <a:ln>
                <a:solidFill>
                  <a:schemeClr val="accent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 name="Rounded Rectangle 133">
                <a:extLst>
                  <a:ext uri="{FF2B5EF4-FFF2-40B4-BE49-F238E27FC236}">
                    <a16:creationId xmlns:a16="http://schemas.microsoft.com/office/drawing/2014/main" id="{566CD1AF-CABF-3553-9C2C-9D67A1D8064A}"/>
                  </a:ext>
                </a:extLst>
              </p:cNvPr>
              <p:cNvSpPr/>
              <p:nvPr/>
            </p:nvSpPr>
            <p:spPr>
              <a:xfrm>
                <a:off x="1574722" y="4878693"/>
                <a:ext cx="4738388" cy="128858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Standard deviation of the means is 1.51.</a:t>
                </a:r>
              </a:p>
              <a:p>
                <a:endParaRPr lang="en-US" dirty="0">
                  <a:solidFill>
                    <a:schemeClr val="tx1"/>
                  </a:solidFill>
                </a:endParaRPr>
              </a:p>
              <a:p>
                <a:r>
                  <a:rPr lang="en-US" dirty="0">
                    <a:solidFill>
                      <a:schemeClr val="tx1"/>
                    </a:solidFill>
                  </a:rPr>
                  <a:t>Bootstrap SE estimate for the means is</a:t>
                </a:r>
              </a:p>
              <a:p>
                <a:r>
                  <a:rPr lang="en-US" dirty="0">
                    <a:solidFill>
                      <a:schemeClr val="tx1"/>
                    </a:solidFill>
                  </a:rPr>
                  <a:t>𝑆𝐸(</a:t>
                </a:r>
                <a14:m>
                  <m:oMath xmlns:m="http://schemas.openxmlformats.org/officeDocument/2006/math">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𝑋</m:t>
                        </m:r>
                      </m:e>
                    </m:acc>
                  </m:oMath>
                </a14:m>
                <a:r>
                  <a:rPr lang="en-US" dirty="0">
                    <a:solidFill>
                      <a:schemeClr val="tx1"/>
                    </a:solidFill>
                  </a:rPr>
                  <a:t>)=1.51</a:t>
                </a:r>
              </a:p>
            </p:txBody>
          </p:sp>
        </mc:Choice>
        <mc:Fallback xmlns="">
          <p:sp>
            <p:nvSpPr>
              <p:cNvPr id="134" name="Rounded Rectangle 133">
                <a:extLst>
                  <a:ext uri="{FF2B5EF4-FFF2-40B4-BE49-F238E27FC236}">
                    <a16:creationId xmlns:a16="http://schemas.microsoft.com/office/drawing/2014/main" id="{566CD1AF-CABF-3553-9C2C-9D67A1D8064A}"/>
                  </a:ext>
                </a:extLst>
              </p:cNvPr>
              <p:cNvSpPr>
                <a:spLocks noRot="1" noChangeAspect="1" noMove="1" noResize="1" noEditPoints="1" noAdjustHandles="1" noChangeArrowheads="1" noChangeShapeType="1" noTextEdit="1"/>
              </p:cNvSpPr>
              <p:nvPr/>
            </p:nvSpPr>
            <p:spPr>
              <a:xfrm>
                <a:off x="1574722" y="4878693"/>
                <a:ext cx="4738388" cy="1288584"/>
              </a:xfrm>
              <a:prstGeom prst="roundRect">
                <a:avLst/>
              </a:prstGeom>
              <a:blipFill>
                <a:blip r:embed="rId5"/>
                <a:stretch>
                  <a:fillRect b="-3846"/>
                </a:stretch>
              </a:blipFill>
              <a:ln>
                <a:solidFill>
                  <a:schemeClr val="accent4"/>
                </a:solidFill>
              </a:ln>
            </p:spPr>
            <p:txBody>
              <a:bodyPr/>
              <a:lstStyle/>
              <a:p>
                <a:r>
                  <a:rPr lang="en-US">
                    <a:noFill/>
                  </a:rPr>
                  <a:t> </a:t>
                </a:r>
              </a:p>
            </p:txBody>
          </p:sp>
        </mc:Fallback>
      </mc:AlternateContent>
      <p:grpSp>
        <p:nvGrpSpPr>
          <p:cNvPr id="3" name="Group 2">
            <a:extLst>
              <a:ext uri="{FF2B5EF4-FFF2-40B4-BE49-F238E27FC236}">
                <a16:creationId xmlns:a16="http://schemas.microsoft.com/office/drawing/2014/main" id="{6B981180-C415-BC3D-031E-A000C9E893E7}"/>
              </a:ext>
            </a:extLst>
          </p:cNvPr>
          <p:cNvGrpSpPr/>
          <p:nvPr/>
        </p:nvGrpSpPr>
        <p:grpSpPr>
          <a:xfrm>
            <a:off x="7051586" y="4241800"/>
            <a:ext cx="2626510" cy="2254838"/>
            <a:chOff x="7051586" y="4241800"/>
            <a:chExt cx="2626510" cy="2254838"/>
          </a:xfrm>
        </p:grpSpPr>
        <p:cxnSp>
          <p:nvCxnSpPr>
            <p:cNvPr id="23" name="Straight Connector 22">
              <a:extLst>
                <a:ext uri="{FF2B5EF4-FFF2-40B4-BE49-F238E27FC236}">
                  <a16:creationId xmlns:a16="http://schemas.microsoft.com/office/drawing/2014/main" id="{3944BE8A-FDFB-E185-E467-094EB707BCB7}"/>
                </a:ext>
              </a:extLst>
            </p:cNvPr>
            <p:cNvCxnSpPr>
              <a:cxnSpLocks/>
            </p:cNvCxnSpPr>
            <p:nvPr/>
          </p:nvCxnSpPr>
          <p:spPr>
            <a:xfrm>
              <a:off x="7563135" y="6124101"/>
              <a:ext cx="194546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7C3FAE5-2F9A-77FC-4A3E-77C3A06EA2CD}"/>
                </a:ext>
              </a:extLst>
            </p:cNvPr>
            <p:cNvCxnSpPr>
              <a:cxnSpLocks/>
            </p:cNvCxnSpPr>
            <p:nvPr/>
          </p:nvCxnSpPr>
          <p:spPr>
            <a:xfrm>
              <a:off x="7563862" y="6122526"/>
              <a:ext cx="0" cy="6924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B8FDE54-547B-B0CA-8E3C-02CF19E4610B}"/>
                </a:ext>
              </a:extLst>
            </p:cNvPr>
            <p:cNvCxnSpPr>
              <a:cxnSpLocks/>
            </p:cNvCxnSpPr>
            <p:nvPr/>
          </p:nvCxnSpPr>
          <p:spPr>
            <a:xfrm>
              <a:off x="8049682" y="6122526"/>
              <a:ext cx="0" cy="6924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221D6B7-A858-2186-2AFA-96DDD0F521EC}"/>
                </a:ext>
              </a:extLst>
            </p:cNvPr>
            <p:cNvCxnSpPr>
              <a:cxnSpLocks/>
            </p:cNvCxnSpPr>
            <p:nvPr/>
          </p:nvCxnSpPr>
          <p:spPr>
            <a:xfrm>
              <a:off x="8533320" y="6122526"/>
              <a:ext cx="0" cy="6924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C003CC5-FE1E-998B-5103-C48D896802E5}"/>
                </a:ext>
              </a:extLst>
            </p:cNvPr>
            <p:cNvCxnSpPr>
              <a:cxnSpLocks/>
            </p:cNvCxnSpPr>
            <p:nvPr/>
          </p:nvCxnSpPr>
          <p:spPr>
            <a:xfrm>
              <a:off x="9023504" y="6122526"/>
              <a:ext cx="0" cy="6924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36B0EB0-8B2C-7B5B-959A-F9455A9D0F8E}"/>
                </a:ext>
              </a:extLst>
            </p:cNvPr>
            <p:cNvCxnSpPr>
              <a:cxnSpLocks/>
            </p:cNvCxnSpPr>
            <p:nvPr/>
          </p:nvCxnSpPr>
          <p:spPr>
            <a:xfrm>
              <a:off x="9510779" y="6123313"/>
              <a:ext cx="0" cy="684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E469BD4-1ACD-5438-F038-1D06A7A2D199}"/>
                </a:ext>
              </a:extLst>
            </p:cNvPr>
            <p:cNvCxnSpPr>
              <a:cxnSpLocks/>
            </p:cNvCxnSpPr>
            <p:nvPr/>
          </p:nvCxnSpPr>
          <p:spPr>
            <a:xfrm flipV="1">
              <a:off x="7485316" y="4897348"/>
              <a:ext cx="1455" cy="11834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A8C4C41-1CFF-BAFC-FAC9-50DA6D3389A0}"/>
                </a:ext>
              </a:extLst>
            </p:cNvPr>
            <p:cNvCxnSpPr>
              <a:cxnSpLocks/>
            </p:cNvCxnSpPr>
            <p:nvPr/>
          </p:nvCxnSpPr>
          <p:spPr>
            <a:xfrm rot="16200000">
              <a:off x="7453316" y="6047109"/>
              <a:ext cx="0" cy="6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D7C3B2D-B8DB-C5D5-F29F-53F0FD1AC806}"/>
                </a:ext>
              </a:extLst>
            </p:cNvPr>
            <p:cNvCxnSpPr>
              <a:cxnSpLocks/>
            </p:cNvCxnSpPr>
            <p:nvPr/>
          </p:nvCxnSpPr>
          <p:spPr>
            <a:xfrm rot="16200000">
              <a:off x="7453316" y="5878068"/>
              <a:ext cx="0" cy="6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2E78C0A-52BB-0FB5-DAD7-2ABC4AE2307D}"/>
                </a:ext>
              </a:extLst>
            </p:cNvPr>
            <p:cNvCxnSpPr>
              <a:cxnSpLocks/>
            </p:cNvCxnSpPr>
            <p:nvPr/>
          </p:nvCxnSpPr>
          <p:spPr>
            <a:xfrm rot="16200000">
              <a:off x="7451862" y="5649666"/>
              <a:ext cx="0" cy="6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74DEFB3-9662-C8F5-3301-3215F03F0C9D}"/>
                </a:ext>
              </a:extLst>
            </p:cNvPr>
            <p:cNvCxnSpPr>
              <a:cxnSpLocks/>
            </p:cNvCxnSpPr>
            <p:nvPr/>
          </p:nvCxnSpPr>
          <p:spPr>
            <a:xfrm rot="16200000">
              <a:off x="7451862" y="5261518"/>
              <a:ext cx="0" cy="6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1B5BFCF-882E-7BCF-72F3-6E815BFE0266}"/>
                </a:ext>
              </a:extLst>
            </p:cNvPr>
            <p:cNvCxnSpPr>
              <a:cxnSpLocks/>
            </p:cNvCxnSpPr>
            <p:nvPr/>
          </p:nvCxnSpPr>
          <p:spPr>
            <a:xfrm rot="16200000">
              <a:off x="7453316" y="4867706"/>
              <a:ext cx="0" cy="64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B97522A0-5A6A-1A99-B911-AC391C0E690F}"/>
                </a:ext>
              </a:extLst>
            </p:cNvPr>
            <p:cNvSpPr/>
            <p:nvPr/>
          </p:nvSpPr>
          <p:spPr>
            <a:xfrm>
              <a:off x="8299761" y="5616795"/>
              <a:ext cx="12412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700" dirty="0"/>
            </a:p>
          </p:txBody>
        </p:sp>
        <p:sp>
          <p:nvSpPr>
            <p:cNvPr id="49" name="Rectangle 48">
              <a:extLst>
                <a:ext uri="{FF2B5EF4-FFF2-40B4-BE49-F238E27FC236}">
                  <a16:creationId xmlns:a16="http://schemas.microsoft.com/office/drawing/2014/main" id="{D6F3E524-F844-5A4B-21B8-31CA06ADC867}"/>
                </a:ext>
              </a:extLst>
            </p:cNvPr>
            <p:cNvSpPr/>
            <p:nvPr/>
          </p:nvSpPr>
          <p:spPr>
            <a:xfrm>
              <a:off x="8423716" y="5148263"/>
              <a:ext cx="124121" cy="932582"/>
            </a:xfrm>
            <a:prstGeom prst="rect">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700" dirty="0"/>
            </a:p>
          </p:txBody>
        </p:sp>
        <p:sp>
          <p:nvSpPr>
            <p:cNvPr id="50" name="Rectangle 49">
              <a:extLst>
                <a:ext uri="{FF2B5EF4-FFF2-40B4-BE49-F238E27FC236}">
                  <a16:creationId xmlns:a16="http://schemas.microsoft.com/office/drawing/2014/main" id="{ECA1ABAD-5F4F-42DE-95EF-D9145CC42EF5}"/>
                </a:ext>
              </a:extLst>
            </p:cNvPr>
            <p:cNvSpPr/>
            <p:nvPr/>
          </p:nvSpPr>
          <p:spPr>
            <a:xfrm>
              <a:off x="8548544" y="5162550"/>
              <a:ext cx="124121" cy="918295"/>
            </a:xfrm>
            <a:prstGeom prst="rect">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700" dirty="0"/>
            </a:p>
          </p:txBody>
        </p:sp>
        <p:sp>
          <p:nvSpPr>
            <p:cNvPr id="51" name="Rectangle 50">
              <a:extLst>
                <a:ext uri="{FF2B5EF4-FFF2-40B4-BE49-F238E27FC236}">
                  <a16:creationId xmlns:a16="http://schemas.microsoft.com/office/drawing/2014/main" id="{04944AFA-5F7E-2DF3-27AC-F3B80704A6D6}"/>
                </a:ext>
              </a:extLst>
            </p:cNvPr>
            <p:cNvSpPr/>
            <p:nvPr/>
          </p:nvSpPr>
          <p:spPr>
            <a:xfrm>
              <a:off x="8673829" y="5524500"/>
              <a:ext cx="124121" cy="556345"/>
            </a:xfrm>
            <a:prstGeom prst="rect">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700" dirty="0"/>
            </a:p>
          </p:txBody>
        </p:sp>
        <p:sp>
          <p:nvSpPr>
            <p:cNvPr id="52" name="Rectangle 51">
              <a:extLst>
                <a:ext uri="{FF2B5EF4-FFF2-40B4-BE49-F238E27FC236}">
                  <a16:creationId xmlns:a16="http://schemas.microsoft.com/office/drawing/2014/main" id="{7395B24D-523C-9F3B-D2FF-37EA4D3DD033}"/>
                </a:ext>
              </a:extLst>
            </p:cNvPr>
            <p:cNvSpPr/>
            <p:nvPr/>
          </p:nvSpPr>
          <p:spPr>
            <a:xfrm>
              <a:off x="8796717" y="6051791"/>
              <a:ext cx="124121" cy="27432"/>
            </a:xfrm>
            <a:prstGeom prst="rect">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700" dirty="0"/>
            </a:p>
          </p:txBody>
        </p:sp>
        <p:sp>
          <p:nvSpPr>
            <p:cNvPr id="53" name="Rectangle 52">
              <a:extLst>
                <a:ext uri="{FF2B5EF4-FFF2-40B4-BE49-F238E27FC236}">
                  <a16:creationId xmlns:a16="http://schemas.microsoft.com/office/drawing/2014/main" id="{5BF92F6D-92C3-6AC4-B297-3B702B798581}"/>
                </a:ext>
              </a:extLst>
            </p:cNvPr>
            <p:cNvSpPr/>
            <p:nvPr/>
          </p:nvSpPr>
          <p:spPr>
            <a:xfrm>
              <a:off x="8919606" y="5941219"/>
              <a:ext cx="124121" cy="139625"/>
            </a:xfrm>
            <a:prstGeom prst="rect">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700" dirty="0"/>
            </a:p>
          </p:txBody>
        </p:sp>
        <p:sp>
          <p:nvSpPr>
            <p:cNvPr id="54" name="Rectangle 53">
              <a:extLst>
                <a:ext uri="{FF2B5EF4-FFF2-40B4-BE49-F238E27FC236}">
                  <a16:creationId xmlns:a16="http://schemas.microsoft.com/office/drawing/2014/main" id="{85A586EB-70A0-3C1A-448D-CC82E9DCBCB7}"/>
                </a:ext>
              </a:extLst>
            </p:cNvPr>
            <p:cNvSpPr/>
            <p:nvPr/>
          </p:nvSpPr>
          <p:spPr>
            <a:xfrm>
              <a:off x="9043464" y="5852564"/>
              <a:ext cx="124121" cy="228281"/>
            </a:xfrm>
            <a:prstGeom prst="rect">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700" dirty="0"/>
            </a:p>
          </p:txBody>
        </p:sp>
        <p:sp>
          <p:nvSpPr>
            <p:cNvPr id="55" name="Rectangle 54">
              <a:extLst>
                <a:ext uri="{FF2B5EF4-FFF2-40B4-BE49-F238E27FC236}">
                  <a16:creationId xmlns:a16="http://schemas.microsoft.com/office/drawing/2014/main" id="{012F2E29-008F-DF3F-676D-720C0A112512}"/>
                </a:ext>
              </a:extLst>
            </p:cNvPr>
            <p:cNvSpPr/>
            <p:nvPr/>
          </p:nvSpPr>
          <p:spPr>
            <a:xfrm>
              <a:off x="9168291" y="6061960"/>
              <a:ext cx="228600" cy="18885"/>
            </a:xfrm>
            <a:prstGeom prst="rect">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700" dirty="0"/>
            </a:p>
          </p:txBody>
        </p:sp>
        <p:sp>
          <p:nvSpPr>
            <p:cNvPr id="56" name="Rectangle 55">
              <a:extLst>
                <a:ext uri="{FF2B5EF4-FFF2-40B4-BE49-F238E27FC236}">
                  <a16:creationId xmlns:a16="http://schemas.microsoft.com/office/drawing/2014/main" id="{5059090C-0A34-A52D-D51F-68A4E865BD84}"/>
                </a:ext>
              </a:extLst>
            </p:cNvPr>
            <p:cNvSpPr/>
            <p:nvPr/>
          </p:nvSpPr>
          <p:spPr>
            <a:xfrm>
              <a:off x="8174157" y="4695823"/>
              <a:ext cx="124121" cy="1382632"/>
            </a:xfrm>
            <a:prstGeom prst="rect">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700" dirty="0"/>
            </a:p>
          </p:txBody>
        </p:sp>
        <p:sp>
          <p:nvSpPr>
            <p:cNvPr id="57" name="Rectangle 56">
              <a:extLst>
                <a:ext uri="{FF2B5EF4-FFF2-40B4-BE49-F238E27FC236}">
                  <a16:creationId xmlns:a16="http://schemas.microsoft.com/office/drawing/2014/main" id="{5C23EAFE-9935-8E08-9F83-4890BC944D53}"/>
                </a:ext>
              </a:extLst>
            </p:cNvPr>
            <p:cNvSpPr/>
            <p:nvPr/>
          </p:nvSpPr>
          <p:spPr>
            <a:xfrm>
              <a:off x="8049329" y="5607843"/>
              <a:ext cx="124121" cy="473001"/>
            </a:xfrm>
            <a:prstGeom prst="rect">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700" dirty="0"/>
            </a:p>
          </p:txBody>
        </p:sp>
        <p:sp>
          <p:nvSpPr>
            <p:cNvPr id="58" name="Rectangle 57">
              <a:extLst>
                <a:ext uri="{FF2B5EF4-FFF2-40B4-BE49-F238E27FC236}">
                  <a16:creationId xmlns:a16="http://schemas.microsoft.com/office/drawing/2014/main" id="{3142B39E-E77F-0676-0940-0BB14270AA01}"/>
                </a:ext>
              </a:extLst>
            </p:cNvPr>
            <p:cNvSpPr/>
            <p:nvPr/>
          </p:nvSpPr>
          <p:spPr>
            <a:xfrm>
              <a:off x="7925471" y="5086350"/>
              <a:ext cx="124121" cy="994495"/>
            </a:xfrm>
            <a:prstGeom prst="rect">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700" dirty="0"/>
            </a:p>
          </p:txBody>
        </p:sp>
        <p:sp>
          <p:nvSpPr>
            <p:cNvPr id="59" name="Rectangle 58">
              <a:extLst>
                <a:ext uri="{FF2B5EF4-FFF2-40B4-BE49-F238E27FC236}">
                  <a16:creationId xmlns:a16="http://schemas.microsoft.com/office/drawing/2014/main" id="{E31696BB-A1FD-6064-964A-D9ACD394163D}"/>
                </a:ext>
              </a:extLst>
            </p:cNvPr>
            <p:cNvSpPr/>
            <p:nvPr/>
          </p:nvSpPr>
          <p:spPr>
            <a:xfrm>
              <a:off x="7802000" y="5237279"/>
              <a:ext cx="124121" cy="843566"/>
            </a:xfrm>
            <a:prstGeom prst="rect">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700" dirty="0"/>
            </a:p>
          </p:txBody>
        </p:sp>
        <p:sp>
          <p:nvSpPr>
            <p:cNvPr id="60" name="Rectangle 59">
              <a:extLst>
                <a:ext uri="{FF2B5EF4-FFF2-40B4-BE49-F238E27FC236}">
                  <a16:creationId xmlns:a16="http://schemas.microsoft.com/office/drawing/2014/main" id="{6A0D352F-1FA2-77CA-9E75-F6635441C586}"/>
                </a:ext>
              </a:extLst>
            </p:cNvPr>
            <p:cNvSpPr/>
            <p:nvPr/>
          </p:nvSpPr>
          <p:spPr>
            <a:xfrm>
              <a:off x="7679112" y="5455444"/>
              <a:ext cx="124121" cy="625401"/>
            </a:xfrm>
            <a:prstGeom prst="rect">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700" dirty="0"/>
            </a:p>
          </p:txBody>
        </p:sp>
        <p:sp>
          <p:nvSpPr>
            <p:cNvPr id="61" name="Rectangle 60">
              <a:extLst>
                <a:ext uri="{FF2B5EF4-FFF2-40B4-BE49-F238E27FC236}">
                  <a16:creationId xmlns:a16="http://schemas.microsoft.com/office/drawing/2014/main" id="{0C3355C8-0B0D-F300-4632-928EF1BC1A64}"/>
                </a:ext>
              </a:extLst>
            </p:cNvPr>
            <p:cNvSpPr/>
            <p:nvPr/>
          </p:nvSpPr>
          <p:spPr>
            <a:xfrm>
              <a:off x="7554408" y="5780380"/>
              <a:ext cx="124121" cy="300466"/>
            </a:xfrm>
            <a:prstGeom prst="rect">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700" dirty="0"/>
            </a:p>
          </p:txBody>
        </p:sp>
        <p:sp>
          <p:nvSpPr>
            <p:cNvPr id="63" name="TextBox 62">
              <a:extLst>
                <a:ext uri="{FF2B5EF4-FFF2-40B4-BE49-F238E27FC236}">
                  <a16:creationId xmlns:a16="http://schemas.microsoft.com/office/drawing/2014/main" id="{FFE2FAA8-EF7C-6983-C2C3-E4401AE6BC78}"/>
                </a:ext>
              </a:extLst>
            </p:cNvPr>
            <p:cNvSpPr txBox="1"/>
            <p:nvPr/>
          </p:nvSpPr>
          <p:spPr>
            <a:xfrm>
              <a:off x="7504539" y="6207389"/>
              <a:ext cx="119459" cy="129631"/>
            </a:xfrm>
            <a:prstGeom prst="rect">
              <a:avLst/>
            </a:prstGeom>
            <a:noFill/>
          </p:spPr>
          <p:txBody>
            <a:bodyPr wrap="none" rtlCol="0">
              <a:noAutofit/>
            </a:bodyPr>
            <a:lstStyle/>
            <a:p>
              <a:pPr algn="ctr"/>
              <a:r>
                <a:rPr lang="en-US" sz="700" dirty="0"/>
                <a:t>2</a:t>
              </a:r>
            </a:p>
          </p:txBody>
        </p:sp>
        <p:sp>
          <p:nvSpPr>
            <p:cNvPr id="64" name="TextBox 63">
              <a:extLst>
                <a:ext uri="{FF2B5EF4-FFF2-40B4-BE49-F238E27FC236}">
                  <a16:creationId xmlns:a16="http://schemas.microsoft.com/office/drawing/2014/main" id="{1EA51FD3-961F-22EE-9C8C-9254ED582A7B}"/>
                </a:ext>
              </a:extLst>
            </p:cNvPr>
            <p:cNvSpPr txBox="1"/>
            <p:nvPr/>
          </p:nvSpPr>
          <p:spPr>
            <a:xfrm>
              <a:off x="7991834" y="6207389"/>
              <a:ext cx="119459" cy="129631"/>
            </a:xfrm>
            <a:prstGeom prst="rect">
              <a:avLst/>
            </a:prstGeom>
            <a:noFill/>
          </p:spPr>
          <p:txBody>
            <a:bodyPr wrap="none" rtlCol="0">
              <a:noAutofit/>
            </a:bodyPr>
            <a:lstStyle/>
            <a:p>
              <a:pPr algn="ctr"/>
              <a:r>
                <a:rPr lang="en-US" sz="700" dirty="0"/>
                <a:t>4</a:t>
              </a:r>
            </a:p>
          </p:txBody>
        </p:sp>
        <p:sp>
          <p:nvSpPr>
            <p:cNvPr id="65" name="TextBox 64">
              <a:extLst>
                <a:ext uri="{FF2B5EF4-FFF2-40B4-BE49-F238E27FC236}">
                  <a16:creationId xmlns:a16="http://schemas.microsoft.com/office/drawing/2014/main" id="{28C21310-D736-81BC-BD66-F0AB44863B0C}"/>
                </a:ext>
              </a:extLst>
            </p:cNvPr>
            <p:cNvSpPr txBox="1"/>
            <p:nvPr/>
          </p:nvSpPr>
          <p:spPr>
            <a:xfrm>
              <a:off x="8473202" y="6207389"/>
              <a:ext cx="119459" cy="129631"/>
            </a:xfrm>
            <a:prstGeom prst="rect">
              <a:avLst/>
            </a:prstGeom>
            <a:noFill/>
          </p:spPr>
          <p:txBody>
            <a:bodyPr wrap="none" rtlCol="0">
              <a:noAutofit/>
            </a:bodyPr>
            <a:lstStyle/>
            <a:p>
              <a:pPr algn="ctr"/>
              <a:r>
                <a:rPr lang="en-US" sz="700" dirty="0"/>
                <a:t>6</a:t>
              </a:r>
            </a:p>
          </p:txBody>
        </p:sp>
        <p:sp>
          <p:nvSpPr>
            <p:cNvPr id="66" name="TextBox 65">
              <a:extLst>
                <a:ext uri="{FF2B5EF4-FFF2-40B4-BE49-F238E27FC236}">
                  <a16:creationId xmlns:a16="http://schemas.microsoft.com/office/drawing/2014/main" id="{5CD5807E-8C28-7C5C-3AB8-CF6BD3332DD6}"/>
                </a:ext>
              </a:extLst>
            </p:cNvPr>
            <p:cNvSpPr txBox="1"/>
            <p:nvPr/>
          </p:nvSpPr>
          <p:spPr>
            <a:xfrm>
              <a:off x="8964973" y="6207389"/>
              <a:ext cx="119459" cy="129631"/>
            </a:xfrm>
            <a:prstGeom prst="rect">
              <a:avLst/>
            </a:prstGeom>
            <a:noFill/>
          </p:spPr>
          <p:txBody>
            <a:bodyPr wrap="none" rtlCol="0">
              <a:noAutofit/>
            </a:bodyPr>
            <a:lstStyle/>
            <a:p>
              <a:pPr algn="ctr"/>
              <a:r>
                <a:rPr lang="en-US" sz="700" dirty="0"/>
                <a:t>8</a:t>
              </a:r>
            </a:p>
          </p:txBody>
        </p:sp>
        <p:sp>
          <p:nvSpPr>
            <p:cNvPr id="67" name="TextBox 66">
              <a:extLst>
                <a:ext uri="{FF2B5EF4-FFF2-40B4-BE49-F238E27FC236}">
                  <a16:creationId xmlns:a16="http://schemas.microsoft.com/office/drawing/2014/main" id="{FF145E9A-52A8-2AC7-D497-7232CD37ED18}"/>
                </a:ext>
              </a:extLst>
            </p:cNvPr>
            <p:cNvSpPr txBox="1"/>
            <p:nvPr/>
          </p:nvSpPr>
          <p:spPr>
            <a:xfrm>
              <a:off x="9357762" y="6207389"/>
              <a:ext cx="320334" cy="159618"/>
            </a:xfrm>
            <a:prstGeom prst="rect">
              <a:avLst/>
            </a:prstGeom>
            <a:noFill/>
          </p:spPr>
          <p:txBody>
            <a:bodyPr wrap="square" rtlCol="0">
              <a:noAutofit/>
            </a:bodyPr>
            <a:lstStyle/>
            <a:p>
              <a:pPr algn="ctr"/>
              <a:r>
                <a:rPr lang="en-US" sz="700" dirty="0"/>
                <a:t>10</a:t>
              </a:r>
            </a:p>
          </p:txBody>
        </p:sp>
        <p:sp>
          <p:nvSpPr>
            <p:cNvPr id="68" name="TextBox 67">
              <a:extLst>
                <a:ext uri="{FF2B5EF4-FFF2-40B4-BE49-F238E27FC236}">
                  <a16:creationId xmlns:a16="http://schemas.microsoft.com/office/drawing/2014/main" id="{799969FF-6D91-D796-B935-2F22AD191FA7}"/>
                </a:ext>
              </a:extLst>
            </p:cNvPr>
            <p:cNvSpPr txBox="1"/>
            <p:nvPr/>
          </p:nvSpPr>
          <p:spPr>
            <a:xfrm rot="16200000">
              <a:off x="7151327" y="5992209"/>
              <a:ext cx="357494" cy="177941"/>
            </a:xfrm>
            <a:prstGeom prst="rect">
              <a:avLst/>
            </a:prstGeom>
            <a:noFill/>
          </p:spPr>
          <p:txBody>
            <a:bodyPr wrap="square" rtlCol="0" anchor="ctr">
              <a:noAutofit/>
            </a:bodyPr>
            <a:lstStyle/>
            <a:p>
              <a:pPr algn="ctr"/>
              <a:r>
                <a:rPr lang="en-US" sz="700" dirty="0"/>
                <a:t>0.0</a:t>
              </a:r>
            </a:p>
          </p:txBody>
        </p:sp>
        <p:sp>
          <p:nvSpPr>
            <p:cNvPr id="69" name="TextBox 68">
              <a:extLst>
                <a:ext uri="{FF2B5EF4-FFF2-40B4-BE49-F238E27FC236}">
                  <a16:creationId xmlns:a16="http://schemas.microsoft.com/office/drawing/2014/main" id="{788D84FF-665B-F341-B681-8326F376763E}"/>
                </a:ext>
              </a:extLst>
            </p:cNvPr>
            <p:cNvSpPr txBox="1"/>
            <p:nvPr/>
          </p:nvSpPr>
          <p:spPr>
            <a:xfrm rot="16200000">
              <a:off x="7151327" y="5611314"/>
              <a:ext cx="357494" cy="141001"/>
            </a:xfrm>
            <a:prstGeom prst="rect">
              <a:avLst/>
            </a:prstGeom>
            <a:noFill/>
          </p:spPr>
          <p:txBody>
            <a:bodyPr wrap="square" rtlCol="0" anchor="ctr">
              <a:noAutofit/>
            </a:bodyPr>
            <a:lstStyle/>
            <a:p>
              <a:pPr algn="ctr"/>
              <a:r>
                <a:rPr lang="en-US" sz="700" dirty="0"/>
                <a:t>0.1</a:t>
              </a:r>
            </a:p>
          </p:txBody>
        </p:sp>
        <p:sp>
          <p:nvSpPr>
            <p:cNvPr id="70" name="TextBox 69">
              <a:extLst>
                <a:ext uri="{FF2B5EF4-FFF2-40B4-BE49-F238E27FC236}">
                  <a16:creationId xmlns:a16="http://schemas.microsoft.com/office/drawing/2014/main" id="{67EE3CEE-DEA8-77A7-0FA8-B5C347D81DCB}"/>
                </a:ext>
              </a:extLst>
            </p:cNvPr>
            <p:cNvSpPr txBox="1"/>
            <p:nvPr/>
          </p:nvSpPr>
          <p:spPr>
            <a:xfrm rot="16200000">
              <a:off x="7151327" y="5220790"/>
              <a:ext cx="357494" cy="141001"/>
            </a:xfrm>
            <a:prstGeom prst="rect">
              <a:avLst/>
            </a:prstGeom>
            <a:noFill/>
          </p:spPr>
          <p:txBody>
            <a:bodyPr wrap="square" rtlCol="0" anchor="ctr">
              <a:noAutofit/>
            </a:bodyPr>
            <a:lstStyle/>
            <a:p>
              <a:pPr algn="ctr"/>
              <a:r>
                <a:rPr lang="en-US" sz="700" dirty="0"/>
                <a:t>0.2</a:t>
              </a:r>
            </a:p>
          </p:txBody>
        </p:sp>
        <p:sp>
          <p:nvSpPr>
            <p:cNvPr id="71" name="TextBox 70">
              <a:extLst>
                <a:ext uri="{FF2B5EF4-FFF2-40B4-BE49-F238E27FC236}">
                  <a16:creationId xmlns:a16="http://schemas.microsoft.com/office/drawing/2014/main" id="{60134548-C62F-E766-60A2-8D4DEE688D45}"/>
                </a:ext>
              </a:extLst>
            </p:cNvPr>
            <p:cNvSpPr txBox="1"/>
            <p:nvPr/>
          </p:nvSpPr>
          <p:spPr>
            <a:xfrm rot="16200000">
              <a:off x="7151327" y="4827883"/>
              <a:ext cx="357494" cy="141001"/>
            </a:xfrm>
            <a:prstGeom prst="rect">
              <a:avLst/>
            </a:prstGeom>
            <a:noFill/>
          </p:spPr>
          <p:txBody>
            <a:bodyPr wrap="square" rtlCol="0" anchor="ctr">
              <a:noAutofit/>
            </a:bodyPr>
            <a:lstStyle/>
            <a:p>
              <a:pPr algn="ctr"/>
              <a:r>
                <a:rPr lang="en-US" sz="700" dirty="0"/>
                <a:t>0.3</a:t>
              </a:r>
            </a:p>
          </p:txBody>
        </p:sp>
        <p:sp>
          <p:nvSpPr>
            <p:cNvPr id="72" name="TextBox 71">
              <a:extLst>
                <a:ext uri="{FF2B5EF4-FFF2-40B4-BE49-F238E27FC236}">
                  <a16:creationId xmlns:a16="http://schemas.microsoft.com/office/drawing/2014/main" id="{7EA8A59D-2161-B261-73A1-E9E5523C9A75}"/>
                </a:ext>
              </a:extLst>
            </p:cNvPr>
            <p:cNvSpPr txBox="1"/>
            <p:nvPr/>
          </p:nvSpPr>
          <p:spPr>
            <a:xfrm>
              <a:off x="8211433" y="6367007"/>
              <a:ext cx="670053" cy="129631"/>
            </a:xfrm>
            <a:prstGeom prst="rect">
              <a:avLst/>
            </a:prstGeom>
            <a:noFill/>
          </p:spPr>
          <p:txBody>
            <a:bodyPr wrap="none" rtlCol="0" anchor="ctr">
              <a:noAutofit/>
            </a:bodyPr>
            <a:lstStyle/>
            <a:p>
              <a:pPr algn="ctr"/>
              <a:r>
                <a:rPr lang="en-US" sz="700" dirty="0"/>
                <a:t>Mean statistics</a:t>
              </a:r>
            </a:p>
          </p:txBody>
        </p:sp>
        <p:sp>
          <p:nvSpPr>
            <p:cNvPr id="73" name="TextBox 72">
              <a:extLst>
                <a:ext uri="{FF2B5EF4-FFF2-40B4-BE49-F238E27FC236}">
                  <a16:creationId xmlns:a16="http://schemas.microsoft.com/office/drawing/2014/main" id="{40BBAA5B-6F1F-26FE-642E-E387D2524037}"/>
                </a:ext>
              </a:extLst>
            </p:cNvPr>
            <p:cNvSpPr txBox="1"/>
            <p:nvPr/>
          </p:nvSpPr>
          <p:spPr>
            <a:xfrm rot="16200000">
              <a:off x="6937448" y="5473471"/>
              <a:ext cx="421045" cy="192770"/>
            </a:xfrm>
            <a:prstGeom prst="rect">
              <a:avLst/>
            </a:prstGeom>
            <a:noFill/>
          </p:spPr>
          <p:txBody>
            <a:bodyPr wrap="none" rtlCol="0" anchor="ctr">
              <a:noAutofit/>
            </a:bodyPr>
            <a:lstStyle/>
            <a:p>
              <a:pPr algn="ctr"/>
              <a:r>
                <a:rPr lang="en-US" sz="700" dirty="0"/>
                <a:t>Density</a:t>
              </a:r>
            </a:p>
          </p:txBody>
        </p:sp>
        <p:sp>
          <p:nvSpPr>
            <p:cNvPr id="131" name="TextBox 130">
              <a:extLst>
                <a:ext uri="{FF2B5EF4-FFF2-40B4-BE49-F238E27FC236}">
                  <a16:creationId xmlns:a16="http://schemas.microsoft.com/office/drawing/2014/main" id="{A21320B4-E641-2239-EB05-D546AC8C1CA8}"/>
                </a:ext>
              </a:extLst>
            </p:cNvPr>
            <p:cNvSpPr txBox="1"/>
            <p:nvPr/>
          </p:nvSpPr>
          <p:spPr>
            <a:xfrm>
              <a:off x="7359997" y="4241800"/>
              <a:ext cx="1869437" cy="461665"/>
            </a:xfrm>
            <a:prstGeom prst="rect">
              <a:avLst/>
            </a:prstGeom>
            <a:noFill/>
          </p:spPr>
          <p:txBody>
            <a:bodyPr wrap="square" rtlCol="0">
              <a:spAutoFit/>
            </a:bodyPr>
            <a:lstStyle/>
            <a:p>
              <a:pPr algn="ctr"/>
              <a:r>
                <a:rPr lang="en-US" sz="1200" dirty="0"/>
                <a:t>Bootstrap Sampling Distribution</a:t>
              </a:r>
            </a:p>
          </p:txBody>
        </p:sp>
        <p:sp>
          <p:nvSpPr>
            <p:cNvPr id="83" name="Rectangle 82">
              <a:extLst>
                <a:ext uri="{FF2B5EF4-FFF2-40B4-BE49-F238E27FC236}">
                  <a16:creationId xmlns:a16="http://schemas.microsoft.com/office/drawing/2014/main" id="{923796A9-C9A8-B944-E416-01CC02D3D94B}"/>
                </a:ext>
              </a:extLst>
            </p:cNvPr>
            <p:cNvSpPr/>
            <p:nvPr/>
          </p:nvSpPr>
          <p:spPr>
            <a:xfrm>
              <a:off x="9380578" y="5994290"/>
              <a:ext cx="124121" cy="84639"/>
            </a:xfrm>
            <a:prstGeom prst="rect">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700" dirty="0"/>
            </a:p>
          </p:txBody>
        </p:sp>
        <p:cxnSp>
          <p:nvCxnSpPr>
            <p:cNvPr id="62" name="Straight Connector 61">
              <a:extLst>
                <a:ext uri="{FF2B5EF4-FFF2-40B4-BE49-F238E27FC236}">
                  <a16:creationId xmlns:a16="http://schemas.microsoft.com/office/drawing/2014/main" id="{44660FF7-519A-D6FC-D29C-8F62CAFCDCF6}"/>
                </a:ext>
              </a:extLst>
            </p:cNvPr>
            <p:cNvCxnSpPr>
              <a:cxnSpLocks/>
            </p:cNvCxnSpPr>
            <p:nvPr/>
          </p:nvCxnSpPr>
          <p:spPr>
            <a:xfrm flipV="1">
              <a:off x="7553157" y="6080244"/>
              <a:ext cx="1951192" cy="53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357579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B72B44-ED1F-042B-A148-1FFFA9B8FE1E}"/>
              </a:ext>
            </a:extLst>
          </p:cNvPr>
          <p:cNvSpPr>
            <a:spLocks noGrp="1"/>
          </p:cNvSpPr>
          <p:nvPr>
            <p:ph type="title"/>
          </p:nvPr>
        </p:nvSpPr>
        <p:spPr/>
        <p:txBody>
          <a:bodyPr/>
          <a:lstStyle/>
          <a:p>
            <a:r>
              <a:rPr lang="en-US" dirty="0"/>
              <a:t>Bootstrapping in MLR</a:t>
            </a:r>
          </a:p>
        </p:txBody>
      </p:sp>
      <p:sp>
        <p:nvSpPr>
          <p:cNvPr id="5" name="Content Placeholder 4">
            <a:extLst>
              <a:ext uri="{FF2B5EF4-FFF2-40B4-BE49-F238E27FC236}">
                <a16:creationId xmlns:a16="http://schemas.microsoft.com/office/drawing/2014/main" id="{372E6DF1-1822-3C40-6495-58E61A9002C9}"/>
              </a:ext>
            </a:extLst>
          </p:cNvPr>
          <p:cNvSpPr>
            <a:spLocks noGrp="1"/>
          </p:cNvSpPr>
          <p:nvPr>
            <p:ph idx="1"/>
          </p:nvPr>
        </p:nvSpPr>
        <p:spPr/>
        <p:txBody>
          <a:bodyPr/>
          <a:lstStyle/>
          <a:p>
            <a:pPr marL="0" indent="0">
              <a:buNone/>
            </a:pPr>
            <a:r>
              <a:rPr lang="en-US" dirty="0"/>
              <a:t>Two main approaches</a:t>
            </a:r>
          </a:p>
          <a:p>
            <a:pPr marL="514350" indent="-514350">
              <a:buFont typeface="+mj-lt"/>
              <a:buAutoNum type="arabicPeriod"/>
            </a:pPr>
            <a:r>
              <a:rPr lang="en-US" dirty="0"/>
              <a:t>Bootstrapping pairs: good for when assumptions of normality and/or constant variance is not met</a:t>
            </a:r>
          </a:p>
          <a:p>
            <a:pPr marL="514350" indent="-514350">
              <a:buFont typeface="+mj-lt"/>
              <a:buAutoNum type="arabicPeriod"/>
            </a:pPr>
            <a:r>
              <a:rPr lang="en-US" dirty="0"/>
              <a:t>Bootstrapping residuals: good for normality assumption and dealing with leverage</a:t>
            </a:r>
          </a:p>
          <a:p>
            <a:pPr lvl="1"/>
            <a:r>
              <a:rPr lang="en-US" dirty="0"/>
              <a:t>Special type: wild bootstrap good for constant variance issue</a:t>
            </a:r>
          </a:p>
        </p:txBody>
      </p:sp>
    </p:spTree>
    <p:extLst>
      <p:ext uri="{BB962C8B-B14F-4D97-AF65-F5344CB8AC3E}">
        <p14:creationId xmlns:p14="http://schemas.microsoft.com/office/powerpoint/2010/main" val="1691658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9496A-C2A2-81FB-73EC-4AE990D9AC9C}"/>
              </a:ext>
            </a:extLst>
          </p:cNvPr>
          <p:cNvSpPr>
            <a:spLocks noGrp="1"/>
          </p:cNvSpPr>
          <p:nvPr>
            <p:ph type="title"/>
          </p:nvPr>
        </p:nvSpPr>
        <p:spPr/>
        <p:txBody>
          <a:bodyPr/>
          <a:lstStyle/>
          <a:p>
            <a:r>
              <a:rPr lang="en-US" dirty="0"/>
              <a:t>Bootstrapping Pairs</a:t>
            </a:r>
          </a:p>
        </p:txBody>
      </p:sp>
      <p:sp>
        <p:nvSpPr>
          <p:cNvPr id="3" name="Content Placeholder 2">
            <a:extLst>
              <a:ext uri="{FF2B5EF4-FFF2-40B4-BE49-F238E27FC236}">
                <a16:creationId xmlns:a16="http://schemas.microsoft.com/office/drawing/2014/main" id="{150FB6A1-5F1B-C21A-3DD0-4C360AD3AA48}"/>
              </a:ext>
            </a:extLst>
          </p:cNvPr>
          <p:cNvSpPr>
            <a:spLocks noGrp="1"/>
          </p:cNvSpPr>
          <p:nvPr>
            <p:ph idx="1"/>
          </p:nvPr>
        </p:nvSpPr>
        <p:spPr/>
        <p:txBody>
          <a:bodyPr/>
          <a:lstStyle/>
          <a:p>
            <a:pPr marL="0" indent="0">
              <a:buNone/>
            </a:pPr>
            <a:r>
              <a:rPr lang="en-US" dirty="0"/>
              <a:t>Works the same as previously described</a:t>
            </a:r>
          </a:p>
          <a:p>
            <a:r>
              <a:rPr lang="en-US" dirty="0"/>
              <a:t>Sample with replacement of each row of the data set</a:t>
            </a:r>
          </a:p>
          <a:p>
            <a:r>
              <a:rPr lang="en-US" dirty="0"/>
              <a:t>Each observed response value will always be paired with its observed explanatory values</a:t>
            </a:r>
          </a:p>
          <a:p>
            <a:r>
              <a:rPr lang="en-US" dirty="0"/>
              <a:t>Estimate all regression coefficients for each bootstrap sample so that a sampling distribution for each coefficient is available</a:t>
            </a:r>
          </a:p>
        </p:txBody>
      </p:sp>
    </p:spTree>
    <p:extLst>
      <p:ext uri="{BB962C8B-B14F-4D97-AF65-F5344CB8AC3E}">
        <p14:creationId xmlns:p14="http://schemas.microsoft.com/office/powerpoint/2010/main" val="3348535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7E156-DF7C-BD6E-C96C-60C94CC9D270}"/>
              </a:ext>
            </a:extLst>
          </p:cNvPr>
          <p:cNvSpPr>
            <a:spLocks noGrp="1"/>
          </p:cNvSpPr>
          <p:nvPr>
            <p:ph type="title"/>
          </p:nvPr>
        </p:nvSpPr>
        <p:spPr/>
        <p:txBody>
          <a:bodyPr/>
          <a:lstStyle/>
          <a:p>
            <a:r>
              <a:rPr lang="en-US" dirty="0"/>
              <a:t>Bootstrapping Residuals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8424A7A-5019-C34A-E646-4027D82A8F60}"/>
                  </a:ext>
                </a:extLst>
              </p:cNvPr>
              <p:cNvSpPr>
                <a:spLocks noGrp="1"/>
              </p:cNvSpPr>
              <p:nvPr>
                <p:ph idx="1"/>
              </p:nvPr>
            </p:nvSpPr>
            <p:spPr/>
            <p:txBody>
              <a:bodyPr/>
              <a:lstStyle/>
              <a:p>
                <a:r>
                  <a:rPr lang="en-US" dirty="0"/>
                  <a:t>General model </a:t>
                </a:r>
                <a14:m>
                  <m:oMath xmlns:m="http://schemas.openxmlformats.org/officeDocument/2006/math">
                    <m:r>
                      <a:rPr lang="en-US" smtClean="0">
                        <a:latin typeface="Cambria Math" panose="02040503050406030204" pitchFamily="18" charset="0"/>
                      </a:rPr>
                      <m:t>𝑌</m:t>
                    </m:r>
                    <m:r>
                      <a:rPr lang="en-US" smtClean="0">
                        <a:latin typeface="Cambria Math" panose="02040503050406030204" pitchFamily="18" charset="0"/>
                      </a:rPr>
                      <m:t>=</m:t>
                    </m:r>
                    <m:r>
                      <a:rPr lang="en-US" smtClean="0">
                        <a:latin typeface="Cambria Math" panose="02040503050406030204" pitchFamily="18" charset="0"/>
                      </a:rPr>
                      <m:t>𝑓</m:t>
                    </m:r>
                    <m:d>
                      <m:dPr>
                        <m:ctrlPr>
                          <a:rPr lang="en-US" i="1" smtClean="0">
                            <a:latin typeface="Cambria Math" panose="02040503050406030204" pitchFamily="18" charset="0"/>
                          </a:rPr>
                        </m:ctrlPr>
                      </m:dPr>
                      <m:e>
                        <m:r>
                          <a:rPr lang="en-US" smtClean="0">
                            <a:latin typeface="Cambria Math" panose="02040503050406030204" pitchFamily="18" charset="0"/>
                          </a:rPr>
                          <m:t>𝑥</m:t>
                        </m:r>
                      </m:e>
                    </m:d>
                    <m:r>
                      <a:rPr lang="en-US" smtClean="0">
                        <a:latin typeface="Cambria Math" panose="02040503050406030204" pitchFamily="18" charset="0"/>
                      </a:rPr>
                      <m:t>+</m:t>
                    </m:r>
                    <m:r>
                      <a:rPr lang="en-US" smtClean="0">
                        <a:latin typeface="Cambria Math" panose="02040503050406030204" pitchFamily="18" charset="0"/>
                      </a:rPr>
                      <m:t>𝜀</m:t>
                    </m:r>
                  </m:oMath>
                </a14:m>
                <a:r>
                  <a:rPr lang="en-US" dirty="0"/>
                  <a:t> is fitted to data</a:t>
                </a:r>
              </a:p>
              <a:p>
                <a:r>
                  <a:rPr lang="en-US" dirty="0"/>
                  <a:t>Residual are calculated as </a:t>
                </a:r>
                <a14:m>
                  <m:oMath xmlns:m="http://schemas.openxmlformats.org/officeDocument/2006/math">
                    <m:acc>
                      <m:accPr>
                        <m:chr m:val="̂"/>
                        <m:ctrlPr>
                          <a:rPr lang="en-US" i="1" smtClean="0">
                            <a:latin typeface="Cambria Math" panose="02040503050406030204" pitchFamily="18" charset="0"/>
                          </a:rPr>
                        </m:ctrlPr>
                      </m:accPr>
                      <m:e>
                        <m:r>
                          <a:rPr lang="en-US" smtClean="0">
                            <a:latin typeface="Cambria Math" panose="02040503050406030204" pitchFamily="18" charset="0"/>
                          </a:rPr>
                          <m:t>𝜀</m:t>
                        </m:r>
                      </m:e>
                    </m:acc>
                    <m:r>
                      <a:rPr lang="en-US" smtClean="0">
                        <a:latin typeface="Cambria Math" panose="02040503050406030204" pitchFamily="18" charset="0"/>
                      </a:rPr>
                      <m:t>=</m:t>
                    </m:r>
                    <m:r>
                      <a:rPr lang="en-US" smtClean="0">
                        <a:latin typeface="Cambria Math" panose="02040503050406030204" pitchFamily="18" charset="0"/>
                      </a:rPr>
                      <m:t>𝑦</m:t>
                    </m:r>
                    <m:r>
                      <a:rPr lang="en-US" smtClean="0">
                        <a:latin typeface="Cambria Math" panose="02040503050406030204" pitchFamily="18" charset="0"/>
                      </a:rPr>
                      <m:t>−</m:t>
                    </m:r>
                    <m:acc>
                      <m:accPr>
                        <m:chr m:val="̂"/>
                        <m:ctrlPr>
                          <a:rPr lang="en-US" i="1" smtClean="0">
                            <a:latin typeface="Cambria Math" panose="02040503050406030204" pitchFamily="18" charset="0"/>
                          </a:rPr>
                        </m:ctrlPr>
                      </m:accPr>
                      <m:e>
                        <m:r>
                          <a:rPr lang="en-US" smtClean="0">
                            <a:latin typeface="Cambria Math" panose="02040503050406030204" pitchFamily="18" charset="0"/>
                          </a:rPr>
                          <m:t>𝑓</m:t>
                        </m:r>
                      </m:e>
                    </m:acc>
                    <m:r>
                      <a:rPr lang="en-US" smtClean="0">
                        <a:latin typeface="Cambria Math" panose="02040503050406030204" pitchFamily="18" charset="0"/>
                      </a:rPr>
                      <m:t>(</m:t>
                    </m:r>
                    <m:r>
                      <a:rPr lang="en-US" smtClean="0">
                        <a:latin typeface="Cambria Math" panose="02040503050406030204" pitchFamily="18" charset="0"/>
                      </a:rPr>
                      <m:t>𝑥</m:t>
                    </m:r>
                    <m:r>
                      <a:rPr lang="en-US" smtClean="0">
                        <a:latin typeface="Cambria Math" panose="02040503050406030204" pitchFamily="18" charset="0"/>
                      </a:rPr>
                      <m:t>)</m:t>
                    </m:r>
                  </m:oMath>
                </a14:m>
                <a:r>
                  <a:rPr lang="en-US" dirty="0"/>
                  <a:t> from the fitted data</a:t>
                </a:r>
              </a:p>
              <a:p>
                <a:r>
                  <a:rPr lang="en-US" dirty="0"/>
                  <a:t>Create bootstrap resamples of the residuals</a:t>
                </a:r>
              </a:p>
              <a:p>
                <a:r>
                  <a:rPr lang="en-US" dirty="0"/>
                  <a:t>For each bootstrap resample of residuals:</a:t>
                </a:r>
              </a:p>
              <a:p>
                <a:pPr lvl="1"/>
                <a:r>
                  <a:rPr lang="en-US" dirty="0"/>
                  <a:t>Create a new bootstrapped response using each of the bootstrap residuals with the equation </a:t>
                </a:r>
                <a14:m>
                  <m:oMath xmlns:m="http://schemas.openxmlformats.org/officeDocument/2006/math">
                    <m:sSub>
                      <m:sSubPr>
                        <m:ctrlPr>
                          <a:rPr lang="en-US" i="1" smtClean="0">
                            <a:latin typeface="Cambria Math" panose="02040503050406030204" pitchFamily="18" charset="0"/>
                          </a:rPr>
                        </m:ctrlPr>
                      </m:sSubPr>
                      <m:e>
                        <m:r>
                          <a:rPr lang="en-US">
                            <a:latin typeface="Cambria Math" panose="02040503050406030204" pitchFamily="18" charset="0"/>
                          </a:rPr>
                          <m:t>𝑌</m:t>
                        </m:r>
                      </m:e>
                      <m:sub>
                        <m:r>
                          <a:rPr lang="en-US" smtClean="0">
                            <a:latin typeface="Cambria Math" panose="02040503050406030204" pitchFamily="18" charset="0"/>
                          </a:rPr>
                          <m:t>𝑏𝑜𝑜𝑡</m:t>
                        </m:r>
                      </m:sub>
                    </m:sSub>
                    <m:r>
                      <a:rPr lang="en-US">
                        <a:latin typeface="Cambria Math" panose="02040503050406030204" pitchFamily="18" charset="0"/>
                      </a:rPr>
                      <m:t>=</m:t>
                    </m:r>
                    <m:acc>
                      <m:accPr>
                        <m:chr m:val="̂"/>
                        <m:ctrlPr>
                          <a:rPr lang="en-US" i="1">
                            <a:latin typeface="Cambria Math" panose="02040503050406030204" pitchFamily="18" charset="0"/>
                          </a:rPr>
                        </m:ctrlPr>
                      </m:accPr>
                      <m:e>
                        <m:r>
                          <a:rPr lang="en-US">
                            <a:latin typeface="Cambria Math" panose="02040503050406030204" pitchFamily="18" charset="0"/>
                          </a:rPr>
                          <m:t>𝑓</m:t>
                        </m:r>
                      </m:e>
                    </m:acc>
                    <m:r>
                      <a:rPr lang="en-US">
                        <a:latin typeface="Cambria Math" panose="02040503050406030204" pitchFamily="18" charset="0"/>
                      </a:rPr>
                      <m:t>(</m:t>
                    </m:r>
                    <m:r>
                      <a:rPr lang="en-US">
                        <a:latin typeface="Cambria Math" panose="02040503050406030204" pitchFamily="18" charset="0"/>
                      </a:rPr>
                      <m:t>𝑥</m:t>
                    </m:r>
                    <m:r>
                      <a:rPr lang="en-US">
                        <a:latin typeface="Cambria Math" panose="02040503050406030204" pitchFamily="18" charset="0"/>
                      </a:rPr>
                      <m:t>)+</m:t>
                    </m:r>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a:latin typeface="Cambria Math" panose="02040503050406030204" pitchFamily="18" charset="0"/>
                              </a:rPr>
                              <m:t>𝜀</m:t>
                            </m:r>
                          </m:e>
                        </m:acc>
                      </m:e>
                      <m:sub>
                        <m:r>
                          <a:rPr lang="en-US" smtClean="0">
                            <a:latin typeface="Cambria Math" panose="02040503050406030204" pitchFamily="18" charset="0"/>
                          </a:rPr>
                          <m:t>𝑏𝑜𝑜𝑡</m:t>
                        </m:r>
                      </m:sub>
                    </m:sSub>
                  </m:oMath>
                </a14:m>
                <a:endParaRPr lang="en-US" dirty="0"/>
              </a:p>
              <a:p>
                <a:pPr lvl="1"/>
                <a:r>
                  <a:rPr lang="en-US" dirty="0"/>
                  <a:t>Estimate the new regression coefficients from this data set to obtain sampling distribution</a:t>
                </a:r>
              </a:p>
            </p:txBody>
          </p:sp>
        </mc:Choice>
        <mc:Fallback xmlns="">
          <p:sp>
            <p:nvSpPr>
              <p:cNvPr id="3" name="Content Placeholder 2">
                <a:extLst>
                  <a:ext uri="{FF2B5EF4-FFF2-40B4-BE49-F238E27FC236}">
                    <a16:creationId xmlns:a16="http://schemas.microsoft.com/office/drawing/2014/main" id="{C8424A7A-5019-C34A-E646-4027D82A8F60}"/>
                  </a:ext>
                </a:extLst>
              </p:cNvPr>
              <p:cNvSpPr>
                <a:spLocks noGrp="1" noRot="1" noChangeAspect="1" noMove="1" noResize="1" noEditPoints="1" noAdjustHandles="1" noChangeArrowheads="1" noChangeShapeType="1" noTextEdit="1"/>
              </p:cNvSpPr>
              <p:nvPr>
                <p:ph idx="1"/>
              </p:nvPr>
            </p:nvSpPr>
            <p:spPr>
              <a:blipFill>
                <a:blip r:embed="rId2"/>
                <a:stretch>
                  <a:fillRect l="-1278" t="-1752" b="-6873"/>
                </a:stretch>
              </a:blipFill>
            </p:spPr>
            <p:txBody>
              <a:bodyPr/>
              <a:lstStyle/>
              <a:p>
                <a:r>
                  <a:rPr lang="en-US">
                    <a:noFill/>
                  </a:rPr>
                  <a:t> </a:t>
                </a:r>
              </a:p>
            </p:txBody>
          </p:sp>
        </mc:Fallback>
      </mc:AlternateContent>
    </p:spTree>
    <p:extLst>
      <p:ext uri="{BB962C8B-B14F-4D97-AF65-F5344CB8AC3E}">
        <p14:creationId xmlns:p14="http://schemas.microsoft.com/office/powerpoint/2010/main" val="3500290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BF27A-0645-F100-3351-FB1F513998C9}"/>
              </a:ext>
            </a:extLst>
          </p:cNvPr>
          <p:cNvSpPr>
            <a:spLocks noGrp="1"/>
          </p:cNvSpPr>
          <p:nvPr>
            <p:ph type="title"/>
          </p:nvPr>
        </p:nvSpPr>
        <p:spPr>
          <a:xfrm>
            <a:off x="609600" y="228600"/>
            <a:ext cx="10972800" cy="1143000"/>
          </a:xfrm>
        </p:spPr>
        <p:txBody>
          <a:bodyPr>
            <a:noAutofit/>
          </a:bodyPr>
          <a:lstStyle/>
          <a:p>
            <a:r>
              <a:rPr lang="en-US" sz="3200" dirty="0"/>
              <a:t>Bootstrapping Pairs</a:t>
            </a:r>
          </a:p>
        </p:txBody>
      </p:sp>
      <p:pic>
        <p:nvPicPr>
          <p:cNvPr id="10" name="Content Placeholder 7">
            <a:extLst>
              <a:ext uri="{FF2B5EF4-FFF2-40B4-BE49-F238E27FC236}">
                <a16:creationId xmlns:a16="http://schemas.microsoft.com/office/drawing/2014/main" id="{8A7247B8-4309-ED89-3C0A-952641BB32EF}"/>
              </a:ext>
            </a:extLst>
          </p:cNvPr>
          <p:cNvPicPr>
            <a:picLocks noChangeAspect="1"/>
          </p:cNvPicPr>
          <p:nvPr/>
        </p:nvPicPr>
        <p:blipFill>
          <a:blip r:embed="rId2"/>
          <a:stretch>
            <a:fillRect/>
          </a:stretch>
        </p:blipFill>
        <p:spPr>
          <a:xfrm>
            <a:off x="962819" y="2590800"/>
            <a:ext cx="4683009" cy="3951288"/>
          </a:xfrm>
          <a:prstGeom prst="rect">
            <a:avLst/>
          </a:prstGeom>
        </p:spPr>
      </p:pic>
      <p:sp>
        <p:nvSpPr>
          <p:cNvPr id="11" name="Text Placeholder 14">
            <a:extLst>
              <a:ext uri="{FF2B5EF4-FFF2-40B4-BE49-F238E27FC236}">
                <a16:creationId xmlns:a16="http://schemas.microsoft.com/office/drawing/2014/main" id="{A76930C2-DF48-4AA8-BDAE-5FFDC0EB9BB6}"/>
              </a:ext>
            </a:extLst>
          </p:cNvPr>
          <p:cNvSpPr txBox="1">
            <a:spLocks/>
          </p:cNvSpPr>
          <p:nvPr/>
        </p:nvSpPr>
        <p:spPr>
          <a:xfrm>
            <a:off x="6192838" y="1499698"/>
            <a:ext cx="5389562" cy="962147"/>
          </a:xfrm>
          <a:prstGeom prst="rect">
            <a:avLst/>
          </a:prstGeom>
        </p:spPr>
        <p:txBody>
          <a:bodyPr vert="horz" lIns="91440" tIns="45720" rIns="91440" bIns="45720" rtlCol="0">
            <a:noAutofit/>
          </a:bodyPr>
          <a:lst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sz="2800" b="1" dirty="0"/>
              <a:t>Nonconstant variance property is represented!</a:t>
            </a:r>
          </a:p>
        </p:txBody>
      </p:sp>
      <p:pic>
        <p:nvPicPr>
          <p:cNvPr id="13" name="Content Placeholder 11">
            <a:extLst>
              <a:ext uri="{FF2B5EF4-FFF2-40B4-BE49-F238E27FC236}">
                <a16:creationId xmlns:a16="http://schemas.microsoft.com/office/drawing/2014/main" id="{770F5E28-4050-2A2A-0E87-9ED6559BBE66}"/>
              </a:ext>
            </a:extLst>
          </p:cNvPr>
          <p:cNvPicPr>
            <a:picLocks noChangeAspect="1"/>
          </p:cNvPicPr>
          <p:nvPr/>
        </p:nvPicPr>
        <p:blipFill>
          <a:blip r:embed="rId3"/>
          <a:stretch>
            <a:fillRect/>
          </a:stretch>
        </p:blipFill>
        <p:spPr>
          <a:xfrm>
            <a:off x="6546056" y="2590800"/>
            <a:ext cx="4683125" cy="3951288"/>
          </a:xfrm>
          <a:prstGeom prst="rect">
            <a:avLst/>
          </a:prstGeom>
        </p:spPr>
      </p:pic>
    </p:spTree>
    <p:extLst>
      <p:ext uri="{BB962C8B-B14F-4D97-AF65-F5344CB8AC3E}">
        <p14:creationId xmlns:p14="http://schemas.microsoft.com/office/powerpoint/2010/main" val="2065006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BD30A-73E0-2190-DF00-9C63DF407645}"/>
              </a:ext>
            </a:extLst>
          </p:cNvPr>
          <p:cNvSpPr>
            <a:spLocks noGrp="1"/>
          </p:cNvSpPr>
          <p:nvPr>
            <p:ph type="title"/>
          </p:nvPr>
        </p:nvSpPr>
        <p:spPr/>
        <p:txBody>
          <a:bodyPr>
            <a:noAutofit/>
          </a:bodyPr>
          <a:lstStyle/>
          <a:p>
            <a:r>
              <a:rPr lang="en-US" sz="3200" dirty="0"/>
              <a:t>Bootstrapping Residuals</a:t>
            </a:r>
          </a:p>
        </p:txBody>
      </p:sp>
      <p:pic>
        <p:nvPicPr>
          <p:cNvPr id="8" name="Content Placeholder 7">
            <a:extLst>
              <a:ext uri="{FF2B5EF4-FFF2-40B4-BE49-F238E27FC236}">
                <a16:creationId xmlns:a16="http://schemas.microsoft.com/office/drawing/2014/main" id="{DFD37A84-4D51-8456-6EE7-6036B319B1ED}"/>
              </a:ext>
            </a:extLst>
          </p:cNvPr>
          <p:cNvPicPr>
            <a:picLocks noGrp="1" noChangeAspect="1"/>
          </p:cNvPicPr>
          <p:nvPr>
            <p:ph sz="half" idx="4294967295"/>
          </p:nvPr>
        </p:nvPicPr>
        <p:blipFill>
          <a:blip r:embed="rId2"/>
          <a:stretch>
            <a:fillRect/>
          </a:stretch>
        </p:blipFill>
        <p:spPr>
          <a:xfrm>
            <a:off x="960120" y="2587752"/>
            <a:ext cx="4681538" cy="3951288"/>
          </a:xfrm>
        </p:spPr>
      </p:pic>
      <p:sp>
        <p:nvSpPr>
          <p:cNvPr id="6" name="Text Placeholder 5">
            <a:extLst>
              <a:ext uri="{FF2B5EF4-FFF2-40B4-BE49-F238E27FC236}">
                <a16:creationId xmlns:a16="http://schemas.microsoft.com/office/drawing/2014/main" id="{3257E911-52A3-E557-468A-53B82FEB4A26}"/>
              </a:ext>
            </a:extLst>
          </p:cNvPr>
          <p:cNvSpPr>
            <a:spLocks noGrp="1"/>
          </p:cNvSpPr>
          <p:nvPr>
            <p:ph type="body" sz="quarter" idx="4294967295"/>
          </p:nvPr>
        </p:nvSpPr>
        <p:spPr>
          <a:xfrm>
            <a:off x="6192838" y="1499616"/>
            <a:ext cx="5389562" cy="906462"/>
          </a:xfrm>
        </p:spPr>
        <p:txBody>
          <a:bodyPr>
            <a:noAutofit/>
          </a:bodyPr>
          <a:lstStyle/>
          <a:p>
            <a:pPr marL="0" indent="0" algn="ctr">
              <a:buNone/>
            </a:pPr>
            <a:r>
              <a:rPr lang="en-US" sz="2800" b="1" dirty="0"/>
              <a:t>Nonconstant variance property is not represented!</a:t>
            </a:r>
          </a:p>
        </p:txBody>
      </p:sp>
      <p:pic>
        <p:nvPicPr>
          <p:cNvPr id="9" name="Content Placeholder 8">
            <a:extLst>
              <a:ext uri="{FF2B5EF4-FFF2-40B4-BE49-F238E27FC236}">
                <a16:creationId xmlns:a16="http://schemas.microsoft.com/office/drawing/2014/main" id="{2A61FB29-AEFB-E5F9-320F-A3E0B0459D01}"/>
              </a:ext>
            </a:extLst>
          </p:cNvPr>
          <p:cNvPicPr>
            <a:picLocks noGrp="1" noChangeAspect="1"/>
          </p:cNvPicPr>
          <p:nvPr>
            <p:ph sz="quarter" idx="4294967295"/>
          </p:nvPr>
        </p:nvPicPr>
        <p:blipFill>
          <a:blip r:embed="rId3"/>
          <a:stretch>
            <a:fillRect/>
          </a:stretch>
        </p:blipFill>
        <p:spPr>
          <a:xfrm>
            <a:off x="6546056" y="2587752"/>
            <a:ext cx="4683125" cy="3951288"/>
          </a:xfrm>
        </p:spPr>
      </p:pic>
    </p:spTree>
    <p:extLst>
      <p:ext uri="{BB962C8B-B14F-4D97-AF65-F5344CB8AC3E}">
        <p14:creationId xmlns:p14="http://schemas.microsoft.com/office/powerpoint/2010/main" val="158764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6800-A27F-1B4A-9BF6-E3FDFD0C8472}"/>
              </a:ext>
            </a:extLst>
          </p:cNvPr>
          <p:cNvSpPr>
            <a:spLocks noGrp="1"/>
          </p:cNvSpPr>
          <p:nvPr>
            <p:ph type="title"/>
          </p:nvPr>
        </p:nvSpPr>
        <p:spPr/>
        <p:txBody>
          <a:bodyPr/>
          <a:lstStyle/>
          <a:p>
            <a:r>
              <a:rPr lang="en-US" dirty="0"/>
              <a:t>Considerations</a:t>
            </a:r>
          </a:p>
        </p:txBody>
      </p:sp>
      <p:sp>
        <p:nvSpPr>
          <p:cNvPr id="3" name="Content Placeholder 2">
            <a:extLst>
              <a:ext uri="{FF2B5EF4-FFF2-40B4-BE49-F238E27FC236}">
                <a16:creationId xmlns:a16="http://schemas.microsoft.com/office/drawing/2014/main" id="{C423D606-2E2B-FD80-BE9B-924BF6CCBB0C}"/>
              </a:ext>
            </a:extLst>
          </p:cNvPr>
          <p:cNvSpPr>
            <a:spLocks noGrp="1"/>
          </p:cNvSpPr>
          <p:nvPr>
            <p:ph idx="1"/>
          </p:nvPr>
        </p:nvSpPr>
        <p:spPr/>
        <p:txBody>
          <a:bodyPr/>
          <a:lstStyle/>
          <a:p>
            <a:r>
              <a:rPr lang="en-US" dirty="0"/>
              <a:t>Independence of each observation is still needed</a:t>
            </a:r>
          </a:p>
          <a:p>
            <a:r>
              <a:rPr lang="en-US" dirty="0"/>
              <a:t>If there is a constant variance issue, do not consider bootstrapping residuals unless incorporating a modified method such as the wild bootstrap</a:t>
            </a:r>
          </a:p>
          <a:p>
            <a:r>
              <a:rPr lang="en-US" dirty="0"/>
              <a:t>Categorical variables with low sample sizes in some of the levels</a:t>
            </a:r>
          </a:p>
          <a:p>
            <a:pPr lvl="1"/>
            <a:r>
              <a:rPr lang="en-US" dirty="0"/>
              <a:t>Consider collapsing levels before starting</a:t>
            </a:r>
          </a:p>
        </p:txBody>
      </p:sp>
    </p:spTree>
    <p:extLst>
      <p:ext uri="{BB962C8B-B14F-4D97-AF65-F5344CB8AC3E}">
        <p14:creationId xmlns:p14="http://schemas.microsoft.com/office/powerpoint/2010/main" val="234903980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2EB9F-3B6D-C133-1586-3C23483F0CCB}"/>
              </a:ext>
            </a:extLst>
          </p:cNvPr>
          <p:cNvSpPr>
            <a:spLocks noGrp="1"/>
          </p:cNvSpPr>
          <p:nvPr>
            <p:ph type="title"/>
          </p:nvPr>
        </p:nvSpPr>
        <p:spPr/>
        <p:txBody>
          <a:bodyPr>
            <a:noAutofit/>
          </a:bodyPr>
          <a:lstStyle/>
          <a:p>
            <a:r>
              <a:rPr lang="en-US" dirty="0"/>
              <a:t>Ensembling Visual (cont.)</a:t>
            </a:r>
          </a:p>
        </p:txBody>
      </p:sp>
      <p:pic>
        <p:nvPicPr>
          <p:cNvPr id="6" name="Content Placeholder 5">
            <a:extLst>
              <a:ext uri="{FF2B5EF4-FFF2-40B4-BE49-F238E27FC236}">
                <a16:creationId xmlns:a16="http://schemas.microsoft.com/office/drawing/2014/main" id="{66211274-3D0F-7DE7-E486-38E029BA3B96}"/>
              </a:ext>
            </a:extLst>
          </p:cNvPr>
          <p:cNvPicPr>
            <a:picLocks noGrp="1" noChangeAspect="1"/>
          </p:cNvPicPr>
          <p:nvPr>
            <p:ph idx="1"/>
          </p:nvPr>
        </p:nvPicPr>
        <p:blipFill rotWithShape="1">
          <a:blip r:embed="rId2"/>
          <a:srcRect t="6094"/>
          <a:stretch/>
        </p:blipFill>
        <p:spPr>
          <a:xfrm>
            <a:off x="2971639" y="1752600"/>
            <a:ext cx="6248721" cy="4951061"/>
          </a:xfrm>
        </p:spPr>
      </p:pic>
      <p:sp>
        <p:nvSpPr>
          <p:cNvPr id="8" name="Rounded Rectangle 212">
            <a:extLst>
              <a:ext uri="{FF2B5EF4-FFF2-40B4-BE49-F238E27FC236}">
                <a16:creationId xmlns:a16="http://schemas.microsoft.com/office/drawing/2014/main" id="{E8B5F0F2-063E-03FF-C34C-ACCECC903753}"/>
              </a:ext>
            </a:extLst>
          </p:cNvPr>
          <p:cNvSpPr/>
          <p:nvPr/>
        </p:nvSpPr>
        <p:spPr>
          <a:xfrm>
            <a:off x="9144000" y="4953000"/>
            <a:ext cx="2438400" cy="1553528"/>
          </a:xfrm>
          <a:prstGeom prst="roundRect">
            <a:avLst>
              <a:gd name="adj" fmla="val 11762"/>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Note how ensemble prediction (solid, blue line) smooths out the overfitting (dampens variance).</a:t>
            </a:r>
          </a:p>
        </p:txBody>
      </p:sp>
    </p:spTree>
    <p:extLst>
      <p:ext uri="{BB962C8B-B14F-4D97-AF65-F5344CB8AC3E}">
        <p14:creationId xmlns:p14="http://schemas.microsoft.com/office/powerpoint/2010/main" val="15834226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A43D8-CDDA-4C9F-87FC-D6BF3394066F}"/>
              </a:ext>
            </a:extLst>
          </p:cNvPr>
          <p:cNvSpPr>
            <a:spLocks noGrp="1"/>
          </p:cNvSpPr>
          <p:nvPr>
            <p:ph type="title"/>
          </p:nvPr>
        </p:nvSpPr>
        <p:spPr/>
        <p:txBody>
          <a:bodyPr/>
          <a:lstStyle/>
          <a:p>
            <a:r>
              <a:rPr lang="en-US" dirty="0"/>
              <a:t>Big Picture</a:t>
            </a:r>
          </a:p>
        </p:txBody>
      </p:sp>
      <p:sp>
        <p:nvSpPr>
          <p:cNvPr id="3" name="Content Placeholder 2">
            <a:extLst>
              <a:ext uri="{FF2B5EF4-FFF2-40B4-BE49-F238E27FC236}">
                <a16:creationId xmlns:a16="http://schemas.microsoft.com/office/drawing/2014/main" id="{270101FC-7C61-E8D9-752B-888DE8AA9624}"/>
              </a:ext>
            </a:extLst>
          </p:cNvPr>
          <p:cNvSpPr>
            <a:spLocks noGrp="1"/>
          </p:cNvSpPr>
          <p:nvPr>
            <p:ph idx="1"/>
          </p:nvPr>
        </p:nvSpPr>
        <p:spPr/>
        <p:txBody>
          <a:bodyPr/>
          <a:lstStyle/>
          <a:p>
            <a:pPr marL="0" indent="0">
              <a:buNone/>
            </a:pPr>
            <a:r>
              <a:rPr lang="en-US" dirty="0"/>
              <a:t>Ensembles are a “have your cake and eat it, too” approach to the bias-variance trade-off.</a:t>
            </a:r>
          </a:p>
          <a:p>
            <a:pPr marL="514350" indent="-514350">
              <a:buFont typeface="+mj-lt"/>
              <a:buAutoNum type="arabicPeriod"/>
            </a:pPr>
            <a:r>
              <a:rPr lang="en-US" dirty="0"/>
              <a:t>Fit models that suffer from high variance.</a:t>
            </a:r>
          </a:p>
          <a:p>
            <a:pPr marL="514350" indent="-514350">
              <a:buFont typeface="+mj-lt"/>
              <a:buAutoNum type="arabicPeriod"/>
            </a:pPr>
            <a:r>
              <a:rPr lang="en-US" dirty="0"/>
              <a:t>Dampen the variance by averaging.</a:t>
            </a:r>
          </a:p>
          <a:p>
            <a:pPr marL="514350" indent="-514350">
              <a:buFont typeface="+mj-lt"/>
              <a:buAutoNum type="arabicPeriod"/>
            </a:pPr>
            <a:r>
              <a:rPr lang="en-US" dirty="0"/>
              <a:t>Your final model could have low bias and lower variance.</a:t>
            </a:r>
          </a:p>
        </p:txBody>
      </p:sp>
    </p:spTree>
    <p:extLst>
      <p:ext uri="{BB962C8B-B14F-4D97-AF65-F5344CB8AC3E}">
        <p14:creationId xmlns:p14="http://schemas.microsoft.com/office/powerpoint/2010/main" val="218602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3AD46-2B4A-3F6D-3354-9C5ABB4EFC57}"/>
              </a:ext>
            </a:extLst>
          </p:cNvPr>
          <p:cNvSpPr>
            <a:spLocks noGrp="1"/>
          </p:cNvSpPr>
          <p:nvPr>
            <p:ph type="title"/>
          </p:nvPr>
        </p:nvSpPr>
        <p:spPr/>
        <p:txBody>
          <a:bodyPr/>
          <a:lstStyle/>
          <a:p>
            <a:r>
              <a:rPr lang="en-US" dirty="0"/>
              <a:t>Bootstrap Aggregation</a:t>
            </a:r>
          </a:p>
        </p:txBody>
      </p:sp>
      <p:sp>
        <p:nvSpPr>
          <p:cNvPr id="3" name="Content Placeholder 2">
            <a:extLst>
              <a:ext uri="{FF2B5EF4-FFF2-40B4-BE49-F238E27FC236}">
                <a16:creationId xmlns:a16="http://schemas.microsoft.com/office/drawing/2014/main" id="{04C9C1D2-D958-E124-C1CA-AB76DEEA93BC}"/>
              </a:ext>
            </a:extLst>
          </p:cNvPr>
          <p:cNvSpPr>
            <a:spLocks noGrp="1"/>
          </p:cNvSpPr>
          <p:nvPr>
            <p:ph idx="1"/>
          </p:nvPr>
        </p:nvSpPr>
        <p:spPr/>
        <p:txBody>
          <a:bodyPr/>
          <a:lstStyle/>
          <a:p>
            <a:r>
              <a:rPr lang="en-US" dirty="0"/>
              <a:t>Bootstrap aggregation (bagging) is a modification of the ensembling strategy to boost prediction performance of a </a:t>
            </a:r>
            <a:r>
              <a:rPr lang="en-US" b="1" dirty="0"/>
              <a:t>single modeling tool</a:t>
            </a:r>
            <a:r>
              <a:rPr lang="en-US" dirty="0"/>
              <a:t>.</a:t>
            </a:r>
            <a:endParaRPr lang="en-US" b="1" dirty="0"/>
          </a:p>
          <a:p>
            <a:r>
              <a:rPr lang="en-US" dirty="0"/>
              <a:t>Jargon: You can “bag” an MLR model or “bag” a tree model, etc.</a:t>
            </a:r>
          </a:p>
        </p:txBody>
      </p:sp>
    </p:spTree>
    <p:extLst>
      <p:ext uri="{BB962C8B-B14F-4D97-AF65-F5344CB8AC3E}">
        <p14:creationId xmlns:p14="http://schemas.microsoft.com/office/powerpoint/2010/main" val="3853084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3AD46-2B4A-3F6D-3354-9C5ABB4EFC57}"/>
              </a:ext>
            </a:extLst>
          </p:cNvPr>
          <p:cNvSpPr>
            <a:spLocks noGrp="1"/>
          </p:cNvSpPr>
          <p:nvPr>
            <p:ph type="title"/>
          </p:nvPr>
        </p:nvSpPr>
        <p:spPr/>
        <p:txBody>
          <a:bodyPr/>
          <a:lstStyle/>
          <a:p>
            <a:r>
              <a:rPr lang="en-US" dirty="0"/>
              <a:t>Bootstrap Aggregation (cont.)</a:t>
            </a:r>
          </a:p>
        </p:txBody>
      </p:sp>
      <p:sp>
        <p:nvSpPr>
          <p:cNvPr id="3" name="Content Placeholder 2">
            <a:extLst>
              <a:ext uri="{FF2B5EF4-FFF2-40B4-BE49-F238E27FC236}">
                <a16:creationId xmlns:a16="http://schemas.microsoft.com/office/drawing/2014/main" id="{04C9C1D2-D958-E124-C1CA-AB76DEEA93BC}"/>
              </a:ext>
            </a:extLst>
          </p:cNvPr>
          <p:cNvSpPr>
            <a:spLocks noGrp="1"/>
          </p:cNvSpPr>
          <p:nvPr>
            <p:ph idx="1"/>
          </p:nvPr>
        </p:nvSpPr>
        <p:spPr/>
        <p:txBody>
          <a:bodyPr/>
          <a:lstStyle/>
          <a:p>
            <a:r>
              <a:rPr lang="en-US" dirty="0"/>
              <a:t>Since the modeling tool doesn’t change, we will get the same predictive model when applied to the same data set, so there is no benefit of </a:t>
            </a:r>
            <a:r>
              <a:rPr lang="en-US" dirty="0" err="1"/>
              <a:t>ensembling</a:t>
            </a:r>
            <a:r>
              <a:rPr lang="en-US" dirty="0"/>
              <a:t>.</a:t>
            </a:r>
          </a:p>
          <a:p>
            <a:r>
              <a:rPr lang="en-US" dirty="0"/>
              <a:t>Solution: Get different model fits by using different data sets each time. Bootstrap resampling can do this for us!</a:t>
            </a:r>
          </a:p>
        </p:txBody>
      </p:sp>
    </p:spTree>
    <p:extLst>
      <p:ext uri="{BB962C8B-B14F-4D97-AF65-F5344CB8AC3E}">
        <p14:creationId xmlns:p14="http://schemas.microsoft.com/office/powerpoint/2010/main" val="3682741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03B3C-B7E7-6A09-95C3-CA33F66123B7}"/>
              </a:ext>
            </a:extLst>
          </p:cNvPr>
          <p:cNvSpPr>
            <a:spLocks noGrp="1"/>
          </p:cNvSpPr>
          <p:nvPr>
            <p:ph type="title"/>
          </p:nvPr>
        </p:nvSpPr>
        <p:spPr/>
        <p:txBody>
          <a:bodyPr/>
          <a:lstStyle/>
          <a:p>
            <a:r>
              <a:rPr lang="en-US" dirty="0"/>
              <a:t>Bagged Regression Tree</a:t>
            </a:r>
          </a:p>
        </p:txBody>
      </p:sp>
      <p:grpSp>
        <p:nvGrpSpPr>
          <p:cNvPr id="178" name="Group 177">
            <a:extLst>
              <a:ext uri="{FF2B5EF4-FFF2-40B4-BE49-F238E27FC236}">
                <a16:creationId xmlns:a16="http://schemas.microsoft.com/office/drawing/2014/main" id="{427A9AE0-A947-DB68-0CD4-54C3E74D5DC2}"/>
              </a:ext>
            </a:extLst>
          </p:cNvPr>
          <p:cNvGrpSpPr/>
          <p:nvPr/>
        </p:nvGrpSpPr>
        <p:grpSpPr>
          <a:xfrm>
            <a:off x="3186708" y="2529253"/>
            <a:ext cx="1346336" cy="493090"/>
            <a:chOff x="2873569" y="1644898"/>
            <a:chExt cx="1346336" cy="493090"/>
          </a:xfrm>
        </p:grpSpPr>
        <p:sp>
          <p:nvSpPr>
            <p:cNvPr id="147" name="Rounded Rectangle 146">
              <a:extLst>
                <a:ext uri="{FF2B5EF4-FFF2-40B4-BE49-F238E27FC236}">
                  <a16:creationId xmlns:a16="http://schemas.microsoft.com/office/drawing/2014/main" id="{C4D91A67-F23F-59EC-4942-B9CBAF5AFF93}"/>
                </a:ext>
              </a:extLst>
            </p:cNvPr>
            <p:cNvSpPr/>
            <p:nvPr/>
          </p:nvSpPr>
          <p:spPr>
            <a:xfrm>
              <a:off x="2873569" y="1644898"/>
              <a:ext cx="1346336" cy="493090"/>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Tree 1</a:t>
              </a:r>
            </a:p>
          </p:txBody>
        </p:sp>
        <p:grpSp>
          <p:nvGrpSpPr>
            <p:cNvPr id="100" name="Group 99">
              <a:extLst>
                <a:ext uri="{FF2B5EF4-FFF2-40B4-BE49-F238E27FC236}">
                  <a16:creationId xmlns:a16="http://schemas.microsoft.com/office/drawing/2014/main" id="{EC622B7F-B01E-8FB6-C8D3-A2B73D5FF6A2}"/>
                </a:ext>
              </a:extLst>
            </p:cNvPr>
            <p:cNvGrpSpPr/>
            <p:nvPr/>
          </p:nvGrpSpPr>
          <p:grpSpPr>
            <a:xfrm>
              <a:off x="2991864" y="1696713"/>
              <a:ext cx="394747" cy="389460"/>
              <a:chOff x="6268681" y="2169961"/>
              <a:chExt cx="2844800" cy="2806700"/>
            </a:xfrm>
          </p:grpSpPr>
          <p:pic>
            <p:nvPicPr>
              <p:cNvPr id="101" name="Picture 100">
                <a:extLst>
                  <a:ext uri="{FF2B5EF4-FFF2-40B4-BE49-F238E27FC236}">
                    <a16:creationId xmlns:a16="http://schemas.microsoft.com/office/drawing/2014/main" id="{54EB3229-7623-CE22-F1D5-DA6EDE0CEB4F}"/>
                  </a:ext>
                </a:extLst>
              </p:cNvPr>
              <p:cNvPicPr>
                <a:picLocks noChangeAspect="1"/>
              </p:cNvPicPr>
              <p:nvPr/>
            </p:nvPicPr>
            <p:blipFill>
              <a:blip r:embed="rId2"/>
              <a:stretch>
                <a:fillRect/>
              </a:stretch>
            </p:blipFill>
            <p:spPr>
              <a:xfrm>
                <a:off x="6268681" y="2169961"/>
                <a:ext cx="2844800" cy="2806700"/>
              </a:xfrm>
              <a:prstGeom prst="rect">
                <a:avLst/>
              </a:prstGeom>
            </p:spPr>
          </p:pic>
          <p:grpSp>
            <p:nvGrpSpPr>
              <p:cNvPr id="102" name="Group 101">
                <a:extLst>
                  <a:ext uri="{FF2B5EF4-FFF2-40B4-BE49-F238E27FC236}">
                    <a16:creationId xmlns:a16="http://schemas.microsoft.com/office/drawing/2014/main" id="{15A42C2E-B2F8-5DF4-63F7-0C2054D97EB6}"/>
                  </a:ext>
                </a:extLst>
              </p:cNvPr>
              <p:cNvGrpSpPr/>
              <p:nvPr/>
            </p:nvGrpSpPr>
            <p:grpSpPr>
              <a:xfrm>
                <a:off x="7271788" y="3089738"/>
                <a:ext cx="838586" cy="967601"/>
                <a:chOff x="13278886" y="7059948"/>
                <a:chExt cx="635751" cy="733560"/>
              </a:xfrm>
            </p:grpSpPr>
            <p:sp>
              <p:nvSpPr>
                <p:cNvPr id="106" name="Freeform: Shape 526">
                  <a:extLst>
                    <a:ext uri="{FF2B5EF4-FFF2-40B4-BE49-F238E27FC236}">
                      <a16:creationId xmlns:a16="http://schemas.microsoft.com/office/drawing/2014/main" id="{DEF7E5C3-D987-FDA1-C7B6-1F74EBC6C621}"/>
                    </a:ext>
                  </a:extLst>
                </p:cNvPr>
                <p:cNvSpPr/>
                <p:nvPr/>
              </p:nvSpPr>
              <p:spPr>
                <a:xfrm>
                  <a:off x="13278886" y="7059948"/>
                  <a:ext cx="635751" cy="733560"/>
                </a:xfrm>
                <a:custGeom>
                  <a:avLst/>
                  <a:gdLst/>
                  <a:ahLst/>
                  <a:cxnLst>
                    <a:cxn ang="3cd4">
                      <a:pos x="hc" y="t"/>
                    </a:cxn>
                    <a:cxn ang="cd2">
                      <a:pos x="l" y="vc"/>
                    </a:cxn>
                    <a:cxn ang="cd4">
                      <a:pos x="hc" y="b"/>
                    </a:cxn>
                    <a:cxn ang="0">
                      <a:pos x="r" y="vc"/>
                    </a:cxn>
                  </a:cxnLst>
                  <a:rect l="l" t="t" r="r" b="b"/>
                  <a:pathLst>
                    <a:path w="1418" h="1636">
                      <a:moveTo>
                        <a:pt x="708" y="0"/>
                      </a:moveTo>
                      <a:lnTo>
                        <a:pt x="2" y="410"/>
                      </a:lnTo>
                      <a:lnTo>
                        <a:pt x="0" y="1226"/>
                      </a:lnTo>
                      <a:lnTo>
                        <a:pt x="711" y="1636"/>
                      </a:lnTo>
                      <a:lnTo>
                        <a:pt x="1416" y="1226"/>
                      </a:lnTo>
                      <a:lnTo>
                        <a:pt x="1418" y="410"/>
                      </a:lnTo>
                      <a:close/>
                    </a:path>
                  </a:pathLst>
                </a:custGeom>
                <a:solidFill>
                  <a:schemeClr val="accent6"/>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07" name="Freeform: Shape 527">
                  <a:extLst>
                    <a:ext uri="{FF2B5EF4-FFF2-40B4-BE49-F238E27FC236}">
                      <a16:creationId xmlns:a16="http://schemas.microsoft.com/office/drawing/2014/main" id="{F81E4024-BDE6-95CC-53D7-D3C25663C463}"/>
                    </a:ext>
                  </a:extLst>
                </p:cNvPr>
                <p:cNvSpPr/>
                <p:nvPr/>
              </p:nvSpPr>
              <p:spPr>
                <a:xfrm>
                  <a:off x="13597436" y="7243899"/>
                  <a:ext cx="316755" cy="549608"/>
                </a:xfrm>
                <a:custGeom>
                  <a:avLst/>
                  <a:gdLst/>
                  <a:ahLst/>
                  <a:cxnLst>
                    <a:cxn ang="3cd4">
                      <a:pos x="hc" y="t"/>
                    </a:cxn>
                    <a:cxn ang="cd2">
                      <a:pos x="l" y="vc"/>
                    </a:cxn>
                    <a:cxn ang="cd4">
                      <a:pos x="hc" y="b"/>
                    </a:cxn>
                    <a:cxn ang="0">
                      <a:pos x="r" y="vc"/>
                    </a:cxn>
                  </a:cxnLst>
                  <a:rect l="l" t="t" r="r" b="b"/>
                  <a:pathLst>
                    <a:path w="707" h="1226">
                      <a:moveTo>
                        <a:pt x="707" y="0"/>
                      </a:moveTo>
                      <a:lnTo>
                        <a:pt x="705" y="816"/>
                      </a:lnTo>
                      <a:lnTo>
                        <a:pt x="0" y="1226"/>
                      </a:lnTo>
                      <a:lnTo>
                        <a:pt x="1"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08" name="Freeform: Shape 528">
                  <a:extLst>
                    <a:ext uri="{FF2B5EF4-FFF2-40B4-BE49-F238E27FC236}">
                      <a16:creationId xmlns:a16="http://schemas.microsoft.com/office/drawing/2014/main" id="{C136BA84-159B-2A7C-336C-0E191149BB01}"/>
                    </a:ext>
                  </a:extLst>
                </p:cNvPr>
                <p:cNvSpPr/>
                <p:nvPr/>
              </p:nvSpPr>
              <p:spPr>
                <a:xfrm>
                  <a:off x="13278886" y="7243899"/>
                  <a:ext cx="318998" cy="549608"/>
                </a:xfrm>
                <a:custGeom>
                  <a:avLst/>
                  <a:gdLst/>
                  <a:ahLst/>
                  <a:cxnLst>
                    <a:cxn ang="3cd4">
                      <a:pos x="hc" y="t"/>
                    </a:cxn>
                    <a:cxn ang="cd2">
                      <a:pos x="l" y="vc"/>
                    </a:cxn>
                    <a:cxn ang="cd4">
                      <a:pos x="hc" y="b"/>
                    </a:cxn>
                    <a:cxn ang="0">
                      <a:pos x="r" y="vc"/>
                    </a:cxn>
                  </a:cxnLst>
                  <a:rect l="l" t="t" r="r" b="b"/>
                  <a:pathLst>
                    <a:path w="712" h="1226">
                      <a:moveTo>
                        <a:pt x="712" y="410"/>
                      </a:moveTo>
                      <a:lnTo>
                        <a:pt x="711" y="1226"/>
                      </a:lnTo>
                      <a:lnTo>
                        <a:pt x="0" y="816"/>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sp>
            <p:nvSpPr>
              <p:cNvPr id="103" name="Oval 102">
                <a:extLst>
                  <a:ext uri="{FF2B5EF4-FFF2-40B4-BE49-F238E27FC236}">
                    <a16:creationId xmlns:a16="http://schemas.microsoft.com/office/drawing/2014/main" id="{40A061D7-0A7A-540B-AB51-F69A0BDD97B4}"/>
                  </a:ext>
                </a:extLst>
              </p:cNvPr>
              <p:cNvSpPr/>
              <p:nvPr/>
            </p:nvSpPr>
            <p:spPr>
              <a:xfrm>
                <a:off x="7739208" y="4132407"/>
                <a:ext cx="280811" cy="28081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D4C92B03-921F-8564-E7C8-475042E21F92}"/>
                  </a:ext>
                </a:extLst>
              </p:cNvPr>
              <p:cNvSpPr/>
              <p:nvPr/>
            </p:nvSpPr>
            <p:spPr>
              <a:xfrm>
                <a:off x="8066011" y="2918284"/>
                <a:ext cx="280811" cy="28081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AF6911F9-EF46-762B-3183-AE4BFBB1B919}"/>
                  </a:ext>
                </a:extLst>
              </p:cNvPr>
              <p:cNvSpPr/>
              <p:nvPr/>
            </p:nvSpPr>
            <p:spPr>
              <a:xfrm>
                <a:off x="6854564" y="3237668"/>
                <a:ext cx="280811" cy="28081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9" name="Group 178">
            <a:extLst>
              <a:ext uri="{FF2B5EF4-FFF2-40B4-BE49-F238E27FC236}">
                <a16:creationId xmlns:a16="http://schemas.microsoft.com/office/drawing/2014/main" id="{9B7B1C55-074B-D06D-F87F-0FFCC3759762}"/>
              </a:ext>
            </a:extLst>
          </p:cNvPr>
          <p:cNvGrpSpPr/>
          <p:nvPr/>
        </p:nvGrpSpPr>
        <p:grpSpPr>
          <a:xfrm>
            <a:off x="3186707" y="3388320"/>
            <a:ext cx="1346337" cy="493090"/>
            <a:chOff x="2848957" y="2307773"/>
            <a:chExt cx="1346337" cy="493090"/>
          </a:xfrm>
        </p:grpSpPr>
        <p:sp>
          <p:nvSpPr>
            <p:cNvPr id="148" name="Rounded Rectangle 147">
              <a:extLst>
                <a:ext uri="{FF2B5EF4-FFF2-40B4-BE49-F238E27FC236}">
                  <a16:creationId xmlns:a16="http://schemas.microsoft.com/office/drawing/2014/main" id="{E18C7CB7-DE0A-1104-E858-37063835E4B5}"/>
                </a:ext>
              </a:extLst>
            </p:cNvPr>
            <p:cNvSpPr/>
            <p:nvPr/>
          </p:nvSpPr>
          <p:spPr>
            <a:xfrm>
              <a:off x="2848957" y="2307773"/>
              <a:ext cx="1346337" cy="493090"/>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Tree 2</a:t>
              </a:r>
            </a:p>
          </p:txBody>
        </p:sp>
        <p:grpSp>
          <p:nvGrpSpPr>
            <p:cNvPr id="149" name="Group 148">
              <a:extLst>
                <a:ext uri="{FF2B5EF4-FFF2-40B4-BE49-F238E27FC236}">
                  <a16:creationId xmlns:a16="http://schemas.microsoft.com/office/drawing/2014/main" id="{84D55F40-A472-30A5-0126-5A95024653D5}"/>
                </a:ext>
              </a:extLst>
            </p:cNvPr>
            <p:cNvGrpSpPr/>
            <p:nvPr/>
          </p:nvGrpSpPr>
          <p:grpSpPr>
            <a:xfrm>
              <a:off x="2967253" y="2359588"/>
              <a:ext cx="394747" cy="389460"/>
              <a:chOff x="6268681" y="2169961"/>
              <a:chExt cx="2844800" cy="2806700"/>
            </a:xfrm>
          </p:grpSpPr>
          <p:pic>
            <p:nvPicPr>
              <p:cNvPr id="150" name="Picture 149">
                <a:extLst>
                  <a:ext uri="{FF2B5EF4-FFF2-40B4-BE49-F238E27FC236}">
                    <a16:creationId xmlns:a16="http://schemas.microsoft.com/office/drawing/2014/main" id="{A77A5756-10F7-FC86-52C1-B3A0ABBCD132}"/>
                  </a:ext>
                </a:extLst>
              </p:cNvPr>
              <p:cNvPicPr>
                <a:picLocks noChangeAspect="1"/>
              </p:cNvPicPr>
              <p:nvPr/>
            </p:nvPicPr>
            <p:blipFill>
              <a:blip r:embed="rId2"/>
              <a:stretch>
                <a:fillRect/>
              </a:stretch>
            </p:blipFill>
            <p:spPr>
              <a:xfrm>
                <a:off x="6268681" y="2169961"/>
                <a:ext cx="2844800" cy="2806700"/>
              </a:xfrm>
              <a:prstGeom prst="rect">
                <a:avLst/>
              </a:prstGeom>
            </p:spPr>
          </p:pic>
          <p:grpSp>
            <p:nvGrpSpPr>
              <p:cNvPr id="151" name="Group 150">
                <a:extLst>
                  <a:ext uri="{FF2B5EF4-FFF2-40B4-BE49-F238E27FC236}">
                    <a16:creationId xmlns:a16="http://schemas.microsoft.com/office/drawing/2014/main" id="{15956155-7E65-4A17-7C81-EEFE8795CBFB}"/>
                  </a:ext>
                </a:extLst>
              </p:cNvPr>
              <p:cNvGrpSpPr/>
              <p:nvPr/>
            </p:nvGrpSpPr>
            <p:grpSpPr>
              <a:xfrm>
                <a:off x="7271788" y="3089738"/>
                <a:ext cx="838586" cy="967601"/>
                <a:chOff x="13278886" y="7059948"/>
                <a:chExt cx="635751" cy="733560"/>
              </a:xfrm>
            </p:grpSpPr>
            <p:sp>
              <p:nvSpPr>
                <p:cNvPr id="155" name="Freeform: Shape 526">
                  <a:extLst>
                    <a:ext uri="{FF2B5EF4-FFF2-40B4-BE49-F238E27FC236}">
                      <a16:creationId xmlns:a16="http://schemas.microsoft.com/office/drawing/2014/main" id="{C00F05F9-BDC4-A8C5-001B-06F7461309AE}"/>
                    </a:ext>
                  </a:extLst>
                </p:cNvPr>
                <p:cNvSpPr/>
                <p:nvPr/>
              </p:nvSpPr>
              <p:spPr>
                <a:xfrm>
                  <a:off x="13278886" y="7059948"/>
                  <a:ext cx="635751" cy="733560"/>
                </a:xfrm>
                <a:custGeom>
                  <a:avLst/>
                  <a:gdLst/>
                  <a:ahLst/>
                  <a:cxnLst>
                    <a:cxn ang="3cd4">
                      <a:pos x="hc" y="t"/>
                    </a:cxn>
                    <a:cxn ang="cd2">
                      <a:pos x="l" y="vc"/>
                    </a:cxn>
                    <a:cxn ang="cd4">
                      <a:pos x="hc" y="b"/>
                    </a:cxn>
                    <a:cxn ang="0">
                      <a:pos x="r" y="vc"/>
                    </a:cxn>
                  </a:cxnLst>
                  <a:rect l="l" t="t" r="r" b="b"/>
                  <a:pathLst>
                    <a:path w="1418" h="1636">
                      <a:moveTo>
                        <a:pt x="708" y="0"/>
                      </a:moveTo>
                      <a:lnTo>
                        <a:pt x="2" y="410"/>
                      </a:lnTo>
                      <a:lnTo>
                        <a:pt x="0" y="1226"/>
                      </a:lnTo>
                      <a:lnTo>
                        <a:pt x="711" y="1636"/>
                      </a:lnTo>
                      <a:lnTo>
                        <a:pt x="1416" y="1226"/>
                      </a:lnTo>
                      <a:lnTo>
                        <a:pt x="1418" y="410"/>
                      </a:lnTo>
                      <a:close/>
                    </a:path>
                  </a:pathLst>
                </a:custGeom>
                <a:solidFill>
                  <a:schemeClr val="accent6"/>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56" name="Freeform: Shape 527">
                  <a:extLst>
                    <a:ext uri="{FF2B5EF4-FFF2-40B4-BE49-F238E27FC236}">
                      <a16:creationId xmlns:a16="http://schemas.microsoft.com/office/drawing/2014/main" id="{39481C19-267D-87ED-7FC3-C5876CF5DC71}"/>
                    </a:ext>
                  </a:extLst>
                </p:cNvPr>
                <p:cNvSpPr/>
                <p:nvPr/>
              </p:nvSpPr>
              <p:spPr>
                <a:xfrm>
                  <a:off x="13597436" y="7243899"/>
                  <a:ext cx="316755" cy="549608"/>
                </a:xfrm>
                <a:custGeom>
                  <a:avLst/>
                  <a:gdLst/>
                  <a:ahLst/>
                  <a:cxnLst>
                    <a:cxn ang="3cd4">
                      <a:pos x="hc" y="t"/>
                    </a:cxn>
                    <a:cxn ang="cd2">
                      <a:pos x="l" y="vc"/>
                    </a:cxn>
                    <a:cxn ang="cd4">
                      <a:pos x="hc" y="b"/>
                    </a:cxn>
                    <a:cxn ang="0">
                      <a:pos x="r" y="vc"/>
                    </a:cxn>
                  </a:cxnLst>
                  <a:rect l="l" t="t" r="r" b="b"/>
                  <a:pathLst>
                    <a:path w="707" h="1226">
                      <a:moveTo>
                        <a:pt x="707" y="0"/>
                      </a:moveTo>
                      <a:lnTo>
                        <a:pt x="705" y="816"/>
                      </a:lnTo>
                      <a:lnTo>
                        <a:pt x="0" y="1226"/>
                      </a:lnTo>
                      <a:lnTo>
                        <a:pt x="1"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57" name="Freeform: Shape 528">
                  <a:extLst>
                    <a:ext uri="{FF2B5EF4-FFF2-40B4-BE49-F238E27FC236}">
                      <a16:creationId xmlns:a16="http://schemas.microsoft.com/office/drawing/2014/main" id="{855A38E4-EC4F-C8AB-A0B2-F2F98379B764}"/>
                    </a:ext>
                  </a:extLst>
                </p:cNvPr>
                <p:cNvSpPr/>
                <p:nvPr/>
              </p:nvSpPr>
              <p:spPr>
                <a:xfrm>
                  <a:off x="13278886" y="7243899"/>
                  <a:ext cx="318998" cy="549608"/>
                </a:xfrm>
                <a:custGeom>
                  <a:avLst/>
                  <a:gdLst/>
                  <a:ahLst/>
                  <a:cxnLst>
                    <a:cxn ang="3cd4">
                      <a:pos x="hc" y="t"/>
                    </a:cxn>
                    <a:cxn ang="cd2">
                      <a:pos x="l" y="vc"/>
                    </a:cxn>
                    <a:cxn ang="cd4">
                      <a:pos x="hc" y="b"/>
                    </a:cxn>
                    <a:cxn ang="0">
                      <a:pos x="r" y="vc"/>
                    </a:cxn>
                  </a:cxnLst>
                  <a:rect l="l" t="t" r="r" b="b"/>
                  <a:pathLst>
                    <a:path w="712" h="1226">
                      <a:moveTo>
                        <a:pt x="712" y="410"/>
                      </a:moveTo>
                      <a:lnTo>
                        <a:pt x="711" y="1226"/>
                      </a:lnTo>
                      <a:lnTo>
                        <a:pt x="0" y="816"/>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sp>
            <p:nvSpPr>
              <p:cNvPr id="152" name="Oval 151">
                <a:extLst>
                  <a:ext uri="{FF2B5EF4-FFF2-40B4-BE49-F238E27FC236}">
                    <a16:creationId xmlns:a16="http://schemas.microsoft.com/office/drawing/2014/main" id="{A9A73429-D55F-5743-E8E6-D68CFCAE1081}"/>
                  </a:ext>
                </a:extLst>
              </p:cNvPr>
              <p:cNvSpPr/>
              <p:nvPr/>
            </p:nvSpPr>
            <p:spPr>
              <a:xfrm>
                <a:off x="7739208" y="4132407"/>
                <a:ext cx="280811" cy="28081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7480E7CB-CB53-E07F-A04B-450C16F08CF6}"/>
                  </a:ext>
                </a:extLst>
              </p:cNvPr>
              <p:cNvSpPr/>
              <p:nvPr/>
            </p:nvSpPr>
            <p:spPr>
              <a:xfrm>
                <a:off x="8066011" y="2918284"/>
                <a:ext cx="280811" cy="28081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84E91CF5-63C6-AC4F-4061-A05B76BC6079}"/>
                  </a:ext>
                </a:extLst>
              </p:cNvPr>
              <p:cNvSpPr/>
              <p:nvPr/>
            </p:nvSpPr>
            <p:spPr>
              <a:xfrm>
                <a:off x="6854564" y="3237668"/>
                <a:ext cx="280811" cy="28081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0" name="Group 179">
            <a:extLst>
              <a:ext uri="{FF2B5EF4-FFF2-40B4-BE49-F238E27FC236}">
                <a16:creationId xmlns:a16="http://schemas.microsoft.com/office/drawing/2014/main" id="{01D51C3F-CE11-EB10-9CA7-3925F55AEE20}"/>
              </a:ext>
            </a:extLst>
          </p:cNvPr>
          <p:cNvGrpSpPr/>
          <p:nvPr/>
        </p:nvGrpSpPr>
        <p:grpSpPr>
          <a:xfrm>
            <a:off x="3191445" y="4363980"/>
            <a:ext cx="1346338" cy="493090"/>
            <a:chOff x="2815467" y="2987896"/>
            <a:chExt cx="1346338" cy="493090"/>
          </a:xfrm>
        </p:grpSpPr>
        <p:sp>
          <p:nvSpPr>
            <p:cNvPr id="158" name="Rounded Rectangle 157">
              <a:extLst>
                <a:ext uri="{FF2B5EF4-FFF2-40B4-BE49-F238E27FC236}">
                  <a16:creationId xmlns:a16="http://schemas.microsoft.com/office/drawing/2014/main" id="{5D95C81A-D4B3-D683-86BC-F9A6B43C3FA4}"/>
                </a:ext>
              </a:extLst>
            </p:cNvPr>
            <p:cNvSpPr/>
            <p:nvPr/>
          </p:nvSpPr>
          <p:spPr>
            <a:xfrm>
              <a:off x="2815467" y="2987896"/>
              <a:ext cx="1346338" cy="493090"/>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Tree 3</a:t>
              </a:r>
            </a:p>
          </p:txBody>
        </p:sp>
        <p:grpSp>
          <p:nvGrpSpPr>
            <p:cNvPr id="159" name="Group 158">
              <a:extLst>
                <a:ext uri="{FF2B5EF4-FFF2-40B4-BE49-F238E27FC236}">
                  <a16:creationId xmlns:a16="http://schemas.microsoft.com/office/drawing/2014/main" id="{40F16510-4AD8-F7D8-86BB-EA1197A24F59}"/>
                </a:ext>
              </a:extLst>
            </p:cNvPr>
            <p:cNvGrpSpPr/>
            <p:nvPr/>
          </p:nvGrpSpPr>
          <p:grpSpPr>
            <a:xfrm>
              <a:off x="2933762" y="3039711"/>
              <a:ext cx="394747" cy="389460"/>
              <a:chOff x="6268681" y="2169961"/>
              <a:chExt cx="2844800" cy="2806700"/>
            </a:xfrm>
          </p:grpSpPr>
          <p:pic>
            <p:nvPicPr>
              <p:cNvPr id="160" name="Picture 159">
                <a:extLst>
                  <a:ext uri="{FF2B5EF4-FFF2-40B4-BE49-F238E27FC236}">
                    <a16:creationId xmlns:a16="http://schemas.microsoft.com/office/drawing/2014/main" id="{48F63E04-3966-31FD-5FAD-F8E6FB2CF38C}"/>
                  </a:ext>
                </a:extLst>
              </p:cNvPr>
              <p:cNvPicPr>
                <a:picLocks noChangeAspect="1"/>
              </p:cNvPicPr>
              <p:nvPr/>
            </p:nvPicPr>
            <p:blipFill>
              <a:blip r:embed="rId2"/>
              <a:stretch>
                <a:fillRect/>
              </a:stretch>
            </p:blipFill>
            <p:spPr>
              <a:xfrm>
                <a:off x="6268681" y="2169961"/>
                <a:ext cx="2844800" cy="2806700"/>
              </a:xfrm>
              <a:prstGeom prst="rect">
                <a:avLst/>
              </a:prstGeom>
            </p:spPr>
          </p:pic>
          <p:grpSp>
            <p:nvGrpSpPr>
              <p:cNvPr id="161" name="Group 160">
                <a:extLst>
                  <a:ext uri="{FF2B5EF4-FFF2-40B4-BE49-F238E27FC236}">
                    <a16:creationId xmlns:a16="http://schemas.microsoft.com/office/drawing/2014/main" id="{496FEB69-969A-62BB-A624-664790206ED0}"/>
                  </a:ext>
                </a:extLst>
              </p:cNvPr>
              <p:cNvGrpSpPr/>
              <p:nvPr/>
            </p:nvGrpSpPr>
            <p:grpSpPr>
              <a:xfrm>
                <a:off x="7271788" y="3089738"/>
                <a:ext cx="838586" cy="967601"/>
                <a:chOff x="13278886" y="7059948"/>
                <a:chExt cx="635751" cy="733560"/>
              </a:xfrm>
            </p:grpSpPr>
            <p:sp>
              <p:nvSpPr>
                <p:cNvPr id="165" name="Freeform: Shape 526">
                  <a:extLst>
                    <a:ext uri="{FF2B5EF4-FFF2-40B4-BE49-F238E27FC236}">
                      <a16:creationId xmlns:a16="http://schemas.microsoft.com/office/drawing/2014/main" id="{2D6A28FC-097C-EB8B-B719-85208E09EB61}"/>
                    </a:ext>
                  </a:extLst>
                </p:cNvPr>
                <p:cNvSpPr/>
                <p:nvPr/>
              </p:nvSpPr>
              <p:spPr>
                <a:xfrm>
                  <a:off x="13278886" y="7059948"/>
                  <a:ext cx="635751" cy="733560"/>
                </a:xfrm>
                <a:custGeom>
                  <a:avLst/>
                  <a:gdLst/>
                  <a:ahLst/>
                  <a:cxnLst>
                    <a:cxn ang="3cd4">
                      <a:pos x="hc" y="t"/>
                    </a:cxn>
                    <a:cxn ang="cd2">
                      <a:pos x="l" y="vc"/>
                    </a:cxn>
                    <a:cxn ang="cd4">
                      <a:pos x="hc" y="b"/>
                    </a:cxn>
                    <a:cxn ang="0">
                      <a:pos x="r" y="vc"/>
                    </a:cxn>
                  </a:cxnLst>
                  <a:rect l="l" t="t" r="r" b="b"/>
                  <a:pathLst>
                    <a:path w="1418" h="1636">
                      <a:moveTo>
                        <a:pt x="708" y="0"/>
                      </a:moveTo>
                      <a:lnTo>
                        <a:pt x="2" y="410"/>
                      </a:lnTo>
                      <a:lnTo>
                        <a:pt x="0" y="1226"/>
                      </a:lnTo>
                      <a:lnTo>
                        <a:pt x="711" y="1636"/>
                      </a:lnTo>
                      <a:lnTo>
                        <a:pt x="1416" y="1226"/>
                      </a:lnTo>
                      <a:lnTo>
                        <a:pt x="1418" y="410"/>
                      </a:lnTo>
                      <a:close/>
                    </a:path>
                  </a:pathLst>
                </a:custGeom>
                <a:solidFill>
                  <a:schemeClr val="accent6"/>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66" name="Freeform: Shape 527">
                  <a:extLst>
                    <a:ext uri="{FF2B5EF4-FFF2-40B4-BE49-F238E27FC236}">
                      <a16:creationId xmlns:a16="http://schemas.microsoft.com/office/drawing/2014/main" id="{05A59072-A041-BC02-66BD-4401D36F4CA8}"/>
                    </a:ext>
                  </a:extLst>
                </p:cNvPr>
                <p:cNvSpPr/>
                <p:nvPr/>
              </p:nvSpPr>
              <p:spPr>
                <a:xfrm>
                  <a:off x="13597436" y="7243899"/>
                  <a:ext cx="316755" cy="549608"/>
                </a:xfrm>
                <a:custGeom>
                  <a:avLst/>
                  <a:gdLst/>
                  <a:ahLst/>
                  <a:cxnLst>
                    <a:cxn ang="3cd4">
                      <a:pos x="hc" y="t"/>
                    </a:cxn>
                    <a:cxn ang="cd2">
                      <a:pos x="l" y="vc"/>
                    </a:cxn>
                    <a:cxn ang="cd4">
                      <a:pos x="hc" y="b"/>
                    </a:cxn>
                    <a:cxn ang="0">
                      <a:pos x="r" y="vc"/>
                    </a:cxn>
                  </a:cxnLst>
                  <a:rect l="l" t="t" r="r" b="b"/>
                  <a:pathLst>
                    <a:path w="707" h="1226">
                      <a:moveTo>
                        <a:pt x="707" y="0"/>
                      </a:moveTo>
                      <a:lnTo>
                        <a:pt x="705" y="816"/>
                      </a:lnTo>
                      <a:lnTo>
                        <a:pt x="0" y="1226"/>
                      </a:lnTo>
                      <a:lnTo>
                        <a:pt x="1"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67" name="Freeform: Shape 528">
                  <a:extLst>
                    <a:ext uri="{FF2B5EF4-FFF2-40B4-BE49-F238E27FC236}">
                      <a16:creationId xmlns:a16="http://schemas.microsoft.com/office/drawing/2014/main" id="{2E142B41-FF93-7B11-F927-B2EBCD681ADA}"/>
                    </a:ext>
                  </a:extLst>
                </p:cNvPr>
                <p:cNvSpPr/>
                <p:nvPr/>
              </p:nvSpPr>
              <p:spPr>
                <a:xfrm>
                  <a:off x="13278886" y="7243899"/>
                  <a:ext cx="318998" cy="549608"/>
                </a:xfrm>
                <a:custGeom>
                  <a:avLst/>
                  <a:gdLst/>
                  <a:ahLst/>
                  <a:cxnLst>
                    <a:cxn ang="3cd4">
                      <a:pos x="hc" y="t"/>
                    </a:cxn>
                    <a:cxn ang="cd2">
                      <a:pos x="l" y="vc"/>
                    </a:cxn>
                    <a:cxn ang="cd4">
                      <a:pos x="hc" y="b"/>
                    </a:cxn>
                    <a:cxn ang="0">
                      <a:pos x="r" y="vc"/>
                    </a:cxn>
                  </a:cxnLst>
                  <a:rect l="l" t="t" r="r" b="b"/>
                  <a:pathLst>
                    <a:path w="712" h="1226">
                      <a:moveTo>
                        <a:pt x="712" y="410"/>
                      </a:moveTo>
                      <a:lnTo>
                        <a:pt x="711" y="1226"/>
                      </a:lnTo>
                      <a:lnTo>
                        <a:pt x="0" y="816"/>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sp>
            <p:nvSpPr>
              <p:cNvPr id="162" name="Oval 161">
                <a:extLst>
                  <a:ext uri="{FF2B5EF4-FFF2-40B4-BE49-F238E27FC236}">
                    <a16:creationId xmlns:a16="http://schemas.microsoft.com/office/drawing/2014/main" id="{1AFFA1F8-993E-DB81-AE4E-55DA240CAF0A}"/>
                  </a:ext>
                </a:extLst>
              </p:cNvPr>
              <p:cNvSpPr/>
              <p:nvPr/>
            </p:nvSpPr>
            <p:spPr>
              <a:xfrm>
                <a:off x="7739208" y="4132407"/>
                <a:ext cx="280811" cy="28081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9C63D2DD-025C-D5E4-4B87-F121E0DD2E3E}"/>
                  </a:ext>
                </a:extLst>
              </p:cNvPr>
              <p:cNvSpPr/>
              <p:nvPr/>
            </p:nvSpPr>
            <p:spPr>
              <a:xfrm>
                <a:off x="8066011" y="2918284"/>
                <a:ext cx="280811" cy="28081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8D6D5D8C-C02E-CF40-2592-8F3AEB058565}"/>
                  </a:ext>
                </a:extLst>
              </p:cNvPr>
              <p:cNvSpPr/>
              <p:nvPr/>
            </p:nvSpPr>
            <p:spPr>
              <a:xfrm>
                <a:off x="6854564" y="3237668"/>
                <a:ext cx="280811" cy="28081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1" name="Group 180">
            <a:extLst>
              <a:ext uri="{FF2B5EF4-FFF2-40B4-BE49-F238E27FC236}">
                <a16:creationId xmlns:a16="http://schemas.microsoft.com/office/drawing/2014/main" id="{D0CFDA62-6801-8D8A-90ED-862EADA5242F}"/>
              </a:ext>
            </a:extLst>
          </p:cNvPr>
          <p:cNvGrpSpPr/>
          <p:nvPr/>
        </p:nvGrpSpPr>
        <p:grpSpPr>
          <a:xfrm>
            <a:off x="3186708" y="5233340"/>
            <a:ext cx="1351074" cy="493090"/>
            <a:chOff x="2673975" y="3774351"/>
            <a:chExt cx="1351074" cy="493090"/>
          </a:xfrm>
        </p:grpSpPr>
        <p:sp>
          <p:nvSpPr>
            <p:cNvPr id="168" name="Rounded Rectangle 167">
              <a:extLst>
                <a:ext uri="{FF2B5EF4-FFF2-40B4-BE49-F238E27FC236}">
                  <a16:creationId xmlns:a16="http://schemas.microsoft.com/office/drawing/2014/main" id="{BA33CE64-D4F8-3169-C337-E9ECECCBFFEA}"/>
                </a:ext>
              </a:extLst>
            </p:cNvPr>
            <p:cNvSpPr/>
            <p:nvPr/>
          </p:nvSpPr>
          <p:spPr>
            <a:xfrm>
              <a:off x="2673975" y="3774351"/>
              <a:ext cx="1351074" cy="493090"/>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Tree 4</a:t>
              </a:r>
            </a:p>
          </p:txBody>
        </p:sp>
        <p:grpSp>
          <p:nvGrpSpPr>
            <p:cNvPr id="169" name="Group 168">
              <a:extLst>
                <a:ext uri="{FF2B5EF4-FFF2-40B4-BE49-F238E27FC236}">
                  <a16:creationId xmlns:a16="http://schemas.microsoft.com/office/drawing/2014/main" id="{EF2FB03E-6409-5E6D-4FFC-D535F24B929D}"/>
                </a:ext>
              </a:extLst>
            </p:cNvPr>
            <p:cNvGrpSpPr/>
            <p:nvPr/>
          </p:nvGrpSpPr>
          <p:grpSpPr>
            <a:xfrm>
              <a:off x="2792270" y="3826166"/>
              <a:ext cx="394747" cy="389460"/>
              <a:chOff x="6268681" y="2169961"/>
              <a:chExt cx="2844800" cy="2806700"/>
            </a:xfrm>
          </p:grpSpPr>
          <p:pic>
            <p:nvPicPr>
              <p:cNvPr id="170" name="Picture 169">
                <a:extLst>
                  <a:ext uri="{FF2B5EF4-FFF2-40B4-BE49-F238E27FC236}">
                    <a16:creationId xmlns:a16="http://schemas.microsoft.com/office/drawing/2014/main" id="{89FDCA17-BFEE-EE94-D43E-1C5A0AA75E16}"/>
                  </a:ext>
                </a:extLst>
              </p:cNvPr>
              <p:cNvPicPr>
                <a:picLocks noChangeAspect="1"/>
              </p:cNvPicPr>
              <p:nvPr/>
            </p:nvPicPr>
            <p:blipFill>
              <a:blip r:embed="rId2"/>
              <a:stretch>
                <a:fillRect/>
              </a:stretch>
            </p:blipFill>
            <p:spPr>
              <a:xfrm>
                <a:off x="6268681" y="2169961"/>
                <a:ext cx="2844800" cy="2806700"/>
              </a:xfrm>
              <a:prstGeom prst="rect">
                <a:avLst/>
              </a:prstGeom>
            </p:spPr>
          </p:pic>
          <p:grpSp>
            <p:nvGrpSpPr>
              <p:cNvPr id="171" name="Group 170">
                <a:extLst>
                  <a:ext uri="{FF2B5EF4-FFF2-40B4-BE49-F238E27FC236}">
                    <a16:creationId xmlns:a16="http://schemas.microsoft.com/office/drawing/2014/main" id="{2BC1D728-BF6E-DEB2-49C9-DB59857D1B16}"/>
                  </a:ext>
                </a:extLst>
              </p:cNvPr>
              <p:cNvGrpSpPr/>
              <p:nvPr/>
            </p:nvGrpSpPr>
            <p:grpSpPr>
              <a:xfrm>
                <a:off x="7271788" y="3089738"/>
                <a:ext cx="838586" cy="967601"/>
                <a:chOff x="13278886" y="7059948"/>
                <a:chExt cx="635751" cy="733560"/>
              </a:xfrm>
            </p:grpSpPr>
            <p:sp>
              <p:nvSpPr>
                <p:cNvPr id="175" name="Freeform: Shape 526">
                  <a:extLst>
                    <a:ext uri="{FF2B5EF4-FFF2-40B4-BE49-F238E27FC236}">
                      <a16:creationId xmlns:a16="http://schemas.microsoft.com/office/drawing/2014/main" id="{2232E04B-E78A-B211-E132-7070D1E28C89}"/>
                    </a:ext>
                  </a:extLst>
                </p:cNvPr>
                <p:cNvSpPr/>
                <p:nvPr/>
              </p:nvSpPr>
              <p:spPr>
                <a:xfrm>
                  <a:off x="13278886" y="7059948"/>
                  <a:ext cx="635751" cy="733560"/>
                </a:xfrm>
                <a:custGeom>
                  <a:avLst/>
                  <a:gdLst/>
                  <a:ahLst/>
                  <a:cxnLst>
                    <a:cxn ang="3cd4">
                      <a:pos x="hc" y="t"/>
                    </a:cxn>
                    <a:cxn ang="cd2">
                      <a:pos x="l" y="vc"/>
                    </a:cxn>
                    <a:cxn ang="cd4">
                      <a:pos x="hc" y="b"/>
                    </a:cxn>
                    <a:cxn ang="0">
                      <a:pos x="r" y="vc"/>
                    </a:cxn>
                  </a:cxnLst>
                  <a:rect l="l" t="t" r="r" b="b"/>
                  <a:pathLst>
                    <a:path w="1418" h="1636">
                      <a:moveTo>
                        <a:pt x="708" y="0"/>
                      </a:moveTo>
                      <a:lnTo>
                        <a:pt x="2" y="410"/>
                      </a:lnTo>
                      <a:lnTo>
                        <a:pt x="0" y="1226"/>
                      </a:lnTo>
                      <a:lnTo>
                        <a:pt x="711" y="1636"/>
                      </a:lnTo>
                      <a:lnTo>
                        <a:pt x="1416" y="1226"/>
                      </a:lnTo>
                      <a:lnTo>
                        <a:pt x="1418" y="410"/>
                      </a:lnTo>
                      <a:close/>
                    </a:path>
                  </a:pathLst>
                </a:custGeom>
                <a:solidFill>
                  <a:schemeClr val="accent6"/>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76" name="Freeform: Shape 527">
                  <a:extLst>
                    <a:ext uri="{FF2B5EF4-FFF2-40B4-BE49-F238E27FC236}">
                      <a16:creationId xmlns:a16="http://schemas.microsoft.com/office/drawing/2014/main" id="{208F4752-7080-C980-FE82-C83A8459D5F4}"/>
                    </a:ext>
                  </a:extLst>
                </p:cNvPr>
                <p:cNvSpPr/>
                <p:nvPr/>
              </p:nvSpPr>
              <p:spPr>
                <a:xfrm>
                  <a:off x="13597436" y="7243899"/>
                  <a:ext cx="316755" cy="549608"/>
                </a:xfrm>
                <a:custGeom>
                  <a:avLst/>
                  <a:gdLst/>
                  <a:ahLst/>
                  <a:cxnLst>
                    <a:cxn ang="3cd4">
                      <a:pos x="hc" y="t"/>
                    </a:cxn>
                    <a:cxn ang="cd2">
                      <a:pos x="l" y="vc"/>
                    </a:cxn>
                    <a:cxn ang="cd4">
                      <a:pos x="hc" y="b"/>
                    </a:cxn>
                    <a:cxn ang="0">
                      <a:pos x="r" y="vc"/>
                    </a:cxn>
                  </a:cxnLst>
                  <a:rect l="l" t="t" r="r" b="b"/>
                  <a:pathLst>
                    <a:path w="707" h="1226">
                      <a:moveTo>
                        <a:pt x="707" y="0"/>
                      </a:moveTo>
                      <a:lnTo>
                        <a:pt x="705" y="816"/>
                      </a:lnTo>
                      <a:lnTo>
                        <a:pt x="0" y="1226"/>
                      </a:lnTo>
                      <a:lnTo>
                        <a:pt x="1"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77" name="Freeform: Shape 528">
                  <a:extLst>
                    <a:ext uri="{FF2B5EF4-FFF2-40B4-BE49-F238E27FC236}">
                      <a16:creationId xmlns:a16="http://schemas.microsoft.com/office/drawing/2014/main" id="{C55BA760-7DB6-5C05-4CF3-F3DC99B4D66D}"/>
                    </a:ext>
                  </a:extLst>
                </p:cNvPr>
                <p:cNvSpPr/>
                <p:nvPr/>
              </p:nvSpPr>
              <p:spPr>
                <a:xfrm>
                  <a:off x="13278886" y="7243899"/>
                  <a:ext cx="318998" cy="549608"/>
                </a:xfrm>
                <a:custGeom>
                  <a:avLst/>
                  <a:gdLst/>
                  <a:ahLst/>
                  <a:cxnLst>
                    <a:cxn ang="3cd4">
                      <a:pos x="hc" y="t"/>
                    </a:cxn>
                    <a:cxn ang="cd2">
                      <a:pos x="l" y="vc"/>
                    </a:cxn>
                    <a:cxn ang="cd4">
                      <a:pos x="hc" y="b"/>
                    </a:cxn>
                    <a:cxn ang="0">
                      <a:pos x="r" y="vc"/>
                    </a:cxn>
                  </a:cxnLst>
                  <a:rect l="l" t="t" r="r" b="b"/>
                  <a:pathLst>
                    <a:path w="712" h="1226">
                      <a:moveTo>
                        <a:pt x="712" y="410"/>
                      </a:moveTo>
                      <a:lnTo>
                        <a:pt x="711" y="1226"/>
                      </a:lnTo>
                      <a:lnTo>
                        <a:pt x="0" y="816"/>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sp>
            <p:nvSpPr>
              <p:cNvPr id="172" name="Oval 171">
                <a:extLst>
                  <a:ext uri="{FF2B5EF4-FFF2-40B4-BE49-F238E27FC236}">
                    <a16:creationId xmlns:a16="http://schemas.microsoft.com/office/drawing/2014/main" id="{D5053A05-F92A-89D1-4F46-7CC6C4F1E185}"/>
                  </a:ext>
                </a:extLst>
              </p:cNvPr>
              <p:cNvSpPr/>
              <p:nvPr/>
            </p:nvSpPr>
            <p:spPr>
              <a:xfrm>
                <a:off x="7739208" y="4132407"/>
                <a:ext cx="280811" cy="28081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a:extLst>
                  <a:ext uri="{FF2B5EF4-FFF2-40B4-BE49-F238E27FC236}">
                    <a16:creationId xmlns:a16="http://schemas.microsoft.com/office/drawing/2014/main" id="{D6B89D24-E087-6CB7-5488-CA2DB0BD697F}"/>
                  </a:ext>
                </a:extLst>
              </p:cNvPr>
              <p:cNvSpPr/>
              <p:nvPr/>
            </p:nvSpPr>
            <p:spPr>
              <a:xfrm>
                <a:off x="8066011" y="2918284"/>
                <a:ext cx="280811" cy="28081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998B4676-7A02-9F0E-E532-771FAA42A512}"/>
                  </a:ext>
                </a:extLst>
              </p:cNvPr>
              <p:cNvSpPr/>
              <p:nvPr/>
            </p:nvSpPr>
            <p:spPr>
              <a:xfrm>
                <a:off x="6854564" y="3237668"/>
                <a:ext cx="280811" cy="28081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216" name="Straight Arrow Connector 215">
            <a:extLst>
              <a:ext uri="{FF2B5EF4-FFF2-40B4-BE49-F238E27FC236}">
                <a16:creationId xmlns:a16="http://schemas.microsoft.com/office/drawing/2014/main" id="{EA28562B-D1CB-8AAF-2A06-AFDA78F283CB}"/>
              </a:ext>
            </a:extLst>
          </p:cNvPr>
          <p:cNvCxnSpPr>
            <a:cxnSpLocks/>
            <a:stCxn id="217" idx="3"/>
            <a:endCxn id="148" idx="1"/>
          </p:cNvCxnSpPr>
          <p:nvPr/>
        </p:nvCxnSpPr>
        <p:spPr>
          <a:xfrm>
            <a:off x="2568977" y="3629637"/>
            <a:ext cx="617730" cy="5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8" name="Straight Arrow Connector 217">
            <a:extLst>
              <a:ext uri="{FF2B5EF4-FFF2-40B4-BE49-F238E27FC236}">
                <a16:creationId xmlns:a16="http://schemas.microsoft.com/office/drawing/2014/main" id="{AD31261C-FBF0-6188-3570-C0AFB3A54DFA}"/>
              </a:ext>
            </a:extLst>
          </p:cNvPr>
          <p:cNvCxnSpPr>
            <a:cxnSpLocks/>
            <a:stCxn id="138" idx="3"/>
            <a:endCxn id="147" idx="1"/>
          </p:cNvCxnSpPr>
          <p:nvPr/>
        </p:nvCxnSpPr>
        <p:spPr>
          <a:xfrm>
            <a:off x="2569784" y="2775798"/>
            <a:ext cx="6169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1" name="Straight Arrow Connector 220">
            <a:extLst>
              <a:ext uri="{FF2B5EF4-FFF2-40B4-BE49-F238E27FC236}">
                <a16:creationId xmlns:a16="http://schemas.microsoft.com/office/drawing/2014/main" id="{0D545517-C69F-8AFA-88F7-90DFD62BE783}"/>
              </a:ext>
            </a:extLst>
          </p:cNvPr>
          <p:cNvCxnSpPr>
            <a:cxnSpLocks/>
            <a:stCxn id="227" idx="3"/>
            <a:endCxn id="158" idx="1"/>
          </p:cNvCxnSpPr>
          <p:nvPr/>
        </p:nvCxnSpPr>
        <p:spPr>
          <a:xfrm flipV="1">
            <a:off x="2565091" y="4610525"/>
            <a:ext cx="626354" cy="1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3" name="Straight Arrow Connector 222">
            <a:extLst>
              <a:ext uri="{FF2B5EF4-FFF2-40B4-BE49-F238E27FC236}">
                <a16:creationId xmlns:a16="http://schemas.microsoft.com/office/drawing/2014/main" id="{4950A41D-098E-BBD3-E065-50AC1DFAA0F7}"/>
              </a:ext>
            </a:extLst>
          </p:cNvPr>
          <p:cNvCxnSpPr>
            <a:cxnSpLocks/>
            <a:stCxn id="241" idx="3"/>
            <a:endCxn id="168" idx="1"/>
          </p:cNvCxnSpPr>
          <p:nvPr/>
        </p:nvCxnSpPr>
        <p:spPr>
          <a:xfrm flipV="1">
            <a:off x="2569784" y="5479885"/>
            <a:ext cx="616924" cy="7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2321888F-02F6-A551-F001-E6C79DBA2BDA}"/>
              </a:ext>
            </a:extLst>
          </p:cNvPr>
          <p:cNvGrpSpPr/>
          <p:nvPr/>
        </p:nvGrpSpPr>
        <p:grpSpPr>
          <a:xfrm>
            <a:off x="724469" y="2466117"/>
            <a:ext cx="1845315" cy="619362"/>
            <a:chOff x="724469" y="2531190"/>
            <a:chExt cx="1845315" cy="619362"/>
          </a:xfrm>
        </p:grpSpPr>
        <p:sp>
          <p:nvSpPr>
            <p:cNvPr id="138" name="Rounded Rectangle 137">
              <a:extLst>
                <a:ext uri="{FF2B5EF4-FFF2-40B4-BE49-F238E27FC236}">
                  <a16:creationId xmlns:a16="http://schemas.microsoft.com/office/drawing/2014/main" id="{0E326CEC-DDB4-1992-D241-F6FEE3894B8F}"/>
                </a:ext>
              </a:extLst>
            </p:cNvPr>
            <p:cNvSpPr/>
            <p:nvPr/>
          </p:nvSpPr>
          <p:spPr>
            <a:xfrm>
              <a:off x="724469" y="2531190"/>
              <a:ext cx="1845315" cy="619362"/>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Bootstrap 1</a:t>
              </a:r>
            </a:p>
          </p:txBody>
        </p:sp>
        <p:grpSp>
          <p:nvGrpSpPr>
            <p:cNvPr id="95" name="Group 94">
              <a:extLst>
                <a:ext uri="{FF2B5EF4-FFF2-40B4-BE49-F238E27FC236}">
                  <a16:creationId xmlns:a16="http://schemas.microsoft.com/office/drawing/2014/main" id="{E3FFF303-7350-4948-E239-BD4241502000}"/>
                </a:ext>
              </a:extLst>
            </p:cNvPr>
            <p:cNvGrpSpPr/>
            <p:nvPr/>
          </p:nvGrpSpPr>
          <p:grpSpPr>
            <a:xfrm>
              <a:off x="837726" y="2620667"/>
              <a:ext cx="381723" cy="440407"/>
              <a:chOff x="10865797" y="3286316"/>
              <a:chExt cx="1766536" cy="2038115"/>
            </a:xfrm>
          </p:grpSpPr>
          <p:sp>
            <p:nvSpPr>
              <p:cNvPr id="96" name="Freeform: Shape 513">
                <a:extLst>
                  <a:ext uri="{FF2B5EF4-FFF2-40B4-BE49-F238E27FC236}">
                    <a16:creationId xmlns:a16="http://schemas.microsoft.com/office/drawing/2014/main" id="{1BA92C8D-0B4B-EBAA-35A3-1AFA446BE2BB}"/>
                  </a:ext>
                </a:extLst>
              </p:cNvPr>
              <p:cNvSpPr/>
              <p:nvPr/>
            </p:nvSpPr>
            <p:spPr>
              <a:xfrm>
                <a:off x="10865797" y="3286316"/>
                <a:ext cx="1766533" cy="2038115"/>
              </a:xfrm>
              <a:custGeom>
                <a:avLst/>
                <a:gdLst/>
                <a:ahLst/>
                <a:cxnLst>
                  <a:cxn ang="3cd4">
                    <a:pos x="hc" y="t"/>
                  </a:cxn>
                  <a:cxn ang="cd2">
                    <a:pos x="l" y="vc"/>
                  </a:cxn>
                  <a:cxn ang="cd4">
                    <a:pos x="hc" y="b"/>
                  </a:cxn>
                  <a:cxn ang="0">
                    <a:pos x="r" y="vc"/>
                  </a:cxn>
                </a:cxnLst>
                <a:rect l="l" t="t" r="r" b="b"/>
                <a:pathLst>
                  <a:path w="1419" h="1637">
                    <a:moveTo>
                      <a:pt x="708" y="0"/>
                    </a:moveTo>
                    <a:lnTo>
                      <a:pt x="2" y="410"/>
                    </a:lnTo>
                    <a:lnTo>
                      <a:pt x="0" y="1227"/>
                    </a:lnTo>
                    <a:lnTo>
                      <a:pt x="710" y="1637"/>
                    </a:lnTo>
                    <a:lnTo>
                      <a:pt x="1416" y="1227"/>
                    </a:lnTo>
                    <a:lnTo>
                      <a:pt x="1419" y="410"/>
                    </a:lnTo>
                    <a:close/>
                  </a:path>
                </a:pathLst>
              </a:custGeom>
              <a:solidFill>
                <a:schemeClr val="accent1"/>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97" name="Freeform: Shape 514">
                <a:extLst>
                  <a:ext uri="{FF2B5EF4-FFF2-40B4-BE49-F238E27FC236}">
                    <a16:creationId xmlns:a16="http://schemas.microsoft.com/office/drawing/2014/main" id="{D70F7BD3-0077-C2ED-D19B-13EE9B7BEB81}"/>
                  </a:ext>
                </a:extLst>
              </p:cNvPr>
              <p:cNvSpPr/>
              <p:nvPr/>
            </p:nvSpPr>
            <p:spPr>
              <a:xfrm>
                <a:off x="11750312" y="3797090"/>
                <a:ext cx="882021" cy="1527340"/>
              </a:xfrm>
              <a:custGeom>
                <a:avLst/>
                <a:gdLst/>
                <a:ahLst/>
                <a:cxnLst>
                  <a:cxn ang="3cd4">
                    <a:pos x="hc" y="t"/>
                  </a:cxn>
                  <a:cxn ang="cd2">
                    <a:pos x="l" y="vc"/>
                  </a:cxn>
                  <a:cxn ang="cd4">
                    <a:pos x="hc" y="b"/>
                  </a:cxn>
                  <a:cxn ang="0">
                    <a:pos x="r" y="vc"/>
                  </a:cxn>
                </a:cxnLst>
                <a:rect l="l" t="t" r="r" b="b"/>
                <a:pathLst>
                  <a:path w="709" h="1227">
                    <a:moveTo>
                      <a:pt x="709" y="0"/>
                    </a:moveTo>
                    <a:lnTo>
                      <a:pt x="706" y="817"/>
                    </a:lnTo>
                    <a:lnTo>
                      <a:pt x="0" y="1227"/>
                    </a:lnTo>
                    <a:lnTo>
                      <a:pt x="3"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98" name="Freeform: Shape 515">
                <a:extLst>
                  <a:ext uri="{FF2B5EF4-FFF2-40B4-BE49-F238E27FC236}">
                    <a16:creationId xmlns:a16="http://schemas.microsoft.com/office/drawing/2014/main" id="{6A245654-47D8-C507-0CB1-42CC3EA16C28}"/>
                  </a:ext>
                </a:extLst>
              </p:cNvPr>
              <p:cNvSpPr/>
              <p:nvPr/>
            </p:nvSpPr>
            <p:spPr>
              <a:xfrm>
                <a:off x="10865797" y="3797090"/>
                <a:ext cx="887004" cy="1527340"/>
              </a:xfrm>
              <a:custGeom>
                <a:avLst/>
                <a:gdLst/>
                <a:ahLst/>
                <a:cxnLst>
                  <a:cxn ang="3cd4">
                    <a:pos x="hc" y="t"/>
                  </a:cxn>
                  <a:cxn ang="cd2">
                    <a:pos x="l" y="vc"/>
                  </a:cxn>
                  <a:cxn ang="cd4">
                    <a:pos x="hc" y="b"/>
                  </a:cxn>
                  <a:cxn ang="0">
                    <a:pos x="r" y="vc"/>
                  </a:cxn>
                </a:cxnLst>
                <a:rect l="l" t="t" r="r" b="b"/>
                <a:pathLst>
                  <a:path w="713" h="1227">
                    <a:moveTo>
                      <a:pt x="713" y="410"/>
                    </a:moveTo>
                    <a:lnTo>
                      <a:pt x="710" y="1227"/>
                    </a:lnTo>
                    <a:lnTo>
                      <a:pt x="0" y="817"/>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grpSp>
      <p:grpSp>
        <p:nvGrpSpPr>
          <p:cNvPr id="215" name="Group 214">
            <a:extLst>
              <a:ext uri="{FF2B5EF4-FFF2-40B4-BE49-F238E27FC236}">
                <a16:creationId xmlns:a16="http://schemas.microsoft.com/office/drawing/2014/main" id="{329D3708-A47B-12F1-8ACF-258B564384EB}"/>
              </a:ext>
            </a:extLst>
          </p:cNvPr>
          <p:cNvGrpSpPr/>
          <p:nvPr/>
        </p:nvGrpSpPr>
        <p:grpSpPr>
          <a:xfrm>
            <a:off x="723662" y="3319956"/>
            <a:ext cx="1845315" cy="619362"/>
            <a:chOff x="724469" y="2531190"/>
            <a:chExt cx="1845315" cy="619362"/>
          </a:xfrm>
        </p:grpSpPr>
        <p:sp>
          <p:nvSpPr>
            <p:cNvPr id="217" name="Rounded Rectangle 216">
              <a:extLst>
                <a:ext uri="{FF2B5EF4-FFF2-40B4-BE49-F238E27FC236}">
                  <a16:creationId xmlns:a16="http://schemas.microsoft.com/office/drawing/2014/main" id="{9EAB6276-0EA2-B91C-FE9E-CAA6BE82C6E7}"/>
                </a:ext>
              </a:extLst>
            </p:cNvPr>
            <p:cNvSpPr/>
            <p:nvPr/>
          </p:nvSpPr>
          <p:spPr>
            <a:xfrm>
              <a:off x="724469" y="2531190"/>
              <a:ext cx="1845315" cy="619362"/>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Bootstrap 2</a:t>
              </a:r>
            </a:p>
          </p:txBody>
        </p:sp>
        <p:grpSp>
          <p:nvGrpSpPr>
            <p:cNvPr id="219" name="Group 218">
              <a:extLst>
                <a:ext uri="{FF2B5EF4-FFF2-40B4-BE49-F238E27FC236}">
                  <a16:creationId xmlns:a16="http://schemas.microsoft.com/office/drawing/2014/main" id="{35EC6698-D89D-C56A-90DA-B01061958C7F}"/>
                </a:ext>
              </a:extLst>
            </p:cNvPr>
            <p:cNvGrpSpPr/>
            <p:nvPr/>
          </p:nvGrpSpPr>
          <p:grpSpPr>
            <a:xfrm>
              <a:off x="837726" y="2620667"/>
              <a:ext cx="381723" cy="440407"/>
              <a:chOff x="10865797" y="3286316"/>
              <a:chExt cx="1766536" cy="2038115"/>
            </a:xfrm>
          </p:grpSpPr>
          <p:sp>
            <p:nvSpPr>
              <p:cNvPr id="220" name="Freeform: Shape 513">
                <a:extLst>
                  <a:ext uri="{FF2B5EF4-FFF2-40B4-BE49-F238E27FC236}">
                    <a16:creationId xmlns:a16="http://schemas.microsoft.com/office/drawing/2014/main" id="{C9F3ACAC-0E56-1A0A-518A-0A0731A166EB}"/>
                  </a:ext>
                </a:extLst>
              </p:cNvPr>
              <p:cNvSpPr/>
              <p:nvPr/>
            </p:nvSpPr>
            <p:spPr>
              <a:xfrm>
                <a:off x="10865797" y="3286316"/>
                <a:ext cx="1766533" cy="2038115"/>
              </a:xfrm>
              <a:custGeom>
                <a:avLst/>
                <a:gdLst/>
                <a:ahLst/>
                <a:cxnLst>
                  <a:cxn ang="3cd4">
                    <a:pos x="hc" y="t"/>
                  </a:cxn>
                  <a:cxn ang="cd2">
                    <a:pos x="l" y="vc"/>
                  </a:cxn>
                  <a:cxn ang="cd4">
                    <a:pos x="hc" y="b"/>
                  </a:cxn>
                  <a:cxn ang="0">
                    <a:pos x="r" y="vc"/>
                  </a:cxn>
                </a:cxnLst>
                <a:rect l="l" t="t" r="r" b="b"/>
                <a:pathLst>
                  <a:path w="1419" h="1637">
                    <a:moveTo>
                      <a:pt x="708" y="0"/>
                    </a:moveTo>
                    <a:lnTo>
                      <a:pt x="2" y="410"/>
                    </a:lnTo>
                    <a:lnTo>
                      <a:pt x="0" y="1227"/>
                    </a:lnTo>
                    <a:lnTo>
                      <a:pt x="710" y="1637"/>
                    </a:lnTo>
                    <a:lnTo>
                      <a:pt x="1416" y="1227"/>
                    </a:lnTo>
                    <a:lnTo>
                      <a:pt x="1419" y="410"/>
                    </a:lnTo>
                    <a:close/>
                  </a:path>
                </a:pathLst>
              </a:custGeom>
              <a:solidFill>
                <a:schemeClr val="accent1"/>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22" name="Freeform: Shape 514">
                <a:extLst>
                  <a:ext uri="{FF2B5EF4-FFF2-40B4-BE49-F238E27FC236}">
                    <a16:creationId xmlns:a16="http://schemas.microsoft.com/office/drawing/2014/main" id="{CCA22EA1-0080-B1F7-377D-9CCA58AFC34C}"/>
                  </a:ext>
                </a:extLst>
              </p:cNvPr>
              <p:cNvSpPr/>
              <p:nvPr/>
            </p:nvSpPr>
            <p:spPr>
              <a:xfrm>
                <a:off x="11750312" y="3797090"/>
                <a:ext cx="882021" cy="1527340"/>
              </a:xfrm>
              <a:custGeom>
                <a:avLst/>
                <a:gdLst/>
                <a:ahLst/>
                <a:cxnLst>
                  <a:cxn ang="3cd4">
                    <a:pos x="hc" y="t"/>
                  </a:cxn>
                  <a:cxn ang="cd2">
                    <a:pos x="l" y="vc"/>
                  </a:cxn>
                  <a:cxn ang="cd4">
                    <a:pos x="hc" y="b"/>
                  </a:cxn>
                  <a:cxn ang="0">
                    <a:pos x="r" y="vc"/>
                  </a:cxn>
                </a:cxnLst>
                <a:rect l="l" t="t" r="r" b="b"/>
                <a:pathLst>
                  <a:path w="709" h="1227">
                    <a:moveTo>
                      <a:pt x="709" y="0"/>
                    </a:moveTo>
                    <a:lnTo>
                      <a:pt x="706" y="817"/>
                    </a:lnTo>
                    <a:lnTo>
                      <a:pt x="0" y="1227"/>
                    </a:lnTo>
                    <a:lnTo>
                      <a:pt x="3"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24" name="Freeform: Shape 515">
                <a:extLst>
                  <a:ext uri="{FF2B5EF4-FFF2-40B4-BE49-F238E27FC236}">
                    <a16:creationId xmlns:a16="http://schemas.microsoft.com/office/drawing/2014/main" id="{A1DE792F-E345-1A94-FA15-73DCE3FD8244}"/>
                  </a:ext>
                </a:extLst>
              </p:cNvPr>
              <p:cNvSpPr/>
              <p:nvPr/>
            </p:nvSpPr>
            <p:spPr>
              <a:xfrm>
                <a:off x="10865797" y="3797090"/>
                <a:ext cx="887004" cy="1527340"/>
              </a:xfrm>
              <a:custGeom>
                <a:avLst/>
                <a:gdLst/>
                <a:ahLst/>
                <a:cxnLst>
                  <a:cxn ang="3cd4">
                    <a:pos x="hc" y="t"/>
                  </a:cxn>
                  <a:cxn ang="cd2">
                    <a:pos x="l" y="vc"/>
                  </a:cxn>
                  <a:cxn ang="cd4">
                    <a:pos x="hc" y="b"/>
                  </a:cxn>
                  <a:cxn ang="0">
                    <a:pos x="r" y="vc"/>
                  </a:cxn>
                </a:cxnLst>
                <a:rect l="l" t="t" r="r" b="b"/>
                <a:pathLst>
                  <a:path w="713" h="1227">
                    <a:moveTo>
                      <a:pt x="713" y="410"/>
                    </a:moveTo>
                    <a:lnTo>
                      <a:pt x="710" y="1227"/>
                    </a:lnTo>
                    <a:lnTo>
                      <a:pt x="0" y="817"/>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grpSp>
      <p:grpSp>
        <p:nvGrpSpPr>
          <p:cNvPr id="226" name="Group 225">
            <a:extLst>
              <a:ext uri="{FF2B5EF4-FFF2-40B4-BE49-F238E27FC236}">
                <a16:creationId xmlns:a16="http://schemas.microsoft.com/office/drawing/2014/main" id="{CD8D8194-52AB-C3F7-5BE5-71DC255D8882}"/>
              </a:ext>
            </a:extLst>
          </p:cNvPr>
          <p:cNvGrpSpPr/>
          <p:nvPr/>
        </p:nvGrpSpPr>
        <p:grpSpPr>
          <a:xfrm>
            <a:off x="719776" y="4302683"/>
            <a:ext cx="1845315" cy="619362"/>
            <a:chOff x="724469" y="2531190"/>
            <a:chExt cx="1845315" cy="619362"/>
          </a:xfrm>
        </p:grpSpPr>
        <p:sp>
          <p:nvSpPr>
            <p:cNvPr id="227" name="Rounded Rectangle 226">
              <a:extLst>
                <a:ext uri="{FF2B5EF4-FFF2-40B4-BE49-F238E27FC236}">
                  <a16:creationId xmlns:a16="http://schemas.microsoft.com/office/drawing/2014/main" id="{191C2682-2099-CCB6-4F81-D79C4C5126EE}"/>
                </a:ext>
              </a:extLst>
            </p:cNvPr>
            <p:cNvSpPr/>
            <p:nvPr/>
          </p:nvSpPr>
          <p:spPr>
            <a:xfrm>
              <a:off x="724469" y="2531190"/>
              <a:ext cx="1845315" cy="619362"/>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Bootstrap 3</a:t>
              </a:r>
            </a:p>
          </p:txBody>
        </p:sp>
        <p:grpSp>
          <p:nvGrpSpPr>
            <p:cNvPr id="228" name="Group 227">
              <a:extLst>
                <a:ext uri="{FF2B5EF4-FFF2-40B4-BE49-F238E27FC236}">
                  <a16:creationId xmlns:a16="http://schemas.microsoft.com/office/drawing/2014/main" id="{A4AD6CC4-D04C-71DE-3CE4-B6384F8DE505}"/>
                </a:ext>
              </a:extLst>
            </p:cNvPr>
            <p:cNvGrpSpPr/>
            <p:nvPr/>
          </p:nvGrpSpPr>
          <p:grpSpPr>
            <a:xfrm>
              <a:off x="837726" y="2620667"/>
              <a:ext cx="381723" cy="440407"/>
              <a:chOff x="10865797" y="3286316"/>
              <a:chExt cx="1766536" cy="2038115"/>
            </a:xfrm>
          </p:grpSpPr>
          <p:sp>
            <p:nvSpPr>
              <p:cNvPr id="232" name="Freeform: Shape 513">
                <a:extLst>
                  <a:ext uri="{FF2B5EF4-FFF2-40B4-BE49-F238E27FC236}">
                    <a16:creationId xmlns:a16="http://schemas.microsoft.com/office/drawing/2014/main" id="{F5F865BF-01CD-795A-F9DE-A0E77532D3BD}"/>
                  </a:ext>
                </a:extLst>
              </p:cNvPr>
              <p:cNvSpPr/>
              <p:nvPr/>
            </p:nvSpPr>
            <p:spPr>
              <a:xfrm>
                <a:off x="10865797" y="3286316"/>
                <a:ext cx="1766533" cy="2038115"/>
              </a:xfrm>
              <a:custGeom>
                <a:avLst/>
                <a:gdLst/>
                <a:ahLst/>
                <a:cxnLst>
                  <a:cxn ang="3cd4">
                    <a:pos x="hc" y="t"/>
                  </a:cxn>
                  <a:cxn ang="cd2">
                    <a:pos x="l" y="vc"/>
                  </a:cxn>
                  <a:cxn ang="cd4">
                    <a:pos x="hc" y="b"/>
                  </a:cxn>
                  <a:cxn ang="0">
                    <a:pos x="r" y="vc"/>
                  </a:cxn>
                </a:cxnLst>
                <a:rect l="l" t="t" r="r" b="b"/>
                <a:pathLst>
                  <a:path w="1419" h="1637">
                    <a:moveTo>
                      <a:pt x="708" y="0"/>
                    </a:moveTo>
                    <a:lnTo>
                      <a:pt x="2" y="410"/>
                    </a:lnTo>
                    <a:lnTo>
                      <a:pt x="0" y="1227"/>
                    </a:lnTo>
                    <a:lnTo>
                      <a:pt x="710" y="1637"/>
                    </a:lnTo>
                    <a:lnTo>
                      <a:pt x="1416" y="1227"/>
                    </a:lnTo>
                    <a:lnTo>
                      <a:pt x="1419" y="410"/>
                    </a:lnTo>
                    <a:close/>
                  </a:path>
                </a:pathLst>
              </a:custGeom>
              <a:solidFill>
                <a:schemeClr val="accent1"/>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34" name="Freeform: Shape 514">
                <a:extLst>
                  <a:ext uri="{FF2B5EF4-FFF2-40B4-BE49-F238E27FC236}">
                    <a16:creationId xmlns:a16="http://schemas.microsoft.com/office/drawing/2014/main" id="{6CAA9859-2603-80A8-05A9-FD4BC01B9B02}"/>
                  </a:ext>
                </a:extLst>
              </p:cNvPr>
              <p:cNvSpPr/>
              <p:nvPr/>
            </p:nvSpPr>
            <p:spPr>
              <a:xfrm>
                <a:off x="11750312" y="3797090"/>
                <a:ext cx="882021" cy="1527340"/>
              </a:xfrm>
              <a:custGeom>
                <a:avLst/>
                <a:gdLst/>
                <a:ahLst/>
                <a:cxnLst>
                  <a:cxn ang="3cd4">
                    <a:pos x="hc" y="t"/>
                  </a:cxn>
                  <a:cxn ang="cd2">
                    <a:pos x="l" y="vc"/>
                  </a:cxn>
                  <a:cxn ang="cd4">
                    <a:pos x="hc" y="b"/>
                  </a:cxn>
                  <a:cxn ang="0">
                    <a:pos x="r" y="vc"/>
                  </a:cxn>
                </a:cxnLst>
                <a:rect l="l" t="t" r="r" b="b"/>
                <a:pathLst>
                  <a:path w="709" h="1227">
                    <a:moveTo>
                      <a:pt x="709" y="0"/>
                    </a:moveTo>
                    <a:lnTo>
                      <a:pt x="706" y="817"/>
                    </a:lnTo>
                    <a:lnTo>
                      <a:pt x="0" y="1227"/>
                    </a:lnTo>
                    <a:lnTo>
                      <a:pt x="3"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36" name="Freeform: Shape 515">
                <a:extLst>
                  <a:ext uri="{FF2B5EF4-FFF2-40B4-BE49-F238E27FC236}">
                    <a16:creationId xmlns:a16="http://schemas.microsoft.com/office/drawing/2014/main" id="{5B7B3D51-1A18-28BA-5E58-4A4E5D04A17D}"/>
                  </a:ext>
                </a:extLst>
              </p:cNvPr>
              <p:cNvSpPr/>
              <p:nvPr/>
            </p:nvSpPr>
            <p:spPr>
              <a:xfrm>
                <a:off x="10865797" y="3797090"/>
                <a:ext cx="887004" cy="1527340"/>
              </a:xfrm>
              <a:custGeom>
                <a:avLst/>
                <a:gdLst/>
                <a:ahLst/>
                <a:cxnLst>
                  <a:cxn ang="3cd4">
                    <a:pos x="hc" y="t"/>
                  </a:cxn>
                  <a:cxn ang="cd2">
                    <a:pos x="l" y="vc"/>
                  </a:cxn>
                  <a:cxn ang="cd4">
                    <a:pos x="hc" y="b"/>
                  </a:cxn>
                  <a:cxn ang="0">
                    <a:pos x="r" y="vc"/>
                  </a:cxn>
                </a:cxnLst>
                <a:rect l="l" t="t" r="r" b="b"/>
                <a:pathLst>
                  <a:path w="713" h="1227">
                    <a:moveTo>
                      <a:pt x="713" y="410"/>
                    </a:moveTo>
                    <a:lnTo>
                      <a:pt x="710" y="1227"/>
                    </a:lnTo>
                    <a:lnTo>
                      <a:pt x="0" y="817"/>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grpSp>
      <p:grpSp>
        <p:nvGrpSpPr>
          <p:cNvPr id="239" name="Group 238">
            <a:extLst>
              <a:ext uri="{FF2B5EF4-FFF2-40B4-BE49-F238E27FC236}">
                <a16:creationId xmlns:a16="http://schemas.microsoft.com/office/drawing/2014/main" id="{3818E5EF-385C-0D48-054D-3B128FB22510}"/>
              </a:ext>
            </a:extLst>
          </p:cNvPr>
          <p:cNvGrpSpPr/>
          <p:nvPr/>
        </p:nvGrpSpPr>
        <p:grpSpPr>
          <a:xfrm>
            <a:off x="724469" y="5177693"/>
            <a:ext cx="1845315" cy="619362"/>
            <a:chOff x="724469" y="2531190"/>
            <a:chExt cx="1845315" cy="619362"/>
          </a:xfrm>
        </p:grpSpPr>
        <p:sp>
          <p:nvSpPr>
            <p:cNvPr id="241" name="Rounded Rectangle 240">
              <a:extLst>
                <a:ext uri="{FF2B5EF4-FFF2-40B4-BE49-F238E27FC236}">
                  <a16:creationId xmlns:a16="http://schemas.microsoft.com/office/drawing/2014/main" id="{DD13EF63-866D-3AD0-4232-AD0E75AE2B9F}"/>
                </a:ext>
              </a:extLst>
            </p:cNvPr>
            <p:cNvSpPr/>
            <p:nvPr/>
          </p:nvSpPr>
          <p:spPr>
            <a:xfrm>
              <a:off x="724469" y="2531190"/>
              <a:ext cx="1845315" cy="619362"/>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Bootstrap 4</a:t>
              </a:r>
            </a:p>
          </p:txBody>
        </p:sp>
        <p:grpSp>
          <p:nvGrpSpPr>
            <p:cNvPr id="242" name="Group 241">
              <a:extLst>
                <a:ext uri="{FF2B5EF4-FFF2-40B4-BE49-F238E27FC236}">
                  <a16:creationId xmlns:a16="http://schemas.microsoft.com/office/drawing/2014/main" id="{7E7C530E-FC6F-B97E-3FC8-6ACA75079D1E}"/>
                </a:ext>
              </a:extLst>
            </p:cNvPr>
            <p:cNvGrpSpPr/>
            <p:nvPr/>
          </p:nvGrpSpPr>
          <p:grpSpPr>
            <a:xfrm>
              <a:off x="837726" y="2620667"/>
              <a:ext cx="381723" cy="440407"/>
              <a:chOff x="10865797" y="3286316"/>
              <a:chExt cx="1766536" cy="2038115"/>
            </a:xfrm>
          </p:grpSpPr>
          <p:sp>
            <p:nvSpPr>
              <p:cNvPr id="243" name="Freeform: Shape 513">
                <a:extLst>
                  <a:ext uri="{FF2B5EF4-FFF2-40B4-BE49-F238E27FC236}">
                    <a16:creationId xmlns:a16="http://schemas.microsoft.com/office/drawing/2014/main" id="{A3D68F03-9A8F-9955-1A3E-76621520A765}"/>
                  </a:ext>
                </a:extLst>
              </p:cNvPr>
              <p:cNvSpPr/>
              <p:nvPr/>
            </p:nvSpPr>
            <p:spPr>
              <a:xfrm>
                <a:off x="10865797" y="3286316"/>
                <a:ext cx="1766533" cy="2038115"/>
              </a:xfrm>
              <a:custGeom>
                <a:avLst/>
                <a:gdLst/>
                <a:ahLst/>
                <a:cxnLst>
                  <a:cxn ang="3cd4">
                    <a:pos x="hc" y="t"/>
                  </a:cxn>
                  <a:cxn ang="cd2">
                    <a:pos x="l" y="vc"/>
                  </a:cxn>
                  <a:cxn ang="cd4">
                    <a:pos x="hc" y="b"/>
                  </a:cxn>
                  <a:cxn ang="0">
                    <a:pos x="r" y="vc"/>
                  </a:cxn>
                </a:cxnLst>
                <a:rect l="l" t="t" r="r" b="b"/>
                <a:pathLst>
                  <a:path w="1419" h="1637">
                    <a:moveTo>
                      <a:pt x="708" y="0"/>
                    </a:moveTo>
                    <a:lnTo>
                      <a:pt x="2" y="410"/>
                    </a:lnTo>
                    <a:lnTo>
                      <a:pt x="0" y="1227"/>
                    </a:lnTo>
                    <a:lnTo>
                      <a:pt x="710" y="1637"/>
                    </a:lnTo>
                    <a:lnTo>
                      <a:pt x="1416" y="1227"/>
                    </a:lnTo>
                    <a:lnTo>
                      <a:pt x="1419" y="410"/>
                    </a:lnTo>
                    <a:close/>
                  </a:path>
                </a:pathLst>
              </a:custGeom>
              <a:solidFill>
                <a:schemeClr val="accent1"/>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44" name="Freeform: Shape 514">
                <a:extLst>
                  <a:ext uri="{FF2B5EF4-FFF2-40B4-BE49-F238E27FC236}">
                    <a16:creationId xmlns:a16="http://schemas.microsoft.com/office/drawing/2014/main" id="{EE28DDDF-E064-24A4-3E61-F27B4B1C1F2A}"/>
                  </a:ext>
                </a:extLst>
              </p:cNvPr>
              <p:cNvSpPr/>
              <p:nvPr/>
            </p:nvSpPr>
            <p:spPr>
              <a:xfrm>
                <a:off x="11750312" y="3797090"/>
                <a:ext cx="882021" cy="1527340"/>
              </a:xfrm>
              <a:custGeom>
                <a:avLst/>
                <a:gdLst/>
                <a:ahLst/>
                <a:cxnLst>
                  <a:cxn ang="3cd4">
                    <a:pos x="hc" y="t"/>
                  </a:cxn>
                  <a:cxn ang="cd2">
                    <a:pos x="l" y="vc"/>
                  </a:cxn>
                  <a:cxn ang="cd4">
                    <a:pos x="hc" y="b"/>
                  </a:cxn>
                  <a:cxn ang="0">
                    <a:pos x="r" y="vc"/>
                  </a:cxn>
                </a:cxnLst>
                <a:rect l="l" t="t" r="r" b="b"/>
                <a:pathLst>
                  <a:path w="709" h="1227">
                    <a:moveTo>
                      <a:pt x="709" y="0"/>
                    </a:moveTo>
                    <a:lnTo>
                      <a:pt x="706" y="817"/>
                    </a:lnTo>
                    <a:lnTo>
                      <a:pt x="0" y="1227"/>
                    </a:lnTo>
                    <a:lnTo>
                      <a:pt x="3"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45" name="Freeform: Shape 515">
                <a:extLst>
                  <a:ext uri="{FF2B5EF4-FFF2-40B4-BE49-F238E27FC236}">
                    <a16:creationId xmlns:a16="http://schemas.microsoft.com/office/drawing/2014/main" id="{460FFFA8-8DAC-655E-2200-CADDCAFC2A01}"/>
                  </a:ext>
                </a:extLst>
              </p:cNvPr>
              <p:cNvSpPr/>
              <p:nvPr/>
            </p:nvSpPr>
            <p:spPr>
              <a:xfrm>
                <a:off x="10865797" y="3797090"/>
                <a:ext cx="887004" cy="1527340"/>
              </a:xfrm>
              <a:custGeom>
                <a:avLst/>
                <a:gdLst/>
                <a:ahLst/>
                <a:cxnLst>
                  <a:cxn ang="3cd4">
                    <a:pos x="hc" y="t"/>
                  </a:cxn>
                  <a:cxn ang="cd2">
                    <a:pos x="l" y="vc"/>
                  </a:cxn>
                  <a:cxn ang="cd4">
                    <a:pos x="hc" y="b"/>
                  </a:cxn>
                  <a:cxn ang="0">
                    <a:pos x="r" y="vc"/>
                  </a:cxn>
                </a:cxnLst>
                <a:rect l="l" t="t" r="r" b="b"/>
                <a:pathLst>
                  <a:path w="713" h="1227">
                    <a:moveTo>
                      <a:pt x="713" y="410"/>
                    </a:moveTo>
                    <a:lnTo>
                      <a:pt x="710" y="1227"/>
                    </a:lnTo>
                    <a:lnTo>
                      <a:pt x="0" y="817"/>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grpSp>
    </p:spTree>
    <p:extLst>
      <p:ext uri="{BB962C8B-B14F-4D97-AF65-F5344CB8AC3E}">
        <p14:creationId xmlns:p14="http://schemas.microsoft.com/office/powerpoint/2010/main" val="345255766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9" name="Straight Arrow Connector 228">
            <a:extLst>
              <a:ext uri="{FF2B5EF4-FFF2-40B4-BE49-F238E27FC236}">
                <a16:creationId xmlns:a16="http://schemas.microsoft.com/office/drawing/2014/main" id="{9EF808D1-3AA3-8650-5617-85DFFA517C3D}"/>
              </a:ext>
            </a:extLst>
          </p:cNvPr>
          <p:cNvCxnSpPr>
            <a:cxnSpLocks/>
          </p:cNvCxnSpPr>
          <p:nvPr/>
        </p:nvCxnSpPr>
        <p:spPr>
          <a:xfrm>
            <a:off x="4424748" y="3627257"/>
            <a:ext cx="16166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0" name="Straight Arrow Connector 229">
            <a:extLst>
              <a:ext uri="{FF2B5EF4-FFF2-40B4-BE49-F238E27FC236}">
                <a16:creationId xmlns:a16="http://schemas.microsoft.com/office/drawing/2014/main" id="{BCE262B8-A075-84E2-73AD-0C9FBB3AB51E}"/>
              </a:ext>
            </a:extLst>
          </p:cNvPr>
          <p:cNvCxnSpPr>
            <a:cxnSpLocks/>
          </p:cNvCxnSpPr>
          <p:nvPr/>
        </p:nvCxnSpPr>
        <p:spPr>
          <a:xfrm>
            <a:off x="4424748" y="4590298"/>
            <a:ext cx="16166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1" name="Straight Arrow Connector 230">
            <a:extLst>
              <a:ext uri="{FF2B5EF4-FFF2-40B4-BE49-F238E27FC236}">
                <a16:creationId xmlns:a16="http://schemas.microsoft.com/office/drawing/2014/main" id="{C9A64CA0-B821-78E0-3F7D-11AAF1D8D71D}"/>
              </a:ext>
            </a:extLst>
          </p:cNvPr>
          <p:cNvCxnSpPr>
            <a:cxnSpLocks/>
          </p:cNvCxnSpPr>
          <p:nvPr/>
        </p:nvCxnSpPr>
        <p:spPr>
          <a:xfrm>
            <a:off x="4424748" y="5472277"/>
            <a:ext cx="16166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CD03B3C-B7E7-6A09-95C3-CA33F66123B7}"/>
              </a:ext>
            </a:extLst>
          </p:cNvPr>
          <p:cNvSpPr>
            <a:spLocks noGrp="1"/>
          </p:cNvSpPr>
          <p:nvPr>
            <p:ph type="title"/>
          </p:nvPr>
        </p:nvSpPr>
        <p:spPr/>
        <p:txBody>
          <a:bodyPr/>
          <a:lstStyle/>
          <a:p>
            <a:r>
              <a:rPr lang="en-US" dirty="0"/>
              <a:t>Bagged Regression Tree</a:t>
            </a:r>
          </a:p>
        </p:txBody>
      </p:sp>
      <p:grpSp>
        <p:nvGrpSpPr>
          <p:cNvPr id="182" name="Group 181">
            <a:extLst>
              <a:ext uri="{FF2B5EF4-FFF2-40B4-BE49-F238E27FC236}">
                <a16:creationId xmlns:a16="http://schemas.microsoft.com/office/drawing/2014/main" id="{50D1C69E-EDD9-9462-C363-F1D47969ED28}"/>
              </a:ext>
            </a:extLst>
          </p:cNvPr>
          <p:cNvGrpSpPr/>
          <p:nvPr/>
        </p:nvGrpSpPr>
        <p:grpSpPr>
          <a:xfrm>
            <a:off x="5961589" y="2473606"/>
            <a:ext cx="1599339" cy="604385"/>
            <a:chOff x="5292935" y="2464499"/>
            <a:chExt cx="1599339" cy="604385"/>
          </a:xfrm>
        </p:grpSpPr>
        <p:grpSp>
          <p:nvGrpSpPr>
            <p:cNvPr id="109" name="Group 108">
              <a:extLst>
                <a:ext uri="{FF2B5EF4-FFF2-40B4-BE49-F238E27FC236}">
                  <a16:creationId xmlns:a16="http://schemas.microsoft.com/office/drawing/2014/main" id="{A6219DC1-6482-B636-E649-DF3EED511BC8}"/>
                </a:ext>
              </a:extLst>
            </p:cNvPr>
            <p:cNvGrpSpPr/>
            <p:nvPr/>
          </p:nvGrpSpPr>
          <p:grpSpPr>
            <a:xfrm>
              <a:off x="5292935" y="2464499"/>
              <a:ext cx="1599339" cy="604385"/>
              <a:chOff x="6583915" y="3372891"/>
              <a:chExt cx="2720699" cy="1028144"/>
            </a:xfrm>
          </p:grpSpPr>
          <p:sp>
            <p:nvSpPr>
              <p:cNvPr id="110" name="Freeform 5">
                <a:extLst>
                  <a:ext uri="{FF2B5EF4-FFF2-40B4-BE49-F238E27FC236}">
                    <a16:creationId xmlns:a16="http://schemas.microsoft.com/office/drawing/2014/main" id="{6EE6FFD3-F512-CFFC-5C4E-EEB8DAD58603}"/>
                  </a:ext>
                </a:extLst>
              </p:cNvPr>
              <p:cNvSpPr>
                <a:spLocks/>
              </p:cNvSpPr>
              <p:nvPr/>
            </p:nvSpPr>
            <p:spPr bwMode="auto">
              <a:xfrm>
                <a:off x="8080515"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111" name="Freeform 5">
                <a:extLst>
                  <a:ext uri="{FF2B5EF4-FFF2-40B4-BE49-F238E27FC236}">
                    <a16:creationId xmlns:a16="http://schemas.microsoft.com/office/drawing/2014/main" id="{A949BCDA-74E6-0893-5E21-17A7789DFDA9}"/>
                  </a:ext>
                </a:extLst>
              </p:cNvPr>
              <p:cNvSpPr>
                <a:spLocks/>
              </p:cNvSpPr>
              <p:nvPr/>
            </p:nvSpPr>
            <p:spPr bwMode="auto">
              <a:xfrm>
                <a:off x="7361204"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nvGrpSpPr>
              <p:cNvPr id="112" name="Group 111">
                <a:extLst>
                  <a:ext uri="{FF2B5EF4-FFF2-40B4-BE49-F238E27FC236}">
                    <a16:creationId xmlns:a16="http://schemas.microsoft.com/office/drawing/2014/main" id="{D085C020-2C8F-E6FC-A62C-99DEA3F9404C}"/>
                  </a:ext>
                </a:extLst>
              </p:cNvPr>
              <p:cNvGrpSpPr/>
              <p:nvPr/>
            </p:nvGrpSpPr>
            <p:grpSpPr>
              <a:xfrm>
                <a:off x="6583915" y="3372892"/>
                <a:ext cx="1234278" cy="1028143"/>
                <a:chOff x="1451772" y="4010848"/>
                <a:chExt cx="5337253" cy="4445888"/>
              </a:xfrm>
            </p:grpSpPr>
            <p:sp>
              <p:nvSpPr>
                <p:cNvPr id="115" name="Freeform 5">
                  <a:extLst>
                    <a:ext uri="{FF2B5EF4-FFF2-40B4-BE49-F238E27FC236}">
                      <a16:creationId xmlns:a16="http://schemas.microsoft.com/office/drawing/2014/main" id="{BC4C0450-306A-618D-9305-DBA76F7B5038}"/>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116" name="Freeform 6">
                  <a:extLst>
                    <a:ext uri="{FF2B5EF4-FFF2-40B4-BE49-F238E27FC236}">
                      <a16:creationId xmlns:a16="http://schemas.microsoft.com/office/drawing/2014/main" id="{0B45E658-9E30-8E55-4654-C6C13DF5B387}"/>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113" name="Freeform 6">
                <a:extLst>
                  <a:ext uri="{FF2B5EF4-FFF2-40B4-BE49-F238E27FC236}">
                    <a16:creationId xmlns:a16="http://schemas.microsoft.com/office/drawing/2014/main" id="{A1B9118E-0E71-1265-2DAC-FCA9E79A8045}"/>
                  </a:ext>
                </a:extLst>
              </p:cNvPr>
              <p:cNvSpPr>
                <a:spLocks/>
              </p:cNvSpPr>
              <p:nvPr/>
            </p:nvSpPr>
            <p:spPr bwMode="auto">
              <a:xfrm>
                <a:off x="7343923"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114" name="Freeform 6">
                <a:extLst>
                  <a:ext uri="{FF2B5EF4-FFF2-40B4-BE49-F238E27FC236}">
                    <a16:creationId xmlns:a16="http://schemas.microsoft.com/office/drawing/2014/main" id="{A0784A5C-593A-EBF7-8A51-EA44468AA479}"/>
                  </a:ext>
                </a:extLst>
              </p:cNvPr>
              <p:cNvSpPr>
                <a:spLocks/>
              </p:cNvSpPr>
              <p:nvPr/>
            </p:nvSpPr>
            <p:spPr bwMode="auto">
              <a:xfrm>
                <a:off x="8063234"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4586E570-0CA5-B90D-8E1F-D468BE4E6123}"/>
                    </a:ext>
                  </a:extLst>
                </p:cNvPr>
                <p:cNvSpPr txBox="1"/>
                <p:nvPr/>
              </p:nvSpPr>
              <p:spPr>
                <a:xfrm>
                  <a:off x="5452163" y="2535082"/>
                  <a:ext cx="12630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bg1"/>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panose="02040503050406030204" pitchFamily="18" charset="0"/>
                                  </a:rPr>
                                  <m:t>𝑦</m:t>
                                </m:r>
                              </m:e>
                            </m:acc>
                          </m:e>
                          <m:sub>
                            <m:r>
                              <a:rPr lang="en-US" i="1">
                                <a:solidFill>
                                  <a:schemeClr val="bg1"/>
                                </a:solidFill>
                                <a:latin typeface="Cambria Math" panose="02040503050406030204" pitchFamily="18" charset="0"/>
                              </a:rPr>
                              <m:t>𝑇</m:t>
                            </m:r>
                            <m:r>
                              <a:rPr lang="en-US" i="1">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117" name="TextBox 116">
                  <a:extLst>
                    <a:ext uri="{FF2B5EF4-FFF2-40B4-BE49-F238E27FC236}">
                      <a16:creationId xmlns:a16="http://schemas.microsoft.com/office/drawing/2014/main" id="{4586E570-0CA5-B90D-8E1F-D468BE4E6123}"/>
                    </a:ext>
                  </a:extLst>
                </p:cNvPr>
                <p:cNvSpPr txBox="1">
                  <a:spLocks noRot="1" noChangeAspect="1" noMove="1" noResize="1" noEditPoints="1" noAdjustHandles="1" noChangeArrowheads="1" noChangeShapeType="1" noTextEdit="1"/>
                </p:cNvSpPr>
                <p:nvPr/>
              </p:nvSpPr>
              <p:spPr>
                <a:xfrm>
                  <a:off x="5452163" y="2535082"/>
                  <a:ext cx="1263060" cy="369332"/>
                </a:xfrm>
                <a:prstGeom prst="rect">
                  <a:avLst/>
                </a:prstGeom>
                <a:blipFill>
                  <a:blip r:embed="rId2"/>
                  <a:stretch>
                    <a:fillRect b="-10000"/>
                  </a:stretch>
                </a:blipFill>
              </p:spPr>
              <p:txBody>
                <a:bodyPr/>
                <a:lstStyle/>
                <a:p>
                  <a:r>
                    <a:rPr lang="en-US">
                      <a:noFill/>
                    </a:rPr>
                    <a:t> </a:t>
                  </a:r>
                </a:p>
              </p:txBody>
            </p:sp>
          </mc:Fallback>
        </mc:AlternateContent>
      </p:grpSp>
      <p:grpSp>
        <p:nvGrpSpPr>
          <p:cNvPr id="178" name="Group 177">
            <a:extLst>
              <a:ext uri="{FF2B5EF4-FFF2-40B4-BE49-F238E27FC236}">
                <a16:creationId xmlns:a16="http://schemas.microsoft.com/office/drawing/2014/main" id="{427A9AE0-A947-DB68-0CD4-54C3E74D5DC2}"/>
              </a:ext>
            </a:extLst>
          </p:cNvPr>
          <p:cNvGrpSpPr/>
          <p:nvPr/>
        </p:nvGrpSpPr>
        <p:grpSpPr>
          <a:xfrm>
            <a:off x="3186708" y="2529253"/>
            <a:ext cx="1346336" cy="493090"/>
            <a:chOff x="2873569" y="1644898"/>
            <a:chExt cx="1346336" cy="493090"/>
          </a:xfrm>
        </p:grpSpPr>
        <p:sp>
          <p:nvSpPr>
            <p:cNvPr id="147" name="Rounded Rectangle 146">
              <a:extLst>
                <a:ext uri="{FF2B5EF4-FFF2-40B4-BE49-F238E27FC236}">
                  <a16:creationId xmlns:a16="http://schemas.microsoft.com/office/drawing/2014/main" id="{C4D91A67-F23F-59EC-4942-B9CBAF5AFF93}"/>
                </a:ext>
              </a:extLst>
            </p:cNvPr>
            <p:cNvSpPr/>
            <p:nvPr/>
          </p:nvSpPr>
          <p:spPr>
            <a:xfrm>
              <a:off x="2873569" y="1644898"/>
              <a:ext cx="1346336" cy="493090"/>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Tree 1</a:t>
              </a:r>
            </a:p>
          </p:txBody>
        </p:sp>
        <p:grpSp>
          <p:nvGrpSpPr>
            <p:cNvPr id="100" name="Group 99">
              <a:extLst>
                <a:ext uri="{FF2B5EF4-FFF2-40B4-BE49-F238E27FC236}">
                  <a16:creationId xmlns:a16="http://schemas.microsoft.com/office/drawing/2014/main" id="{EC622B7F-B01E-8FB6-C8D3-A2B73D5FF6A2}"/>
                </a:ext>
              </a:extLst>
            </p:cNvPr>
            <p:cNvGrpSpPr/>
            <p:nvPr/>
          </p:nvGrpSpPr>
          <p:grpSpPr>
            <a:xfrm>
              <a:off x="2991864" y="1696713"/>
              <a:ext cx="394747" cy="389460"/>
              <a:chOff x="6268681" y="2169961"/>
              <a:chExt cx="2844800" cy="2806700"/>
            </a:xfrm>
          </p:grpSpPr>
          <p:pic>
            <p:nvPicPr>
              <p:cNvPr id="101" name="Picture 100">
                <a:extLst>
                  <a:ext uri="{FF2B5EF4-FFF2-40B4-BE49-F238E27FC236}">
                    <a16:creationId xmlns:a16="http://schemas.microsoft.com/office/drawing/2014/main" id="{54EB3229-7623-CE22-F1D5-DA6EDE0CEB4F}"/>
                  </a:ext>
                </a:extLst>
              </p:cNvPr>
              <p:cNvPicPr>
                <a:picLocks noChangeAspect="1"/>
              </p:cNvPicPr>
              <p:nvPr/>
            </p:nvPicPr>
            <p:blipFill>
              <a:blip r:embed="rId3"/>
              <a:stretch>
                <a:fillRect/>
              </a:stretch>
            </p:blipFill>
            <p:spPr>
              <a:xfrm>
                <a:off x="6268681" y="2169961"/>
                <a:ext cx="2844800" cy="2806700"/>
              </a:xfrm>
              <a:prstGeom prst="rect">
                <a:avLst/>
              </a:prstGeom>
            </p:spPr>
          </p:pic>
          <p:grpSp>
            <p:nvGrpSpPr>
              <p:cNvPr id="102" name="Group 101">
                <a:extLst>
                  <a:ext uri="{FF2B5EF4-FFF2-40B4-BE49-F238E27FC236}">
                    <a16:creationId xmlns:a16="http://schemas.microsoft.com/office/drawing/2014/main" id="{15A42C2E-B2F8-5DF4-63F7-0C2054D97EB6}"/>
                  </a:ext>
                </a:extLst>
              </p:cNvPr>
              <p:cNvGrpSpPr/>
              <p:nvPr/>
            </p:nvGrpSpPr>
            <p:grpSpPr>
              <a:xfrm>
                <a:off x="7271788" y="3089738"/>
                <a:ext cx="838586" cy="967601"/>
                <a:chOff x="13278886" y="7059948"/>
                <a:chExt cx="635751" cy="733560"/>
              </a:xfrm>
            </p:grpSpPr>
            <p:sp>
              <p:nvSpPr>
                <p:cNvPr id="106" name="Freeform: Shape 526">
                  <a:extLst>
                    <a:ext uri="{FF2B5EF4-FFF2-40B4-BE49-F238E27FC236}">
                      <a16:creationId xmlns:a16="http://schemas.microsoft.com/office/drawing/2014/main" id="{DEF7E5C3-D987-FDA1-C7B6-1F74EBC6C621}"/>
                    </a:ext>
                  </a:extLst>
                </p:cNvPr>
                <p:cNvSpPr/>
                <p:nvPr/>
              </p:nvSpPr>
              <p:spPr>
                <a:xfrm>
                  <a:off x="13278886" y="7059948"/>
                  <a:ext cx="635751" cy="733560"/>
                </a:xfrm>
                <a:custGeom>
                  <a:avLst/>
                  <a:gdLst/>
                  <a:ahLst/>
                  <a:cxnLst>
                    <a:cxn ang="3cd4">
                      <a:pos x="hc" y="t"/>
                    </a:cxn>
                    <a:cxn ang="cd2">
                      <a:pos x="l" y="vc"/>
                    </a:cxn>
                    <a:cxn ang="cd4">
                      <a:pos x="hc" y="b"/>
                    </a:cxn>
                    <a:cxn ang="0">
                      <a:pos x="r" y="vc"/>
                    </a:cxn>
                  </a:cxnLst>
                  <a:rect l="l" t="t" r="r" b="b"/>
                  <a:pathLst>
                    <a:path w="1418" h="1636">
                      <a:moveTo>
                        <a:pt x="708" y="0"/>
                      </a:moveTo>
                      <a:lnTo>
                        <a:pt x="2" y="410"/>
                      </a:lnTo>
                      <a:lnTo>
                        <a:pt x="0" y="1226"/>
                      </a:lnTo>
                      <a:lnTo>
                        <a:pt x="711" y="1636"/>
                      </a:lnTo>
                      <a:lnTo>
                        <a:pt x="1416" y="1226"/>
                      </a:lnTo>
                      <a:lnTo>
                        <a:pt x="1418" y="410"/>
                      </a:lnTo>
                      <a:close/>
                    </a:path>
                  </a:pathLst>
                </a:custGeom>
                <a:solidFill>
                  <a:schemeClr val="accent6"/>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07" name="Freeform: Shape 527">
                  <a:extLst>
                    <a:ext uri="{FF2B5EF4-FFF2-40B4-BE49-F238E27FC236}">
                      <a16:creationId xmlns:a16="http://schemas.microsoft.com/office/drawing/2014/main" id="{F81E4024-BDE6-95CC-53D7-D3C25663C463}"/>
                    </a:ext>
                  </a:extLst>
                </p:cNvPr>
                <p:cNvSpPr/>
                <p:nvPr/>
              </p:nvSpPr>
              <p:spPr>
                <a:xfrm>
                  <a:off x="13597436" y="7243899"/>
                  <a:ext cx="316755" cy="549608"/>
                </a:xfrm>
                <a:custGeom>
                  <a:avLst/>
                  <a:gdLst/>
                  <a:ahLst/>
                  <a:cxnLst>
                    <a:cxn ang="3cd4">
                      <a:pos x="hc" y="t"/>
                    </a:cxn>
                    <a:cxn ang="cd2">
                      <a:pos x="l" y="vc"/>
                    </a:cxn>
                    <a:cxn ang="cd4">
                      <a:pos x="hc" y="b"/>
                    </a:cxn>
                    <a:cxn ang="0">
                      <a:pos x="r" y="vc"/>
                    </a:cxn>
                  </a:cxnLst>
                  <a:rect l="l" t="t" r="r" b="b"/>
                  <a:pathLst>
                    <a:path w="707" h="1226">
                      <a:moveTo>
                        <a:pt x="707" y="0"/>
                      </a:moveTo>
                      <a:lnTo>
                        <a:pt x="705" y="816"/>
                      </a:lnTo>
                      <a:lnTo>
                        <a:pt x="0" y="1226"/>
                      </a:lnTo>
                      <a:lnTo>
                        <a:pt x="1"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08" name="Freeform: Shape 528">
                  <a:extLst>
                    <a:ext uri="{FF2B5EF4-FFF2-40B4-BE49-F238E27FC236}">
                      <a16:creationId xmlns:a16="http://schemas.microsoft.com/office/drawing/2014/main" id="{C136BA84-159B-2A7C-336C-0E191149BB01}"/>
                    </a:ext>
                  </a:extLst>
                </p:cNvPr>
                <p:cNvSpPr/>
                <p:nvPr/>
              </p:nvSpPr>
              <p:spPr>
                <a:xfrm>
                  <a:off x="13278886" y="7243899"/>
                  <a:ext cx="318998" cy="549608"/>
                </a:xfrm>
                <a:custGeom>
                  <a:avLst/>
                  <a:gdLst/>
                  <a:ahLst/>
                  <a:cxnLst>
                    <a:cxn ang="3cd4">
                      <a:pos x="hc" y="t"/>
                    </a:cxn>
                    <a:cxn ang="cd2">
                      <a:pos x="l" y="vc"/>
                    </a:cxn>
                    <a:cxn ang="cd4">
                      <a:pos x="hc" y="b"/>
                    </a:cxn>
                    <a:cxn ang="0">
                      <a:pos x="r" y="vc"/>
                    </a:cxn>
                  </a:cxnLst>
                  <a:rect l="l" t="t" r="r" b="b"/>
                  <a:pathLst>
                    <a:path w="712" h="1226">
                      <a:moveTo>
                        <a:pt x="712" y="410"/>
                      </a:moveTo>
                      <a:lnTo>
                        <a:pt x="711" y="1226"/>
                      </a:lnTo>
                      <a:lnTo>
                        <a:pt x="0" y="816"/>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sp>
            <p:nvSpPr>
              <p:cNvPr id="103" name="Oval 102">
                <a:extLst>
                  <a:ext uri="{FF2B5EF4-FFF2-40B4-BE49-F238E27FC236}">
                    <a16:creationId xmlns:a16="http://schemas.microsoft.com/office/drawing/2014/main" id="{40A061D7-0A7A-540B-AB51-F69A0BDD97B4}"/>
                  </a:ext>
                </a:extLst>
              </p:cNvPr>
              <p:cNvSpPr/>
              <p:nvPr/>
            </p:nvSpPr>
            <p:spPr>
              <a:xfrm>
                <a:off x="7739208" y="4132407"/>
                <a:ext cx="280811" cy="28081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D4C92B03-921F-8564-E7C8-475042E21F92}"/>
                  </a:ext>
                </a:extLst>
              </p:cNvPr>
              <p:cNvSpPr/>
              <p:nvPr/>
            </p:nvSpPr>
            <p:spPr>
              <a:xfrm>
                <a:off x="8066011" y="2918284"/>
                <a:ext cx="280811" cy="28081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AF6911F9-EF46-762B-3183-AE4BFBB1B919}"/>
                  </a:ext>
                </a:extLst>
              </p:cNvPr>
              <p:cNvSpPr/>
              <p:nvPr/>
            </p:nvSpPr>
            <p:spPr>
              <a:xfrm>
                <a:off x="6854564" y="3237668"/>
                <a:ext cx="280811" cy="28081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9" name="Group 178">
            <a:extLst>
              <a:ext uri="{FF2B5EF4-FFF2-40B4-BE49-F238E27FC236}">
                <a16:creationId xmlns:a16="http://schemas.microsoft.com/office/drawing/2014/main" id="{9B7B1C55-074B-D06D-F87F-0FFCC3759762}"/>
              </a:ext>
            </a:extLst>
          </p:cNvPr>
          <p:cNvGrpSpPr/>
          <p:nvPr/>
        </p:nvGrpSpPr>
        <p:grpSpPr>
          <a:xfrm>
            <a:off x="3186707" y="3388320"/>
            <a:ext cx="1346337" cy="493090"/>
            <a:chOff x="2848957" y="2307773"/>
            <a:chExt cx="1346337" cy="493090"/>
          </a:xfrm>
        </p:grpSpPr>
        <p:sp>
          <p:nvSpPr>
            <p:cNvPr id="148" name="Rounded Rectangle 147">
              <a:extLst>
                <a:ext uri="{FF2B5EF4-FFF2-40B4-BE49-F238E27FC236}">
                  <a16:creationId xmlns:a16="http://schemas.microsoft.com/office/drawing/2014/main" id="{E18C7CB7-DE0A-1104-E858-37063835E4B5}"/>
                </a:ext>
              </a:extLst>
            </p:cNvPr>
            <p:cNvSpPr/>
            <p:nvPr/>
          </p:nvSpPr>
          <p:spPr>
            <a:xfrm>
              <a:off x="2848957" y="2307773"/>
              <a:ext cx="1346337" cy="493090"/>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Tree 2</a:t>
              </a:r>
            </a:p>
          </p:txBody>
        </p:sp>
        <p:grpSp>
          <p:nvGrpSpPr>
            <p:cNvPr id="149" name="Group 148">
              <a:extLst>
                <a:ext uri="{FF2B5EF4-FFF2-40B4-BE49-F238E27FC236}">
                  <a16:creationId xmlns:a16="http://schemas.microsoft.com/office/drawing/2014/main" id="{84D55F40-A472-30A5-0126-5A95024653D5}"/>
                </a:ext>
              </a:extLst>
            </p:cNvPr>
            <p:cNvGrpSpPr/>
            <p:nvPr/>
          </p:nvGrpSpPr>
          <p:grpSpPr>
            <a:xfrm>
              <a:off x="2967253" y="2359588"/>
              <a:ext cx="394747" cy="389460"/>
              <a:chOff x="6268681" y="2169961"/>
              <a:chExt cx="2844800" cy="2806700"/>
            </a:xfrm>
          </p:grpSpPr>
          <p:pic>
            <p:nvPicPr>
              <p:cNvPr id="150" name="Picture 149">
                <a:extLst>
                  <a:ext uri="{FF2B5EF4-FFF2-40B4-BE49-F238E27FC236}">
                    <a16:creationId xmlns:a16="http://schemas.microsoft.com/office/drawing/2014/main" id="{A77A5756-10F7-FC86-52C1-B3A0ABBCD132}"/>
                  </a:ext>
                </a:extLst>
              </p:cNvPr>
              <p:cNvPicPr>
                <a:picLocks noChangeAspect="1"/>
              </p:cNvPicPr>
              <p:nvPr/>
            </p:nvPicPr>
            <p:blipFill>
              <a:blip r:embed="rId3"/>
              <a:stretch>
                <a:fillRect/>
              </a:stretch>
            </p:blipFill>
            <p:spPr>
              <a:xfrm>
                <a:off x="6268681" y="2169961"/>
                <a:ext cx="2844800" cy="2806700"/>
              </a:xfrm>
              <a:prstGeom prst="rect">
                <a:avLst/>
              </a:prstGeom>
            </p:spPr>
          </p:pic>
          <p:grpSp>
            <p:nvGrpSpPr>
              <p:cNvPr id="151" name="Group 150">
                <a:extLst>
                  <a:ext uri="{FF2B5EF4-FFF2-40B4-BE49-F238E27FC236}">
                    <a16:creationId xmlns:a16="http://schemas.microsoft.com/office/drawing/2014/main" id="{15956155-7E65-4A17-7C81-EEFE8795CBFB}"/>
                  </a:ext>
                </a:extLst>
              </p:cNvPr>
              <p:cNvGrpSpPr/>
              <p:nvPr/>
            </p:nvGrpSpPr>
            <p:grpSpPr>
              <a:xfrm>
                <a:off x="7271788" y="3089738"/>
                <a:ext cx="838586" cy="967601"/>
                <a:chOff x="13278886" y="7059948"/>
                <a:chExt cx="635751" cy="733560"/>
              </a:xfrm>
            </p:grpSpPr>
            <p:sp>
              <p:nvSpPr>
                <p:cNvPr id="155" name="Freeform: Shape 526">
                  <a:extLst>
                    <a:ext uri="{FF2B5EF4-FFF2-40B4-BE49-F238E27FC236}">
                      <a16:creationId xmlns:a16="http://schemas.microsoft.com/office/drawing/2014/main" id="{C00F05F9-BDC4-A8C5-001B-06F7461309AE}"/>
                    </a:ext>
                  </a:extLst>
                </p:cNvPr>
                <p:cNvSpPr/>
                <p:nvPr/>
              </p:nvSpPr>
              <p:spPr>
                <a:xfrm>
                  <a:off x="13278886" y="7059948"/>
                  <a:ext cx="635751" cy="733560"/>
                </a:xfrm>
                <a:custGeom>
                  <a:avLst/>
                  <a:gdLst/>
                  <a:ahLst/>
                  <a:cxnLst>
                    <a:cxn ang="3cd4">
                      <a:pos x="hc" y="t"/>
                    </a:cxn>
                    <a:cxn ang="cd2">
                      <a:pos x="l" y="vc"/>
                    </a:cxn>
                    <a:cxn ang="cd4">
                      <a:pos x="hc" y="b"/>
                    </a:cxn>
                    <a:cxn ang="0">
                      <a:pos x="r" y="vc"/>
                    </a:cxn>
                  </a:cxnLst>
                  <a:rect l="l" t="t" r="r" b="b"/>
                  <a:pathLst>
                    <a:path w="1418" h="1636">
                      <a:moveTo>
                        <a:pt x="708" y="0"/>
                      </a:moveTo>
                      <a:lnTo>
                        <a:pt x="2" y="410"/>
                      </a:lnTo>
                      <a:lnTo>
                        <a:pt x="0" y="1226"/>
                      </a:lnTo>
                      <a:lnTo>
                        <a:pt x="711" y="1636"/>
                      </a:lnTo>
                      <a:lnTo>
                        <a:pt x="1416" y="1226"/>
                      </a:lnTo>
                      <a:lnTo>
                        <a:pt x="1418" y="410"/>
                      </a:lnTo>
                      <a:close/>
                    </a:path>
                  </a:pathLst>
                </a:custGeom>
                <a:solidFill>
                  <a:schemeClr val="accent6"/>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56" name="Freeform: Shape 527">
                  <a:extLst>
                    <a:ext uri="{FF2B5EF4-FFF2-40B4-BE49-F238E27FC236}">
                      <a16:creationId xmlns:a16="http://schemas.microsoft.com/office/drawing/2014/main" id="{39481C19-267D-87ED-7FC3-C5876CF5DC71}"/>
                    </a:ext>
                  </a:extLst>
                </p:cNvPr>
                <p:cNvSpPr/>
                <p:nvPr/>
              </p:nvSpPr>
              <p:spPr>
                <a:xfrm>
                  <a:off x="13597436" y="7243899"/>
                  <a:ext cx="316755" cy="549608"/>
                </a:xfrm>
                <a:custGeom>
                  <a:avLst/>
                  <a:gdLst/>
                  <a:ahLst/>
                  <a:cxnLst>
                    <a:cxn ang="3cd4">
                      <a:pos x="hc" y="t"/>
                    </a:cxn>
                    <a:cxn ang="cd2">
                      <a:pos x="l" y="vc"/>
                    </a:cxn>
                    <a:cxn ang="cd4">
                      <a:pos x="hc" y="b"/>
                    </a:cxn>
                    <a:cxn ang="0">
                      <a:pos x="r" y="vc"/>
                    </a:cxn>
                  </a:cxnLst>
                  <a:rect l="l" t="t" r="r" b="b"/>
                  <a:pathLst>
                    <a:path w="707" h="1226">
                      <a:moveTo>
                        <a:pt x="707" y="0"/>
                      </a:moveTo>
                      <a:lnTo>
                        <a:pt x="705" y="816"/>
                      </a:lnTo>
                      <a:lnTo>
                        <a:pt x="0" y="1226"/>
                      </a:lnTo>
                      <a:lnTo>
                        <a:pt x="1"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57" name="Freeform: Shape 528">
                  <a:extLst>
                    <a:ext uri="{FF2B5EF4-FFF2-40B4-BE49-F238E27FC236}">
                      <a16:creationId xmlns:a16="http://schemas.microsoft.com/office/drawing/2014/main" id="{855A38E4-EC4F-C8AB-A0B2-F2F98379B764}"/>
                    </a:ext>
                  </a:extLst>
                </p:cNvPr>
                <p:cNvSpPr/>
                <p:nvPr/>
              </p:nvSpPr>
              <p:spPr>
                <a:xfrm>
                  <a:off x="13278886" y="7243899"/>
                  <a:ext cx="318998" cy="549608"/>
                </a:xfrm>
                <a:custGeom>
                  <a:avLst/>
                  <a:gdLst/>
                  <a:ahLst/>
                  <a:cxnLst>
                    <a:cxn ang="3cd4">
                      <a:pos x="hc" y="t"/>
                    </a:cxn>
                    <a:cxn ang="cd2">
                      <a:pos x="l" y="vc"/>
                    </a:cxn>
                    <a:cxn ang="cd4">
                      <a:pos x="hc" y="b"/>
                    </a:cxn>
                    <a:cxn ang="0">
                      <a:pos x="r" y="vc"/>
                    </a:cxn>
                  </a:cxnLst>
                  <a:rect l="l" t="t" r="r" b="b"/>
                  <a:pathLst>
                    <a:path w="712" h="1226">
                      <a:moveTo>
                        <a:pt x="712" y="410"/>
                      </a:moveTo>
                      <a:lnTo>
                        <a:pt x="711" y="1226"/>
                      </a:lnTo>
                      <a:lnTo>
                        <a:pt x="0" y="816"/>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sp>
            <p:nvSpPr>
              <p:cNvPr id="152" name="Oval 151">
                <a:extLst>
                  <a:ext uri="{FF2B5EF4-FFF2-40B4-BE49-F238E27FC236}">
                    <a16:creationId xmlns:a16="http://schemas.microsoft.com/office/drawing/2014/main" id="{A9A73429-D55F-5743-E8E6-D68CFCAE1081}"/>
                  </a:ext>
                </a:extLst>
              </p:cNvPr>
              <p:cNvSpPr/>
              <p:nvPr/>
            </p:nvSpPr>
            <p:spPr>
              <a:xfrm>
                <a:off x="7739208" y="4132407"/>
                <a:ext cx="280811" cy="28081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7480E7CB-CB53-E07F-A04B-450C16F08CF6}"/>
                  </a:ext>
                </a:extLst>
              </p:cNvPr>
              <p:cNvSpPr/>
              <p:nvPr/>
            </p:nvSpPr>
            <p:spPr>
              <a:xfrm>
                <a:off x="8066011" y="2918284"/>
                <a:ext cx="280811" cy="28081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84E91CF5-63C6-AC4F-4061-A05B76BC6079}"/>
                  </a:ext>
                </a:extLst>
              </p:cNvPr>
              <p:cNvSpPr/>
              <p:nvPr/>
            </p:nvSpPr>
            <p:spPr>
              <a:xfrm>
                <a:off x="6854564" y="3237668"/>
                <a:ext cx="280811" cy="28081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0" name="Group 179">
            <a:extLst>
              <a:ext uri="{FF2B5EF4-FFF2-40B4-BE49-F238E27FC236}">
                <a16:creationId xmlns:a16="http://schemas.microsoft.com/office/drawing/2014/main" id="{01D51C3F-CE11-EB10-9CA7-3925F55AEE20}"/>
              </a:ext>
            </a:extLst>
          </p:cNvPr>
          <p:cNvGrpSpPr/>
          <p:nvPr/>
        </p:nvGrpSpPr>
        <p:grpSpPr>
          <a:xfrm>
            <a:off x="3191445" y="4363980"/>
            <a:ext cx="1346338" cy="493090"/>
            <a:chOff x="2815467" y="2987896"/>
            <a:chExt cx="1346338" cy="493090"/>
          </a:xfrm>
        </p:grpSpPr>
        <p:sp>
          <p:nvSpPr>
            <p:cNvPr id="158" name="Rounded Rectangle 157">
              <a:extLst>
                <a:ext uri="{FF2B5EF4-FFF2-40B4-BE49-F238E27FC236}">
                  <a16:creationId xmlns:a16="http://schemas.microsoft.com/office/drawing/2014/main" id="{5D95C81A-D4B3-D683-86BC-F9A6B43C3FA4}"/>
                </a:ext>
              </a:extLst>
            </p:cNvPr>
            <p:cNvSpPr/>
            <p:nvPr/>
          </p:nvSpPr>
          <p:spPr>
            <a:xfrm>
              <a:off x="2815467" y="2987896"/>
              <a:ext cx="1346338" cy="493090"/>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Tree 3</a:t>
              </a:r>
            </a:p>
          </p:txBody>
        </p:sp>
        <p:grpSp>
          <p:nvGrpSpPr>
            <p:cNvPr id="159" name="Group 158">
              <a:extLst>
                <a:ext uri="{FF2B5EF4-FFF2-40B4-BE49-F238E27FC236}">
                  <a16:creationId xmlns:a16="http://schemas.microsoft.com/office/drawing/2014/main" id="{40F16510-4AD8-F7D8-86BB-EA1197A24F59}"/>
                </a:ext>
              </a:extLst>
            </p:cNvPr>
            <p:cNvGrpSpPr/>
            <p:nvPr/>
          </p:nvGrpSpPr>
          <p:grpSpPr>
            <a:xfrm>
              <a:off x="2933762" y="3039711"/>
              <a:ext cx="394747" cy="389460"/>
              <a:chOff x="6268681" y="2169961"/>
              <a:chExt cx="2844800" cy="2806700"/>
            </a:xfrm>
          </p:grpSpPr>
          <p:pic>
            <p:nvPicPr>
              <p:cNvPr id="160" name="Picture 159">
                <a:extLst>
                  <a:ext uri="{FF2B5EF4-FFF2-40B4-BE49-F238E27FC236}">
                    <a16:creationId xmlns:a16="http://schemas.microsoft.com/office/drawing/2014/main" id="{48F63E04-3966-31FD-5FAD-F8E6FB2CF38C}"/>
                  </a:ext>
                </a:extLst>
              </p:cNvPr>
              <p:cNvPicPr>
                <a:picLocks noChangeAspect="1"/>
              </p:cNvPicPr>
              <p:nvPr/>
            </p:nvPicPr>
            <p:blipFill>
              <a:blip r:embed="rId3"/>
              <a:stretch>
                <a:fillRect/>
              </a:stretch>
            </p:blipFill>
            <p:spPr>
              <a:xfrm>
                <a:off x="6268681" y="2169961"/>
                <a:ext cx="2844800" cy="2806700"/>
              </a:xfrm>
              <a:prstGeom prst="rect">
                <a:avLst/>
              </a:prstGeom>
            </p:spPr>
          </p:pic>
          <p:grpSp>
            <p:nvGrpSpPr>
              <p:cNvPr id="161" name="Group 160">
                <a:extLst>
                  <a:ext uri="{FF2B5EF4-FFF2-40B4-BE49-F238E27FC236}">
                    <a16:creationId xmlns:a16="http://schemas.microsoft.com/office/drawing/2014/main" id="{496FEB69-969A-62BB-A624-664790206ED0}"/>
                  </a:ext>
                </a:extLst>
              </p:cNvPr>
              <p:cNvGrpSpPr/>
              <p:nvPr/>
            </p:nvGrpSpPr>
            <p:grpSpPr>
              <a:xfrm>
                <a:off x="7271788" y="3089738"/>
                <a:ext cx="838586" cy="967601"/>
                <a:chOff x="13278886" y="7059948"/>
                <a:chExt cx="635751" cy="733560"/>
              </a:xfrm>
            </p:grpSpPr>
            <p:sp>
              <p:nvSpPr>
                <p:cNvPr id="165" name="Freeform: Shape 526">
                  <a:extLst>
                    <a:ext uri="{FF2B5EF4-FFF2-40B4-BE49-F238E27FC236}">
                      <a16:creationId xmlns:a16="http://schemas.microsoft.com/office/drawing/2014/main" id="{2D6A28FC-097C-EB8B-B719-85208E09EB61}"/>
                    </a:ext>
                  </a:extLst>
                </p:cNvPr>
                <p:cNvSpPr/>
                <p:nvPr/>
              </p:nvSpPr>
              <p:spPr>
                <a:xfrm>
                  <a:off x="13278886" y="7059948"/>
                  <a:ext cx="635751" cy="733560"/>
                </a:xfrm>
                <a:custGeom>
                  <a:avLst/>
                  <a:gdLst/>
                  <a:ahLst/>
                  <a:cxnLst>
                    <a:cxn ang="3cd4">
                      <a:pos x="hc" y="t"/>
                    </a:cxn>
                    <a:cxn ang="cd2">
                      <a:pos x="l" y="vc"/>
                    </a:cxn>
                    <a:cxn ang="cd4">
                      <a:pos x="hc" y="b"/>
                    </a:cxn>
                    <a:cxn ang="0">
                      <a:pos x="r" y="vc"/>
                    </a:cxn>
                  </a:cxnLst>
                  <a:rect l="l" t="t" r="r" b="b"/>
                  <a:pathLst>
                    <a:path w="1418" h="1636">
                      <a:moveTo>
                        <a:pt x="708" y="0"/>
                      </a:moveTo>
                      <a:lnTo>
                        <a:pt x="2" y="410"/>
                      </a:lnTo>
                      <a:lnTo>
                        <a:pt x="0" y="1226"/>
                      </a:lnTo>
                      <a:lnTo>
                        <a:pt x="711" y="1636"/>
                      </a:lnTo>
                      <a:lnTo>
                        <a:pt x="1416" y="1226"/>
                      </a:lnTo>
                      <a:lnTo>
                        <a:pt x="1418" y="410"/>
                      </a:lnTo>
                      <a:close/>
                    </a:path>
                  </a:pathLst>
                </a:custGeom>
                <a:solidFill>
                  <a:schemeClr val="accent6"/>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66" name="Freeform: Shape 527">
                  <a:extLst>
                    <a:ext uri="{FF2B5EF4-FFF2-40B4-BE49-F238E27FC236}">
                      <a16:creationId xmlns:a16="http://schemas.microsoft.com/office/drawing/2014/main" id="{05A59072-A041-BC02-66BD-4401D36F4CA8}"/>
                    </a:ext>
                  </a:extLst>
                </p:cNvPr>
                <p:cNvSpPr/>
                <p:nvPr/>
              </p:nvSpPr>
              <p:spPr>
                <a:xfrm>
                  <a:off x="13597436" y="7243899"/>
                  <a:ext cx="316755" cy="549608"/>
                </a:xfrm>
                <a:custGeom>
                  <a:avLst/>
                  <a:gdLst/>
                  <a:ahLst/>
                  <a:cxnLst>
                    <a:cxn ang="3cd4">
                      <a:pos x="hc" y="t"/>
                    </a:cxn>
                    <a:cxn ang="cd2">
                      <a:pos x="l" y="vc"/>
                    </a:cxn>
                    <a:cxn ang="cd4">
                      <a:pos x="hc" y="b"/>
                    </a:cxn>
                    <a:cxn ang="0">
                      <a:pos x="r" y="vc"/>
                    </a:cxn>
                  </a:cxnLst>
                  <a:rect l="l" t="t" r="r" b="b"/>
                  <a:pathLst>
                    <a:path w="707" h="1226">
                      <a:moveTo>
                        <a:pt x="707" y="0"/>
                      </a:moveTo>
                      <a:lnTo>
                        <a:pt x="705" y="816"/>
                      </a:lnTo>
                      <a:lnTo>
                        <a:pt x="0" y="1226"/>
                      </a:lnTo>
                      <a:lnTo>
                        <a:pt x="1"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67" name="Freeform: Shape 528">
                  <a:extLst>
                    <a:ext uri="{FF2B5EF4-FFF2-40B4-BE49-F238E27FC236}">
                      <a16:creationId xmlns:a16="http://schemas.microsoft.com/office/drawing/2014/main" id="{2E142B41-FF93-7B11-F927-B2EBCD681ADA}"/>
                    </a:ext>
                  </a:extLst>
                </p:cNvPr>
                <p:cNvSpPr/>
                <p:nvPr/>
              </p:nvSpPr>
              <p:spPr>
                <a:xfrm>
                  <a:off x="13278886" y="7243899"/>
                  <a:ext cx="318998" cy="549608"/>
                </a:xfrm>
                <a:custGeom>
                  <a:avLst/>
                  <a:gdLst/>
                  <a:ahLst/>
                  <a:cxnLst>
                    <a:cxn ang="3cd4">
                      <a:pos x="hc" y="t"/>
                    </a:cxn>
                    <a:cxn ang="cd2">
                      <a:pos x="l" y="vc"/>
                    </a:cxn>
                    <a:cxn ang="cd4">
                      <a:pos x="hc" y="b"/>
                    </a:cxn>
                    <a:cxn ang="0">
                      <a:pos x="r" y="vc"/>
                    </a:cxn>
                  </a:cxnLst>
                  <a:rect l="l" t="t" r="r" b="b"/>
                  <a:pathLst>
                    <a:path w="712" h="1226">
                      <a:moveTo>
                        <a:pt x="712" y="410"/>
                      </a:moveTo>
                      <a:lnTo>
                        <a:pt x="711" y="1226"/>
                      </a:lnTo>
                      <a:lnTo>
                        <a:pt x="0" y="816"/>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sp>
            <p:nvSpPr>
              <p:cNvPr id="162" name="Oval 161">
                <a:extLst>
                  <a:ext uri="{FF2B5EF4-FFF2-40B4-BE49-F238E27FC236}">
                    <a16:creationId xmlns:a16="http://schemas.microsoft.com/office/drawing/2014/main" id="{1AFFA1F8-993E-DB81-AE4E-55DA240CAF0A}"/>
                  </a:ext>
                </a:extLst>
              </p:cNvPr>
              <p:cNvSpPr/>
              <p:nvPr/>
            </p:nvSpPr>
            <p:spPr>
              <a:xfrm>
                <a:off x="7739208" y="4132407"/>
                <a:ext cx="280811" cy="28081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9C63D2DD-025C-D5E4-4B87-F121E0DD2E3E}"/>
                  </a:ext>
                </a:extLst>
              </p:cNvPr>
              <p:cNvSpPr/>
              <p:nvPr/>
            </p:nvSpPr>
            <p:spPr>
              <a:xfrm>
                <a:off x="8066011" y="2918284"/>
                <a:ext cx="280811" cy="28081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8D6D5D8C-C02E-CF40-2592-8F3AEB058565}"/>
                  </a:ext>
                </a:extLst>
              </p:cNvPr>
              <p:cNvSpPr/>
              <p:nvPr/>
            </p:nvSpPr>
            <p:spPr>
              <a:xfrm>
                <a:off x="6854564" y="3237668"/>
                <a:ext cx="280811" cy="28081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1" name="Group 180">
            <a:extLst>
              <a:ext uri="{FF2B5EF4-FFF2-40B4-BE49-F238E27FC236}">
                <a16:creationId xmlns:a16="http://schemas.microsoft.com/office/drawing/2014/main" id="{D0CFDA62-6801-8D8A-90ED-862EADA5242F}"/>
              </a:ext>
            </a:extLst>
          </p:cNvPr>
          <p:cNvGrpSpPr/>
          <p:nvPr/>
        </p:nvGrpSpPr>
        <p:grpSpPr>
          <a:xfrm>
            <a:off x="3186708" y="5233340"/>
            <a:ext cx="1351074" cy="493090"/>
            <a:chOff x="2673975" y="3774351"/>
            <a:chExt cx="1351074" cy="493090"/>
          </a:xfrm>
        </p:grpSpPr>
        <p:sp>
          <p:nvSpPr>
            <p:cNvPr id="168" name="Rounded Rectangle 167">
              <a:extLst>
                <a:ext uri="{FF2B5EF4-FFF2-40B4-BE49-F238E27FC236}">
                  <a16:creationId xmlns:a16="http://schemas.microsoft.com/office/drawing/2014/main" id="{BA33CE64-D4F8-3169-C337-E9ECECCBFFEA}"/>
                </a:ext>
              </a:extLst>
            </p:cNvPr>
            <p:cNvSpPr/>
            <p:nvPr/>
          </p:nvSpPr>
          <p:spPr>
            <a:xfrm>
              <a:off x="2673975" y="3774351"/>
              <a:ext cx="1351074" cy="493090"/>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Tree 4</a:t>
              </a:r>
            </a:p>
          </p:txBody>
        </p:sp>
        <p:grpSp>
          <p:nvGrpSpPr>
            <p:cNvPr id="169" name="Group 168">
              <a:extLst>
                <a:ext uri="{FF2B5EF4-FFF2-40B4-BE49-F238E27FC236}">
                  <a16:creationId xmlns:a16="http://schemas.microsoft.com/office/drawing/2014/main" id="{EF2FB03E-6409-5E6D-4FFC-D535F24B929D}"/>
                </a:ext>
              </a:extLst>
            </p:cNvPr>
            <p:cNvGrpSpPr/>
            <p:nvPr/>
          </p:nvGrpSpPr>
          <p:grpSpPr>
            <a:xfrm>
              <a:off x="2792270" y="3826166"/>
              <a:ext cx="394747" cy="389460"/>
              <a:chOff x="6268681" y="2169961"/>
              <a:chExt cx="2844800" cy="2806700"/>
            </a:xfrm>
          </p:grpSpPr>
          <p:pic>
            <p:nvPicPr>
              <p:cNvPr id="170" name="Picture 169">
                <a:extLst>
                  <a:ext uri="{FF2B5EF4-FFF2-40B4-BE49-F238E27FC236}">
                    <a16:creationId xmlns:a16="http://schemas.microsoft.com/office/drawing/2014/main" id="{89FDCA17-BFEE-EE94-D43E-1C5A0AA75E16}"/>
                  </a:ext>
                </a:extLst>
              </p:cNvPr>
              <p:cNvPicPr>
                <a:picLocks noChangeAspect="1"/>
              </p:cNvPicPr>
              <p:nvPr/>
            </p:nvPicPr>
            <p:blipFill>
              <a:blip r:embed="rId3"/>
              <a:stretch>
                <a:fillRect/>
              </a:stretch>
            </p:blipFill>
            <p:spPr>
              <a:xfrm>
                <a:off x="6268681" y="2169961"/>
                <a:ext cx="2844800" cy="2806700"/>
              </a:xfrm>
              <a:prstGeom prst="rect">
                <a:avLst/>
              </a:prstGeom>
            </p:spPr>
          </p:pic>
          <p:grpSp>
            <p:nvGrpSpPr>
              <p:cNvPr id="171" name="Group 170">
                <a:extLst>
                  <a:ext uri="{FF2B5EF4-FFF2-40B4-BE49-F238E27FC236}">
                    <a16:creationId xmlns:a16="http://schemas.microsoft.com/office/drawing/2014/main" id="{2BC1D728-BF6E-DEB2-49C9-DB59857D1B16}"/>
                  </a:ext>
                </a:extLst>
              </p:cNvPr>
              <p:cNvGrpSpPr/>
              <p:nvPr/>
            </p:nvGrpSpPr>
            <p:grpSpPr>
              <a:xfrm>
                <a:off x="7271788" y="3089738"/>
                <a:ext cx="838586" cy="967601"/>
                <a:chOff x="13278886" y="7059948"/>
                <a:chExt cx="635751" cy="733560"/>
              </a:xfrm>
            </p:grpSpPr>
            <p:sp>
              <p:nvSpPr>
                <p:cNvPr id="175" name="Freeform: Shape 526">
                  <a:extLst>
                    <a:ext uri="{FF2B5EF4-FFF2-40B4-BE49-F238E27FC236}">
                      <a16:creationId xmlns:a16="http://schemas.microsoft.com/office/drawing/2014/main" id="{2232E04B-E78A-B211-E132-7070D1E28C89}"/>
                    </a:ext>
                  </a:extLst>
                </p:cNvPr>
                <p:cNvSpPr/>
                <p:nvPr/>
              </p:nvSpPr>
              <p:spPr>
                <a:xfrm>
                  <a:off x="13278886" y="7059948"/>
                  <a:ext cx="635751" cy="733560"/>
                </a:xfrm>
                <a:custGeom>
                  <a:avLst/>
                  <a:gdLst/>
                  <a:ahLst/>
                  <a:cxnLst>
                    <a:cxn ang="3cd4">
                      <a:pos x="hc" y="t"/>
                    </a:cxn>
                    <a:cxn ang="cd2">
                      <a:pos x="l" y="vc"/>
                    </a:cxn>
                    <a:cxn ang="cd4">
                      <a:pos x="hc" y="b"/>
                    </a:cxn>
                    <a:cxn ang="0">
                      <a:pos x="r" y="vc"/>
                    </a:cxn>
                  </a:cxnLst>
                  <a:rect l="l" t="t" r="r" b="b"/>
                  <a:pathLst>
                    <a:path w="1418" h="1636">
                      <a:moveTo>
                        <a:pt x="708" y="0"/>
                      </a:moveTo>
                      <a:lnTo>
                        <a:pt x="2" y="410"/>
                      </a:lnTo>
                      <a:lnTo>
                        <a:pt x="0" y="1226"/>
                      </a:lnTo>
                      <a:lnTo>
                        <a:pt x="711" y="1636"/>
                      </a:lnTo>
                      <a:lnTo>
                        <a:pt x="1416" y="1226"/>
                      </a:lnTo>
                      <a:lnTo>
                        <a:pt x="1418" y="410"/>
                      </a:lnTo>
                      <a:close/>
                    </a:path>
                  </a:pathLst>
                </a:custGeom>
                <a:solidFill>
                  <a:schemeClr val="accent6"/>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76" name="Freeform: Shape 527">
                  <a:extLst>
                    <a:ext uri="{FF2B5EF4-FFF2-40B4-BE49-F238E27FC236}">
                      <a16:creationId xmlns:a16="http://schemas.microsoft.com/office/drawing/2014/main" id="{208F4752-7080-C980-FE82-C83A8459D5F4}"/>
                    </a:ext>
                  </a:extLst>
                </p:cNvPr>
                <p:cNvSpPr/>
                <p:nvPr/>
              </p:nvSpPr>
              <p:spPr>
                <a:xfrm>
                  <a:off x="13597436" y="7243899"/>
                  <a:ext cx="316755" cy="549608"/>
                </a:xfrm>
                <a:custGeom>
                  <a:avLst/>
                  <a:gdLst/>
                  <a:ahLst/>
                  <a:cxnLst>
                    <a:cxn ang="3cd4">
                      <a:pos x="hc" y="t"/>
                    </a:cxn>
                    <a:cxn ang="cd2">
                      <a:pos x="l" y="vc"/>
                    </a:cxn>
                    <a:cxn ang="cd4">
                      <a:pos x="hc" y="b"/>
                    </a:cxn>
                    <a:cxn ang="0">
                      <a:pos x="r" y="vc"/>
                    </a:cxn>
                  </a:cxnLst>
                  <a:rect l="l" t="t" r="r" b="b"/>
                  <a:pathLst>
                    <a:path w="707" h="1226">
                      <a:moveTo>
                        <a:pt x="707" y="0"/>
                      </a:moveTo>
                      <a:lnTo>
                        <a:pt x="705" y="816"/>
                      </a:lnTo>
                      <a:lnTo>
                        <a:pt x="0" y="1226"/>
                      </a:lnTo>
                      <a:lnTo>
                        <a:pt x="1"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77" name="Freeform: Shape 528">
                  <a:extLst>
                    <a:ext uri="{FF2B5EF4-FFF2-40B4-BE49-F238E27FC236}">
                      <a16:creationId xmlns:a16="http://schemas.microsoft.com/office/drawing/2014/main" id="{C55BA760-7DB6-5C05-4CF3-F3DC99B4D66D}"/>
                    </a:ext>
                  </a:extLst>
                </p:cNvPr>
                <p:cNvSpPr/>
                <p:nvPr/>
              </p:nvSpPr>
              <p:spPr>
                <a:xfrm>
                  <a:off x="13278886" y="7243899"/>
                  <a:ext cx="318998" cy="549608"/>
                </a:xfrm>
                <a:custGeom>
                  <a:avLst/>
                  <a:gdLst/>
                  <a:ahLst/>
                  <a:cxnLst>
                    <a:cxn ang="3cd4">
                      <a:pos x="hc" y="t"/>
                    </a:cxn>
                    <a:cxn ang="cd2">
                      <a:pos x="l" y="vc"/>
                    </a:cxn>
                    <a:cxn ang="cd4">
                      <a:pos x="hc" y="b"/>
                    </a:cxn>
                    <a:cxn ang="0">
                      <a:pos x="r" y="vc"/>
                    </a:cxn>
                  </a:cxnLst>
                  <a:rect l="l" t="t" r="r" b="b"/>
                  <a:pathLst>
                    <a:path w="712" h="1226">
                      <a:moveTo>
                        <a:pt x="712" y="410"/>
                      </a:moveTo>
                      <a:lnTo>
                        <a:pt x="711" y="1226"/>
                      </a:lnTo>
                      <a:lnTo>
                        <a:pt x="0" y="816"/>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sp>
            <p:nvSpPr>
              <p:cNvPr id="172" name="Oval 171">
                <a:extLst>
                  <a:ext uri="{FF2B5EF4-FFF2-40B4-BE49-F238E27FC236}">
                    <a16:creationId xmlns:a16="http://schemas.microsoft.com/office/drawing/2014/main" id="{D5053A05-F92A-89D1-4F46-7CC6C4F1E185}"/>
                  </a:ext>
                </a:extLst>
              </p:cNvPr>
              <p:cNvSpPr/>
              <p:nvPr/>
            </p:nvSpPr>
            <p:spPr>
              <a:xfrm>
                <a:off x="7739208" y="4132407"/>
                <a:ext cx="280811" cy="28081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a:extLst>
                  <a:ext uri="{FF2B5EF4-FFF2-40B4-BE49-F238E27FC236}">
                    <a16:creationId xmlns:a16="http://schemas.microsoft.com/office/drawing/2014/main" id="{D6B89D24-E087-6CB7-5488-CA2DB0BD697F}"/>
                  </a:ext>
                </a:extLst>
              </p:cNvPr>
              <p:cNvSpPr/>
              <p:nvPr/>
            </p:nvSpPr>
            <p:spPr>
              <a:xfrm>
                <a:off x="8066011" y="2918284"/>
                <a:ext cx="280811" cy="28081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998B4676-7A02-9F0E-E532-771FAA42A512}"/>
                  </a:ext>
                </a:extLst>
              </p:cNvPr>
              <p:cNvSpPr/>
              <p:nvPr/>
            </p:nvSpPr>
            <p:spPr>
              <a:xfrm>
                <a:off x="6854564" y="3237668"/>
                <a:ext cx="280811" cy="28081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3" name="Group 182">
            <a:extLst>
              <a:ext uri="{FF2B5EF4-FFF2-40B4-BE49-F238E27FC236}">
                <a16:creationId xmlns:a16="http://schemas.microsoft.com/office/drawing/2014/main" id="{F07CD39E-C50A-8FA5-A8C2-91238B52081D}"/>
              </a:ext>
            </a:extLst>
          </p:cNvPr>
          <p:cNvGrpSpPr/>
          <p:nvPr/>
        </p:nvGrpSpPr>
        <p:grpSpPr>
          <a:xfrm>
            <a:off x="5978630" y="3332673"/>
            <a:ext cx="1599339" cy="604385"/>
            <a:chOff x="5292935" y="2464499"/>
            <a:chExt cx="1599339" cy="604385"/>
          </a:xfrm>
        </p:grpSpPr>
        <p:grpSp>
          <p:nvGrpSpPr>
            <p:cNvPr id="184" name="Group 183">
              <a:extLst>
                <a:ext uri="{FF2B5EF4-FFF2-40B4-BE49-F238E27FC236}">
                  <a16:creationId xmlns:a16="http://schemas.microsoft.com/office/drawing/2014/main" id="{7D39F827-A053-9336-F43E-9C7CA710BE71}"/>
                </a:ext>
              </a:extLst>
            </p:cNvPr>
            <p:cNvGrpSpPr/>
            <p:nvPr/>
          </p:nvGrpSpPr>
          <p:grpSpPr>
            <a:xfrm>
              <a:off x="5292935" y="2464499"/>
              <a:ext cx="1599339" cy="604385"/>
              <a:chOff x="6583915" y="3372891"/>
              <a:chExt cx="2720699" cy="1028144"/>
            </a:xfrm>
          </p:grpSpPr>
          <p:sp>
            <p:nvSpPr>
              <p:cNvPr id="186" name="Freeform 5">
                <a:extLst>
                  <a:ext uri="{FF2B5EF4-FFF2-40B4-BE49-F238E27FC236}">
                    <a16:creationId xmlns:a16="http://schemas.microsoft.com/office/drawing/2014/main" id="{D6C72F5A-5E76-F9F9-B950-05764CA54A1A}"/>
                  </a:ext>
                </a:extLst>
              </p:cNvPr>
              <p:cNvSpPr>
                <a:spLocks/>
              </p:cNvSpPr>
              <p:nvPr/>
            </p:nvSpPr>
            <p:spPr bwMode="auto">
              <a:xfrm>
                <a:off x="8080515"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187" name="Freeform 5">
                <a:extLst>
                  <a:ext uri="{FF2B5EF4-FFF2-40B4-BE49-F238E27FC236}">
                    <a16:creationId xmlns:a16="http://schemas.microsoft.com/office/drawing/2014/main" id="{28DF1733-E170-0397-8117-7D331DBC9C1F}"/>
                  </a:ext>
                </a:extLst>
              </p:cNvPr>
              <p:cNvSpPr>
                <a:spLocks/>
              </p:cNvSpPr>
              <p:nvPr/>
            </p:nvSpPr>
            <p:spPr bwMode="auto">
              <a:xfrm>
                <a:off x="7361204"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nvGrpSpPr>
              <p:cNvPr id="188" name="Group 187">
                <a:extLst>
                  <a:ext uri="{FF2B5EF4-FFF2-40B4-BE49-F238E27FC236}">
                    <a16:creationId xmlns:a16="http://schemas.microsoft.com/office/drawing/2014/main" id="{CA3E74D4-91B0-E538-C8F7-D0E4F83F188C}"/>
                  </a:ext>
                </a:extLst>
              </p:cNvPr>
              <p:cNvGrpSpPr/>
              <p:nvPr/>
            </p:nvGrpSpPr>
            <p:grpSpPr>
              <a:xfrm>
                <a:off x="6583915" y="3372892"/>
                <a:ext cx="1234278" cy="1028143"/>
                <a:chOff x="1451772" y="4010848"/>
                <a:chExt cx="5337253" cy="4445888"/>
              </a:xfrm>
            </p:grpSpPr>
            <p:sp>
              <p:nvSpPr>
                <p:cNvPr id="191" name="Freeform 5">
                  <a:extLst>
                    <a:ext uri="{FF2B5EF4-FFF2-40B4-BE49-F238E27FC236}">
                      <a16:creationId xmlns:a16="http://schemas.microsoft.com/office/drawing/2014/main" id="{8F7ACF54-1A65-C0EC-64A7-45137CBF484B}"/>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192" name="Freeform 6">
                  <a:extLst>
                    <a:ext uri="{FF2B5EF4-FFF2-40B4-BE49-F238E27FC236}">
                      <a16:creationId xmlns:a16="http://schemas.microsoft.com/office/drawing/2014/main" id="{8F0EDC96-9090-9AA9-E0D6-FAA5C0177731}"/>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189" name="Freeform 6">
                <a:extLst>
                  <a:ext uri="{FF2B5EF4-FFF2-40B4-BE49-F238E27FC236}">
                    <a16:creationId xmlns:a16="http://schemas.microsoft.com/office/drawing/2014/main" id="{4CD97F0A-1B57-88C9-3ED8-D890F538F074}"/>
                  </a:ext>
                </a:extLst>
              </p:cNvPr>
              <p:cNvSpPr>
                <a:spLocks/>
              </p:cNvSpPr>
              <p:nvPr/>
            </p:nvSpPr>
            <p:spPr bwMode="auto">
              <a:xfrm>
                <a:off x="7343923"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190" name="Freeform 6">
                <a:extLst>
                  <a:ext uri="{FF2B5EF4-FFF2-40B4-BE49-F238E27FC236}">
                    <a16:creationId xmlns:a16="http://schemas.microsoft.com/office/drawing/2014/main" id="{D33654EB-EAD9-7E27-1C30-7C5C9CC065A8}"/>
                  </a:ext>
                </a:extLst>
              </p:cNvPr>
              <p:cNvSpPr>
                <a:spLocks/>
              </p:cNvSpPr>
              <p:nvPr/>
            </p:nvSpPr>
            <p:spPr bwMode="auto">
              <a:xfrm>
                <a:off x="8063234"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mc:AlternateContent xmlns:mc="http://schemas.openxmlformats.org/markup-compatibility/2006" xmlns:a14="http://schemas.microsoft.com/office/drawing/2010/main">
          <mc:Choice Requires="a14">
            <p:sp>
              <p:nvSpPr>
                <p:cNvPr id="185" name="TextBox 184">
                  <a:extLst>
                    <a:ext uri="{FF2B5EF4-FFF2-40B4-BE49-F238E27FC236}">
                      <a16:creationId xmlns:a16="http://schemas.microsoft.com/office/drawing/2014/main" id="{34BD3F1B-7D41-D141-BE42-C50FA9C3974F}"/>
                    </a:ext>
                  </a:extLst>
                </p:cNvPr>
                <p:cNvSpPr txBox="1"/>
                <p:nvPr/>
              </p:nvSpPr>
              <p:spPr>
                <a:xfrm>
                  <a:off x="5452163" y="2535082"/>
                  <a:ext cx="12630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bg1"/>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panose="02040503050406030204" pitchFamily="18" charset="0"/>
                                  </a:rPr>
                                  <m:t>𝑦</m:t>
                                </m:r>
                              </m:e>
                            </m:acc>
                          </m:e>
                          <m:sub>
                            <m:r>
                              <a:rPr lang="en-US" i="1">
                                <a:solidFill>
                                  <a:schemeClr val="bg1"/>
                                </a:solidFill>
                                <a:latin typeface="Cambria Math" panose="02040503050406030204" pitchFamily="18" charset="0"/>
                              </a:rPr>
                              <m:t>𝑇</m:t>
                            </m:r>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185" name="TextBox 184">
                  <a:extLst>
                    <a:ext uri="{FF2B5EF4-FFF2-40B4-BE49-F238E27FC236}">
                      <a16:creationId xmlns:a16="http://schemas.microsoft.com/office/drawing/2014/main" id="{34BD3F1B-7D41-D141-BE42-C50FA9C3974F}"/>
                    </a:ext>
                  </a:extLst>
                </p:cNvPr>
                <p:cNvSpPr txBox="1">
                  <a:spLocks noRot="1" noChangeAspect="1" noMove="1" noResize="1" noEditPoints="1" noAdjustHandles="1" noChangeArrowheads="1" noChangeShapeType="1" noTextEdit="1"/>
                </p:cNvSpPr>
                <p:nvPr/>
              </p:nvSpPr>
              <p:spPr>
                <a:xfrm>
                  <a:off x="5452163" y="2535082"/>
                  <a:ext cx="1263060" cy="369332"/>
                </a:xfrm>
                <a:prstGeom prst="rect">
                  <a:avLst/>
                </a:prstGeom>
                <a:blipFill>
                  <a:blip r:embed="rId4"/>
                  <a:stretch>
                    <a:fillRect b="-9677"/>
                  </a:stretch>
                </a:blipFill>
              </p:spPr>
              <p:txBody>
                <a:bodyPr/>
                <a:lstStyle/>
                <a:p>
                  <a:r>
                    <a:rPr lang="en-US">
                      <a:noFill/>
                    </a:rPr>
                    <a:t> </a:t>
                  </a:r>
                </a:p>
              </p:txBody>
            </p:sp>
          </mc:Fallback>
        </mc:AlternateContent>
      </p:grpSp>
      <p:grpSp>
        <p:nvGrpSpPr>
          <p:cNvPr id="193" name="Group 192">
            <a:extLst>
              <a:ext uri="{FF2B5EF4-FFF2-40B4-BE49-F238E27FC236}">
                <a16:creationId xmlns:a16="http://schemas.microsoft.com/office/drawing/2014/main" id="{5F165D29-94EE-200F-5ECE-229385708A37}"/>
              </a:ext>
            </a:extLst>
          </p:cNvPr>
          <p:cNvGrpSpPr/>
          <p:nvPr/>
        </p:nvGrpSpPr>
        <p:grpSpPr>
          <a:xfrm>
            <a:off x="5957414" y="4308333"/>
            <a:ext cx="1599339" cy="604385"/>
            <a:chOff x="5292935" y="2464499"/>
            <a:chExt cx="1599339" cy="604385"/>
          </a:xfrm>
        </p:grpSpPr>
        <p:grpSp>
          <p:nvGrpSpPr>
            <p:cNvPr id="194" name="Group 193">
              <a:extLst>
                <a:ext uri="{FF2B5EF4-FFF2-40B4-BE49-F238E27FC236}">
                  <a16:creationId xmlns:a16="http://schemas.microsoft.com/office/drawing/2014/main" id="{98AFDBBA-9B32-EEB8-1436-D40DC202C041}"/>
                </a:ext>
              </a:extLst>
            </p:cNvPr>
            <p:cNvGrpSpPr/>
            <p:nvPr/>
          </p:nvGrpSpPr>
          <p:grpSpPr>
            <a:xfrm>
              <a:off x="5292935" y="2464499"/>
              <a:ext cx="1599339" cy="604385"/>
              <a:chOff x="6583915" y="3372891"/>
              <a:chExt cx="2720699" cy="1028144"/>
            </a:xfrm>
          </p:grpSpPr>
          <p:sp>
            <p:nvSpPr>
              <p:cNvPr id="196" name="Freeform 5">
                <a:extLst>
                  <a:ext uri="{FF2B5EF4-FFF2-40B4-BE49-F238E27FC236}">
                    <a16:creationId xmlns:a16="http://schemas.microsoft.com/office/drawing/2014/main" id="{8E6DFE30-DB68-5D7A-C1F4-E358EB8612E2}"/>
                  </a:ext>
                </a:extLst>
              </p:cNvPr>
              <p:cNvSpPr>
                <a:spLocks/>
              </p:cNvSpPr>
              <p:nvPr/>
            </p:nvSpPr>
            <p:spPr bwMode="auto">
              <a:xfrm>
                <a:off x="8080515"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sp>
            <p:nvSpPr>
              <p:cNvPr id="197" name="Freeform 5">
                <a:extLst>
                  <a:ext uri="{FF2B5EF4-FFF2-40B4-BE49-F238E27FC236}">
                    <a16:creationId xmlns:a16="http://schemas.microsoft.com/office/drawing/2014/main" id="{1AFE127A-655A-B75F-96FD-D0BB7BF28678}"/>
                  </a:ext>
                </a:extLst>
              </p:cNvPr>
              <p:cNvSpPr>
                <a:spLocks/>
              </p:cNvSpPr>
              <p:nvPr/>
            </p:nvSpPr>
            <p:spPr bwMode="auto">
              <a:xfrm>
                <a:off x="7361204"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grpSp>
            <p:nvGrpSpPr>
              <p:cNvPr id="198" name="Group 197">
                <a:extLst>
                  <a:ext uri="{FF2B5EF4-FFF2-40B4-BE49-F238E27FC236}">
                    <a16:creationId xmlns:a16="http://schemas.microsoft.com/office/drawing/2014/main" id="{BB991BF4-2208-EEE6-7107-997868921B62}"/>
                  </a:ext>
                </a:extLst>
              </p:cNvPr>
              <p:cNvGrpSpPr/>
              <p:nvPr/>
            </p:nvGrpSpPr>
            <p:grpSpPr>
              <a:xfrm>
                <a:off x="6583915" y="3372892"/>
                <a:ext cx="1234278" cy="1028143"/>
                <a:chOff x="1451772" y="4010848"/>
                <a:chExt cx="5337253" cy="4445888"/>
              </a:xfrm>
            </p:grpSpPr>
            <p:sp>
              <p:nvSpPr>
                <p:cNvPr id="201" name="Freeform 5">
                  <a:extLst>
                    <a:ext uri="{FF2B5EF4-FFF2-40B4-BE49-F238E27FC236}">
                      <a16:creationId xmlns:a16="http://schemas.microsoft.com/office/drawing/2014/main" id="{DB70769B-3616-FF98-D1EB-538DE0BDFD60}"/>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sp>
              <p:nvSpPr>
                <p:cNvPr id="202" name="Freeform 6">
                  <a:extLst>
                    <a:ext uri="{FF2B5EF4-FFF2-40B4-BE49-F238E27FC236}">
                      <a16:creationId xmlns:a16="http://schemas.microsoft.com/office/drawing/2014/main" id="{DC424005-62E0-6F1E-6C24-E2FA97F00D82}"/>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grpSp>
          <p:sp>
            <p:nvSpPr>
              <p:cNvPr id="199" name="Freeform 6">
                <a:extLst>
                  <a:ext uri="{FF2B5EF4-FFF2-40B4-BE49-F238E27FC236}">
                    <a16:creationId xmlns:a16="http://schemas.microsoft.com/office/drawing/2014/main" id="{45A363E3-D03A-ACE6-8865-4456A787C5B9}"/>
                  </a:ext>
                </a:extLst>
              </p:cNvPr>
              <p:cNvSpPr>
                <a:spLocks/>
              </p:cNvSpPr>
              <p:nvPr/>
            </p:nvSpPr>
            <p:spPr bwMode="auto">
              <a:xfrm>
                <a:off x="7343923"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sp>
            <p:nvSpPr>
              <p:cNvPr id="200" name="Freeform 6">
                <a:extLst>
                  <a:ext uri="{FF2B5EF4-FFF2-40B4-BE49-F238E27FC236}">
                    <a16:creationId xmlns:a16="http://schemas.microsoft.com/office/drawing/2014/main" id="{760B720B-5D3F-DD18-3DEC-B3E220F9D5F0}"/>
                  </a:ext>
                </a:extLst>
              </p:cNvPr>
              <p:cNvSpPr>
                <a:spLocks/>
              </p:cNvSpPr>
              <p:nvPr/>
            </p:nvSpPr>
            <p:spPr bwMode="auto">
              <a:xfrm>
                <a:off x="8063234"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grpSp>
        <mc:AlternateContent xmlns:mc="http://schemas.openxmlformats.org/markup-compatibility/2006" xmlns:a14="http://schemas.microsoft.com/office/drawing/2010/main">
          <mc:Choice Requires="a14">
            <p:sp>
              <p:nvSpPr>
                <p:cNvPr id="195" name="TextBox 194">
                  <a:extLst>
                    <a:ext uri="{FF2B5EF4-FFF2-40B4-BE49-F238E27FC236}">
                      <a16:creationId xmlns:a16="http://schemas.microsoft.com/office/drawing/2014/main" id="{DF3CE2BE-05E8-69DF-6243-10AA2186FB31}"/>
                    </a:ext>
                  </a:extLst>
                </p:cNvPr>
                <p:cNvSpPr txBox="1"/>
                <p:nvPr/>
              </p:nvSpPr>
              <p:spPr>
                <a:xfrm>
                  <a:off x="5452163" y="2535082"/>
                  <a:ext cx="12630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bg1"/>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panose="02040503050406030204" pitchFamily="18" charset="0"/>
                                  </a:rPr>
                                  <m:t>𝑦</m:t>
                                </m:r>
                              </m:e>
                            </m:acc>
                          </m:e>
                          <m:sub>
                            <m:r>
                              <a:rPr lang="en-US" i="1">
                                <a:solidFill>
                                  <a:schemeClr val="bg1"/>
                                </a:solidFill>
                                <a:latin typeface="Cambria Math" panose="02040503050406030204" pitchFamily="18" charset="0"/>
                              </a:rPr>
                              <m:t>𝑇</m:t>
                            </m:r>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195" name="TextBox 194">
                  <a:extLst>
                    <a:ext uri="{FF2B5EF4-FFF2-40B4-BE49-F238E27FC236}">
                      <a16:creationId xmlns:a16="http://schemas.microsoft.com/office/drawing/2014/main" id="{DF3CE2BE-05E8-69DF-6243-10AA2186FB31}"/>
                    </a:ext>
                  </a:extLst>
                </p:cNvPr>
                <p:cNvSpPr txBox="1">
                  <a:spLocks noRot="1" noChangeAspect="1" noMove="1" noResize="1" noEditPoints="1" noAdjustHandles="1" noChangeArrowheads="1" noChangeShapeType="1" noTextEdit="1"/>
                </p:cNvSpPr>
                <p:nvPr/>
              </p:nvSpPr>
              <p:spPr>
                <a:xfrm>
                  <a:off x="5452163" y="2535082"/>
                  <a:ext cx="1263060" cy="369332"/>
                </a:xfrm>
                <a:prstGeom prst="rect">
                  <a:avLst/>
                </a:prstGeom>
                <a:blipFill>
                  <a:blip r:embed="rId5"/>
                  <a:stretch>
                    <a:fillRect b="-13333"/>
                  </a:stretch>
                </a:blipFill>
              </p:spPr>
              <p:txBody>
                <a:bodyPr/>
                <a:lstStyle/>
                <a:p>
                  <a:r>
                    <a:rPr lang="en-US">
                      <a:noFill/>
                    </a:rPr>
                    <a:t> </a:t>
                  </a:r>
                </a:p>
              </p:txBody>
            </p:sp>
          </mc:Fallback>
        </mc:AlternateContent>
      </p:grpSp>
      <p:grpSp>
        <p:nvGrpSpPr>
          <p:cNvPr id="203" name="Group 202">
            <a:extLst>
              <a:ext uri="{FF2B5EF4-FFF2-40B4-BE49-F238E27FC236}">
                <a16:creationId xmlns:a16="http://schemas.microsoft.com/office/drawing/2014/main" id="{891CF8FE-2F88-FA64-5006-D348FC4966FA}"/>
              </a:ext>
            </a:extLst>
          </p:cNvPr>
          <p:cNvGrpSpPr/>
          <p:nvPr/>
        </p:nvGrpSpPr>
        <p:grpSpPr>
          <a:xfrm>
            <a:off x="5988503" y="5177693"/>
            <a:ext cx="1599339" cy="604385"/>
            <a:chOff x="5292935" y="2464499"/>
            <a:chExt cx="1599339" cy="604385"/>
          </a:xfrm>
        </p:grpSpPr>
        <p:grpSp>
          <p:nvGrpSpPr>
            <p:cNvPr id="204" name="Group 203">
              <a:extLst>
                <a:ext uri="{FF2B5EF4-FFF2-40B4-BE49-F238E27FC236}">
                  <a16:creationId xmlns:a16="http://schemas.microsoft.com/office/drawing/2014/main" id="{0C3431C6-E9B6-BC99-2CED-F02025860943}"/>
                </a:ext>
              </a:extLst>
            </p:cNvPr>
            <p:cNvGrpSpPr/>
            <p:nvPr/>
          </p:nvGrpSpPr>
          <p:grpSpPr>
            <a:xfrm>
              <a:off x="5292935" y="2464499"/>
              <a:ext cx="1599339" cy="604385"/>
              <a:chOff x="6583915" y="3372891"/>
              <a:chExt cx="2720699" cy="1028144"/>
            </a:xfrm>
          </p:grpSpPr>
          <p:sp>
            <p:nvSpPr>
              <p:cNvPr id="206" name="Freeform 5">
                <a:extLst>
                  <a:ext uri="{FF2B5EF4-FFF2-40B4-BE49-F238E27FC236}">
                    <a16:creationId xmlns:a16="http://schemas.microsoft.com/office/drawing/2014/main" id="{9951262B-638D-5EF4-DEEA-C8991A7142F8}"/>
                  </a:ext>
                </a:extLst>
              </p:cNvPr>
              <p:cNvSpPr>
                <a:spLocks/>
              </p:cNvSpPr>
              <p:nvPr/>
            </p:nvSpPr>
            <p:spPr bwMode="auto">
              <a:xfrm>
                <a:off x="8080515"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sp>
            <p:nvSpPr>
              <p:cNvPr id="207" name="Freeform 5">
                <a:extLst>
                  <a:ext uri="{FF2B5EF4-FFF2-40B4-BE49-F238E27FC236}">
                    <a16:creationId xmlns:a16="http://schemas.microsoft.com/office/drawing/2014/main" id="{8C82AEB3-B8A1-10D6-E84A-05EBCBF6AB78}"/>
                  </a:ext>
                </a:extLst>
              </p:cNvPr>
              <p:cNvSpPr>
                <a:spLocks/>
              </p:cNvSpPr>
              <p:nvPr/>
            </p:nvSpPr>
            <p:spPr bwMode="auto">
              <a:xfrm>
                <a:off x="7361204"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grpSp>
            <p:nvGrpSpPr>
              <p:cNvPr id="208" name="Group 207">
                <a:extLst>
                  <a:ext uri="{FF2B5EF4-FFF2-40B4-BE49-F238E27FC236}">
                    <a16:creationId xmlns:a16="http://schemas.microsoft.com/office/drawing/2014/main" id="{1411742A-DA45-14CE-B39D-15F5448227C3}"/>
                  </a:ext>
                </a:extLst>
              </p:cNvPr>
              <p:cNvGrpSpPr/>
              <p:nvPr/>
            </p:nvGrpSpPr>
            <p:grpSpPr>
              <a:xfrm>
                <a:off x="6583915" y="3372892"/>
                <a:ext cx="1234278" cy="1028143"/>
                <a:chOff x="1451772" y="4010848"/>
                <a:chExt cx="5337253" cy="4445888"/>
              </a:xfrm>
            </p:grpSpPr>
            <p:sp>
              <p:nvSpPr>
                <p:cNvPr id="211" name="Freeform 5">
                  <a:extLst>
                    <a:ext uri="{FF2B5EF4-FFF2-40B4-BE49-F238E27FC236}">
                      <a16:creationId xmlns:a16="http://schemas.microsoft.com/office/drawing/2014/main" id="{BB47A7AC-D9AD-AD40-D11F-044311A2751C}"/>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sp>
              <p:nvSpPr>
                <p:cNvPr id="212" name="Freeform 6">
                  <a:extLst>
                    <a:ext uri="{FF2B5EF4-FFF2-40B4-BE49-F238E27FC236}">
                      <a16:creationId xmlns:a16="http://schemas.microsoft.com/office/drawing/2014/main" id="{96D17F7E-2870-A931-D0D8-FB87D62DB068}"/>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grpSp>
          <p:sp>
            <p:nvSpPr>
              <p:cNvPr id="209" name="Freeform 6">
                <a:extLst>
                  <a:ext uri="{FF2B5EF4-FFF2-40B4-BE49-F238E27FC236}">
                    <a16:creationId xmlns:a16="http://schemas.microsoft.com/office/drawing/2014/main" id="{5CC09F69-1F03-CC7C-7789-B76BD26D1A07}"/>
                  </a:ext>
                </a:extLst>
              </p:cNvPr>
              <p:cNvSpPr>
                <a:spLocks/>
              </p:cNvSpPr>
              <p:nvPr/>
            </p:nvSpPr>
            <p:spPr bwMode="auto">
              <a:xfrm>
                <a:off x="7343923"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sp>
            <p:nvSpPr>
              <p:cNvPr id="210" name="Freeform 6">
                <a:extLst>
                  <a:ext uri="{FF2B5EF4-FFF2-40B4-BE49-F238E27FC236}">
                    <a16:creationId xmlns:a16="http://schemas.microsoft.com/office/drawing/2014/main" id="{7C887D82-7446-BFCC-7938-50F8E8766A5F}"/>
                  </a:ext>
                </a:extLst>
              </p:cNvPr>
              <p:cNvSpPr>
                <a:spLocks/>
              </p:cNvSpPr>
              <p:nvPr/>
            </p:nvSpPr>
            <p:spPr bwMode="auto">
              <a:xfrm>
                <a:off x="8063234"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gr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CE7C791F-C79A-3984-EB67-F5127076C765}"/>
                    </a:ext>
                  </a:extLst>
                </p:cNvPr>
                <p:cNvSpPr txBox="1"/>
                <p:nvPr/>
              </p:nvSpPr>
              <p:spPr>
                <a:xfrm>
                  <a:off x="5452163" y="2535082"/>
                  <a:ext cx="12630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bg1"/>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panose="02040503050406030204" pitchFamily="18" charset="0"/>
                                  </a:rPr>
                                  <m:t>𝑦</m:t>
                                </m:r>
                              </m:e>
                            </m:acc>
                          </m:e>
                          <m:sub>
                            <m:r>
                              <a:rPr lang="en-US" i="1">
                                <a:solidFill>
                                  <a:schemeClr val="bg1"/>
                                </a:solidFill>
                                <a:latin typeface="Cambria Math" panose="02040503050406030204" pitchFamily="18" charset="0"/>
                              </a:rPr>
                              <m:t>𝑇</m:t>
                            </m:r>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205" name="TextBox 204">
                  <a:extLst>
                    <a:ext uri="{FF2B5EF4-FFF2-40B4-BE49-F238E27FC236}">
                      <a16:creationId xmlns:a16="http://schemas.microsoft.com/office/drawing/2014/main" id="{CE7C791F-C79A-3984-EB67-F5127076C765}"/>
                    </a:ext>
                  </a:extLst>
                </p:cNvPr>
                <p:cNvSpPr txBox="1">
                  <a:spLocks noRot="1" noChangeAspect="1" noMove="1" noResize="1" noEditPoints="1" noAdjustHandles="1" noChangeArrowheads="1" noChangeShapeType="1" noTextEdit="1"/>
                </p:cNvSpPr>
                <p:nvPr/>
              </p:nvSpPr>
              <p:spPr>
                <a:xfrm>
                  <a:off x="5452163" y="2535082"/>
                  <a:ext cx="1263060" cy="369332"/>
                </a:xfrm>
                <a:prstGeom prst="rect">
                  <a:avLst/>
                </a:prstGeom>
                <a:blipFill>
                  <a:blip r:embed="rId6"/>
                  <a:stretch>
                    <a:fillRect b="-10000"/>
                  </a:stretch>
                </a:blipFill>
              </p:spPr>
              <p:txBody>
                <a:bodyPr/>
                <a:lstStyle/>
                <a:p>
                  <a:r>
                    <a:rPr lang="en-US">
                      <a:noFill/>
                    </a:rPr>
                    <a:t> </a:t>
                  </a:r>
                </a:p>
              </p:txBody>
            </p:sp>
          </mc:Fallback>
        </mc:AlternateContent>
      </p:grpSp>
      <p:sp>
        <p:nvSpPr>
          <p:cNvPr id="213" name="Rounded Rectangle 212">
            <a:extLst>
              <a:ext uri="{FF2B5EF4-FFF2-40B4-BE49-F238E27FC236}">
                <a16:creationId xmlns:a16="http://schemas.microsoft.com/office/drawing/2014/main" id="{341D5CFE-40EB-FD2F-F0DA-F85FE09FDD18}"/>
              </a:ext>
            </a:extLst>
          </p:cNvPr>
          <p:cNvSpPr/>
          <p:nvPr/>
        </p:nvSpPr>
        <p:spPr>
          <a:xfrm>
            <a:off x="5814759" y="1582191"/>
            <a:ext cx="1719972" cy="565887"/>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Make a new prediction</a:t>
            </a:r>
          </a:p>
        </p:txBody>
      </p:sp>
      <p:cxnSp>
        <p:nvCxnSpPr>
          <p:cNvPr id="216" name="Straight Arrow Connector 215">
            <a:extLst>
              <a:ext uri="{FF2B5EF4-FFF2-40B4-BE49-F238E27FC236}">
                <a16:creationId xmlns:a16="http://schemas.microsoft.com/office/drawing/2014/main" id="{EA28562B-D1CB-8AAF-2A06-AFDA78F283CB}"/>
              </a:ext>
            </a:extLst>
          </p:cNvPr>
          <p:cNvCxnSpPr>
            <a:cxnSpLocks/>
            <a:stCxn id="217" idx="3"/>
            <a:endCxn id="148" idx="1"/>
          </p:cNvCxnSpPr>
          <p:nvPr/>
        </p:nvCxnSpPr>
        <p:spPr>
          <a:xfrm>
            <a:off x="2568977" y="3629637"/>
            <a:ext cx="617730" cy="5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8" name="Straight Arrow Connector 217">
            <a:extLst>
              <a:ext uri="{FF2B5EF4-FFF2-40B4-BE49-F238E27FC236}">
                <a16:creationId xmlns:a16="http://schemas.microsoft.com/office/drawing/2014/main" id="{AD31261C-FBF0-6188-3570-C0AFB3A54DFA}"/>
              </a:ext>
            </a:extLst>
          </p:cNvPr>
          <p:cNvCxnSpPr>
            <a:cxnSpLocks/>
            <a:stCxn id="138" idx="3"/>
            <a:endCxn id="147" idx="1"/>
          </p:cNvCxnSpPr>
          <p:nvPr/>
        </p:nvCxnSpPr>
        <p:spPr>
          <a:xfrm>
            <a:off x="2569784" y="2775798"/>
            <a:ext cx="6169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1" name="Straight Arrow Connector 220">
            <a:extLst>
              <a:ext uri="{FF2B5EF4-FFF2-40B4-BE49-F238E27FC236}">
                <a16:creationId xmlns:a16="http://schemas.microsoft.com/office/drawing/2014/main" id="{0D545517-C69F-8AFA-88F7-90DFD62BE783}"/>
              </a:ext>
            </a:extLst>
          </p:cNvPr>
          <p:cNvCxnSpPr>
            <a:cxnSpLocks/>
            <a:stCxn id="227" idx="3"/>
            <a:endCxn id="158" idx="1"/>
          </p:cNvCxnSpPr>
          <p:nvPr/>
        </p:nvCxnSpPr>
        <p:spPr>
          <a:xfrm flipV="1">
            <a:off x="2565091" y="4610525"/>
            <a:ext cx="626354" cy="1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3" name="Straight Arrow Connector 222">
            <a:extLst>
              <a:ext uri="{FF2B5EF4-FFF2-40B4-BE49-F238E27FC236}">
                <a16:creationId xmlns:a16="http://schemas.microsoft.com/office/drawing/2014/main" id="{4950A41D-098E-BBD3-E065-50AC1DFAA0F7}"/>
              </a:ext>
            </a:extLst>
          </p:cNvPr>
          <p:cNvCxnSpPr>
            <a:cxnSpLocks/>
            <a:stCxn id="241" idx="3"/>
            <a:endCxn id="168" idx="1"/>
          </p:cNvCxnSpPr>
          <p:nvPr/>
        </p:nvCxnSpPr>
        <p:spPr>
          <a:xfrm flipV="1">
            <a:off x="2569784" y="5479885"/>
            <a:ext cx="616924" cy="7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5" name="Straight Arrow Connector 224">
            <a:extLst>
              <a:ext uri="{FF2B5EF4-FFF2-40B4-BE49-F238E27FC236}">
                <a16:creationId xmlns:a16="http://schemas.microsoft.com/office/drawing/2014/main" id="{0CFD6E6F-CB26-B233-1799-EE75DBBA8B81}"/>
              </a:ext>
            </a:extLst>
          </p:cNvPr>
          <p:cNvCxnSpPr>
            <a:cxnSpLocks/>
            <a:stCxn id="147" idx="3"/>
          </p:cNvCxnSpPr>
          <p:nvPr/>
        </p:nvCxnSpPr>
        <p:spPr>
          <a:xfrm>
            <a:off x="4533044" y="2775798"/>
            <a:ext cx="15083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2321888F-02F6-A551-F001-E6C79DBA2BDA}"/>
              </a:ext>
            </a:extLst>
          </p:cNvPr>
          <p:cNvGrpSpPr/>
          <p:nvPr/>
        </p:nvGrpSpPr>
        <p:grpSpPr>
          <a:xfrm>
            <a:off x="724469" y="2466117"/>
            <a:ext cx="1845315" cy="619362"/>
            <a:chOff x="724469" y="2531190"/>
            <a:chExt cx="1845315" cy="619362"/>
          </a:xfrm>
        </p:grpSpPr>
        <p:sp>
          <p:nvSpPr>
            <p:cNvPr id="138" name="Rounded Rectangle 137">
              <a:extLst>
                <a:ext uri="{FF2B5EF4-FFF2-40B4-BE49-F238E27FC236}">
                  <a16:creationId xmlns:a16="http://schemas.microsoft.com/office/drawing/2014/main" id="{0E326CEC-DDB4-1992-D241-F6FEE3894B8F}"/>
                </a:ext>
              </a:extLst>
            </p:cNvPr>
            <p:cNvSpPr/>
            <p:nvPr/>
          </p:nvSpPr>
          <p:spPr>
            <a:xfrm>
              <a:off x="724469" y="2531190"/>
              <a:ext cx="1845315" cy="619362"/>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Bootstrap 1</a:t>
              </a:r>
            </a:p>
          </p:txBody>
        </p:sp>
        <p:grpSp>
          <p:nvGrpSpPr>
            <p:cNvPr id="95" name="Group 94">
              <a:extLst>
                <a:ext uri="{FF2B5EF4-FFF2-40B4-BE49-F238E27FC236}">
                  <a16:creationId xmlns:a16="http://schemas.microsoft.com/office/drawing/2014/main" id="{E3FFF303-7350-4948-E239-BD4241502000}"/>
                </a:ext>
              </a:extLst>
            </p:cNvPr>
            <p:cNvGrpSpPr/>
            <p:nvPr/>
          </p:nvGrpSpPr>
          <p:grpSpPr>
            <a:xfrm>
              <a:off x="837726" y="2620667"/>
              <a:ext cx="381723" cy="440407"/>
              <a:chOff x="10865797" y="3286316"/>
              <a:chExt cx="1766536" cy="2038115"/>
            </a:xfrm>
          </p:grpSpPr>
          <p:sp>
            <p:nvSpPr>
              <p:cNvPr id="96" name="Freeform: Shape 513">
                <a:extLst>
                  <a:ext uri="{FF2B5EF4-FFF2-40B4-BE49-F238E27FC236}">
                    <a16:creationId xmlns:a16="http://schemas.microsoft.com/office/drawing/2014/main" id="{1BA92C8D-0B4B-EBAA-35A3-1AFA446BE2BB}"/>
                  </a:ext>
                </a:extLst>
              </p:cNvPr>
              <p:cNvSpPr/>
              <p:nvPr/>
            </p:nvSpPr>
            <p:spPr>
              <a:xfrm>
                <a:off x="10865797" y="3286316"/>
                <a:ext cx="1766533" cy="2038115"/>
              </a:xfrm>
              <a:custGeom>
                <a:avLst/>
                <a:gdLst/>
                <a:ahLst/>
                <a:cxnLst>
                  <a:cxn ang="3cd4">
                    <a:pos x="hc" y="t"/>
                  </a:cxn>
                  <a:cxn ang="cd2">
                    <a:pos x="l" y="vc"/>
                  </a:cxn>
                  <a:cxn ang="cd4">
                    <a:pos x="hc" y="b"/>
                  </a:cxn>
                  <a:cxn ang="0">
                    <a:pos x="r" y="vc"/>
                  </a:cxn>
                </a:cxnLst>
                <a:rect l="l" t="t" r="r" b="b"/>
                <a:pathLst>
                  <a:path w="1419" h="1637">
                    <a:moveTo>
                      <a:pt x="708" y="0"/>
                    </a:moveTo>
                    <a:lnTo>
                      <a:pt x="2" y="410"/>
                    </a:lnTo>
                    <a:lnTo>
                      <a:pt x="0" y="1227"/>
                    </a:lnTo>
                    <a:lnTo>
                      <a:pt x="710" y="1637"/>
                    </a:lnTo>
                    <a:lnTo>
                      <a:pt x="1416" y="1227"/>
                    </a:lnTo>
                    <a:lnTo>
                      <a:pt x="1419" y="410"/>
                    </a:lnTo>
                    <a:close/>
                  </a:path>
                </a:pathLst>
              </a:custGeom>
              <a:solidFill>
                <a:schemeClr val="accent1"/>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97" name="Freeform: Shape 514">
                <a:extLst>
                  <a:ext uri="{FF2B5EF4-FFF2-40B4-BE49-F238E27FC236}">
                    <a16:creationId xmlns:a16="http://schemas.microsoft.com/office/drawing/2014/main" id="{D70F7BD3-0077-C2ED-D19B-13EE9B7BEB81}"/>
                  </a:ext>
                </a:extLst>
              </p:cNvPr>
              <p:cNvSpPr/>
              <p:nvPr/>
            </p:nvSpPr>
            <p:spPr>
              <a:xfrm>
                <a:off x="11750312" y="3797090"/>
                <a:ext cx="882021" cy="1527340"/>
              </a:xfrm>
              <a:custGeom>
                <a:avLst/>
                <a:gdLst/>
                <a:ahLst/>
                <a:cxnLst>
                  <a:cxn ang="3cd4">
                    <a:pos x="hc" y="t"/>
                  </a:cxn>
                  <a:cxn ang="cd2">
                    <a:pos x="l" y="vc"/>
                  </a:cxn>
                  <a:cxn ang="cd4">
                    <a:pos x="hc" y="b"/>
                  </a:cxn>
                  <a:cxn ang="0">
                    <a:pos x="r" y="vc"/>
                  </a:cxn>
                </a:cxnLst>
                <a:rect l="l" t="t" r="r" b="b"/>
                <a:pathLst>
                  <a:path w="709" h="1227">
                    <a:moveTo>
                      <a:pt x="709" y="0"/>
                    </a:moveTo>
                    <a:lnTo>
                      <a:pt x="706" y="817"/>
                    </a:lnTo>
                    <a:lnTo>
                      <a:pt x="0" y="1227"/>
                    </a:lnTo>
                    <a:lnTo>
                      <a:pt x="3"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98" name="Freeform: Shape 515">
                <a:extLst>
                  <a:ext uri="{FF2B5EF4-FFF2-40B4-BE49-F238E27FC236}">
                    <a16:creationId xmlns:a16="http://schemas.microsoft.com/office/drawing/2014/main" id="{6A245654-47D8-C507-0CB1-42CC3EA16C28}"/>
                  </a:ext>
                </a:extLst>
              </p:cNvPr>
              <p:cNvSpPr/>
              <p:nvPr/>
            </p:nvSpPr>
            <p:spPr>
              <a:xfrm>
                <a:off x="10865797" y="3797090"/>
                <a:ext cx="887004" cy="1527340"/>
              </a:xfrm>
              <a:custGeom>
                <a:avLst/>
                <a:gdLst/>
                <a:ahLst/>
                <a:cxnLst>
                  <a:cxn ang="3cd4">
                    <a:pos x="hc" y="t"/>
                  </a:cxn>
                  <a:cxn ang="cd2">
                    <a:pos x="l" y="vc"/>
                  </a:cxn>
                  <a:cxn ang="cd4">
                    <a:pos x="hc" y="b"/>
                  </a:cxn>
                  <a:cxn ang="0">
                    <a:pos x="r" y="vc"/>
                  </a:cxn>
                </a:cxnLst>
                <a:rect l="l" t="t" r="r" b="b"/>
                <a:pathLst>
                  <a:path w="713" h="1227">
                    <a:moveTo>
                      <a:pt x="713" y="410"/>
                    </a:moveTo>
                    <a:lnTo>
                      <a:pt x="710" y="1227"/>
                    </a:lnTo>
                    <a:lnTo>
                      <a:pt x="0" y="817"/>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grpSp>
      <p:grpSp>
        <p:nvGrpSpPr>
          <p:cNvPr id="215" name="Group 214">
            <a:extLst>
              <a:ext uri="{FF2B5EF4-FFF2-40B4-BE49-F238E27FC236}">
                <a16:creationId xmlns:a16="http://schemas.microsoft.com/office/drawing/2014/main" id="{329D3708-A47B-12F1-8ACF-258B564384EB}"/>
              </a:ext>
            </a:extLst>
          </p:cNvPr>
          <p:cNvGrpSpPr/>
          <p:nvPr/>
        </p:nvGrpSpPr>
        <p:grpSpPr>
          <a:xfrm>
            <a:off x="723662" y="3319956"/>
            <a:ext cx="1845315" cy="619362"/>
            <a:chOff x="724469" y="2531190"/>
            <a:chExt cx="1845315" cy="619362"/>
          </a:xfrm>
        </p:grpSpPr>
        <p:sp>
          <p:nvSpPr>
            <p:cNvPr id="217" name="Rounded Rectangle 216">
              <a:extLst>
                <a:ext uri="{FF2B5EF4-FFF2-40B4-BE49-F238E27FC236}">
                  <a16:creationId xmlns:a16="http://schemas.microsoft.com/office/drawing/2014/main" id="{9EAB6276-0EA2-B91C-FE9E-CAA6BE82C6E7}"/>
                </a:ext>
              </a:extLst>
            </p:cNvPr>
            <p:cNvSpPr/>
            <p:nvPr/>
          </p:nvSpPr>
          <p:spPr>
            <a:xfrm>
              <a:off x="724469" y="2531190"/>
              <a:ext cx="1845315" cy="619362"/>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Bootstrap 2</a:t>
              </a:r>
            </a:p>
          </p:txBody>
        </p:sp>
        <p:grpSp>
          <p:nvGrpSpPr>
            <p:cNvPr id="219" name="Group 218">
              <a:extLst>
                <a:ext uri="{FF2B5EF4-FFF2-40B4-BE49-F238E27FC236}">
                  <a16:creationId xmlns:a16="http://schemas.microsoft.com/office/drawing/2014/main" id="{35EC6698-D89D-C56A-90DA-B01061958C7F}"/>
                </a:ext>
              </a:extLst>
            </p:cNvPr>
            <p:cNvGrpSpPr/>
            <p:nvPr/>
          </p:nvGrpSpPr>
          <p:grpSpPr>
            <a:xfrm>
              <a:off x="837726" y="2620667"/>
              <a:ext cx="381723" cy="440407"/>
              <a:chOff x="10865797" y="3286316"/>
              <a:chExt cx="1766536" cy="2038115"/>
            </a:xfrm>
          </p:grpSpPr>
          <p:sp>
            <p:nvSpPr>
              <p:cNvPr id="220" name="Freeform: Shape 513">
                <a:extLst>
                  <a:ext uri="{FF2B5EF4-FFF2-40B4-BE49-F238E27FC236}">
                    <a16:creationId xmlns:a16="http://schemas.microsoft.com/office/drawing/2014/main" id="{C9F3ACAC-0E56-1A0A-518A-0A0731A166EB}"/>
                  </a:ext>
                </a:extLst>
              </p:cNvPr>
              <p:cNvSpPr/>
              <p:nvPr/>
            </p:nvSpPr>
            <p:spPr>
              <a:xfrm>
                <a:off x="10865797" y="3286316"/>
                <a:ext cx="1766533" cy="2038115"/>
              </a:xfrm>
              <a:custGeom>
                <a:avLst/>
                <a:gdLst/>
                <a:ahLst/>
                <a:cxnLst>
                  <a:cxn ang="3cd4">
                    <a:pos x="hc" y="t"/>
                  </a:cxn>
                  <a:cxn ang="cd2">
                    <a:pos x="l" y="vc"/>
                  </a:cxn>
                  <a:cxn ang="cd4">
                    <a:pos x="hc" y="b"/>
                  </a:cxn>
                  <a:cxn ang="0">
                    <a:pos x="r" y="vc"/>
                  </a:cxn>
                </a:cxnLst>
                <a:rect l="l" t="t" r="r" b="b"/>
                <a:pathLst>
                  <a:path w="1419" h="1637">
                    <a:moveTo>
                      <a:pt x="708" y="0"/>
                    </a:moveTo>
                    <a:lnTo>
                      <a:pt x="2" y="410"/>
                    </a:lnTo>
                    <a:lnTo>
                      <a:pt x="0" y="1227"/>
                    </a:lnTo>
                    <a:lnTo>
                      <a:pt x="710" y="1637"/>
                    </a:lnTo>
                    <a:lnTo>
                      <a:pt x="1416" y="1227"/>
                    </a:lnTo>
                    <a:lnTo>
                      <a:pt x="1419" y="410"/>
                    </a:lnTo>
                    <a:close/>
                  </a:path>
                </a:pathLst>
              </a:custGeom>
              <a:solidFill>
                <a:schemeClr val="accent1"/>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22" name="Freeform: Shape 514">
                <a:extLst>
                  <a:ext uri="{FF2B5EF4-FFF2-40B4-BE49-F238E27FC236}">
                    <a16:creationId xmlns:a16="http://schemas.microsoft.com/office/drawing/2014/main" id="{CCA22EA1-0080-B1F7-377D-9CCA58AFC34C}"/>
                  </a:ext>
                </a:extLst>
              </p:cNvPr>
              <p:cNvSpPr/>
              <p:nvPr/>
            </p:nvSpPr>
            <p:spPr>
              <a:xfrm>
                <a:off x="11750312" y="3797090"/>
                <a:ext cx="882021" cy="1527340"/>
              </a:xfrm>
              <a:custGeom>
                <a:avLst/>
                <a:gdLst/>
                <a:ahLst/>
                <a:cxnLst>
                  <a:cxn ang="3cd4">
                    <a:pos x="hc" y="t"/>
                  </a:cxn>
                  <a:cxn ang="cd2">
                    <a:pos x="l" y="vc"/>
                  </a:cxn>
                  <a:cxn ang="cd4">
                    <a:pos x="hc" y="b"/>
                  </a:cxn>
                  <a:cxn ang="0">
                    <a:pos x="r" y="vc"/>
                  </a:cxn>
                </a:cxnLst>
                <a:rect l="l" t="t" r="r" b="b"/>
                <a:pathLst>
                  <a:path w="709" h="1227">
                    <a:moveTo>
                      <a:pt x="709" y="0"/>
                    </a:moveTo>
                    <a:lnTo>
                      <a:pt x="706" y="817"/>
                    </a:lnTo>
                    <a:lnTo>
                      <a:pt x="0" y="1227"/>
                    </a:lnTo>
                    <a:lnTo>
                      <a:pt x="3"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24" name="Freeform: Shape 515">
                <a:extLst>
                  <a:ext uri="{FF2B5EF4-FFF2-40B4-BE49-F238E27FC236}">
                    <a16:creationId xmlns:a16="http://schemas.microsoft.com/office/drawing/2014/main" id="{A1DE792F-E345-1A94-FA15-73DCE3FD8244}"/>
                  </a:ext>
                </a:extLst>
              </p:cNvPr>
              <p:cNvSpPr/>
              <p:nvPr/>
            </p:nvSpPr>
            <p:spPr>
              <a:xfrm>
                <a:off x="10865797" y="3797090"/>
                <a:ext cx="887004" cy="1527340"/>
              </a:xfrm>
              <a:custGeom>
                <a:avLst/>
                <a:gdLst/>
                <a:ahLst/>
                <a:cxnLst>
                  <a:cxn ang="3cd4">
                    <a:pos x="hc" y="t"/>
                  </a:cxn>
                  <a:cxn ang="cd2">
                    <a:pos x="l" y="vc"/>
                  </a:cxn>
                  <a:cxn ang="cd4">
                    <a:pos x="hc" y="b"/>
                  </a:cxn>
                  <a:cxn ang="0">
                    <a:pos x="r" y="vc"/>
                  </a:cxn>
                </a:cxnLst>
                <a:rect l="l" t="t" r="r" b="b"/>
                <a:pathLst>
                  <a:path w="713" h="1227">
                    <a:moveTo>
                      <a:pt x="713" y="410"/>
                    </a:moveTo>
                    <a:lnTo>
                      <a:pt x="710" y="1227"/>
                    </a:lnTo>
                    <a:lnTo>
                      <a:pt x="0" y="817"/>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grpSp>
      <p:grpSp>
        <p:nvGrpSpPr>
          <p:cNvPr id="226" name="Group 225">
            <a:extLst>
              <a:ext uri="{FF2B5EF4-FFF2-40B4-BE49-F238E27FC236}">
                <a16:creationId xmlns:a16="http://schemas.microsoft.com/office/drawing/2014/main" id="{CD8D8194-52AB-C3F7-5BE5-71DC255D8882}"/>
              </a:ext>
            </a:extLst>
          </p:cNvPr>
          <p:cNvGrpSpPr/>
          <p:nvPr/>
        </p:nvGrpSpPr>
        <p:grpSpPr>
          <a:xfrm>
            <a:off x="719776" y="4302683"/>
            <a:ext cx="1845315" cy="619362"/>
            <a:chOff x="724469" y="2531190"/>
            <a:chExt cx="1845315" cy="619362"/>
          </a:xfrm>
        </p:grpSpPr>
        <p:sp>
          <p:nvSpPr>
            <p:cNvPr id="227" name="Rounded Rectangle 226">
              <a:extLst>
                <a:ext uri="{FF2B5EF4-FFF2-40B4-BE49-F238E27FC236}">
                  <a16:creationId xmlns:a16="http://schemas.microsoft.com/office/drawing/2014/main" id="{191C2682-2099-CCB6-4F81-D79C4C5126EE}"/>
                </a:ext>
              </a:extLst>
            </p:cNvPr>
            <p:cNvSpPr/>
            <p:nvPr/>
          </p:nvSpPr>
          <p:spPr>
            <a:xfrm>
              <a:off x="724469" y="2531190"/>
              <a:ext cx="1845315" cy="619362"/>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Bootstrap 3</a:t>
              </a:r>
            </a:p>
          </p:txBody>
        </p:sp>
        <p:grpSp>
          <p:nvGrpSpPr>
            <p:cNvPr id="228" name="Group 227">
              <a:extLst>
                <a:ext uri="{FF2B5EF4-FFF2-40B4-BE49-F238E27FC236}">
                  <a16:creationId xmlns:a16="http://schemas.microsoft.com/office/drawing/2014/main" id="{A4AD6CC4-D04C-71DE-3CE4-B6384F8DE505}"/>
                </a:ext>
              </a:extLst>
            </p:cNvPr>
            <p:cNvGrpSpPr/>
            <p:nvPr/>
          </p:nvGrpSpPr>
          <p:grpSpPr>
            <a:xfrm>
              <a:off x="837726" y="2620667"/>
              <a:ext cx="381723" cy="440407"/>
              <a:chOff x="10865797" y="3286316"/>
              <a:chExt cx="1766536" cy="2038115"/>
            </a:xfrm>
          </p:grpSpPr>
          <p:sp>
            <p:nvSpPr>
              <p:cNvPr id="232" name="Freeform: Shape 513">
                <a:extLst>
                  <a:ext uri="{FF2B5EF4-FFF2-40B4-BE49-F238E27FC236}">
                    <a16:creationId xmlns:a16="http://schemas.microsoft.com/office/drawing/2014/main" id="{F5F865BF-01CD-795A-F9DE-A0E77532D3BD}"/>
                  </a:ext>
                </a:extLst>
              </p:cNvPr>
              <p:cNvSpPr/>
              <p:nvPr/>
            </p:nvSpPr>
            <p:spPr>
              <a:xfrm>
                <a:off x="10865797" y="3286316"/>
                <a:ext cx="1766533" cy="2038115"/>
              </a:xfrm>
              <a:custGeom>
                <a:avLst/>
                <a:gdLst/>
                <a:ahLst/>
                <a:cxnLst>
                  <a:cxn ang="3cd4">
                    <a:pos x="hc" y="t"/>
                  </a:cxn>
                  <a:cxn ang="cd2">
                    <a:pos x="l" y="vc"/>
                  </a:cxn>
                  <a:cxn ang="cd4">
                    <a:pos x="hc" y="b"/>
                  </a:cxn>
                  <a:cxn ang="0">
                    <a:pos x="r" y="vc"/>
                  </a:cxn>
                </a:cxnLst>
                <a:rect l="l" t="t" r="r" b="b"/>
                <a:pathLst>
                  <a:path w="1419" h="1637">
                    <a:moveTo>
                      <a:pt x="708" y="0"/>
                    </a:moveTo>
                    <a:lnTo>
                      <a:pt x="2" y="410"/>
                    </a:lnTo>
                    <a:lnTo>
                      <a:pt x="0" y="1227"/>
                    </a:lnTo>
                    <a:lnTo>
                      <a:pt x="710" y="1637"/>
                    </a:lnTo>
                    <a:lnTo>
                      <a:pt x="1416" y="1227"/>
                    </a:lnTo>
                    <a:lnTo>
                      <a:pt x="1419" y="410"/>
                    </a:lnTo>
                    <a:close/>
                  </a:path>
                </a:pathLst>
              </a:custGeom>
              <a:solidFill>
                <a:schemeClr val="accent1"/>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34" name="Freeform: Shape 514">
                <a:extLst>
                  <a:ext uri="{FF2B5EF4-FFF2-40B4-BE49-F238E27FC236}">
                    <a16:creationId xmlns:a16="http://schemas.microsoft.com/office/drawing/2014/main" id="{6CAA9859-2603-80A8-05A9-FD4BC01B9B02}"/>
                  </a:ext>
                </a:extLst>
              </p:cNvPr>
              <p:cNvSpPr/>
              <p:nvPr/>
            </p:nvSpPr>
            <p:spPr>
              <a:xfrm>
                <a:off x="11750312" y="3797090"/>
                <a:ext cx="882021" cy="1527340"/>
              </a:xfrm>
              <a:custGeom>
                <a:avLst/>
                <a:gdLst/>
                <a:ahLst/>
                <a:cxnLst>
                  <a:cxn ang="3cd4">
                    <a:pos x="hc" y="t"/>
                  </a:cxn>
                  <a:cxn ang="cd2">
                    <a:pos x="l" y="vc"/>
                  </a:cxn>
                  <a:cxn ang="cd4">
                    <a:pos x="hc" y="b"/>
                  </a:cxn>
                  <a:cxn ang="0">
                    <a:pos x="r" y="vc"/>
                  </a:cxn>
                </a:cxnLst>
                <a:rect l="l" t="t" r="r" b="b"/>
                <a:pathLst>
                  <a:path w="709" h="1227">
                    <a:moveTo>
                      <a:pt x="709" y="0"/>
                    </a:moveTo>
                    <a:lnTo>
                      <a:pt x="706" y="817"/>
                    </a:lnTo>
                    <a:lnTo>
                      <a:pt x="0" y="1227"/>
                    </a:lnTo>
                    <a:lnTo>
                      <a:pt x="3"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36" name="Freeform: Shape 515">
                <a:extLst>
                  <a:ext uri="{FF2B5EF4-FFF2-40B4-BE49-F238E27FC236}">
                    <a16:creationId xmlns:a16="http://schemas.microsoft.com/office/drawing/2014/main" id="{5B7B3D51-1A18-28BA-5E58-4A4E5D04A17D}"/>
                  </a:ext>
                </a:extLst>
              </p:cNvPr>
              <p:cNvSpPr/>
              <p:nvPr/>
            </p:nvSpPr>
            <p:spPr>
              <a:xfrm>
                <a:off x="10865797" y="3797090"/>
                <a:ext cx="887004" cy="1527340"/>
              </a:xfrm>
              <a:custGeom>
                <a:avLst/>
                <a:gdLst/>
                <a:ahLst/>
                <a:cxnLst>
                  <a:cxn ang="3cd4">
                    <a:pos x="hc" y="t"/>
                  </a:cxn>
                  <a:cxn ang="cd2">
                    <a:pos x="l" y="vc"/>
                  </a:cxn>
                  <a:cxn ang="cd4">
                    <a:pos x="hc" y="b"/>
                  </a:cxn>
                  <a:cxn ang="0">
                    <a:pos x="r" y="vc"/>
                  </a:cxn>
                </a:cxnLst>
                <a:rect l="l" t="t" r="r" b="b"/>
                <a:pathLst>
                  <a:path w="713" h="1227">
                    <a:moveTo>
                      <a:pt x="713" y="410"/>
                    </a:moveTo>
                    <a:lnTo>
                      <a:pt x="710" y="1227"/>
                    </a:lnTo>
                    <a:lnTo>
                      <a:pt x="0" y="817"/>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grpSp>
      <p:grpSp>
        <p:nvGrpSpPr>
          <p:cNvPr id="239" name="Group 238">
            <a:extLst>
              <a:ext uri="{FF2B5EF4-FFF2-40B4-BE49-F238E27FC236}">
                <a16:creationId xmlns:a16="http://schemas.microsoft.com/office/drawing/2014/main" id="{3818E5EF-385C-0D48-054D-3B128FB22510}"/>
              </a:ext>
            </a:extLst>
          </p:cNvPr>
          <p:cNvGrpSpPr/>
          <p:nvPr/>
        </p:nvGrpSpPr>
        <p:grpSpPr>
          <a:xfrm>
            <a:off x="724469" y="5177693"/>
            <a:ext cx="1845315" cy="619362"/>
            <a:chOff x="724469" y="2531190"/>
            <a:chExt cx="1845315" cy="619362"/>
          </a:xfrm>
        </p:grpSpPr>
        <p:sp>
          <p:nvSpPr>
            <p:cNvPr id="241" name="Rounded Rectangle 240">
              <a:extLst>
                <a:ext uri="{FF2B5EF4-FFF2-40B4-BE49-F238E27FC236}">
                  <a16:creationId xmlns:a16="http://schemas.microsoft.com/office/drawing/2014/main" id="{DD13EF63-866D-3AD0-4232-AD0E75AE2B9F}"/>
                </a:ext>
              </a:extLst>
            </p:cNvPr>
            <p:cNvSpPr/>
            <p:nvPr/>
          </p:nvSpPr>
          <p:spPr>
            <a:xfrm>
              <a:off x="724469" y="2531190"/>
              <a:ext cx="1845315" cy="619362"/>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Bootstrap 4</a:t>
              </a:r>
            </a:p>
          </p:txBody>
        </p:sp>
        <p:grpSp>
          <p:nvGrpSpPr>
            <p:cNvPr id="242" name="Group 241">
              <a:extLst>
                <a:ext uri="{FF2B5EF4-FFF2-40B4-BE49-F238E27FC236}">
                  <a16:creationId xmlns:a16="http://schemas.microsoft.com/office/drawing/2014/main" id="{7E7C530E-FC6F-B97E-3FC8-6ACA75079D1E}"/>
                </a:ext>
              </a:extLst>
            </p:cNvPr>
            <p:cNvGrpSpPr/>
            <p:nvPr/>
          </p:nvGrpSpPr>
          <p:grpSpPr>
            <a:xfrm>
              <a:off x="837726" y="2620667"/>
              <a:ext cx="381723" cy="440407"/>
              <a:chOff x="10865797" y="3286316"/>
              <a:chExt cx="1766536" cy="2038115"/>
            </a:xfrm>
          </p:grpSpPr>
          <p:sp>
            <p:nvSpPr>
              <p:cNvPr id="243" name="Freeform: Shape 513">
                <a:extLst>
                  <a:ext uri="{FF2B5EF4-FFF2-40B4-BE49-F238E27FC236}">
                    <a16:creationId xmlns:a16="http://schemas.microsoft.com/office/drawing/2014/main" id="{A3D68F03-9A8F-9955-1A3E-76621520A765}"/>
                  </a:ext>
                </a:extLst>
              </p:cNvPr>
              <p:cNvSpPr/>
              <p:nvPr/>
            </p:nvSpPr>
            <p:spPr>
              <a:xfrm>
                <a:off x="10865797" y="3286316"/>
                <a:ext cx="1766533" cy="2038115"/>
              </a:xfrm>
              <a:custGeom>
                <a:avLst/>
                <a:gdLst/>
                <a:ahLst/>
                <a:cxnLst>
                  <a:cxn ang="3cd4">
                    <a:pos x="hc" y="t"/>
                  </a:cxn>
                  <a:cxn ang="cd2">
                    <a:pos x="l" y="vc"/>
                  </a:cxn>
                  <a:cxn ang="cd4">
                    <a:pos x="hc" y="b"/>
                  </a:cxn>
                  <a:cxn ang="0">
                    <a:pos x="r" y="vc"/>
                  </a:cxn>
                </a:cxnLst>
                <a:rect l="l" t="t" r="r" b="b"/>
                <a:pathLst>
                  <a:path w="1419" h="1637">
                    <a:moveTo>
                      <a:pt x="708" y="0"/>
                    </a:moveTo>
                    <a:lnTo>
                      <a:pt x="2" y="410"/>
                    </a:lnTo>
                    <a:lnTo>
                      <a:pt x="0" y="1227"/>
                    </a:lnTo>
                    <a:lnTo>
                      <a:pt x="710" y="1637"/>
                    </a:lnTo>
                    <a:lnTo>
                      <a:pt x="1416" y="1227"/>
                    </a:lnTo>
                    <a:lnTo>
                      <a:pt x="1419" y="410"/>
                    </a:lnTo>
                    <a:close/>
                  </a:path>
                </a:pathLst>
              </a:custGeom>
              <a:solidFill>
                <a:schemeClr val="accent1"/>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44" name="Freeform: Shape 514">
                <a:extLst>
                  <a:ext uri="{FF2B5EF4-FFF2-40B4-BE49-F238E27FC236}">
                    <a16:creationId xmlns:a16="http://schemas.microsoft.com/office/drawing/2014/main" id="{EE28DDDF-E064-24A4-3E61-F27B4B1C1F2A}"/>
                  </a:ext>
                </a:extLst>
              </p:cNvPr>
              <p:cNvSpPr/>
              <p:nvPr/>
            </p:nvSpPr>
            <p:spPr>
              <a:xfrm>
                <a:off x="11750312" y="3797090"/>
                <a:ext cx="882021" cy="1527340"/>
              </a:xfrm>
              <a:custGeom>
                <a:avLst/>
                <a:gdLst/>
                <a:ahLst/>
                <a:cxnLst>
                  <a:cxn ang="3cd4">
                    <a:pos x="hc" y="t"/>
                  </a:cxn>
                  <a:cxn ang="cd2">
                    <a:pos x="l" y="vc"/>
                  </a:cxn>
                  <a:cxn ang="cd4">
                    <a:pos x="hc" y="b"/>
                  </a:cxn>
                  <a:cxn ang="0">
                    <a:pos x="r" y="vc"/>
                  </a:cxn>
                </a:cxnLst>
                <a:rect l="l" t="t" r="r" b="b"/>
                <a:pathLst>
                  <a:path w="709" h="1227">
                    <a:moveTo>
                      <a:pt x="709" y="0"/>
                    </a:moveTo>
                    <a:lnTo>
                      <a:pt x="706" y="817"/>
                    </a:lnTo>
                    <a:lnTo>
                      <a:pt x="0" y="1227"/>
                    </a:lnTo>
                    <a:lnTo>
                      <a:pt x="3"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45" name="Freeform: Shape 515">
                <a:extLst>
                  <a:ext uri="{FF2B5EF4-FFF2-40B4-BE49-F238E27FC236}">
                    <a16:creationId xmlns:a16="http://schemas.microsoft.com/office/drawing/2014/main" id="{460FFFA8-8DAC-655E-2200-CADDCAFC2A01}"/>
                  </a:ext>
                </a:extLst>
              </p:cNvPr>
              <p:cNvSpPr/>
              <p:nvPr/>
            </p:nvSpPr>
            <p:spPr>
              <a:xfrm>
                <a:off x="10865797" y="3797090"/>
                <a:ext cx="887004" cy="1527340"/>
              </a:xfrm>
              <a:custGeom>
                <a:avLst/>
                <a:gdLst/>
                <a:ahLst/>
                <a:cxnLst>
                  <a:cxn ang="3cd4">
                    <a:pos x="hc" y="t"/>
                  </a:cxn>
                  <a:cxn ang="cd2">
                    <a:pos x="l" y="vc"/>
                  </a:cxn>
                  <a:cxn ang="cd4">
                    <a:pos x="hc" y="b"/>
                  </a:cxn>
                  <a:cxn ang="0">
                    <a:pos x="r" y="vc"/>
                  </a:cxn>
                </a:cxnLst>
                <a:rect l="l" t="t" r="r" b="b"/>
                <a:pathLst>
                  <a:path w="713" h="1227">
                    <a:moveTo>
                      <a:pt x="713" y="410"/>
                    </a:moveTo>
                    <a:lnTo>
                      <a:pt x="710" y="1227"/>
                    </a:lnTo>
                    <a:lnTo>
                      <a:pt x="0" y="817"/>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grpSp>
    </p:spTree>
    <p:extLst>
      <p:ext uri="{BB962C8B-B14F-4D97-AF65-F5344CB8AC3E}">
        <p14:creationId xmlns:p14="http://schemas.microsoft.com/office/powerpoint/2010/main" val="139191703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9" name="Straight Arrow Connector 228">
            <a:extLst>
              <a:ext uri="{FF2B5EF4-FFF2-40B4-BE49-F238E27FC236}">
                <a16:creationId xmlns:a16="http://schemas.microsoft.com/office/drawing/2014/main" id="{9EF808D1-3AA3-8650-5617-85DFFA517C3D}"/>
              </a:ext>
            </a:extLst>
          </p:cNvPr>
          <p:cNvCxnSpPr>
            <a:cxnSpLocks/>
          </p:cNvCxnSpPr>
          <p:nvPr/>
        </p:nvCxnSpPr>
        <p:spPr>
          <a:xfrm>
            <a:off x="4424748" y="3627257"/>
            <a:ext cx="16166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0" name="Straight Arrow Connector 229">
            <a:extLst>
              <a:ext uri="{FF2B5EF4-FFF2-40B4-BE49-F238E27FC236}">
                <a16:creationId xmlns:a16="http://schemas.microsoft.com/office/drawing/2014/main" id="{BCE262B8-A075-84E2-73AD-0C9FBB3AB51E}"/>
              </a:ext>
            </a:extLst>
          </p:cNvPr>
          <p:cNvCxnSpPr>
            <a:cxnSpLocks/>
          </p:cNvCxnSpPr>
          <p:nvPr/>
        </p:nvCxnSpPr>
        <p:spPr>
          <a:xfrm>
            <a:off x="4424748" y="4590298"/>
            <a:ext cx="16166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1" name="Straight Arrow Connector 230">
            <a:extLst>
              <a:ext uri="{FF2B5EF4-FFF2-40B4-BE49-F238E27FC236}">
                <a16:creationId xmlns:a16="http://schemas.microsoft.com/office/drawing/2014/main" id="{C9A64CA0-B821-78E0-3F7D-11AAF1D8D71D}"/>
              </a:ext>
            </a:extLst>
          </p:cNvPr>
          <p:cNvCxnSpPr>
            <a:cxnSpLocks/>
          </p:cNvCxnSpPr>
          <p:nvPr/>
        </p:nvCxnSpPr>
        <p:spPr>
          <a:xfrm>
            <a:off x="4424748" y="5472277"/>
            <a:ext cx="16166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CD03B3C-B7E7-6A09-95C3-CA33F66123B7}"/>
              </a:ext>
            </a:extLst>
          </p:cNvPr>
          <p:cNvSpPr>
            <a:spLocks noGrp="1"/>
          </p:cNvSpPr>
          <p:nvPr>
            <p:ph type="title"/>
          </p:nvPr>
        </p:nvSpPr>
        <p:spPr/>
        <p:txBody>
          <a:bodyPr/>
          <a:lstStyle/>
          <a:p>
            <a:r>
              <a:rPr lang="en-US" dirty="0"/>
              <a:t>Bagged Regression Tree</a:t>
            </a:r>
          </a:p>
        </p:txBody>
      </p:sp>
      <p:grpSp>
        <p:nvGrpSpPr>
          <p:cNvPr id="182" name="Group 181">
            <a:extLst>
              <a:ext uri="{FF2B5EF4-FFF2-40B4-BE49-F238E27FC236}">
                <a16:creationId xmlns:a16="http://schemas.microsoft.com/office/drawing/2014/main" id="{50D1C69E-EDD9-9462-C363-F1D47969ED28}"/>
              </a:ext>
            </a:extLst>
          </p:cNvPr>
          <p:cNvGrpSpPr/>
          <p:nvPr/>
        </p:nvGrpSpPr>
        <p:grpSpPr>
          <a:xfrm>
            <a:off x="5961589" y="2473606"/>
            <a:ext cx="1599339" cy="604385"/>
            <a:chOff x="5292935" y="2464499"/>
            <a:chExt cx="1599339" cy="604385"/>
          </a:xfrm>
        </p:grpSpPr>
        <p:grpSp>
          <p:nvGrpSpPr>
            <p:cNvPr id="109" name="Group 108">
              <a:extLst>
                <a:ext uri="{FF2B5EF4-FFF2-40B4-BE49-F238E27FC236}">
                  <a16:creationId xmlns:a16="http://schemas.microsoft.com/office/drawing/2014/main" id="{A6219DC1-6482-B636-E649-DF3EED511BC8}"/>
                </a:ext>
              </a:extLst>
            </p:cNvPr>
            <p:cNvGrpSpPr/>
            <p:nvPr/>
          </p:nvGrpSpPr>
          <p:grpSpPr>
            <a:xfrm>
              <a:off x="5292935" y="2464499"/>
              <a:ext cx="1599339" cy="604385"/>
              <a:chOff x="6583915" y="3372891"/>
              <a:chExt cx="2720699" cy="1028144"/>
            </a:xfrm>
          </p:grpSpPr>
          <p:sp>
            <p:nvSpPr>
              <p:cNvPr id="110" name="Freeform 5">
                <a:extLst>
                  <a:ext uri="{FF2B5EF4-FFF2-40B4-BE49-F238E27FC236}">
                    <a16:creationId xmlns:a16="http://schemas.microsoft.com/office/drawing/2014/main" id="{6EE6FFD3-F512-CFFC-5C4E-EEB8DAD58603}"/>
                  </a:ext>
                </a:extLst>
              </p:cNvPr>
              <p:cNvSpPr>
                <a:spLocks/>
              </p:cNvSpPr>
              <p:nvPr/>
            </p:nvSpPr>
            <p:spPr bwMode="auto">
              <a:xfrm>
                <a:off x="8080515"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111" name="Freeform 5">
                <a:extLst>
                  <a:ext uri="{FF2B5EF4-FFF2-40B4-BE49-F238E27FC236}">
                    <a16:creationId xmlns:a16="http://schemas.microsoft.com/office/drawing/2014/main" id="{A949BCDA-74E6-0893-5E21-17A7789DFDA9}"/>
                  </a:ext>
                </a:extLst>
              </p:cNvPr>
              <p:cNvSpPr>
                <a:spLocks/>
              </p:cNvSpPr>
              <p:nvPr/>
            </p:nvSpPr>
            <p:spPr bwMode="auto">
              <a:xfrm>
                <a:off x="7361204"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nvGrpSpPr>
              <p:cNvPr id="112" name="Group 111">
                <a:extLst>
                  <a:ext uri="{FF2B5EF4-FFF2-40B4-BE49-F238E27FC236}">
                    <a16:creationId xmlns:a16="http://schemas.microsoft.com/office/drawing/2014/main" id="{D085C020-2C8F-E6FC-A62C-99DEA3F9404C}"/>
                  </a:ext>
                </a:extLst>
              </p:cNvPr>
              <p:cNvGrpSpPr/>
              <p:nvPr/>
            </p:nvGrpSpPr>
            <p:grpSpPr>
              <a:xfrm>
                <a:off x="6583915" y="3372892"/>
                <a:ext cx="1234278" cy="1028143"/>
                <a:chOff x="1451772" y="4010848"/>
                <a:chExt cx="5337253" cy="4445888"/>
              </a:xfrm>
            </p:grpSpPr>
            <p:sp>
              <p:nvSpPr>
                <p:cNvPr id="115" name="Freeform 5">
                  <a:extLst>
                    <a:ext uri="{FF2B5EF4-FFF2-40B4-BE49-F238E27FC236}">
                      <a16:creationId xmlns:a16="http://schemas.microsoft.com/office/drawing/2014/main" id="{BC4C0450-306A-618D-9305-DBA76F7B5038}"/>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116" name="Freeform 6">
                  <a:extLst>
                    <a:ext uri="{FF2B5EF4-FFF2-40B4-BE49-F238E27FC236}">
                      <a16:creationId xmlns:a16="http://schemas.microsoft.com/office/drawing/2014/main" id="{0B45E658-9E30-8E55-4654-C6C13DF5B387}"/>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113" name="Freeform 6">
                <a:extLst>
                  <a:ext uri="{FF2B5EF4-FFF2-40B4-BE49-F238E27FC236}">
                    <a16:creationId xmlns:a16="http://schemas.microsoft.com/office/drawing/2014/main" id="{A1B9118E-0E71-1265-2DAC-FCA9E79A8045}"/>
                  </a:ext>
                </a:extLst>
              </p:cNvPr>
              <p:cNvSpPr>
                <a:spLocks/>
              </p:cNvSpPr>
              <p:nvPr/>
            </p:nvSpPr>
            <p:spPr bwMode="auto">
              <a:xfrm>
                <a:off x="7343923"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114" name="Freeform 6">
                <a:extLst>
                  <a:ext uri="{FF2B5EF4-FFF2-40B4-BE49-F238E27FC236}">
                    <a16:creationId xmlns:a16="http://schemas.microsoft.com/office/drawing/2014/main" id="{A0784A5C-593A-EBF7-8A51-EA44468AA479}"/>
                  </a:ext>
                </a:extLst>
              </p:cNvPr>
              <p:cNvSpPr>
                <a:spLocks/>
              </p:cNvSpPr>
              <p:nvPr/>
            </p:nvSpPr>
            <p:spPr bwMode="auto">
              <a:xfrm>
                <a:off x="8063234"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4586E570-0CA5-B90D-8E1F-D468BE4E6123}"/>
                    </a:ext>
                  </a:extLst>
                </p:cNvPr>
                <p:cNvSpPr txBox="1"/>
                <p:nvPr/>
              </p:nvSpPr>
              <p:spPr>
                <a:xfrm>
                  <a:off x="5452163" y="2535082"/>
                  <a:ext cx="12630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bg1"/>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panose="02040503050406030204" pitchFamily="18" charset="0"/>
                                  </a:rPr>
                                  <m:t>𝑦</m:t>
                                </m:r>
                              </m:e>
                            </m:acc>
                          </m:e>
                          <m:sub>
                            <m:r>
                              <a:rPr lang="en-US" i="1">
                                <a:solidFill>
                                  <a:schemeClr val="bg1"/>
                                </a:solidFill>
                                <a:latin typeface="Cambria Math" panose="02040503050406030204" pitchFamily="18" charset="0"/>
                              </a:rPr>
                              <m:t>𝑇</m:t>
                            </m:r>
                            <m:r>
                              <a:rPr lang="en-US" i="1">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117" name="TextBox 116">
                  <a:extLst>
                    <a:ext uri="{FF2B5EF4-FFF2-40B4-BE49-F238E27FC236}">
                      <a16:creationId xmlns:a16="http://schemas.microsoft.com/office/drawing/2014/main" id="{4586E570-0CA5-B90D-8E1F-D468BE4E6123}"/>
                    </a:ext>
                  </a:extLst>
                </p:cNvPr>
                <p:cNvSpPr txBox="1">
                  <a:spLocks noRot="1" noChangeAspect="1" noMove="1" noResize="1" noEditPoints="1" noAdjustHandles="1" noChangeArrowheads="1" noChangeShapeType="1" noTextEdit="1"/>
                </p:cNvSpPr>
                <p:nvPr/>
              </p:nvSpPr>
              <p:spPr>
                <a:xfrm>
                  <a:off x="5452163" y="2535082"/>
                  <a:ext cx="1263060" cy="369332"/>
                </a:xfrm>
                <a:prstGeom prst="rect">
                  <a:avLst/>
                </a:prstGeom>
                <a:blipFill>
                  <a:blip r:embed="rId2"/>
                  <a:stretch>
                    <a:fillRect b="-10000"/>
                  </a:stretch>
                </a:blipFill>
              </p:spPr>
              <p:txBody>
                <a:bodyPr/>
                <a:lstStyle/>
                <a:p>
                  <a:r>
                    <a:rPr lang="en-US">
                      <a:noFill/>
                    </a:rPr>
                    <a:t> </a:t>
                  </a:r>
                </a:p>
              </p:txBody>
            </p:sp>
          </mc:Fallback>
        </mc:AlternateContent>
      </p:grpSp>
      <p:grpSp>
        <p:nvGrpSpPr>
          <p:cNvPr id="178" name="Group 177">
            <a:extLst>
              <a:ext uri="{FF2B5EF4-FFF2-40B4-BE49-F238E27FC236}">
                <a16:creationId xmlns:a16="http://schemas.microsoft.com/office/drawing/2014/main" id="{427A9AE0-A947-DB68-0CD4-54C3E74D5DC2}"/>
              </a:ext>
            </a:extLst>
          </p:cNvPr>
          <p:cNvGrpSpPr/>
          <p:nvPr/>
        </p:nvGrpSpPr>
        <p:grpSpPr>
          <a:xfrm>
            <a:off x="3186708" y="2529253"/>
            <a:ext cx="1346336" cy="493090"/>
            <a:chOff x="2873569" y="1644898"/>
            <a:chExt cx="1346336" cy="493090"/>
          </a:xfrm>
        </p:grpSpPr>
        <p:sp>
          <p:nvSpPr>
            <p:cNvPr id="147" name="Rounded Rectangle 146">
              <a:extLst>
                <a:ext uri="{FF2B5EF4-FFF2-40B4-BE49-F238E27FC236}">
                  <a16:creationId xmlns:a16="http://schemas.microsoft.com/office/drawing/2014/main" id="{C4D91A67-F23F-59EC-4942-B9CBAF5AFF93}"/>
                </a:ext>
              </a:extLst>
            </p:cNvPr>
            <p:cNvSpPr/>
            <p:nvPr/>
          </p:nvSpPr>
          <p:spPr>
            <a:xfrm>
              <a:off x="2873569" y="1644898"/>
              <a:ext cx="1346336" cy="493090"/>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Tree 1</a:t>
              </a:r>
            </a:p>
          </p:txBody>
        </p:sp>
        <p:grpSp>
          <p:nvGrpSpPr>
            <p:cNvPr id="100" name="Group 99">
              <a:extLst>
                <a:ext uri="{FF2B5EF4-FFF2-40B4-BE49-F238E27FC236}">
                  <a16:creationId xmlns:a16="http://schemas.microsoft.com/office/drawing/2014/main" id="{EC622B7F-B01E-8FB6-C8D3-A2B73D5FF6A2}"/>
                </a:ext>
              </a:extLst>
            </p:cNvPr>
            <p:cNvGrpSpPr/>
            <p:nvPr/>
          </p:nvGrpSpPr>
          <p:grpSpPr>
            <a:xfrm>
              <a:off x="2991864" y="1696713"/>
              <a:ext cx="394747" cy="389460"/>
              <a:chOff x="6268681" y="2169961"/>
              <a:chExt cx="2844800" cy="2806700"/>
            </a:xfrm>
          </p:grpSpPr>
          <p:pic>
            <p:nvPicPr>
              <p:cNvPr id="101" name="Picture 100">
                <a:extLst>
                  <a:ext uri="{FF2B5EF4-FFF2-40B4-BE49-F238E27FC236}">
                    <a16:creationId xmlns:a16="http://schemas.microsoft.com/office/drawing/2014/main" id="{54EB3229-7623-CE22-F1D5-DA6EDE0CEB4F}"/>
                  </a:ext>
                </a:extLst>
              </p:cNvPr>
              <p:cNvPicPr>
                <a:picLocks noChangeAspect="1"/>
              </p:cNvPicPr>
              <p:nvPr/>
            </p:nvPicPr>
            <p:blipFill>
              <a:blip r:embed="rId3"/>
              <a:stretch>
                <a:fillRect/>
              </a:stretch>
            </p:blipFill>
            <p:spPr>
              <a:xfrm>
                <a:off x="6268681" y="2169961"/>
                <a:ext cx="2844800" cy="2806700"/>
              </a:xfrm>
              <a:prstGeom prst="rect">
                <a:avLst/>
              </a:prstGeom>
            </p:spPr>
          </p:pic>
          <p:grpSp>
            <p:nvGrpSpPr>
              <p:cNvPr id="102" name="Group 101">
                <a:extLst>
                  <a:ext uri="{FF2B5EF4-FFF2-40B4-BE49-F238E27FC236}">
                    <a16:creationId xmlns:a16="http://schemas.microsoft.com/office/drawing/2014/main" id="{15A42C2E-B2F8-5DF4-63F7-0C2054D97EB6}"/>
                  </a:ext>
                </a:extLst>
              </p:cNvPr>
              <p:cNvGrpSpPr/>
              <p:nvPr/>
            </p:nvGrpSpPr>
            <p:grpSpPr>
              <a:xfrm>
                <a:off x="7271788" y="3089738"/>
                <a:ext cx="838586" cy="967601"/>
                <a:chOff x="13278886" y="7059948"/>
                <a:chExt cx="635751" cy="733560"/>
              </a:xfrm>
            </p:grpSpPr>
            <p:sp>
              <p:nvSpPr>
                <p:cNvPr id="106" name="Freeform: Shape 526">
                  <a:extLst>
                    <a:ext uri="{FF2B5EF4-FFF2-40B4-BE49-F238E27FC236}">
                      <a16:creationId xmlns:a16="http://schemas.microsoft.com/office/drawing/2014/main" id="{DEF7E5C3-D987-FDA1-C7B6-1F74EBC6C621}"/>
                    </a:ext>
                  </a:extLst>
                </p:cNvPr>
                <p:cNvSpPr/>
                <p:nvPr/>
              </p:nvSpPr>
              <p:spPr>
                <a:xfrm>
                  <a:off x="13278886" y="7059948"/>
                  <a:ext cx="635751" cy="733560"/>
                </a:xfrm>
                <a:custGeom>
                  <a:avLst/>
                  <a:gdLst/>
                  <a:ahLst/>
                  <a:cxnLst>
                    <a:cxn ang="3cd4">
                      <a:pos x="hc" y="t"/>
                    </a:cxn>
                    <a:cxn ang="cd2">
                      <a:pos x="l" y="vc"/>
                    </a:cxn>
                    <a:cxn ang="cd4">
                      <a:pos x="hc" y="b"/>
                    </a:cxn>
                    <a:cxn ang="0">
                      <a:pos x="r" y="vc"/>
                    </a:cxn>
                  </a:cxnLst>
                  <a:rect l="l" t="t" r="r" b="b"/>
                  <a:pathLst>
                    <a:path w="1418" h="1636">
                      <a:moveTo>
                        <a:pt x="708" y="0"/>
                      </a:moveTo>
                      <a:lnTo>
                        <a:pt x="2" y="410"/>
                      </a:lnTo>
                      <a:lnTo>
                        <a:pt x="0" y="1226"/>
                      </a:lnTo>
                      <a:lnTo>
                        <a:pt x="711" y="1636"/>
                      </a:lnTo>
                      <a:lnTo>
                        <a:pt x="1416" y="1226"/>
                      </a:lnTo>
                      <a:lnTo>
                        <a:pt x="1418" y="410"/>
                      </a:lnTo>
                      <a:close/>
                    </a:path>
                  </a:pathLst>
                </a:custGeom>
                <a:solidFill>
                  <a:schemeClr val="accent6"/>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07" name="Freeform: Shape 527">
                  <a:extLst>
                    <a:ext uri="{FF2B5EF4-FFF2-40B4-BE49-F238E27FC236}">
                      <a16:creationId xmlns:a16="http://schemas.microsoft.com/office/drawing/2014/main" id="{F81E4024-BDE6-95CC-53D7-D3C25663C463}"/>
                    </a:ext>
                  </a:extLst>
                </p:cNvPr>
                <p:cNvSpPr/>
                <p:nvPr/>
              </p:nvSpPr>
              <p:spPr>
                <a:xfrm>
                  <a:off x="13597436" y="7243899"/>
                  <a:ext cx="316755" cy="549608"/>
                </a:xfrm>
                <a:custGeom>
                  <a:avLst/>
                  <a:gdLst/>
                  <a:ahLst/>
                  <a:cxnLst>
                    <a:cxn ang="3cd4">
                      <a:pos x="hc" y="t"/>
                    </a:cxn>
                    <a:cxn ang="cd2">
                      <a:pos x="l" y="vc"/>
                    </a:cxn>
                    <a:cxn ang="cd4">
                      <a:pos x="hc" y="b"/>
                    </a:cxn>
                    <a:cxn ang="0">
                      <a:pos x="r" y="vc"/>
                    </a:cxn>
                  </a:cxnLst>
                  <a:rect l="l" t="t" r="r" b="b"/>
                  <a:pathLst>
                    <a:path w="707" h="1226">
                      <a:moveTo>
                        <a:pt x="707" y="0"/>
                      </a:moveTo>
                      <a:lnTo>
                        <a:pt x="705" y="816"/>
                      </a:lnTo>
                      <a:lnTo>
                        <a:pt x="0" y="1226"/>
                      </a:lnTo>
                      <a:lnTo>
                        <a:pt x="1"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08" name="Freeform: Shape 528">
                  <a:extLst>
                    <a:ext uri="{FF2B5EF4-FFF2-40B4-BE49-F238E27FC236}">
                      <a16:creationId xmlns:a16="http://schemas.microsoft.com/office/drawing/2014/main" id="{C136BA84-159B-2A7C-336C-0E191149BB01}"/>
                    </a:ext>
                  </a:extLst>
                </p:cNvPr>
                <p:cNvSpPr/>
                <p:nvPr/>
              </p:nvSpPr>
              <p:spPr>
                <a:xfrm>
                  <a:off x="13278886" y="7243899"/>
                  <a:ext cx="318998" cy="549608"/>
                </a:xfrm>
                <a:custGeom>
                  <a:avLst/>
                  <a:gdLst/>
                  <a:ahLst/>
                  <a:cxnLst>
                    <a:cxn ang="3cd4">
                      <a:pos x="hc" y="t"/>
                    </a:cxn>
                    <a:cxn ang="cd2">
                      <a:pos x="l" y="vc"/>
                    </a:cxn>
                    <a:cxn ang="cd4">
                      <a:pos x="hc" y="b"/>
                    </a:cxn>
                    <a:cxn ang="0">
                      <a:pos x="r" y="vc"/>
                    </a:cxn>
                  </a:cxnLst>
                  <a:rect l="l" t="t" r="r" b="b"/>
                  <a:pathLst>
                    <a:path w="712" h="1226">
                      <a:moveTo>
                        <a:pt x="712" y="410"/>
                      </a:moveTo>
                      <a:lnTo>
                        <a:pt x="711" y="1226"/>
                      </a:lnTo>
                      <a:lnTo>
                        <a:pt x="0" y="816"/>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sp>
            <p:nvSpPr>
              <p:cNvPr id="103" name="Oval 102">
                <a:extLst>
                  <a:ext uri="{FF2B5EF4-FFF2-40B4-BE49-F238E27FC236}">
                    <a16:creationId xmlns:a16="http://schemas.microsoft.com/office/drawing/2014/main" id="{40A061D7-0A7A-540B-AB51-F69A0BDD97B4}"/>
                  </a:ext>
                </a:extLst>
              </p:cNvPr>
              <p:cNvSpPr/>
              <p:nvPr/>
            </p:nvSpPr>
            <p:spPr>
              <a:xfrm>
                <a:off x="7739208" y="4132407"/>
                <a:ext cx="280811" cy="28081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D4C92B03-921F-8564-E7C8-475042E21F92}"/>
                  </a:ext>
                </a:extLst>
              </p:cNvPr>
              <p:cNvSpPr/>
              <p:nvPr/>
            </p:nvSpPr>
            <p:spPr>
              <a:xfrm>
                <a:off x="8066011" y="2918284"/>
                <a:ext cx="280811" cy="28081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AF6911F9-EF46-762B-3183-AE4BFBB1B919}"/>
                  </a:ext>
                </a:extLst>
              </p:cNvPr>
              <p:cNvSpPr/>
              <p:nvPr/>
            </p:nvSpPr>
            <p:spPr>
              <a:xfrm>
                <a:off x="6854564" y="3237668"/>
                <a:ext cx="280811" cy="28081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9" name="Group 178">
            <a:extLst>
              <a:ext uri="{FF2B5EF4-FFF2-40B4-BE49-F238E27FC236}">
                <a16:creationId xmlns:a16="http://schemas.microsoft.com/office/drawing/2014/main" id="{9B7B1C55-074B-D06D-F87F-0FFCC3759762}"/>
              </a:ext>
            </a:extLst>
          </p:cNvPr>
          <p:cNvGrpSpPr/>
          <p:nvPr/>
        </p:nvGrpSpPr>
        <p:grpSpPr>
          <a:xfrm>
            <a:off x="3186707" y="3388320"/>
            <a:ext cx="1346337" cy="493090"/>
            <a:chOff x="2848957" y="2307773"/>
            <a:chExt cx="1346337" cy="493090"/>
          </a:xfrm>
        </p:grpSpPr>
        <p:sp>
          <p:nvSpPr>
            <p:cNvPr id="148" name="Rounded Rectangle 147">
              <a:extLst>
                <a:ext uri="{FF2B5EF4-FFF2-40B4-BE49-F238E27FC236}">
                  <a16:creationId xmlns:a16="http://schemas.microsoft.com/office/drawing/2014/main" id="{E18C7CB7-DE0A-1104-E858-37063835E4B5}"/>
                </a:ext>
              </a:extLst>
            </p:cNvPr>
            <p:cNvSpPr/>
            <p:nvPr/>
          </p:nvSpPr>
          <p:spPr>
            <a:xfrm>
              <a:off x="2848957" y="2307773"/>
              <a:ext cx="1346337" cy="493090"/>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Tree 2</a:t>
              </a:r>
            </a:p>
          </p:txBody>
        </p:sp>
        <p:grpSp>
          <p:nvGrpSpPr>
            <p:cNvPr id="149" name="Group 148">
              <a:extLst>
                <a:ext uri="{FF2B5EF4-FFF2-40B4-BE49-F238E27FC236}">
                  <a16:creationId xmlns:a16="http://schemas.microsoft.com/office/drawing/2014/main" id="{84D55F40-A472-30A5-0126-5A95024653D5}"/>
                </a:ext>
              </a:extLst>
            </p:cNvPr>
            <p:cNvGrpSpPr/>
            <p:nvPr/>
          </p:nvGrpSpPr>
          <p:grpSpPr>
            <a:xfrm>
              <a:off x="2967253" y="2359588"/>
              <a:ext cx="394747" cy="389460"/>
              <a:chOff x="6268681" y="2169961"/>
              <a:chExt cx="2844800" cy="2806700"/>
            </a:xfrm>
          </p:grpSpPr>
          <p:pic>
            <p:nvPicPr>
              <p:cNvPr id="150" name="Picture 149">
                <a:extLst>
                  <a:ext uri="{FF2B5EF4-FFF2-40B4-BE49-F238E27FC236}">
                    <a16:creationId xmlns:a16="http://schemas.microsoft.com/office/drawing/2014/main" id="{A77A5756-10F7-FC86-52C1-B3A0ABBCD132}"/>
                  </a:ext>
                </a:extLst>
              </p:cNvPr>
              <p:cNvPicPr>
                <a:picLocks noChangeAspect="1"/>
              </p:cNvPicPr>
              <p:nvPr/>
            </p:nvPicPr>
            <p:blipFill>
              <a:blip r:embed="rId3"/>
              <a:stretch>
                <a:fillRect/>
              </a:stretch>
            </p:blipFill>
            <p:spPr>
              <a:xfrm>
                <a:off x="6268681" y="2169961"/>
                <a:ext cx="2844800" cy="2806700"/>
              </a:xfrm>
              <a:prstGeom prst="rect">
                <a:avLst/>
              </a:prstGeom>
            </p:spPr>
          </p:pic>
          <p:grpSp>
            <p:nvGrpSpPr>
              <p:cNvPr id="151" name="Group 150">
                <a:extLst>
                  <a:ext uri="{FF2B5EF4-FFF2-40B4-BE49-F238E27FC236}">
                    <a16:creationId xmlns:a16="http://schemas.microsoft.com/office/drawing/2014/main" id="{15956155-7E65-4A17-7C81-EEFE8795CBFB}"/>
                  </a:ext>
                </a:extLst>
              </p:cNvPr>
              <p:cNvGrpSpPr/>
              <p:nvPr/>
            </p:nvGrpSpPr>
            <p:grpSpPr>
              <a:xfrm>
                <a:off x="7271788" y="3089738"/>
                <a:ext cx="838586" cy="967601"/>
                <a:chOff x="13278886" y="7059948"/>
                <a:chExt cx="635751" cy="733560"/>
              </a:xfrm>
            </p:grpSpPr>
            <p:sp>
              <p:nvSpPr>
                <p:cNvPr id="155" name="Freeform: Shape 526">
                  <a:extLst>
                    <a:ext uri="{FF2B5EF4-FFF2-40B4-BE49-F238E27FC236}">
                      <a16:creationId xmlns:a16="http://schemas.microsoft.com/office/drawing/2014/main" id="{C00F05F9-BDC4-A8C5-001B-06F7461309AE}"/>
                    </a:ext>
                  </a:extLst>
                </p:cNvPr>
                <p:cNvSpPr/>
                <p:nvPr/>
              </p:nvSpPr>
              <p:spPr>
                <a:xfrm>
                  <a:off x="13278886" y="7059948"/>
                  <a:ext cx="635751" cy="733560"/>
                </a:xfrm>
                <a:custGeom>
                  <a:avLst/>
                  <a:gdLst/>
                  <a:ahLst/>
                  <a:cxnLst>
                    <a:cxn ang="3cd4">
                      <a:pos x="hc" y="t"/>
                    </a:cxn>
                    <a:cxn ang="cd2">
                      <a:pos x="l" y="vc"/>
                    </a:cxn>
                    <a:cxn ang="cd4">
                      <a:pos x="hc" y="b"/>
                    </a:cxn>
                    <a:cxn ang="0">
                      <a:pos x="r" y="vc"/>
                    </a:cxn>
                  </a:cxnLst>
                  <a:rect l="l" t="t" r="r" b="b"/>
                  <a:pathLst>
                    <a:path w="1418" h="1636">
                      <a:moveTo>
                        <a:pt x="708" y="0"/>
                      </a:moveTo>
                      <a:lnTo>
                        <a:pt x="2" y="410"/>
                      </a:lnTo>
                      <a:lnTo>
                        <a:pt x="0" y="1226"/>
                      </a:lnTo>
                      <a:lnTo>
                        <a:pt x="711" y="1636"/>
                      </a:lnTo>
                      <a:lnTo>
                        <a:pt x="1416" y="1226"/>
                      </a:lnTo>
                      <a:lnTo>
                        <a:pt x="1418" y="410"/>
                      </a:lnTo>
                      <a:close/>
                    </a:path>
                  </a:pathLst>
                </a:custGeom>
                <a:solidFill>
                  <a:schemeClr val="accent6"/>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56" name="Freeform: Shape 527">
                  <a:extLst>
                    <a:ext uri="{FF2B5EF4-FFF2-40B4-BE49-F238E27FC236}">
                      <a16:creationId xmlns:a16="http://schemas.microsoft.com/office/drawing/2014/main" id="{39481C19-267D-87ED-7FC3-C5876CF5DC71}"/>
                    </a:ext>
                  </a:extLst>
                </p:cNvPr>
                <p:cNvSpPr/>
                <p:nvPr/>
              </p:nvSpPr>
              <p:spPr>
                <a:xfrm>
                  <a:off x="13597436" y="7243899"/>
                  <a:ext cx="316755" cy="549608"/>
                </a:xfrm>
                <a:custGeom>
                  <a:avLst/>
                  <a:gdLst/>
                  <a:ahLst/>
                  <a:cxnLst>
                    <a:cxn ang="3cd4">
                      <a:pos x="hc" y="t"/>
                    </a:cxn>
                    <a:cxn ang="cd2">
                      <a:pos x="l" y="vc"/>
                    </a:cxn>
                    <a:cxn ang="cd4">
                      <a:pos x="hc" y="b"/>
                    </a:cxn>
                    <a:cxn ang="0">
                      <a:pos x="r" y="vc"/>
                    </a:cxn>
                  </a:cxnLst>
                  <a:rect l="l" t="t" r="r" b="b"/>
                  <a:pathLst>
                    <a:path w="707" h="1226">
                      <a:moveTo>
                        <a:pt x="707" y="0"/>
                      </a:moveTo>
                      <a:lnTo>
                        <a:pt x="705" y="816"/>
                      </a:lnTo>
                      <a:lnTo>
                        <a:pt x="0" y="1226"/>
                      </a:lnTo>
                      <a:lnTo>
                        <a:pt x="1"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57" name="Freeform: Shape 528">
                  <a:extLst>
                    <a:ext uri="{FF2B5EF4-FFF2-40B4-BE49-F238E27FC236}">
                      <a16:creationId xmlns:a16="http://schemas.microsoft.com/office/drawing/2014/main" id="{855A38E4-EC4F-C8AB-A0B2-F2F98379B764}"/>
                    </a:ext>
                  </a:extLst>
                </p:cNvPr>
                <p:cNvSpPr/>
                <p:nvPr/>
              </p:nvSpPr>
              <p:spPr>
                <a:xfrm>
                  <a:off x="13278886" y="7243899"/>
                  <a:ext cx="318998" cy="549608"/>
                </a:xfrm>
                <a:custGeom>
                  <a:avLst/>
                  <a:gdLst/>
                  <a:ahLst/>
                  <a:cxnLst>
                    <a:cxn ang="3cd4">
                      <a:pos x="hc" y="t"/>
                    </a:cxn>
                    <a:cxn ang="cd2">
                      <a:pos x="l" y="vc"/>
                    </a:cxn>
                    <a:cxn ang="cd4">
                      <a:pos x="hc" y="b"/>
                    </a:cxn>
                    <a:cxn ang="0">
                      <a:pos x="r" y="vc"/>
                    </a:cxn>
                  </a:cxnLst>
                  <a:rect l="l" t="t" r="r" b="b"/>
                  <a:pathLst>
                    <a:path w="712" h="1226">
                      <a:moveTo>
                        <a:pt x="712" y="410"/>
                      </a:moveTo>
                      <a:lnTo>
                        <a:pt x="711" y="1226"/>
                      </a:lnTo>
                      <a:lnTo>
                        <a:pt x="0" y="816"/>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sp>
            <p:nvSpPr>
              <p:cNvPr id="152" name="Oval 151">
                <a:extLst>
                  <a:ext uri="{FF2B5EF4-FFF2-40B4-BE49-F238E27FC236}">
                    <a16:creationId xmlns:a16="http://schemas.microsoft.com/office/drawing/2014/main" id="{A9A73429-D55F-5743-E8E6-D68CFCAE1081}"/>
                  </a:ext>
                </a:extLst>
              </p:cNvPr>
              <p:cNvSpPr/>
              <p:nvPr/>
            </p:nvSpPr>
            <p:spPr>
              <a:xfrm>
                <a:off x="7739208" y="4132407"/>
                <a:ext cx="280811" cy="28081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7480E7CB-CB53-E07F-A04B-450C16F08CF6}"/>
                  </a:ext>
                </a:extLst>
              </p:cNvPr>
              <p:cNvSpPr/>
              <p:nvPr/>
            </p:nvSpPr>
            <p:spPr>
              <a:xfrm>
                <a:off x="8066011" y="2918284"/>
                <a:ext cx="280811" cy="28081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84E91CF5-63C6-AC4F-4061-A05B76BC6079}"/>
                  </a:ext>
                </a:extLst>
              </p:cNvPr>
              <p:cNvSpPr/>
              <p:nvPr/>
            </p:nvSpPr>
            <p:spPr>
              <a:xfrm>
                <a:off x="6854564" y="3237668"/>
                <a:ext cx="280811" cy="28081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0" name="Group 179">
            <a:extLst>
              <a:ext uri="{FF2B5EF4-FFF2-40B4-BE49-F238E27FC236}">
                <a16:creationId xmlns:a16="http://schemas.microsoft.com/office/drawing/2014/main" id="{01D51C3F-CE11-EB10-9CA7-3925F55AEE20}"/>
              </a:ext>
            </a:extLst>
          </p:cNvPr>
          <p:cNvGrpSpPr/>
          <p:nvPr/>
        </p:nvGrpSpPr>
        <p:grpSpPr>
          <a:xfrm>
            <a:off x="3191445" y="4363980"/>
            <a:ext cx="1346338" cy="493090"/>
            <a:chOff x="2815467" y="2987896"/>
            <a:chExt cx="1346338" cy="493090"/>
          </a:xfrm>
        </p:grpSpPr>
        <p:sp>
          <p:nvSpPr>
            <p:cNvPr id="158" name="Rounded Rectangle 157">
              <a:extLst>
                <a:ext uri="{FF2B5EF4-FFF2-40B4-BE49-F238E27FC236}">
                  <a16:creationId xmlns:a16="http://schemas.microsoft.com/office/drawing/2014/main" id="{5D95C81A-D4B3-D683-86BC-F9A6B43C3FA4}"/>
                </a:ext>
              </a:extLst>
            </p:cNvPr>
            <p:cNvSpPr/>
            <p:nvPr/>
          </p:nvSpPr>
          <p:spPr>
            <a:xfrm>
              <a:off x="2815467" y="2987896"/>
              <a:ext cx="1346338" cy="493090"/>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Tree 3</a:t>
              </a:r>
            </a:p>
          </p:txBody>
        </p:sp>
        <p:grpSp>
          <p:nvGrpSpPr>
            <p:cNvPr id="159" name="Group 158">
              <a:extLst>
                <a:ext uri="{FF2B5EF4-FFF2-40B4-BE49-F238E27FC236}">
                  <a16:creationId xmlns:a16="http://schemas.microsoft.com/office/drawing/2014/main" id="{40F16510-4AD8-F7D8-86BB-EA1197A24F59}"/>
                </a:ext>
              </a:extLst>
            </p:cNvPr>
            <p:cNvGrpSpPr/>
            <p:nvPr/>
          </p:nvGrpSpPr>
          <p:grpSpPr>
            <a:xfrm>
              <a:off x="2933762" y="3039711"/>
              <a:ext cx="394747" cy="389460"/>
              <a:chOff x="6268681" y="2169961"/>
              <a:chExt cx="2844800" cy="2806700"/>
            </a:xfrm>
          </p:grpSpPr>
          <p:pic>
            <p:nvPicPr>
              <p:cNvPr id="160" name="Picture 159">
                <a:extLst>
                  <a:ext uri="{FF2B5EF4-FFF2-40B4-BE49-F238E27FC236}">
                    <a16:creationId xmlns:a16="http://schemas.microsoft.com/office/drawing/2014/main" id="{48F63E04-3966-31FD-5FAD-F8E6FB2CF38C}"/>
                  </a:ext>
                </a:extLst>
              </p:cNvPr>
              <p:cNvPicPr>
                <a:picLocks noChangeAspect="1"/>
              </p:cNvPicPr>
              <p:nvPr/>
            </p:nvPicPr>
            <p:blipFill>
              <a:blip r:embed="rId3"/>
              <a:stretch>
                <a:fillRect/>
              </a:stretch>
            </p:blipFill>
            <p:spPr>
              <a:xfrm>
                <a:off x="6268681" y="2169961"/>
                <a:ext cx="2844800" cy="2806700"/>
              </a:xfrm>
              <a:prstGeom prst="rect">
                <a:avLst/>
              </a:prstGeom>
            </p:spPr>
          </p:pic>
          <p:grpSp>
            <p:nvGrpSpPr>
              <p:cNvPr id="161" name="Group 160">
                <a:extLst>
                  <a:ext uri="{FF2B5EF4-FFF2-40B4-BE49-F238E27FC236}">
                    <a16:creationId xmlns:a16="http://schemas.microsoft.com/office/drawing/2014/main" id="{496FEB69-969A-62BB-A624-664790206ED0}"/>
                  </a:ext>
                </a:extLst>
              </p:cNvPr>
              <p:cNvGrpSpPr/>
              <p:nvPr/>
            </p:nvGrpSpPr>
            <p:grpSpPr>
              <a:xfrm>
                <a:off x="7271788" y="3089738"/>
                <a:ext cx="838586" cy="967601"/>
                <a:chOff x="13278886" y="7059948"/>
                <a:chExt cx="635751" cy="733560"/>
              </a:xfrm>
            </p:grpSpPr>
            <p:sp>
              <p:nvSpPr>
                <p:cNvPr id="165" name="Freeform: Shape 526">
                  <a:extLst>
                    <a:ext uri="{FF2B5EF4-FFF2-40B4-BE49-F238E27FC236}">
                      <a16:creationId xmlns:a16="http://schemas.microsoft.com/office/drawing/2014/main" id="{2D6A28FC-097C-EB8B-B719-85208E09EB61}"/>
                    </a:ext>
                  </a:extLst>
                </p:cNvPr>
                <p:cNvSpPr/>
                <p:nvPr/>
              </p:nvSpPr>
              <p:spPr>
                <a:xfrm>
                  <a:off x="13278886" y="7059948"/>
                  <a:ext cx="635751" cy="733560"/>
                </a:xfrm>
                <a:custGeom>
                  <a:avLst/>
                  <a:gdLst/>
                  <a:ahLst/>
                  <a:cxnLst>
                    <a:cxn ang="3cd4">
                      <a:pos x="hc" y="t"/>
                    </a:cxn>
                    <a:cxn ang="cd2">
                      <a:pos x="l" y="vc"/>
                    </a:cxn>
                    <a:cxn ang="cd4">
                      <a:pos x="hc" y="b"/>
                    </a:cxn>
                    <a:cxn ang="0">
                      <a:pos x="r" y="vc"/>
                    </a:cxn>
                  </a:cxnLst>
                  <a:rect l="l" t="t" r="r" b="b"/>
                  <a:pathLst>
                    <a:path w="1418" h="1636">
                      <a:moveTo>
                        <a:pt x="708" y="0"/>
                      </a:moveTo>
                      <a:lnTo>
                        <a:pt x="2" y="410"/>
                      </a:lnTo>
                      <a:lnTo>
                        <a:pt x="0" y="1226"/>
                      </a:lnTo>
                      <a:lnTo>
                        <a:pt x="711" y="1636"/>
                      </a:lnTo>
                      <a:lnTo>
                        <a:pt x="1416" y="1226"/>
                      </a:lnTo>
                      <a:lnTo>
                        <a:pt x="1418" y="410"/>
                      </a:lnTo>
                      <a:close/>
                    </a:path>
                  </a:pathLst>
                </a:custGeom>
                <a:solidFill>
                  <a:schemeClr val="accent6"/>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66" name="Freeform: Shape 527">
                  <a:extLst>
                    <a:ext uri="{FF2B5EF4-FFF2-40B4-BE49-F238E27FC236}">
                      <a16:creationId xmlns:a16="http://schemas.microsoft.com/office/drawing/2014/main" id="{05A59072-A041-BC02-66BD-4401D36F4CA8}"/>
                    </a:ext>
                  </a:extLst>
                </p:cNvPr>
                <p:cNvSpPr/>
                <p:nvPr/>
              </p:nvSpPr>
              <p:spPr>
                <a:xfrm>
                  <a:off x="13597436" y="7243899"/>
                  <a:ext cx="316755" cy="549608"/>
                </a:xfrm>
                <a:custGeom>
                  <a:avLst/>
                  <a:gdLst/>
                  <a:ahLst/>
                  <a:cxnLst>
                    <a:cxn ang="3cd4">
                      <a:pos x="hc" y="t"/>
                    </a:cxn>
                    <a:cxn ang="cd2">
                      <a:pos x="l" y="vc"/>
                    </a:cxn>
                    <a:cxn ang="cd4">
                      <a:pos x="hc" y="b"/>
                    </a:cxn>
                    <a:cxn ang="0">
                      <a:pos x="r" y="vc"/>
                    </a:cxn>
                  </a:cxnLst>
                  <a:rect l="l" t="t" r="r" b="b"/>
                  <a:pathLst>
                    <a:path w="707" h="1226">
                      <a:moveTo>
                        <a:pt x="707" y="0"/>
                      </a:moveTo>
                      <a:lnTo>
                        <a:pt x="705" y="816"/>
                      </a:lnTo>
                      <a:lnTo>
                        <a:pt x="0" y="1226"/>
                      </a:lnTo>
                      <a:lnTo>
                        <a:pt x="1"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67" name="Freeform: Shape 528">
                  <a:extLst>
                    <a:ext uri="{FF2B5EF4-FFF2-40B4-BE49-F238E27FC236}">
                      <a16:creationId xmlns:a16="http://schemas.microsoft.com/office/drawing/2014/main" id="{2E142B41-FF93-7B11-F927-B2EBCD681ADA}"/>
                    </a:ext>
                  </a:extLst>
                </p:cNvPr>
                <p:cNvSpPr/>
                <p:nvPr/>
              </p:nvSpPr>
              <p:spPr>
                <a:xfrm>
                  <a:off x="13278886" y="7243899"/>
                  <a:ext cx="318998" cy="549608"/>
                </a:xfrm>
                <a:custGeom>
                  <a:avLst/>
                  <a:gdLst/>
                  <a:ahLst/>
                  <a:cxnLst>
                    <a:cxn ang="3cd4">
                      <a:pos x="hc" y="t"/>
                    </a:cxn>
                    <a:cxn ang="cd2">
                      <a:pos x="l" y="vc"/>
                    </a:cxn>
                    <a:cxn ang="cd4">
                      <a:pos x="hc" y="b"/>
                    </a:cxn>
                    <a:cxn ang="0">
                      <a:pos x="r" y="vc"/>
                    </a:cxn>
                  </a:cxnLst>
                  <a:rect l="l" t="t" r="r" b="b"/>
                  <a:pathLst>
                    <a:path w="712" h="1226">
                      <a:moveTo>
                        <a:pt x="712" y="410"/>
                      </a:moveTo>
                      <a:lnTo>
                        <a:pt x="711" y="1226"/>
                      </a:lnTo>
                      <a:lnTo>
                        <a:pt x="0" y="816"/>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sp>
            <p:nvSpPr>
              <p:cNvPr id="162" name="Oval 161">
                <a:extLst>
                  <a:ext uri="{FF2B5EF4-FFF2-40B4-BE49-F238E27FC236}">
                    <a16:creationId xmlns:a16="http://schemas.microsoft.com/office/drawing/2014/main" id="{1AFFA1F8-993E-DB81-AE4E-55DA240CAF0A}"/>
                  </a:ext>
                </a:extLst>
              </p:cNvPr>
              <p:cNvSpPr/>
              <p:nvPr/>
            </p:nvSpPr>
            <p:spPr>
              <a:xfrm>
                <a:off x="7739208" y="4132407"/>
                <a:ext cx="280811" cy="28081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9C63D2DD-025C-D5E4-4B87-F121E0DD2E3E}"/>
                  </a:ext>
                </a:extLst>
              </p:cNvPr>
              <p:cNvSpPr/>
              <p:nvPr/>
            </p:nvSpPr>
            <p:spPr>
              <a:xfrm>
                <a:off x="8066011" y="2918284"/>
                <a:ext cx="280811" cy="28081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8D6D5D8C-C02E-CF40-2592-8F3AEB058565}"/>
                  </a:ext>
                </a:extLst>
              </p:cNvPr>
              <p:cNvSpPr/>
              <p:nvPr/>
            </p:nvSpPr>
            <p:spPr>
              <a:xfrm>
                <a:off x="6854564" y="3237668"/>
                <a:ext cx="280811" cy="28081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1" name="Group 180">
            <a:extLst>
              <a:ext uri="{FF2B5EF4-FFF2-40B4-BE49-F238E27FC236}">
                <a16:creationId xmlns:a16="http://schemas.microsoft.com/office/drawing/2014/main" id="{D0CFDA62-6801-8D8A-90ED-862EADA5242F}"/>
              </a:ext>
            </a:extLst>
          </p:cNvPr>
          <p:cNvGrpSpPr/>
          <p:nvPr/>
        </p:nvGrpSpPr>
        <p:grpSpPr>
          <a:xfrm>
            <a:off x="3186708" y="5233340"/>
            <a:ext cx="1351074" cy="493090"/>
            <a:chOff x="2673975" y="3774351"/>
            <a:chExt cx="1351074" cy="493090"/>
          </a:xfrm>
        </p:grpSpPr>
        <p:sp>
          <p:nvSpPr>
            <p:cNvPr id="168" name="Rounded Rectangle 167">
              <a:extLst>
                <a:ext uri="{FF2B5EF4-FFF2-40B4-BE49-F238E27FC236}">
                  <a16:creationId xmlns:a16="http://schemas.microsoft.com/office/drawing/2014/main" id="{BA33CE64-D4F8-3169-C337-E9ECECCBFFEA}"/>
                </a:ext>
              </a:extLst>
            </p:cNvPr>
            <p:cNvSpPr/>
            <p:nvPr/>
          </p:nvSpPr>
          <p:spPr>
            <a:xfrm>
              <a:off x="2673975" y="3774351"/>
              <a:ext cx="1351074" cy="493090"/>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Tree 4</a:t>
              </a:r>
            </a:p>
          </p:txBody>
        </p:sp>
        <p:grpSp>
          <p:nvGrpSpPr>
            <p:cNvPr id="169" name="Group 168">
              <a:extLst>
                <a:ext uri="{FF2B5EF4-FFF2-40B4-BE49-F238E27FC236}">
                  <a16:creationId xmlns:a16="http://schemas.microsoft.com/office/drawing/2014/main" id="{EF2FB03E-6409-5E6D-4FFC-D535F24B929D}"/>
                </a:ext>
              </a:extLst>
            </p:cNvPr>
            <p:cNvGrpSpPr/>
            <p:nvPr/>
          </p:nvGrpSpPr>
          <p:grpSpPr>
            <a:xfrm>
              <a:off x="2792270" y="3826166"/>
              <a:ext cx="394747" cy="389460"/>
              <a:chOff x="6268681" y="2169961"/>
              <a:chExt cx="2844800" cy="2806700"/>
            </a:xfrm>
          </p:grpSpPr>
          <p:pic>
            <p:nvPicPr>
              <p:cNvPr id="170" name="Picture 169">
                <a:extLst>
                  <a:ext uri="{FF2B5EF4-FFF2-40B4-BE49-F238E27FC236}">
                    <a16:creationId xmlns:a16="http://schemas.microsoft.com/office/drawing/2014/main" id="{89FDCA17-BFEE-EE94-D43E-1C5A0AA75E16}"/>
                  </a:ext>
                </a:extLst>
              </p:cNvPr>
              <p:cNvPicPr>
                <a:picLocks noChangeAspect="1"/>
              </p:cNvPicPr>
              <p:nvPr/>
            </p:nvPicPr>
            <p:blipFill>
              <a:blip r:embed="rId3"/>
              <a:stretch>
                <a:fillRect/>
              </a:stretch>
            </p:blipFill>
            <p:spPr>
              <a:xfrm>
                <a:off x="6268681" y="2169961"/>
                <a:ext cx="2844800" cy="2806700"/>
              </a:xfrm>
              <a:prstGeom prst="rect">
                <a:avLst/>
              </a:prstGeom>
            </p:spPr>
          </p:pic>
          <p:grpSp>
            <p:nvGrpSpPr>
              <p:cNvPr id="171" name="Group 170">
                <a:extLst>
                  <a:ext uri="{FF2B5EF4-FFF2-40B4-BE49-F238E27FC236}">
                    <a16:creationId xmlns:a16="http://schemas.microsoft.com/office/drawing/2014/main" id="{2BC1D728-BF6E-DEB2-49C9-DB59857D1B16}"/>
                  </a:ext>
                </a:extLst>
              </p:cNvPr>
              <p:cNvGrpSpPr/>
              <p:nvPr/>
            </p:nvGrpSpPr>
            <p:grpSpPr>
              <a:xfrm>
                <a:off x="7271788" y="3089738"/>
                <a:ext cx="838586" cy="967601"/>
                <a:chOff x="13278886" y="7059948"/>
                <a:chExt cx="635751" cy="733560"/>
              </a:xfrm>
            </p:grpSpPr>
            <p:sp>
              <p:nvSpPr>
                <p:cNvPr id="175" name="Freeform: Shape 526">
                  <a:extLst>
                    <a:ext uri="{FF2B5EF4-FFF2-40B4-BE49-F238E27FC236}">
                      <a16:creationId xmlns:a16="http://schemas.microsoft.com/office/drawing/2014/main" id="{2232E04B-E78A-B211-E132-7070D1E28C89}"/>
                    </a:ext>
                  </a:extLst>
                </p:cNvPr>
                <p:cNvSpPr/>
                <p:nvPr/>
              </p:nvSpPr>
              <p:spPr>
                <a:xfrm>
                  <a:off x="13278886" y="7059948"/>
                  <a:ext cx="635751" cy="733560"/>
                </a:xfrm>
                <a:custGeom>
                  <a:avLst/>
                  <a:gdLst/>
                  <a:ahLst/>
                  <a:cxnLst>
                    <a:cxn ang="3cd4">
                      <a:pos x="hc" y="t"/>
                    </a:cxn>
                    <a:cxn ang="cd2">
                      <a:pos x="l" y="vc"/>
                    </a:cxn>
                    <a:cxn ang="cd4">
                      <a:pos x="hc" y="b"/>
                    </a:cxn>
                    <a:cxn ang="0">
                      <a:pos x="r" y="vc"/>
                    </a:cxn>
                  </a:cxnLst>
                  <a:rect l="l" t="t" r="r" b="b"/>
                  <a:pathLst>
                    <a:path w="1418" h="1636">
                      <a:moveTo>
                        <a:pt x="708" y="0"/>
                      </a:moveTo>
                      <a:lnTo>
                        <a:pt x="2" y="410"/>
                      </a:lnTo>
                      <a:lnTo>
                        <a:pt x="0" y="1226"/>
                      </a:lnTo>
                      <a:lnTo>
                        <a:pt x="711" y="1636"/>
                      </a:lnTo>
                      <a:lnTo>
                        <a:pt x="1416" y="1226"/>
                      </a:lnTo>
                      <a:lnTo>
                        <a:pt x="1418" y="410"/>
                      </a:lnTo>
                      <a:close/>
                    </a:path>
                  </a:pathLst>
                </a:custGeom>
                <a:solidFill>
                  <a:schemeClr val="accent6"/>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76" name="Freeform: Shape 527">
                  <a:extLst>
                    <a:ext uri="{FF2B5EF4-FFF2-40B4-BE49-F238E27FC236}">
                      <a16:creationId xmlns:a16="http://schemas.microsoft.com/office/drawing/2014/main" id="{208F4752-7080-C980-FE82-C83A8459D5F4}"/>
                    </a:ext>
                  </a:extLst>
                </p:cNvPr>
                <p:cNvSpPr/>
                <p:nvPr/>
              </p:nvSpPr>
              <p:spPr>
                <a:xfrm>
                  <a:off x="13597436" y="7243899"/>
                  <a:ext cx="316755" cy="549608"/>
                </a:xfrm>
                <a:custGeom>
                  <a:avLst/>
                  <a:gdLst/>
                  <a:ahLst/>
                  <a:cxnLst>
                    <a:cxn ang="3cd4">
                      <a:pos x="hc" y="t"/>
                    </a:cxn>
                    <a:cxn ang="cd2">
                      <a:pos x="l" y="vc"/>
                    </a:cxn>
                    <a:cxn ang="cd4">
                      <a:pos x="hc" y="b"/>
                    </a:cxn>
                    <a:cxn ang="0">
                      <a:pos x="r" y="vc"/>
                    </a:cxn>
                  </a:cxnLst>
                  <a:rect l="l" t="t" r="r" b="b"/>
                  <a:pathLst>
                    <a:path w="707" h="1226">
                      <a:moveTo>
                        <a:pt x="707" y="0"/>
                      </a:moveTo>
                      <a:lnTo>
                        <a:pt x="705" y="816"/>
                      </a:lnTo>
                      <a:lnTo>
                        <a:pt x="0" y="1226"/>
                      </a:lnTo>
                      <a:lnTo>
                        <a:pt x="1"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177" name="Freeform: Shape 528">
                  <a:extLst>
                    <a:ext uri="{FF2B5EF4-FFF2-40B4-BE49-F238E27FC236}">
                      <a16:creationId xmlns:a16="http://schemas.microsoft.com/office/drawing/2014/main" id="{C55BA760-7DB6-5C05-4CF3-F3DC99B4D66D}"/>
                    </a:ext>
                  </a:extLst>
                </p:cNvPr>
                <p:cNvSpPr/>
                <p:nvPr/>
              </p:nvSpPr>
              <p:spPr>
                <a:xfrm>
                  <a:off x="13278886" y="7243899"/>
                  <a:ext cx="318998" cy="549608"/>
                </a:xfrm>
                <a:custGeom>
                  <a:avLst/>
                  <a:gdLst/>
                  <a:ahLst/>
                  <a:cxnLst>
                    <a:cxn ang="3cd4">
                      <a:pos x="hc" y="t"/>
                    </a:cxn>
                    <a:cxn ang="cd2">
                      <a:pos x="l" y="vc"/>
                    </a:cxn>
                    <a:cxn ang="cd4">
                      <a:pos x="hc" y="b"/>
                    </a:cxn>
                    <a:cxn ang="0">
                      <a:pos x="r" y="vc"/>
                    </a:cxn>
                  </a:cxnLst>
                  <a:rect l="l" t="t" r="r" b="b"/>
                  <a:pathLst>
                    <a:path w="712" h="1226">
                      <a:moveTo>
                        <a:pt x="712" y="410"/>
                      </a:moveTo>
                      <a:lnTo>
                        <a:pt x="711" y="1226"/>
                      </a:lnTo>
                      <a:lnTo>
                        <a:pt x="0" y="816"/>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sp>
            <p:nvSpPr>
              <p:cNvPr id="172" name="Oval 171">
                <a:extLst>
                  <a:ext uri="{FF2B5EF4-FFF2-40B4-BE49-F238E27FC236}">
                    <a16:creationId xmlns:a16="http://schemas.microsoft.com/office/drawing/2014/main" id="{D5053A05-F92A-89D1-4F46-7CC6C4F1E185}"/>
                  </a:ext>
                </a:extLst>
              </p:cNvPr>
              <p:cNvSpPr/>
              <p:nvPr/>
            </p:nvSpPr>
            <p:spPr>
              <a:xfrm>
                <a:off x="7739208" y="4132407"/>
                <a:ext cx="280811" cy="28081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a:extLst>
                  <a:ext uri="{FF2B5EF4-FFF2-40B4-BE49-F238E27FC236}">
                    <a16:creationId xmlns:a16="http://schemas.microsoft.com/office/drawing/2014/main" id="{D6B89D24-E087-6CB7-5488-CA2DB0BD697F}"/>
                  </a:ext>
                </a:extLst>
              </p:cNvPr>
              <p:cNvSpPr/>
              <p:nvPr/>
            </p:nvSpPr>
            <p:spPr>
              <a:xfrm>
                <a:off x="8066011" y="2918284"/>
                <a:ext cx="280811" cy="28081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998B4676-7A02-9F0E-E532-771FAA42A512}"/>
                  </a:ext>
                </a:extLst>
              </p:cNvPr>
              <p:cNvSpPr/>
              <p:nvPr/>
            </p:nvSpPr>
            <p:spPr>
              <a:xfrm>
                <a:off x="6854564" y="3237668"/>
                <a:ext cx="280811" cy="28081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3" name="Group 182">
            <a:extLst>
              <a:ext uri="{FF2B5EF4-FFF2-40B4-BE49-F238E27FC236}">
                <a16:creationId xmlns:a16="http://schemas.microsoft.com/office/drawing/2014/main" id="{F07CD39E-C50A-8FA5-A8C2-91238B52081D}"/>
              </a:ext>
            </a:extLst>
          </p:cNvPr>
          <p:cNvGrpSpPr/>
          <p:nvPr/>
        </p:nvGrpSpPr>
        <p:grpSpPr>
          <a:xfrm>
            <a:off x="5978630" y="3332673"/>
            <a:ext cx="1599339" cy="604385"/>
            <a:chOff x="5292935" y="2464499"/>
            <a:chExt cx="1599339" cy="604385"/>
          </a:xfrm>
        </p:grpSpPr>
        <p:grpSp>
          <p:nvGrpSpPr>
            <p:cNvPr id="184" name="Group 183">
              <a:extLst>
                <a:ext uri="{FF2B5EF4-FFF2-40B4-BE49-F238E27FC236}">
                  <a16:creationId xmlns:a16="http://schemas.microsoft.com/office/drawing/2014/main" id="{7D39F827-A053-9336-F43E-9C7CA710BE71}"/>
                </a:ext>
              </a:extLst>
            </p:cNvPr>
            <p:cNvGrpSpPr/>
            <p:nvPr/>
          </p:nvGrpSpPr>
          <p:grpSpPr>
            <a:xfrm>
              <a:off x="5292935" y="2464499"/>
              <a:ext cx="1599339" cy="604385"/>
              <a:chOff x="6583915" y="3372891"/>
              <a:chExt cx="2720699" cy="1028144"/>
            </a:xfrm>
          </p:grpSpPr>
          <p:sp>
            <p:nvSpPr>
              <p:cNvPr id="186" name="Freeform 5">
                <a:extLst>
                  <a:ext uri="{FF2B5EF4-FFF2-40B4-BE49-F238E27FC236}">
                    <a16:creationId xmlns:a16="http://schemas.microsoft.com/office/drawing/2014/main" id="{D6C72F5A-5E76-F9F9-B950-05764CA54A1A}"/>
                  </a:ext>
                </a:extLst>
              </p:cNvPr>
              <p:cNvSpPr>
                <a:spLocks/>
              </p:cNvSpPr>
              <p:nvPr/>
            </p:nvSpPr>
            <p:spPr bwMode="auto">
              <a:xfrm>
                <a:off x="8080515"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187" name="Freeform 5">
                <a:extLst>
                  <a:ext uri="{FF2B5EF4-FFF2-40B4-BE49-F238E27FC236}">
                    <a16:creationId xmlns:a16="http://schemas.microsoft.com/office/drawing/2014/main" id="{28DF1733-E170-0397-8117-7D331DBC9C1F}"/>
                  </a:ext>
                </a:extLst>
              </p:cNvPr>
              <p:cNvSpPr>
                <a:spLocks/>
              </p:cNvSpPr>
              <p:nvPr/>
            </p:nvSpPr>
            <p:spPr bwMode="auto">
              <a:xfrm>
                <a:off x="7361204"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nvGrpSpPr>
              <p:cNvPr id="188" name="Group 187">
                <a:extLst>
                  <a:ext uri="{FF2B5EF4-FFF2-40B4-BE49-F238E27FC236}">
                    <a16:creationId xmlns:a16="http://schemas.microsoft.com/office/drawing/2014/main" id="{CA3E74D4-91B0-E538-C8F7-D0E4F83F188C}"/>
                  </a:ext>
                </a:extLst>
              </p:cNvPr>
              <p:cNvGrpSpPr/>
              <p:nvPr/>
            </p:nvGrpSpPr>
            <p:grpSpPr>
              <a:xfrm>
                <a:off x="6583915" y="3372892"/>
                <a:ext cx="1234278" cy="1028143"/>
                <a:chOff x="1451772" y="4010848"/>
                <a:chExt cx="5337253" cy="4445888"/>
              </a:xfrm>
            </p:grpSpPr>
            <p:sp>
              <p:nvSpPr>
                <p:cNvPr id="191" name="Freeform 5">
                  <a:extLst>
                    <a:ext uri="{FF2B5EF4-FFF2-40B4-BE49-F238E27FC236}">
                      <a16:creationId xmlns:a16="http://schemas.microsoft.com/office/drawing/2014/main" id="{8F7ACF54-1A65-C0EC-64A7-45137CBF484B}"/>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192" name="Freeform 6">
                  <a:extLst>
                    <a:ext uri="{FF2B5EF4-FFF2-40B4-BE49-F238E27FC236}">
                      <a16:creationId xmlns:a16="http://schemas.microsoft.com/office/drawing/2014/main" id="{8F0EDC96-9090-9AA9-E0D6-FAA5C0177731}"/>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p:sp>
            <p:nvSpPr>
              <p:cNvPr id="189" name="Freeform 6">
                <a:extLst>
                  <a:ext uri="{FF2B5EF4-FFF2-40B4-BE49-F238E27FC236}">
                    <a16:creationId xmlns:a16="http://schemas.microsoft.com/office/drawing/2014/main" id="{4CD97F0A-1B57-88C9-3ED8-D890F538F074}"/>
                  </a:ext>
                </a:extLst>
              </p:cNvPr>
              <p:cNvSpPr>
                <a:spLocks/>
              </p:cNvSpPr>
              <p:nvPr/>
            </p:nvSpPr>
            <p:spPr bwMode="auto">
              <a:xfrm>
                <a:off x="7343923"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sp>
            <p:nvSpPr>
              <p:cNvPr id="190" name="Freeform 6">
                <a:extLst>
                  <a:ext uri="{FF2B5EF4-FFF2-40B4-BE49-F238E27FC236}">
                    <a16:creationId xmlns:a16="http://schemas.microsoft.com/office/drawing/2014/main" id="{D33654EB-EAD9-7E27-1C30-7C5C9CC065A8}"/>
                  </a:ext>
                </a:extLst>
              </p:cNvPr>
              <p:cNvSpPr>
                <a:spLocks/>
              </p:cNvSpPr>
              <p:nvPr/>
            </p:nvSpPr>
            <p:spPr bwMode="auto">
              <a:xfrm>
                <a:off x="8063234"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latin typeface="Lato Light" panose="020F0502020204030203" pitchFamily="34" charset="0"/>
                </a:endParaRPr>
              </a:p>
            </p:txBody>
          </p:sp>
        </p:grpSp>
        <mc:AlternateContent xmlns:mc="http://schemas.openxmlformats.org/markup-compatibility/2006" xmlns:a14="http://schemas.microsoft.com/office/drawing/2010/main">
          <mc:Choice Requires="a14">
            <p:sp>
              <p:nvSpPr>
                <p:cNvPr id="185" name="TextBox 184">
                  <a:extLst>
                    <a:ext uri="{FF2B5EF4-FFF2-40B4-BE49-F238E27FC236}">
                      <a16:creationId xmlns:a16="http://schemas.microsoft.com/office/drawing/2014/main" id="{34BD3F1B-7D41-D141-BE42-C50FA9C3974F}"/>
                    </a:ext>
                  </a:extLst>
                </p:cNvPr>
                <p:cNvSpPr txBox="1"/>
                <p:nvPr/>
              </p:nvSpPr>
              <p:spPr>
                <a:xfrm>
                  <a:off x="5452163" y="2535082"/>
                  <a:ext cx="12630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bg1"/>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panose="02040503050406030204" pitchFamily="18" charset="0"/>
                                  </a:rPr>
                                  <m:t>𝑦</m:t>
                                </m:r>
                              </m:e>
                            </m:acc>
                          </m:e>
                          <m:sub>
                            <m:r>
                              <a:rPr lang="en-US" i="1">
                                <a:solidFill>
                                  <a:schemeClr val="bg1"/>
                                </a:solidFill>
                                <a:latin typeface="Cambria Math" panose="02040503050406030204" pitchFamily="18" charset="0"/>
                              </a:rPr>
                              <m:t>𝑇</m:t>
                            </m:r>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185" name="TextBox 184">
                  <a:extLst>
                    <a:ext uri="{FF2B5EF4-FFF2-40B4-BE49-F238E27FC236}">
                      <a16:creationId xmlns:a16="http://schemas.microsoft.com/office/drawing/2014/main" id="{34BD3F1B-7D41-D141-BE42-C50FA9C3974F}"/>
                    </a:ext>
                  </a:extLst>
                </p:cNvPr>
                <p:cNvSpPr txBox="1">
                  <a:spLocks noRot="1" noChangeAspect="1" noMove="1" noResize="1" noEditPoints="1" noAdjustHandles="1" noChangeArrowheads="1" noChangeShapeType="1" noTextEdit="1"/>
                </p:cNvSpPr>
                <p:nvPr/>
              </p:nvSpPr>
              <p:spPr>
                <a:xfrm>
                  <a:off x="5452163" y="2535082"/>
                  <a:ext cx="1263060" cy="369332"/>
                </a:xfrm>
                <a:prstGeom prst="rect">
                  <a:avLst/>
                </a:prstGeom>
                <a:blipFill>
                  <a:blip r:embed="rId4"/>
                  <a:stretch>
                    <a:fillRect b="-9677"/>
                  </a:stretch>
                </a:blipFill>
              </p:spPr>
              <p:txBody>
                <a:bodyPr/>
                <a:lstStyle/>
                <a:p>
                  <a:r>
                    <a:rPr lang="en-US">
                      <a:noFill/>
                    </a:rPr>
                    <a:t> </a:t>
                  </a:r>
                </a:p>
              </p:txBody>
            </p:sp>
          </mc:Fallback>
        </mc:AlternateContent>
      </p:grpSp>
      <p:grpSp>
        <p:nvGrpSpPr>
          <p:cNvPr id="193" name="Group 192">
            <a:extLst>
              <a:ext uri="{FF2B5EF4-FFF2-40B4-BE49-F238E27FC236}">
                <a16:creationId xmlns:a16="http://schemas.microsoft.com/office/drawing/2014/main" id="{5F165D29-94EE-200F-5ECE-229385708A37}"/>
              </a:ext>
            </a:extLst>
          </p:cNvPr>
          <p:cNvGrpSpPr/>
          <p:nvPr/>
        </p:nvGrpSpPr>
        <p:grpSpPr>
          <a:xfrm>
            <a:off x="5957414" y="4308333"/>
            <a:ext cx="1599339" cy="604385"/>
            <a:chOff x="5292935" y="2464499"/>
            <a:chExt cx="1599339" cy="604385"/>
          </a:xfrm>
        </p:grpSpPr>
        <p:grpSp>
          <p:nvGrpSpPr>
            <p:cNvPr id="194" name="Group 193">
              <a:extLst>
                <a:ext uri="{FF2B5EF4-FFF2-40B4-BE49-F238E27FC236}">
                  <a16:creationId xmlns:a16="http://schemas.microsoft.com/office/drawing/2014/main" id="{98AFDBBA-9B32-EEB8-1436-D40DC202C041}"/>
                </a:ext>
              </a:extLst>
            </p:cNvPr>
            <p:cNvGrpSpPr/>
            <p:nvPr/>
          </p:nvGrpSpPr>
          <p:grpSpPr>
            <a:xfrm>
              <a:off x="5292935" y="2464499"/>
              <a:ext cx="1599339" cy="604385"/>
              <a:chOff x="6583915" y="3372891"/>
              <a:chExt cx="2720699" cy="1028144"/>
            </a:xfrm>
          </p:grpSpPr>
          <p:sp>
            <p:nvSpPr>
              <p:cNvPr id="196" name="Freeform 5">
                <a:extLst>
                  <a:ext uri="{FF2B5EF4-FFF2-40B4-BE49-F238E27FC236}">
                    <a16:creationId xmlns:a16="http://schemas.microsoft.com/office/drawing/2014/main" id="{8E6DFE30-DB68-5D7A-C1F4-E358EB8612E2}"/>
                  </a:ext>
                </a:extLst>
              </p:cNvPr>
              <p:cNvSpPr>
                <a:spLocks/>
              </p:cNvSpPr>
              <p:nvPr/>
            </p:nvSpPr>
            <p:spPr bwMode="auto">
              <a:xfrm>
                <a:off x="8080515"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sp>
            <p:nvSpPr>
              <p:cNvPr id="197" name="Freeform 5">
                <a:extLst>
                  <a:ext uri="{FF2B5EF4-FFF2-40B4-BE49-F238E27FC236}">
                    <a16:creationId xmlns:a16="http://schemas.microsoft.com/office/drawing/2014/main" id="{1AFE127A-655A-B75F-96FD-D0BB7BF28678}"/>
                  </a:ext>
                </a:extLst>
              </p:cNvPr>
              <p:cNvSpPr>
                <a:spLocks/>
              </p:cNvSpPr>
              <p:nvPr/>
            </p:nvSpPr>
            <p:spPr bwMode="auto">
              <a:xfrm>
                <a:off x="7361204"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grpSp>
            <p:nvGrpSpPr>
              <p:cNvPr id="198" name="Group 197">
                <a:extLst>
                  <a:ext uri="{FF2B5EF4-FFF2-40B4-BE49-F238E27FC236}">
                    <a16:creationId xmlns:a16="http://schemas.microsoft.com/office/drawing/2014/main" id="{BB991BF4-2208-EEE6-7107-997868921B62}"/>
                  </a:ext>
                </a:extLst>
              </p:cNvPr>
              <p:cNvGrpSpPr/>
              <p:nvPr/>
            </p:nvGrpSpPr>
            <p:grpSpPr>
              <a:xfrm>
                <a:off x="6583915" y="3372892"/>
                <a:ext cx="1234278" cy="1028143"/>
                <a:chOff x="1451772" y="4010848"/>
                <a:chExt cx="5337253" cy="4445888"/>
              </a:xfrm>
            </p:grpSpPr>
            <p:sp>
              <p:nvSpPr>
                <p:cNvPr id="201" name="Freeform 5">
                  <a:extLst>
                    <a:ext uri="{FF2B5EF4-FFF2-40B4-BE49-F238E27FC236}">
                      <a16:creationId xmlns:a16="http://schemas.microsoft.com/office/drawing/2014/main" id="{DB70769B-3616-FF98-D1EB-538DE0BDFD60}"/>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sp>
              <p:nvSpPr>
                <p:cNvPr id="202" name="Freeform 6">
                  <a:extLst>
                    <a:ext uri="{FF2B5EF4-FFF2-40B4-BE49-F238E27FC236}">
                      <a16:creationId xmlns:a16="http://schemas.microsoft.com/office/drawing/2014/main" id="{DC424005-62E0-6F1E-6C24-E2FA97F00D82}"/>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grpSp>
          <p:sp>
            <p:nvSpPr>
              <p:cNvPr id="199" name="Freeform 6">
                <a:extLst>
                  <a:ext uri="{FF2B5EF4-FFF2-40B4-BE49-F238E27FC236}">
                    <a16:creationId xmlns:a16="http://schemas.microsoft.com/office/drawing/2014/main" id="{45A363E3-D03A-ACE6-8865-4456A787C5B9}"/>
                  </a:ext>
                </a:extLst>
              </p:cNvPr>
              <p:cNvSpPr>
                <a:spLocks/>
              </p:cNvSpPr>
              <p:nvPr/>
            </p:nvSpPr>
            <p:spPr bwMode="auto">
              <a:xfrm>
                <a:off x="7343923"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sp>
            <p:nvSpPr>
              <p:cNvPr id="200" name="Freeform 6">
                <a:extLst>
                  <a:ext uri="{FF2B5EF4-FFF2-40B4-BE49-F238E27FC236}">
                    <a16:creationId xmlns:a16="http://schemas.microsoft.com/office/drawing/2014/main" id="{760B720B-5D3F-DD18-3DEC-B3E220F9D5F0}"/>
                  </a:ext>
                </a:extLst>
              </p:cNvPr>
              <p:cNvSpPr>
                <a:spLocks/>
              </p:cNvSpPr>
              <p:nvPr/>
            </p:nvSpPr>
            <p:spPr bwMode="auto">
              <a:xfrm>
                <a:off x="8063234"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grpSp>
        <mc:AlternateContent xmlns:mc="http://schemas.openxmlformats.org/markup-compatibility/2006" xmlns:a14="http://schemas.microsoft.com/office/drawing/2010/main">
          <mc:Choice Requires="a14">
            <p:sp>
              <p:nvSpPr>
                <p:cNvPr id="195" name="TextBox 194">
                  <a:extLst>
                    <a:ext uri="{FF2B5EF4-FFF2-40B4-BE49-F238E27FC236}">
                      <a16:creationId xmlns:a16="http://schemas.microsoft.com/office/drawing/2014/main" id="{DF3CE2BE-05E8-69DF-6243-10AA2186FB31}"/>
                    </a:ext>
                  </a:extLst>
                </p:cNvPr>
                <p:cNvSpPr txBox="1"/>
                <p:nvPr/>
              </p:nvSpPr>
              <p:spPr>
                <a:xfrm>
                  <a:off x="5452163" y="2535082"/>
                  <a:ext cx="12630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bg1"/>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panose="02040503050406030204" pitchFamily="18" charset="0"/>
                                  </a:rPr>
                                  <m:t>𝑦</m:t>
                                </m:r>
                              </m:e>
                            </m:acc>
                          </m:e>
                          <m:sub>
                            <m:r>
                              <a:rPr lang="en-US" i="1">
                                <a:solidFill>
                                  <a:schemeClr val="bg1"/>
                                </a:solidFill>
                                <a:latin typeface="Cambria Math" panose="02040503050406030204" pitchFamily="18" charset="0"/>
                              </a:rPr>
                              <m:t>𝑇</m:t>
                            </m:r>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195" name="TextBox 194">
                  <a:extLst>
                    <a:ext uri="{FF2B5EF4-FFF2-40B4-BE49-F238E27FC236}">
                      <a16:creationId xmlns:a16="http://schemas.microsoft.com/office/drawing/2014/main" id="{DF3CE2BE-05E8-69DF-6243-10AA2186FB31}"/>
                    </a:ext>
                  </a:extLst>
                </p:cNvPr>
                <p:cNvSpPr txBox="1">
                  <a:spLocks noRot="1" noChangeAspect="1" noMove="1" noResize="1" noEditPoints="1" noAdjustHandles="1" noChangeArrowheads="1" noChangeShapeType="1" noTextEdit="1"/>
                </p:cNvSpPr>
                <p:nvPr/>
              </p:nvSpPr>
              <p:spPr>
                <a:xfrm>
                  <a:off x="5452163" y="2535082"/>
                  <a:ext cx="1263060" cy="369332"/>
                </a:xfrm>
                <a:prstGeom prst="rect">
                  <a:avLst/>
                </a:prstGeom>
                <a:blipFill>
                  <a:blip r:embed="rId5"/>
                  <a:stretch>
                    <a:fillRect b="-13333"/>
                  </a:stretch>
                </a:blipFill>
              </p:spPr>
              <p:txBody>
                <a:bodyPr/>
                <a:lstStyle/>
                <a:p>
                  <a:r>
                    <a:rPr lang="en-US">
                      <a:noFill/>
                    </a:rPr>
                    <a:t> </a:t>
                  </a:r>
                </a:p>
              </p:txBody>
            </p:sp>
          </mc:Fallback>
        </mc:AlternateContent>
      </p:grpSp>
      <p:grpSp>
        <p:nvGrpSpPr>
          <p:cNvPr id="203" name="Group 202">
            <a:extLst>
              <a:ext uri="{FF2B5EF4-FFF2-40B4-BE49-F238E27FC236}">
                <a16:creationId xmlns:a16="http://schemas.microsoft.com/office/drawing/2014/main" id="{891CF8FE-2F88-FA64-5006-D348FC4966FA}"/>
              </a:ext>
            </a:extLst>
          </p:cNvPr>
          <p:cNvGrpSpPr/>
          <p:nvPr/>
        </p:nvGrpSpPr>
        <p:grpSpPr>
          <a:xfrm>
            <a:off x="5988503" y="5177693"/>
            <a:ext cx="1599339" cy="604385"/>
            <a:chOff x="5292935" y="2464499"/>
            <a:chExt cx="1599339" cy="604385"/>
          </a:xfrm>
        </p:grpSpPr>
        <p:grpSp>
          <p:nvGrpSpPr>
            <p:cNvPr id="204" name="Group 203">
              <a:extLst>
                <a:ext uri="{FF2B5EF4-FFF2-40B4-BE49-F238E27FC236}">
                  <a16:creationId xmlns:a16="http://schemas.microsoft.com/office/drawing/2014/main" id="{0C3431C6-E9B6-BC99-2CED-F02025860943}"/>
                </a:ext>
              </a:extLst>
            </p:cNvPr>
            <p:cNvGrpSpPr/>
            <p:nvPr/>
          </p:nvGrpSpPr>
          <p:grpSpPr>
            <a:xfrm>
              <a:off x="5292935" y="2464499"/>
              <a:ext cx="1599339" cy="604385"/>
              <a:chOff x="6583915" y="3372891"/>
              <a:chExt cx="2720699" cy="1028144"/>
            </a:xfrm>
          </p:grpSpPr>
          <p:sp>
            <p:nvSpPr>
              <p:cNvPr id="206" name="Freeform 5">
                <a:extLst>
                  <a:ext uri="{FF2B5EF4-FFF2-40B4-BE49-F238E27FC236}">
                    <a16:creationId xmlns:a16="http://schemas.microsoft.com/office/drawing/2014/main" id="{9951262B-638D-5EF4-DEEA-C8991A7142F8}"/>
                  </a:ext>
                </a:extLst>
              </p:cNvPr>
              <p:cNvSpPr>
                <a:spLocks/>
              </p:cNvSpPr>
              <p:nvPr/>
            </p:nvSpPr>
            <p:spPr bwMode="auto">
              <a:xfrm>
                <a:off x="8080515"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sp>
            <p:nvSpPr>
              <p:cNvPr id="207" name="Freeform 5">
                <a:extLst>
                  <a:ext uri="{FF2B5EF4-FFF2-40B4-BE49-F238E27FC236}">
                    <a16:creationId xmlns:a16="http://schemas.microsoft.com/office/drawing/2014/main" id="{8C82AEB3-B8A1-10D6-E84A-05EBCBF6AB78}"/>
                  </a:ext>
                </a:extLst>
              </p:cNvPr>
              <p:cNvSpPr>
                <a:spLocks/>
              </p:cNvSpPr>
              <p:nvPr/>
            </p:nvSpPr>
            <p:spPr bwMode="auto">
              <a:xfrm>
                <a:off x="7361204" y="3417003"/>
                <a:ext cx="1224099" cy="984031"/>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grpSp>
            <p:nvGrpSpPr>
              <p:cNvPr id="208" name="Group 207">
                <a:extLst>
                  <a:ext uri="{FF2B5EF4-FFF2-40B4-BE49-F238E27FC236}">
                    <a16:creationId xmlns:a16="http://schemas.microsoft.com/office/drawing/2014/main" id="{1411742A-DA45-14CE-B39D-15F5448227C3}"/>
                  </a:ext>
                </a:extLst>
              </p:cNvPr>
              <p:cNvGrpSpPr/>
              <p:nvPr/>
            </p:nvGrpSpPr>
            <p:grpSpPr>
              <a:xfrm>
                <a:off x="6583915" y="3372892"/>
                <a:ext cx="1234278" cy="1028143"/>
                <a:chOff x="1451772" y="4010848"/>
                <a:chExt cx="5337253" cy="4445888"/>
              </a:xfrm>
            </p:grpSpPr>
            <p:sp>
              <p:nvSpPr>
                <p:cNvPr id="211" name="Freeform 5">
                  <a:extLst>
                    <a:ext uri="{FF2B5EF4-FFF2-40B4-BE49-F238E27FC236}">
                      <a16:creationId xmlns:a16="http://schemas.microsoft.com/office/drawing/2014/main" id="{BB47A7AC-D9AD-AD40-D11F-044311A2751C}"/>
                    </a:ext>
                  </a:extLst>
                </p:cNvPr>
                <p:cNvSpPr>
                  <a:spLocks/>
                </p:cNvSpPr>
                <p:nvPr/>
              </p:nvSpPr>
              <p:spPr bwMode="auto">
                <a:xfrm>
                  <a:off x="1470114" y="4201596"/>
                  <a:ext cx="5293235" cy="4255140"/>
                </a:xfrm>
                <a:custGeom>
                  <a:avLst/>
                  <a:gdLst>
                    <a:gd name="T0" fmla="*/ 610 w 610"/>
                    <a:gd name="T1" fmla="*/ 216 h 488"/>
                    <a:gd name="T2" fmla="*/ 592 w 610"/>
                    <a:gd name="T3" fmla="*/ 216 h 488"/>
                    <a:gd name="T4" fmla="*/ 441 w 610"/>
                    <a:gd name="T5" fmla="*/ 36 h 488"/>
                    <a:gd name="T6" fmla="*/ 389 w 610"/>
                    <a:gd name="T7" fmla="*/ 12 h 488"/>
                    <a:gd name="T8" fmla="*/ 42 w 610"/>
                    <a:gd name="T9" fmla="*/ 12 h 488"/>
                    <a:gd name="T10" fmla="*/ 42 w 610"/>
                    <a:gd name="T11" fmla="*/ 0 h 488"/>
                    <a:gd name="T12" fmla="*/ 0 w 610"/>
                    <a:gd name="T13" fmla="*/ 0 h 488"/>
                    <a:gd name="T14" fmla="*/ 0 w 610"/>
                    <a:gd name="T15" fmla="*/ 34 h 488"/>
                    <a:gd name="T16" fmla="*/ 0 w 610"/>
                    <a:gd name="T17" fmla="*/ 34 h 488"/>
                    <a:gd name="T18" fmla="*/ 5 w 610"/>
                    <a:gd name="T19" fmla="*/ 49 h 488"/>
                    <a:gd name="T20" fmla="*/ 156 w 610"/>
                    <a:gd name="T21" fmla="*/ 228 h 488"/>
                    <a:gd name="T22" fmla="*/ 156 w 610"/>
                    <a:gd name="T23" fmla="*/ 272 h 488"/>
                    <a:gd name="T24" fmla="*/ 22 w 610"/>
                    <a:gd name="T25" fmla="*/ 431 h 488"/>
                    <a:gd name="T26" fmla="*/ 0 w 610"/>
                    <a:gd name="T27" fmla="*/ 431 h 488"/>
                    <a:gd name="T28" fmla="*/ 0 w 610"/>
                    <a:gd name="T29" fmla="*/ 465 h 488"/>
                    <a:gd name="T30" fmla="*/ 0 w 610"/>
                    <a:gd name="T31" fmla="*/ 465 h 488"/>
                    <a:gd name="T32" fmla="*/ 2 w 610"/>
                    <a:gd name="T33" fmla="*/ 475 h 488"/>
                    <a:gd name="T34" fmla="*/ 23 w 610"/>
                    <a:gd name="T35" fmla="*/ 488 h 488"/>
                    <a:gd name="T36" fmla="*/ 389 w 610"/>
                    <a:gd name="T37" fmla="*/ 488 h 488"/>
                    <a:gd name="T38" fmla="*/ 441 w 610"/>
                    <a:gd name="T39" fmla="*/ 464 h 488"/>
                    <a:gd name="T40" fmla="*/ 602 w 610"/>
                    <a:gd name="T41" fmla="*/ 272 h 488"/>
                    <a:gd name="T42" fmla="*/ 610 w 610"/>
                    <a:gd name="T43" fmla="*/ 250 h 488"/>
                    <a:gd name="T44" fmla="*/ 610 w 610"/>
                    <a:gd name="T45" fmla="*/ 250 h 488"/>
                    <a:gd name="T46" fmla="*/ 610 w 610"/>
                    <a:gd name="T47" fmla="*/ 21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0" h="488">
                      <a:moveTo>
                        <a:pt x="610" y="216"/>
                      </a:moveTo>
                      <a:cubicBezTo>
                        <a:pt x="592" y="216"/>
                        <a:pt x="592" y="216"/>
                        <a:pt x="592" y="216"/>
                      </a:cubicBezTo>
                      <a:cubicBezTo>
                        <a:pt x="441" y="36"/>
                        <a:pt x="441" y="36"/>
                        <a:pt x="441" y="36"/>
                      </a:cubicBezTo>
                      <a:cubicBezTo>
                        <a:pt x="428" y="21"/>
                        <a:pt x="409" y="12"/>
                        <a:pt x="389" y="12"/>
                      </a:cubicBezTo>
                      <a:cubicBezTo>
                        <a:pt x="42" y="12"/>
                        <a:pt x="42" y="12"/>
                        <a:pt x="42" y="12"/>
                      </a:cubicBezTo>
                      <a:cubicBezTo>
                        <a:pt x="42" y="0"/>
                        <a:pt x="42" y="0"/>
                        <a:pt x="42" y="0"/>
                      </a:cubicBezTo>
                      <a:cubicBezTo>
                        <a:pt x="0" y="0"/>
                        <a:pt x="0" y="0"/>
                        <a:pt x="0" y="0"/>
                      </a:cubicBezTo>
                      <a:cubicBezTo>
                        <a:pt x="0" y="34"/>
                        <a:pt x="0" y="34"/>
                        <a:pt x="0" y="34"/>
                      </a:cubicBezTo>
                      <a:cubicBezTo>
                        <a:pt x="0" y="34"/>
                        <a:pt x="0" y="34"/>
                        <a:pt x="0" y="34"/>
                      </a:cubicBezTo>
                      <a:cubicBezTo>
                        <a:pt x="0" y="40"/>
                        <a:pt x="2" y="45"/>
                        <a:pt x="5" y="49"/>
                      </a:cubicBezTo>
                      <a:cubicBezTo>
                        <a:pt x="156" y="228"/>
                        <a:pt x="156" y="228"/>
                        <a:pt x="156" y="228"/>
                      </a:cubicBezTo>
                      <a:cubicBezTo>
                        <a:pt x="166" y="241"/>
                        <a:pt x="166" y="259"/>
                        <a:pt x="156" y="272"/>
                      </a:cubicBezTo>
                      <a:cubicBezTo>
                        <a:pt x="22" y="431"/>
                        <a:pt x="22" y="431"/>
                        <a:pt x="22" y="431"/>
                      </a:cubicBezTo>
                      <a:cubicBezTo>
                        <a:pt x="0" y="431"/>
                        <a:pt x="0" y="431"/>
                        <a:pt x="0" y="431"/>
                      </a:cubicBezTo>
                      <a:cubicBezTo>
                        <a:pt x="0" y="465"/>
                        <a:pt x="0" y="465"/>
                        <a:pt x="0" y="465"/>
                      </a:cubicBezTo>
                      <a:cubicBezTo>
                        <a:pt x="0" y="465"/>
                        <a:pt x="0" y="465"/>
                        <a:pt x="0" y="465"/>
                      </a:cubicBezTo>
                      <a:cubicBezTo>
                        <a:pt x="0" y="469"/>
                        <a:pt x="1" y="472"/>
                        <a:pt x="2" y="475"/>
                      </a:cubicBezTo>
                      <a:cubicBezTo>
                        <a:pt x="6" y="483"/>
                        <a:pt x="14" y="488"/>
                        <a:pt x="23" y="488"/>
                      </a:cubicBezTo>
                      <a:cubicBezTo>
                        <a:pt x="389" y="488"/>
                        <a:pt x="389" y="488"/>
                        <a:pt x="389" y="488"/>
                      </a:cubicBezTo>
                      <a:cubicBezTo>
                        <a:pt x="409" y="488"/>
                        <a:pt x="428" y="479"/>
                        <a:pt x="441" y="464"/>
                      </a:cubicBezTo>
                      <a:cubicBezTo>
                        <a:pt x="602" y="272"/>
                        <a:pt x="602" y="272"/>
                        <a:pt x="602" y="272"/>
                      </a:cubicBezTo>
                      <a:cubicBezTo>
                        <a:pt x="607" y="265"/>
                        <a:pt x="610" y="258"/>
                        <a:pt x="610" y="250"/>
                      </a:cubicBezTo>
                      <a:cubicBezTo>
                        <a:pt x="610" y="250"/>
                        <a:pt x="610" y="250"/>
                        <a:pt x="610" y="250"/>
                      </a:cubicBezTo>
                      <a:lnTo>
                        <a:pt x="610" y="216"/>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sp>
              <p:nvSpPr>
                <p:cNvPr id="212" name="Freeform 6">
                  <a:extLst>
                    <a:ext uri="{FF2B5EF4-FFF2-40B4-BE49-F238E27FC236}">
                      <a16:creationId xmlns:a16="http://schemas.microsoft.com/office/drawing/2014/main" id="{96D17F7E-2870-A931-D0D8-FB87D62DB068}"/>
                    </a:ext>
                  </a:extLst>
                </p:cNvPr>
                <p:cNvSpPr>
                  <a:spLocks/>
                </p:cNvSpPr>
                <p:nvPr/>
              </p:nvSpPr>
              <p:spPr bwMode="auto">
                <a:xfrm>
                  <a:off x="1451772" y="4010848"/>
                  <a:ext cx="5337253" cy="4148763"/>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grpSp>
          <p:sp>
            <p:nvSpPr>
              <p:cNvPr id="209" name="Freeform 6">
                <a:extLst>
                  <a:ext uri="{FF2B5EF4-FFF2-40B4-BE49-F238E27FC236}">
                    <a16:creationId xmlns:a16="http://schemas.microsoft.com/office/drawing/2014/main" id="{5CC09F69-1F03-CC7C-7789-B76BD26D1A07}"/>
                  </a:ext>
                </a:extLst>
              </p:cNvPr>
              <p:cNvSpPr>
                <a:spLocks/>
              </p:cNvSpPr>
              <p:nvPr/>
            </p:nvSpPr>
            <p:spPr bwMode="auto">
              <a:xfrm>
                <a:off x="7343923"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sp>
            <p:nvSpPr>
              <p:cNvPr id="210" name="Freeform 6">
                <a:extLst>
                  <a:ext uri="{FF2B5EF4-FFF2-40B4-BE49-F238E27FC236}">
                    <a16:creationId xmlns:a16="http://schemas.microsoft.com/office/drawing/2014/main" id="{7C887D82-7446-BFCC-7938-50F8E8766A5F}"/>
                  </a:ext>
                </a:extLst>
              </p:cNvPr>
              <p:cNvSpPr>
                <a:spLocks/>
              </p:cNvSpPr>
              <p:nvPr/>
            </p:nvSpPr>
            <p:spPr bwMode="auto">
              <a:xfrm>
                <a:off x="8063234" y="3372891"/>
                <a:ext cx="1234278" cy="959431"/>
              </a:xfrm>
              <a:custGeom>
                <a:avLst/>
                <a:gdLst>
                  <a:gd name="T0" fmla="*/ 604 w 615"/>
                  <a:gd name="T1" fmla="*/ 216 h 476"/>
                  <a:gd name="T2" fmla="*/ 604 w 615"/>
                  <a:gd name="T3" fmla="*/ 260 h 476"/>
                  <a:gd name="T4" fmla="*/ 443 w 615"/>
                  <a:gd name="T5" fmla="*/ 452 h 476"/>
                  <a:gd name="T6" fmla="*/ 391 w 615"/>
                  <a:gd name="T7" fmla="*/ 476 h 476"/>
                  <a:gd name="T8" fmla="*/ 25 w 615"/>
                  <a:gd name="T9" fmla="*/ 476 h 476"/>
                  <a:gd name="T10" fmla="*/ 4 w 615"/>
                  <a:gd name="T11" fmla="*/ 463 h 476"/>
                  <a:gd name="T12" fmla="*/ 7 w 615"/>
                  <a:gd name="T13" fmla="*/ 439 h 476"/>
                  <a:gd name="T14" fmla="*/ 158 w 615"/>
                  <a:gd name="T15" fmla="*/ 260 h 476"/>
                  <a:gd name="T16" fmla="*/ 158 w 615"/>
                  <a:gd name="T17" fmla="*/ 216 h 476"/>
                  <a:gd name="T18" fmla="*/ 7 w 615"/>
                  <a:gd name="T19" fmla="*/ 37 h 476"/>
                  <a:gd name="T20" fmla="*/ 4 w 615"/>
                  <a:gd name="T21" fmla="*/ 13 h 476"/>
                  <a:gd name="T22" fmla="*/ 25 w 615"/>
                  <a:gd name="T23" fmla="*/ 0 h 476"/>
                  <a:gd name="T24" fmla="*/ 391 w 615"/>
                  <a:gd name="T25" fmla="*/ 0 h 476"/>
                  <a:gd name="T26" fmla="*/ 443 w 615"/>
                  <a:gd name="T27" fmla="*/ 24 h 476"/>
                  <a:gd name="T28" fmla="*/ 604 w 615"/>
                  <a:gd name="T29" fmla="*/ 216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15" h="476">
                    <a:moveTo>
                      <a:pt x="604" y="216"/>
                    </a:moveTo>
                    <a:cubicBezTo>
                      <a:pt x="615" y="229"/>
                      <a:pt x="615" y="247"/>
                      <a:pt x="604" y="260"/>
                    </a:cubicBezTo>
                    <a:cubicBezTo>
                      <a:pt x="443" y="452"/>
                      <a:pt x="443" y="452"/>
                      <a:pt x="443" y="452"/>
                    </a:cubicBezTo>
                    <a:cubicBezTo>
                      <a:pt x="430" y="467"/>
                      <a:pt x="411" y="476"/>
                      <a:pt x="391" y="476"/>
                    </a:cubicBezTo>
                    <a:cubicBezTo>
                      <a:pt x="25" y="476"/>
                      <a:pt x="25" y="476"/>
                      <a:pt x="25" y="476"/>
                    </a:cubicBezTo>
                    <a:cubicBezTo>
                      <a:pt x="16" y="476"/>
                      <a:pt x="8" y="471"/>
                      <a:pt x="4" y="463"/>
                    </a:cubicBezTo>
                    <a:cubicBezTo>
                      <a:pt x="0" y="455"/>
                      <a:pt x="2" y="445"/>
                      <a:pt x="7" y="439"/>
                    </a:cubicBezTo>
                    <a:cubicBezTo>
                      <a:pt x="158" y="260"/>
                      <a:pt x="158" y="260"/>
                      <a:pt x="158" y="260"/>
                    </a:cubicBezTo>
                    <a:cubicBezTo>
                      <a:pt x="168" y="247"/>
                      <a:pt x="168" y="229"/>
                      <a:pt x="158" y="216"/>
                    </a:cubicBezTo>
                    <a:cubicBezTo>
                      <a:pt x="7" y="37"/>
                      <a:pt x="7" y="37"/>
                      <a:pt x="7" y="37"/>
                    </a:cubicBezTo>
                    <a:cubicBezTo>
                      <a:pt x="2" y="30"/>
                      <a:pt x="0" y="21"/>
                      <a:pt x="4" y="13"/>
                    </a:cubicBezTo>
                    <a:cubicBezTo>
                      <a:pt x="8" y="5"/>
                      <a:pt x="16" y="0"/>
                      <a:pt x="25" y="0"/>
                    </a:cubicBezTo>
                    <a:cubicBezTo>
                      <a:pt x="391" y="0"/>
                      <a:pt x="391" y="0"/>
                      <a:pt x="391" y="0"/>
                    </a:cubicBezTo>
                    <a:cubicBezTo>
                      <a:pt x="411" y="0"/>
                      <a:pt x="430" y="9"/>
                      <a:pt x="443" y="24"/>
                    </a:cubicBezTo>
                    <a:lnTo>
                      <a:pt x="604" y="2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32" tIns="91416" rIns="182832" bIns="91416" numCol="1" anchor="t" anchorCtr="0" compatLnSpc="1">
                <a:prstTxWarp prst="textNoShape">
                  <a:avLst/>
                </a:prstTxWarp>
              </a:bodyPr>
              <a:lstStyle/>
              <a:p>
                <a:endParaRPr lang="en-US" sz="7198" dirty="0">
                  <a:solidFill>
                    <a:schemeClr val="bg1"/>
                  </a:solidFill>
                  <a:latin typeface="Lato Light" panose="020F0502020204030203" pitchFamily="34" charset="0"/>
                </a:endParaRPr>
              </a:p>
            </p:txBody>
          </p:sp>
        </p:gr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CE7C791F-C79A-3984-EB67-F5127076C765}"/>
                    </a:ext>
                  </a:extLst>
                </p:cNvPr>
                <p:cNvSpPr txBox="1"/>
                <p:nvPr/>
              </p:nvSpPr>
              <p:spPr>
                <a:xfrm>
                  <a:off x="5452163" y="2535082"/>
                  <a:ext cx="12630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bg1"/>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panose="02040503050406030204" pitchFamily="18" charset="0"/>
                                  </a:rPr>
                                  <m:t>𝑦</m:t>
                                </m:r>
                              </m:e>
                            </m:acc>
                          </m:e>
                          <m:sub>
                            <m:r>
                              <a:rPr lang="en-US" i="1">
                                <a:solidFill>
                                  <a:schemeClr val="bg1"/>
                                </a:solidFill>
                                <a:latin typeface="Cambria Math" panose="02040503050406030204" pitchFamily="18" charset="0"/>
                              </a:rPr>
                              <m:t>𝑇</m:t>
                            </m:r>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205" name="TextBox 204">
                  <a:extLst>
                    <a:ext uri="{FF2B5EF4-FFF2-40B4-BE49-F238E27FC236}">
                      <a16:creationId xmlns:a16="http://schemas.microsoft.com/office/drawing/2014/main" id="{CE7C791F-C79A-3984-EB67-F5127076C765}"/>
                    </a:ext>
                  </a:extLst>
                </p:cNvPr>
                <p:cNvSpPr txBox="1">
                  <a:spLocks noRot="1" noChangeAspect="1" noMove="1" noResize="1" noEditPoints="1" noAdjustHandles="1" noChangeArrowheads="1" noChangeShapeType="1" noTextEdit="1"/>
                </p:cNvSpPr>
                <p:nvPr/>
              </p:nvSpPr>
              <p:spPr>
                <a:xfrm>
                  <a:off x="5452163" y="2535082"/>
                  <a:ext cx="1263060" cy="369332"/>
                </a:xfrm>
                <a:prstGeom prst="rect">
                  <a:avLst/>
                </a:prstGeom>
                <a:blipFill>
                  <a:blip r:embed="rId6"/>
                  <a:stretch>
                    <a:fillRect b="-10000"/>
                  </a:stretch>
                </a:blipFill>
              </p:spPr>
              <p:txBody>
                <a:bodyPr/>
                <a:lstStyle/>
                <a:p>
                  <a:r>
                    <a:rPr lang="en-US">
                      <a:noFill/>
                    </a:rPr>
                    <a:t> </a:t>
                  </a:r>
                </a:p>
              </p:txBody>
            </p:sp>
          </mc:Fallback>
        </mc:AlternateContent>
      </p:grpSp>
      <p:sp>
        <p:nvSpPr>
          <p:cNvPr id="213" name="Rounded Rectangle 212">
            <a:extLst>
              <a:ext uri="{FF2B5EF4-FFF2-40B4-BE49-F238E27FC236}">
                <a16:creationId xmlns:a16="http://schemas.microsoft.com/office/drawing/2014/main" id="{341D5CFE-40EB-FD2F-F0DA-F85FE09FDD18}"/>
              </a:ext>
            </a:extLst>
          </p:cNvPr>
          <p:cNvSpPr/>
          <p:nvPr/>
        </p:nvSpPr>
        <p:spPr>
          <a:xfrm>
            <a:off x="5814759" y="1582191"/>
            <a:ext cx="1719972" cy="565887"/>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Make a new prediction</a:t>
            </a:r>
          </a:p>
        </p:txBody>
      </p:sp>
      <p:sp>
        <p:nvSpPr>
          <p:cNvPr id="214" name="Rounded Rectangle 213">
            <a:extLst>
              <a:ext uri="{FF2B5EF4-FFF2-40B4-BE49-F238E27FC236}">
                <a16:creationId xmlns:a16="http://schemas.microsoft.com/office/drawing/2014/main" id="{15E11B8F-3A31-6F32-7054-D8960264DC4E}"/>
              </a:ext>
            </a:extLst>
          </p:cNvPr>
          <p:cNvSpPr/>
          <p:nvPr/>
        </p:nvSpPr>
        <p:spPr>
          <a:xfrm>
            <a:off x="8970725" y="1589147"/>
            <a:ext cx="1719972" cy="565887"/>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Bagged prediction</a:t>
            </a:r>
          </a:p>
        </p:txBody>
      </p:sp>
      <p:cxnSp>
        <p:nvCxnSpPr>
          <p:cNvPr id="216" name="Straight Arrow Connector 215">
            <a:extLst>
              <a:ext uri="{FF2B5EF4-FFF2-40B4-BE49-F238E27FC236}">
                <a16:creationId xmlns:a16="http://schemas.microsoft.com/office/drawing/2014/main" id="{EA28562B-D1CB-8AAF-2A06-AFDA78F283CB}"/>
              </a:ext>
            </a:extLst>
          </p:cNvPr>
          <p:cNvCxnSpPr>
            <a:cxnSpLocks/>
            <a:stCxn id="217" idx="3"/>
            <a:endCxn id="148" idx="1"/>
          </p:cNvCxnSpPr>
          <p:nvPr/>
        </p:nvCxnSpPr>
        <p:spPr>
          <a:xfrm>
            <a:off x="2568977" y="3629637"/>
            <a:ext cx="617730" cy="5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8" name="Straight Arrow Connector 217">
            <a:extLst>
              <a:ext uri="{FF2B5EF4-FFF2-40B4-BE49-F238E27FC236}">
                <a16:creationId xmlns:a16="http://schemas.microsoft.com/office/drawing/2014/main" id="{AD31261C-FBF0-6188-3570-C0AFB3A54DFA}"/>
              </a:ext>
            </a:extLst>
          </p:cNvPr>
          <p:cNvCxnSpPr>
            <a:cxnSpLocks/>
            <a:stCxn id="138" idx="3"/>
            <a:endCxn id="147" idx="1"/>
          </p:cNvCxnSpPr>
          <p:nvPr/>
        </p:nvCxnSpPr>
        <p:spPr>
          <a:xfrm>
            <a:off x="2569784" y="2775798"/>
            <a:ext cx="6169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1" name="Straight Arrow Connector 220">
            <a:extLst>
              <a:ext uri="{FF2B5EF4-FFF2-40B4-BE49-F238E27FC236}">
                <a16:creationId xmlns:a16="http://schemas.microsoft.com/office/drawing/2014/main" id="{0D545517-C69F-8AFA-88F7-90DFD62BE783}"/>
              </a:ext>
            </a:extLst>
          </p:cNvPr>
          <p:cNvCxnSpPr>
            <a:cxnSpLocks/>
            <a:stCxn id="227" idx="3"/>
            <a:endCxn id="158" idx="1"/>
          </p:cNvCxnSpPr>
          <p:nvPr/>
        </p:nvCxnSpPr>
        <p:spPr>
          <a:xfrm flipV="1">
            <a:off x="2565091" y="4610525"/>
            <a:ext cx="626354" cy="1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3" name="Straight Arrow Connector 222">
            <a:extLst>
              <a:ext uri="{FF2B5EF4-FFF2-40B4-BE49-F238E27FC236}">
                <a16:creationId xmlns:a16="http://schemas.microsoft.com/office/drawing/2014/main" id="{4950A41D-098E-BBD3-E065-50AC1DFAA0F7}"/>
              </a:ext>
            </a:extLst>
          </p:cNvPr>
          <p:cNvCxnSpPr>
            <a:cxnSpLocks/>
            <a:stCxn id="241" idx="3"/>
            <a:endCxn id="168" idx="1"/>
          </p:cNvCxnSpPr>
          <p:nvPr/>
        </p:nvCxnSpPr>
        <p:spPr>
          <a:xfrm flipV="1">
            <a:off x="2569784" y="5479885"/>
            <a:ext cx="616924" cy="7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5" name="Straight Arrow Connector 224">
            <a:extLst>
              <a:ext uri="{FF2B5EF4-FFF2-40B4-BE49-F238E27FC236}">
                <a16:creationId xmlns:a16="http://schemas.microsoft.com/office/drawing/2014/main" id="{0CFD6E6F-CB26-B233-1799-EE75DBBA8B81}"/>
              </a:ext>
            </a:extLst>
          </p:cNvPr>
          <p:cNvCxnSpPr>
            <a:cxnSpLocks/>
            <a:stCxn id="147" idx="3"/>
          </p:cNvCxnSpPr>
          <p:nvPr/>
        </p:nvCxnSpPr>
        <p:spPr>
          <a:xfrm>
            <a:off x="4533044" y="2775798"/>
            <a:ext cx="15083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2321888F-02F6-A551-F001-E6C79DBA2BDA}"/>
              </a:ext>
            </a:extLst>
          </p:cNvPr>
          <p:cNvGrpSpPr/>
          <p:nvPr/>
        </p:nvGrpSpPr>
        <p:grpSpPr>
          <a:xfrm>
            <a:off x="724469" y="2466117"/>
            <a:ext cx="1845315" cy="619362"/>
            <a:chOff x="724469" y="2531190"/>
            <a:chExt cx="1845315" cy="619362"/>
          </a:xfrm>
        </p:grpSpPr>
        <p:sp>
          <p:nvSpPr>
            <p:cNvPr id="138" name="Rounded Rectangle 137">
              <a:extLst>
                <a:ext uri="{FF2B5EF4-FFF2-40B4-BE49-F238E27FC236}">
                  <a16:creationId xmlns:a16="http://schemas.microsoft.com/office/drawing/2014/main" id="{0E326CEC-DDB4-1992-D241-F6FEE3894B8F}"/>
                </a:ext>
              </a:extLst>
            </p:cNvPr>
            <p:cNvSpPr/>
            <p:nvPr/>
          </p:nvSpPr>
          <p:spPr>
            <a:xfrm>
              <a:off x="724469" y="2531190"/>
              <a:ext cx="1845315" cy="619362"/>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Bootstrap 1</a:t>
              </a:r>
            </a:p>
          </p:txBody>
        </p:sp>
        <p:grpSp>
          <p:nvGrpSpPr>
            <p:cNvPr id="95" name="Group 94">
              <a:extLst>
                <a:ext uri="{FF2B5EF4-FFF2-40B4-BE49-F238E27FC236}">
                  <a16:creationId xmlns:a16="http://schemas.microsoft.com/office/drawing/2014/main" id="{E3FFF303-7350-4948-E239-BD4241502000}"/>
                </a:ext>
              </a:extLst>
            </p:cNvPr>
            <p:cNvGrpSpPr/>
            <p:nvPr/>
          </p:nvGrpSpPr>
          <p:grpSpPr>
            <a:xfrm>
              <a:off x="837726" y="2620667"/>
              <a:ext cx="381723" cy="440407"/>
              <a:chOff x="10865797" y="3286316"/>
              <a:chExt cx="1766536" cy="2038115"/>
            </a:xfrm>
          </p:grpSpPr>
          <p:sp>
            <p:nvSpPr>
              <p:cNvPr id="96" name="Freeform: Shape 513">
                <a:extLst>
                  <a:ext uri="{FF2B5EF4-FFF2-40B4-BE49-F238E27FC236}">
                    <a16:creationId xmlns:a16="http://schemas.microsoft.com/office/drawing/2014/main" id="{1BA92C8D-0B4B-EBAA-35A3-1AFA446BE2BB}"/>
                  </a:ext>
                </a:extLst>
              </p:cNvPr>
              <p:cNvSpPr/>
              <p:nvPr/>
            </p:nvSpPr>
            <p:spPr>
              <a:xfrm>
                <a:off x="10865797" y="3286316"/>
                <a:ext cx="1766533" cy="2038115"/>
              </a:xfrm>
              <a:custGeom>
                <a:avLst/>
                <a:gdLst/>
                <a:ahLst/>
                <a:cxnLst>
                  <a:cxn ang="3cd4">
                    <a:pos x="hc" y="t"/>
                  </a:cxn>
                  <a:cxn ang="cd2">
                    <a:pos x="l" y="vc"/>
                  </a:cxn>
                  <a:cxn ang="cd4">
                    <a:pos x="hc" y="b"/>
                  </a:cxn>
                  <a:cxn ang="0">
                    <a:pos x="r" y="vc"/>
                  </a:cxn>
                </a:cxnLst>
                <a:rect l="l" t="t" r="r" b="b"/>
                <a:pathLst>
                  <a:path w="1419" h="1637">
                    <a:moveTo>
                      <a:pt x="708" y="0"/>
                    </a:moveTo>
                    <a:lnTo>
                      <a:pt x="2" y="410"/>
                    </a:lnTo>
                    <a:lnTo>
                      <a:pt x="0" y="1227"/>
                    </a:lnTo>
                    <a:lnTo>
                      <a:pt x="710" y="1637"/>
                    </a:lnTo>
                    <a:lnTo>
                      <a:pt x="1416" y="1227"/>
                    </a:lnTo>
                    <a:lnTo>
                      <a:pt x="1419" y="410"/>
                    </a:lnTo>
                    <a:close/>
                  </a:path>
                </a:pathLst>
              </a:custGeom>
              <a:solidFill>
                <a:schemeClr val="accent1"/>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97" name="Freeform: Shape 514">
                <a:extLst>
                  <a:ext uri="{FF2B5EF4-FFF2-40B4-BE49-F238E27FC236}">
                    <a16:creationId xmlns:a16="http://schemas.microsoft.com/office/drawing/2014/main" id="{D70F7BD3-0077-C2ED-D19B-13EE9B7BEB81}"/>
                  </a:ext>
                </a:extLst>
              </p:cNvPr>
              <p:cNvSpPr/>
              <p:nvPr/>
            </p:nvSpPr>
            <p:spPr>
              <a:xfrm>
                <a:off x="11750312" y="3797090"/>
                <a:ext cx="882021" cy="1527340"/>
              </a:xfrm>
              <a:custGeom>
                <a:avLst/>
                <a:gdLst/>
                <a:ahLst/>
                <a:cxnLst>
                  <a:cxn ang="3cd4">
                    <a:pos x="hc" y="t"/>
                  </a:cxn>
                  <a:cxn ang="cd2">
                    <a:pos x="l" y="vc"/>
                  </a:cxn>
                  <a:cxn ang="cd4">
                    <a:pos x="hc" y="b"/>
                  </a:cxn>
                  <a:cxn ang="0">
                    <a:pos x="r" y="vc"/>
                  </a:cxn>
                </a:cxnLst>
                <a:rect l="l" t="t" r="r" b="b"/>
                <a:pathLst>
                  <a:path w="709" h="1227">
                    <a:moveTo>
                      <a:pt x="709" y="0"/>
                    </a:moveTo>
                    <a:lnTo>
                      <a:pt x="706" y="817"/>
                    </a:lnTo>
                    <a:lnTo>
                      <a:pt x="0" y="1227"/>
                    </a:lnTo>
                    <a:lnTo>
                      <a:pt x="3"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98" name="Freeform: Shape 515">
                <a:extLst>
                  <a:ext uri="{FF2B5EF4-FFF2-40B4-BE49-F238E27FC236}">
                    <a16:creationId xmlns:a16="http://schemas.microsoft.com/office/drawing/2014/main" id="{6A245654-47D8-C507-0CB1-42CC3EA16C28}"/>
                  </a:ext>
                </a:extLst>
              </p:cNvPr>
              <p:cNvSpPr/>
              <p:nvPr/>
            </p:nvSpPr>
            <p:spPr>
              <a:xfrm>
                <a:off x="10865797" y="3797090"/>
                <a:ext cx="887004" cy="1527340"/>
              </a:xfrm>
              <a:custGeom>
                <a:avLst/>
                <a:gdLst/>
                <a:ahLst/>
                <a:cxnLst>
                  <a:cxn ang="3cd4">
                    <a:pos x="hc" y="t"/>
                  </a:cxn>
                  <a:cxn ang="cd2">
                    <a:pos x="l" y="vc"/>
                  </a:cxn>
                  <a:cxn ang="cd4">
                    <a:pos x="hc" y="b"/>
                  </a:cxn>
                  <a:cxn ang="0">
                    <a:pos x="r" y="vc"/>
                  </a:cxn>
                </a:cxnLst>
                <a:rect l="l" t="t" r="r" b="b"/>
                <a:pathLst>
                  <a:path w="713" h="1227">
                    <a:moveTo>
                      <a:pt x="713" y="410"/>
                    </a:moveTo>
                    <a:lnTo>
                      <a:pt x="710" y="1227"/>
                    </a:lnTo>
                    <a:lnTo>
                      <a:pt x="0" y="817"/>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grpSp>
      <p:grpSp>
        <p:nvGrpSpPr>
          <p:cNvPr id="215" name="Group 214">
            <a:extLst>
              <a:ext uri="{FF2B5EF4-FFF2-40B4-BE49-F238E27FC236}">
                <a16:creationId xmlns:a16="http://schemas.microsoft.com/office/drawing/2014/main" id="{329D3708-A47B-12F1-8ACF-258B564384EB}"/>
              </a:ext>
            </a:extLst>
          </p:cNvPr>
          <p:cNvGrpSpPr/>
          <p:nvPr/>
        </p:nvGrpSpPr>
        <p:grpSpPr>
          <a:xfrm>
            <a:off x="723662" y="3319956"/>
            <a:ext cx="1845315" cy="619362"/>
            <a:chOff x="724469" y="2531190"/>
            <a:chExt cx="1845315" cy="619362"/>
          </a:xfrm>
        </p:grpSpPr>
        <p:sp>
          <p:nvSpPr>
            <p:cNvPr id="217" name="Rounded Rectangle 216">
              <a:extLst>
                <a:ext uri="{FF2B5EF4-FFF2-40B4-BE49-F238E27FC236}">
                  <a16:creationId xmlns:a16="http://schemas.microsoft.com/office/drawing/2014/main" id="{9EAB6276-0EA2-B91C-FE9E-CAA6BE82C6E7}"/>
                </a:ext>
              </a:extLst>
            </p:cNvPr>
            <p:cNvSpPr/>
            <p:nvPr/>
          </p:nvSpPr>
          <p:spPr>
            <a:xfrm>
              <a:off x="724469" y="2531190"/>
              <a:ext cx="1845315" cy="619362"/>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Bootstrap 2</a:t>
              </a:r>
            </a:p>
          </p:txBody>
        </p:sp>
        <p:grpSp>
          <p:nvGrpSpPr>
            <p:cNvPr id="219" name="Group 218">
              <a:extLst>
                <a:ext uri="{FF2B5EF4-FFF2-40B4-BE49-F238E27FC236}">
                  <a16:creationId xmlns:a16="http://schemas.microsoft.com/office/drawing/2014/main" id="{35EC6698-D89D-C56A-90DA-B01061958C7F}"/>
                </a:ext>
              </a:extLst>
            </p:cNvPr>
            <p:cNvGrpSpPr/>
            <p:nvPr/>
          </p:nvGrpSpPr>
          <p:grpSpPr>
            <a:xfrm>
              <a:off x="837726" y="2620667"/>
              <a:ext cx="381723" cy="440407"/>
              <a:chOff x="10865797" y="3286316"/>
              <a:chExt cx="1766536" cy="2038115"/>
            </a:xfrm>
          </p:grpSpPr>
          <p:sp>
            <p:nvSpPr>
              <p:cNvPr id="220" name="Freeform: Shape 513">
                <a:extLst>
                  <a:ext uri="{FF2B5EF4-FFF2-40B4-BE49-F238E27FC236}">
                    <a16:creationId xmlns:a16="http://schemas.microsoft.com/office/drawing/2014/main" id="{C9F3ACAC-0E56-1A0A-518A-0A0731A166EB}"/>
                  </a:ext>
                </a:extLst>
              </p:cNvPr>
              <p:cNvSpPr/>
              <p:nvPr/>
            </p:nvSpPr>
            <p:spPr>
              <a:xfrm>
                <a:off x="10865797" y="3286316"/>
                <a:ext cx="1766533" cy="2038115"/>
              </a:xfrm>
              <a:custGeom>
                <a:avLst/>
                <a:gdLst/>
                <a:ahLst/>
                <a:cxnLst>
                  <a:cxn ang="3cd4">
                    <a:pos x="hc" y="t"/>
                  </a:cxn>
                  <a:cxn ang="cd2">
                    <a:pos x="l" y="vc"/>
                  </a:cxn>
                  <a:cxn ang="cd4">
                    <a:pos x="hc" y="b"/>
                  </a:cxn>
                  <a:cxn ang="0">
                    <a:pos x="r" y="vc"/>
                  </a:cxn>
                </a:cxnLst>
                <a:rect l="l" t="t" r="r" b="b"/>
                <a:pathLst>
                  <a:path w="1419" h="1637">
                    <a:moveTo>
                      <a:pt x="708" y="0"/>
                    </a:moveTo>
                    <a:lnTo>
                      <a:pt x="2" y="410"/>
                    </a:lnTo>
                    <a:lnTo>
                      <a:pt x="0" y="1227"/>
                    </a:lnTo>
                    <a:lnTo>
                      <a:pt x="710" y="1637"/>
                    </a:lnTo>
                    <a:lnTo>
                      <a:pt x="1416" y="1227"/>
                    </a:lnTo>
                    <a:lnTo>
                      <a:pt x="1419" y="410"/>
                    </a:lnTo>
                    <a:close/>
                  </a:path>
                </a:pathLst>
              </a:custGeom>
              <a:solidFill>
                <a:schemeClr val="accent1"/>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22" name="Freeform: Shape 514">
                <a:extLst>
                  <a:ext uri="{FF2B5EF4-FFF2-40B4-BE49-F238E27FC236}">
                    <a16:creationId xmlns:a16="http://schemas.microsoft.com/office/drawing/2014/main" id="{CCA22EA1-0080-B1F7-377D-9CCA58AFC34C}"/>
                  </a:ext>
                </a:extLst>
              </p:cNvPr>
              <p:cNvSpPr/>
              <p:nvPr/>
            </p:nvSpPr>
            <p:spPr>
              <a:xfrm>
                <a:off x="11750312" y="3797090"/>
                <a:ext cx="882021" cy="1527340"/>
              </a:xfrm>
              <a:custGeom>
                <a:avLst/>
                <a:gdLst/>
                <a:ahLst/>
                <a:cxnLst>
                  <a:cxn ang="3cd4">
                    <a:pos x="hc" y="t"/>
                  </a:cxn>
                  <a:cxn ang="cd2">
                    <a:pos x="l" y="vc"/>
                  </a:cxn>
                  <a:cxn ang="cd4">
                    <a:pos x="hc" y="b"/>
                  </a:cxn>
                  <a:cxn ang="0">
                    <a:pos x="r" y="vc"/>
                  </a:cxn>
                </a:cxnLst>
                <a:rect l="l" t="t" r="r" b="b"/>
                <a:pathLst>
                  <a:path w="709" h="1227">
                    <a:moveTo>
                      <a:pt x="709" y="0"/>
                    </a:moveTo>
                    <a:lnTo>
                      <a:pt x="706" y="817"/>
                    </a:lnTo>
                    <a:lnTo>
                      <a:pt x="0" y="1227"/>
                    </a:lnTo>
                    <a:lnTo>
                      <a:pt x="3"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24" name="Freeform: Shape 515">
                <a:extLst>
                  <a:ext uri="{FF2B5EF4-FFF2-40B4-BE49-F238E27FC236}">
                    <a16:creationId xmlns:a16="http://schemas.microsoft.com/office/drawing/2014/main" id="{A1DE792F-E345-1A94-FA15-73DCE3FD8244}"/>
                  </a:ext>
                </a:extLst>
              </p:cNvPr>
              <p:cNvSpPr/>
              <p:nvPr/>
            </p:nvSpPr>
            <p:spPr>
              <a:xfrm>
                <a:off x="10865797" y="3797090"/>
                <a:ext cx="887004" cy="1527340"/>
              </a:xfrm>
              <a:custGeom>
                <a:avLst/>
                <a:gdLst/>
                <a:ahLst/>
                <a:cxnLst>
                  <a:cxn ang="3cd4">
                    <a:pos x="hc" y="t"/>
                  </a:cxn>
                  <a:cxn ang="cd2">
                    <a:pos x="l" y="vc"/>
                  </a:cxn>
                  <a:cxn ang="cd4">
                    <a:pos x="hc" y="b"/>
                  </a:cxn>
                  <a:cxn ang="0">
                    <a:pos x="r" y="vc"/>
                  </a:cxn>
                </a:cxnLst>
                <a:rect l="l" t="t" r="r" b="b"/>
                <a:pathLst>
                  <a:path w="713" h="1227">
                    <a:moveTo>
                      <a:pt x="713" y="410"/>
                    </a:moveTo>
                    <a:lnTo>
                      <a:pt x="710" y="1227"/>
                    </a:lnTo>
                    <a:lnTo>
                      <a:pt x="0" y="817"/>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grpSp>
      <p:grpSp>
        <p:nvGrpSpPr>
          <p:cNvPr id="226" name="Group 225">
            <a:extLst>
              <a:ext uri="{FF2B5EF4-FFF2-40B4-BE49-F238E27FC236}">
                <a16:creationId xmlns:a16="http://schemas.microsoft.com/office/drawing/2014/main" id="{CD8D8194-52AB-C3F7-5BE5-71DC255D8882}"/>
              </a:ext>
            </a:extLst>
          </p:cNvPr>
          <p:cNvGrpSpPr/>
          <p:nvPr/>
        </p:nvGrpSpPr>
        <p:grpSpPr>
          <a:xfrm>
            <a:off x="719776" y="4302683"/>
            <a:ext cx="1845315" cy="619362"/>
            <a:chOff x="724469" y="2531190"/>
            <a:chExt cx="1845315" cy="619362"/>
          </a:xfrm>
        </p:grpSpPr>
        <p:sp>
          <p:nvSpPr>
            <p:cNvPr id="227" name="Rounded Rectangle 226">
              <a:extLst>
                <a:ext uri="{FF2B5EF4-FFF2-40B4-BE49-F238E27FC236}">
                  <a16:creationId xmlns:a16="http://schemas.microsoft.com/office/drawing/2014/main" id="{191C2682-2099-CCB6-4F81-D79C4C5126EE}"/>
                </a:ext>
              </a:extLst>
            </p:cNvPr>
            <p:cNvSpPr/>
            <p:nvPr/>
          </p:nvSpPr>
          <p:spPr>
            <a:xfrm>
              <a:off x="724469" y="2531190"/>
              <a:ext cx="1845315" cy="619362"/>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Bootstrap 3</a:t>
              </a:r>
            </a:p>
          </p:txBody>
        </p:sp>
        <p:grpSp>
          <p:nvGrpSpPr>
            <p:cNvPr id="228" name="Group 227">
              <a:extLst>
                <a:ext uri="{FF2B5EF4-FFF2-40B4-BE49-F238E27FC236}">
                  <a16:creationId xmlns:a16="http://schemas.microsoft.com/office/drawing/2014/main" id="{A4AD6CC4-D04C-71DE-3CE4-B6384F8DE505}"/>
                </a:ext>
              </a:extLst>
            </p:cNvPr>
            <p:cNvGrpSpPr/>
            <p:nvPr/>
          </p:nvGrpSpPr>
          <p:grpSpPr>
            <a:xfrm>
              <a:off x="837726" y="2620667"/>
              <a:ext cx="381723" cy="440407"/>
              <a:chOff x="10865797" y="3286316"/>
              <a:chExt cx="1766536" cy="2038115"/>
            </a:xfrm>
          </p:grpSpPr>
          <p:sp>
            <p:nvSpPr>
              <p:cNvPr id="232" name="Freeform: Shape 513">
                <a:extLst>
                  <a:ext uri="{FF2B5EF4-FFF2-40B4-BE49-F238E27FC236}">
                    <a16:creationId xmlns:a16="http://schemas.microsoft.com/office/drawing/2014/main" id="{F5F865BF-01CD-795A-F9DE-A0E77532D3BD}"/>
                  </a:ext>
                </a:extLst>
              </p:cNvPr>
              <p:cNvSpPr/>
              <p:nvPr/>
            </p:nvSpPr>
            <p:spPr>
              <a:xfrm>
                <a:off x="10865797" y="3286316"/>
                <a:ext cx="1766533" cy="2038115"/>
              </a:xfrm>
              <a:custGeom>
                <a:avLst/>
                <a:gdLst/>
                <a:ahLst/>
                <a:cxnLst>
                  <a:cxn ang="3cd4">
                    <a:pos x="hc" y="t"/>
                  </a:cxn>
                  <a:cxn ang="cd2">
                    <a:pos x="l" y="vc"/>
                  </a:cxn>
                  <a:cxn ang="cd4">
                    <a:pos x="hc" y="b"/>
                  </a:cxn>
                  <a:cxn ang="0">
                    <a:pos x="r" y="vc"/>
                  </a:cxn>
                </a:cxnLst>
                <a:rect l="l" t="t" r="r" b="b"/>
                <a:pathLst>
                  <a:path w="1419" h="1637">
                    <a:moveTo>
                      <a:pt x="708" y="0"/>
                    </a:moveTo>
                    <a:lnTo>
                      <a:pt x="2" y="410"/>
                    </a:lnTo>
                    <a:lnTo>
                      <a:pt x="0" y="1227"/>
                    </a:lnTo>
                    <a:lnTo>
                      <a:pt x="710" y="1637"/>
                    </a:lnTo>
                    <a:lnTo>
                      <a:pt x="1416" y="1227"/>
                    </a:lnTo>
                    <a:lnTo>
                      <a:pt x="1419" y="410"/>
                    </a:lnTo>
                    <a:close/>
                  </a:path>
                </a:pathLst>
              </a:custGeom>
              <a:solidFill>
                <a:schemeClr val="accent1"/>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34" name="Freeform: Shape 514">
                <a:extLst>
                  <a:ext uri="{FF2B5EF4-FFF2-40B4-BE49-F238E27FC236}">
                    <a16:creationId xmlns:a16="http://schemas.microsoft.com/office/drawing/2014/main" id="{6CAA9859-2603-80A8-05A9-FD4BC01B9B02}"/>
                  </a:ext>
                </a:extLst>
              </p:cNvPr>
              <p:cNvSpPr/>
              <p:nvPr/>
            </p:nvSpPr>
            <p:spPr>
              <a:xfrm>
                <a:off x="11750312" y="3797090"/>
                <a:ext cx="882021" cy="1527340"/>
              </a:xfrm>
              <a:custGeom>
                <a:avLst/>
                <a:gdLst/>
                <a:ahLst/>
                <a:cxnLst>
                  <a:cxn ang="3cd4">
                    <a:pos x="hc" y="t"/>
                  </a:cxn>
                  <a:cxn ang="cd2">
                    <a:pos x="l" y="vc"/>
                  </a:cxn>
                  <a:cxn ang="cd4">
                    <a:pos x="hc" y="b"/>
                  </a:cxn>
                  <a:cxn ang="0">
                    <a:pos x="r" y="vc"/>
                  </a:cxn>
                </a:cxnLst>
                <a:rect l="l" t="t" r="r" b="b"/>
                <a:pathLst>
                  <a:path w="709" h="1227">
                    <a:moveTo>
                      <a:pt x="709" y="0"/>
                    </a:moveTo>
                    <a:lnTo>
                      <a:pt x="706" y="817"/>
                    </a:lnTo>
                    <a:lnTo>
                      <a:pt x="0" y="1227"/>
                    </a:lnTo>
                    <a:lnTo>
                      <a:pt x="3"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36" name="Freeform: Shape 515">
                <a:extLst>
                  <a:ext uri="{FF2B5EF4-FFF2-40B4-BE49-F238E27FC236}">
                    <a16:creationId xmlns:a16="http://schemas.microsoft.com/office/drawing/2014/main" id="{5B7B3D51-1A18-28BA-5E58-4A4E5D04A17D}"/>
                  </a:ext>
                </a:extLst>
              </p:cNvPr>
              <p:cNvSpPr/>
              <p:nvPr/>
            </p:nvSpPr>
            <p:spPr>
              <a:xfrm>
                <a:off x="10865797" y="3797090"/>
                <a:ext cx="887004" cy="1527340"/>
              </a:xfrm>
              <a:custGeom>
                <a:avLst/>
                <a:gdLst/>
                <a:ahLst/>
                <a:cxnLst>
                  <a:cxn ang="3cd4">
                    <a:pos x="hc" y="t"/>
                  </a:cxn>
                  <a:cxn ang="cd2">
                    <a:pos x="l" y="vc"/>
                  </a:cxn>
                  <a:cxn ang="cd4">
                    <a:pos x="hc" y="b"/>
                  </a:cxn>
                  <a:cxn ang="0">
                    <a:pos x="r" y="vc"/>
                  </a:cxn>
                </a:cxnLst>
                <a:rect l="l" t="t" r="r" b="b"/>
                <a:pathLst>
                  <a:path w="713" h="1227">
                    <a:moveTo>
                      <a:pt x="713" y="410"/>
                    </a:moveTo>
                    <a:lnTo>
                      <a:pt x="710" y="1227"/>
                    </a:lnTo>
                    <a:lnTo>
                      <a:pt x="0" y="817"/>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grpSp>
      <p:grpSp>
        <p:nvGrpSpPr>
          <p:cNvPr id="239" name="Group 238">
            <a:extLst>
              <a:ext uri="{FF2B5EF4-FFF2-40B4-BE49-F238E27FC236}">
                <a16:creationId xmlns:a16="http://schemas.microsoft.com/office/drawing/2014/main" id="{3818E5EF-385C-0D48-054D-3B128FB22510}"/>
              </a:ext>
            </a:extLst>
          </p:cNvPr>
          <p:cNvGrpSpPr/>
          <p:nvPr/>
        </p:nvGrpSpPr>
        <p:grpSpPr>
          <a:xfrm>
            <a:off x="724469" y="5177693"/>
            <a:ext cx="1845315" cy="619362"/>
            <a:chOff x="724469" y="2531190"/>
            <a:chExt cx="1845315" cy="619362"/>
          </a:xfrm>
        </p:grpSpPr>
        <p:sp>
          <p:nvSpPr>
            <p:cNvPr id="241" name="Rounded Rectangle 240">
              <a:extLst>
                <a:ext uri="{FF2B5EF4-FFF2-40B4-BE49-F238E27FC236}">
                  <a16:creationId xmlns:a16="http://schemas.microsoft.com/office/drawing/2014/main" id="{DD13EF63-866D-3AD0-4232-AD0E75AE2B9F}"/>
                </a:ext>
              </a:extLst>
            </p:cNvPr>
            <p:cNvSpPr/>
            <p:nvPr/>
          </p:nvSpPr>
          <p:spPr>
            <a:xfrm>
              <a:off x="724469" y="2531190"/>
              <a:ext cx="1845315" cy="619362"/>
            </a:xfrm>
            <a:prstGeom prst="round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Bootstrap 4</a:t>
              </a:r>
            </a:p>
          </p:txBody>
        </p:sp>
        <p:grpSp>
          <p:nvGrpSpPr>
            <p:cNvPr id="242" name="Group 241">
              <a:extLst>
                <a:ext uri="{FF2B5EF4-FFF2-40B4-BE49-F238E27FC236}">
                  <a16:creationId xmlns:a16="http://schemas.microsoft.com/office/drawing/2014/main" id="{7E7C530E-FC6F-B97E-3FC8-6ACA75079D1E}"/>
                </a:ext>
              </a:extLst>
            </p:cNvPr>
            <p:cNvGrpSpPr/>
            <p:nvPr/>
          </p:nvGrpSpPr>
          <p:grpSpPr>
            <a:xfrm>
              <a:off x="837726" y="2620667"/>
              <a:ext cx="381723" cy="440407"/>
              <a:chOff x="10865797" y="3286316"/>
              <a:chExt cx="1766536" cy="2038115"/>
            </a:xfrm>
          </p:grpSpPr>
          <p:sp>
            <p:nvSpPr>
              <p:cNvPr id="243" name="Freeform: Shape 513">
                <a:extLst>
                  <a:ext uri="{FF2B5EF4-FFF2-40B4-BE49-F238E27FC236}">
                    <a16:creationId xmlns:a16="http://schemas.microsoft.com/office/drawing/2014/main" id="{A3D68F03-9A8F-9955-1A3E-76621520A765}"/>
                  </a:ext>
                </a:extLst>
              </p:cNvPr>
              <p:cNvSpPr/>
              <p:nvPr/>
            </p:nvSpPr>
            <p:spPr>
              <a:xfrm>
                <a:off x="10865797" y="3286316"/>
                <a:ext cx="1766533" cy="2038115"/>
              </a:xfrm>
              <a:custGeom>
                <a:avLst/>
                <a:gdLst/>
                <a:ahLst/>
                <a:cxnLst>
                  <a:cxn ang="3cd4">
                    <a:pos x="hc" y="t"/>
                  </a:cxn>
                  <a:cxn ang="cd2">
                    <a:pos x="l" y="vc"/>
                  </a:cxn>
                  <a:cxn ang="cd4">
                    <a:pos x="hc" y="b"/>
                  </a:cxn>
                  <a:cxn ang="0">
                    <a:pos x="r" y="vc"/>
                  </a:cxn>
                </a:cxnLst>
                <a:rect l="l" t="t" r="r" b="b"/>
                <a:pathLst>
                  <a:path w="1419" h="1637">
                    <a:moveTo>
                      <a:pt x="708" y="0"/>
                    </a:moveTo>
                    <a:lnTo>
                      <a:pt x="2" y="410"/>
                    </a:lnTo>
                    <a:lnTo>
                      <a:pt x="0" y="1227"/>
                    </a:lnTo>
                    <a:lnTo>
                      <a:pt x="710" y="1637"/>
                    </a:lnTo>
                    <a:lnTo>
                      <a:pt x="1416" y="1227"/>
                    </a:lnTo>
                    <a:lnTo>
                      <a:pt x="1419" y="410"/>
                    </a:lnTo>
                    <a:close/>
                  </a:path>
                </a:pathLst>
              </a:custGeom>
              <a:solidFill>
                <a:schemeClr val="accent1"/>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44" name="Freeform: Shape 514">
                <a:extLst>
                  <a:ext uri="{FF2B5EF4-FFF2-40B4-BE49-F238E27FC236}">
                    <a16:creationId xmlns:a16="http://schemas.microsoft.com/office/drawing/2014/main" id="{EE28DDDF-E064-24A4-3E61-F27B4B1C1F2A}"/>
                  </a:ext>
                </a:extLst>
              </p:cNvPr>
              <p:cNvSpPr/>
              <p:nvPr/>
            </p:nvSpPr>
            <p:spPr>
              <a:xfrm>
                <a:off x="11750312" y="3797090"/>
                <a:ext cx="882021" cy="1527340"/>
              </a:xfrm>
              <a:custGeom>
                <a:avLst/>
                <a:gdLst/>
                <a:ahLst/>
                <a:cxnLst>
                  <a:cxn ang="3cd4">
                    <a:pos x="hc" y="t"/>
                  </a:cxn>
                  <a:cxn ang="cd2">
                    <a:pos x="l" y="vc"/>
                  </a:cxn>
                  <a:cxn ang="cd4">
                    <a:pos x="hc" y="b"/>
                  </a:cxn>
                  <a:cxn ang="0">
                    <a:pos x="r" y="vc"/>
                  </a:cxn>
                </a:cxnLst>
                <a:rect l="l" t="t" r="r" b="b"/>
                <a:pathLst>
                  <a:path w="709" h="1227">
                    <a:moveTo>
                      <a:pt x="709" y="0"/>
                    </a:moveTo>
                    <a:lnTo>
                      <a:pt x="706" y="817"/>
                    </a:lnTo>
                    <a:lnTo>
                      <a:pt x="0" y="1227"/>
                    </a:lnTo>
                    <a:lnTo>
                      <a:pt x="3" y="410"/>
                    </a:lnTo>
                    <a:close/>
                  </a:path>
                </a:pathLst>
              </a:custGeom>
              <a:solidFill>
                <a:srgbClr val="FFFFFF">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sp>
            <p:nvSpPr>
              <p:cNvPr id="245" name="Freeform: Shape 515">
                <a:extLst>
                  <a:ext uri="{FF2B5EF4-FFF2-40B4-BE49-F238E27FC236}">
                    <a16:creationId xmlns:a16="http://schemas.microsoft.com/office/drawing/2014/main" id="{460FFFA8-8DAC-655E-2200-CADDCAFC2A01}"/>
                  </a:ext>
                </a:extLst>
              </p:cNvPr>
              <p:cNvSpPr/>
              <p:nvPr/>
            </p:nvSpPr>
            <p:spPr>
              <a:xfrm>
                <a:off x="10865797" y="3797090"/>
                <a:ext cx="887004" cy="1527340"/>
              </a:xfrm>
              <a:custGeom>
                <a:avLst/>
                <a:gdLst/>
                <a:ahLst/>
                <a:cxnLst>
                  <a:cxn ang="3cd4">
                    <a:pos x="hc" y="t"/>
                  </a:cxn>
                  <a:cxn ang="cd2">
                    <a:pos x="l" y="vc"/>
                  </a:cxn>
                  <a:cxn ang="cd4">
                    <a:pos x="hc" y="b"/>
                  </a:cxn>
                  <a:cxn ang="0">
                    <a:pos x="r" y="vc"/>
                  </a:cxn>
                </a:cxnLst>
                <a:rect l="l" t="t" r="r" b="b"/>
                <a:pathLst>
                  <a:path w="713" h="1227">
                    <a:moveTo>
                      <a:pt x="713" y="410"/>
                    </a:moveTo>
                    <a:lnTo>
                      <a:pt x="710" y="1227"/>
                    </a:lnTo>
                    <a:lnTo>
                      <a:pt x="0" y="817"/>
                    </a:lnTo>
                    <a:lnTo>
                      <a:pt x="2" y="0"/>
                    </a:lnTo>
                    <a:close/>
                  </a:path>
                </a:pathLst>
              </a:custGeom>
              <a:solidFill>
                <a:srgbClr val="121143">
                  <a:alpha val="20000"/>
                </a:srgbClr>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Microsoft YaHei" pitchFamily="2"/>
                  <a:cs typeface="Lucida Sans" pitchFamily="2"/>
                </a:endParaRPr>
              </a:p>
            </p:txBody>
          </p:sp>
        </p:grpSp>
      </p:grpSp>
      <p:cxnSp>
        <p:nvCxnSpPr>
          <p:cNvPr id="126" name="Straight Arrow Connector 125">
            <a:extLst>
              <a:ext uri="{FF2B5EF4-FFF2-40B4-BE49-F238E27FC236}">
                <a16:creationId xmlns:a16="http://schemas.microsoft.com/office/drawing/2014/main" id="{E46341A3-A118-C5DF-624D-43C3D38B9049}"/>
              </a:ext>
            </a:extLst>
          </p:cNvPr>
          <p:cNvCxnSpPr>
            <a:cxnSpLocks/>
          </p:cNvCxnSpPr>
          <p:nvPr/>
        </p:nvCxnSpPr>
        <p:spPr>
          <a:xfrm>
            <a:off x="7543776" y="2729536"/>
            <a:ext cx="723958" cy="629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C5025033-01C0-373B-24CD-DB2FFF7E2FD6}"/>
              </a:ext>
            </a:extLst>
          </p:cNvPr>
          <p:cNvCxnSpPr>
            <a:cxnSpLocks/>
          </p:cNvCxnSpPr>
          <p:nvPr/>
        </p:nvCxnSpPr>
        <p:spPr>
          <a:xfrm>
            <a:off x="7560817" y="3640736"/>
            <a:ext cx="509749" cy="3311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5F4444D2-40EF-64BE-792A-75FAA9939BCD}"/>
              </a:ext>
            </a:extLst>
          </p:cNvPr>
          <p:cNvCxnSpPr>
            <a:cxnSpLocks/>
          </p:cNvCxnSpPr>
          <p:nvPr/>
        </p:nvCxnSpPr>
        <p:spPr>
          <a:xfrm flipV="1">
            <a:off x="7539601" y="4191946"/>
            <a:ext cx="530965" cy="424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3192C345-69FE-44A3-2602-131E600B6132}"/>
              </a:ext>
            </a:extLst>
          </p:cNvPr>
          <p:cNvCxnSpPr>
            <a:cxnSpLocks/>
          </p:cNvCxnSpPr>
          <p:nvPr/>
        </p:nvCxnSpPr>
        <p:spPr>
          <a:xfrm flipV="1">
            <a:off x="7570690" y="4519633"/>
            <a:ext cx="717945" cy="9661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0" name="Rounded Rectangle 129">
                <a:extLst>
                  <a:ext uri="{FF2B5EF4-FFF2-40B4-BE49-F238E27FC236}">
                    <a16:creationId xmlns:a16="http://schemas.microsoft.com/office/drawing/2014/main" id="{113660B3-D12A-7E21-07B8-488080495876}"/>
                  </a:ext>
                </a:extLst>
              </p:cNvPr>
              <p:cNvSpPr/>
              <p:nvPr/>
            </p:nvSpPr>
            <p:spPr>
              <a:xfrm>
                <a:off x="8205210" y="3429000"/>
                <a:ext cx="3305718" cy="997570"/>
              </a:xfrm>
              <a:prstGeom prst="roundRect">
                <a:avLst/>
              </a:prstGeom>
              <a:solidFill>
                <a:schemeClr val="accent5">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i="1" smtClean="0">
                              <a:solidFill>
                                <a:schemeClr val="tx1"/>
                              </a:solidFill>
                              <a:latin typeface="Cambria Math" panose="02040503050406030204" pitchFamily="18" charset="0"/>
                            </a:rPr>
                          </m:ctrlPr>
                        </m:fPr>
                        <m:num>
                          <m:d>
                            <m:dPr>
                              <m:ctrlPr>
                                <a:rPr lang="en-US" i="1">
                                  <a:solidFill>
                                    <a:schemeClr val="tx1"/>
                                  </a:solidFill>
                                  <a:latin typeface="Cambria Math" panose="02040503050406030204" pitchFamily="18" charset="0"/>
                                </a:rPr>
                              </m:ctrlPr>
                            </m:dPr>
                            <m:e>
                              <m:sSub>
                                <m:sSubPr>
                                  <m:ctrlPr>
                                    <a:rPr lang="en-US" i="1" smtClean="0">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𝑇</m:t>
                                  </m:r>
                                  <m:r>
                                    <a:rPr lang="en-US" i="1">
                                      <a:solidFill>
                                        <a:schemeClr val="tx1"/>
                                      </a:solidFill>
                                      <a:latin typeface="Cambria Math" panose="02040503050406030204" pitchFamily="18" charset="0"/>
                                    </a:rPr>
                                    <m:t>1</m:t>
                                  </m:r>
                                </m:sub>
                              </m:sSub>
                              <m:r>
                                <m:rPr>
                                  <m:nor/>
                                </m:rPr>
                                <a:rPr lang="en-US" dirty="0">
                                  <a:solidFill>
                                    <a:schemeClr val="tx1"/>
                                  </a:solidFill>
                                </a:rPr>
                                <m:t> </m:t>
                              </m:r>
                              <m:r>
                                <m:rPr>
                                  <m:nor/>
                                </m:rPr>
                                <a:rPr lang="en-US">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𝑇</m:t>
                                  </m:r>
                                  <m:r>
                                    <a:rPr lang="en-US" b="0" i="1" smtClean="0">
                                      <a:solidFill>
                                        <a:schemeClr val="tx1"/>
                                      </a:solidFill>
                                      <a:latin typeface="Cambria Math" panose="02040503050406030204" pitchFamily="18" charset="0"/>
                                    </a:rPr>
                                    <m:t>2</m:t>
                                  </m:r>
                                </m:sub>
                              </m:sSub>
                              <m:r>
                                <a:rPr lang="en-US" b="0" i="1" smtClean="0">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𝑇</m:t>
                                  </m:r>
                                  <m:r>
                                    <a:rPr lang="en-US" b="0" i="1" smtClean="0">
                                      <a:solidFill>
                                        <a:schemeClr val="tx1"/>
                                      </a:solidFill>
                                      <a:latin typeface="Cambria Math" panose="02040503050406030204" pitchFamily="18" charset="0"/>
                                    </a:rPr>
                                    <m:t>3</m:t>
                                  </m:r>
                                </m:sub>
                              </m:sSub>
                              <m:r>
                                <a:rPr lang="en-US" b="0" i="1" smtClean="0">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𝑦</m:t>
                                      </m:r>
                                    </m:e>
                                  </m:acc>
                                </m:e>
                                <m:sub>
                                  <m:r>
                                    <a:rPr lang="en-US" i="1">
                                      <a:solidFill>
                                        <a:schemeClr val="tx1"/>
                                      </a:solidFill>
                                      <a:latin typeface="Cambria Math" panose="02040503050406030204" pitchFamily="18" charset="0"/>
                                    </a:rPr>
                                    <m:t>𝑇</m:t>
                                  </m:r>
                                  <m:r>
                                    <a:rPr lang="en-US" b="0" i="1" smtClean="0">
                                      <a:solidFill>
                                        <a:schemeClr val="tx1"/>
                                      </a:solidFill>
                                      <a:latin typeface="Cambria Math" panose="02040503050406030204" pitchFamily="18" charset="0"/>
                                    </a:rPr>
                                    <m:t>4</m:t>
                                  </m:r>
                                </m:sub>
                              </m:sSub>
                            </m:e>
                          </m:d>
                        </m:num>
                        <m:den>
                          <m:r>
                            <a:rPr lang="en-US" i="1">
                              <a:solidFill>
                                <a:schemeClr val="tx1"/>
                              </a:solidFill>
                              <a:latin typeface="Cambria Math" panose="02040503050406030204" pitchFamily="18" charset="0"/>
                            </a:rPr>
                            <m:t>4</m:t>
                          </m:r>
                        </m:den>
                      </m:f>
                    </m:oMath>
                  </m:oMathPara>
                </a14:m>
                <a:endParaRPr lang="en-US" dirty="0">
                  <a:solidFill>
                    <a:schemeClr val="tx1"/>
                  </a:solidFill>
                </a:endParaRPr>
              </a:p>
            </p:txBody>
          </p:sp>
        </mc:Choice>
        <mc:Fallback xmlns="">
          <p:sp>
            <p:nvSpPr>
              <p:cNvPr id="130" name="Rounded Rectangle 129">
                <a:extLst>
                  <a:ext uri="{FF2B5EF4-FFF2-40B4-BE49-F238E27FC236}">
                    <a16:creationId xmlns:a16="http://schemas.microsoft.com/office/drawing/2014/main" id="{113660B3-D12A-7E21-07B8-488080495876}"/>
                  </a:ext>
                </a:extLst>
              </p:cNvPr>
              <p:cNvSpPr>
                <a:spLocks noRot="1" noChangeAspect="1" noMove="1" noResize="1" noEditPoints="1" noAdjustHandles="1" noChangeArrowheads="1" noChangeShapeType="1" noTextEdit="1"/>
              </p:cNvSpPr>
              <p:nvPr/>
            </p:nvSpPr>
            <p:spPr>
              <a:xfrm>
                <a:off x="8205210" y="3429000"/>
                <a:ext cx="3305718" cy="997570"/>
              </a:xfrm>
              <a:prstGeom prst="roundRect">
                <a:avLst/>
              </a:prstGeom>
              <a:blipFill>
                <a:blip r:embed="rId7"/>
                <a:stretch>
                  <a:fillRect/>
                </a:stretch>
              </a:blipFill>
              <a:ln>
                <a:solidFill>
                  <a:schemeClr val="accent5"/>
                </a:solidFill>
              </a:ln>
            </p:spPr>
            <p:txBody>
              <a:bodyPr/>
              <a:lstStyle/>
              <a:p>
                <a:r>
                  <a:rPr lang="en-US">
                    <a:noFill/>
                  </a:rPr>
                  <a:t> </a:t>
                </a:r>
              </a:p>
            </p:txBody>
          </p:sp>
        </mc:Fallback>
      </mc:AlternateContent>
    </p:spTree>
    <p:extLst>
      <p:ext uri="{BB962C8B-B14F-4D97-AF65-F5344CB8AC3E}">
        <p14:creationId xmlns:p14="http://schemas.microsoft.com/office/powerpoint/2010/main" val="21686507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A96777-46CB-9794-7826-3C1389BAC05A}"/>
              </a:ext>
            </a:extLst>
          </p:cNvPr>
          <p:cNvSpPr>
            <a:spLocks noGrp="1"/>
          </p:cNvSpPr>
          <p:nvPr>
            <p:ph type="title"/>
          </p:nvPr>
        </p:nvSpPr>
        <p:spPr/>
        <p:txBody>
          <a:bodyPr/>
          <a:lstStyle/>
          <a:p>
            <a:r>
              <a:rPr lang="en-US" dirty="0"/>
              <a:t>Unit 4</a:t>
            </a:r>
          </a:p>
        </p:txBody>
      </p:sp>
      <p:sp>
        <p:nvSpPr>
          <p:cNvPr id="4" name="Text Placeholder 3">
            <a:extLst>
              <a:ext uri="{FF2B5EF4-FFF2-40B4-BE49-F238E27FC236}">
                <a16:creationId xmlns:a16="http://schemas.microsoft.com/office/drawing/2014/main" id="{45907F95-E1AF-7A69-4215-2F361617AEE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9708912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15A8A-F0E7-F87C-F0AB-C21AA6BC39D4}"/>
              </a:ext>
            </a:extLst>
          </p:cNvPr>
          <p:cNvSpPr>
            <a:spLocks noGrp="1"/>
          </p:cNvSpPr>
          <p:nvPr>
            <p:ph type="title"/>
          </p:nvPr>
        </p:nvSpPr>
        <p:spPr/>
        <p:txBody>
          <a:bodyPr>
            <a:noAutofit/>
          </a:bodyPr>
          <a:lstStyle/>
          <a:p>
            <a:r>
              <a:rPr lang="en-US" dirty="0"/>
              <a:t>Interpreting MSE, Part 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C8C2A17-EDEF-EC78-7A30-4C62A08F4004}"/>
                  </a:ext>
                </a:extLst>
              </p:cNvPr>
              <p:cNvSpPr>
                <a:spLocks noGrp="1"/>
              </p:cNvSpPr>
              <p:nvPr>
                <p:ph idx="1"/>
              </p:nvPr>
            </p:nvSpPr>
            <p:spPr>
              <a:xfrm>
                <a:off x="609600" y="1600203"/>
                <a:ext cx="6347712" cy="4525963"/>
              </a:xfrm>
            </p:spPr>
            <p:txBody>
              <a:bodyPr>
                <a:noAutofit/>
              </a:bodyPr>
              <a:lstStyle/>
              <a:p>
                <a:r>
                  <a:rPr lang="en-US" dirty="0"/>
                  <a:t>Answer: interpret the MSE value</a:t>
                </a:r>
              </a:p>
              <a:p>
                <a14:m>
                  <m:oMath xmlns:m="http://schemas.openxmlformats.org/officeDocument/2006/math">
                    <m:r>
                      <a:rPr lang="en-US">
                        <a:latin typeface="Cambria Math" panose="02040503050406030204" pitchFamily="18" charset="0"/>
                      </a:rPr>
                      <m:t>𝑀𝑆𝐸</m:t>
                    </m:r>
                    <m:r>
                      <a:rPr lang="en-US">
                        <a:latin typeface="Cambria Math" panose="02040503050406030204" pitchFamily="18" charset="0"/>
                      </a:rPr>
                      <m:t> </m:t>
                    </m:r>
                  </m:oMath>
                </a14:m>
                <a:r>
                  <a:rPr lang="en-US" dirty="0"/>
                  <a:t>: estimate of how variable your prediction errors are</a:t>
                </a:r>
              </a:p>
              <a:p>
                <a14:m>
                  <m:oMath xmlns:m="http://schemas.openxmlformats.org/officeDocument/2006/math">
                    <m:r>
                      <a:rPr lang="en-US" smtClean="0">
                        <a:latin typeface="Cambria Math" panose="02040503050406030204" pitchFamily="18" charset="0"/>
                      </a:rPr>
                      <m:t>𝑅𝑀𝑆𝐸</m:t>
                    </m:r>
                    <m:r>
                      <a:rPr lang="en-US" smtClean="0">
                        <a:latin typeface="Cambria Math" panose="02040503050406030204" pitchFamily="18" charset="0"/>
                      </a:rPr>
                      <m:t>=</m:t>
                    </m:r>
                    <m:rad>
                      <m:radPr>
                        <m:degHide m:val="on"/>
                        <m:ctrlPr>
                          <a:rPr lang="en-US" i="1" smtClean="0">
                            <a:latin typeface="Cambria Math" panose="02040503050406030204" pitchFamily="18" charset="0"/>
                          </a:rPr>
                        </m:ctrlPr>
                      </m:radPr>
                      <m:deg/>
                      <m:e>
                        <m:r>
                          <a:rPr lang="en-US" smtClean="0">
                            <a:latin typeface="Cambria Math" panose="02040503050406030204" pitchFamily="18" charset="0"/>
                          </a:rPr>
                          <m:t>𝑀𝑆𝐸</m:t>
                        </m:r>
                      </m:e>
                    </m:rad>
                  </m:oMath>
                </a14:m>
                <a:r>
                  <a:rPr lang="en-US" dirty="0"/>
                  <a:t> : standard deviation of your prediction errors</a:t>
                </a:r>
              </a:p>
            </p:txBody>
          </p:sp>
        </mc:Choice>
        <mc:Fallback xmlns="">
          <p:sp>
            <p:nvSpPr>
              <p:cNvPr id="3" name="Content Placeholder 2">
                <a:extLst>
                  <a:ext uri="{FF2B5EF4-FFF2-40B4-BE49-F238E27FC236}">
                    <a16:creationId xmlns:a16="http://schemas.microsoft.com/office/drawing/2014/main" id="{4C8C2A17-EDEF-EC78-7A30-4C62A08F4004}"/>
                  </a:ext>
                </a:extLst>
              </p:cNvPr>
              <p:cNvSpPr>
                <a:spLocks noGrp="1" noRot="1" noChangeAspect="1" noMove="1" noResize="1" noEditPoints="1" noAdjustHandles="1" noChangeArrowheads="1" noChangeShapeType="1" noTextEdit="1"/>
              </p:cNvSpPr>
              <p:nvPr>
                <p:ph idx="1"/>
              </p:nvPr>
            </p:nvSpPr>
            <p:spPr>
              <a:xfrm>
                <a:off x="609600" y="1600203"/>
                <a:ext cx="6347712" cy="4525963"/>
              </a:xfrm>
              <a:blipFill>
                <a:blip r:embed="rId2"/>
                <a:stretch>
                  <a:fillRect l="-2209" t="-1752" r="-2402"/>
                </a:stretch>
              </a:blipFill>
            </p:spPr>
            <p:txBody>
              <a:bodyPr/>
              <a:lstStyle/>
              <a:p>
                <a:r>
                  <a:rPr lang="en-US">
                    <a:noFill/>
                  </a:rPr>
                  <a:t> </a:t>
                </a:r>
              </a:p>
            </p:txBody>
          </p:sp>
        </mc:Fallback>
      </mc:AlternateContent>
      <p:grpSp>
        <p:nvGrpSpPr>
          <p:cNvPr id="61" name="Group 60">
            <a:extLst>
              <a:ext uri="{FF2B5EF4-FFF2-40B4-BE49-F238E27FC236}">
                <a16:creationId xmlns:a16="http://schemas.microsoft.com/office/drawing/2014/main" id="{AE4D5434-56E2-F3EF-16DE-85787ACDD761}"/>
              </a:ext>
            </a:extLst>
          </p:cNvPr>
          <p:cNvGrpSpPr/>
          <p:nvPr/>
        </p:nvGrpSpPr>
        <p:grpSpPr>
          <a:xfrm>
            <a:off x="7192200" y="1600203"/>
            <a:ext cx="4309797" cy="4139298"/>
            <a:chOff x="6949311" y="1761856"/>
            <a:chExt cx="4309797" cy="4139298"/>
          </a:xfrm>
        </p:grpSpPr>
        <p:sp>
          <p:nvSpPr>
            <p:cNvPr id="62" name="TextBox 61">
              <a:extLst>
                <a:ext uri="{FF2B5EF4-FFF2-40B4-BE49-F238E27FC236}">
                  <a16:creationId xmlns:a16="http://schemas.microsoft.com/office/drawing/2014/main" id="{2A111FB3-F447-1792-0D8C-D494DC42C7FA}"/>
                </a:ext>
              </a:extLst>
            </p:cNvPr>
            <p:cNvSpPr txBox="1"/>
            <p:nvPr/>
          </p:nvSpPr>
          <p:spPr>
            <a:xfrm rot="16200000">
              <a:off x="7335349" y="2308326"/>
              <a:ext cx="482824" cy="307777"/>
            </a:xfrm>
            <a:prstGeom prst="rect">
              <a:avLst/>
            </a:prstGeom>
            <a:noFill/>
          </p:spPr>
          <p:txBody>
            <a:bodyPr wrap="none" rtlCol="0">
              <a:noAutofit/>
            </a:bodyPr>
            <a:lstStyle/>
            <a:p>
              <a:r>
                <a:rPr lang="en-US" sz="1400" dirty="0"/>
                <a:t>250</a:t>
              </a:r>
            </a:p>
          </p:txBody>
        </p:sp>
        <p:grpSp>
          <p:nvGrpSpPr>
            <p:cNvPr id="63" name="Group 62">
              <a:extLst>
                <a:ext uri="{FF2B5EF4-FFF2-40B4-BE49-F238E27FC236}">
                  <a16:creationId xmlns:a16="http://schemas.microsoft.com/office/drawing/2014/main" id="{1D1C9B77-9633-9422-E0FF-A0BC41FE9460}"/>
                </a:ext>
              </a:extLst>
            </p:cNvPr>
            <p:cNvGrpSpPr/>
            <p:nvPr/>
          </p:nvGrpSpPr>
          <p:grpSpPr>
            <a:xfrm>
              <a:off x="7422872" y="2462215"/>
              <a:ext cx="3836236" cy="3025443"/>
              <a:chOff x="7422872" y="2462215"/>
              <a:chExt cx="3836236" cy="3025443"/>
            </a:xfrm>
          </p:grpSpPr>
          <p:grpSp>
            <p:nvGrpSpPr>
              <p:cNvPr id="67" name="Group 66">
                <a:extLst>
                  <a:ext uri="{FF2B5EF4-FFF2-40B4-BE49-F238E27FC236}">
                    <a16:creationId xmlns:a16="http://schemas.microsoft.com/office/drawing/2014/main" id="{DEEFE2B1-7656-95AF-5753-762A8AC3DDDB}"/>
                  </a:ext>
                </a:extLst>
              </p:cNvPr>
              <p:cNvGrpSpPr/>
              <p:nvPr/>
            </p:nvGrpSpPr>
            <p:grpSpPr>
              <a:xfrm>
                <a:off x="7772400" y="2462215"/>
                <a:ext cx="133348" cy="2438400"/>
                <a:chOff x="7772400" y="2462215"/>
                <a:chExt cx="133348" cy="2438400"/>
              </a:xfrm>
            </p:grpSpPr>
            <p:cxnSp>
              <p:nvCxnSpPr>
                <p:cNvPr id="95" name="Straight Connector 94">
                  <a:extLst>
                    <a:ext uri="{FF2B5EF4-FFF2-40B4-BE49-F238E27FC236}">
                      <a16:creationId xmlns:a16="http://schemas.microsoft.com/office/drawing/2014/main" id="{E7334B0D-8679-05C9-6F42-A69BAE1D8252}"/>
                    </a:ext>
                  </a:extLst>
                </p:cNvPr>
                <p:cNvCxnSpPr/>
                <p:nvPr/>
              </p:nvCxnSpPr>
              <p:spPr>
                <a:xfrm>
                  <a:off x="7905748" y="2462215"/>
                  <a:ext cx="0" cy="24384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8959E40-448E-9904-674C-FE413D286F0B}"/>
                    </a:ext>
                  </a:extLst>
                </p:cNvPr>
                <p:cNvCxnSpPr>
                  <a:cxnSpLocks/>
                </p:cNvCxnSpPr>
                <p:nvPr/>
              </p:nvCxnSpPr>
              <p:spPr>
                <a:xfrm flipH="1">
                  <a:off x="7772400" y="2462215"/>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7CB631C-DA92-8D72-37E0-EF02685EB91F}"/>
                    </a:ext>
                  </a:extLst>
                </p:cNvPr>
                <p:cNvCxnSpPr>
                  <a:cxnSpLocks/>
                </p:cNvCxnSpPr>
                <p:nvPr/>
              </p:nvCxnSpPr>
              <p:spPr>
                <a:xfrm flipH="1">
                  <a:off x="7772400" y="4900615"/>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432A42D8-3BF4-19CC-E37A-4A4BF57939E5}"/>
                    </a:ext>
                  </a:extLst>
                </p:cNvPr>
                <p:cNvCxnSpPr>
                  <a:cxnSpLocks/>
                </p:cNvCxnSpPr>
                <p:nvPr/>
              </p:nvCxnSpPr>
              <p:spPr>
                <a:xfrm flipH="1">
                  <a:off x="7772400" y="4419600"/>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27F1B869-DC0D-8EEF-E976-FDE60346EA29}"/>
                    </a:ext>
                  </a:extLst>
                </p:cNvPr>
                <p:cNvCxnSpPr>
                  <a:cxnSpLocks/>
                </p:cNvCxnSpPr>
                <p:nvPr/>
              </p:nvCxnSpPr>
              <p:spPr>
                <a:xfrm flipH="1">
                  <a:off x="7772400" y="3933822"/>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33503930-2A56-EE96-AD17-FF68FF6B5719}"/>
                    </a:ext>
                  </a:extLst>
                </p:cNvPr>
                <p:cNvCxnSpPr>
                  <a:cxnSpLocks/>
                </p:cNvCxnSpPr>
                <p:nvPr/>
              </p:nvCxnSpPr>
              <p:spPr>
                <a:xfrm flipH="1">
                  <a:off x="7772400" y="3443284"/>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C24CA38-20B5-6DA6-EBBA-EE1825678D4C}"/>
                    </a:ext>
                  </a:extLst>
                </p:cNvPr>
                <p:cNvCxnSpPr>
                  <a:cxnSpLocks/>
                </p:cNvCxnSpPr>
                <p:nvPr/>
              </p:nvCxnSpPr>
              <p:spPr>
                <a:xfrm flipH="1">
                  <a:off x="7772400" y="2971800"/>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8" name="Group 67">
                <a:extLst>
                  <a:ext uri="{FF2B5EF4-FFF2-40B4-BE49-F238E27FC236}">
                    <a16:creationId xmlns:a16="http://schemas.microsoft.com/office/drawing/2014/main" id="{1D0403A7-9C8E-CA5F-0C6E-6B2594D814E1}"/>
                  </a:ext>
                </a:extLst>
              </p:cNvPr>
              <p:cNvGrpSpPr/>
              <p:nvPr/>
            </p:nvGrpSpPr>
            <p:grpSpPr>
              <a:xfrm rot="16200000">
                <a:off x="9441658" y="3569489"/>
                <a:ext cx="133349" cy="2976561"/>
                <a:chOff x="8477252" y="2643984"/>
                <a:chExt cx="133349" cy="2438400"/>
              </a:xfrm>
            </p:grpSpPr>
            <p:cxnSp>
              <p:nvCxnSpPr>
                <p:cNvPr id="89" name="Straight Connector 88">
                  <a:extLst>
                    <a:ext uri="{FF2B5EF4-FFF2-40B4-BE49-F238E27FC236}">
                      <a16:creationId xmlns:a16="http://schemas.microsoft.com/office/drawing/2014/main" id="{29DB7381-16DA-5FBF-85B3-1CC379EED353}"/>
                    </a:ext>
                  </a:extLst>
                </p:cNvPr>
                <p:cNvCxnSpPr/>
                <p:nvPr/>
              </p:nvCxnSpPr>
              <p:spPr>
                <a:xfrm>
                  <a:off x="8610600" y="2643984"/>
                  <a:ext cx="0" cy="24384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CC9DAA5-E1BB-7B5A-9B8D-75E1A185F7BA}"/>
                    </a:ext>
                  </a:extLst>
                </p:cNvPr>
                <p:cNvCxnSpPr>
                  <a:cxnSpLocks/>
                </p:cNvCxnSpPr>
                <p:nvPr/>
              </p:nvCxnSpPr>
              <p:spPr>
                <a:xfrm flipH="1">
                  <a:off x="8477252" y="2643984"/>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EDD92C31-1353-C9CA-66BA-E954415CB968}"/>
                    </a:ext>
                  </a:extLst>
                </p:cNvPr>
                <p:cNvCxnSpPr>
                  <a:cxnSpLocks/>
                </p:cNvCxnSpPr>
                <p:nvPr/>
              </p:nvCxnSpPr>
              <p:spPr>
                <a:xfrm flipH="1">
                  <a:off x="8477252" y="5082384"/>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061F2D8-30DA-8EC1-BC17-40801F8A42F4}"/>
                    </a:ext>
                  </a:extLst>
                </p:cNvPr>
                <p:cNvCxnSpPr>
                  <a:cxnSpLocks/>
                </p:cNvCxnSpPr>
                <p:nvPr/>
              </p:nvCxnSpPr>
              <p:spPr>
                <a:xfrm flipH="1">
                  <a:off x="8477253" y="4476511"/>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B80E9AF6-DCC6-87B4-4B59-C0ED8E72D24D}"/>
                    </a:ext>
                  </a:extLst>
                </p:cNvPr>
                <p:cNvCxnSpPr>
                  <a:cxnSpLocks/>
                </p:cNvCxnSpPr>
                <p:nvPr/>
              </p:nvCxnSpPr>
              <p:spPr>
                <a:xfrm flipH="1">
                  <a:off x="8477252" y="3869034"/>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5AE5019C-2C47-01A5-1709-FBA75DF995A1}"/>
                    </a:ext>
                  </a:extLst>
                </p:cNvPr>
                <p:cNvCxnSpPr>
                  <a:cxnSpLocks/>
                </p:cNvCxnSpPr>
                <p:nvPr/>
              </p:nvCxnSpPr>
              <p:spPr>
                <a:xfrm flipH="1">
                  <a:off x="8477252" y="3252608"/>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9" name="TextBox 68">
                <a:extLst>
                  <a:ext uri="{FF2B5EF4-FFF2-40B4-BE49-F238E27FC236}">
                    <a16:creationId xmlns:a16="http://schemas.microsoft.com/office/drawing/2014/main" id="{663935C3-93F8-960B-F8B7-334D360F6290}"/>
                  </a:ext>
                </a:extLst>
              </p:cNvPr>
              <p:cNvSpPr txBox="1"/>
              <p:nvPr/>
            </p:nvSpPr>
            <p:spPr>
              <a:xfrm rot="16200000">
                <a:off x="7335349" y="2817911"/>
                <a:ext cx="482824" cy="307777"/>
              </a:xfrm>
              <a:prstGeom prst="rect">
                <a:avLst/>
              </a:prstGeom>
              <a:noFill/>
            </p:spPr>
            <p:txBody>
              <a:bodyPr wrap="none" rtlCol="0">
                <a:noAutofit/>
              </a:bodyPr>
              <a:lstStyle/>
              <a:p>
                <a:r>
                  <a:rPr lang="en-US" sz="1400" dirty="0"/>
                  <a:t>200</a:t>
                </a:r>
              </a:p>
            </p:txBody>
          </p:sp>
          <p:sp>
            <p:nvSpPr>
              <p:cNvPr id="70" name="TextBox 69">
                <a:extLst>
                  <a:ext uri="{FF2B5EF4-FFF2-40B4-BE49-F238E27FC236}">
                    <a16:creationId xmlns:a16="http://schemas.microsoft.com/office/drawing/2014/main" id="{E05C69A9-3D89-BDB8-D728-CA457AB501A8}"/>
                  </a:ext>
                </a:extLst>
              </p:cNvPr>
              <p:cNvSpPr txBox="1"/>
              <p:nvPr/>
            </p:nvSpPr>
            <p:spPr>
              <a:xfrm rot="16200000">
                <a:off x="7335349" y="3303351"/>
                <a:ext cx="482824" cy="307777"/>
              </a:xfrm>
              <a:prstGeom prst="rect">
                <a:avLst/>
              </a:prstGeom>
              <a:noFill/>
            </p:spPr>
            <p:txBody>
              <a:bodyPr wrap="none" rtlCol="0">
                <a:noAutofit/>
              </a:bodyPr>
              <a:lstStyle/>
              <a:p>
                <a:r>
                  <a:rPr lang="en-US" sz="1400" dirty="0"/>
                  <a:t>150</a:t>
                </a:r>
              </a:p>
            </p:txBody>
          </p:sp>
          <p:sp>
            <p:nvSpPr>
              <p:cNvPr id="71" name="TextBox 70">
                <a:extLst>
                  <a:ext uri="{FF2B5EF4-FFF2-40B4-BE49-F238E27FC236}">
                    <a16:creationId xmlns:a16="http://schemas.microsoft.com/office/drawing/2014/main" id="{872F6EFC-6810-7D76-CA89-9E023E5A42D2}"/>
                  </a:ext>
                </a:extLst>
              </p:cNvPr>
              <p:cNvSpPr txBox="1"/>
              <p:nvPr/>
            </p:nvSpPr>
            <p:spPr>
              <a:xfrm rot="16200000">
                <a:off x="7335349" y="3785955"/>
                <a:ext cx="482824" cy="307777"/>
              </a:xfrm>
              <a:prstGeom prst="rect">
                <a:avLst/>
              </a:prstGeom>
              <a:noFill/>
            </p:spPr>
            <p:txBody>
              <a:bodyPr wrap="square" rtlCol="0">
                <a:noAutofit/>
              </a:bodyPr>
              <a:lstStyle/>
              <a:p>
                <a:r>
                  <a:rPr lang="en-US" sz="1400" dirty="0"/>
                  <a:t>100</a:t>
                </a:r>
              </a:p>
            </p:txBody>
          </p:sp>
          <p:sp>
            <p:nvSpPr>
              <p:cNvPr id="72" name="TextBox 71">
                <a:extLst>
                  <a:ext uri="{FF2B5EF4-FFF2-40B4-BE49-F238E27FC236}">
                    <a16:creationId xmlns:a16="http://schemas.microsoft.com/office/drawing/2014/main" id="{8155CD4B-2C58-25F4-618F-9DF7B68E04BF}"/>
                  </a:ext>
                </a:extLst>
              </p:cNvPr>
              <p:cNvSpPr txBox="1"/>
              <p:nvPr/>
            </p:nvSpPr>
            <p:spPr>
              <a:xfrm rot="16200000">
                <a:off x="7335349" y="4232371"/>
                <a:ext cx="482824" cy="307777"/>
              </a:xfrm>
              <a:prstGeom prst="rect">
                <a:avLst/>
              </a:prstGeom>
              <a:noFill/>
            </p:spPr>
            <p:txBody>
              <a:bodyPr wrap="square" rtlCol="0">
                <a:noAutofit/>
              </a:bodyPr>
              <a:lstStyle/>
              <a:p>
                <a:r>
                  <a:rPr lang="en-US" sz="1400" dirty="0"/>
                  <a:t>50</a:t>
                </a:r>
              </a:p>
            </p:txBody>
          </p:sp>
          <p:sp>
            <p:nvSpPr>
              <p:cNvPr id="73" name="TextBox 72">
                <a:extLst>
                  <a:ext uri="{FF2B5EF4-FFF2-40B4-BE49-F238E27FC236}">
                    <a16:creationId xmlns:a16="http://schemas.microsoft.com/office/drawing/2014/main" id="{C148C4DF-0C0B-4318-A165-2D7F10FD7E2E}"/>
                  </a:ext>
                </a:extLst>
              </p:cNvPr>
              <p:cNvSpPr txBox="1"/>
              <p:nvPr/>
            </p:nvSpPr>
            <p:spPr>
              <a:xfrm rot="16200000">
                <a:off x="7335349" y="4655886"/>
                <a:ext cx="482824" cy="307777"/>
              </a:xfrm>
              <a:prstGeom prst="rect">
                <a:avLst/>
              </a:prstGeom>
              <a:noFill/>
            </p:spPr>
            <p:txBody>
              <a:bodyPr wrap="square" rtlCol="0">
                <a:noAutofit/>
              </a:bodyPr>
              <a:lstStyle/>
              <a:p>
                <a:r>
                  <a:rPr lang="en-US" sz="1400" dirty="0"/>
                  <a:t>0</a:t>
                </a:r>
              </a:p>
            </p:txBody>
          </p:sp>
          <p:sp>
            <p:nvSpPr>
              <p:cNvPr id="74" name="TextBox 73">
                <a:extLst>
                  <a:ext uri="{FF2B5EF4-FFF2-40B4-BE49-F238E27FC236}">
                    <a16:creationId xmlns:a16="http://schemas.microsoft.com/office/drawing/2014/main" id="{AEB28243-F087-7271-277F-4008881FCA2C}"/>
                  </a:ext>
                </a:extLst>
              </p:cNvPr>
              <p:cNvSpPr txBox="1"/>
              <p:nvPr/>
            </p:nvSpPr>
            <p:spPr>
              <a:xfrm>
                <a:off x="10577511" y="5179881"/>
                <a:ext cx="681597" cy="307777"/>
              </a:xfrm>
              <a:prstGeom prst="rect">
                <a:avLst/>
              </a:prstGeom>
              <a:noFill/>
            </p:spPr>
            <p:txBody>
              <a:bodyPr wrap="none" rtlCol="0">
                <a:noAutofit/>
              </a:bodyPr>
              <a:lstStyle/>
              <a:p>
                <a:r>
                  <a:rPr lang="en-US" sz="1400" dirty="0"/>
                  <a:t>10,000</a:t>
                </a:r>
              </a:p>
            </p:txBody>
          </p:sp>
          <p:sp>
            <p:nvSpPr>
              <p:cNvPr id="75" name="TextBox 74">
                <a:extLst>
                  <a:ext uri="{FF2B5EF4-FFF2-40B4-BE49-F238E27FC236}">
                    <a16:creationId xmlns:a16="http://schemas.microsoft.com/office/drawing/2014/main" id="{D0AA65C2-61C8-49C1-36BD-A77C112AF340}"/>
                  </a:ext>
                </a:extLst>
              </p:cNvPr>
              <p:cNvSpPr txBox="1"/>
              <p:nvPr/>
            </p:nvSpPr>
            <p:spPr>
              <a:xfrm>
                <a:off x="9966722" y="5179881"/>
                <a:ext cx="582211" cy="307777"/>
              </a:xfrm>
              <a:prstGeom prst="rect">
                <a:avLst/>
              </a:prstGeom>
              <a:noFill/>
            </p:spPr>
            <p:txBody>
              <a:bodyPr wrap="none" rtlCol="0">
                <a:noAutofit/>
              </a:bodyPr>
              <a:lstStyle/>
              <a:p>
                <a:r>
                  <a:rPr lang="en-US" sz="1400" dirty="0"/>
                  <a:t>5,000</a:t>
                </a:r>
              </a:p>
            </p:txBody>
          </p:sp>
          <p:sp>
            <p:nvSpPr>
              <p:cNvPr id="76" name="TextBox 75">
                <a:extLst>
                  <a:ext uri="{FF2B5EF4-FFF2-40B4-BE49-F238E27FC236}">
                    <a16:creationId xmlns:a16="http://schemas.microsoft.com/office/drawing/2014/main" id="{D76FCADA-844F-B203-4FBB-1F1F664E5E70}"/>
                  </a:ext>
                </a:extLst>
              </p:cNvPr>
              <p:cNvSpPr txBox="1"/>
              <p:nvPr/>
            </p:nvSpPr>
            <p:spPr>
              <a:xfrm>
                <a:off x="9372600" y="5179881"/>
                <a:ext cx="482824" cy="307777"/>
              </a:xfrm>
              <a:prstGeom prst="rect">
                <a:avLst/>
              </a:prstGeom>
              <a:noFill/>
            </p:spPr>
            <p:txBody>
              <a:bodyPr wrap="square" rtlCol="0">
                <a:noAutofit/>
              </a:bodyPr>
              <a:lstStyle/>
              <a:p>
                <a:r>
                  <a:rPr lang="en-US" sz="1400" dirty="0"/>
                  <a:t>0</a:t>
                </a:r>
              </a:p>
            </p:txBody>
          </p:sp>
          <p:sp>
            <p:nvSpPr>
              <p:cNvPr id="77" name="TextBox 76">
                <a:extLst>
                  <a:ext uri="{FF2B5EF4-FFF2-40B4-BE49-F238E27FC236}">
                    <a16:creationId xmlns:a16="http://schemas.microsoft.com/office/drawing/2014/main" id="{432669FF-C201-5672-46DF-DE2AA7EDE301}"/>
                  </a:ext>
                </a:extLst>
              </p:cNvPr>
              <p:cNvSpPr txBox="1"/>
              <p:nvPr/>
            </p:nvSpPr>
            <p:spPr>
              <a:xfrm>
                <a:off x="8321494" y="5179881"/>
                <a:ext cx="808217" cy="307777"/>
              </a:xfrm>
              <a:prstGeom prst="rect">
                <a:avLst/>
              </a:prstGeom>
              <a:noFill/>
            </p:spPr>
            <p:txBody>
              <a:bodyPr wrap="square" rtlCol="0">
                <a:noAutofit/>
              </a:bodyPr>
              <a:lstStyle/>
              <a:p>
                <a:r>
                  <a:rPr lang="en-US" sz="1400" dirty="0"/>
                  <a:t>–5,000</a:t>
                </a:r>
              </a:p>
            </p:txBody>
          </p:sp>
          <p:sp>
            <p:nvSpPr>
              <p:cNvPr id="78" name="TextBox 77">
                <a:extLst>
                  <a:ext uri="{FF2B5EF4-FFF2-40B4-BE49-F238E27FC236}">
                    <a16:creationId xmlns:a16="http://schemas.microsoft.com/office/drawing/2014/main" id="{957D2909-B86B-E40E-E45A-5218E60E1848}"/>
                  </a:ext>
                </a:extLst>
              </p:cNvPr>
              <p:cNvSpPr txBox="1"/>
              <p:nvPr/>
            </p:nvSpPr>
            <p:spPr>
              <a:xfrm>
                <a:off x="7543801" y="5179881"/>
                <a:ext cx="900110" cy="307777"/>
              </a:xfrm>
              <a:prstGeom prst="rect">
                <a:avLst/>
              </a:prstGeom>
              <a:noFill/>
            </p:spPr>
            <p:txBody>
              <a:bodyPr wrap="square" rtlCol="0">
                <a:noAutofit/>
              </a:bodyPr>
              <a:lstStyle/>
              <a:p>
                <a:r>
                  <a:rPr lang="en-US" sz="1400" dirty="0"/>
                  <a:t>–10,000</a:t>
                </a:r>
              </a:p>
            </p:txBody>
          </p:sp>
          <p:cxnSp>
            <p:nvCxnSpPr>
              <p:cNvPr id="79" name="Straight Connector 78">
                <a:extLst>
                  <a:ext uri="{FF2B5EF4-FFF2-40B4-BE49-F238E27FC236}">
                    <a16:creationId xmlns:a16="http://schemas.microsoft.com/office/drawing/2014/main" id="{62615021-BDD6-1DDE-C443-A9A0B9B35805}"/>
                  </a:ext>
                </a:extLst>
              </p:cNvPr>
              <p:cNvCxnSpPr/>
              <p:nvPr/>
            </p:nvCxnSpPr>
            <p:spPr>
              <a:xfrm rot="16200000">
                <a:off x="9508333" y="3408422"/>
                <a:ext cx="0" cy="2976561"/>
              </a:xfrm>
              <a:prstGeom prst="line">
                <a:avLst/>
              </a:prstGeom>
              <a:ln w="12700">
                <a:solidFill>
                  <a:srgbClr val="233575"/>
                </a:solidFill>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C43E7396-53EB-61E2-C43A-312674C8322D}"/>
                  </a:ext>
                </a:extLst>
              </p:cNvPr>
              <p:cNvSpPr/>
              <p:nvPr/>
            </p:nvSpPr>
            <p:spPr>
              <a:xfrm>
                <a:off x="8020051" y="4850982"/>
                <a:ext cx="300036" cy="45719"/>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1" name="Rectangle 80">
                <a:extLst>
                  <a:ext uri="{FF2B5EF4-FFF2-40B4-BE49-F238E27FC236}">
                    <a16:creationId xmlns:a16="http://schemas.microsoft.com/office/drawing/2014/main" id="{BB3D88C3-8D26-597E-A725-2AEF98CD4956}"/>
                  </a:ext>
                </a:extLst>
              </p:cNvPr>
              <p:cNvSpPr/>
              <p:nvPr/>
            </p:nvSpPr>
            <p:spPr>
              <a:xfrm>
                <a:off x="8323026" y="4712494"/>
                <a:ext cx="300036" cy="184207"/>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2" name="Rectangle 81">
                <a:extLst>
                  <a:ext uri="{FF2B5EF4-FFF2-40B4-BE49-F238E27FC236}">
                    <a16:creationId xmlns:a16="http://schemas.microsoft.com/office/drawing/2014/main" id="{D0937084-DCC4-1D78-E9D9-9F84BE576391}"/>
                  </a:ext>
                </a:extLst>
              </p:cNvPr>
              <p:cNvSpPr/>
              <p:nvPr/>
            </p:nvSpPr>
            <p:spPr>
              <a:xfrm>
                <a:off x="8623062" y="4243388"/>
                <a:ext cx="300036" cy="654843"/>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3" name="Rectangle 82">
                <a:extLst>
                  <a:ext uri="{FF2B5EF4-FFF2-40B4-BE49-F238E27FC236}">
                    <a16:creationId xmlns:a16="http://schemas.microsoft.com/office/drawing/2014/main" id="{0B0316D2-48A2-2EC7-9269-451345631A3C}"/>
                  </a:ext>
                </a:extLst>
              </p:cNvPr>
              <p:cNvSpPr/>
              <p:nvPr/>
            </p:nvSpPr>
            <p:spPr>
              <a:xfrm>
                <a:off x="8913577" y="3352807"/>
                <a:ext cx="300036" cy="1542363"/>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4" name="Rectangle 83">
                <a:extLst>
                  <a:ext uri="{FF2B5EF4-FFF2-40B4-BE49-F238E27FC236}">
                    <a16:creationId xmlns:a16="http://schemas.microsoft.com/office/drawing/2014/main" id="{A85A0B8A-4FF3-B830-E82E-0819DA405BB6}"/>
                  </a:ext>
                </a:extLst>
              </p:cNvPr>
              <p:cNvSpPr/>
              <p:nvPr/>
            </p:nvSpPr>
            <p:spPr>
              <a:xfrm>
                <a:off x="9213378" y="2724432"/>
                <a:ext cx="300036" cy="2170734"/>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5" name="Rectangle 84">
                <a:extLst>
                  <a:ext uri="{FF2B5EF4-FFF2-40B4-BE49-F238E27FC236}">
                    <a16:creationId xmlns:a16="http://schemas.microsoft.com/office/drawing/2014/main" id="{4B68B5D0-04AD-BB79-C506-36DBFCCAD7C4}"/>
                  </a:ext>
                </a:extLst>
              </p:cNvPr>
              <p:cNvSpPr/>
              <p:nvPr/>
            </p:nvSpPr>
            <p:spPr>
              <a:xfrm>
                <a:off x="9514562" y="2490344"/>
                <a:ext cx="300036" cy="2404819"/>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6" name="Rectangle 85">
                <a:extLst>
                  <a:ext uri="{FF2B5EF4-FFF2-40B4-BE49-F238E27FC236}">
                    <a16:creationId xmlns:a16="http://schemas.microsoft.com/office/drawing/2014/main" id="{B6F2DE44-7026-ACD1-8B60-66C7FC47AF65}"/>
                  </a:ext>
                </a:extLst>
              </p:cNvPr>
              <p:cNvSpPr/>
              <p:nvPr/>
            </p:nvSpPr>
            <p:spPr>
              <a:xfrm>
                <a:off x="9814387" y="3185162"/>
                <a:ext cx="300036" cy="1710002"/>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7" name="Rectangle 86">
                <a:extLst>
                  <a:ext uri="{FF2B5EF4-FFF2-40B4-BE49-F238E27FC236}">
                    <a16:creationId xmlns:a16="http://schemas.microsoft.com/office/drawing/2014/main" id="{93BFF6D7-B630-18FA-C165-4C0481502124}"/>
                  </a:ext>
                </a:extLst>
              </p:cNvPr>
              <p:cNvSpPr/>
              <p:nvPr/>
            </p:nvSpPr>
            <p:spPr>
              <a:xfrm>
                <a:off x="10114423" y="4181256"/>
                <a:ext cx="300036" cy="713906"/>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8" name="Rectangle 87">
                <a:extLst>
                  <a:ext uri="{FF2B5EF4-FFF2-40B4-BE49-F238E27FC236}">
                    <a16:creationId xmlns:a16="http://schemas.microsoft.com/office/drawing/2014/main" id="{F4B2D031-41A4-75F2-4659-0335350A9CCA}"/>
                  </a:ext>
                </a:extLst>
              </p:cNvPr>
              <p:cNvSpPr/>
              <p:nvPr/>
            </p:nvSpPr>
            <p:spPr>
              <a:xfrm>
                <a:off x="10414248" y="4695104"/>
                <a:ext cx="300036" cy="196300"/>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pSp>
        <p:sp>
          <p:nvSpPr>
            <p:cNvPr id="64" name="TextBox 63">
              <a:extLst>
                <a:ext uri="{FF2B5EF4-FFF2-40B4-BE49-F238E27FC236}">
                  <a16:creationId xmlns:a16="http://schemas.microsoft.com/office/drawing/2014/main" id="{4E0DC10C-E528-331C-E928-54F0D7842B16}"/>
                </a:ext>
              </a:extLst>
            </p:cNvPr>
            <p:cNvSpPr txBox="1"/>
            <p:nvPr/>
          </p:nvSpPr>
          <p:spPr>
            <a:xfrm>
              <a:off x="8610881" y="1761856"/>
              <a:ext cx="2006261" cy="338554"/>
            </a:xfrm>
            <a:prstGeom prst="rect">
              <a:avLst/>
            </a:prstGeom>
            <a:noFill/>
          </p:spPr>
          <p:txBody>
            <a:bodyPr wrap="square" rtlCol="0">
              <a:noAutofit/>
            </a:bodyPr>
            <a:lstStyle/>
            <a:p>
              <a:pPr algn="ctr"/>
              <a:r>
                <a:rPr lang="en-US" sz="1600" b="1" dirty="0"/>
                <a:t>Validation errors</a:t>
              </a:r>
            </a:p>
          </p:txBody>
        </p:sp>
        <p:sp>
          <p:nvSpPr>
            <p:cNvPr id="65" name="TextBox 64">
              <a:extLst>
                <a:ext uri="{FF2B5EF4-FFF2-40B4-BE49-F238E27FC236}">
                  <a16:creationId xmlns:a16="http://schemas.microsoft.com/office/drawing/2014/main" id="{E6246A2D-FC8D-F780-A71F-D734F68C0BB4}"/>
                </a:ext>
              </a:extLst>
            </p:cNvPr>
            <p:cNvSpPr txBox="1"/>
            <p:nvPr/>
          </p:nvSpPr>
          <p:spPr>
            <a:xfrm>
              <a:off x="8512343" y="5562600"/>
              <a:ext cx="2006261" cy="338554"/>
            </a:xfrm>
            <a:prstGeom prst="rect">
              <a:avLst/>
            </a:prstGeom>
            <a:noFill/>
          </p:spPr>
          <p:txBody>
            <a:bodyPr wrap="square" rtlCol="0">
              <a:noAutofit/>
            </a:bodyPr>
            <a:lstStyle/>
            <a:p>
              <a:pPr algn="ctr"/>
              <a:r>
                <a:rPr lang="en-US" sz="1600" dirty="0"/>
                <a:t>Errors</a:t>
              </a:r>
            </a:p>
          </p:txBody>
        </p:sp>
        <p:sp>
          <p:nvSpPr>
            <p:cNvPr id="66" name="TextBox 65">
              <a:extLst>
                <a:ext uri="{FF2B5EF4-FFF2-40B4-BE49-F238E27FC236}">
                  <a16:creationId xmlns:a16="http://schemas.microsoft.com/office/drawing/2014/main" id="{E1732886-22B6-0C9F-F37F-9F94C9FCD216}"/>
                </a:ext>
              </a:extLst>
            </p:cNvPr>
            <p:cNvSpPr txBox="1"/>
            <p:nvPr/>
          </p:nvSpPr>
          <p:spPr>
            <a:xfrm rot="16200000">
              <a:off x="6115457" y="3540086"/>
              <a:ext cx="2006261" cy="338554"/>
            </a:xfrm>
            <a:prstGeom prst="rect">
              <a:avLst/>
            </a:prstGeom>
            <a:noFill/>
          </p:spPr>
          <p:txBody>
            <a:bodyPr wrap="square" rtlCol="0">
              <a:noAutofit/>
            </a:bodyPr>
            <a:lstStyle/>
            <a:p>
              <a:pPr algn="ctr"/>
              <a:r>
                <a:rPr lang="en-US" sz="1600" dirty="0"/>
                <a:t>Frequency</a:t>
              </a:r>
            </a:p>
          </p:txBody>
        </p:sp>
      </p:grpSp>
    </p:spTree>
    <p:extLst>
      <p:ext uri="{BB962C8B-B14F-4D97-AF65-F5344CB8AC3E}">
        <p14:creationId xmlns:p14="http://schemas.microsoft.com/office/powerpoint/2010/main" val="3624354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15A8A-F0E7-F87C-F0AB-C21AA6BC39D4}"/>
              </a:ext>
            </a:extLst>
          </p:cNvPr>
          <p:cNvSpPr>
            <a:spLocks noGrp="1"/>
          </p:cNvSpPr>
          <p:nvPr>
            <p:ph type="title"/>
          </p:nvPr>
        </p:nvSpPr>
        <p:spPr/>
        <p:txBody>
          <a:bodyPr>
            <a:noAutofit/>
          </a:bodyPr>
          <a:lstStyle/>
          <a:p>
            <a:r>
              <a:rPr lang="en-US" dirty="0"/>
              <a:t>Interpreting MSE, Part II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C8C2A17-EDEF-EC78-7A30-4C62A08F4004}"/>
                  </a:ext>
                </a:extLst>
              </p:cNvPr>
              <p:cNvSpPr>
                <a:spLocks noGrp="1"/>
              </p:cNvSpPr>
              <p:nvPr>
                <p:ph idx="1"/>
              </p:nvPr>
            </p:nvSpPr>
            <p:spPr>
              <a:xfrm>
                <a:off x="609599" y="1600203"/>
                <a:ext cx="6182835" cy="4525963"/>
              </a:xfrm>
            </p:spPr>
            <p:txBody>
              <a:bodyPr>
                <a:noAutofit/>
              </a:bodyPr>
              <a:lstStyle/>
              <a:p>
                <a:r>
                  <a:rPr lang="en-US" dirty="0"/>
                  <a:t>Suppose that the graph on the right is a histogram of the residuals from a regression model to predict housing prices in Ames, Iowa</a:t>
                </a:r>
              </a:p>
              <a:p>
                <a14:m>
                  <m:oMath xmlns:m="http://schemas.openxmlformats.org/officeDocument/2006/math">
                    <m:r>
                      <a:rPr lang="en-US" smtClean="0">
                        <a:latin typeface="Cambria Math" panose="02040503050406030204" pitchFamily="18" charset="0"/>
                      </a:rPr>
                      <m:t>𝑅𝑀𝑆𝐸</m:t>
                    </m:r>
                    <m:r>
                      <a:rPr lang="en-US" smtClean="0">
                        <a:latin typeface="Cambria Math" panose="02040503050406030204" pitchFamily="18" charset="0"/>
                      </a:rPr>
                      <m:t>=$3,000</m:t>
                    </m:r>
                  </m:oMath>
                </a14:m>
                <a:endParaRPr lang="en-US" dirty="0"/>
              </a:p>
            </p:txBody>
          </p:sp>
        </mc:Choice>
        <mc:Fallback xmlns="">
          <p:sp>
            <p:nvSpPr>
              <p:cNvPr id="3" name="Content Placeholder 2">
                <a:extLst>
                  <a:ext uri="{FF2B5EF4-FFF2-40B4-BE49-F238E27FC236}">
                    <a16:creationId xmlns:a16="http://schemas.microsoft.com/office/drawing/2014/main" id="{4C8C2A17-EDEF-EC78-7A30-4C62A08F4004}"/>
                  </a:ext>
                </a:extLst>
              </p:cNvPr>
              <p:cNvSpPr>
                <a:spLocks noGrp="1" noRot="1" noChangeAspect="1" noMove="1" noResize="1" noEditPoints="1" noAdjustHandles="1" noChangeArrowheads="1" noChangeShapeType="1" noTextEdit="1"/>
              </p:cNvSpPr>
              <p:nvPr>
                <p:ph idx="1"/>
              </p:nvPr>
            </p:nvSpPr>
            <p:spPr>
              <a:xfrm>
                <a:off x="609599" y="1600203"/>
                <a:ext cx="6182835" cy="4525963"/>
              </a:xfrm>
              <a:blipFill>
                <a:blip r:embed="rId2"/>
                <a:stretch>
                  <a:fillRect l="-2268" t="-1752" r="-3649"/>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45B63DC9-2873-BD10-B502-512B078786EA}"/>
              </a:ext>
            </a:extLst>
          </p:cNvPr>
          <p:cNvGrpSpPr/>
          <p:nvPr/>
        </p:nvGrpSpPr>
        <p:grpSpPr>
          <a:xfrm>
            <a:off x="7192200" y="1600203"/>
            <a:ext cx="4309797" cy="4139298"/>
            <a:chOff x="6949311" y="1761856"/>
            <a:chExt cx="4309797" cy="4139298"/>
          </a:xfrm>
        </p:grpSpPr>
        <p:sp>
          <p:nvSpPr>
            <p:cNvPr id="8" name="TextBox 7">
              <a:extLst>
                <a:ext uri="{FF2B5EF4-FFF2-40B4-BE49-F238E27FC236}">
                  <a16:creationId xmlns:a16="http://schemas.microsoft.com/office/drawing/2014/main" id="{343DA924-B68C-36F8-EE9C-EBDFBA8336C3}"/>
                </a:ext>
              </a:extLst>
            </p:cNvPr>
            <p:cNvSpPr txBox="1"/>
            <p:nvPr/>
          </p:nvSpPr>
          <p:spPr>
            <a:xfrm rot="16200000">
              <a:off x="7335349" y="2308326"/>
              <a:ext cx="482824" cy="307777"/>
            </a:xfrm>
            <a:prstGeom prst="rect">
              <a:avLst/>
            </a:prstGeom>
            <a:noFill/>
          </p:spPr>
          <p:txBody>
            <a:bodyPr wrap="none" rtlCol="0">
              <a:noAutofit/>
            </a:bodyPr>
            <a:lstStyle/>
            <a:p>
              <a:r>
                <a:rPr lang="en-US" sz="1400" dirty="0"/>
                <a:t>250</a:t>
              </a:r>
            </a:p>
          </p:txBody>
        </p:sp>
        <p:grpSp>
          <p:nvGrpSpPr>
            <p:cNvPr id="9" name="Group 8">
              <a:extLst>
                <a:ext uri="{FF2B5EF4-FFF2-40B4-BE49-F238E27FC236}">
                  <a16:creationId xmlns:a16="http://schemas.microsoft.com/office/drawing/2014/main" id="{216FE394-CCDB-FAE3-4EEA-874C898102D4}"/>
                </a:ext>
              </a:extLst>
            </p:cNvPr>
            <p:cNvGrpSpPr/>
            <p:nvPr/>
          </p:nvGrpSpPr>
          <p:grpSpPr>
            <a:xfrm>
              <a:off x="7422872" y="2462215"/>
              <a:ext cx="3836236" cy="3025443"/>
              <a:chOff x="7422872" y="2462215"/>
              <a:chExt cx="3836236" cy="3025443"/>
            </a:xfrm>
          </p:grpSpPr>
          <p:grpSp>
            <p:nvGrpSpPr>
              <p:cNvPr id="13" name="Group 12">
                <a:extLst>
                  <a:ext uri="{FF2B5EF4-FFF2-40B4-BE49-F238E27FC236}">
                    <a16:creationId xmlns:a16="http://schemas.microsoft.com/office/drawing/2014/main" id="{12A2A8B6-3A7F-9F85-9E95-9A91B387BA34}"/>
                  </a:ext>
                </a:extLst>
              </p:cNvPr>
              <p:cNvGrpSpPr/>
              <p:nvPr/>
            </p:nvGrpSpPr>
            <p:grpSpPr>
              <a:xfrm>
                <a:off x="7772400" y="2462215"/>
                <a:ext cx="133348" cy="2438400"/>
                <a:chOff x="7772400" y="2462215"/>
                <a:chExt cx="133348" cy="2438400"/>
              </a:xfrm>
            </p:grpSpPr>
            <p:cxnSp>
              <p:nvCxnSpPr>
                <p:cNvPr id="41" name="Straight Connector 40">
                  <a:extLst>
                    <a:ext uri="{FF2B5EF4-FFF2-40B4-BE49-F238E27FC236}">
                      <a16:creationId xmlns:a16="http://schemas.microsoft.com/office/drawing/2014/main" id="{068D98FA-8217-D65E-496B-9DD69D8C76FE}"/>
                    </a:ext>
                  </a:extLst>
                </p:cNvPr>
                <p:cNvCxnSpPr/>
                <p:nvPr/>
              </p:nvCxnSpPr>
              <p:spPr>
                <a:xfrm>
                  <a:off x="7905748" y="2462215"/>
                  <a:ext cx="0" cy="24384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87DEC67-34E7-ACB0-1959-70A36F3C1CD8}"/>
                    </a:ext>
                  </a:extLst>
                </p:cNvPr>
                <p:cNvCxnSpPr>
                  <a:cxnSpLocks/>
                </p:cNvCxnSpPr>
                <p:nvPr/>
              </p:nvCxnSpPr>
              <p:spPr>
                <a:xfrm flipH="1">
                  <a:off x="7772400" y="2462215"/>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2051377-82D7-E231-24CB-D55931926680}"/>
                    </a:ext>
                  </a:extLst>
                </p:cNvPr>
                <p:cNvCxnSpPr>
                  <a:cxnSpLocks/>
                </p:cNvCxnSpPr>
                <p:nvPr/>
              </p:nvCxnSpPr>
              <p:spPr>
                <a:xfrm flipH="1">
                  <a:off x="7772400" y="4900615"/>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78BBD7A-6B2D-8083-4F22-6A352192BA2F}"/>
                    </a:ext>
                  </a:extLst>
                </p:cNvPr>
                <p:cNvCxnSpPr>
                  <a:cxnSpLocks/>
                </p:cNvCxnSpPr>
                <p:nvPr/>
              </p:nvCxnSpPr>
              <p:spPr>
                <a:xfrm flipH="1">
                  <a:off x="7772400" y="4419600"/>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A81DAFD-3618-D7EC-C953-12405BF3546B}"/>
                    </a:ext>
                  </a:extLst>
                </p:cNvPr>
                <p:cNvCxnSpPr>
                  <a:cxnSpLocks/>
                </p:cNvCxnSpPr>
                <p:nvPr/>
              </p:nvCxnSpPr>
              <p:spPr>
                <a:xfrm flipH="1">
                  <a:off x="7772400" y="3933822"/>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B426422-38B5-EAC9-3036-D03352EBD7BB}"/>
                    </a:ext>
                  </a:extLst>
                </p:cNvPr>
                <p:cNvCxnSpPr>
                  <a:cxnSpLocks/>
                </p:cNvCxnSpPr>
                <p:nvPr/>
              </p:nvCxnSpPr>
              <p:spPr>
                <a:xfrm flipH="1">
                  <a:off x="7772400" y="3443284"/>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C530656-15A2-1099-B8BB-53CAF099EF66}"/>
                    </a:ext>
                  </a:extLst>
                </p:cNvPr>
                <p:cNvCxnSpPr>
                  <a:cxnSpLocks/>
                </p:cNvCxnSpPr>
                <p:nvPr/>
              </p:nvCxnSpPr>
              <p:spPr>
                <a:xfrm flipH="1">
                  <a:off x="7772400" y="2971800"/>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0A97A137-FDDD-DA2D-AEEB-920B5EC429FF}"/>
                  </a:ext>
                </a:extLst>
              </p:cNvPr>
              <p:cNvGrpSpPr/>
              <p:nvPr/>
            </p:nvGrpSpPr>
            <p:grpSpPr>
              <a:xfrm rot="16200000">
                <a:off x="9441658" y="3569489"/>
                <a:ext cx="133349" cy="2976561"/>
                <a:chOff x="8477252" y="2643984"/>
                <a:chExt cx="133349" cy="2438400"/>
              </a:xfrm>
            </p:grpSpPr>
            <p:cxnSp>
              <p:nvCxnSpPr>
                <p:cNvPr id="35" name="Straight Connector 34">
                  <a:extLst>
                    <a:ext uri="{FF2B5EF4-FFF2-40B4-BE49-F238E27FC236}">
                      <a16:creationId xmlns:a16="http://schemas.microsoft.com/office/drawing/2014/main" id="{92550CC3-4DE4-A679-60B7-E966664DBD38}"/>
                    </a:ext>
                  </a:extLst>
                </p:cNvPr>
                <p:cNvCxnSpPr/>
                <p:nvPr/>
              </p:nvCxnSpPr>
              <p:spPr>
                <a:xfrm>
                  <a:off x="8610600" y="2643984"/>
                  <a:ext cx="0" cy="24384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73074B1-59A9-4C09-41E5-AE8CDEEFFA83}"/>
                    </a:ext>
                  </a:extLst>
                </p:cNvPr>
                <p:cNvCxnSpPr>
                  <a:cxnSpLocks/>
                </p:cNvCxnSpPr>
                <p:nvPr/>
              </p:nvCxnSpPr>
              <p:spPr>
                <a:xfrm flipH="1">
                  <a:off x="8477252" y="2643984"/>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847EE1E-540A-ADF2-314A-B18CC75DAA88}"/>
                    </a:ext>
                  </a:extLst>
                </p:cNvPr>
                <p:cNvCxnSpPr>
                  <a:cxnSpLocks/>
                </p:cNvCxnSpPr>
                <p:nvPr/>
              </p:nvCxnSpPr>
              <p:spPr>
                <a:xfrm flipH="1">
                  <a:off x="8477252" y="5082384"/>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0F6898B-664F-35DE-32B9-1A6829098D54}"/>
                    </a:ext>
                  </a:extLst>
                </p:cNvPr>
                <p:cNvCxnSpPr>
                  <a:cxnSpLocks/>
                </p:cNvCxnSpPr>
                <p:nvPr/>
              </p:nvCxnSpPr>
              <p:spPr>
                <a:xfrm flipH="1">
                  <a:off x="8477253" y="4476511"/>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76D842F-3A39-3C38-5B09-7DB40820EC79}"/>
                    </a:ext>
                  </a:extLst>
                </p:cNvPr>
                <p:cNvCxnSpPr>
                  <a:cxnSpLocks/>
                </p:cNvCxnSpPr>
                <p:nvPr/>
              </p:nvCxnSpPr>
              <p:spPr>
                <a:xfrm flipH="1">
                  <a:off x="8477252" y="3869034"/>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0BFF0F3-8D78-45BC-A112-EF186CFA47B5}"/>
                    </a:ext>
                  </a:extLst>
                </p:cNvPr>
                <p:cNvCxnSpPr>
                  <a:cxnSpLocks/>
                </p:cNvCxnSpPr>
                <p:nvPr/>
              </p:nvCxnSpPr>
              <p:spPr>
                <a:xfrm flipH="1">
                  <a:off x="8477252" y="3252608"/>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Box 14">
                <a:extLst>
                  <a:ext uri="{FF2B5EF4-FFF2-40B4-BE49-F238E27FC236}">
                    <a16:creationId xmlns:a16="http://schemas.microsoft.com/office/drawing/2014/main" id="{ACADF928-49B8-F420-5165-4F31D1BCD6A3}"/>
                  </a:ext>
                </a:extLst>
              </p:cNvPr>
              <p:cNvSpPr txBox="1"/>
              <p:nvPr/>
            </p:nvSpPr>
            <p:spPr>
              <a:xfrm rot="16200000">
                <a:off x="7335349" y="2817911"/>
                <a:ext cx="482824" cy="307777"/>
              </a:xfrm>
              <a:prstGeom prst="rect">
                <a:avLst/>
              </a:prstGeom>
              <a:noFill/>
            </p:spPr>
            <p:txBody>
              <a:bodyPr wrap="none" rtlCol="0">
                <a:noAutofit/>
              </a:bodyPr>
              <a:lstStyle/>
              <a:p>
                <a:r>
                  <a:rPr lang="en-US" sz="1400" dirty="0"/>
                  <a:t>200</a:t>
                </a:r>
              </a:p>
            </p:txBody>
          </p:sp>
          <p:sp>
            <p:nvSpPr>
              <p:cNvPr id="16" name="TextBox 15">
                <a:extLst>
                  <a:ext uri="{FF2B5EF4-FFF2-40B4-BE49-F238E27FC236}">
                    <a16:creationId xmlns:a16="http://schemas.microsoft.com/office/drawing/2014/main" id="{B7C24017-2C8B-FB7D-2761-DE56FC109D01}"/>
                  </a:ext>
                </a:extLst>
              </p:cNvPr>
              <p:cNvSpPr txBox="1"/>
              <p:nvPr/>
            </p:nvSpPr>
            <p:spPr>
              <a:xfrm rot="16200000">
                <a:off x="7335349" y="3303351"/>
                <a:ext cx="482824" cy="307777"/>
              </a:xfrm>
              <a:prstGeom prst="rect">
                <a:avLst/>
              </a:prstGeom>
              <a:noFill/>
            </p:spPr>
            <p:txBody>
              <a:bodyPr wrap="none" rtlCol="0">
                <a:noAutofit/>
              </a:bodyPr>
              <a:lstStyle/>
              <a:p>
                <a:r>
                  <a:rPr lang="en-US" sz="1400" dirty="0"/>
                  <a:t>150</a:t>
                </a:r>
              </a:p>
            </p:txBody>
          </p:sp>
          <p:sp>
            <p:nvSpPr>
              <p:cNvPr id="17" name="TextBox 16">
                <a:extLst>
                  <a:ext uri="{FF2B5EF4-FFF2-40B4-BE49-F238E27FC236}">
                    <a16:creationId xmlns:a16="http://schemas.microsoft.com/office/drawing/2014/main" id="{D0891502-027F-8B47-0F76-C831146F6900}"/>
                  </a:ext>
                </a:extLst>
              </p:cNvPr>
              <p:cNvSpPr txBox="1"/>
              <p:nvPr/>
            </p:nvSpPr>
            <p:spPr>
              <a:xfrm rot="16200000">
                <a:off x="7335349" y="3785955"/>
                <a:ext cx="482824" cy="307777"/>
              </a:xfrm>
              <a:prstGeom prst="rect">
                <a:avLst/>
              </a:prstGeom>
              <a:noFill/>
            </p:spPr>
            <p:txBody>
              <a:bodyPr wrap="square" rtlCol="0">
                <a:noAutofit/>
              </a:bodyPr>
              <a:lstStyle/>
              <a:p>
                <a:r>
                  <a:rPr lang="en-US" sz="1400" dirty="0"/>
                  <a:t>100</a:t>
                </a:r>
              </a:p>
            </p:txBody>
          </p:sp>
          <p:sp>
            <p:nvSpPr>
              <p:cNvPr id="18" name="TextBox 17">
                <a:extLst>
                  <a:ext uri="{FF2B5EF4-FFF2-40B4-BE49-F238E27FC236}">
                    <a16:creationId xmlns:a16="http://schemas.microsoft.com/office/drawing/2014/main" id="{95C0F4A2-4C90-2A1C-0C63-B6D31A624D8B}"/>
                  </a:ext>
                </a:extLst>
              </p:cNvPr>
              <p:cNvSpPr txBox="1"/>
              <p:nvPr/>
            </p:nvSpPr>
            <p:spPr>
              <a:xfrm rot="16200000">
                <a:off x="7335349" y="4232371"/>
                <a:ext cx="482824" cy="307777"/>
              </a:xfrm>
              <a:prstGeom prst="rect">
                <a:avLst/>
              </a:prstGeom>
              <a:noFill/>
            </p:spPr>
            <p:txBody>
              <a:bodyPr wrap="square" rtlCol="0">
                <a:noAutofit/>
              </a:bodyPr>
              <a:lstStyle/>
              <a:p>
                <a:r>
                  <a:rPr lang="en-US" sz="1400" dirty="0"/>
                  <a:t>50</a:t>
                </a:r>
              </a:p>
            </p:txBody>
          </p:sp>
          <p:sp>
            <p:nvSpPr>
              <p:cNvPr id="19" name="TextBox 18">
                <a:extLst>
                  <a:ext uri="{FF2B5EF4-FFF2-40B4-BE49-F238E27FC236}">
                    <a16:creationId xmlns:a16="http://schemas.microsoft.com/office/drawing/2014/main" id="{692FC567-F045-7A90-F99B-663FEA9DE4BA}"/>
                  </a:ext>
                </a:extLst>
              </p:cNvPr>
              <p:cNvSpPr txBox="1"/>
              <p:nvPr/>
            </p:nvSpPr>
            <p:spPr>
              <a:xfrm rot="16200000">
                <a:off x="7335349" y="4655886"/>
                <a:ext cx="482824" cy="307777"/>
              </a:xfrm>
              <a:prstGeom prst="rect">
                <a:avLst/>
              </a:prstGeom>
              <a:noFill/>
            </p:spPr>
            <p:txBody>
              <a:bodyPr wrap="square" rtlCol="0">
                <a:noAutofit/>
              </a:bodyPr>
              <a:lstStyle/>
              <a:p>
                <a:r>
                  <a:rPr lang="en-US" sz="1400" dirty="0"/>
                  <a:t>0</a:t>
                </a:r>
              </a:p>
            </p:txBody>
          </p:sp>
          <p:sp>
            <p:nvSpPr>
              <p:cNvPr id="20" name="TextBox 19">
                <a:extLst>
                  <a:ext uri="{FF2B5EF4-FFF2-40B4-BE49-F238E27FC236}">
                    <a16:creationId xmlns:a16="http://schemas.microsoft.com/office/drawing/2014/main" id="{B9374894-83D7-F593-4A7A-F5732E10193B}"/>
                  </a:ext>
                </a:extLst>
              </p:cNvPr>
              <p:cNvSpPr txBox="1"/>
              <p:nvPr/>
            </p:nvSpPr>
            <p:spPr>
              <a:xfrm>
                <a:off x="10577511" y="5179881"/>
                <a:ext cx="681597" cy="307777"/>
              </a:xfrm>
              <a:prstGeom prst="rect">
                <a:avLst/>
              </a:prstGeom>
              <a:noFill/>
            </p:spPr>
            <p:txBody>
              <a:bodyPr wrap="none" rtlCol="0">
                <a:noAutofit/>
              </a:bodyPr>
              <a:lstStyle/>
              <a:p>
                <a:r>
                  <a:rPr lang="en-US" sz="1400" dirty="0"/>
                  <a:t>10,000</a:t>
                </a:r>
              </a:p>
            </p:txBody>
          </p:sp>
          <p:sp>
            <p:nvSpPr>
              <p:cNvPr id="21" name="TextBox 20">
                <a:extLst>
                  <a:ext uri="{FF2B5EF4-FFF2-40B4-BE49-F238E27FC236}">
                    <a16:creationId xmlns:a16="http://schemas.microsoft.com/office/drawing/2014/main" id="{654D40DD-20FB-76B0-B33D-DE19746FA0D8}"/>
                  </a:ext>
                </a:extLst>
              </p:cNvPr>
              <p:cNvSpPr txBox="1"/>
              <p:nvPr/>
            </p:nvSpPr>
            <p:spPr>
              <a:xfrm>
                <a:off x="9966722" y="5179881"/>
                <a:ext cx="582211" cy="307777"/>
              </a:xfrm>
              <a:prstGeom prst="rect">
                <a:avLst/>
              </a:prstGeom>
              <a:noFill/>
            </p:spPr>
            <p:txBody>
              <a:bodyPr wrap="none" rtlCol="0">
                <a:noAutofit/>
              </a:bodyPr>
              <a:lstStyle/>
              <a:p>
                <a:r>
                  <a:rPr lang="en-US" sz="1400" dirty="0"/>
                  <a:t>5,000</a:t>
                </a:r>
              </a:p>
            </p:txBody>
          </p:sp>
          <p:sp>
            <p:nvSpPr>
              <p:cNvPr id="22" name="TextBox 21">
                <a:extLst>
                  <a:ext uri="{FF2B5EF4-FFF2-40B4-BE49-F238E27FC236}">
                    <a16:creationId xmlns:a16="http://schemas.microsoft.com/office/drawing/2014/main" id="{2AB4630B-BFE6-F1F6-3DBF-5665C7E875E1}"/>
                  </a:ext>
                </a:extLst>
              </p:cNvPr>
              <p:cNvSpPr txBox="1"/>
              <p:nvPr/>
            </p:nvSpPr>
            <p:spPr>
              <a:xfrm>
                <a:off x="9372600" y="5179881"/>
                <a:ext cx="482824" cy="307777"/>
              </a:xfrm>
              <a:prstGeom prst="rect">
                <a:avLst/>
              </a:prstGeom>
              <a:noFill/>
            </p:spPr>
            <p:txBody>
              <a:bodyPr wrap="square" rtlCol="0">
                <a:noAutofit/>
              </a:bodyPr>
              <a:lstStyle/>
              <a:p>
                <a:r>
                  <a:rPr lang="en-US" sz="1400" dirty="0"/>
                  <a:t>0</a:t>
                </a:r>
              </a:p>
            </p:txBody>
          </p:sp>
          <p:cxnSp>
            <p:nvCxnSpPr>
              <p:cNvPr id="25" name="Straight Connector 24">
                <a:extLst>
                  <a:ext uri="{FF2B5EF4-FFF2-40B4-BE49-F238E27FC236}">
                    <a16:creationId xmlns:a16="http://schemas.microsoft.com/office/drawing/2014/main" id="{76A5F896-15D4-0DE8-6B80-6E41001A0724}"/>
                  </a:ext>
                </a:extLst>
              </p:cNvPr>
              <p:cNvCxnSpPr/>
              <p:nvPr/>
            </p:nvCxnSpPr>
            <p:spPr>
              <a:xfrm rot="16200000">
                <a:off x="9508333" y="3408422"/>
                <a:ext cx="0" cy="2976561"/>
              </a:xfrm>
              <a:prstGeom prst="line">
                <a:avLst/>
              </a:prstGeom>
              <a:ln w="12700">
                <a:solidFill>
                  <a:srgbClr val="233575"/>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054D8847-77CE-56F1-C2B3-EB1115AE6307}"/>
                  </a:ext>
                </a:extLst>
              </p:cNvPr>
              <p:cNvSpPr/>
              <p:nvPr/>
            </p:nvSpPr>
            <p:spPr>
              <a:xfrm>
                <a:off x="8020051" y="4850982"/>
                <a:ext cx="300036" cy="45719"/>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7" name="Rectangle 26">
                <a:extLst>
                  <a:ext uri="{FF2B5EF4-FFF2-40B4-BE49-F238E27FC236}">
                    <a16:creationId xmlns:a16="http://schemas.microsoft.com/office/drawing/2014/main" id="{C8E20989-01D1-9D94-FD19-843C4683360A}"/>
                  </a:ext>
                </a:extLst>
              </p:cNvPr>
              <p:cNvSpPr/>
              <p:nvPr/>
            </p:nvSpPr>
            <p:spPr>
              <a:xfrm>
                <a:off x="8323026" y="4712494"/>
                <a:ext cx="300036" cy="184207"/>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8" name="Rectangle 27">
                <a:extLst>
                  <a:ext uri="{FF2B5EF4-FFF2-40B4-BE49-F238E27FC236}">
                    <a16:creationId xmlns:a16="http://schemas.microsoft.com/office/drawing/2014/main" id="{2FB4E2D3-CD1A-B09C-754A-BC649F4C69EF}"/>
                  </a:ext>
                </a:extLst>
              </p:cNvPr>
              <p:cNvSpPr/>
              <p:nvPr/>
            </p:nvSpPr>
            <p:spPr>
              <a:xfrm>
                <a:off x="8623062" y="4243388"/>
                <a:ext cx="300036" cy="654843"/>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Rectangle 28">
                <a:extLst>
                  <a:ext uri="{FF2B5EF4-FFF2-40B4-BE49-F238E27FC236}">
                    <a16:creationId xmlns:a16="http://schemas.microsoft.com/office/drawing/2014/main" id="{ACD1ACE0-DDB1-4687-7109-9470EB753CF2}"/>
                  </a:ext>
                </a:extLst>
              </p:cNvPr>
              <p:cNvSpPr/>
              <p:nvPr/>
            </p:nvSpPr>
            <p:spPr>
              <a:xfrm>
                <a:off x="8913577" y="3352807"/>
                <a:ext cx="300036" cy="1542363"/>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0" name="Rectangle 29">
                <a:extLst>
                  <a:ext uri="{FF2B5EF4-FFF2-40B4-BE49-F238E27FC236}">
                    <a16:creationId xmlns:a16="http://schemas.microsoft.com/office/drawing/2014/main" id="{3B8E8503-98EE-CFCA-95E7-234F4A7B3E26}"/>
                  </a:ext>
                </a:extLst>
              </p:cNvPr>
              <p:cNvSpPr/>
              <p:nvPr/>
            </p:nvSpPr>
            <p:spPr>
              <a:xfrm>
                <a:off x="9213378" y="2724432"/>
                <a:ext cx="300036" cy="2170734"/>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1" name="Rectangle 30">
                <a:extLst>
                  <a:ext uri="{FF2B5EF4-FFF2-40B4-BE49-F238E27FC236}">
                    <a16:creationId xmlns:a16="http://schemas.microsoft.com/office/drawing/2014/main" id="{551DFF67-EB3B-1DD6-0415-0529A406F910}"/>
                  </a:ext>
                </a:extLst>
              </p:cNvPr>
              <p:cNvSpPr/>
              <p:nvPr/>
            </p:nvSpPr>
            <p:spPr>
              <a:xfrm>
                <a:off x="9514562" y="2490344"/>
                <a:ext cx="300036" cy="2404819"/>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2" name="Rectangle 31">
                <a:extLst>
                  <a:ext uri="{FF2B5EF4-FFF2-40B4-BE49-F238E27FC236}">
                    <a16:creationId xmlns:a16="http://schemas.microsoft.com/office/drawing/2014/main" id="{331D63F8-4FFE-EB20-6793-1AB8EA4B540D}"/>
                  </a:ext>
                </a:extLst>
              </p:cNvPr>
              <p:cNvSpPr/>
              <p:nvPr/>
            </p:nvSpPr>
            <p:spPr>
              <a:xfrm>
                <a:off x="9814387" y="3185162"/>
                <a:ext cx="300036" cy="1710002"/>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3" name="Rectangle 32">
                <a:extLst>
                  <a:ext uri="{FF2B5EF4-FFF2-40B4-BE49-F238E27FC236}">
                    <a16:creationId xmlns:a16="http://schemas.microsoft.com/office/drawing/2014/main" id="{F12FCA7B-B45F-42DC-F99E-E3FA0D0987F3}"/>
                  </a:ext>
                </a:extLst>
              </p:cNvPr>
              <p:cNvSpPr/>
              <p:nvPr/>
            </p:nvSpPr>
            <p:spPr>
              <a:xfrm>
                <a:off x="10114423" y="4181256"/>
                <a:ext cx="300036" cy="713906"/>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4" name="Rectangle 33">
                <a:extLst>
                  <a:ext uri="{FF2B5EF4-FFF2-40B4-BE49-F238E27FC236}">
                    <a16:creationId xmlns:a16="http://schemas.microsoft.com/office/drawing/2014/main" id="{0A976B82-3EE7-314D-3578-A4B962F92896}"/>
                  </a:ext>
                </a:extLst>
              </p:cNvPr>
              <p:cNvSpPr/>
              <p:nvPr/>
            </p:nvSpPr>
            <p:spPr>
              <a:xfrm>
                <a:off x="10414248" y="4695104"/>
                <a:ext cx="300036" cy="196300"/>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pSp>
        <p:sp>
          <p:nvSpPr>
            <p:cNvPr id="10" name="TextBox 9">
              <a:extLst>
                <a:ext uri="{FF2B5EF4-FFF2-40B4-BE49-F238E27FC236}">
                  <a16:creationId xmlns:a16="http://schemas.microsoft.com/office/drawing/2014/main" id="{A86806DA-5652-C833-2683-A66F5FAC101F}"/>
                </a:ext>
              </a:extLst>
            </p:cNvPr>
            <p:cNvSpPr txBox="1"/>
            <p:nvPr/>
          </p:nvSpPr>
          <p:spPr>
            <a:xfrm>
              <a:off x="8610881" y="1761856"/>
              <a:ext cx="2006261" cy="338554"/>
            </a:xfrm>
            <a:prstGeom prst="rect">
              <a:avLst/>
            </a:prstGeom>
            <a:noFill/>
          </p:spPr>
          <p:txBody>
            <a:bodyPr wrap="square" rtlCol="0">
              <a:noAutofit/>
            </a:bodyPr>
            <a:lstStyle/>
            <a:p>
              <a:pPr algn="ctr"/>
              <a:r>
                <a:rPr lang="en-US" sz="1600" b="1" dirty="0"/>
                <a:t>Validation errors</a:t>
              </a:r>
            </a:p>
          </p:txBody>
        </p:sp>
        <p:sp>
          <p:nvSpPr>
            <p:cNvPr id="11" name="TextBox 10">
              <a:extLst>
                <a:ext uri="{FF2B5EF4-FFF2-40B4-BE49-F238E27FC236}">
                  <a16:creationId xmlns:a16="http://schemas.microsoft.com/office/drawing/2014/main" id="{27FAEE48-9B1B-E40F-39EC-B445C6692A35}"/>
                </a:ext>
              </a:extLst>
            </p:cNvPr>
            <p:cNvSpPr txBox="1"/>
            <p:nvPr/>
          </p:nvSpPr>
          <p:spPr>
            <a:xfrm>
              <a:off x="8512343" y="5562600"/>
              <a:ext cx="2006261" cy="338554"/>
            </a:xfrm>
            <a:prstGeom prst="rect">
              <a:avLst/>
            </a:prstGeom>
            <a:noFill/>
          </p:spPr>
          <p:txBody>
            <a:bodyPr wrap="square" rtlCol="0">
              <a:noAutofit/>
            </a:bodyPr>
            <a:lstStyle/>
            <a:p>
              <a:pPr algn="ctr"/>
              <a:r>
                <a:rPr lang="en-US" sz="1600" dirty="0"/>
                <a:t>Errors</a:t>
              </a:r>
            </a:p>
          </p:txBody>
        </p:sp>
        <p:sp>
          <p:nvSpPr>
            <p:cNvPr id="12" name="TextBox 11">
              <a:extLst>
                <a:ext uri="{FF2B5EF4-FFF2-40B4-BE49-F238E27FC236}">
                  <a16:creationId xmlns:a16="http://schemas.microsoft.com/office/drawing/2014/main" id="{8F6FF640-05E0-49E5-AB2F-1D5C60DDE372}"/>
                </a:ext>
              </a:extLst>
            </p:cNvPr>
            <p:cNvSpPr txBox="1"/>
            <p:nvPr/>
          </p:nvSpPr>
          <p:spPr>
            <a:xfrm rot="16200000">
              <a:off x="6115457" y="3540086"/>
              <a:ext cx="2006261" cy="338554"/>
            </a:xfrm>
            <a:prstGeom prst="rect">
              <a:avLst/>
            </a:prstGeom>
            <a:noFill/>
          </p:spPr>
          <p:txBody>
            <a:bodyPr wrap="square" rtlCol="0">
              <a:noAutofit/>
            </a:bodyPr>
            <a:lstStyle/>
            <a:p>
              <a:pPr algn="ctr"/>
              <a:r>
                <a:rPr lang="en-US" sz="1600" dirty="0"/>
                <a:t>Frequency</a:t>
              </a:r>
            </a:p>
          </p:txBody>
        </p:sp>
      </p:grpSp>
      <p:sp>
        <p:nvSpPr>
          <p:cNvPr id="48" name="TextBox 47">
            <a:extLst>
              <a:ext uri="{FF2B5EF4-FFF2-40B4-BE49-F238E27FC236}">
                <a16:creationId xmlns:a16="http://schemas.microsoft.com/office/drawing/2014/main" id="{998A02EC-58EB-5D20-DF11-A1BCD1981EEE}"/>
              </a:ext>
            </a:extLst>
          </p:cNvPr>
          <p:cNvSpPr txBox="1"/>
          <p:nvPr/>
        </p:nvSpPr>
        <p:spPr>
          <a:xfrm>
            <a:off x="7786690" y="5018228"/>
            <a:ext cx="900110" cy="307777"/>
          </a:xfrm>
          <a:prstGeom prst="rect">
            <a:avLst/>
          </a:prstGeom>
          <a:noFill/>
        </p:spPr>
        <p:txBody>
          <a:bodyPr wrap="square" rtlCol="0">
            <a:noAutofit/>
          </a:bodyPr>
          <a:lstStyle/>
          <a:p>
            <a:r>
              <a:rPr lang="en-US" sz="1400" dirty="0"/>
              <a:t>–10,000</a:t>
            </a:r>
          </a:p>
        </p:txBody>
      </p:sp>
      <p:sp>
        <p:nvSpPr>
          <p:cNvPr id="49" name="TextBox 48">
            <a:extLst>
              <a:ext uri="{FF2B5EF4-FFF2-40B4-BE49-F238E27FC236}">
                <a16:creationId xmlns:a16="http://schemas.microsoft.com/office/drawing/2014/main" id="{EFC5A5AA-AD13-6001-3730-1823EFFB0111}"/>
              </a:ext>
            </a:extLst>
          </p:cNvPr>
          <p:cNvSpPr txBox="1"/>
          <p:nvPr/>
        </p:nvSpPr>
        <p:spPr>
          <a:xfrm>
            <a:off x="8564383" y="5018228"/>
            <a:ext cx="808217" cy="307777"/>
          </a:xfrm>
          <a:prstGeom prst="rect">
            <a:avLst/>
          </a:prstGeom>
          <a:noFill/>
        </p:spPr>
        <p:txBody>
          <a:bodyPr wrap="square" rtlCol="0">
            <a:noAutofit/>
          </a:bodyPr>
          <a:lstStyle/>
          <a:p>
            <a:r>
              <a:rPr lang="en-US" sz="1400" dirty="0"/>
              <a:t>–5,000</a:t>
            </a:r>
          </a:p>
        </p:txBody>
      </p:sp>
    </p:spTree>
    <p:extLst>
      <p:ext uri="{BB962C8B-B14F-4D97-AF65-F5344CB8AC3E}">
        <p14:creationId xmlns:p14="http://schemas.microsoft.com/office/powerpoint/2010/main" val="15275695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15A8A-F0E7-F87C-F0AB-C21AA6BC39D4}"/>
              </a:ext>
            </a:extLst>
          </p:cNvPr>
          <p:cNvSpPr>
            <a:spLocks noGrp="1"/>
          </p:cNvSpPr>
          <p:nvPr>
            <p:ph type="title"/>
          </p:nvPr>
        </p:nvSpPr>
        <p:spPr/>
        <p:txBody>
          <a:bodyPr>
            <a:noAutofit/>
          </a:bodyPr>
          <a:lstStyle/>
          <a:p>
            <a:r>
              <a:rPr lang="en-US" dirty="0"/>
              <a:t>Interpreting MSE, Part III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C8C2A17-EDEF-EC78-7A30-4C62A08F4004}"/>
                  </a:ext>
                </a:extLst>
              </p:cNvPr>
              <p:cNvSpPr>
                <a:spLocks noGrp="1"/>
              </p:cNvSpPr>
              <p:nvPr>
                <p:ph idx="1"/>
              </p:nvPr>
            </p:nvSpPr>
            <p:spPr>
              <a:xfrm>
                <a:off x="609600" y="1600203"/>
                <a:ext cx="6149947" cy="4525963"/>
              </a:xfrm>
            </p:spPr>
            <p:txBody>
              <a:bodyPr>
                <a:noAutofit/>
              </a:bodyPr>
              <a:lstStyle/>
              <a:p>
                <a:r>
                  <a:rPr lang="en-US" dirty="0"/>
                  <a:t>If the errors are normally distributed with a standard deviation of $3,000…</a:t>
                </a:r>
              </a:p>
              <a:p>
                <a:r>
                  <a:rPr lang="en-US" dirty="0"/>
                  <a:t>We know that roughly 95% of all the errors fall between </a:t>
                </a:r>
                <a14:m>
                  <m:oMath xmlns:m="http://schemas.openxmlformats.org/officeDocument/2006/math">
                    <m:r>
                      <a:rPr lang="en-US" smtClean="0">
                        <a:latin typeface="Cambria Math" panose="02040503050406030204" pitchFamily="18" charset="0"/>
                      </a:rPr>
                      <m:t>±2</m:t>
                    </m:r>
                    <m:r>
                      <a:rPr lang="en-US" smtClean="0">
                        <a:latin typeface="Cambria Math" panose="02040503050406030204" pitchFamily="18" charset="0"/>
                      </a:rPr>
                      <m:t>𝜎</m:t>
                    </m:r>
                  </m:oMath>
                </a14:m>
                <a:endParaRPr lang="en-US" dirty="0"/>
              </a:p>
              <a:p>
                <a:r>
                  <a:rPr lang="en-US" dirty="0"/>
                  <a:t>So, for our predictive model, 95% of all our predictions are off by no more than $6,000 </a:t>
                </a:r>
              </a:p>
            </p:txBody>
          </p:sp>
        </mc:Choice>
        <mc:Fallback xmlns="">
          <p:sp>
            <p:nvSpPr>
              <p:cNvPr id="3" name="Content Placeholder 2">
                <a:extLst>
                  <a:ext uri="{FF2B5EF4-FFF2-40B4-BE49-F238E27FC236}">
                    <a16:creationId xmlns:a16="http://schemas.microsoft.com/office/drawing/2014/main" id="{4C8C2A17-EDEF-EC78-7A30-4C62A08F4004}"/>
                  </a:ext>
                </a:extLst>
              </p:cNvPr>
              <p:cNvSpPr>
                <a:spLocks noGrp="1" noRot="1" noChangeAspect="1" noMove="1" noResize="1" noEditPoints="1" noAdjustHandles="1" noChangeArrowheads="1" noChangeShapeType="1" noTextEdit="1"/>
              </p:cNvSpPr>
              <p:nvPr>
                <p:ph idx="1"/>
              </p:nvPr>
            </p:nvSpPr>
            <p:spPr>
              <a:xfrm>
                <a:off x="609600" y="1600203"/>
                <a:ext cx="6149947" cy="4525963"/>
              </a:xfrm>
              <a:blipFill>
                <a:blip r:embed="rId2"/>
                <a:stretch>
                  <a:fillRect l="-2279" t="-1752"/>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6C160374-2F6B-7951-82CA-87AEA4AC79AC}"/>
              </a:ext>
            </a:extLst>
          </p:cNvPr>
          <p:cNvGrpSpPr/>
          <p:nvPr/>
        </p:nvGrpSpPr>
        <p:grpSpPr>
          <a:xfrm>
            <a:off x="7186821" y="1600203"/>
            <a:ext cx="4315176" cy="4139298"/>
            <a:chOff x="6949311" y="1761856"/>
            <a:chExt cx="4315176" cy="4139298"/>
          </a:xfrm>
        </p:grpSpPr>
        <p:sp>
          <p:nvSpPr>
            <p:cNvPr id="8" name="TextBox 7">
              <a:extLst>
                <a:ext uri="{FF2B5EF4-FFF2-40B4-BE49-F238E27FC236}">
                  <a16:creationId xmlns:a16="http://schemas.microsoft.com/office/drawing/2014/main" id="{69282E0B-82C8-80A9-164F-9000D21D6BC5}"/>
                </a:ext>
              </a:extLst>
            </p:cNvPr>
            <p:cNvSpPr txBox="1"/>
            <p:nvPr/>
          </p:nvSpPr>
          <p:spPr>
            <a:xfrm rot="16200000">
              <a:off x="7335349" y="2308326"/>
              <a:ext cx="482824" cy="307777"/>
            </a:xfrm>
            <a:prstGeom prst="rect">
              <a:avLst/>
            </a:prstGeom>
            <a:noFill/>
          </p:spPr>
          <p:txBody>
            <a:bodyPr wrap="none" rtlCol="0">
              <a:noAutofit/>
            </a:bodyPr>
            <a:lstStyle/>
            <a:p>
              <a:r>
                <a:rPr lang="en-US" sz="1400" dirty="0"/>
                <a:t>250</a:t>
              </a:r>
            </a:p>
          </p:txBody>
        </p:sp>
        <p:grpSp>
          <p:nvGrpSpPr>
            <p:cNvPr id="9" name="Group 8">
              <a:extLst>
                <a:ext uri="{FF2B5EF4-FFF2-40B4-BE49-F238E27FC236}">
                  <a16:creationId xmlns:a16="http://schemas.microsoft.com/office/drawing/2014/main" id="{3535341F-AA2F-996D-F747-28672A8896E3}"/>
                </a:ext>
              </a:extLst>
            </p:cNvPr>
            <p:cNvGrpSpPr/>
            <p:nvPr/>
          </p:nvGrpSpPr>
          <p:grpSpPr>
            <a:xfrm>
              <a:off x="7422872" y="2462215"/>
              <a:ext cx="3841615" cy="3025443"/>
              <a:chOff x="7422872" y="2462215"/>
              <a:chExt cx="3841615" cy="3025443"/>
            </a:xfrm>
          </p:grpSpPr>
          <p:grpSp>
            <p:nvGrpSpPr>
              <p:cNvPr id="13" name="Group 12">
                <a:extLst>
                  <a:ext uri="{FF2B5EF4-FFF2-40B4-BE49-F238E27FC236}">
                    <a16:creationId xmlns:a16="http://schemas.microsoft.com/office/drawing/2014/main" id="{84592F5F-B1B4-81B8-5D4D-899317A0122D}"/>
                  </a:ext>
                </a:extLst>
              </p:cNvPr>
              <p:cNvGrpSpPr/>
              <p:nvPr/>
            </p:nvGrpSpPr>
            <p:grpSpPr>
              <a:xfrm>
                <a:off x="7772400" y="2462215"/>
                <a:ext cx="133348" cy="2438400"/>
                <a:chOff x="7772400" y="2462215"/>
                <a:chExt cx="133348" cy="2438400"/>
              </a:xfrm>
            </p:grpSpPr>
            <p:cxnSp>
              <p:nvCxnSpPr>
                <p:cNvPr id="41" name="Straight Connector 40">
                  <a:extLst>
                    <a:ext uri="{FF2B5EF4-FFF2-40B4-BE49-F238E27FC236}">
                      <a16:creationId xmlns:a16="http://schemas.microsoft.com/office/drawing/2014/main" id="{47B7254E-F545-9CAF-4F9E-57B136D1040C}"/>
                    </a:ext>
                  </a:extLst>
                </p:cNvPr>
                <p:cNvCxnSpPr/>
                <p:nvPr/>
              </p:nvCxnSpPr>
              <p:spPr>
                <a:xfrm>
                  <a:off x="7905748" y="2462215"/>
                  <a:ext cx="0" cy="24384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1C9E120-5529-5C63-0D42-28EC9E9E6A1C}"/>
                    </a:ext>
                  </a:extLst>
                </p:cNvPr>
                <p:cNvCxnSpPr>
                  <a:cxnSpLocks/>
                </p:cNvCxnSpPr>
                <p:nvPr/>
              </p:nvCxnSpPr>
              <p:spPr>
                <a:xfrm flipH="1">
                  <a:off x="7772400" y="2462215"/>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6433786-EF5A-74F4-F46F-6248F5D98624}"/>
                    </a:ext>
                  </a:extLst>
                </p:cNvPr>
                <p:cNvCxnSpPr>
                  <a:cxnSpLocks/>
                </p:cNvCxnSpPr>
                <p:nvPr/>
              </p:nvCxnSpPr>
              <p:spPr>
                <a:xfrm flipH="1">
                  <a:off x="7772400" y="4900615"/>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22EEFF8-08D5-5267-6821-612C7671C90C}"/>
                    </a:ext>
                  </a:extLst>
                </p:cNvPr>
                <p:cNvCxnSpPr>
                  <a:cxnSpLocks/>
                </p:cNvCxnSpPr>
                <p:nvPr/>
              </p:nvCxnSpPr>
              <p:spPr>
                <a:xfrm flipH="1">
                  <a:off x="7772400" y="4419600"/>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0CAF733-A18C-A088-238B-CB6B50BA4783}"/>
                    </a:ext>
                  </a:extLst>
                </p:cNvPr>
                <p:cNvCxnSpPr>
                  <a:cxnSpLocks/>
                </p:cNvCxnSpPr>
                <p:nvPr/>
              </p:nvCxnSpPr>
              <p:spPr>
                <a:xfrm flipH="1">
                  <a:off x="7772400" y="3933822"/>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4136D03-9B76-AEE9-0534-313CE8A68EB3}"/>
                    </a:ext>
                  </a:extLst>
                </p:cNvPr>
                <p:cNvCxnSpPr>
                  <a:cxnSpLocks/>
                </p:cNvCxnSpPr>
                <p:nvPr/>
              </p:nvCxnSpPr>
              <p:spPr>
                <a:xfrm flipH="1">
                  <a:off x="7772400" y="3443284"/>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5EE17D0-4CC7-7988-01EA-E028B7A276F2}"/>
                    </a:ext>
                  </a:extLst>
                </p:cNvPr>
                <p:cNvCxnSpPr>
                  <a:cxnSpLocks/>
                </p:cNvCxnSpPr>
                <p:nvPr/>
              </p:nvCxnSpPr>
              <p:spPr>
                <a:xfrm flipH="1">
                  <a:off x="7772400" y="2971800"/>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F1EA7024-C440-1986-89DE-64CB57938A02}"/>
                  </a:ext>
                </a:extLst>
              </p:cNvPr>
              <p:cNvGrpSpPr/>
              <p:nvPr/>
            </p:nvGrpSpPr>
            <p:grpSpPr>
              <a:xfrm rot="16200000">
                <a:off x="9441658" y="3569489"/>
                <a:ext cx="133349" cy="2976561"/>
                <a:chOff x="8477252" y="2643984"/>
                <a:chExt cx="133349" cy="2438400"/>
              </a:xfrm>
            </p:grpSpPr>
            <p:cxnSp>
              <p:nvCxnSpPr>
                <p:cNvPr id="35" name="Straight Connector 34">
                  <a:extLst>
                    <a:ext uri="{FF2B5EF4-FFF2-40B4-BE49-F238E27FC236}">
                      <a16:creationId xmlns:a16="http://schemas.microsoft.com/office/drawing/2014/main" id="{6CA6D1ED-8FC7-74AD-21C0-B1AE9A16E975}"/>
                    </a:ext>
                  </a:extLst>
                </p:cNvPr>
                <p:cNvCxnSpPr/>
                <p:nvPr/>
              </p:nvCxnSpPr>
              <p:spPr>
                <a:xfrm>
                  <a:off x="8610600" y="2643984"/>
                  <a:ext cx="0" cy="24384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C6997FC-33CF-BF05-A603-B8F6DB366DBF}"/>
                    </a:ext>
                  </a:extLst>
                </p:cNvPr>
                <p:cNvCxnSpPr>
                  <a:cxnSpLocks/>
                </p:cNvCxnSpPr>
                <p:nvPr/>
              </p:nvCxnSpPr>
              <p:spPr>
                <a:xfrm flipH="1">
                  <a:off x="8477252" y="2643984"/>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FF6E49F-FED4-D753-6463-D43572F4949C}"/>
                    </a:ext>
                  </a:extLst>
                </p:cNvPr>
                <p:cNvCxnSpPr>
                  <a:cxnSpLocks/>
                </p:cNvCxnSpPr>
                <p:nvPr/>
              </p:nvCxnSpPr>
              <p:spPr>
                <a:xfrm flipH="1">
                  <a:off x="8477252" y="5082384"/>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7736671-3D0C-D4C2-3A73-869A522F18E5}"/>
                    </a:ext>
                  </a:extLst>
                </p:cNvPr>
                <p:cNvCxnSpPr>
                  <a:cxnSpLocks/>
                </p:cNvCxnSpPr>
                <p:nvPr/>
              </p:nvCxnSpPr>
              <p:spPr>
                <a:xfrm flipH="1">
                  <a:off x="8477253" y="4476511"/>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DD04D78-9EC6-5D6B-1E02-F1937E084872}"/>
                    </a:ext>
                  </a:extLst>
                </p:cNvPr>
                <p:cNvCxnSpPr>
                  <a:cxnSpLocks/>
                </p:cNvCxnSpPr>
                <p:nvPr/>
              </p:nvCxnSpPr>
              <p:spPr>
                <a:xfrm flipH="1">
                  <a:off x="8477252" y="3869034"/>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BD3C95E-A9EE-2041-6B26-2573C823B01A}"/>
                    </a:ext>
                  </a:extLst>
                </p:cNvPr>
                <p:cNvCxnSpPr>
                  <a:cxnSpLocks/>
                </p:cNvCxnSpPr>
                <p:nvPr/>
              </p:nvCxnSpPr>
              <p:spPr>
                <a:xfrm flipH="1">
                  <a:off x="8477252" y="3252608"/>
                  <a:ext cx="1333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Box 14">
                <a:extLst>
                  <a:ext uri="{FF2B5EF4-FFF2-40B4-BE49-F238E27FC236}">
                    <a16:creationId xmlns:a16="http://schemas.microsoft.com/office/drawing/2014/main" id="{74D75B28-9186-371D-EF56-7767B1901035}"/>
                  </a:ext>
                </a:extLst>
              </p:cNvPr>
              <p:cNvSpPr txBox="1"/>
              <p:nvPr/>
            </p:nvSpPr>
            <p:spPr>
              <a:xfrm rot="16200000">
                <a:off x="7335349" y="2817911"/>
                <a:ext cx="482824" cy="307777"/>
              </a:xfrm>
              <a:prstGeom prst="rect">
                <a:avLst/>
              </a:prstGeom>
              <a:noFill/>
            </p:spPr>
            <p:txBody>
              <a:bodyPr wrap="none" rtlCol="0">
                <a:noAutofit/>
              </a:bodyPr>
              <a:lstStyle/>
              <a:p>
                <a:r>
                  <a:rPr lang="en-US" sz="1400" dirty="0"/>
                  <a:t>200</a:t>
                </a:r>
              </a:p>
            </p:txBody>
          </p:sp>
          <p:sp>
            <p:nvSpPr>
              <p:cNvPr id="16" name="TextBox 15">
                <a:extLst>
                  <a:ext uri="{FF2B5EF4-FFF2-40B4-BE49-F238E27FC236}">
                    <a16:creationId xmlns:a16="http://schemas.microsoft.com/office/drawing/2014/main" id="{38DCDB28-5919-4B9E-1880-A1EDB735AE43}"/>
                  </a:ext>
                </a:extLst>
              </p:cNvPr>
              <p:cNvSpPr txBox="1"/>
              <p:nvPr/>
            </p:nvSpPr>
            <p:spPr>
              <a:xfrm rot="16200000">
                <a:off x="7335349" y="3303351"/>
                <a:ext cx="482824" cy="307777"/>
              </a:xfrm>
              <a:prstGeom prst="rect">
                <a:avLst/>
              </a:prstGeom>
              <a:noFill/>
            </p:spPr>
            <p:txBody>
              <a:bodyPr wrap="none" rtlCol="0">
                <a:noAutofit/>
              </a:bodyPr>
              <a:lstStyle/>
              <a:p>
                <a:r>
                  <a:rPr lang="en-US" sz="1400" dirty="0"/>
                  <a:t>150</a:t>
                </a:r>
              </a:p>
            </p:txBody>
          </p:sp>
          <p:sp>
            <p:nvSpPr>
              <p:cNvPr id="17" name="TextBox 16">
                <a:extLst>
                  <a:ext uri="{FF2B5EF4-FFF2-40B4-BE49-F238E27FC236}">
                    <a16:creationId xmlns:a16="http://schemas.microsoft.com/office/drawing/2014/main" id="{3909934E-1439-B061-CED8-77E3EEED06F0}"/>
                  </a:ext>
                </a:extLst>
              </p:cNvPr>
              <p:cNvSpPr txBox="1"/>
              <p:nvPr/>
            </p:nvSpPr>
            <p:spPr>
              <a:xfrm rot="16200000">
                <a:off x="7335349" y="3785955"/>
                <a:ext cx="482824" cy="307777"/>
              </a:xfrm>
              <a:prstGeom prst="rect">
                <a:avLst/>
              </a:prstGeom>
              <a:noFill/>
            </p:spPr>
            <p:txBody>
              <a:bodyPr wrap="square" rtlCol="0">
                <a:noAutofit/>
              </a:bodyPr>
              <a:lstStyle/>
              <a:p>
                <a:r>
                  <a:rPr lang="en-US" sz="1400" dirty="0"/>
                  <a:t>100</a:t>
                </a:r>
              </a:p>
            </p:txBody>
          </p:sp>
          <p:sp>
            <p:nvSpPr>
              <p:cNvPr id="18" name="TextBox 17">
                <a:extLst>
                  <a:ext uri="{FF2B5EF4-FFF2-40B4-BE49-F238E27FC236}">
                    <a16:creationId xmlns:a16="http://schemas.microsoft.com/office/drawing/2014/main" id="{17DBF04D-3E15-0FEE-3ABC-F98A8E940C0E}"/>
                  </a:ext>
                </a:extLst>
              </p:cNvPr>
              <p:cNvSpPr txBox="1"/>
              <p:nvPr/>
            </p:nvSpPr>
            <p:spPr>
              <a:xfrm rot="16200000">
                <a:off x="7335349" y="4232371"/>
                <a:ext cx="482824" cy="307777"/>
              </a:xfrm>
              <a:prstGeom prst="rect">
                <a:avLst/>
              </a:prstGeom>
              <a:noFill/>
            </p:spPr>
            <p:txBody>
              <a:bodyPr wrap="square" rtlCol="0">
                <a:noAutofit/>
              </a:bodyPr>
              <a:lstStyle/>
              <a:p>
                <a:r>
                  <a:rPr lang="en-US" sz="1400" dirty="0"/>
                  <a:t>50</a:t>
                </a:r>
              </a:p>
            </p:txBody>
          </p:sp>
          <p:sp>
            <p:nvSpPr>
              <p:cNvPr id="19" name="TextBox 18">
                <a:extLst>
                  <a:ext uri="{FF2B5EF4-FFF2-40B4-BE49-F238E27FC236}">
                    <a16:creationId xmlns:a16="http://schemas.microsoft.com/office/drawing/2014/main" id="{B7C4556A-70F3-DD01-43D4-58BF9C793EFE}"/>
                  </a:ext>
                </a:extLst>
              </p:cNvPr>
              <p:cNvSpPr txBox="1"/>
              <p:nvPr/>
            </p:nvSpPr>
            <p:spPr>
              <a:xfrm rot="16200000">
                <a:off x="7335349" y="4655886"/>
                <a:ext cx="482824" cy="307777"/>
              </a:xfrm>
              <a:prstGeom prst="rect">
                <a:avLst/>
              </a:prstGeom>
              <a:noFill/>
            </p:spPr>
            <p:txBody>
              <a:bodyPr wrap="square" rtlCol="0">
                <a:noAutofit/>
              </a:bodyPr>
              <a:lstStyle/>
              <a:p>
                <a:r>
                  <a:rPr lang="en-US" sz="1400" dirty="0"/>
                  <a:t>0</a:t>
                </a:r>
              </a:p>
            </p:txBody>
          </p:sp>
          <p:sp>
            <p:nvSpPr>
              <p:cNvPr id="20" name="TextBox 19">
                <a:extLst>
                  <a:ext uri="{FF2B5EF4-FFF2-40B4-BE49-F238E27FC236}">
                    <a16:creationId xmlns:a16="http://schemas.microsoft.com/office/drawing/2014/main" id="{81F9875B-581B-F03C-9628-15C8599769E6}"/>
                  </a:ext>
                </a:extLst>
              </p:cNvPr>
              <p:cNvSpPr txBox="1"/>
              <p:nvPr/>
            </p:nvSpPr>
            <p:spPr>
              <a:xfrm>
                <a:off x="10582890" y="5179881"/>
                <a:ext cx="681597" cy="307777"/>
              </a:xfrm>
              <a:prstGeom prst="rect">
                <a:avLst/>
              </a:prstGeom>
              <a:noFill/>
            </p:spPr>
            <p:txBody>
              <a:bodyPr wrap="none" rtlCol="0">
                <a:noAutofit/>
              </a:bodyPr>
              <a:lstStyle/>
              <a:p>
                <a:r>
                  <a:rPr lang="en-US" sz="1400" dirty="0"/>
                  <a:t>10,000</a:t>
                </a:r>
              </a:p>
            </p:txBody>
          </p:sp>
          <p:sp>
            <p:nvSpPr>
              <p:cNvPr id="21" name="TextBox 20">
                <a:extLst>
                  <a:ext uri="{FF2B5EF4-FFF2-40B4-BE49-F238E27FC236}">
                    <a16:creationId xmlns:a16="http://schemas.microsoft.com/office/drawing/2014/main" id="{62DBFB58-FBA1-8508-23C7-E38F6ADEF3C5}"/>
                  </a:ext>
                </a:extLst>
              </p:cNvPr>
              <p:cNvSpPr txBox="1"/>
              <p:nvPr/>
            </p:nvSpPr>
            <p:spPr>
              <a:xfrm>
                <a:off x="9966722" y="5179881"/>
                <a:ext cx="582211" cy="307777"/>
              </a:xfrm>
              <a:prstGeom prst="rect">
                <a:avLst/>
              </a:prstGeom>
              <a:noFill/>
            </p:spPr>
            <p:txBody>
              <a:bodyPr wrap="none" rtlCol="0">
                <a:noAutofit/>
              </a:bodyPr>
              <a:lstStyle/>
              <a:p>
                <a:r>
                  <a:rPr lang="en-US" sz="1400" dirty="0"/>
                  <a:t>5,000</a:t>
                </a:r>
              </a:p>
            </p:txBody>
          </p:sp>
          <p:sp>
            <p:nvSpPr>
              <p:cNvPr id="22" name="TextBox 21">
                <a:extLst>
                  <a:ext uri="{FF2B5EF4-FFF2-40B4-BE49-F238E27FC236}">
                    <a16:creationId xmlns:a16="http://schemas.microsoft.com/office/drawing/2014/main" id="{4E9D4190-7325-D554-0622-795C97FF97AB}"/>
                  </a:ext>
                </a:extLst>
              </p:cNvPr>
              <p:cNvSpPr txBox="1"/>
              <p:nvPr/>
            </p:nvSpPr>
            <p:spPr>
              <a:xfrm>
                <a:off x="9372600" y="5179881"/>
                <a:ext cx="482824" cy="307777"/>
              </a:xfrm>
              <a:prstGeom prst="rect">
                <a:avLst/>
              </a:prstGeom>
              <a:noFill/>
            </p:spPr>
            <p:txBody>
              <a:bodyPr wrap="square" rtlCol="0">
                <a:noAutofit/>
              </a:bodyPr>
              <a:lstStyle/>
              <a:p>
                <a:r>
                  <a:rPr lang="en-US" sz="1400" dirty="0"/>
                  <a:t>0</a:t>
                </a:r>
              </a:p>
            </p:txBody>
          </p:sp>
          <p:cxnSp>
            <p:nvCxnSpPr>
              <p:cNvPr id="25" name="Straight Connector 24">
                <a:extLst>
                  <a:ext uri="{FF2B5EF4-FFF2-40B4-BE49-F238E27FC236}">
                    <a16:creationId xmlns:a16="http://schemas.microsoft.com/office/drawing/2014/main" id="{02561F02-21F5-7143-0B7E-A13635A6BC02}"/>
                  </a:ext>
                </a:extLst>
              </p:cNvPr>
              <p:cNvCxnSpPr/>
              <p:nvPr/>
            </p:nvCxnSpPr>
            <p:spPr>
              <a:xfrm rot="16200000">
                <a:off x="9508333" y="3408422"/>
                <a:ext cx="0" cy="2976561"/>
              </a:xfrm>
              <a:prstGeom prst="line">
                <a:avLst/>
              </a:prstGeom>
              <a:ln w="12700">
                <a:solidFill>
                  <a:srgbClr val="233575"/>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FB77DEEE-0480-0F22-2F42-17A153789D4C}"/>
                  </a:ext>
                </a:extLst>
              </p:cNvPr>
              <p:cNvSpPr/>
              <p:nvPr/>
            </p:nvSpPr>
            <p:spPr>
              <a:xfrm>
                <a:off x="8020051" y="4850982"/>
                <a:ext cx="300036" cy="45719"/>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7" name="Rectangle 26">
                <a:extLst>
                  <a:ext uri="{FF2B5EF4-FFF2-40B4-BE49-F238E27FC236}">
                    <a16:creationId xmlns:a16="http://schemas.microsoft.com/office/drawing/2014/main" id="{CD905465-DBA6-7737-B64F-4DF14092EF08}"/>
                  </a:ext>
                </a:extLst>
              </p:cNvPr>
              <p:cNvSpPr/>
              <p:nvPr/>
            </p:nvSpPr>
            <p:spPr>
              <a:xfrm>
                <a:off x="8323026" y="4712494"/>
                <a:ext cx="300036" cy="184207"/>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8" name="Rectangle 27">
                <a:extLst>
                  <a:ext uri="{FF2B5EF4-FFF2-40B4-BE49-F238E27FC236}">
                    <a16:creationId xmlns:a16="http://schemas.microsoft.com/office/drawing/2014/main" id="{E17ADB84-4D2E-85D5-2EAA-6E2FD387B90D}"/>
                  </a:ext>
                </a:extLst>
              </p:cNvPr>
              <p:cNvSpPr/>
              <p:nvPr/>
            </p:nvSpPr>
            <p:spPr>
              <a:xfrm>
                <a:off x="8623062" y="4243388"/>
                <a:ext cx="300036" cy="654843"/>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Rectangle 28">
                <a:extLst>
                  <a:ext uri="{FF2B5EF4-FFF2-40B4-BE49-F238E27FC236}">
                    <a16:creationId xmlns:a16="http://schemas.microsoft.com/office/drawing/2014/main" id="{BFE26009-2FE5-AA6A-557E-7A5D06E147A2}"/>
                  </a:ext>
                </a:extLst>
              </p:cNvPr>
              <p:cNvSpPr/>
              <p:nvPr/>
            </p:nvSpPr>
            <p:spPr>
              <a:xfrm>
                <a:off x="8913577" y="3352807"/>
                <a:ext cx="300036" cy="1542363"/>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0" name="Rectangle 29">
                <a:extLst>
                  <a:ext uri="{FF2B5EF4-FFF2-40B4-BE49-F238E27FC236}">
                    <a16:creationId xmlns:a16="http://schemas.microsoft.com/office/drawing/2014/main" id="{0C16055D-E4FE-CA91-A09C-724299D45DF3}"/>
                  </a:ext>
                </a:extLst>
              </p:cNvPr>
              <p:cNvSpPr/>
              <p:nvPr/>
            </p:nvSpPr>
            <p:spPr>
              <a:xfrm>
                <a:off x="9213378" y="2724432"/>
                <a:ext cx="300036" cy="2170734"/>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1" name="Rectangle 30">
                <a:extLst>
                  <a:ext uri="{FF2B5EF4-FFF2-40B4-BE49-F238E27FC236}">
                    <a16:creationId xmlns:a16="http://schemas.microsoft.com/office/drawing/2014/main" id="{53AFA8A4-0715-2B11-F0FC-BF104289589D}"/>
                  </a:ext>
                </a:extLst>
              </p:cNvPr>
              <p:cNvSpPr/>
              <p:nvPr/>
            </p:nvSpPr>
            <p:spPr>
              <a:xfrm>
                <a:off x="9514562" y="2490344"/>
                <a:ext cx="300036" cy="2404819"/>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2" name="Rectangle 31">
                <a:extLst>
                  <a:ext uri="{FF2B5EF4-FFF2-40B4-BE49-F238E27FC236}">
                    <a16:creationId xmlns:a16="http://schemas.microsoft.com/office/drawing/2014/main" id="{A7E3C025-CB61-C099-BE51-B1FF5258465C}"/>
                  </a:ext>
                </a:extLst>
              </p:cNvPr>
              <p:cNvSpPr/>
              <p:nvPr/>
            </p:nvSpPr>
            <p:spPr>
              <a:xfrm>
                <a:off x="9814387" y="3185162"/>
                <a:ext cx="300036" cy="1710002"/>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3" name="Rectangle 32">
                <a:extLst>
                  <a:ext uri="{FF2B5EF4-FFF2-40B4-BE49-F238E27FC236}">
                    <a16:creationId xmlns:a16="http://schemas.microsoft.com/office/drawing/2014/main" id="{55F22BB1-F6B3-21F7-51B7-CFA4C85988C4}"/>
                  </a:ext>
                </a:extLst>
              </p:cNvPr>
              <p:cNvSpPr/>
              <p:nvPr/>
            </p:nvSpPr>
            <p:spPr>
              <a:xfrm>
                <a:off x="10114423" y="4181256"/>
                <a:ext cx="300036" cy="713906"/>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4" name="Rectangle 33">
                <a:extLst>
                  <a:ext uri="{FF2B5EF4-FFF2-40B4-BE49-F238E27FC236}">
                    <a16:creationId xmlns:a16="http://schemas.microsoft.com/office/drawing/2014/main" id="{A7A11754-487E-4182-821A-96E83F2F980C}"/>
                  </a:ext>
                </a:extLst>
              </p:cNvPr>
              <p:cNvSpPr/>
              <p:nvPr/>
            </p:nvSpPr>
            <p:spPr>
              <a:xfrm>
                <a:off x="10414248" y="4695104"/>
                <a:ext cx="300036" cy="196300"/>
              </a:xfrm>
              <a:prstGeom prst="rect">
                <a:avLst/>
              </a:prstGeom>
              <a:solidFill>
                <a:schemeClr val="accent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pSp>
        <p:sp>
          <p:nvSpPr>
            <p:cNvPr id="10" name="TextBox 9">
              <a:extLst>
                <a:ext uri="{FF2B5EF4-FFF2-40B4-BE49-F238E27FC236}">
                  <a16:creationId xmlns:a16="http://schemas.microsoft.com/office/drawing/2014/main" id="{33AACFC0-A6C1-43B8-96D6-2EB11EEEBAA6}"/>
                </a:ext>
              </a:extLst>
            </p:cNvPr>
            <p:cNvSpPr txBox="1"/>
            <p:nvPr/>
          </p:nvSpPr>
          <p:spPr>
            <a:xfrm>
              <a:off x="8610881" y="1761856"/>
              <a:ext cx="2006261" cy="338554"/>
            </a:xfrm>
            <a:prstGeom prst="rect">
              <a:avLst/>
            </a:prstGeom>
            <a:noFill/>
          </p:spPr>
          <p:txBody>
            <a:bodyPr wrap="square" rtlCol="0">
              <a:noAutofit/>
            </a:bodyPr>
            <a:lstStyle/>
            <a:p>
              <a:pPr algn="ctr"/>
              <a:r>
                <a:rPr lang="en-US" sz="1600" b="1" dirty="0"/>
                <a:t>Validation errors</a:t>
              </a:r>
            </a:p>
          </p:txBody>
        </p:sp>
        <p:sp>
          <p:nvSpPr>
            <p:cNvPr id="11" name="TextBox 10">
              <a:extLst>
                <a:ext uri="{FF2B5EF4-FFF2-40B4-BE49-F238E27FC236}">
                  <a16:creationId xmlns:a16="http://schemas.microsoft.com/office/drawing/2014/main" id="{4035EFC3-4215-E151-770D-E25F94E37436}"/>
                </a:ext>
              </a:extLst>
            </p:cNvPr>
            <p:cNvSpPr txBox="1"/>
            <p:nvPr/>
          </p:nvSpPr>
          <p:spPr>
            <a:xfrm>
              <a:off x="8512343" y="5562600"/>
              <a:ext cx="2006261" cy="338554"/>
            </a:xfrm>
            <a:prstGeom prst="rect">
              <a:avLst/>
            </a:prstGeom>
            <a:noFill/>
          </p:spPr>
          <p:txBody>
            <a:bodyPr wrap="square" rtlCol="0">
              <a:noAutofit/>
            </a:bodyPr>
            <a:lstStyle/>
            <a:p>
              <a:pPr algn="ctr"/>
              <a:r>
                <a:rPr lang="en-US" sz="1600" dirty="0"/>
                <a:t>Errors</a:t>
              </a:r>
            </a:p>
          </p:txBody>
        </p:sp>
        <p:sp>
          <p:nvSpPr>
            <p:cNvPr id="12" name="TextBox 11">
              <a:extLst>
                <a:ext uri="{FF2B5EF4-FFF2-40B4-BE49-F238E27FC236}">
                  <a16:creationId xmlns:a16="http://schemas.microsoft.com/office/drawing/2014/main" id="{D5B63E55-E1CA-A2A2-A610-2CE1EF9E2FD3}"/>
                </a:ext>
              </a:extLst>
            </p:cNvPr>
            <p:cNvSpPr txBox="1"/>
            <p:nvPr/>
          </p:nvSpPr>
          <p:spPr>
            <a:xfrm rot="16200000">
              <a:off x="6115457" y="3540086"/>
              <a:ext cx="2006261" cy="338554"/>
            </a:xfrm>
            <a:prstGeom prst="rect">
              <a:avLst/>
            </a:prstGeom>
            <a:noFill/>
          </p:spPr>
          <p:txBody>
            <a:bodyPr wrap="square" rtlCol="0">
              <a:noAutofit/>
            </a:bodyPr>
            <a:lstStyle/>
            <a:p>
              <a:pPr algn="ctr"/>
              <a:r>
                <a:rPr lang="en-US" sz="1600" dirty="0"/>
                <a:t>Frequency</a:t>
              </a:r>
            </a:p>
          </p:txBody>
        </p:sp>
      </p:grpSp>
      <p:sp>
        <p:nvSpPr>
          <p:cNvPr id="48" name="TextBox 47">
            <a:extLst>
              <a:ext uri="{FF2B5EF4-FFF2-40B4-BE49-F238E27FC236}">
                <a16:creationId xmlns:a16="http://schemas.microsoft.com/office/drawing/2014/main" id="{49478913-C0F8-57FC-EB8D-FECF81ABF91F}"/>
              </a:ext>
            </a:extLst>
          </p:cNvPr>
          <p:cNvSpPr txBox="1"/>
          <p:nvPr/>
        </p:nvSpPr>
        <p:spPr>
          <a:xfrm>
            <a:off x="8564383" y="5018228"/>
            <a:ext cx="808217" cy="307777"/>
          </a:xfrm>
          <a:prstGeom prst="rect">
            <a:avLst/>
          </a:prstGeom>
          <a:noFill/>
        </p:spPr>
        <p:txBody>
          <a:bodyPr wrap="square" rtlCol="0">
            <a:noAutofit/>
          </a:bodyPr>
          <a:lstStyle/>
          <a:p>
            <a:r>
              <a:rPr lang="en-US" sz="1400" dirty="0"/>
              <a:t>–5,000</a:t>
            </a:r>
          </a:p>
        </p:txBody>
      </p:sp>
      <p:sp>
        <p:nvSpPr>
          <p:cNvPr id="49" name="TextBox 48">
            <a:extLst>
              <a:ext uri="{FF2B5EF4-FFF2-40B4-BE49-F238E27FC236}">
                <a16:creationId xmlns:a16="http://schemas.microsoft.com/office/drawing/2014/main" id="{950CA24B-FB1B-B84C-F270-7C68E141EF6E}"/>
              </a:ext>
            </a:extLst>
          </p:cNvPr>
          <p:cNvSpPr txBox="1"/>
          <p:nvPr/>
        </p:nvSpPr>
        <p:spPr>
          <a:xfrm>
            <a:off x="7786690" y="5018228"/>
            <a:ext cx="900110" cy="307777"/>
          </a:xfrm>
          <a:prstGeom prst="rect">
            <a:avLst/>
          </a:prstGeom>
          <a:noFill/>
        </p:spPr>
        <p:txBody>
          <a:bodyPr wrap="square" rtlCol="0">
            <a:noAutofit/>
          </a:bodyPr>
          <a:lstStyle/>
          <a:p>
            <a:r>
              <a:rPr lang="en-US" sz="1400" dirty="0"/>
              <a:t>–10,000</a:t>
            </a:r>
          </a:p>
        </p:txBody>
      </p:sp>
    </p:spTree>
    <p:extLst>
      <p:ext uri="{BB962C8B-B14F-4D97-AF65-F5344CB8AC3E}">
        <p14:creationId xmlns:p14="http://schemas.microsoft.com/office/powerpoint/2010/main" val="1224540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C763F-9BF5-EE1C-85CA-520EB00E6727}"/>
              </a:ext>
            </a:extLst>
          </p:cNvPr>
          <p:cNvSpPr>
            <a:spLocks noGrp="1"/>
          </p:cNvSpPr>
          <p:nvPr>
            <p:ph type="title"/>
          </p:nvPr>
        </p:nvSpPr>
        <p:spPr/>
        <p:txBody>
          <a:bodyPr/>
          <a:lstStyle/>
          <a:p>
            <a:r>
              <a:rPr lang="en-US" dirty="0"/>
              <a:t>Practical Significance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3A9747-8703-1758-063B-3600177AD8B3}"/>
                  </a:ext>
                </a:extLst>
              </p:cNvPr>
              <p:cNvSpPr>
                <a:spLocks noGrp="1"/>
              </p:cNvSpPr>
              <p:nvPr>
                <p:ph idx="1"/>
              </p:nvPr>
            </p:nvSpPr>
            <p:spPr/>
            <p:txBody>
              <a:bodyPr/>
              <a:lstStyle/>
              <a:p>
                <a:r>
                  <a:rPr lang="en-US" dirty="0"/>
                  <a:t>Is being off by up to $6,000 good?</a:t>
                </a:r>
              </a:p>
              <a:p>
                <a:r>
                  <a:rPr lang="en-US" dirty="0"/>
                  <a:t>This will depend on the project goals.</a:t>
                </a:r>
              </a:p>
              <a:p>
                <a:pPr lvl="1"/>
                <a:r>
                  <a:rPr lang="en-US" dirty="0"/>
                  <a:t>At face value, given that homes cost hundreds of thousands of dollars, being off by no more than $6,000 seems pretty good.</a:t>
                </a:r>
              </a:p>
              <a:p>
                <a:pPr lvl="1"/>
                <a:r>
                  <a:rPr lang="en-US" dirty="0"/>
                  <a:t>It may not be low enough for other reasons.</a:t>
                </a:r>
              </a:p>
              <a:p>
                <a:pPr lvl="2"/>
                <a:r>
                  <a:rPr lang="en-US" dirty="0"/>
                  <a:t>Marketing wants to be able to sell your predictive tool to companies and boast a </a:t>
                </a:r>
                <a14:m>
                  <m:oMath xmlns:m="http://schemas.openxmlformats.org/officeDocument/2006/math">
                    <m:r>
                      <a:rPr lang="en-US">
                        <a:latin typeface="Cambria Math" panose="02040503050406030204" pitchFamily="18" charset="0"/>
                      </a:rPr>
                      <m:t>±</m:t>
                    </m:r>
                    <m:r>
                      <a:rPr lang="en-US" smtClean="0">
                        <a:latin typeface="Cambria Math" panose="02040503050406030204" pitchFamily="18" charset="0"/>
                      </a:rPr>
                      <m:t>$500</m:t>
                    </m:r>
                  </m:oMath>
                </a14:m>
                <a:r>
                  <a:rPr lang="en-US" dirty="0"/>
                  <a:t> margin of error.</a:t>
                </a:r>
              </a:p>
              <a:p>
                <a:pPr lvl="2"/>
                <a:r>
                  <a:rPr lang="en-US" dirty="0"/>
                  <a:t>Even if only a few thousand dollars off, it impacts the cost of a future decision by a meaningful amount.</a:t>
                </a:r>
              </a:p>
            </p:txBody>
          </p:sp>
        </mc:Choice>
        <mc:Fallback xmlns="">
          <p:sp>
            <p:nvSpPr>
              <p:cNvPr id="3" name="Content Placeholder 2">
                <a:extLst>
                  <a:ext uri="{FF2B5EF4-FFF2-40B4-BE49-F238E27FC236}">
                    <a16:creationId xmlns:a16="http://schemas.microsoft.com/office/drawing/2014/main" id="{213A9747-8703-1758-063B-3600177AD8B3}"/>
                  </a:ext>
                </a:extLst>
              </p:cNvPr>
              <p:cNvSpPr>
                <a:spLocks noGrp="1" noRot="1" noChangeAspect="1" noMove="1" noResize="1" noEditPoints="1" noAdjustHandles="1" noChangeArrowheads="1" noChangeShapeType="1" noTextEdit="1"/>
              </p:cNvSpPr>
              <p:nvPr>
                <p:ph idx="1"/>
              </p:nvPr>
            </p:nvSpPr>
            <p:spPr>
              <a:blipFill>
                <a:blip r:embed="rId2"/>
                <a:stretch>
                  <a:fillRect l="-1387" t="-1681" r="-116"/>
                </a:stretch>
              </a:blipFill>
            </p:spPr>
            <p:txBody>
              <a:bodyPr/>
              <a:lstStyle/>
              <a:p>
                <a:r>
                  <a:rPr lang="en-US">
                    <a:noFill/>
                  </a:rPr>
                  <a:t> </a:t>
                </a:r>
              </a:p>
            </p:txBody>
          </p:sp>
        </mc:Fallback>
      </mc:AlternateContent>
    </p:spTree>
    <p:extLst>
      <p:ext uri="{BB962C8B-B14F-4D97-AF65-F5344CB8AC3E}">
        <p14:creationId xmlns:p14="http://schemas.microsoft.com/office/powerpoint/2010/main" val="1984566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6FAB27-653F-B9A7-56AF-821E11FFCBD0}"/>
              </a:ext>
            </a:extLst>
          </p:cNvPr>
          <p:cNvSpPr>
            <a:spLocks noGrp="1"/>
          </p:cNvSpPr>
          <p:nvPr>
            <p:ph type="title"/>
          </p:nvPr>
        </p:nvSpPr>
        <p:spPr/>
        <p:txBody>
          <a:bodyPr/>
          <a:lstStyle/>
          <a:p>
            <a:r>
              <a:rPr lang="en-US" dirty="0"/>
              <a:t>Unit 6/7</a:t>
            </a:r>
          </a:p>
        </p:txBody>
      </p:sp>
      <p:sp>
        <p:nvSpPr>
          <p:cNvPr id="5" name="Text Placeholder 4">
            <a:extLst>
              <a:ext uri="{FF2B5EF4-FFF2-40B4-BE49-F238E27FC236}">
                <a16:creationId xmlns:a16="http://schemas.microsoft.com/office/drawing/2014/main" id="{08BBE560-034B-9C50-9E07-31B2E447695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5361713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8005D-81BD-07AA-3776-BA2EFCDC05A9}"/>
              </a:ext>
            </a:extLst>
          </p:cNvPr>
          <p:cNvSpPr>
            <a:spLocks noGrp="1"/>
          </p:cNvSpPr>
          <p:nvPr>
            <p:ph type="title"/>
          </p:nvPr>
        </p:nvSpPr>
        <p:spPr/>
        <p:txBody>
          <a:bodyPr/>
          <a:lstStyle/>
          <a:p>
            <a:r>
              <a:rPr lang="en-US" dirty="0"/>
              <a:t>Matrix Representation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C4B149-832A-E752-393B-76C97F6F8B29}"/>
                  </a:ext>
                </a:extLst>
              </p:cNvPr>
              <p:cNvSpPr>
                <a:spLocks noGrp="1"/>
              </p:cNvSpPr>
              <p:nvPr>
                <p:ph idx="1"/>
              </p:nvPr>
            </p:nvSpPr>
            <p:spPr/>
            <p:txBody>
              <a:bodyPr/>
              <a:lstStyle/>
              <a:p>
                <a:r>
                  <a:rPr lang="en-US" dirty="0"/>
                  <a:t>The two variables have a distribution.</a:t>
                </a:r>
              </a:p>
              <a:p>
                <a:r>
                  <a:rPr lang="en-US" dirty="0"/>
                  <a:t>Notationally, we write</a:t>
                </a:r>
              </a:p>
              <a:p>
                <a:endParaRPr lang="en-US"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m:rPr>
                                        <m:brk m:alnAt="7"/>
                                      </m:rPr>
                                      <a:rPr lang="en-US">
                                        <a:latin typeface="Cambria Math" panose="02040503050406030204" pitchFamily="18" charset="0"/>
                                      </a:rPr>
                                      <m:t>𝑋</m:t>
                                    </m:r>
                                  </m:e>
                                  <m:sub>
                                    <m:r>
                                      <m:rPr>
                                        <m:brk m:alnAt="7"/>
                                      </m:rPr>
                                      <a:rPr lang="en-US">
                                        <a:latin typeface="Cambria Math" panose="02040503050406030204" pitchFamily="18" charset="0"/>
                                      </a:rPr>
                                      <m:t>1</m:t>
                                    </m:r>
                                  </m:sub>
                                </m:sSub>
                              </m:e>
                            </m:mr>
                            <m:mr>
                              <m:e>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2</m:t>
                                    </m:r>
                                  </m:sub>
                                </m:sSub>
                              </m:e>
                            </m:mr>
                          </m:m>
                        </m:e>
                      </m:d>
                      <m:r>
                        <a:rPr lang="en-US">
                          <a:latin typeface="Cambria Math" panose="02040503050406030204" pitchFamily="18" charset="0"/>
                        </a:rPr>
                        <m:t>~</m:t>
                      </m:r>
                      <m:r>
                        <a:rPr lang="en-US" smtClean="0">
                          <a:latin typeface="Cambria Math" panose="02040503050406030204" pitchFamily="18" charset="0"/>
                        </a:rPr>
                        <m:t>𝐷𝑖𝑠𝑡</m:t>
                      </m:r>
                      <m:r>
                        <a:rPr lang="en-US">
                          <a:latin typeface="Cambria Math" panose="02040503050406030204" pitchFamily="18" charset="0"/>
                        </a:rPr>
                        <m:t>(</m:t>
                      </m:r>
                      <m:r>
                        <a:rPr lang="en-US">
                          <a:latin typeface="Cambria Math" panose="02040503050406030204" pitchFamily="18" charset="0"/>
                        </a:rPr>
                        <m:t>𝜇</m:t>
                      </m:r>
                      <m:r>
                        <a:rPr lang="en-US">
                          <a:latin typeface="Cambria Math" panose="02040503050406030204" pitchFamily="18" charset="0"/>
                        </a:rPr>
                        <m:t>,</m:t>
                      </m:r>
                      <m:r>
                        <m:rPr>
                          <m:sty m:val="p"/>
                        </m:rPr>
                        <a:rPr lang="en-US">
                          <a:latin typeface="Cambria Math" panose="02040503050406030204" pitchFamily="18" charset="0"/>
                        </a:rPr>
                        <m:t>Σ</m:t>
                      </m:r>
                      <m:r>
                        <a:rPr lang="en-US">
                          <a:latin typeface="Cambria Math" panose="02040503050406030204" pitchFamily="18" charset="0"/>
                        </a:rPr>
                        <m:t>)</m:t>
                      </m:r>
                    </m:oMath>
                  </m:oMathPara>
                </a14:m>
                <a:endParaRPr lang="en-US" dirty="0"/>
              </a:p>
              <a:p>
                <a:pPr marL="0" indent="0">
                  <a:buNone/>
                </a:pPr>
                <a:r>
                  <a:rPr lang="en-US" dirty="0"/>
                  <a:t>where</a:t>
                </a:r>
              </a:p>
              <a:p>
                <a:pPr marL="0" indent="0">
                  <a:buNone/>
                </a:pPr>
                <a14:m>
                  <m:oMath xmlns:m="http://schemas.openxmlformats.org/officeDocument/2006/math">
                    <m:r>
                      <m:rPr>
                        <m:sty m:val="p"/>
                      </m:rPr>
                      <a:rPr lang="en-US">
                        <a:latin typeface="Cambria Math" panose="02040503050406030204" pitchFamily="18" charset="0"/>
                      </a:rPr>
                      <m:t>Σ</m:t>
                    </m:r>
                    <m:r>
                      <a:rPr lang="en-US">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sSubSup>
                                <m:sSubSupPr>
                                  <m:ctrlPr>
                                    <a:rPr lang="en-US" i="1">
                                      <a:latin typeface="Cambria Math" panose="02040503050406030204" pitchFamily="18" charset="0"/>
                                    </a:rPr>
                                  </m:ctrlPr>
                                </m:sSubSupPr>
                                <m:e>
                                  <m:r>
                                    <a:rPr lang="en-US">
                                      <a:latin typeface="Cambria Math" panose="02040503050406030204" pitchFamily="18" charset="0"/>
                                    </a:rPr>
                                    <m:t>𝜎</m:t>
                                  </m:r>
                                </m:e>
                                <m:sub>
                                  <m:r>
                                    <a:rPr lang="en-US">
                                      <a:latin typeface="Cambria Math" panose="02040503050406030204" pitchFamily="18" charset="0"/>
                                    </a:rPr>
                                    <m:t>1</m:t>
                                  </m:r>
                                </m:sub>
                                <m:sup>
                                  <m:r>
                                    <a:rPr lang="en-US">
                                      <a:latin typeface="Cambria Math" panose="02040503050406030204" pitchFamily="18" charset="0"/>
                                    </a:rPr>
                                    <m:t>2</m:t>
                                  </m:r>
                                </m:sup>
                              </m:sSubSup>
                            </m:e>
                            <m:e>
                              <m:sSub>
                                <m:sSubPr>
                                  <m:ctrlPr>
                                    <a:rPr lang="en-US" i="1">
                                      <a:latin typeface="Cambria Math" panose="02040503050406030204" pitchFamily="18" charset="0"/>
                                    </a:rPr>
                                  </m:ctrlPr>
                                </m:sSubPr>
                                <m:e>
                                  <m:r>
                                    <a:rPr lang="en-US">
                                      <a:latin typeface="Cambria Math" panose="02040503050406030204" pitchFamily="18" charset="0"/>
                                    </a:rPr>
                                    <m:t>𝜎</m:t>
                                  </m:r>
                                </m:e>
                                <m:sub>
                                  <m:r>
                                    <a:rPr lang="en-US">
                                      <a:latin typeface="Cambria Math" panose="02040503050406030204" pitchFamily="18" charset="0"/>
                                    </a:rPr>
                                    <m:t>12</m:t>
                                  </m:r>
                                </m:sub>
                              </m:sSub>
                            </m:e>
                          </m:mr>
                          <m:mr>
                            <m:e>
                              <m:sSub>
                                <m:sSubPr>
                                  <m:ctrlPr>
                                    <a:rPr lang="en-US" i="1">
                                      <a:latin typeface="Cambria Math" panose="02040503050406030204" pitchFamily="18" charset="0"/>
                                    </a:rPr>
                                  </m:ctrlPr>
                                </m:sSubPr>
                                <m:e>
                                  <m:r>
                                    <a:rPr lang="en-US">
                                      <a:latin typeface="Cambria Math" panose="02040503050406030204" pitchFamily="18" charset="0"/>
                                    </a:rPr>
                                    <m:t>𝜎</m:t>
                                  </m:r>
                                </m:e>
                                <m:sub>
                                  <m:r>
                                    <a:rPr lang="en-US">
                                      <a:latin typeface="Cambria Math" panose="02040503050406030204" pitchFamily="18" charset="0"/>
                                    </a:rPr>
                                    <m:t>12</m:t>
                                  </m:r>
                                </m:sub>
                              </m:sSub>
                            </m:e>
                            <m:e>
                              <m:sSubSup>
                                <m:sSubSupPr>
                                  <m:ctrlPr>
                                    <a:rPr lang="en-US" i="1">
                                      <a:latin typeface="Cambria Math" panose="02040503050406030204" pitchFamily="18" charset="0"/>
                                    </a:rPr>
                                  </m:ctrlPr>
                                </m:sSubSupPr>
                                <m:e>
                                  <m:r>
                                    <a:rPr lang="en-US">
                                      <a:latin typeface="Cambria Math" panose="02040503050406030204" pitchFamily="18" charset="0"/>
                                    </a:rPr>
                                    <m:t>𝜎</m:t>
                                  </m:r>
                                </m:e>
                                <m:sub>
                                  <m:r>
                                    <a:rPr lang="en-US">
                                      <a:latin typeface="Cambria Math" panose="02040503050406030204" pitchFamily="18" charset="0"/>
                                    </a:rPr>
                                    <m:t>2</m:t>
                                  </m:r>
                                </m:sub>
                                <m:sup>
                                  <m:r>
                                    <a:rPr lang="en-US">
                                      <a:latin typeface="Cambria Math" panose="02040503050406030204" pitchFamily="18" charset="0"/>
                                    </a:rPr>
                                    <m:t>2</m:t>
                                  </m:r>
                                </m:sup>
                              </m:sSubSup>
                            </m:e>
                          </m:mr>
                        </m:m>
                      </m:e>
                    </m:d>
                  </m:oMath>
                </a14:m>
                <a:r>
                  <a:rPr lang="en-US" dirty="0"/>
                  <a:t> is a </a:t>
                </a:r>
                <a14:m>
                  <m:oMath xmlns:m="http://schemas.openxmlformats.org/officeDocument/2006/math">
                    <m:r>
                      <a:rPr lang="en-US">
                        <a:latin typeface="Cambria Math" panose="02040503050406030204" pitchFamily="18" charset="0"/>
                      </a:rPr>
                      <m:t>2 </m:t>
                    </m:r>
                    <m:r>
                      <a:rPr lang="en-US">
                        <a:latin typeface="Cambria Math" panose="02040503050406030204" pitchFamily="18" charset="0"/>
                      </a:rPr>
                      <m:t>𝑥</m:t>
                    </m:r>
                    <m:r>
                      <a:rPr lang="en-US">
                        <a:latin typeface="Cambria Math" panose="02040503050406030204" pitchFamily="18" charset="0"/>
                      </a:rPr>
                      <m:t> 2</m:t>
                    </m:r>
                  </m:oMath>
                </a14:m>
                <a:r>
                  <a:rPr lang="en-US" dirty="0"/>
                  <a:t> </a:t>
                </a:r>
                <a:r>
                  <a:rPr lang="en-US" b="1" i="1" dirty="0"/>
                  <a:t>variance-covariance</a:t>
                </a:r>
                <a:r>
                  <a:rPr lang="en-US" dirty="0"/>
                  <a:t> matrix.</a:t>
                </a:r>
              </a:p>
              <a:p>
                <a:endParaRPr lang="en-US" dirty="0"/>
              </a:p>
            </p:txBody>
          </p:sp>
        </mc:Choice>
        <mc:Fallback xmlns="">
          <p:sp>
            <p:nvSpPr>
              <p:cNvPr id="3" name="Content Placeholder 2">
                <a:extLst>
                  <a:ext uri="{FF2B5EF4-FFF2-40B4-BE49-F238E27FC236}">
                    <a16:creationId xmlns:a16="http://schemas.microsoft.com/office/drawing/2014/main" id="{0AC4B149-832A-E752-393B-76C97F6F8B29}"/>
                  </a:ext>
                </a:extLst>
              </p:cNvPr>
              <p:cNvSpPr>
                <a:spLocks noGrp="1" noRot="1" noChangeAspect="1" noMove="1" noResize="1" noEditPoints="1" noAdjustHandles="1" noChangeArrowheads="1" noChangeShapeType="1" noTextEdit="1"/>
              </p:cNvSpPr>
              <p:nvPr>
                <p:ph idx="1"/>
              </p:nvPr>
            </p:nvSpPr>
            <p:spPr>
              <a:blipFill>
                <a:blip r:embed="rId2"/>
                <a:stretch>
                  <a:fillRect l="-1389" t="-1752"/>
                </a:stretch>
              </a:blipFill>
            </p:spPr>
            <p:txBody>
              <a:bodyPr/>
              <a:lstStyle/>
              <a:p>
                <a:r>
                  <a:rPr lang="en-US">
                    <a:noFill/>
                  </a:rPr>
                  <a:t> </a:t>
                </a:r>
              </a:p>
            </p:txBody>
          </p:sp>
        </mc:Fallback>
      </mc:AlternateContent>
    </p:spTree>
    <p:extLst>
      <p:ext uri="{BB962C8B-B14F-4D97-AF65-F5344CB8AC3E}">
        <p14:creationId xmlns:p14="http://schemas.microsoft.com/office/powerpoint/2010/main" val="350765058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814E6-48F4-3ADA-8BAB-4942EFB3A10F}"/>
              </a:ext>
            </a:extLst>
          </p:cNvPr>
          <p:cNvSpPr>
            <a:spLocks noGrp="1"/>
          </p:cNvSpPr>
          <p:nvPr>
            <p:ph type="title"/>
          </p:nvPr>
        </p:nvSpPr>
        <p:spPr/>
        <p:txBody>
          <a:bodyPr/>
          <a:lstStyle/>
          <a:p>
            <a:r>
              <a:rPr lang="en-US" dirty="0"/>
              <a:t>Covariance Matrix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4312F7-DD36-AD6E-0C81-8F4072179404}"/>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Σ</m:t>
                      </m:r>
                      <m:r>
                        <a:rPr lang="en-US">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sSubSup>
                                  <m:sSubSupPr>
                                    <m:ctrlPr>
                                      <a:rPr lang="en-US" i="1">
                                        <a:latin typeface="Cambria Math" panose="02040503050406030204" pitchFamily="18" charset="0"/>
                                      </a:rPr>
                                    </m:ctrlPr>
                                  </m:sSubSupPr>
                                  <m:e>
                                    <m:r>
                                      <a:rPr lang="en-US">
                                        <a:latin typeface="Cambria Math" panose="02040503050406030204" pitchFamily="18" charset="0"/>
                                      </a:rPr>
                                      <m:t>𝜎</m:t>
                                    </m:r>
                                  </m:e>
                                  <m:sub>
                                    <m:r>
                                      <a:rPr lang="en-US">
                                        <a:latin typeface="Cambria Math" panose="02040503050406030204" pitchFamily="18" charset="0"/>
                                      </a:rPr>
                                      <m:t>1</m:t>
                                    </m:r>
                                  </m:sub>
                                  <m:sup>
                                    <m:r>
                                      <a:rPr lang="en-US">
                                        <a:latin typeface="Cambria Math" panose="02040503050406030204" pitchFamily="18" charset="0"/>
                                      </a:rPr>
                                      <m:t>2</m:t>
                                    </m:r>
                                  </m:sup>
                                </m:sSubSup>
                              </m:e>
                              <m:e>
                                <m:sSub>
                                  <m:sSubPr>
                                    <m:ctrlPr>
                                      <a:rPr lang="en-US" i="1">
                                        <a:latin typeface="Cambria Math" panose="02040503050406030204" pitchFamily="18" charset="0"/>
                                      </a:rPr>
                                    </m:ctrlPr>
                                  </m:sSubPr>
                                  <m:e>
                                    <m:r>
                                      <a:rPr lang="en-US">
                                        <a:latin typeface="Cambria Math" panose="02040503050406030204" pitchFamily="18" charset="0"/>
                                      </a:rPr>
                                      <m:t>𝜎</m:t>
                                    </m:r>
                                  </m:e>
                                  <m:sub>
                                    <m:r>
                                      <a:rPr lang="en-US">
                                        <a:latin typeface="Cambria Math" panose="02040503050406030204" pitchFamily="18" charset="0"/>
                                      </a:rPr>
                                      <m:t>12</m:t>
                                    </m:r>
                                  </m:sub>
                                </m:sSub>
                              </m:e>
                            </m:mr>
                            <m:mr>
                              <m:e>
                                <m:sSub>
                                  <m:sSubPr>
                                    <m:ctrlPr>
                                      <a:rPr lang="en-US" i="1">
                                        <a:latin typeface="Cambria Math" panose="02040503050406030204" pitchFamily="18" charset="0"/>
                                      </a:rPr>
                                    </m:ctrlPr>
                                  </m:sSubPr>
                                  <m:e>
                                    <m:r>
                                      <a:rPr lang="en-US">
                                        <a:latin typeface="Cambria Math" panose="02040503050406030204" pitchFamily="18" charset="0"/>
                                      </a:rPr>
                                      <m:t>𝜎</m:t>
                                    </m:r>
                                  </m:e>
                                  <m:sub>
                                    <m:r>
                                      <a:rPr lang="en-US">
                                        <a:latin typeface="Cambria Math" panose="02040503050406030204" pitchFamily="18" charset="0"/>
                                      </a:rPr>
                                      <m:t>12</m:t>
                                    </m:r>
                                  </m:sub>
                                </m:sSub>
                              </m:e>
                              <m:e>
                                <m:sSubSup>
                                  <m:sSubSupPr>
                                    <m:ctrlPr>
                                      <a:rPr lang="en-US" i="1">
                                        <a:latin typeface="Cambria Math" panose="02040503050406030204" pitchFamily="18" charset="0"/>
                                      </a:rPr>
                                    </m:ctrlPr>
                                  </m:sSubSupPr>
                                  <m:e>
                                    <m:r>
                                      <a:rPr lang="en-US">
                                        <a:latin typeface="Cambria Math" panose="02040503050406030204" pitchFamily="18" charset="0"/>
                                      </a:rPr>
                                      <m:t>𝜎</m:t>
                                    </m:r>
                                  </m:e>
                                  <m:sub>
                                    <m:r>
                                      <a:rPr lang="en-US">
                                        <a:latin typeface="Cambria Math" panose="02040503050406030204" pitchFamily="18" charset="0"/>
                                      </a:rPr>
                                      <m:t>2</m:t>
                                    </m:r>
                                  </m:sub>
                                  <m:sup>
                                    <m:r>
                                      <a:rPr lang="en-US">
                                        <a:latin typeface="Cambria Math" panose="02040503050406030204" pitchFamily="18" charset="0"/>
                                      </a:rPr>
                                      <m:t>2</m:t>
                                    </m:r>
                                  </m:sup>
                                </m:sSubSup>
                              </m:e>
                            </m:mr>
                          </m:m>
                        </m:e>
                      </m:d>
                    </m:oMath>
                  </m:oMathPara>
                </a14:m>
                <a:endParaRPr lang="en-US" dirty="0"/>
              </a:p>
              <a:p>
                <a:endParaRPr lang="en-US" dirty="0"/>
              </a:p>
              <a:p>
                <a:pPr marL="514350" indent="-514350">
                  <a:buFont typeface="+mj-lt"/>
                  <a:buAutoNum type="arabicPeriod"/>
                </a:pPr>
                <a:r>
                  <a:rPr lang="en-US" dirty="0"/>
                  <a:t>Diagonal elements are the variance of each variable.</a:t>
                </a:r>
              </a:p>
              <a:p>
                <a:pPr marL="514350" indent="-514350">
                  <a:buFont typeface="+mj-lt"/>
                  <a:buAutoNum type="arabicPeriod"/>
                </a:pPr>
                <a:r>
                  <a:rPr lang="en-US" dirty="0"/>
                  <a:t>Off-diagonal elements correspond to the covariance between the two variables.</a:t>
                </a:r>
              </a:p>
              <a:p>
                <a:pPr marL="514350" indent="-514350">
                  <a:buFont typeface="+mj-lt"/>
                  <a:buAutoNum type="arabicPeriod"/>
                </a:pPr>
                <a:r>
                  <a:rPr lang="en-US" dirty="0"/>
                  <a:t>The covariance matrix must be symmetric.</a:t>
                </a:r>
              </a:p>
            </p:txBody>
          </p:sp>
        </mc:Choice>
        <mc:Fallback xmlns="">
          <p:sp>
            <p:nvSpPr>
              <p:cNvPr id="3" name="Content Placeholder 2">
                <a:extLst>
                  <a:ext uri="{FF2B5EF4-FFF2-40B4-BE49-F238E27FC236}">
                    <a16:creationId xmlns:a16="http://schemas.microsoft.com/office/drawing/2014/main" id="{D94312F7-DD36-AD6E-0C81-8F4072179404}"/>
                  </a:ext>
                </a:extLst>
              </p:cNvPr>
              <p:cNvSpPr>
                <a:spLocks noGrp="1" noRot="1" noChangeAspect="1" noMove="1" noResize="1" noEditPoints="1" noAdjustHandles="1" noChangeArrowheads="1" noChangeShapeType="1" noTextEdit="1"/>
              </p:cNvSpPr>
              <p:nvPr>
                <p:ph idx="1"/>
              </p:nvPr>
            </p:nvSpPr>
            <p:spPr>
              <a:blipFill>
                <a:blip r:embed="rId2"/>
                <a:stretch>
                  <a:fillRect l="-1278"/>
                </a:stretch>
              </a:blipFill>
            </p:spPr>
            <p:txBody>
              <a:bodyPr/>
              <a:lstStyle/>
              <a:p>
                <a:r>
                  <a:rPr lang="en-US">
                    <a:noFill/>
                  </a:rPr>
                  <a:t> </a:t>
                </a:r>
              </a:p>
            </p:txBody>
          </p:sp>
        </mc:Fallback>
      </mc:AlternateContent>
    </p:spTree>
    <p:extLst>
      <p:ext uri="{BB962C8B-B14F-4D97-AF65-F5344CB8AC3E}">
        <p14:creationId xmlns:p14="http://schemas.microsoft.com/office/powerpoint/2010/main" val="766638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EEE7F-708C-CE5E-344A-35C54614EF6F}"/>
              </a:ext>
            </a:extLst>
          </p:cNvPr>
          <p:cNvSpPr>
            <a:spLocks noGrp="1"/>
          </p:cNvSpPr>
          <p:nvPr>
            <p:ph type="title"/>
          </p:nvPr>
        </p:nvSpPr>
        <p:spPr/>
        <p:txBody>
          <a:bodyPr/>
          <a:lstStyle/>
          <a:p>
            <a:r>
              <a:rPr lang="en-US" dirty="0"/>
              <a:t>Numeric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1B6298-FED2-E2C6-0FA0-BA019FFC997B}"/>
                  </a:ext>
                </a:extLst>
              </p:cNvPr>
              <p:cNvSpPr>
                <a:spLocks noGrp="1"/>
              </p:cNvSpPr>
              <p:nvPr>
                <p:ph idx="1"/>
              </p:nvPr>
            </p:nvSpPr>
            <p:spPr/>
            <p:txBody>
              <a:bodyPr/>
              <a:lstStyle/>
              <a:p>
                <a14:m>
                  <m:oMath xmlns:m="http://schemas.openxmlformats.org/officeDocument/2006/math">
                    <m:sSub>
                      <m:sSubPr>
                        <m:ctrlPr>
                          <a:rPr lang="en-US" i="1" smtClean="0">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1</m:t>
                        </m:r>
                      </m:sub>
                    </m:sSub>
                  </m:oMath>
                </a14:m>
                <a:r>
                  <a:rPr lang="en-US" dirty="0"/>
                  <a:t>: mean = 0    SD = 2, so the  variance = 4</a:t>
                </a:r>
              </a:p>
              <a:p>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2</m:t>
                        </m:r>
                      </m:sub>
                    </m:sSub>
                  </m:oMath>
                </a14:m>
                <a:r>
                  <a:rPr lang="en-US" dirty="0"/>
                  <a:t>: mean = 1    SD = 3, so the  variance = 9</a:t>
                </a:r>
              </a:p>
              <a:p>
                <a:r>
                  <a:rPr lang="en-US" dirty="0"/>
                  <a:t>Covariance between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𝑋</m:t>
                        </m:r>
                      </m:e>
                      <m:sub>
                        <m:r>
                          <a:rPr lang="en-US" smtClean="0">
                            <a:latin typeface="Cambria Math" panose="02040503050406030204" pitchFamily="18" charset="0"/>
                          </a:rPr>
                          <m:t>2</m:t>
                        </m:r>
                      </m:sub>
                    </m:sSub>
                  </m:oMath>
                </a14:m>
                <a:r>
                  <a:rPr lang="en-US" dirty="0"/>
                  <a:t> is 1</a:t>
                </a:r>
              </a:p>
              <a:p>
                <a:r>
                  <a:rPr lang="en-US" dirty="0"/>
                  <a:t>Matrix bookkeeping yields</a:t>
                </a:r>
              </a:p>
              <a:p>
                <a:pPr marL="0" indent="0">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𝜇</m:t>
                      </m:r>
                      <m:r>
                        <a:rPr lang="en-US">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n-US" smtClean="0">
                                    <a:latin typeface="Cambria Math" panose="02040503050406030204" pitchFamily="18" charset="0"/>
                                  </a:rPr>
                                  <m:t>0</m:t>
                                </m:r>
                              </m:e>
                            </m:mr>
                            <m:mr>
                              <m:e>
                                <m:r>
                                  <a:rPr lang="en-US" smtClean="0">
                                    <a:latin typeface="Cambria Math" panose="02040503050406030204" pitchFamily="18" charset="0"/>
                                  </a:rPr>
                                  <m:t>1</m:t>
                                </m:r>
                              </m:e>
                            </m:mr>
                          </m:m>
                        </m:e>
                      </m:d>
                      <m:r>
                        <a:rPr lang="en-US" smtClean="0">
                          <a:latin typeface="Cambria Math" panose="02040503050406030204" pitchFamily="18" charset="0"/>
                        </a:rPr>
                        <m:t> , </m:t>
                      </m:r>
                      <m:r>
                        <m:rPr>
                          <m:sty m:val="p"/>
                        </m:rPr>
                        <a:rPr lang="en-US">
                          <a:latin typeface="Cambria Math" panose="02040503050406030204" pitchFamily="18" charset="0"/>
                        </a:rPr>
                        <m:t>Σ</m:t>
                      </m:r>
                      <m:r>
                        <a:rPr lang="en-US">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a:rPr lang="en-US" smtClean="0">
                                    <a:latin typeface="Cambria Math" panose="02040503050406030204" pitchFamily="18" charset="0"/>
                                  </a:rPr>
                                  <m:t>4</m:t>
                                </m:r>
                              </m:e>
                              <m:e>
                                <m:r>
                                  <a:rPr lang="en-US" smtClean="0">
                                    <a:latin typeface="Cambria Math" panose="02040503050406030204" pitchFamily="18" charset="0"/>
                                  </a:rPr>
                                  <m:t>1</m:t>
                                </m:r>
                              </m:e>
                            </m:mr>
                            <m:mr>
                              <m:e>
                                <m:r>
                                  <a:rPr lang="en-US" smtClean="0">
                                    <a:latin typeface="Cambria Math" panose="02040503050406030204" pitchFamily="18" charset="0"/>
                                  </a:rPr>
                                  <m:t>1</m:t>
                                </m:r>
                              </m:e>
                              <m:e>
                                <m:r>
                                  <a:rPr lang="en-US" smtClean="0">
                                    <a:latin typeface="Cambria Math" panose="02040503050406030204" pitchFamily="18" charset="0"/>
                                  </a:rPr>
                                  <m:t>9</m:t>
                                </m:r>
                              </m:e>
                            </m:mr>
                          </m:m>
                        </m:e>
                      </m:d>
                    </m:oMath>
                  </m:oMathPara>
                </a14:m>
                <a:endParaRPr lang="en-US" dirty="0"/>
              </a:p>
            </p:txBody>
          </p:sp>
        </mc:Choice>
        <mc:Fallback xmlns="">
          <p:sp>
            <p:nvSpPr>
              <p:cNvPr id="3" name="Content Placeholder 2">
                <a:extLst>
                  <a:ext uri="{FF2B5EF4-FFF2-40B4-BE49-F238E27FC236}">
                    <a16:creationId xmlns:a16="http://schemas.microsoft.com/office/drawing/2014/main" id="{AB1B6298-FED2-E2C6-0FA0-BA019FFC997B}"/>
                  </a:ext>
                </a:extLst>
              </p:cNvPr>
              <p:cNvSpPr>
                <a:spLocks noGrp="1" noRot="1" noChangeAspect="1" noMove="1" noResize="1" noEditPoints="1" noAdjustHandles="1" noChangeArrowheads="1" noChangeShapeType="1" noTextEdit="1"/>
              </p:cNvSpPr>
              <p:nvPr>
                <p:ph idx="1"/>
              </p:nvPr>
            </p:nvSpPr>
            <p:spPr>
              <a:blipFill>
                <a:blip r:embed="rId2"/>
                <a:stretch>
                  <a:fillRect l="-1278" t="-1752"/>
                </a:stretch>
              </a:blipFill>
            </p:spPr>
            <p:txBody>
              <a:bodyPr/>
              <a:lstStyle/>
              <a:p>
                <a:r>
                  <a:rPr lang="en-US">
                    <a:noFill/>
                  </a:rPr>
                  <a:t> </a:t>
                </a:r>
              </a:p>
            </p:txBody>
          </p:sp>
        </mc:Fallback>
      </mc:AlternateContent>
    </p:spTree>
    <p:extLst>
      <p:ext uri="{BB962C8B-B14F-4D97-AF65-F5344CB8AC3E}">
        <p14:creationId xmlns:p14="http://schemas.microsoft.com/office/powerpoint/2010/main" val="796127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EEE7F-708C-CE5E-344A-35C54614EF6F}"/>
              </a:ext>
            </a:extLst>
          </p:cNvPr>
          <p:cNvSpPr>
            <a:spLocks noGrp="1"/>
          </p:cNvSpPr>
          <p:nvPr>
            <p:ph type="title"/>
          </p:nvPr>
        </p:nvSpPr>
        <p:spPr/>
        <p:txBody>
          <a:bodyPr/>
          <a:lstStyle/>
          <a:p>
            <a:r>
              <a:rPr lang="en-US" dirty="0"/>
              <a:t>Numeric Example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1B6298-FED2-E2C6-0FA0-BA019FFC997B}"/>
                  </a:ext>
                </a:extLst>
              </p:cNvPr>
              <p:cNvSpPr>
                <a:spLocks noGrp="1"/>
              </p:cNvSpPr>
              <p:nvPr>
                <p:ph idx="1"/>
              </p:nvPr>
            </p:nvSpPr>
            <p:spPr/>
            <p:txBody>
              <a:bodyPr/>
              <a:lstStyle/>
              <a:p>
                <a:r>
                  <a:rPr lang="en-US" dirty="0"/>
                  <a:t>Matrix bookkeeping yields</a:t>
                </a:r>
              </a:p>
              <a:p>
                <a:pPr marL="0" indent="0">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𝜇</m:t>
                      </m:r>
                      <m:r>
                        <a:rPr lang="en-US">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n-US" smtClean="0">
                                    <a:latin typeface="Cambria Math" panose="02040503050406030204" pitchFamily="18" charset="0"/>
                                  </a:rPr>
                                  <m:t>0</m:t>
                                </m:r>
                              </m:e>
                            </m:mr>
                            <m:mr>
                              <m:e>
                                <m:r>
                                  <a:rPr lang="en-US" smtClean="0">
                                    <a:latin typeface="Cambria Math" panose="02040503050406030204" pitchFamily="18" charset="0"/>
                                  </a:rPr>
                                  <m:t>1</m:t>
                                </m:r>
                              </m:e>
                            </m:mr>
                          </m:m>
                        </m:e>
                      </m:d>
                      <m:r>
                        <a:rPr lang="en-US" smtClean="0">
                          <a:latin typeface="Cambria Math" panose="02040503050406030204" pitchFamily="18" charset="0"/>
                        </a:rPr>
                        <m:t> , </m:t>
                      </m:r>
                      <m:r>
                        <m:rPr>
                          <m:sty m:val="p"/>
                        </m:rPr>
                        <a:rPr lang="en-US">
                          <a:latin typeface="Cambria Math" panose="02040503050406030204" pitchFamily="18" charset="0"/>
                        </a:rPr>
                        <m:t>Σ</m:t>
                      </m:r>
                      <m:r>
                        <a:rPr lang="en-US">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a:rPr lang="en-US" smtClean="0">
                                    <a:latin typeface="Cambria Math" panose="02040503050406030204" pitchFamily="18" charset="0"/>
                                  </a:rPr>
                                  <m:t>4</m:t>
                                </m:r>
                              </m:e>
                              <m:e>
                                <m:r>
                                  <a:rPr lang="en-US" smtClean="0">
                                    <a:latin typeface="Cambria Math" panose="02040503050406030204" pitchFamily="18" charset="0"/>
                                  </a:rPr>
                                  <m:t>1</m:t>
                                </m:r>
                              </m:e>
                            </m:mr>
                            <m:mr>
                              <m:e>
                                <m:r>
                                  <a:rPr lang="en-US" smtClean="0">
                                    <a:latin typeface="Cambria Math" panose="02040503050406030204" pitchFamily="18" charset="0"/>
                                  </a:rPr>
                                  <m:t>1</m:t>
                                </m:r>
                              </m:e>
                              <m:e>
                                <m:r>
                                  <a:rPr lang="en-US" smtClean="0">
                                    <a:latin typeface="Cambria Math" panose="02040503050406030204" pitchFamily="18" charset="0"/>
                                  </a:rPr>
                                  <m:t>9</m:t>
                                </m:r>
                              </m:e>
                            </m:mr>
                          </m:m>
                        </m:e>
                      </m:d>
                      <m:r>
                        <m:rPr>
                          <m:nor/>
                        </m:rPr>
                        <a:rPr lang="en-US" dirty="0"/>
                        <m:t> </m:t>
                      </m:r>
                    </m:oMath>
                  </m:oMathPara>
                </a14:m>
                <a:endParaRPr lang="en-US" dirty="0"/>
              </a:p>
              <a:p>
                <a:r>
                  <a:rPr lang="en-US" dirty="0"/>
                  <a:t>In words:</a:t>
                </a:r>
              </a:p>
              <a:p>
                <a:pPr marL="400050" lvl="1" indent="0">
                  <a:buNone/>
                </a:pP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2</m:t>
                        </m:r>
                      </m:sub>
                    </m:sSub>
                  </m:oMath>
                </a14:m>
                <a:r>
                  <a:rPr lang="en-US" dirty="0"/>
                  <a:t> follow a multivariate distribution with mean </a:t>
                </a:r>
                <a14:m>
                  <m:oMath xmlns:m="http://schemas.openxmlformats.org/officeDocument/2006/math">
                    <m:r>
                      <a:rPr lang="en-US">
                        <a:latin typeface="Cambria Math" panose="02040503050406030204" pitchFamily="18" charset="0"/>
                      </a:rPr>
                      <m:t>𝜇</m:t>
                    </m:r>
                  </m:oMath>
                </a14:m>
                <a:r>
                  <a:rPr lang="en-US" dirty="0"/>
                  <a:t> and covariance matrix </a:t>
                </a:r>
                <a14:m>
                  <m:oMath xmlns:m="http://schemas.openxmlformats.org/officeDocument/2006/math">
                    <m:r>
                      <m:rPr>
                        <m:sty m:val="p"/>
                      </m:rPr>
                      <a:rPr lang="en-US">
                        <a:latin typeface="Cambria Math" panose="02040503050406030204" pitchFamily="18" charset="0"/>
                      </a:rPr>
                      <m:t>Σ</m:t>
                    </m:r>
                  </m:oMath>
                </a14:m>
                <a:r>
                  <a:rPr lang="en-US" dirty="0"/>
                  <a:t>.</a:t>
                </a:r>
              </a:p>
            </p:txBody>
          </p:sp>
        </mc:Choice>
        <mc:Fallback xmlns="">
          <p:sp>
            <p:nvSpPr>
              <p:cNvPr id="3" name="Content Placeholder 2">
                <a:extLst>
                  <a:ext uri="{FF2B5EF4-FFF2-40B4-BE49-F238E27FC236}">
                    <a16:creationId xmlns:a16="http://schemas.microsoft.com/office/drawing/2014/main" id="{AB1B6298-FED2-E2C6-0FA0-BA019FFC997B}"/>
                  </a:ext>
                </a:extLst>
              </p:cNvPr>
              <p:cNvSpPr>
                <a:spLocks noGrp="1" noRot="1" noChangeAspect="1" noMove="1" noResize="1" noEditPoints="1" noAdjustHandles="1" noChangeArrowheads="1" noChangeShapeType="1" noTextEdit="1"/>
              </p:cNvSpPr>
              <p:nvPr>
                <p:ph idx="1"/>
              </p:nvPr>
            </p:nvSpPr>
            <p:spPr>
              <a:blipFill>
                <a:blip r:embed="rId2"/>
                <a:stretch>
                  <a:fillRect l="-1278" t="-1752"/>
                </a:stretch>
              </a:blipFill>
            </p:spPr>
            <p:txBody>
              <a:bodyPr/>
              <a:lstStyle/>
              <a:p>
                <a:r>
                  <a:rPr lang="en-US">
                    <a:noFill/>
                  </a:rPr>
                  <a:t> </a:t>
                </a:r>
              </a:p>
            </p:txBody>
          </p:sp>
        </mc:Fallback>
      </mc:AlternateContent>
    </p:spTree>
    <p:extLst>
      <p:ext uri="{BB962C8B-B14F-4D97-AF65-F5344CB8AC3E}">
        <p14:creationId xmlns:p14="http://schemas.microsoft.com/office/powerpoint/2010/main" val="6346978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30412-A2BA-4096-918B-960A47C281DD}"/>
              </a:ext>
            </a:extLst>
          </p:cNvPr>
          <p:cNvSpPr>
            <a:spLocks noGrp="1"/>
          </p:cNvSpPr>
          <p:nvPr>
            <p:ph type="title"/>
          </p:nvPr>
        </p:nvSpPr>
        <p:spPr/>
        <p:txBody>
          <a:bodyPr/>
          <a:lstStyle/>
          <a:p>
            <a:r>
              <a:rPr lang="en-US" dirty="0"/>
              <a:t>Ease of Information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143CE8D-818F-073B-9CF2-EC8CD144BD6E}"/>
                  </a:ext>
                </a:extLst>
              </p:cNvPr>
              <p:cNvSpPr>
                <a:spLocks noGrp="1"/>
              </p:cNvSpPr>
              <p:nvPr>
                <p:ph idx="1"/>
              </p:nvPr>
            </p:nvSpPr>
            <p:spPr/>
            <p:txBody>
              <a:bodyPr/>
              <a:lstStyle/>
              <a:p>
                <a:pPr marL="0" indent="0" algn="ctr">
                  <a:buNone/>
                </a:pPr>
                <a14:m>
                  <m:oMath xmlns:m="http://schemas.openxmlformats.org/officeDocument/2006/math">
                    <m:d>
                      <m:dPr>
                        <m:begChr m:val="["/>
                        <m:endChr m:val="]"/>
                        <m:ctrlPr>
                          <a:rPr lang="en-US"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1</m:t>
                                  </m:r>
                                </m:sub>
                              </m:sSub>
                            </m:e>
                          </m:mr>
                          <m:mr>
                            <m:e>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2</m:t>
                                  </m:r>
                                </m:sub>
                              </m:sSub>
                            </m:e>
                          </m:mr>
                          <m:mr>
                            <m:e>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3</m:t>
                                  </m:r>
                                </m:sub>
                              </m:sSub>
                            </m:e>
                          </m:mr>
                        </m:m>
                      </m:e>
                    </m:d>
                    <m:r>
                      <a:rPr lang="en-US">
                        <a:latin typeface="Cambria Math" panose="02040503050406030204" pitchFamily="18" charset="0"/>
                      </a:rPr>
                      <m:t>~</m:t>
                    </m:r>
                    <m:r>
                      <a:rPr lang="en-US" smtClean="0">
                        <a:latin typeface="Cambria Math" panose="02040503050406030204" pitchFamily="18" charset="0"/>
                      </a:rPr>
                      <m:t>𝐷𝑖𝑠𝑡</m:t>
                    </m:r>
                    <m:d>
                      <m:dPr>
                        <m:ctrlPr>
                          <a:rPr lang="en-US" i="1">
                            <a:latin typeface="Cambria Math" panose="02040503050406030204" pitchFamily="18" charset="0"/>
                          </a:rPr>
                        </m:ctrlPr>
                      </m:dPr>
                      <m:e>
                        <m:r>
                          <a:rPr lang="en-US">
                            <a:latin typeface="Cambria Math" panose="02040503050406030204" pitchFamily="18" charset="0"/>
                          </a:rPr>
                          <m:t>𝜇</m:t>
                        </m:r>
                        <m:r>
                          <a:rPr lang="en-US">
                            <a:latin typeface="Cambria Math" panose="02040503050406030204" pitchFamily="18" charset="0"/>
                          </a:rPr>
                          <m:t>,</m:t>
                        </m:r>
                        <m:r>
                          <m:rPr>
                            <m:sty m:val="p"/>
                          </m:rPr>
                          <a:rPr lang="en-US">
                            <a:latin typeface="Cambria Math" panose="02040503050406030204" pitchFamily="18" charset="0"/>
                          </a:rPr>
                          <m:t>Σ</m:t>
                        </m:r>
                      </m:e>
                    </m:d>
                  </m:oMath>
                </a14:m>
                <a:r>
                  <a:rPr lang="en-US" dirty="0"/>
                  <a:t>       </a:t>
                </a:r>
                <a14:m>
                  <m:oMath xmlns:m="http://schemas.openxmlformats.org/officeDocument/2006/math">
                    <m:r>
                      <m:rPr>
                        <m:sty m:val="p"/>
                      </m:rPr>
                      <a:rPr lang="en-US" dirty="0">
                        <a:latin typeface="Cambria Math" panose="02040503050406030204" pitchFamily="18" charset="0"/>
                      </a:rPr>
                      <m:t>Σ</m:t>
                    </m:r>
                    <m:r>
                      <a:rPr lang="en-US" dirty="0">
                        <a:latin typeface="Cambria Math" panose="02040503050406030204" pitchFamily="18" charset="0"/>
                      </a:rPr>
                      <m:t>=</m:t>
                    </m:r>
                    <m:d>
                      <m:dPr>
                        <m:begChr m:val="["/>
                        <m:endChr m:val="]"/>
                        <m:ctrlPr>
                          <a:rPr lang="en-US" i="1" dirty="0">
                            <a:latin typeface="Cambria Math" panose="02040503050406030204" pitchFamily="18" charset="0"/>
                          </a:rPr>
                        </m:ctrlPr>
                      </m:dPr>
                      <m:e>
                        <m:m>
                          <m:mPr>
                            <m:mcs>
                              <m:mc>
                                <m:mcPr>
                                  <m:count m:val="3"/>
                                  <m:mcJc m:val="center"/>
                                </m:mcPr>
                              </m:mc>
                            </m:mcs>
                            <m:ctrlPr>
                              <a:rPr lang="en-US" i="1" dirty="0">
                                <a:latin typeface="Cambria Math" panose="02040503050406030204" pitchFamily="18" charset="0"/>
                              </a:rPr>
                            </m:ctrlPr>
                          </m:mPr>
                          <m:mr>
                            <m:e>
                              <m:r>
                                <m:rPr>
                                  <m:brk m:alnAt="7"/>
                                </m:rPr>
                                <a:rPr lang="en-US" dirty="0">
                                  <a:latin typeface="Cambria Math" panose="02040503050406030204" pitchFamily="18" charset="0"/>
                                </a:rPr>
                                <m:t>3</m:t>
                              </m:r>
                            </m:e>
                            <m:e>
                              <m:r>
                                <a:rPr lang="en-US" dirty="0">
                                  <a:latin typeface="Cambria Math" panose="02040503050406030204" pitchFamily="18" charset="0"/>
                                </a:rPr>
                                <m:t>1</m:t>
                              </m:r>
                            </m:e>
                            <m:e>
                              <m:r>
                                <a:rPr lang="en-US" dirty="0">
                                  <a:latin typeface="Cambria Math" panose="02040503050406030204" pitchFamily="18" charset="0"/>
                                </a:rPr>
                                <m:t>0</m:t>
                              </m:r>
                            </m:e>
                          </m:mr>
                          <m:mr>
                            <m:e>
                              <m:r>
                                <a:rPr lang="en-US" dirty="0">
                                  <a:latin typeface="Cambria Math" panose="02040503050406030204" pitchFamily="18" charset="0"/>
                                </a:rPr>
                                <m:t>1</m:t>
                              </m:r>
                            </m:e>
                            <m:e>
                              <m:r>
                                <a:rPr lang="en-US" dirty="0">
                                  <a:latin typeface="Cambria Math" panose="02040503050406030204" pitchFamily="18" charset="0"/>
                                </a:rPr>
                                <m:t>2</m:t>
                              </m:r>
                            </m:e>
                            <m:e>
                              <m:r>
                                <a:rPr lang="en-US" dirty="0">
                                  <a:latin typeface="Cambria Math" panose="02040503050406030204" pitchFamily="18" charset="0"/>
                                </a:rPr>
                                <m:t>2</m:t>
                              </m:r>
                            </m:e>
                          </m:mr>
                          <m:mr>
                            <m:e>
                              <m:r>
                                <a:rPr lang="en-US" dirty="0">
                                  <a:latin typeface="Cambria Math" panose="02040503050406030204" pitchFamily="18" charset="0"/>
                                </a:rPr>
                                <m:t>0</m:t>
                              </m:r>
                            </m:e>
                            <m:e>
                              <m:r>
                                <a:rPr lang="en-US" dirty="0">
                                  <a:latin typeface="Cambria Math" panose="02040503050406030204" pitchFamily="18" charset="0"/>
                                </a:rPr>
                                <m:t>2</m:t>
                              </m:r>
                            </m:e>
                            <m:e>
                              <m:r>
                                <a:rPr lang="en-US" dirty="0">
                                  <a:latin typeface="Cambria Math" panose="02040503050406030204" pitchFamily="18" charset="0"/>
                                </a:rPr>
                                <m:t>4</m:t>
                              </m:r>
                            </m:e>
                          </m:mr>
                        </m:m>
                      </m:e>
                    </m:d>
                  </m:oMath>
                </a14:m>
                <a:endParaRPr lang="en-US" dirty="0"/>
              </a:p>
              <a:p>
                <a:endParaRPr lang="en-US" dirty="0"/>
              </a:p>
              <a:p>
                <a:r>
                  <a:rPr lang="en-US" dirty="0"/>
                  <a:t>Variance of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𝑋</m:t>
                        </m:r>
                      </m:e>
                      <m:sub>
                        <m:r>
                          <a:rPr lang="en-US" smtClean="0">
                            <a:latin typeface="Cambria Math" panose="02040503050406030204" pitchFamily="18" charset="0"/>
                          </a:rPr>
                          <m:t>1</m:t>
                        </m:r>
                      </m:sub>
                    </m:sSub>
                    <m:r>
                      <a:rPr lang="en-US">
                        <a:latin typeface="Cambria Math" panose="02040503050406030204" pitchFamily="18" charset="0"/>
                      </a:rPr>
                      <m:t> </m:t>
                    </m:r>
                  </m:oMath>
                </a14:m>
                <a:r>
                  <a:rPr lang="en-US" dirty="0"/>
                  <a:t>is 3</a:t>
                </a:r>
              </a:p>
              <a:p>
                <a:r>
                  <a:rPr lang="en-US" dirty="0"/>
                  <a:t>Variance of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𝑋</m:t>
                        </m:r>
                      </m:e>
                      <m:sub>
                        <m:r>
                          <a:rPr lang="en-US" smtClean="0">
                            <a:latin typeface="Cambria Math" panose="02040503050406030204" pitchFamily="18" charset="0"/>
                          </a:rPr>
                          <m:t>2</m:t>
                        </m:r>
                      </m:sub>
                    </m:sSub>
                    <m:r>
                      <a:rPr lang="en-US" smtClean="0">
                        <a:latin typeface="Cambria Math" panose="02040503050406030204" pitchFamily="18" charset="0"/>
                      </a:rPr>
                      <m:t> </m:t>
                    </m:r>
                  </m:oMath>
                </a14:m>
                <a:r>
                  <a:rPr lang="en-US" dirty="0"/>
                  <a:t>is 2</a:t>
                </a:r>
              </a:p>
              <a:p>
                <a:r>
                  <a:rPr lang="en-US" dirty="0"/>
                  <a:t>Variance of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𝑋</m:t>
                        </m:r>
                      </m:e>
                      <m:sub>
                        <m:r>
                          <a:rPr lang="en-US" smtClean="0">
                            <a:latin typeface="Cambria Math" panose="02040503050406030204" pitchFamily="18" charset="0"/>
                          </a:rPr>
                          <m:t>3</m:t>
                        </m:r>
                      </m:sub>
                    </m:sSub>
                    <m:r>
                      <a:rPr lang="en-US" smtClean="0">
                        <a:latin typeface="Cambria Math" panose="02040503050406030204" pitchFamily="18" charset="0"/>
                      </a:rPr>
                      <m:t> </m:t>
                    </m:r>
                  </m:oMath>
                </a14:m>
                <a:r>
                  <a:rPr lang="en-US" dirty="0"/>
                  <a:t>is 4</a:t>
                </a:r>
              </a:p>
            </p:txBody>
          </p:sp>
        </mc:Choice>
        <mc:Fallback xmlns="">
          <p:sp>
            <p:nvSpPr>
              <p:cNvPr id="3" name="Content Placeholder 2">
                <a:extLst>
                  <a:ext uri="{FF2B5EF4-FFF2-40B4-BE49-F238E27FC236}">
                    <a16:creationId xmlns:a16="http://schemas.microsoft.com/office/drawing/2014/main" id="{5143CE8D-818F-073B-9CF2-EC8CD144BD6E}"/>
                  </a:ext>
                </a:extLst>
              </p:cNvPr>
              <p:cNvSpPr>
                <a:spLocks noGrp="1" noRot="1" noChangeAspect="1" noMove="1" noResize="1" noEditPoints="1" noAdjustHandles="1" noChangeArrowheads="1" noChangeShapeType="1" noTextEdit="1"/>
              </p:cNvSpPr>
              <p:nvPr>
                <p:ph idx="1"/>
              </p:nvPr>
            </p:nvSpPr>
            <p:spPr>
              <a:blipFill>
                <a:blip r:embed="rId2"/>
                <a:stretch>
                  <a:fillRect l="-1278"/>
                </a:stretch>
              </a:blipFill>
            </p:spPr>
            <p:txBody>
              <a:bodyPr/>
              <a:lstStyle/>
              <a:p>
                <a:r>
                  <a:rPr lang="en-US">
                    <a:noFill/>
                  </a:rPr>
                  <a:t> </a:t>
                </a:r>
              </a:p>
            </p:txBody>
          </p:sp>
        </mc:Fallback>
      </mc:AlternateContent>
    </p:spTree>
    <p:extLst>
      <p:ext uri="{BB962C8B-B14F-4D97-AF65-F5344CB8AC3E}">
        <p14:creationId xmlns:p14="http://schemas.microsoft.com/office/powerpoint/2010/main" val="3907785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30412-A2BA-4096-918B-960A47C281DD}"/>
              </a:ext>
            </a:extLst>
          </p:cNvPr>
          <p:cNvSpPr>
            <a:spLocks noGrp="1"/>
          </p:cNvSpPr>
          <p:nvPr>
            <p:ph type="title"/>
          </p:nvPr>
        </p:nvSpPr>
        <p:spPr/>
        <p:txBody>
          <a:bodyPr/>
          <a:lstStyle/>
          <a:p>
            <a:r>
              <a:rPr lang="en-US" dirty="0"/>
              <a:t>Ease of Reading Information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143CE8D-818F-073B-9CF2-EC8CD144BD6E}"/>
                  </a:ext>
                </a:extLst>
              </p:cNvPr>
              <p:cNvSpPr>
                <a:spLocks noGrp="1"/>
              </p:cNvSpPr>
              <p:nvPr>
                <p:ph idx="1"/>
              </p:nvPr>
            </p:nvSpPr>
            <p:spPr/>
            <p:txBody>
              <a:bodyPr/>
              <a:lstStyle/>
              <a:p>
                <a:pPr marL="0" indent="0" algn="ctr">
                  <a:buNone/>
                </a:pPr>
                <a14:m>
                  <m:oMath xmlns:m="http://schemas.openxmlformats.org/officeDocument/2006/math">
                    <m:d>
                      <m:dPr>
                        <m:begChr m:val="["/>
                        <m:endChr m:val="]"/>
                        <m:ctrlPr>
                          <a:rPr lang="en-US"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1</m:t>
                                  </m:r>
                                </m:sub>
                              </m:sSub>
                            </m:e>
                          </m:mr>
                          <m:mr>
                            <m:e>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2</m:t>
                                  </m:r>
                                </m:sub>
                              </m:sSub>
                            </m:e>
                          </m:mr>
                          <m:mr>
                            <m:e>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3</m:t>
                                  </m:r>
                                </m:sub>
                              </m:sSub>
                            </m:e>
                          </m:mr>
                        </m:m>
                      </m:e>
                    </m:d>
                    <m:r>
                      <a:rPr lang="en-US">
                        <a:latin typeface="Cambria Math" panose="02040503050406030204" pitchFamily="18" charset="0"/>
                      </a:rPr>
                      <m:t>~</m:t>
                    </m:r>
                    <m:r>
                      <a:rPr lang="en-US" smtClean="0">
                        <a:latin typeface="Cambria Math" panose="02040503050406030204" pitchFamily="18" charset="0"/>
                      </a:rPr>
                      <m:t>𝐷𝑖𝑠𝑡</m:t>
                    </m:r>
                    <m:d>
                      <m:dPr>
                        <m:ctrlPr>
                          <a:rPr lang="en-US" i="1">
                            <a:latin typeface="Cambria Math" panose="02040503050406030204" pitchFamily="18" charset="0"/>
                          </a:rPr>
                        </m:ctrlPr>
                      </m:dPr>
                      <m:e>
                        <m:r>
                          <a:rPr lang="en-US">
                            <a:latin typeface="Cambria Math" panose="02040503050406030204" pitchFamily="18" charset="0"/>
                          </a:rPr>
                          <m:t>𝜇</m:t>
                        </m:r>
                        <m:r>
                          <a:rPr lang="en-US">
                            <a:latin typeface="Cambria Math" panose="02040503050406030204" pitchFamily="18" charset="0"/>
                          </a:rPr>
                          <m:t>,</m:t>
                        </m:r>
                        <m:r>
                          <m:rPr>
                            <m:sty m:val="p"/>
                          </m:rPr>
                          <a:rPr lang="en-US">
                            <a:latin typeface="Cambria Math" panose="02040503050406030204" pitchFamily="18" charset="0"/>
                          </a:rPr>
                          <m:t>Σ</m:t>
                        </m:r>
                      </m:e>
                    </m:d>
                  </m:oMath>
                </a14:m>
                <a:r>
                  <a:rPr lang="en-US" dirty="0"/>
                  <a:t>       </a:t>
                </a:r>
                <a14:m>
                  <m:oMath xmlns:m="http://schemas.openxmlformats.org/officeDocument/2006/math">
                    <m:r>
                      <m:rPr>
                        <m:sty m:val="p"/>
                      </m:rPr>
                      <a:rPr lang="en-US" dirty="0">
                        <a:latin typeface="Cambria Math" panose="02040503050406030204" pitchFamily="18" charset="0"/>
                      </a:rPr>
                      <m:t>Σ</m:t>
                    </m:r>
                    <m:r>
                      <a:rPr lang="en-US" dirty="0">
                        <a:latin typeface="Cambria Math" panose="02040503050406030204" pitchFamily="18" charset="0"/>
                      </a:rPr>
                      <m:t>=</m:t>
                    </m:r>
                    <m:d>
                      <m:dPr>
                        <m:begChr m:val="["/>
                        <m:endChr m:val="]"/>
                        <m:ctrlPr>
                          <a:rPr lang="en-US" i="1" dirty="0">
                            <a:latin typeface="Cambria Math" panose="02040503050406030204" pitchFamily="18" charset="0"/>
                          </a:rPr>
                        </m:ctrlPr>
                      </m:dPr>
                      <m:e>
                        <m:m>
                          <m:mPr>
                            <m:mcs>
                              <m:mc>
                                <m:mcPr>
                                  <m:count m:val="3"/>
                                  <m:mcJc m:val="center"/>
                                </m:mcPr>
                              </m:mc>
                            </m:mcs>
                            <m:ctrlPr>
                              <a:rPr lang="en-US" i="1" dirty="0">
                                <a:latin typeface="Cambria Math" panose="02040503050406030204" pitchFamily="18" charset="0"/>
                              </a:rPr>
                            </m:ctrlPr>
                          </m:mPr>
                          <m:mr>
                            <m:e>
                              <m:r>
                                <m:rPr>
                                  <m:brk m:alnAt="7"/>
                                </m:rPr>
                                <a:rPr lang="en-US" dirty="0">
                                  <a:latin typeface="Cambria Math" panose="02040503050406030204" pitchFamily="18" charset="0"/>
                                </a:rPr>
                                <m:t>3</m:t>
                              </m:r>
                            </m:e>
                            <m:e>
                              <m:r>
                                <a:rPr lang="en-US" dirty="0">
                                  <a:latin typeface="Cambria Math" panose="02040503050406030204" pitchFamily="18" charset="0"/>
                                </a:rPr>
                                <m:t>1</m:t>
                              </m:r>
                            </m:e>
                            <m:e>
                              <m:r>
                                <a:rPr lang="en-US" dirty="0">
                                  <a:latin typeface="Cambria Math" panose="02040503050406030204" pitchFamily="18" charset="0"/>
                                </a:rPr>
                                <m:t>0</m:t>
                              </m:r>
                            </m:e>
                          </m:mr>
                          <m:mr>
                            <m:e>
                              <m:r>
                                <a:rPr lang="en-US" dirty="0">
                                  <a:latin typeface="Cambria Math" panose="02040503050406030204" pitchFamily="18" charset="0"/>
                                </a:rPr>
                                <m:t>1</m:t>
                              </m:r>
                            </m:e>
                            <m:e>
                              <m:r>
                                <a:rPr lang="en-US" dirty="0">
                                  <a:latin typeface="Cambria Math" panose="02040503050406030204" pitchFamily="18" charset="0"/>
                                </a:rPr>
                                <m:t>2</m:t>
                              </m:r>
                            </m:e>
                            <m:e>
                              <m:r>
                                <a:rPr lang="en-US" dirty="0">
                                  <a:latin typeface="Cambria Math" panose="02040503050406030204" pitchFamily="18" charset="0"/>
                                </a:rPr>
                                <m:t>2</m:t>
                              </m:r>
                            </m:e>
                          </m:mr>
                          <m:mr>
                            <m:e>
                              <m:r>
                                <a:rPr lang="en-US" dirty="0">
                                  <a:latin typeface="Cambria Math" panose="02040503050406030204" pitchFamily="18" charset="0"/>
                                </a:rPr>
                                <m:t>0</m:t>
                              </m:r>
                            </m:e>
                            <m:e>
                              <m:r>
                                <a:rPr lang="en-US" dirty="0">
                                  <a:latin typeface="Cambria Math" panose="02040503050406030204" pitchFamily="18" charset="0"/>
                                </a:rPr>
                                <m:t>2</m:t>
                              </m:r>
                            </m:e>
                            <m:e>
                              <m:r>
                                <a:rPr lang="en-US" dirty="0">
                                  <a:latin typeface="Cambria Math" panose="02040503050406030204" pitchFamily="18" charset="0"/>
                                </a:rPr>
                                <m:t>4</m:t>
                              </m:r>
                            </m:e>
                          </m:mr>
                        </m:m>
                      </m:e>
                    </m:d>
                  </m:oMath>
                </a14:m>
                <a:endParaRPr lang="en-US" dirty="0"/>
              </a:p>
              <a:p>
                <a:endParaRPr lang="en-US" dirty="0"/>
              </a:p>
              <a:p>
                <a:r>
                  <a:rPr lang="en-US" dirty="0"/>
                  <a:t>Covariance between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𝑋</m:t>
                        </m:r>
                      </m:e>
                      <m:sub>
                        <m:r>
                          <a:rPr lang="en-US" smtClean="0">
                            <a:latin typeface="Cambria Math" panose="02040503050406030204" pitchFamily="18" charset="0"/>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2</m:t>
                        </m:r>
                      </m:sub>
                    </m:sSub>
                    <m:r>
                      <a:rPr lang="en-US">
                        <a:latin typeface="Cambria Math" panose="02040503050406030204" pitchFamily="18" charset="0"/>
                      </a:rPr>
                      <m:t> </m:t>
                    </m:r>
                  </m:oMath>
                </a14:m>
                <a:r>
                  <a:rPr lang="en-US" dirty="0"/>
                  <a:t>is 1</a:t>
                </a:r>
              </a:p>
              <a:p>
                <a:r>
                  <a:rPr lang="en-US" dirty="0"/>
                  <a:t>Covariance between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𝑋</m:t>
                        </m:r>
                      </m:e>
                      <m:sub>
                        <m:r>
                          <a:rPr lang="en-US" smtClean="0">
                            <a:latin typeface="Cambria Math" panose="02040503050406030204" pitchFamily="18" charset="0"/>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𝑋</m:t>
                        </m:r>
                      </m:e>
                      <m:sub>
                        <m:r>
                          <a:rPr lang="en-US" smtClean="0">
                            <a:latin typeface="Cambria Math" panose="02040503050406030204" pitchFamily="18" charset="0"/>
                          </a:rPr>
                          <m:t>3</m:t>
                        </m:r>
                      </m:sub>
                    </m:sSub>
                    <m:r>
                      <a:rPr lang="en-US">
                        <a:latin typeface="Cambria Math" panose="02040503050406030204" pitchFamily="18" charset="0"/>
                      </a:rPr>
                      <m:t> </m:t>
                    </m:r>
                  </m:oMath>
                </a14:m>
                <a:r>
                  <a:rPr lang="en-US" dirty="0"/>
                  <a:t>is 0</a:t>
                </a:r>
              </a:p>
              <a:p>
                <a:r>
                  <a:rPr lang="en-US" dirty="0"/>
                  <a:t>Covariance between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𝑋</m:t>
                        </m:r>
                      </m:e>
                      <m:sub>
                        <m:r>
                          <a:rPr lang="en-US" smtClean="0">
                            <a:latin typeface="Cambria Math" panose="02040503050406030204" pitchFamily="18" charset="0"/>
                          </a:rPr>
                          <m:t>2</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3</m:t>
                        </m:r>
                      </m:sub>
                    </m:sSub>
                    <m:r>
                      <a:rPr lang="en-US">
                        <a:latin typeface="Cambria Math" panose="02040503050406030204" pitchFamily="18" charset="0"/>
                      </a:rPr>
                      <m:t> </m:t>
                    </m:r>
                  </m:oMath>
                </a14:m>
                <a:r>
                  <a:rPr lang="en-US" dirty="0"/>
                  <a:t>is 2</a:t>
                </a:r>
              </a:p>
            </p:txBody>
          </p:sp>
        </mc:Choice>
        <mc:Fallback xmlns="">
          <p:sp>
            <p:nvSpPr>
              <p:cNvPr id="3" name="Content Placeholder 2">
                <a:extLst>
                  <a:ext uri="{FF2B5EF4-FFF2-40B4-BE49-F238E27FC236}">
                    <a16:creationId xmlns:a16="http://schemas.microsoft.com/office/drawing/2014/main" id="{5143CE8D-818F-073B-9CF2-EC8CD144BD6E}"/>
                  </a:ext>
                </a:extLst>
              </p:cNvPr>
              <p:cNvSpPr>
                <a:spLocks noGrp="1" noRot="1" noChangeAspect="1" noMove="1" noResize="1" noEditPoints="1" noAdjustHandles="1" noChangeArrowheads="1" noChangeShapeType="1" noTextEdit="1"/>
              </p:cNvSpPr>
              <p:nvPr>
                <p:ph idx="1"/>
              </p:nvPr>
            </p:nvSpPr>
            <p:spPr>
              <a:blipFill>
                <a:blip r:embed="rId2"/>
                <a:stretch>
                  <a:fillRect l="-1278"/>
                </a:stretch>
              </a:blipFill>
            </p:spPr>
            <p:txBody>
              <a:bodyPr/>
              <a:lstStyle/>
              <a:p>
                <a:r>
                  <a:rPr lang="en-US">
                    <a:noFill/>
                  </a:rPr>
                  <a:t> </a:t>
                </a:r>
              </a:p>
            </p:txBody>
          </p:sp>
        </mc:Fallback>
      </mc:AlternateContent>
    </p:spTree>
    <p:extLst>
      <p:ext uri="{BB962C8B-B14F-4D97-AF65-F5344CB8AC3E}">
        <p14:creationId xmlns:p14="http://schemas.microsoft.com/office/powerpoint/2010/main" val="1004847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F99CA-E676-5675-8257-6A4BB9DD99C9}"/>
              </a:ext>
            </a:extLst>
          </p:cNvPr>
          <p:cNvSpPr>
            <a:spLocks noGrp="1"/>
          </p:cNvSpPr>
          <p:nvPr>
            <p:ph type="title"/>
          </p:nvPr>
        </p:nvSpPr>
        <p:spPr/>
        <p:txBody>
          <a:bodyPr/>
          <a:lstStyle/>
          <a:p>
            <a:r>
              <a:rPr lang="en-US" dirty="0"/>
              <a:t>Covariances to Correlation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F0BEAB-CA30-3FA9-A8C5-FB2F39AC43F6}"/>
                  </a:ext>
                </a:extLst>
              </p:cNvPr>
              <p:cNvSpPr>
                <a:spLocks noGrp="1"/>
              </p:cNvSpPr>
              <p:nvPr>
                <p:ph idx="1"/>
              </p:nvPr>
            </p:nvSpPr>
            <p:spPr/>
            <p:txBody>
              <a:bodyPr/>
              <a:lstStyle/>
              <a:p>
                <a:pPr marL="0" indent="0">
                  <a:buNone/>
                </a:pPr>
                <a:r>
                  <a:rPr lang="en-US" dirty="0"/>
                  <a:t>Correlations can be computed directly from the covariance matrix.</a:t>
                </a:r>
              </a:p>
              <a:p>
                <a:pPr marL="0" indent="0">
                  <a:buNone/>
                </a:pPr>
                <a14:m>
                  <m:oMathPara xmlns:m="http://schemas.openxmlformats.org/officeDocument/2006/math">
                    <m:oMathParaPr>
                      <m:jc m:val="centerGroup"/>
                    </m:oMathParaPr>
                    <m:oMath xmlns:m="http://schemas.openxmlformats.org/officeDocument/2006/math">
                      <m:r>
                        <a:rPr lang="en-US" smtClean="0">
                          <a:latin typeface="Cambria Math" panose="02040503050406030204" pitchFamily="18" charset="0"/>
                        </a:rPr>
                        <m:t>𝐶𝑂𝑅</m:t>
                      </m:r>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smtClean="0">
                                  <a:latin typeface="Cambria Math" panose="02040503050406030204" pitchFamily="18" charset="0"/>
                                </a:rPr>
                                <m:t>𝑋</m:t>
                              </m:r>
                            </m:e>
                            <m:sub>
                              <m:r>
                                <a:rPr lang="en-US" smtClean="0">
                                  <a:latin typeface="Cambria Math" panose="02040503050406030204" pitchFamily="18" charset="0"/>
                                </a:rPr>
                                <m:t>1</m:t>
                              </m:r>
                            </m:sub>
                          </m:sSub>
                          <m:r>
                            <a:rPr lang="en-US" smtClean="0">
                              <a:latin typeface="Cambria Math" panose="02040503050406030204" pitchFamily="18" charset="0"/>
                            </a:rPr>
                            <m:t>,</m:t>
                          </m:r>
                          <m:sSub>
                            <m:sSubPr>
                              <m:ctrlPr>
                                <a:rPr lang="en-US" i="1" smtClean="0">
                                  <a:latin typeface="Cambria Math" panose="02040503050406030204" pitchFamily="18" charset="0"/>
                                </a:rPr>
                              </m:ctrlPr>
                            </m:sSubPr>
                            <m:e>
                              <m:r>
                                <a:rPr lang="en-US" smtClean="0">
                                  <a:latin typeface="Cambria Math" panose="02040503050406030204" pitchFamily="18" charset="0"/>
                                </a:rPr>
                                <m:t>𝑋</m:t>
                              </m:r>
                            </m:e>
                            <m:sub>
                              <m:r>
                                <a:rPr lang="en-US" smtClean="0">
                                  <a:latin typeface="Cambria Math" panose="02040503050406030204" pitchFamily="18" charset="0"/>
                                </a:rPr>
                                <m:t>2</m:t>
                              </m:r>
                            </m:sub>
                          </m:sSub>
                        </m:e>
                      </m:d>
                      <m:r>
                        <a:rPr lang="en-US" smtClean="0">
                          <a:latin typeface="Cambria Math" panose="02040503050406030204" pitchFamily="18" charset="0"/>
                        </a:rPr>
                        <m:t>=</m:t>
                      </m:r>
                      <m:f>
                        <m:fPr>
                          <m:ctrlPr>
                            <a:rPr lang="en-US" i="1" smtClean="0">
                              <a:latin typeface="Cambria Math" panose="02040503050406030204" pitchFamily="18" charset="0"/>
                            </a:rPr>
                          </m:ctrlPr>
                        </m:fPr>
                        <m:num>
                          <m:r>
                            <a:rPr lang="en-US" smtClean="0">
                              <a:latin typeface="Cambria Math" panose="02040503050406030204" pitchFamily="18" charset="0"/>
                            </a:rPr>
                            <m:t>𝐶𝑂𝑉</m:t>
                          </m:r>
                          <m:r>
                            <a:rPr lang="en-US" smtClean="0">
                              <a:latin typeface="Cambria Math" panose="02040503050406030204" pitchFamily="18" charset="0"/>
                            </a:rPr>
                            <m:t>(</m:t>
                          </m:r>
                          <m:sSub>
                            <m:sSubPr>
                              <m:ctrlPr>
                                <a:rPr lang="en-US" i="1" smtClean="0">
                                  <a:latin typeface="Cambria Math" panose="02040503050406030204" pitchFamily="18" charset="0"/>
                                </a:rPr>
                              </m:ctrlPr>
                            </m:sSubPr>
                            <m:e>
                              <m:r>
                                <a:rPr lang="en-US" smtClean="0">
                                  <a:latin typeface="Cambria Math" panose="02040503050406030204" pitchFamily="18" charset="0"/>
                                </a:rPr>
                                <m:t>𝑋</m:t>
                              </m:r>
                            </m:e>
                            <m:sub>
                              <m:r>
                                <a:rPr lang="en-US" smtClean="0">
                                  <a:latin typeface="Cambria Math" panose="02040503050406030204" pitchFamily="18" charset="0"/>
                                </a:rPr>
                                <m:t>1</m:t>
                              </m:r>
                            </m:sub>
                          </m:sSub>
                          <m:r>
                            <a:rPr lang="en-US" smtClean="0">
                              <a:latin typeface="Cambria Math" panose="02040503050406030204" pitchFamily="18" charset="0"/>
                            </a:rPr>
                            <m:t>,</m:t>
                          </m:r>
                          <m:sSub>
                            <m:sSubPr>
                              <m:ctrlPr>
                                <a:rPr lang="en-US" i="1" smtClean="0">
                                  <a:latin typeface="Cambria Math" panose="02040503050406030204" pitchFamily="18" charset="0"/>
                                </a:rPr>
                              </m:ctrlPr>
                            </m:sSubPr>
                            <m:e>
                              <m:r>
                                <a:rPr lang="en-US" smtClean="0">
                                  <a:latin typeface="Cambria Math" panose="02040503050406030204" pitchFamily="18" charset="0"/>
                                </a:rPr>
                                <m:t>𝑋</m:t>
                              </m:r>
                            </m:e>
                            <m:sub>
                              <m:r>
                                <a:rPr lang="en-US" smtClean="0">
                                  <a:latin typeface="Cambria Math" panose="02040503050406030204" pitchFamily="18" charset="0"/>
                                </a:rPr>
                                <m:t>2</m:t>
                              </m:r>
                            </m:sub>
                          </m:sSub>
                          <m:r>
                            <a:rPr lang="en-US" smtClean="0">
                              <a:latin typeface="Cambria Math" panose="02040503050406030204" pitchFamily="18" charset="0"/>
                            </a:rPr>
                            <m:t>)</m:t>
                          </m:r>
                        </m:num>
                        <m:den>
                          <m:sSub>
                            <m:sSubPr>
                              <m:ctrlPr>
                                <a:rPr lang="en-US" i="1" smtClean="0">
                                  <a:latin typeface="Cambria Math" panose="02040503050406030204" pitchFamily="18" charset="0"/>
                                </a:rPr>
                              </m:ctrlPr>
                            </m:sSubPr>
                            <m:e>
                              <m:r>
                                <a:rPr lang="en-US" smtClean="0">
                                  <a:latin typeface="Cambria Math" panose="02040503050406030204" pitchFamily="18" charset="0"/>
                                </a:rPr>
                                <m:t>𝜎</m:t>
                              </m:r>
                            </m:e>
                            <m:sub>
                              <m:r>
                                <a:rPr lang="en-US" smtClean="0">
                                  <a:latin typeface="Cambria Math" panose="02040503050406030204" pitchFamily="18" charset="0"/>
                                </a:rPr>
                                <m:t>1</m:t>
                              </m:r>
                            </m:sub>
                          </m:sSub>
                          <m:sSub>
                            <m:sSubPr>
                              <m:ctrlPr>
                                <a:rPr lang="en-US" i="1" smtClean="0">
                                  <a:latin typeface="Cambria Math" panose="02040503050406030204" pitchFamily="18" charset="0"/>
                                </a:rPr>
                              </m:ctrlPr>
                            </m:sSubPr>
                            <m:e>
                              <m:r>
                                <a:rPr lang="en-US" smtClean="0">
                                  <a:latin typeface="Cambria Math" panose="02040503050406030204" pitchFamily="18" charset="0"/>
                                </a:rPr>
                                <m:t>𝜎</m:t>
                              </m:r>
                            </m:e>
                            <m:sub>
                              <m:r>
                                <a:rPr lang="en-US" smtClean="0">
                                  <a:latin typeface="Cambria Math" panose="02040503050406030204" pitchFamily="18" charset="0"/>
                                </a:rPr>
                                <m:t>2</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01F0BEAB-CA30-3FA9-A8C5-FB2F39AC43F6}"/>
                  </a:ext>
                </a:extLst>
              </p:cNvPr>
              <p:cNvSpPr>
                <a:spLocks noGrp="1" noRot="1" noChangeAspect="1" noMove="1" noResize="1" noEditPoints="1" noAdjustHandles="1" noChangeArrowheads="1" noChangeShapeType="1" noTextEdit="1"/>
              </p:cNvSpPr>
              <p:nvPr>
                <p:ph idx="1"/>
              </p:nvPr>
            </p:nvSpPr>
            <p:spPr>
              <a:blipFill>
                <a:blip r:embed="rId2"/>
                <a:stretch>
                  <a:fillRect l="-1389" t="-1752"/>
                </a:stretch>
              </a:blipFill>
            </p:spPr>
            <p:txBody>
              <a:bodyPr/>
              <a:lstStyle/>
              <a:p>
                <a:r>
                  <a:rPr lang="en-US">
                    <a:noFill/>
                  </a:rPr>
                  <a:t> </a:t>
                </a:r>
              </a:p>
            </p:txBody>
          </p:sp>
        </mc:Fallback>
      </mc:AlternateContent>
    </p:spTree>
    <p:extLst>
      <p:ext uri="{BB962C8B-B14F-4D97-AF65-F5344CB8AC3E}">
        <p14:creationId xmlns:p14="http://schemas.microsoft.com/office/powerpoint/2010/main" val="335820148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30412-A2BA-4096-918B-960A47C281DD}"/>
              </a:ext>
            </a:extLst>
          </p:cNvPr>
          <p:cNvSpPr>
            <a:spLocks noGrp="1"/>
          </p:cNvSpPr>
          <p:nvPr>
            <p:ph type="title"/>
          </p:nvPr>
        </p:nvSpPr>
        <p:spPr/>
        <p:txBody>
          <a:bodyPr/>
          <a:lstStyle/>
          <a:p>
            <a:r>
              <a:rPr lang="en-US" dirty="0"/>
              <a:t>Correlation Examples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143CE8D-818F-073B-9CF2-EC8CD144BD6E}"/>
                  </a:ext>
                </a:extLst>
              </p:cNvPr>
              <p:cNvSpPr>
                <a:spLocks noGrp="1"/>
              </p:cNvSpPr>
              <p:nvPr>
                <p:ph idx="1"/>
              </p:nvPr>
            </p:nvSpPr>
            <p:spPr/>
            <p:txBody>
              <a:bodyPr/>
              <a:lstStyle/>
              <a:p>
                <a:pPr marL="0" indent="0" algn="ctr">
                  <a:buNone/>
                </a:pPr>
                <a14:m>
                  <m:oMath xmlns:m="http://schemas.openxmlformats.org/officeDocument/2006/math">
                    <m:d>
                      <m:dPr>
                        <m:begChr m:val="["/>
                        <m:endChr m:val="]"/>
                        <m:ctrlPr>
                          <a:rPr lang="en-US"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1</m:t>
                                  </m:r>
                                </m:sub>
                              </m:sSub>
                            </m:e>
                          </m:mr>
                          <m:mr>
                            <m:e>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2</m:t>
                                  </m:r>
                                </m:sub>
                              </m:sSub>
                            </m:e>
                          </m:mr>
                          <m:mr>
                            <m:e>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3</m:t>
                                  </m:r>
                                </m:sub>
                              </m:sSub>
                            </m:e>
                          </m:mr>
                        </m:m>
                      </m:e>
                    </m:d>
                    <m:r>
                      <a:rPr lang="en-US">
                        <a:latin typeface="Cambria Math" panose="02040503050406030204" pitchFamily="18" charset="0"/>
                      </a:rPr>
                      <m:t>~</m:t>
                    </m:r>
                    <m:r>
                      <a:rPr lang="en-US" smtClean="0">
                        <a:latin typeface="Cambria Math" panose="02040503050406030204" pitchFamily="18" charset="0"/>
                      </a:rPr>
                      <m:t>𝐷𝑖𝑠𝑡</m:t>
                    </m:r>
                    <m:d>
                      <m:dPr>
                        <m:ctrlPr>
                          <a:rPr lang="en-US" i="1">
                            <a:latin typeface="Cambria Math" panose="02040503050406030204" pitchFamily="18" charset="0"/>
                          </a:rPr>
                        </m:ctrlPr>
                      </m:dPr>
                      <m:e>
                        <m:r>
                          <a:rPr lang="en-US">
                            <a:latin typeface="Cambria Math" panose="02040503050406030204" pitchFamily="18" charset="0"/>
                          </a:rPr>
                          <m:t>𝜇</m:t>
                        </m:r>
                        <m:r>
                          <a:rPr lang="en-US">
                            <a:latin typeface="Cambria Math" panose="02040503050406030204" pitchFamily="18" charset="0"/>
                          </a:rPr>
                          <m:t>,</m:t>
                        </m:r>
                        <m:r>
                          <m:rPr>
                            <m:sty m:val="p"/>
                          </m:rPr>
                          <a:rPr lang="en-US">
                            <a:latin typeface="Cambria Math" panose="02040503050406030204" pitchFamily="18" charset="0"/>
                          </a:rPr>
                          <m:t>Σ</m:t>
                        </m:r>
                      </m:e>
                    </m:d>
                  </m:oMath>
                </a14:m>
                <a:r>
                  <a:rPr lang="en-US" dirty="0"/>
                  <a:t>       </a:t>
                </a:r>
                <a14:m>
                  <m:oMath xmlns:m="http://schemas.openxmlformats.org/officeDocument/2006/math">
                    <m:r>
                      <m:rPr>
                        <m:sty m:val="p"/>
                      </m:rPr>
                      <a:rPr lang="en-US" dirty="0">
                        <a:latin typeface="Cambria Math" panose="02040503050406030204" pitchFamily="18" charset="0"/>
                      </a:rPr>
                      <m:t>Σ</m:t>
                    </m:r>
                    <m:r>
                      <a:rPr lang="en-US" dirty="0">
                        <a:latin typeface="Cambria Math" panose="02040503050406030204" pitchFamily="18" charset="0"/>
                      </a:rPr>
                      <m:t>=</m:t>
                    </m:r>
                    <m:d>
                      <m:dPr>
                        <m:begChr m:val="["/>
                        <m:endChr m:val="]"/>
                        <m:ctrlPr>
                          <a:rPr lang="en-US" i="1" dirty="0">
                            <a:latin typeface="Cambria Math" panose="02040503050406030204" pitchFamily="18" charset="0"/>
                          </a:rPr>
                        </m:ctrlPr>
                      </m:dPr>
                      <m:e>
                        <m:m>
                          <m:mPr>
                            <m:mcs>
                              <m:mc>
                                <m:mcPr>
                                  <m:count m:val="3"/>
                                  <m:mcJc m:val="center"/>
                                </m:mcPr>
                              </m:mc>
                            </m:mcs>
                            <m:ctrlPr>
                              <a:rPr lang="en-US" i="1" dirty="0">
                                <a:latin typeface="Cambria Math" panose="02040503050406030204" pitchFamily="18" charset="0"/>
                              </a:rPr>
                            </m:ctrlPr>
                          </m:mPr>
                          <m:mr>
                            <m:e>
                              <m:r>
                                <m:rPr>
                                  <m:brk m:alnAt="7"/>
                                </m:rPr>
                                <a:rPr lang="en-US" dirty="0">
                                  <a:latin typeface="Cambria Math" panose="02040503050406030204" pitchFamily="18" charset="0"/>
                                </a:rPr>
                                <m:t>3</m:t>
                              </m:r>
                            </m:e>
                            <m:e>
                              <m:r>
                                <a:rPr lang="en-US" dirty="0">
                                  <a:latin typeface="Cambria Math" panose="02040503050406030204" pitchFamily="18" charset="0"/>
                                </a:rPr>
                                <m:t>1</m:t>
                              </m:r>
                            </m:e>
                            <m:e>
                              <m:r>
                                <a:rPr lang="en-US" dirty="0">
                                  <a:latin typeface="Cambria Math" panose="02040503050406030204" pitchFamily="18" charset="0"/>
                                </a:rPr>
                                <m:t>0</m:t>
                              </m:r>
                            </m:e>
                          </m:mr>
                          <m:mr>
                            <m:e>
                              <m:r>
                                <a:rPr lang="en-US" dirty="0">
                                  <a:latin typeface="Cambria Math" panose="02040503050406030204" pitchFamily="18" charset="0"/>
                                </a:rPr>
                                <m:t>1</m:t>
                              </m:r>
                            </m:e>
                            <m:e>
                              <m:r>
                                <a:rPr lang="en-US" dirty="0">
                                  <a:latin typeface="Cambria Math" panose="02040503050406030204" pitchFamily="18" charset="0"/>
                                </a:rPr>
                                <m:t>2</m:t>
                              </m:r>
                            </m:e>
                            <m:e>
                              <m:r>
                                <a:rPr lang="en-US" dirty="0">
                                  <a:latin typeface="Cambria Math" panose="02040503050406030204" pitchFamily="18" charset="0"/>
                                </a:rPr>
                                <m:t>2</m:t>
                              </m:r>
                            </m:e>
                          </m:mr>
                          <m:mr>
                            <m:e>
                              <m:r>
                                <a:rPr lang="en-US" dirty="0">
                                  <a:latin typeface="Cambria Math" panose="02040503050406030204" pitchFamily="18" charset="0"/>
                                </a:rPr>
                                <m:t>0</m:t>
                              </m:r>
                            </m:e>
                            <m:e>
                              <m:r>
                                <a:rPr lang="en-US" dirty="0">
                                  <a:latin typeface="Cambria Math" panose="02040503050406030204" pitchFamily="18" charset="0"/>
                                </a:rPr>
                                <m:t>2</m:t>
                              </m:r>
                            </m:e>
                            <m:e>
                              <m:r>
                                <a:rPr lang="en-US" dirty="0">
                                  <a:latin typeface="Cambria Math" panose="02040503050406030204" pitchFamily="18" charset="0"/>
                                </a:rPr>
                                <m:t>4</m:t>
                              </m:r>
                            </m:e>
                          </m:mr>
                        </m:m>
                      </m:e>
                    </m:d>
                  </m:oMath>
                </a14:m>
                <a:endParaRPr lang="en-US" dirty="0"/>
              </a:p>
              <a:p>
                <a:pPr marL="0" indent="0">
                  <a:buNone/>
                </a:pPr>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𝐶𝑂𝑅</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a:latin typeface="Cambria Math" panose="02040503050406030204" pitchFamily="18" charset="0"/>
                                </a:rPr>
                                <m:t>𝑋</m:t>
                              </m:r>
                            </m:e>
                            <m:sub>
                              <m:r>
                                <a:rPr lang="en-US" smtClean="0">
                                  <a:latin typeface="Cambria Math" panose="02040503050406030204" pitchFamily="18" charset="0"/>
                                </a:rPr>
                                <m:t>2</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𝑋</m:t>
                              </m:r>
                            </m:e>
                            <m:sub>
                              <m:r>
                                <a:rPr lang="en-US" smtClean="0">
                                  <a:latin typeface="Cambria Math" panose="02040503050406030204" pitchFamily="18" charset="0"/>
                                </a:rPr>
                                <m:t>3</m:t>
                              </m:r>
                            </m:sub>
                          </m:sSub>
                        </m:e>
                      </m:d>
                      <m:r>
                        <a:rPr lang="en-US">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𝐶𝑂𝑉</m:t>
                          </m:r>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𝑋</m:t>
                              </m:r>
                            </m:e>
                            <m:sub>
                              <m:r>
                                <a:rPr lang="en-US" smtClean="0">
                                  <a:latin typeface="Cambria Math" panose="02040503050406030204" pitchFamily="18" charset="0"/>
                                </a:rPr>
                                <m:t>2</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𝑋</m:t>
                              </m:r>
                            </m:e>
                            <m:sub>
                              <m:r>
                                <a:rPr lang="en-US" smtClean="0">
                                  <a:latin typeface="Cambria Math" panose="02040503050406030204" pitchFamily="18" charset="0"/>
                                </a:rPr>
                                <m:t>3</m:t>
                              </m:r>
                            </m:sub>
                          </m:sSub>
                          <m:r>
                            <a:rPr lang="en-US">
                              <a:latin typeface="Cambria Math" panose="02040503050406030204" pitchFamily="18" charset="0"/>
                            </a:rPr>
                            <m:t>)</m:t>
                          </m:r>
                        </m:num>
                        <m:den>
                          <m:sSub>
                            <m:sSubPr>
                              <m:ctrlPr>
                                <a:rPr lang="en-US" i="1">
                                  <a:latin typeface="Cambria Math" panose="02040503050406030204" pitchFamily="18" charset="0"/>
                                </a:rPr>
                              </m:ctrlPr>
                            </m:sSubPr>
                            <m:e>
                              <m:r>
                                <a:rPr lang="en-US">
                                  <a:latin typeface="Cambria Math" panose="02040503050406030204" pitchFamily="18" charset="0"/>
                                </a:rPr>
                                <m:t>𝜎</m:t>
                              </m:r>
                            </m:e>
                            <m:sub>
                              <m:r>
                                <a:rPr lang="en-US" smtClean="0">
                                  <a:latin typeface="Cambria Math" panose="02040503050406030204" pitchFamily="18" charset="0"/>
                                </a:rPr>
                                <m:t>2</m:t>
                              </m:r>
                            </m:sub>
                          </m:sSub>
                          <m:sSub>
                            <m:sSubPr>
                              <m:ctrlPr>
                                <a:rPr lang="en-US" i="1">
                                  <a:latin typeface="Cambria Math" panose="02040503050406030204" pitchFamily="18" charset="0"/>
                                </a:rPr>
                              </m:ctrlPr>
                            </m:sSubPr>
                            <m:e>
                              <m:r>
                                <a:rPr lang="en-US">
                                  <a:latin typeface="Cambria Math" panose="02040503050406030204" pitchFamily="18" charset="0"/>
                                </a:rPr>
                                <m:t>𝜎</m:t>
                              </m:r>
                            </m:e>
                            <m:sub>
                              <m:r>
                                <a:rPr lang="en-US" smtClean="0">
                                  <a:latin typeface="Cambria Math" panose="02040503050406030204" pitchFamily="18" charset="0"/>
                                </a:rPr>
                                <m:t>3</m:t>
                              </m:r>
                            </m:sub>
                          </m:sSub>
                        </m:den>
                      </m:f>
                      <m:r>
                        <a:rPr lang="en-US" smtClean="0">
                          <a:latin typeface="Cambria Math" panose="02040503050406030204" pitchFamily="18" charset="0"/>
                        </a:rPr>
                        <m:t>=</m:t>
                      </m:r>
                      <m:f>
                        <m:fPr>
                          <m:ctrlPr>
                            <a:rPr lang="en-US" i="1" smtClean="0">
                              <a:latin typeface="Cambria Math" panose="02040503050406030204" pitchFamily="18" charset="0"/>
                            </a:rPr>
                          </m:ctrlPr>
                        </m:fPr>
                        <m:num>
                          <m:r>
                            <a:rPr lang="en-US" smtClean="0">
                              <a:latin typeface="Cambria Math" panose="02040503050406030204" pitchFamily="18" charset="0"/>
                            </a:rPr>
                            <m:t>2</m:t>
                          </m:r>
                        </m:num>
                        <m:den>
                          <m:rad>
                            <m:radPr>
                              <m:degHide m:val="on"/>
                              <m:ctrlPr>
                                <a:rPr lang="en-US" i="1" smtClean="0">
                                  <a:latin typeface="Cambria Math" panose="02040503050406030204" pitchFamily="18" charset="0"/>
                                </a:rPr>
                              </m:ctrlPr>
                            </m:radPr>
                            <m:deg/>
                            <m:e>
                              <m:r>
                                <a:rPr lang="en-US" smtClean="0">
                                  <a:latin typeface="Cambria Math" panose="02040503050406030204" pitchFamily="18" charset="0"/>
                                </a:rPr>
                                <m:t>2</m:t>
                              </m:r>
                            </m:e>
                          </m:rad>
                          <m:rad>
                            <m:radPr>
                              <m:degHide m:val="on"/>
                              <m:ctrlPr>
                                <a:rPr lang="en-US" i="1" smtClean="0">
                                  <a:latin typeface="Cambria Math" panose="02040503050406030204" pitchFamily="18" charset="0"/>
                                </a:rPr>
                              </m:ctrlPr>
                            </m:radPr>
                            <m:deg/>
                            <m:e>
                              <m:r>
                                <a:rPr lang="en-US" smtClean="0">
                                  <a:latin typeface="Cambria Math" panose="02040503050406030204" pitchFamily="18" charset="0"/>
                                </a:rPr>
                                <m:t>4</m:t>
                              </m:r>
                            </m:e>
                          </m:rad>
                        </m:den>
                      </m:f>
                      <m:r>
                        <a:rPr lang="en-US" smtClean="0">
                          <a:latin typeface="Cambria Math" panose="02040503050406030204" pitchFamily="18" charset="0"/>
                        </a:rPr>
                        <m:t>=0.71</m:t>
                      </m:r>
                    </m:oMath>
                  </m:oMathPara>
                </a14:m>
                <a:endParaRPr lang="en-US" dirty="0"/>
              </a:p>
            </p:txBody>
          </p:sp>
        </mc:Choice>
        <mc:Fallback xmlns="">
          <p:sp>
            <p:nvSpPr>
              <p:cNvPr id="3" name="Content Placeholder 2">
                <a:extLst>
                  <a:ext uri="{FF2B5EF4-FFF2-40B4-BE49-F238E27FC236}">
                    <a16:creationId xmlns:a16="http://schemas.microsoft.com/office/drawing/2014/main" id="{5143CE8D-818F-073B-9CF2-EC8CD144BD6E}"/>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6233182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30412-A2BA-4096-918B-960A47C281DD}"/>
              </a:ext>
            </a:extLst>
          </p:cNvPr>
          <p:cNvSpPr>
            <a:spLocks noGrp="1"/>
          </p:cNvSpPr>
          <p:nvPr>
            <p:ph type="title"/>
          </p:nvPr>
        </p:nvSpPr>
        <p:spPr/>
        <p:txBody>
          <a:bodyPr/>
          <a:lstStyle/>
          <a:p>
            <a:r>
              <a:rPr lang="en-US" dirty="0"/>
              <a:t>Correlation Examples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143CE8D-818F-073B-9CF2-EC8CD144BD6E}"/>
                  </a:ext>
                </a:extLst>
              </p:cNvPr>
              <p:cNvSpPr>
                <a:spLocks noGrp="1"/>
              </p:cNvSpPr>
              <p:nvPr>
                <p:ph idx="1"/>
              </p:nvPr>
            </p:nvSpPr>
            <p:spPr/>
            <p:txBody>
              <a:bodyPr/>
              <a:lstStyle/>
              <a:p>
                <a:pPr marL="0" indent="0" algn="ctr">
                  <a:buNone/>
                </a:pPr>
                <a14:m>
                  <m:oMath xmlns:m="http://schemas.openxmlformats.org/officeDocument/2006/math">
                    <m:d>
                      <m:dPr>
                        <m:begChr m:val="["/>
                        <m:endChr m:val="]"/>
                        <m:ctrlPr>
                          <a:rPr lang="en-US"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1</m:t>
                                  </m:r>
                                </m:sub>
                              </m:sSub>
                            </m:e>
                          </m:mr>
                          <m:mr>
                            <m:e>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2</m:t>
                                  </m:r>
                                </m:sub>
                              </m:sSub>
                            </m:e>
                          </m:mr>
                          <m:mr>
                            <m:e>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3</m:t>
                                  </m:r>
                                </m:sub>
                              </m:sSub>
                            </m:e>
                          </m:mr>
                        </m:m>
                      </m:e>
                    </m:d>
                    <m:r>
                      <a:rPr lang="en-US">
                        <a:latin typeface="Cambria Math" panose="02040503050406030204" pitchFamily="18" charset="0"/>
                      </a:rPr>
                      <m:t>~</m:t>
                    </m:r>
                    <m:r>
                      <a:rPr lang="en-US" smtClean="0">
                        <a:latin typeface="Cambria Math" panose="02040503050406030204" pitchFamily="18" charset="0"/>
                      </a:rPr>
                      <m:t>𝐷𝑖𝑠𝑡</m:t>
                    </m:r>
                    <m:d>
                      <m:dPr>
                        <m:ctrlPr>
                          <a:rPr lang="en-US" i="1">
                            <a:latin typeface="Cambria Math" panose="02040503050406030204" pitchFamily="18" charset="0"/>
                          </a:rPr>
                        </m:ctrlPr>
                      </m:dPr>
                      <m:e>
                        <m:r>
                          <a:rPr lang="en-US">
                            <a:latin typeface="Cambria Math" panose="02040503050406030204" pitchFamily="18" charset="0"/>
                          </a:rPr>
                          <m:t>𝜇</m:t>
                        </m:r>
                        <m:r>
                          <a:rPr lang="en-US">
                            <a:latin typeface="Cambria Math" panose="02040503050406030204" pitchFamily="18" charset="0"/>
                          </a:rPr>
                          <m:t>,</m:t>
                        </m:r>
                        <m:r>
                          <m:rPr>
                            <m:sty m:val="p"/>
                          </m:rPr>
                          <a:rPr lang="en-US">
                            <a:latin typeface="Cambria Math" panose="02040503050406030204" pitchFamily="18" charset="0"/>
                          </a:rPr>
                          <m:t>Σ</m:t>
                        </m:r>
                      </m:e>
                    </m:d>
                  </m:oMath>
                </a14:m>
                <a:r>
                  <a:rPr lang="en-US" dirty="0"/>
                  <a:t>       </a:t>
                </a:r>
                <a14:m>
                  <m:oMath xmlns:m="http://schemas.openxmlformats.org/officeDocument/2006/math">
                    <m:r>
                      <m:rPr>
                        <m:sty m:val="p"/>
                      </m:rPr>
                      <a:rPr lang="en-US" dirty="0">
                        <a:latin typeface="Cambria Math" panose="02040503050406030204" pitchFamily="18" charset="0"/>
                      </a:rPr>
                      <m:t>Σ</m:t>
                    </m:r>
                    <m:r>
                      <a:rPr lang="en-US" dirty="0">
                        <a:latin typeface="Cambria Math" panose="02040503050406030204" pitchFamily="18" charset="0"/>
                      </a:rPr>
                      <m:t>=</m:t>
                    </m:r>
                    <m:d>
                      <m:dPr>
                        <m:begChr m:val="["/>
                        <m:endChr m:val="]"/>
                        <m:ctrlPr>
                          <a:rPr lang="en-US" i="1" dirty="0">
                            <a:latin typeface="Cambria Math" panose="02040503050406030204" pitchFamily="18" charset="0"/>
                          </a:rPr>
                        </m:ctrlPr>
                      </m:dPr>
                      <m:e>
                        <m:m>
                          <m:mPr>
                            <m:mcs>
                              <m:mc>
                                <m:mcPr>
                                  <m:count m:val="3"/>
                                  <m:mcJc m:val="center"/>
                                </m:mcPr>
                              </m:mc>
                            </m:mcs>
                            <m:ctrlPr>
                              <a:rPr lang="en-US" i="1" dirty="0">
                                <a:latin typeface="Cambria Math" panose="02040503050406030204" pitchFamily="18" charset="0"/>
                              </a:rPr>
                            </m:ctrlPr>
                          </m:mPr>
                          <m:mr>
                            <m:e>
                              <m:r>
                                <m:rPr>
                                  <m:brk m:alnAt="7"/>
                                </m:rPr>
                                <a:rPr lang="en-US" dirty="0">
                                  <a:latin typeface="Cambria Math" panose="02040503050406030204" pitchFamily="18" charset="0"/>
                                </a:rPr>
                                <m:t>3</m:t>
                              </m:r>
                            </m:e>
                            <m:e>
                              <m:r>
                                <a:rPr lang="en-US" dirty="0">
                                  <a:latin typeface="Cambria Math" panose="02040503050406030204" pitchFamily="18" charset="0"/>
                                </a:rPr>
                                <m:t>1</m:t>
                              </m:r>
                            </m:e>
                            <m:e>
                              <m:r>
                                <a:rPr lang="en-US" dirty="0">
                                  <a:latin typeface="Cambria Math" panose="02040503050406030204" pitchFamily="18" charset="0"/>
                                </a:rPr>
                                <m:t>0</m:t>
                              </m:r>
                            </m:e>
                          </m:mr>
                          <m:mr>
                            <m:e>
                              <m:r>
                                <a:rPr lang="en-US" dirty="0">
                                  <a:latin typeface="Cambria Math" panose="02040503050406030204" pitchFamily="18" charset="0"/>
                                </a:rPr>
                                <m:t>1</m:t>
                              </m:r>
                            </m:e>
                            <m:e>
                              <m:r>
                                <a:rPr lang="en-US" dirty="0">
                                  <a:latin typeface="Cambria Math" panose="02040503050406030204" pitchFamily="18" charset="0"/>
                                </a:rPr>
                                <m:t>2</m:t>
                              </m:r>
                            </m:e>
                            <m:e>
                              <m:r>
                                <a:rPr lang="en-US" dirty="0">
                                  <a:latin typeface="Cambria Math" panose="02040503050406030204" pitchFamily="18" charset="0"/>
                                </a:rPr>
                                <m:t>2</m:t>
                              </m:r>
                            </m:e>
                          </m:mr>
                          <m:mr>
                            <m:e>
                              <m:r>
                                <a:rPr lang="en-US" dirty="0">
                                  <a:latin typeface="Cambria Math" panose="02040503050406030204" pitchFamily="18" charset="0"/>
                                </a:rPr>
                                <m:t>0</m:t>
                              </m:r>
                            </m:e>
                            <m:e>
                              <m:r>
                                <a:rPr lang="en-US" dirty="0">
                                  <a:latin typeface="Cambria Math" panose="02040503050406030204" pitchFamily="18" charset="0"/>
                                </a:rPr>
                                <m:t>2</m:t>
                              </m:r>
                            </m:e>
                            <m:e>
                              <m:r>
                                <a:rPr lang="en-US" dirty="0">
                                  <a:latin typeface="Cambria Math" panose="02040503050406030204" pitchFamily="18" charset="0"/>
                                </a:rPr>
                                <m:t>4</m:t>
                              </m:r>
                            </m:e>
                          </m:mr>
                        </m:m>
                      </m:e>
                    </m:d>
                  </m:oMath>
                </a14:m>
                <a:endParaRPr lang="en-US" dirty="0"/>
              </a:p>
              <a:p>
                <a:endParaRPr lang="en-US" dirty="0"/>
              </a:p>
              <a:p>
                <a:endParaRPr lang="en-US" dirty="0"/>
              </a:p>
              <a:p>
                <a:pPr marL="0" indent="0">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𝐶𝑂𝑅</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a:latin typeface="Cambria Math" panose="02040503050406030204" pitchFamily="18" charset="0"/>
                                </a:rPr>
                                <m:t>𝑋</m:t>
                              </m:r>
                            </m:e>
                            <m:sub>
                              <m:r>
                                <a:rPr lang="en-US" smtClean="0">
                                  <a:latin typeface="Cambria Math" panose="02040503050406030204" pitchFamily="18" charset="0"/>
                                </a:rPr>
                                <m:t>1</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𝑋</m:t>
                              </m:r>
                            </m:e>
                            <m:sub>
                              <m:r>
                                <a:rPr lang="en-US" smtClean="0">
                                  <a:latin typeface="Cambria Math" panose="02040503050406030204" pitchFamily="18" charset="0"/>
                                </a:rPr>
                                <m:t>3</m:t>
                              </m:r>
                            </m:sub>
                          </m:sSub>
                        </m:e>
                      </m:d>
                      <m:r>
                        <a:rPr lang="en-US">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𝐶𝑂𝑉</m:t>
                          </m:r>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𝑋</m:t>
                              </m:r>
                            </m:e>
                            <m:sub>
                              <m:r>
                                <a:rPr lang="en-US" smtClean="0">
                                  <a:latin typeface="Cambria Math" panose="02040503050406030204" pitchFamily="18" charset="0"/>
                                </a:rPr>
                                <m:t>1</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𝑋</m:t>
                              </m:r>
                            </m:e>
                            <m:sub>
                              <m:r>
                                <a:rPr lang="en-US" smtClean="0">
                                  <a:latin typeface="Cambria Math" panose="02040503050406030204" pitchFamily="18" charset="0"/>
                                </a:rPr>
                                <m:t>3</m:t>
                              </m:r>
                            </m:sub>
                          </m:sSub>
                          <m:r>
                            <a:rPr lang="en-US">
                              <a:latin typeface="Cambria Math" panose="02040503050406030204" pitchFamily="18" charset="0"/>
                            </a:rPr>
                            <m:t>)</m:t>
                          </m:r>
                        </m:num>
                        <m:den>
                          <m:sSub>
                            <m:sSubPr>
                              <m:ctrlPr>
                                <a:rPr lang="en-US" i="1">
                                  <a:latin typeface="Cambria Math" panose="02040503050406030204" pitchFamily="18" charset="0"/>
                                </a:rPr>
                              </m:ctrlPr>
                            </m:sSubPr>
                            <m:e>
                              <m:r>
                                <a:rPr lang="en-US">
                                  <a:latin typeface="Cambria Math" panose="02040503050406030204" pitchFamily="18" charset="0"/>
                                </a:rPr>
                                <m:t>𝜎</m:t>
                              </m:r>
                            </m:e>
                            <m:sub>
                              <m:r>
                                <a:rPr lang="en-US" smtClean="0">
                                  <a:latin typeface="Cambria Math" panose="02040503050406030204" pitchFamily="18" charset="0"/>
                                </a:rPr>
                                <m:t>1</m:t>
                              </m:r>
                            </m:sub>
                          </m:sSub>
                          <m:sSub>
                            <m:sSubPr>
                              <m:ctrlPr>
                                <a:rPr lang="en-US" i="1">
                                  <a:latin typeface="Cambria Math" panose="02040503050406030204" pitchFamily="18" charset="0"/>
                                </a:rPr>
                              </m:ctrlPr>
                            </m:sSubPr>
                            <m:e>
                              <m:r>
                                <a:rPr lang="en-US">
                                  <a:latin typeface="Cambria Math" panose="02040503050406030204" pitchFamily="18" charset="0"/>
                                </a:rPr>
                                <m:t>𝜎</m:t>
                              </m:r>
                            </m:e>
                            <m:sub>
                              <m:r>
                                <a:rPr lang="en-US" smtClean="0">
                                  <a:latin typeface="Cambria Math" panose="02040503050406030204" pitchFamily="18" charset="0"/>
                                </a:rPr>
                                <m:t>3</m:t>
                              </m:r>
                            </m:sub>
                          </m:sSub>
                        </m:den>
                      </m:f>
                      <m:r>
                        <a:rPr lang="en-US" smtClean="0">
                          <a:latin typeface="Cambria Math" panose="02040503050406030204" pitchFamily="18" charset="0"/>
                        </a:rPr>
                        <m:t>=</m:t>
                      </m:r>
                      <m:f>
                        <m:fPr>
                          <m:ctrlPr>
                            <a:rPr lang="en-US" i="1" smtClean="0">
                              <a:latin typeface="Cambria Math" panose="02040503050406030204" pitchFamily="18" charset="0"/>
                            </a:rPr>
                          </m:ctrlPr>
                        </m:fPr>
                        <m:num>
                          <m:r>
                            <a:rPr lang="en-US" smtClean="0">
                              <a:latin typeface="Cambria Math" panose="02040503050406030204" pitchFamily="18" charset="0"/>
                            </a:rPr>
                            <m:t>0</m:t>
                          </m:r>
                        </m:num>
                        <m:den>
                          <m:rad>
                            <m:radPr>
                              <m:degHide m:val="on"/>
                              <m:ctrlPr>
                                <a:rPr lang="en-US" i="1" smtClean="0">
                                  <a:latin typeface="Cambria Math" panose="02040503050406030204" pitchFamily="18" charset="0"/>
                                </a:rPr>
                              </m:ctrlPr>
                            </m:radPr>
                            <m:deg/>
                            <m:e>
                              <m:r>
                                <a:rPr lang="en-US" smtClean="0">
                                  <a:latin typeface="Cambria Math" panose="02040503050406030204" pitchFamily="18" charset="0"/>
                                </a:rPr>
                                <m:t>3</m:t>
                              </m:r>
                            </m:e>
                          </m:rad>
                          <m:rad>
                            <m:radPr>
                              <m:degHide m:val="on"/>
                              <m:ctrlPr>
                                <a:rPr lang="en-US" i="1" smtClean="0">
                                  <a:latin typeface="Cambria Math" panose="02040503050406030204" pitchFamily="18" charset="0"/>
                                </a:rPr>
                              </m:ctrlPr>
                            </m:radPr>
                            <m:deg/>
                            <m:e>
                              <m:r>
                                <a:rPr lang="en-US" smtClean="0">
                                  <a:latin typeface="Cambria Math" panose="02040503050406030204" pitchFamily="18" charset="0"/>
                                </a:rPr>
                                <m:t>4</m:t>
                              </m:r>
                            </m:e>
                          </m:rad>
                        </m:den>
                      </m:f>
                      <m:r>
                        <a:rPr lang="en-US" smtClean="0">
                          <a:latin typeface="Cambria Math" panose="02040503050406030204" pitchFamily="18" charset="0"/>
                        </a:rPr>
                        <m:t>=0</m:t>
                      </m:r>
                    </m:oMath>
                  </m:oMathPara>
                </a14:m>
                <a:endParaRPr lang="en-US" dirty="0"/>
              </a:p>
            </p:txBody>
          </p:sp>
        </mc:Choice>
        <mc:Fallback xmlns="">
          <p:sp>
            <p:nvSpPr>
              <p:cNvPr id="3" name="Content Placeholder 2">
                <a:extLst>
                  <a:ext uri="{FF2B5EF4-FFF2-40B4-BE49-F238E27FC236}">
                    <a16:creationId xmlns:a16="http://schemas.microsoft.com/office/drawing/2014/main" id="{5143CE8D-818F-073B-9CF2-EC8CD144BD6E}"/>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7547199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D168E-4B86-50A8-1383-8E7D27D5A406}"/>
              </a:ext>
            </a:extLst>
          </p:cNvPr>
          <p:cNvSpPr>
            <a:spLocks noGrp="1"/>
          </p:cNvSpPr>
          <p:nvPr>
            <p:ph type="title"/>
          </p:nvPr>
        </p:nvSpPr>
        <p:spPr/>
        <p:txBody>
          <a:bodyPr/>
          <a:lstStyle/>
          <a:p>
            <a:r>
              <a:rPr lang="en-US" dirty="0"/>
              <a:t>Multivariate Normal Distribution</a:t>
            </a:r>
          </a:p>
        </p:txBody>
      </p:sp>
      <p:sp>
        <p:nvSpPr>
          <p:cNvPr id="3" name="Content Placeholder 2">
            <a:extLst>
              <a:ext uri="{FF2B5EF4-FFF2-40B4-BE49-F238E27FC236}">
                <a16:creationId xmlns:a16="http://schemas.microsoft.com/office/drawing/2014/main" id="{A215D129-376E-9157-BA99-AF65A950F72E}"/>
              </a:ext>
            </a:extLst>
          </p:cNvPr>
          <p:cNvSpPr>
            <a:spLocks noGrp="1"/>
          </p:cNvSpPr>
          <p:nvPr>
            <p:ph idx="1"/>
          </p:nvPr>
        </p:nvSpPr>
        <p:spPr/>
        <p:txBody>
          <a:bodyPr/>
          <a:lstStyle/>
          <a:p>
            <a:r>
              <a:rPr lang="en-US" dirty="0"/>
              <a:t>Multiple variables</a:t>
            </a:r>
          </a:p>
          <a:p>
            <a:pPr lvl="1"/>
            <a:r>
              <a:rPr lang="en-US" dirty="0"/>
              <a:t>Has a mean vector and covariance matrix</a:t>
            </a:r>
          </a:p>
          <a:p>
            <a:pPr lvl="1"/>
            <a:r>
              <a:rPr lang="en-US" dirty="0"/>
              <a:t>Has a joint distribution that categorizes the likelihood of specific combinations of observations</a:t>
            </a:r>
          </a:p>
          <a:p>
            <a:r>
              <a:rPr lang="en-US" dirty="0"/>
              <a:t>Some data sets will behave in a way that is consistent with the </a:t>
            </a:r>
            <a:r>
              <a:rPr lang="en-US" b="1" i="1" dirty="0"/>
              <a:t>multivariate normal distribution (MVN)</a:t>
            </a:r>
          </a:p>
        </p:txBody>
      </p:sp>
    </p:spTree>
    <p:extLst>
      <p:ext uri="{BB962C8B-B14F-4D97-AF65-F5344CB8AC3E}">
        <p14:creationId xmlns:p14="http://schemas.microsoft.com/office/powerpoint/2010/main" val="3665659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AF87E-65EB-B26F-A865-89F3A1C0705B}"/>
              </a:ext>
            </a:extLst>
          </p:cNvPr>
          <p:cNvSpPr>
            <a:spLocks noGrp="1"/>
          </p:cNvSpPr>
          <p:nvPr>
            <p:ph type="title"/>
          </p:nvPr>
        </p:nvSpPr>
        <p:spPr/>
        <p:txBody>
          <a:bodyPr>
            <a:noAutofit/>
          </a:bodyPr>
          <a:lstStyle/>
          <a:p>
            <a:r>
              <a:rPr lang="en-US" dirty="0"/>
              <a:t>MVN Distribution</a:t>
            </a:r>
          </a:p>
        </p:txBody>
      </p:sp>
      <p:sp>
        <p:nvSpPr>
          <p:cNvPr id="3" name="Content Placeholder 2">
            <a:extLst>
              <a:ext uri="{FF2B5EF4-FFF2-40B4-BE49-F238E27FC236}">
                <a16:creationId xmlns:a16="http://schemas.microsoft.com/office/drawing/2014/main" id="{5E3B6267-ACF3-C080-D08F-E32A695C7EAA}"/>
              </a:ext>
            </a:extLst>
          </p:cNvPr>
          <p:cNvSpPr>
            <a:spLocks noGrp="1"/>
          </p:cNvSpPr>
          <p:nvPr>
            <p:ph idx="1"/>
          </p:nvPr>
        </p:nvSpPr>
        <p:spPr>
          <a:xfrm>
            <a:off x="609600" y="1600203"/>
            <a:ext cx="5410200" cy="4525963"/>
          </a:xfrm>
        </p:spPr>
        <p:txBody>
          <a:bodyPr>
            <a:noAutofit/>
          </a:bodyPr>
          <a:lstStyle/>
          <a:p>
            <a:r>
              <a:rPr lang="en-US" dirty="0"/>
              <a:t>Each individual variable will behave like a normally distributed variable.</a:t>
            </a:r>
          </a:p>
          <a:p>
            <a:r>
              <a:rPr lang="en-US" dirty="0"/>
              <a:t>The relationship between the variables will be linear.</a:t>
            </a:r>
          </a:p>
          <a:p>
            <a:r>
              <a:rPr lang="en-US" dirty="0"/>
              <a:t>Data points will be denser around the mean vector (point).</a:t>
            </a:r>
          </a:p>
        </p:txBody>
      </p:sp>
      <p:sp>
        <p:nvSpPr>
          <p:cNvPr id="5" name="TextBox 4">
            <a:extLst>
              <a:ext uri="{FF2B5EF4-FFF2-40B4-BE49-F238E27FC236}">
                <a16:creationId xmlns:a16="http://schemas.microsoft.com/office/drawing/2014/main" id="{48183754-C561-4373-E28A-57C019994664}"/>
              </a:ext>
            </a:extLst>
          </p:cNvPr>
          <p:cNvSpPr txBox="1"/>
          <p:nvPr/>
        </p:nvSpPr>
        <p:spPr>
          <a:xfrm>
            <a:off x="9448800" y="5573137"/>
            <a:ext cx="2133600" cy="276999"/>
          </a:xfrm>
          <a:prstGeom prst="rect">
            <a:avLst/>
          </a:prstGeom>
          <a:noFill/>
        </p:spPr>
        <p:txBody>
          <a:bodyPr wrap="square" rtlCol="0" anchor="b">
            <a:noAutofit/>
          </a:bodyPr>
          <a:lstStyle/>
          <a:p>
            <a:pPr algn="r"/>
            <a:r>
              <a:rPr lang="en-US" sz="1200" dirty="0">
                <a:solidFill>
                  <a:srgbClr val="6C6C6C"/>
                </a:solidFill>
              </a:rPr>
              <a:t>Source: Wikipedia</a:t>
            </a:r>
          </a:p>
        </p:txBody>
      </p:sp>
      <p:pic>
        <p:nvPicPr>
          <p:cNvPr id="8" name="Picture 4">
            <a:extLst>
              <a:ext uri="{FF2B5EF4-FFF2-40B4-BE49-F238E27FC236}">
                <a16:creationId xmlns:a16="http://schemas.microsoft.com/office/drawing/2014/main" id="{B7942F5D-EF2A-64FF-997A-6C855290EA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449992" y="1600203"/>
            <a:ext cx="5132408" cy="3882831"/>
          </a:xfrm>
          <a:prstGeom prst="rect">
            <a:avLst/>
          </a:prstGeom>
        </p:spPr>
      </p:pic>
    </p:spTree>
    <p:extLst>
      <p:ext uri="{BB962C8B-B14F-4D97-AF65-F5344CB8AC3E}">
        <p14:creationId xmlns:p14="http://schemas.microsoft.com/office/powerpoint/2010/main" val="549268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5F8E54-40D2-3FE3-3C7C-E88121C9D918}"/>
              </a:ext>
            </a:extLst>
          </p:cNvPr>
          <p:cNvSpPr>
            <a:spLocks noGrp="1"/>
          </p:cNvSpPr>
          <p:nvPr>
            <p:ph type="title"/>
          </p:nvPr>
        </p:nvSpPr>
        <p:spPr/>
        <p:txBody>
          <a:bodyPr/>
          <a:lstStyle/>
          <a:p>
            <a:r>
              <a:rPr lang="en-US" dirty="0"/>
              <a:t>Theoretical MVN Density Curves</a:t>
            </a:r>
          </a:p>
        </p:txBody>
      </p:sp>
      <p:pic>
        <p:nvPicPr>
          <p:cNvPr id="11" name="Content Placeholder 7" descr="Chart&#10;&#10;Description automatically generated">
            <a:extLst>
              <a:ext uri="{FF2B5EF4-FFF2-40B4-BE49-F238E27FC236}">
                <a16:creationId xmlns:a16="http://schemas.microsoft.com/office/drawing/2014/main" id="{7C26C8DC-2FAB-5F2F-94AB-3CDEABB6F7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7042" y="1600200"/>
            <a:ext cx="10477915" cy="4525963"/>
          </a:xfrm>
          <a:prstGeom prst="rect">
            <a:avLst/>
          </a:prstGeom>
        </p:spPr>
      </p:pic>
      <p:sp>
        <p:nvSpPr>
          <p:cNvPr id="12" name="TextBox 11">
            <a:extLst>
              <a:ext uri="{FF2B5EF4-FFF2-40B4-BE49-F238E27FC236}">
                <a16:creationId xmlns:a16="http://schemas.microsoft.com/office/drawing/2014/main" id="{FD2416DB-CEE9-2F29-A00A-9268519C6E95}"/>
              </a:ext>
            </a:extLst>
          </p:cNvPr>
          <p:cNvSpPr txBox="1"/>
          <p:nvPr/>
        </p:nvSpPr>
        <p:spPr>
          <a:xfrm>
            <a:off x="1676400" y="6170097"/>
            <a:ext cx="3581400" cy="369332"/>
          </a:xfrm>
          <a:prstGeom prst="rect">
            <a:avLst/>
          </a:prstGeom>
          <a:noFill/>
        </p:spPr>
        <p:txBody>
          <a:bodyPr wrap="square" rtlCol="0">
            <a:noAutofit/>
          </a:bodyPr>
          <a:lstStyle/>
          <a:p>
            <a:pPr algn="ctr"/>
            <a:r>
              <a:rPr lang="en-US" dirty="0"/>
              <a:t>Correlation of 0</a:t>
            </a:r>
          </a:p>
        </p:txBody>
      </p:sp>
      <p:sp>
        <p:nvSpPr>
          <p:cNvPr id="13" name="TextBox 12">
            <a:extLst>
              <a:ext uri="{FF2B5EF4-FFF2-40B4-BE49-F238E27FC236}">
                <a16:creationId xmlns:a16="http://schemas.microsoft.com/office/drawing/2014/main" id="{E6B4B35F-76F6-A248-4C9B-409BCCC42FCE}"/>
              </a:ext>
            </a:extLst>
          </p:cNvPr>
          <p:cNvSpPr txBox="1"/>
          <p:nvPr/>
        </p:nvSpPr>
        <p:spPr>
          <a:xfrm>
            <a:off x="6781800" y="6126163"/>
            <a:ext cx="3581400" cy="369332"/>
          </a:xfrm>
          <a:prstGeom prst="rect">
            <a:avLst/>
          </a:prstGeom>
          <a:noFill/>
        </p:spPr>
        <p:txBody>
          <a:bodyPr wrap="square" rtlCol="0">
            <a:noAutofit/>
          </a:bodyPr>
          <a:lstStyle/>
          <a:p>
            <a:pPr algn="ctr"/>
            <a:r>
              <a:rPr lang="en-US" dirty="0"/>
              <a:t>Correlation of 0.7</a:t>
            </a:r>
          </a:p>
        </p:txBody>
      </p:sp>
    </p:spTree>
    <p:extLst>
      <p:ext uri="{BB962C8B-B14F-4D97-AF65-F5344CB8AC3E}">
        <p14:creationId xmlns:p14="http://schemas.microsoft.com/office/powerpoint/2010/main" val="14563102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9F06E-5D17-3A61-40DA-5D9614C12046}"/>
              </a:ext>
            </a:extLst>
          </p:cNvPr>
          <p:cNvSpPr>
            <a:spLocks noGrp="1"/>
          </p:cNvSpPr>
          <p:nvPr>
            <p:ph type="title"/>
          </p:nvPr>
        </p:nvSpPr>
        <p:spPr/>
        <p:txBody>
          <a:bodyPr/>
          <a:lstStyle/>
          <a:p>
            <a:r>
              <a:rPr lang="en-US" dirty="0"/>
              <a:t>Estimating Parameters from 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363EDC-E633-E804-CDB1-54B1A3D69750}"/>
                  </a:ext>
                </a:extLst>
              </p:cNvPr>
              <p:cNvSpPr>
                <a:spLocks noGrp="1"/>
              </p:cNvSpPr>
              <p:nvPr>
                <p:ph idx="1"/>
              </p:nvPr>
            </p:nvSpPr>
            <p:spPr/>
            <p:txBody>
              <a:bodyPr/>
              <a:lstStyle/>
              <a:p>
                <a:r>
                  <a:rPr lang="en-US" dirty="0"/>
                  <a:t>Estimates of the mean vector and covariance matrix can be obtained from a sample</a:t>
                </a:r>
              </a:p>
              <a:p>
                <a:r>
                  <a:rPr lang="en-US" dirty="0"/>
                  <a:t>Notation</a:t>
                </a:r>
              </a:p>
              <a:p>
                <a:pPr lvl="1"/>
                <a14:m>
                  <m:oMath xmlns:m="http://schemas.openxmlformats.org/officeDocument/2006/math">
                    <m:acc>
                      <m:accPr>
                        <m:chr m:val="̅"/>
                        <m:ctrlPr>
                          <a:rPr lang="en-US" i="1" smtClean="0">
                            <a:latin typeface="Cambria Math" panose="02040503050406030204" pitchFamily="18" charset="0"/>
                          </a:rPr>
                        </m:ctrlPr>
                      </m:accPr>
                      <m:e>
                        <m:r>
                          <a:rPr lang="en-US" smtClean="0">
                            <a:latin typeface="Cambria Math" panose="02040503050406030204" pitchFamily="18" charset="0"/>
                          </a:rPr>
                          <m:t>𝑿</m:t>
                        </m:r>
                      </m:e>
                    </m:acc>
                  </m:oMath>
                </a14:m>
                <a:r>
                  <a:rPr lang="en-US" dirty="0"/>
                  <a:t> is the sample mean vector.</a:t>
                </a:r>
              </a:p>
              <a:p>
                <a:pPr lvl="1"/>
                <a14:m>
                  <m:oMath xmlns:m="http://schemas.openxmlformats.org/officeDocument/2006/math">
                    <m:r>
                      <a:rPr lang="en-US" smtClean="0">
                        <a:latin typeface="Cambria Math" panose="02040503050406030204" pitchFamily="18" charset="0"/>
                      </a:rPr>
                      <m:t>𝑺</m:t>
                    </m:r>
                    <m:r>
                      <a:rPr lang="en-US" smtClean="0">
                        <a:latin typeface="Cambria Math" panose="02040503050406030204" pitchFamily="18" charset="0"/>
                      </a:rPr>
                      <m:t> </m:t>
                    </m:r>
                  </m:oMath>
                </a14:m>
                <a:r>
                  <a:rPr lang="en-US" dirty="0"/>
                  <a:t>or </a:t>
                </a:r>
                <a14:m>
                  <m:oMath xmlns:m="http://schemas.openxmlformats.org/officeDocument/2006/math">
                    <m:acc>
                      <m:accPr>
                        <m:chr m:val="̂"/>
                        <m:ctrlPr>
                          <a:rPr lang="en-US" i="1" smtClean="0">
                            <a:latin typeface="Cambria Math" panose="02040503050406030204" pitchFamily="18" charset="0"/>
                          </a:rPr>
                        </m:ctrlPr>
                      </m:accPr>
                      <m:e>
                        <m:r>
                          <a:rPr lang="en-US" smtClean="0">
                            <a:latin typeface="Cambria Math" panose="02040503050406030204" pitchFamily="18" charset="0"/>
                          </a:rPr>
                          <m:t>𝚺</m:t>
                        </m:r>
                      </m:e>
                    </m:acc>
                  </m:oMath>
                </a14:m>
                <a:r>
                  <a:rPr lang="en-US" dirty="0"/>
                  <a:t> is the sample covariance matrix.</a:t>
                </a:r>
              </a:p>
            </p:txBody>
          </p:sp>
        </mc:Choice>
        <mc:Fallback xmlns="">
          <p:sp>
            <p:nvSpPr>
              <p:cNvPr id="3" name="Content Placeholder 2">
                <a:extLst>
                  <a:ext uri="{FF2B5EF4-FFF2-40B4-BE49-F238E27FC236}">
                    <a16:creationId xmlns:a16="http://schemas.microsoft.com/office/drawing/2014/main" id="{BA363EDC-E633-E804-CDB1-54B1A3D69750}"/>
                  </a:ext>
                </a:extLst>
              </p:cNvPr>
              <p:cNvSpPr>
                <a:spLocks noGrp="1" noRot="1" noChangeAspect="1" noMove="1" noResize="1" noEditPoints="1" noAdjustHandles="1" noChangeArrowheads="1" noChangeShapeType="1" noTextEdit="1"/>
              </p:cNvSpPr>
              <p:nvPr>
                <p:ph idx="1"/>
              </p:nvPr>
            </p:nvSpPr>
            <p:spPr>
              <a:blipFill>
                <a:blip r:embed="rId2"/>
                <a:stretch>
                  <a:fillRect l="-1278" t="-1752"/>
                </a:stretch>
              </a:blipFill>
            </p:spPr>
            <p:txBody>
              <a:bodyPr/>
              <a:lstStyle/>
              <a:p>
                <a:r>
                  <a:rPr lang="en-US">
                    <a:noFill/>
                  </a:rPr>
                  <a:t> </a:t>
                </a:r>
              </a:p>
            </p:txBody>
          </p:sp>
        </mc:Fallback>
      </mc:AlternateContent>
    </p:spTree>
    <p:extLst>
      <p:ext uri="{BB962C8B-B14F-4D97-AF65-F5344CB8AC3E}">
        <p14:creationId xmlns:p14="http://schemas.microsoft.com/office/powerpoint/2010/main" val="278045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8E290D-3562-2EFD-733E-042CBFFC2123}"/>
              </a:ext>
            </a:extLst>
          </p:cNvPr>
          <p:cNvSpPr>
            <a:spLocks noGrp="1"/>
          </p:cNvSpPr>
          <p:nvPr>
            <p:ph type="title"/>
          </p:nvPr>
        </p:nvSpPr>
        <p:spPr/>
        <p:txBody>
          <a:bodyPr/>
          <a:lstStyle/>
          <a:p>
            <a:r>
              <a:rPr lang="en-US" dirty="0"/>
              <a:t>Family Tree of Linear Models</a:t>
            </a:r>
          </a:p>
        </p:txBody>
      </p:sp>
      <p:graphicFrame>
        <p:nvGraphicFramePr>
          <p:cNvPr id="7" name="Content Placeholder 5">
            <a:extLst>
              <a:ext uri="{FF2B5EF4-FFF2-40B4-BE49-F238E27FC236}">
                <a16:creationId xmlns:a16="http://schemas.microsoft.com/office/drawing/2014/main" id="{D0960B70-2AD1-BF96-648A-5288A9710FA5}"/>
              </a:ext>
            </a:extLst>
          </p:cNvPr>
          <p:cNvGraphicFramePr>
            <a:graphicFrameLocks/>
          </p:cNvGraphicFramePr>
          <p:nvPr/>
        </p:nvGraphicFramePr>
        <p:xfrm>
          <a:off x="609600" y="1600200"/>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4937964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E7724-E5F4-2939-BAF4-9D901D0101B0}"/>
              </a:ext>
            </a:extLst>
          </p:cNvPr>
          <p:cNvSpPr>
            <a:spLocks noGrp="1"/>
          </p:cNvSpPr>
          <p:nvPr>
            <p:ph type="title"/>
          </p:nvPr>
        </p:nvSpPr>
        <p:spPr/>
        <p:txBody>
          <a:bodyPr/>
          <a:lstStyle/>
          <a:p>
            <a:r>
              <a:rPr lang="en-US" dirty="0"/>
              <a:t>When Errors Are Correlated</a:t>
            </a:r>
          </a:p>
        </p:txBody>
      </p:sp>
      <p:sp>
        <p:nvSpPr>
          <p:cNvPr id="3" name="Content Placeholder 2">
            <a:extLst>
              <a:ext uri="{FF2B5EF4-FFF2-40B4-BE49-F238E27FC236}">
                <a16:creationId xmlns:a16="http://schemas.microsoft.com/office/drawing/2014/main" id="{A24F88CE-8BB4-15A1-F91C-CF6B4823917A}"/>
              </a:ext>
            </a:extLst>
          </p:cNvPr>
          <p:cNvSpPr>
            <a:spLocks noGrp="1"/>
          </p:cNvSpPr>
          <p:nvPr>
            <p:ph idx="1"/>
          </p:nvPr>
        </p:nvSpPr>
        <p:spPr/>
        <p:txBody>
          <a:bodyPr/>
          <a:lstStyle/>
          <a:p>
            <a:r>
              <a:rPr lang="en-US" dirty="0"/>
              <a:t>Applying a method that ignores this fact can produce misleading </a:t>
            </a:r>
            <a:r>
              <a:rPr lang="en-US" i="1" dirty="0"/>
              <a:t>p</a:t>
            </a:r>
            <a:r>
              <a:rPr lang="en-US" dirty="0"/>
              <a:t>-values and confidence intervals</a:t>
            </a:r>
          </a:p>
          <a:p>
            <a:r>
              <a:rPr lang="en-US" dirty="0"/>
              <a:t>A method should be used to model the correlation between the errors (additional parameters in the model)</a:t>
            </a:r>
          </a:p>
          <a:p>
            <a:r>
              <a:rPr lang="en-US" dirty="0"/>
              <a:t>When correlation is accounted for:</a:t>
            </a:r>
          </a:p>
          <a:p>
            <a:pPr lvl="1"/>
            <a:r>
              <a:rPr lang="en-US" dirty="0"/>
              <a:t>Statistical inference is valid</a:t>
            </a:r>
          </a:p>
          <a:p>
            <a:pPr lvl="1"/>
            <a:r>
              <a:rPr lang="en-US" dirty="0"/>
              <a:t>Can be used to make better predictions</a:t>
            </a:r>
          </a:p>
        </p:txBody>
      </p:sp>
    </p:spTree>
    <p:extLst>
      <p:ext uri="{BB962C8B-B14F-4D97-AF65-F5344CB8AC3E}">
        <p14:creationId xmlns:p14="http://schemas.microsoft.com/office/powerpoint/2010/main" val="3278120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9B1C8-53AB-A32F-0EC9-59FAFD8BC6B2}"/>
              </a:ext>
            </a:extLst>
          </p:cNvPr>
          <p:cNvSpPr>
            <a:spLocks noGrp="1"/>
          </p:cNvSpPr>
          <p:nvPr>
            <p:ph type="title"/>
          </p:nvPr>
        </p:nvSpPr>
        <p:spPr/>
        <p:txBody>
          <a:bodyPr/>
          <a:lstStyle/>
          <a:p>
            <a:r>
              <a:rPr lang="en-US" dirty="0"/>
              <a:t>Identifying Repeated Measures</a:t>
            </a:r>
          </a:p>
        </p:txBody>
      </p:sp>
      <p:sp>
        <p:nvSpPr>
          <p:cNvPr id="5" name="Content Placeholder 4">
            <a:extLst>
              <a:ext uri="{FF2B5EF4-FFF2-40B4-BE49-F238E27FC236}">
                <a16:creationId xmlns:a16="http://schemas.microsoft.com/office/drawing/2014/main" id="{AB83D0C7-C517-7D39-3168-02902DFA624E}"/>
              </a:ext>
            </a:extLst>
          </p:cNvPr>
          <p:cNvSpPr>
            <a:spLocks noGrp="1"/>
          </p:cNvSpPr>
          <p:nvPr>
            <p:ph idx="1"/>
          </p:nvPr>
        </p:nvSpPr>
        <p:spPr/>
        <p:txBody>
          <a:bodyPr/>
          <a:lstStyle/>
          <a:p>
            <a:r>
              <a:rPr lang="en-US" dirty="0"/>
              <a:t>It is up to </a:t>
            </a:r>
            <a:r>
              <a:rPr lang="en-US" b="1" dirty="0"/>
              <a:t>you</a:t>
            </a:r>
            <a:r>
              <a:rPr lang="en-US" dirty="0"/>
              <a:t> to identify repeated measure settings.</a:t>
            </a:r>
          </a:p>
          <a:p>
            <a:pPr lvl="1"/>
            <a:r>
              <a:rPr lang="en-US" dirty="0"/>
              <a:t>Can’t determine based on a graph</a:t>
            </a:r>
          </a:p>
          <a:p>
            <a:pPr lvl="1"/>
            <a:r>
              <a:rPr lang="en-US" dirty="0"/>
              <a:t>Sometimes can’t determine from the data</a:t>
            </a:r>
          </a:p>
          <a:p>
            <a:r>
              <a:rPr lang="en-US" dirty="0"/>
              <a:t>You have to ask questions on how the data were collected.</a:t>
            </a:r>
          </a:p>
          <a:p>
            <a:r>
              <a:rPr lang="en-US" dirty="0"/>
              <a:t>Repeated measures can fall into any previous methods.</a:t>
            </a:r>
          </a:p>
          <a:p>
            <a:pPr lvl="1"/>
            <a:r>
              <a:rPr lang="en-US" dirty="0"/>
              <a:t>Repeated measures one-way ANOVA</a:t>
            </a:r>
          </a:p>
          <a:p>
            <a:pPr lvl="1"/>
            <a:r>
              <a:rPr lang="en-US" dirty="0"/>
              <a:t>Repeated measures MLR</a:t>
            </a:r>
          </a:p>
        </p:txBody>
      </p:sp>
    </p:spTree>
    <p:extLst>
      <p:ext uri="{BB962C8B-B14F-4D97-AF65-F5344CB8AC3E}">
        <p14:creationId xmlns:p14="http://schemas.microsoft.com/office/powerpoint/2010/main" val="2023211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3DCBD-E776-CEA2-C16C-D99EBCFDC1C3}"/>
              </a:ext>
            </a:extLst>
          </p:cNvPr>
          <p:cNvSpPr>
            <a:spLocks noGrp="1"/>
          </p:cNvSpPr>
          <p:nvPr>
            <p:ph type="title"/>
          </p:nvPr>
        </p:nvSpPr>
        <p:spPr/>
        <p:txBody>
          <a:bodyPr/>
          <a:lstStyle/>
          <a:p>
            <a:r>
              <a:rPr lang="en-US" dirty="0"/>
              <a:t>Correlation Structures</a:t>
            </a:r>
          </a:p>
        </p:txBody>
      </p:sp>
      <p:sp>
        <p:nvSpPr>
          <p:cNvPr id="3" name="Content Placeholder 2">
            <a:extLst>
              <a:ext uri="{FF2B5EF4-FFF2-40B4-BE49-F238E27FC236}">
                <a16:creationId xmlns:a16="http://schemas.microsoft.com/office/drawing/2014/main" id="{E46BDDC1-438D-BA17-50F9-28D65882FA88}"/>
              </a:ext>
            </a:extLst>
          </p:cNvPr>
          <p:cNvSpPr>
            <a:spLocks noGrp="1"/>
          </p:cNvSpPr>
          <p:nvPr>
            <p:ph idx="1"/>
          </p:nvPr>
        </p:nvSpPr>
        <p:spPr>
          <a:xfrm>
            <a:off x="609600" y="1600203"/>
            <a:ext cx="5715000" cy="4525963"/>
          </a:xfrm>
        </p:spPr>
        <p:txBody>
          <a:bodyPr/>
          <a:lstStyle/>
          <a:p>
            <a:r>
              <a:rPr lang="en-US" dirty="0"/>
              <a:t>Correlation structures are theoretical formulas that represent our assumption of what the trend in the correlogram truly is</a:t>
            </a:r>
          </a:p>
          <a:p>
            <a:r>
              <a:rPr lang="en-US" dirty="0"/>
              <a:t>Common structure includes:</a:t>
            </a:r>
          </a:p>
          <a:p>
            <a:pPr lvl="1"/>
            <a:r>
              <a:rPr lang="en-US" dirty="0"/>
              <a:t>Compound symmetry</a:t>
            </a:r>
          </a:p>
          <a:p>
            <a:pPr lvl="1"/>
            <a:r>
              <a:rPr lang="en-US" dirty="0"/>
              <a:t>Autoregressive</a:t>
            </a:r>
          </a:p>
          <a:p>
            <a:pPr lvl="1"/>
            <a:r>
              <a:rPr lang="en-US" dirty="0"/>
              <a:t>Gaussian</a:t>
            </a:r>
          </a:p>
        </p:txBody>
      </p:sp>
      <p:pic>
        <p:nvPicPr>
          <p:cNvPr id="16" name="Content Placeholder 4">
            <a:extLst>
              <a:ext uri="{FF2B5EF4-FFF2-40B4-BE49-F238E27FC236}">
                <a16:creationId xmlns:a16="http://schemas.microsoft.com/office/drawing/2014/main" id="{757473AA-B001-A763-0166-5F71EDE9C28B}"/>
              </a:ext>
            </a:extLst>
          </p:cNvPr>
          <p:cNvPicPr>
            <a:picLocks/>
          </p:cNvPicPr>
          <p:nvPr/>
        </p:nvPicPr>
        <p:blipFill rotWithShape="1">
          <a:blip r:embed="rId2">
            <a:extLst>
              <a:ext uri="{28A0092B-C50C-407E-A947-70E740481C1C}">
                <a14:useLocalDpi xmlns:a14="http://schemas.microsoft.com/office/drawing/2010/main" val="0"/>
              </a:ext>
            </a:extLst>
          </a:blip>
          <a:srcRect t="18863" b="10271"/>
          <a:stretch/>
        </p:blipFill>
        <p:spPr>
          <a:xfrm>
            <a:off x="7017372" y="1600202"/>
            <a:ext cx="4565028" cy="3962397"/>
          </a:xfrm>
          <a:prstGeom prst="rect">
            <a:avLst/>
          </a:prstGeom>
        </p:spPr>
      </p:pic>
    </p:spTree>
    <p:extLst>
      <p:ext uri="{BB962C8B-B14F-4D97-AF65-F5344CB8AC3E}">
        <p14:creationId xmlns:p14="http://schemas.microsoft.com/office/powerpoint/2010/main" val="2925393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9B77B-9890-C8DF-0212-F7C1885C5017}"/>
              </a:ext>
            </a:extLst>
          </p:cNvPr>
          <p:cNvSpPr>
            <a:spLocks noGrp="1"/>
          </p:cNvSpPr>
          <p:nvPr>
            <p:ph type="title"/>
          </p:nvPr>
        </p:nvSpPr>
        <p:spPr/>
        <p:txBody>
          <a:bodyPr/>
          <a:lstStyle/>
          <a:p>
            <a:r>
              <a:rPr lang="en-US" dirty="0"/>
              <a:t>Generalized Least Squares (GLS)</a:t>
            </a:r>
          </a:p>
        </p:txBody>
      </p:sp>
      <p:sp>
        <p:nvSpPr>
          <p:cNvPr id="5" name="Content Placeholder 4">
            <a:extLst>
              <a:ext uri="{FF2B5EF4-FFF2-40B4-BE49-F238E27FC236}">
                <a16:creationId xmlns:a16="http://schemas.microsoft.com/office/drawing/2014/main" id="{0328DF61-00D3-CBE6-CB41-45C9B60B21C0}"/>
              </a:ext>
            </a:extLst>
          </p:cNvPr>
          <p:cNvSpPr>
            <a:spLocks noGrp="1"/>
          </p:cNvSpPr>
          <p:nvPr>
            <p:ph idx="1"/>
          </p:nvPr>
        </p:nvSpPr>
        <p:spPr/>
        <p:txBody>
          <a:bodyPr/>
          <a:lstStyle/>
          <a:p>
            <a:r>
              <a:rPr lang="en-US" dirty="0"/>
              <a:t>GLS generalizes the OLS technique for multiple linear regression to allow for correlated errors</a:t>
            </a:r>
          </a:p>
          <a:p>
            <a:r>
              <a:rPr lang="en-US" dirty="0"/>
              <a:t>In addition to specifying a model with response and predictors, the user specifies a correlation structure and software estimates parameters that govern the structure</a:t>
            </a:r>
          </a:p>
        </p:txBody>
      </p:sp>
    </p:spTree>
    <p:extLst>
      <p:ext uri="{BB962C8B-B14F-4D97-AF65-F5344CB8AC3E}">
        <p14:creationId xmlns:p14="http://schemas.microsoft.com/office/powerpoint/2010/main" val="812798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9B77B-9890-C8DF-0212-F7C1885C5017}"/>
              </a:ext>
            </a:extLst>
          </p:cNvPr>
          <p:cNvSpPr>
            <a:spLocks noGrp="1"/>
          </p:cNvSpPr>
          <p:nvPr>
            <p:ph type="title"/>
          </p:nvPr>
        </p:nvSpPr>
        <p:spPr/>
        <p:txBody>
          <a:bodyPr/>
          <a:lstStyle/>
          <a:p>
            <a:r>
              <a:rPr lang="en-US" dirty="0"/>
              <a:t>Generalize Least Squares (GLS) (cont.)</a:t>
            </a:r>
          </a:p>
        </p:txBody>
      </p:sp>
      <p:sp>
        <p:nvSpPr>
          <p:cNvPr id="5" name="Content Placeholder 4">
            <a:extLst>
              <a:ext uri="{FF2B5EF4-FFF2-40B4-BE49-F238E27FC236}">
                <a16:creationId xmlns:a16="http://schemas.microsoft.com/office/drawing/2014/main" id="{0328DF61-00D3-CBE6-CB41-45C9B60B21C0}"/>
              </a:ext>
            </a:extLst>
          </p:cNvPr>
          <p:cNvSpPr>
            <a:spLocks noGrp="1"/>
          </p:cNvSpPr>
          <p:nvPr>
            <p:ph idx="1"/>
          </p:nvPr>
        </p:nvSpPr>
        <p:spPr/>
        <p:txBody>
          <a:bodyPr/>
          <a:lstStyle/>
          <a:p>
            <a:r>
              <a:rPr lang="en-US" dirty="0"/>
              <a:t>GLS uses the estimates of the correlation structure and updates:</a:t>
            </a:r>
          </a:p>
          <a:p>
            <a:pPr lvl="1"/>
            <a:r>
              <a:rPr lang="en-US" dirty="0"/>
              <a:t>Regression coefficients</a:t>
            </a:r>
          </a:p>
          <a:p>
            <a:pPr lvl="1"/>
            <a:r>
              <a:rPr lang="en-US" dirty="0"/>
              <a:t>Standard errors of the regression coefficients</a:t>
            </a:r>
          </a:p>
          <a:p>
            <a:r>
              <a:rPr lang="en-US" dirty="0"/>
              <a:t>These estimates are more reliable than MLR</a:t>
            </a:r>
          </a:p>
          <a:p>
            <a:pPr lvl="1"/>
            <a:r>
              <a:rPr lang="en-US" dirty="0"/>
              <a:t>As long as the correlation structure is close to the truth</a:t>
            </a:r>
          </a:p>
        </p:txBody>
      </p:sp>
    </p:spTree>
    <p:extLst>
      <p:ext uri="{BB962C8B-B14F-4D97-AF65-F5344CB8AC3E}">
        <p14:creationId xmlns:p14="http://schemas.microsoft.com/office/powerpoint/2010/main" val="1030301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AD4D8-EB8E-B26C-6E5D-4F3C383A389D}"/>
              </a:ext>
            </a:extLst>
          </p:cNvPr>
          <p:cNvSpPr>
            <a:spLocks noGrp="1"/>
          </p:cNvSpPr>
          <p:nvPr>
            <p:ph type="title"/>
          </p:nvPr>
        </p:nvSpPr>
        <p:spPr/>
        <p:txBody>
          <a:bodyPr/>
          <a:lstStyle/>
          <a:p>
            <a:r>
              <a:rPr lang="en-US" sz="4000" dirty="0"/>
              <a:t>Estimating the Correlation in Practice</a:t>
            </a:r>
          </a:p>
        </p:txBody>
      </p:sp>
      <p:sp>
        <p:nvSpPr>
          <p:cNvPr id="3" name="Content Placeholder 2">
            <a:extLst>
              <a:ext uri="{FF2B5EF4-FFF2-40B4-BE49-F238E27FC236}">
                <a16:creationId xmlns:a16="http://schemas.microsoft.com/office/drawing/2014/main" id="{F7D44C7F-A4CD-F53F-BF21-F5617A1DD43F}"/>
              </a:ext>
            </a:extLst>
          </p:cNvPr>
          <p:cNvSpPr>
            <a:spLocks noGrp="1"/>
          </p:cNvSpPr>
          <p:nvPr>
            <p:ph idx="1"/>
          </p:nvPr>
        </p:nvSpPr>
        <p:spPr/>
        <p:txBody>
          <a:bodyPr/>
          <a:lstStyle/>
          <a:p>
            <a:r>
              <a:rPr lang="en-US" dirty="0"/>
              <a:t>Alternatives to correlograms are variograms and semivariograms (spatial modeling)</a:t>
            </a:r>
          </a:p>
          <a:p>
            <a:r>
              <a:rPr lang="en-US" dirty="0"/>
              <a:t>In practice, many repeated measures data sets are not big enough to adequately estimate and visualize the correlation structure (highly variable, hard to see)</a:t>
            </a:r>
          </a:p>
        </p:txBody>
      </p:sp>
    </p:spTree>
    <p:extLst>
      <p:ext uri="{BB962C8B-B14F-4D97-AF65-F5344CB8AC3E}">
        <p14:creationId xmlns:p14="http://schemas.microsoft.com/office/powerpoint/2010/main" val="2095898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AD4D8-EB8E-B26C-6E5D-4F3C383A389D}"/>
              </a:ext>
            </a:extLst>
          </p:cNvPr>
          <p:cNvSpPr>
            <a:spLocks noGrp="1"/>
          </p:cNvSpPr>
          <p:nvPr>
            <p:ph type="title"/>
          </p:nvPr>
        </p:nvSpPr>
        <p:spPr/>
        <p:txBody>
          <a:bodyPr/>
          <a:lstStyle/>
          <a:p>
            <a:r>
              <a:rPr lang="en-US" sz="4000" dirty="0"/>
              <a:t>Estimating the Correlation in Practice (cont.)</a:t>
            </a:r>
          </a:p>
        </p:txBody>
      </p:sp>
      <p:sp>
        <p:nvSpPr>
          <p:cNvPr id="3" name="Content Placeholder 2">
            <a:extLst>
              <a:ext uri="{FF2B5EF4-FFF2-40B4-BE49-F238E27FC236}">
                <a16:creationId xmlns:a16="http://schemas.microsoft.com/office/drawing/2014/main" id="{F7D44C7F-A4CD-F53F-BF21-F5617A1DD43F}"/>
              </a:ext>
            </a:extLst>
          </p:cNvPr>
          <p:cNvSpPr>
            <a:spLocks noGrp="1"/>
          </p:cNvSpPr>
          <p:nvPr>
            <p:ph idx="1"/>
          </p:nvPr>
        </p:nvSpPr>
        <p:spPr/>
        <p:txBody>
          <a:bodyPr/>
          <a:lstStyle/>
          <a:p>
            <a:r>
              <a:rPr lang="en-US" dirty="0"/>
              <a:t>Analyst typically:</a:t>
            </a:r>
          </a:p>
          <a:p>
            <a:pPr lvl="1"/>
            <a:r>
              <a:rPr lang="en-US" dirty="0"/>
              <a:t>Use theoretical justification for the structure used</a:t>
            </a:r>
          </a:p>
          <a:p>
            <a:pPr lvl="1"/>
            <a:r>
              <a:rPr lang="en-US" dirty="0"/>
              <a:t>Fit multiple structures and compare their AIC metrics</a:t>
            </a:r>
          </a:p>
          <a:p>
            <a:pPr lvl="1"/>
            <a:r>
              <a:rPr lang="en-US" dirty="0"/>
              <a:t>Explore correlograms to help make a decision</a:t>
            </a:r>
          </a:p>
          <a:p>
            <a:r>
              <a:rPr lang="en-US" dirty="0"/>
              <a:t>My experience</a:t>
            </a:r>
          </a:p>
          <a:p>
            <a:pPr lvl="1"/>
            <a:r>
              <a:rPr lang="en-US" dirty="0"/>
              <a:t>Compound symmetry works well (humans, biological, etc.)</a:t>
            </a:r>
          </a:p>
          <a:p>
            <a:pPr lvl="1"/>
            <a:r>
              <a:rPr lang="en-US" dirty="0"/>
              <a:t>Structures that rapidly decrease should be used sparingly unless many of your time points are equally spaced</a:t>
            </a:r>
          </a:p>
        </p:txBody>
      </p:sp>
    </p:spTree>
    <p:extLst>
      <p:ext uri="{BB962C8B-B14F-4D97-AF65-F5344CB8AC3E}">
        <p14:creationId xmlns:p14="http://schemas.microsoft.com/office/powerpoint/2010/main" val="376677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2CC7CA-2760-7F2B-F88A-6C3B094F1F2A}"/>
              </a:ext>
            </a:extLst>
          </p:cNvPr>
          <p:cNvSpPr>
            <a:spLocks noGrp="1"/>
          </p:cNvSpPr>
          <p:nvPr>
            <p:ph type="title"/>
          </p:nvPr>
        </p:nvSpPr>
        <p:spPr/>
        <p:txBody>
          <a:bodyPr/>
          <a:lstStyle/>
          <a:p>
            <a:r>
              <a:rPr lang="en-US" dirty="0"/>
              <a:t>Repeated Measure Workflow</a:t>
            </a:r>
          </a:p>
        </p:txBody>
      </p:sp>
      <p:sp>
        <p:nvSpPr>
          <p:cNvPr id="5" name="Content Placeholder 4">
            <a:extLst>
              <a:ext uri="{FF2B5EF4-FFF2-40B4-BE49-F238E27FC236}">
                <a16:creationId xmlns:a16="http://schemas.microsoft.com/office/drawing/2014/main" id="{38ECB83F-FC11-664B-60EA-929004DE23DB}"/>
              </a:ext>
            </a:extLst>
          </p:cNvPr>
          <p:cNvSpPr>
            <a:spLocks noGrp="1"/>
          </p:cNvSpPr>
          <p:nvPr>
            <p:ph idx="1"/>
          </p:nvPr>
        </p:nvSpPr>
        <p:spPr/>
        <p:txBody>
          <a:bodyPr/>
          <a:lstStyle/>
          <a:p>
            <a:pPr marL="514350" indent="-514350">
              <a:buFont typeface="+mj-lt"/>
              <a:buAutoNum type="arabicPeriod"/>
            </a:pPr>
            <a:r>
              <a:rPr lang="en-US" dirty="0"/>
              <a:t>Identify that you are in a repeated measures setting</a:t>
            </a:r>
          </a:p>
          <a:p>
            <a:pPr marL="514350" indent="-514350">
              <a:buFont typeface="+mj-lt"/>
              <a:buAutoNum type="arabicPeriod"/>
            </a:pPr>
            <a:r>
              <a:rPr lang="en-US" dirty="0"/>
              <a:t>Perform EDA based on whatever MLR equivalent setting you are in</a:t>
            </a:r>
          </a:p>
          <a:p>
            <a:pPr lvl="1"/>
            <a:r>
              <a:rPr lang="en-US" dirty="0"/>
              <a:t>Boxplots, mean plots for ANOVA type settings</a:t>
            </a:r>
          </a:p>
          <a:p>
            <a:pPr lvl="1"/>
            <a:r>
              <a:rPr lang="en-US" dirty="0"/>
              <a:t>Scatterplot of predictor and response for SLR</a:t>
            </a:r>
          </a:p>
          <a:p>
            <a:pPr lvl="1"/>
            <a:r>
              <a:rPr lang="en-US" dirty="0"/>
              <a:t>Combinations of above for general MLR setting</a:t>
            </a:r>
          </a:p>
          <a:p>
            <a:pPr lvl="1"/>
            <a:r>
              <a:rPr lang="en-US" dirty="0"/>
              <a:t>Feature selection tools from regular MLR can be used to assess bias-variance trade-off of complex models</a:t>
            </a:r>
          </a:p>
        </p:txBody>
      </p:sp>
    </p:spTree>
    <p:extLst>
      <p:ext uri="{BB962C8B-B14F-4D97-AF65-F5344CB8AC3E}">
        <p14:creationId xmlns:p14="http://schemas.microsoft.com/office/powerpoint/2010/main" val="1771454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2CC7CA-2760-7F2B-F88A-6C3B094F1F2A}"/>
              </a:ext>
            </a:extLst>
          </p:cNvPr>
          <p:cNvSpPr>
            <a:spLocks noGrp="1"/>
          </p:cNvSpPr>
          <p:nvPr>
            <p:ph type="title"/>
          </p:nvPr>
        </p:nvSpPr>
        <p:spPr/>
        <p:txBody>
          <a:bodyPr/>
          <a:lstStyle/>
          <a:p>
            <a:r>
              <a:rPr lang="en-US" dirty="0"/>
              <a:t>Repeated Measure Workflow (cont.)</a:t>
            </a:r>
          </a:p>
        </p:txBody>
      </p:sp>
      <p:sp>
        <p:nvSpPr>
          <p:cNvPr id="5" name="Content Placeholder 4">
            <a:extLst>
              <a:ext uri="{FF2B5EF4-FFF2-40B4-BE49-F238E27FC236}">
                <a16:creationId xmlns:a16="http://schemas.microsoft.com/office/drawing/2014/main" id="{38ECB83F-FC11-664B-60EA-929004DE23DB}"/>
              </a:ext>
            </a:extLst>
          </p:cNvPr>
          <p:cNvSpPr>
            <a:spLocks noGrp="1"/>
          </p:cNvSpPr>
          <p:nvPr>
            <p:ph idx="1"/>
          </p:nvPr>
        </p:nvSpPr>
        <p:spPr/>
        <p:txBody>
          <a:bodyPr/>
          <a:lstStyle/>
          <a:p>
            <a:pPr marL="514350" indent="-514350">
              <a:buFont typeface="+mj-lt"/>
              <a:buAutoNum type="arabicPeriod" startAt="3"/>
            </a:pPr>
            <a:r>
              <a:rPr lang="en-US" dirty="0"/>
              <a:t>Residual diagnostics (Regular MLR)</a:t>
            </a:r>
          </a:p>
          <a:p>
            <a:pPr lvl="1"/>
            <a:r>
              <a:rPr lang="en-US" dirty="0"/>
              <a:t>Normality and constant variance checks</a:t>
            </a:r>
          </a:p>
          <a:p>
            <a:pPr marL="514350" indent="-514350">
              <a:buFont typeface="+mj-lt"/>
              <a:buAutoNum type="arabicPeriod" startAt="3"/>
            </a:pPr>
            <a:r>
              <a:rPr lang="en-US" dirty="0"/>
              <a:t>Update MLR to GLS</a:t>
            </a:r>
          </a:p>
          <a:p>
            <a:pPr marL="857250" lvl="1" indent="-457200"/>
            <a:r>
              <a:rPr lang="en-US" dirty="0"/>
              <a:t>Multiple correlation structures </a:t>
            </a:r>
          </a:p>
          <a:p>
            <a:pPr marL="857250" lvl="1" indent="-457200"/>
            <a:r>
              <a:rPr lang="en-US" dirty="0"/>
              <a:t>Select the best fit using AIC</a:t>
            </a:r>
          </a:p>
          <a:p>
            <a:pPr marL="857250" lvl="1" indent="-457200"/>
            <a:r>
              <a:rPr lang="en-US" dirty="0"/>
              <a:t>Can use correlogram to help decide</a:t>
            </a:r>
          </a:p>
          <a:p>
            <a:pPr marL="514350" indent="-514350">
              <a:buFont typeface="+mj-lt"/>
              <a:buAutoNum type="arabicPeriod" startAt="5"/>
            </a:pPr>
            <a:r>
              <a:rPr lang="en-US" dirty="0"/>
              <a:t>Conduct inference on the regression coefficients to answer the research question</a:t>
            </a:r>
          </a:p>
          <a:p>
            <a:pPr lvl="1"/>
            <a:r>
              <a:rPr lang="en-US" i="1" dirty="0"/>
              <a:t>p</a:t>
            </a:r>
            <a:r>
              <a:rPr lang="en-US" dirty="0"/>
              <a:t>-values and confidence intervals are more trustworthy</a:t>
            </a:r>
          </a:p>
        </p:txBody>
      </p:sp>
    </p:spTree>
    <p:extLst>
      <p:ext uri="{BB962C8B-B14F-4D97-AF65-F5344CB8AC3E}">
        <p14:creationId xmlns:p14="http://schemas.microsoft.com/office/powerpoint/2010/main" val="3858703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39464</TotalTime>
  <Words>5813</Words>
  <Application>Microsoft Macintosh PowerPoint</Application>
  <PresentationFormat>Widescreen</PresentationFormat>
  <Paragraphs>1182</Paragraphs>
  <Slides>123</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123</vt:i4>
      </vt:variant>
    </vt:vector>
  </HeadingPairs>
  <TitlesOfParts>
    <vt:vector size="130" baseType="lpstr">
      <vt:lpstr>Arial</vt:lpstr>
      <vt:lpstr>Calibri</vt:lpstr>
      <vt:lpstr>Calibri Light</vt:lpstr>
      <vt:lpstr>Cambria Math</vt:lpstr>
      <vt:lpstr>Lato Light</vt:lpstr>
      <vt:lpstr>Times New Roman</vt:lpstr>
      <vt:lpstr>Office Theme</vt:lpstr>
      <vt:lpstr>6372 Midterm Study Guide</vt:lpstr>
      <vt:lpstr>MSDS 6372 Midterm1</vt:lpstr>
      <vt:lpstr>Unit 1 MLR and Regression in General</vt:lpstr>
      <vt:lpstr>Unit 2 Feature Selection</vt:lpstr>
      <vt:lpstr>PowerPoint Presentation</vt:lpstr>
      <vt:lpstr>Unit 2 Feature Selection</vt:lpstr>
      <vt:lpstr>Unit 3 Bootstrap</vt:lpstr>
      <vt:lpstr>Unit 4 Communication</vt:lpstr>
      <vt:lpstr>Unit 6/7</vt:lpstr>
      <vt:lpstr>Example Exam Questions</vt:lpstr>
      <vt:lpstr>PowerPoint Presentation</vt:lpstr>
      <vt:lpstr>PowerPoint Presentation</vt:lpstr>
      <vt:lpstr>PowerPoint Presentation</vt:lpstr>
      <vt:lpstr>PowerPoint Presentation</vt:lpstr>
      <vt:lpstr>PowerPoint Presentation</vt:lpstr>
      <vt:lpstr>PowerPoint Presentation</vt:lpstr>
      <vt:lpstr>Key Slides from Lectures</vt:lpstr>
      <vt:lpstr>Unit 1</vt:lpstr>
      <vt:lpstr>A General Regression Model Structure</vt:lpstr>
      <vt:lpstr>Two Approaches to Estimating f</vt:lpstr>
      <vt:lpstr>Two Approaches to Estimating f</vt:lpstr>
      <vt:lpstr>Parametric Pros</vt:lpstr>
      <vt:lpstr>Parametric Cons</vt:lpstr>
      <vt:lpstr>Interpretation vs Flexibility</vt:lpstr>
      <vt:lpstr>The MLR Model</vt:lpstr>
      <vt:lpstr>Residual Diagnostics</vt:lpstr>
      <vt:lpstr>Residual Panel in R</vt:lpstr>
      <vt:lpstr>Interpreting Coefficients</vt:lpstr>
      <vt:lpstr>Adjusting for Confounders</vt:lpstr>
      <vt:lpstr>Scenario 1: Sex Discrimination, Part IV</vt:lpstr>
      <vt:lpstr>Transformations</vt:lpstr>
      <vt:lpstr>Constant Variance Issues</vt:lpstr>
      <vt:lpstr>Trend in Residual vs. Fitted Plot</vt:lpstr>
      <vt:lpstr>Transformation Pros and Cons</vt:lpstr>
      <vt:lpstr>Summary of Interpretations</vt:lpstr>
      <vt:lpstr>Visualizing Interactions</vt:lpstr>
      <vt:lpstr>Visualizing Interactions (cont.)</vt:lpstr>
      <vt:lpstr>Unit 2</vt:lpstr>
      <vt:lpstr>The “Error” with MSE</vt:lpstr>
      <vt:lpstr>Assessing Reproducibility</vt:lpstr>
      <vt:lpstr>Parametric Example</vt:lpstr>
      <vt:lpstr>Nonparametric Example</vt:lpstr>
      <vt:lpstr>What about Previous Metrics?</vt:lpstr>
      <vt:lpstr>Final Takeaway</vt:lpstr>
      <vt:lpstr>Decomposition of MSE (cont.)</vt:lpstr>
      <vt:lpstr>Visualizing Bias and Variance</vt:lpstr>
      <vt:lpstr>Putting It All Together</vt:lpstr>
      <vt:lpstr>Putting It All Together</vt:lpstr>
      <vt:lpstr>Putting It All Together</vt:lpstr>
      <vt:lpstr>Putting It All Together</vt:lpstr>
      <vt:lpstr>Putting It All Together</vt:lpstr>
      <vt:lpstr>Putting It All Together</vt:lpstr>
      <vt:lpstr>Putting It All Together</vt:lpstr>
      <vt:lpstr>Putting It All Together</vt:lpstr>
      <vt:lpstr>Putting It All Together</vt:lpstr>
      <vt:lpstr>Putting It All Together</vt:lpstr>
      <vt:lpstr>Putting It All Together</vt:lpstr>
      <vt:lpstr>Putting It All Together</vt:lpstr>
      <vt:lpstr>Terminology Link</vt:lpstr>
      <vt:lpstr>k-Fold Cross-Validation</vt:lpstr>
      <vt:lpstr>Feature Selection (Functionally)</vt:lpstr>
      <vt:lpstr>Penalized Regression (High Level)</vt:lpstr>
      <vt:lpstr>Simple Case of Penalized Regression</vt:lpstr>
      <vt:lpstr>Simple Case of Penalized Regression (cont.)</vt:lpstr>
      <vt:lpstr>Visualizing Penalty Effects in MLR</vt:lpstr>
      <vt:lpstr>The Main Idea</vt:lpstr>
      <vt:lpstr>Penalty Controls Complexity</vt:lpstr>
      <vt:lpstr>Penalty Selection via k-Fold</vt:lpstr>
      <vt:lpstr>Unit 3</vt:lpstr>
      <vt:lpstr>Difficulties with MLR</vt:lpstr>
      <vt:lpstr>A Solution</vt:lpstr>
      <vt:lpstr>Bootstrap Key Analogy</vt:lpstr>
      <vt:lpstr>Bootstrap: Main Idea</vt:lpstr>
      <vt:lpstr>Bootstrap Sampling Pseudo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Bootstrapping in MLR</vt:lpstr>
      <vt:lpstr>Bootstrapping Pairs</vt:lpstr>
      <vt:lpstr>Bootstrapping Residuals Algorithm</vt:lpstr>
      <vt:lpstr>Bootstrapping Pairs</vt:lpstr>
      <vt:lpstr>Bootstrapping Residuals</vt:lpstr>
      <vt:lpstr>Considerations</vt:lpstr>
      <vt:lpstr>Ensembling Visual (cont.)</vt:lpstr>
      <vt:lpstr>Big Picture</vt:lpstr>
      <vt:lpstr>Bootstrap Aggregation</vt:lpstr>
      <vt:lpstr>Bootstrap Aggregation (cont.)</vt:lpstr>
      <vt:lpstr>Bagged Regression Tree</vt:lpstr>
      <vt:lpstr>Bagged Regression Tree</vt:lpstr>
      <vt:lpstr>Bagged Regression Tree</vt:lpstr>
      <vt:lpstr>Unit 4</vt:lpstr>
      <vt:lpstr>Interpreting MSE, Part I</vt:lpstr>
      <vt:lpstr>Interpreting MSE, Part II</vt:lpstr>
      <vt:lpstr>Interpreting MSE, Part III</vt:lpstr>
      <vt:lpstr>Practical Significance</vt:lpstr>
      <vt:lpstr>Unit 6/7</vt:lpstr>
      <vt:lpstr>Matrix Representation (cont.)</vt:lpstr>
      <vt:lpstr>Covariance Matrix</vt:lpstr>
      <vt:lpstr>Numeric Example</vt:lpstr>
      <vt:lpstr>Numeric Example (cont.)</vt:lpstr>
      <vt:lpstr>Ease of Information</vt:lpstr>
      <vt:lpstr>Ease of Reading Information</vt:lpstr>
      <vt:lpstr>Covariances to Correlation</vt:lpstr>
      <vt:lpstr>Correlation Examples</vt:lpstr>
      <vt:lpstr>Correlation Examples (cont.)</vt:lpstr>
      <vt:lpstr>Multivariate Normal Distribution</vt:lpstr>
      <vt:lpstr>MVN Distribution</vt:lpstr>
      <vt:lpstr>Theoretical MVN Density Curves</vt:lpstr>
      <vt:lpstr>Estimating Parameters from Data</vt:lpstr>
      <vt:lpstr>Family Tree of Linear Models</vt:lpstr>
      <vt:lpstr>When Errors Are Correlated</vt:lpstr>
      <vt:lpstr>Identifying Repeated Measures</vt:lpstr>
      <vt:lpstr>Correlation Structures</vt:lpstr>
      <vt:lpstr>Generalized Least Squares (GLS)</vt:lpstr>
      <vt:lpstr>Generalize Least Squares (GLS) (cont.)</vt:lpstr>
      <vt:lpstr>Estimating the Correlation in Practice</vt:lpstr>
      <vt:lpstr>Estimating the Correlation in Practice (cont.)</vt:lpstr>
      <vt:lpstr>Repeated Measure Workflow</vt:lpstr>
      <vt:lpstr>Repeated Measure Workflow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6372 Midterm Study Sheet</dc:title>
  <dc:creator>Microsoft Office User</dc:creator>
  <cp:lastModifiedBy>Jacob Turner</cp:lastModifiedBy>
  <cp:revision>54</cp:revision>
  <dcterms:created xsi:type="dcterms:W3CDTF">2018-02-16T15:20:06Z</dcterms:created>
  <dcterms:modified xsi:type="dcterms:W3CDTF">2025-06-10T01:15:27Z</dcterms:modified>
</cp:coreProperties>
</file>