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7359-8E87-104F-9807-36EDE87E15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46DFE6-F387-0939-1F55-27A86D9098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6C6A03-34C1-476E-E018-B9FA6C70ECAC}"/>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E414D65E-B906-4FD3-629D-7DB4B76E9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5198F-66DA-1C39-0039-E3ADFB89C6A6}"/>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1449435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059F3-4E41-BCFB-2B28-21243D461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2EE843-6574-DACF-1274-6A6D3E051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0AAC49-6A46-E8BF-EE57-839AA90021BA}"/>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F12448C4-E8AD-A0E7-7446-7198A7CB0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C7C683-F673-EAAF-38C4-DCEC7B7D570E}"/>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1961508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D3FF-39FF-2EFE-7843-77E74FA091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6D01B9-2F94-C81F-C1CF-C277EF3888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009D5A-2BDD-76E4-0E4C-0281CB0B66FD}"/>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98C9A360-B70E-C121-7865-5BDAF9553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1E070-E9F7-5D50-CD90-58564477F82B}"/>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2774717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44B2E-14BC-E711-9FDF-25D3D5DDCA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9CEC5F-2E87-9D32-EA7E-9E28475100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55BCD3-4287-A1F2-27E2-BFE2D11C9A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7465DF-E87A-6A45-377A-148B14073824}"/>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6" name="Footer Placeholder 5">
            <a:extLst>
              <a:ext uri="{FF2B5EF4-FFF2-40B4-BE49-F238E27FC236}">
                <a16:creationId xmlns:a16="http://schemas.microsoft.com/office/drawing/2014/main" id="{93F5D04F-794C-3B5C-99A5-FB014B5028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0073DB-2A4E-2D34-898B-0291C34AA569}"/>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310463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2C398-D55B-A6C6-A248-D2372A9171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012D50-495F-A608-9282-EAB15B0310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76C198-E44A-2D64-BB27-516A3F15E7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E8E05F-CBD9-9253-8D02-B86BC3ED6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D716F0-084C-68E1-AAFD-D4CA1AD05F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E5FB42-2E88-86BA-D766-A4402BEC2760}"/>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8" name="Footer Placeholder 7">
            <a:extLst>
              <a:ext uri="{FF2B5EF4-FFF2-40B4-BE49-F238E27FC236}">
                <a16:creationId xmlns:a16="http://schemas.microsoft.com/office/drawing/2014/main" id="{1B2B5875-96D1-C2D0-35A0-F60788D419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611904-0D14-1982-7D80-49952CD05FF0}"/>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1221162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115D-7DB9-CFA1-1985-87E171090A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BFE236-B7BF-180C-CF55-08BE09485E57}"/>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4" name="Footer Placeholder 3">
            <a:extLst>
              <a:ext uri="{FF2B5EF4-FFF2-40B4-BE49-F238E27FC236}">
                <a16:creationId xmlns:a16="http://schemas.microsoft.com/office/drawing/2014/main" id="{C41CD508-69F2-40F5-7902-CEA8C8BB8A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B93390-61E4-C6CD-6CEA-FB0D04704A1D}"/>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1905816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50C05-3743-F67F-169E-96E8385A901E}"/>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3" name="Footer Placeholder 2">
            <a:extLst>
              <a:ext uri="{FF2B5EF4-FFF2-40B4-BE49-F238E27FC236}">
                <a16:creationId xmlns:a16="http://schemas.microsoft.com/office/drawing/2014/main" id="{B252742A-0DC2-A655-21BA-F9FFE933CF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A46999-F899-89DD-F2FF-13164970E345}"/>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2301084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6837-2DBC-9493-59E8-F7A79E485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CF40F-1F46-E36B-0C18-989D13092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D37937-9A79-522C-F3F6-1934B9ACA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CD83AF-1F94-DB95-091B-3F71FF0BA0A0}"/>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6" name="Footer Placeholder 5">
            <a:extLst>
              <a:ext uri="{FF2B5EF4-FFF2-40B4-BE49-F238E27FC236}">
                <a16:creationId xmlns:a16="http://schemas.microsoft.com/office/drawing/2014/main" id="{7999DF65-1C17-B518-9F73-258C66659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AC9CEC-1233-9DED-CB4E-CD19FE6B2A64}"/>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3282417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05B0-1E8E-D5DE-E09E-8BA910F52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519E31-8045-8FE3-2F46-A1E200A30F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AB76A6-40E3-C058-4E9C-6ABA72B82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F6C298-0706-340C-744C-5BF1D6FC2388}"/>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6" name="Footer Placeholder 5">
            <a:extLst>
              <a:ext uri="{FF2B5EF4-FFF2-40B4-BE49-F238E27FC236}">
                <a16:creationId xmlns:a16="http://schemas.microsoft.com/office/drawing/2014/main" id="{ABDFD44B-84DA-666A-E72B-4DF8639A9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B03ACE-8E5B-B56C-163F-5A2A3ADE871C}"/>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275461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C01-C1AC-C1AE-9A6B-7EA444FDF5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CC896D-9714-B6DA-E8E2-E5153F7DA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C3A784-1FE4-E9F0-A0F7-BE4F5548CBB7}"/>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E518AC56-5465-3A62-EE0A-6E164648E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94B83-4548-EC80-E87A-6DC1B292B579}"/>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1698654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CB486-D7E6-1A04-819A-72775D4677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D1DCD4-53DF-132C-4A7B-27F41B5AA0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41CCBA-C998-0D32-FF27-87918F405230}"/>
              </a:ext>
            </a:extLst>
          </p:cNvPr>
          <p:cNvSpPr>
            <a:spLocks noGrp="1"/>
          </p:cNvSpPr>
          <p:nvPr>
            <p:ph type="dt" sz="half" idx="10"/>
          </p:nvPr>
        </p:nvSpPr>
        <p:spPr/>
        <p:txBody>
          <a:body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EEDF95A4-2D68-9FBE-E06D-247ED2EBDA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428A6-E256-631A-2405-DD6F9C49FA88}"/>
              </a:ext>
            </a:extLst>
          </p:cNvPr>
          <p:cNvSpPr>
            <a:spLocks noGrp="1"/>
          </p:cNvSpPr>
          <p:nvPr>
            <p:ph type="sldNum" sz="quarter" idx="12"/>
          </p:nvPr>
        </p:nvSpPr>
        <p:spPr/>
        <p:txBody>
          <a:bodyPr/>
          <a:lstStyle/>
          <a:p>
            <a:fld id="{588CD546-C97E-41E9-BEC5-B3C797023FB2}" type="slidenum">
              <a:rPr lang="en-US" smtClean="0"/>
              <a:t>‹#›</a:t>
            </a:fld>
            <a:endParaRPr lang="en-US"/>
          </a:p>
        </p:txBody>
      </p:sp>
    </p:spTree>
    <p:extLst>
      <p:ext uri="{BB962C8B-B14F-4D97-AF65-F5344CB8AC3E}">
        <p14:creationId xmlns:p14="http://schemas.microsoft.com/office/powerpoint/2010/main" val="494867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3C11A0-B3EA-2047-D0B1-C85F7EEA4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A34BCD-A6C9-74F3-058F-A4CDB2FE66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C6D13C-2006-0A9C-C102-D63157525C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AC3FCA-59D8-41A6-9411-5A58B8830699}" type="datetimeFigureOut">
              <a:rPr lang="en-US" smtClean="0"/>
              <a:t>5/19/2025</a:t>
            </a:fld>
            <a:endParaRPr lang="en-US"/>
          </a:p>
        </p:txBody>
      </p:sp>
      <p:sp>
        <p:nvSpPr>
          <p:cNvPr id="5" name="Footer Placeholder 4">
            <a:extLst>
              <a:ext uri="{FF2B5EF4-FFF2-40B4-BE49-F238E27FC236}">
                <a16:creationId xmlns:a16="http://schemas.microsoft.com/office/drawing/2014/main" id="{78841CFB-6FB3-91EE-A281-DA58327C98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C7DB8C-8763-5516-EFB1-F467F8AED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8CD546-C97E-41E9-BEC5-B3C797023FB2}" type="slidenum">
              <a:rPr lang="en-US" smtClean="0"/>
              <a:t>‹#›</a:t>
            </a:fld>
            <a:endParaRPr lang="en-US"/>
          </a:p>
        </p:txBody>
      </p:sp>
    </p:spTree>
    <p:extLst>
      <p:ext uri="{BB962C8B-B14F-4D97-AF65-F5344CB8AC3E}">
        <p14:creationId xmlns:p14="http://schemas.microsoft.com/office/powerpoint/2010/main" val="4182638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34D4-EA1E-4CE7-BA1D-E242439433E8}"/>
              </a:ext>
            </a:extLst>
          </p:cNvPr>
          <p:cNvSpPr>
            <a:spLocks noGrp="1"/>
          </p:cNvSpPr>
          <p:nvPr>
            <p:ph type="ctrTitle"/>
          </p:nvPr>
        </p:nvSpPr>
        <p:spPr/>
        <p:txBody>
          <a:bodyPr/>
          <a:lstStyle/>
          <a:p>
            <a:r>
              <a:rPr lang="en-US" dirty="0"/>
              <a:t>FLS Unit 4</a:t>
            </a:r>
          </a:p>
        </p:txBody>
      </p:sp>
      <p:sp>
        <p:nvSpPr>
          <p:cNvPr id="3" name="Subtitle 2">
            <a:extLst>
              <a:ext uri="{FF2B5EF4-FFF2-40B4-BE49-F238E27FC236}">
                <a16:creationId xmlns:a16="http://schemas.microsoft.com/office/drawing/2014/main" id="{75350E34-D21C-8A99-CF20-7E4F1BDC06E9}"/>
              </a:ext>
            </a:extLst>
          </p:cNvPr>
          <p:cNvSpPr>
            <a:spLocks noGrp="1"/>
          </p:cNvSpPr>
          <p:nvPr>
            <p:ph type="subTitle" idx="1"/>
          </p:nvPr>
        </p:nvSpPr>
        <p:spPr/>
        <p:txBody>
          <a:bodyPr/>
          <a:lstStyle/>
          <a:p>
            <a:r>
              <a:rPr lang="en-US" dirty="0"/>
              <a:t>DS6371</a:t>
            </a:r>
          </a:p>
          <a:p>
            <a:r>
              <a:rPr lang="en-US" dirty="0"/>
              <a:t>Johnny Vogt</a:t>
            </a:r>
          </a:p>
          <a:p>
            <a:r>
              <a:rPr lang="en-US" dirty="0"/>
              <a:t>Type Errors and Powers</a:t>
            </a:r>
          </a:p>
        </p:txBody>
      </p:sp>
    </p:spTree>
    <p:extLst>
      <p:ext uri="{BB962C8B-B14F-4D97-AF65-F5344CB8AC3E}">
        <p14:creationId xmlns:p14="http://schemas.microsoft.com/office/powerpoint/2010/main" val="1074337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0FEB-EF8E-C1E1-FD3B-3E723C72D74D}"/>
              </a:ext>
            </a:extLst>
          </p:cNvPr>
          <p:cNvSpPr>
            <a:spLocks noGrp="1"/>
          </p:cNvSpPr>
          <p:nvPr>
            <p:ph type="title"/>
          </p:nvPr>
        </p:nvSpPr>
        <p:spPr/>
        <p:txBody>
          <a:bodyPr/>
          <a:lstStyle/>
          <a:p>
            <a:r>
              <a:rPr lang="en-US" dirty="0"/>
              <a:t>Quick Questions :D</a:t>
            </a:r>
          </a:p>
        </p:txBody>
      </p:sp>
      <p:pic>
        <p:nvPicPr>
          <p:cNvPr id="5" name="Content Placeholder 4">
            <a:extLst>
              <a:ext uri="{FF2B5EF4-FFF2-40B4-BE49-F238E27FC236}">
                <a16:creationId xmlns:a16="http://schemas.microsoft.com/office/drawing/2014/main" id="{10DDE727-8AFD-99A0-E397-BA4BBC69B43E}"/>
              </a:ext>
            </a:extLst>
          </p:cNvPr>
          <p:cNvPicPr>
            <a:picLocks noGrp="1" noChangeAspect="1"/>
          </p:cNvPicPr>
          <p:nvPr>
            <p:ph idx="1"/>
          </p:nvPr>
        </p:nvPicPr>
        <p:blipFill>
          <a:blip r:embed="rId2"/>
          <a:stretch>
            <a:fillRect/>
          </a:stretch>
        </p:blipFill>
        <p:spPr>
          <a:xfrm>
            <a:off x="453325" y="-641350"/>
            <a:ext cx="9932800" cy="4351338"/>
          </a:xfrm>
        </p:spPr>
      </p:pic>
    </p:spTree>
    <p:extLst>
      <p:ext uri="{BB962C8B-B14F-4D97-AF65-F5344CB8AC3E}">
        <p14:creationId xmlns:p14="http://schemas.microsoft.com/office/powerpoint/2010/main" val="276861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C202-970B-0B43-89A8-009254AB8026}"/>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9777AB9A-4E0C-CC8C-2DB1-66025200C64D}"/>
              </a:ext>
            </a:extLst>
          </p:cNvPr>
          <p:cNvSpPr>
            <a:spLocks noGrp="1"/>
          </p:cNvSpPr>
          <p:nvPr>
            <p:ph idx="1"/>
          </p:nvPr>
        </p:nvSpPr>
        <p:spPr/>
        <p:txBody>
          <a:bodyPr/>
          <a:lstStyle/>
          <a:p>
            <a:r>
              <a:rPr lang="en-US" dirty="0"/>
              <a:t>A</a:t>
            </a:r>
          </a:p>
          <a:p>
            <a:r>
              <a:rPr lang="en-US" dirty="0"/>
              <a:t>C</a:t>
            </a:r>
          </a:p>
          <a:p>
            <a:r>
              <a:rPr lang="en-US" dirty="0"/>
              <a:t>F</a:t>
            </a:r>
          </a:p>
          <a:p>
            <a:r>
              <a:rPr lang="en-US" dirty="0"/>
              <a:t>H</a:t>
            </a:r>
          </a:p>
        </p:txBody>
      </p:sp>
    </p:spTree>
    <p:extLst>
      <p:ext uri="{BB962C8B-B14F-4D97-AF65-F5344CB8AC3E}">
        <p14:creationId xmlns:p14="http://schemas.microsoft.com/office/powerpoint/2010/main" val="1730965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D898-BF12-FC2B-55B6-5D8844053B0C}"/>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E1117945-39F4-B419-EB86-7FFB7F6E0D82}"/>
              </a:ext>
            </a:extLst>
          </p:cNvPr>
          <p:cNvSpPr>
            <a:spLocks noGrp="1"/>
          </p:cNvSpPr>
          <p:nvPr>
            <p:ph idx="1"/>
          </p:nvPr>
        </p:nvSpPr>
        <p:spPr/>
        <p:txBody>
          <a:bodyPr/>
          <a:lstStyle/>
          <a:p>
            <a:r>
              <a:rPr lang="en-US" dirty="0"/>
              <a:t>The power is stronger with the t-test on the log-transformed data because there is the log transformation actually normalizes the data. After the transformation, both samples are less affected by their skew and outliers. Raw Income data is generally very skewed by using it without any transformation. Applying a logarithmic function on the income data, you would reduce the </a:t>
            </a:r>
            <a:r>
              <a:rPr lang="en-US" dirty="0" err="1"/>
              <a:t>amound</a:t>
            </a:r>
            <a:r>
              <a:rPr lang="en-US" dirty="0"/>
              <a:t> of variance and help create eh conditions for the strongest T-Test. </a:t>
            </a:r>
          </a:p>
        </p:txBody>
      </p:sp>
    </p:spTree>
    <p:extLst>
      <p:ext uri="{BB962C8B-B14F-4D97-AF65-F5344CB8AC3E}">
        <p14:creationId xmlns:p14="http://schemas.microsoft.com/office/powerpoint/2010/main" val="175558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80AB3-249F-2FA5-A8C6-9701DC8729D1}"/>
              </a:ext>
            </a:extLst>
          </p:cNvPr>
          <p:cNvSpPr>
            <a:spLocks noGrp="1"/>
          </p:cNvSpPr>
          <p:nvPr>
            <p:ph type="title"/>
          </p:nvPr>
        </p:nvSpPr>
        <p:spPr>
          <a:xfrm>
            <a:off x="1137034" y="609597"/>
            <a:ext cx="9392421" cy="1330841"/>
          </a:xfrm>
        </p:spPr>
        <p:txBody>
          <a:bodyPr>
            <a:normAutofit/>
          </a:bodyPr>
          <a:lstStyle/>
          <a:p>
            <a:r>
              <a:rPr lang="en-US" dirty="0"/>
              <a:t>Real Question 2</a:t>
            </a:r>
          </a:p>
        </p:txBody>
      </p:sp>
      <p:sp>
        <p:nvSpPr>
          <p:cNvPr id="3" name="Content Placeholder 2">
            <a:extLst>
              <a:ext uri="{FF2B5EF4-FFF2-40B4-BE49-F238E27FC236}">
                <a16:creationId xmlns:a16="http://schemas.microsoft.com/office/drawing/2014/main" id="{C3399C57-BBA8-1F3A-3EC8-EE6B354D6AC0}"/>
              </a:ext>
            </a:extLst>
          </p:cNvPr>
          <p:cNvSpPr>
            <a:spLocks noGrp="1"/>
          </p:cNvSpPr>
          <p:nvPr>
            <p:ph idx="1"/>
          </p:nvPr>
        </p:nvSpPr>
        <p:spPr>
          <a:xfrm>
            <a:off x="1137034" y="2198362"/>
            <a:ext cx="4958966" cy="3917773"/>
          </a:xfrm>
        </p:spPr>
        <p:txBody>
          <a:bodyPr>
            <a:normAutofit/>
          </a:bodyPr>
          <a:lstStyle/>
          <a:p>
            <a:pPr marL="514350" indent="-514350">
              <a:buAutoNum type="arabicPeriod"/>
            </a:pPr>
            <a:r>
              <a:rPr lang="en-US" sz="2000"/>
              <a:t>Fail to Reject H0, when H0 is true: Type I Error</a:t>
            </a:r>
          </a:p>
          <a:p>
            <a:pPr marL="514350" indent="-514350">
              <a:buAutoNum type="arabicPeriod"/>
            </a:pPr>
            <a:r>
              <a:rPr lang="en-US" sz="2000"/>
              <a:t>With a significance level of 5%, the chances would be 5% since it would be one-sided. </a:t>
            </a:r>
          </a:p>
          <a:p>
            <a:pPr marL="514350" indent="-514350">
              <a:buAutoNum type="arabicPeriod"/>
            </a:pPr>
            <a:r>
              <a:rPr lang="en-US" sz="2000"/>
              <a:t>|5|</a:t>
            </a:r>
          </a:p>
          <a:p>
            <a:pPr marL="514350" indent="-514350">
              <a:buAutoNum type="arabicPeriod"/>
            </a:pPr>
            <a:r>
              <a:rPr lang="en-US" sz="2000"/>
              <a:t>95% </a:t>
            </a:r>
          </a:p>
          <a:p>
            <a:pPr marL="514350" indent="-514350">
              <a:buAutoNum type="arabicPeriod"/>
            </a:pPr>
            <a:r>
              <a:rPr lang="en-US" sz="2000"/>
              <a:t>Power</a:t>
            </a:r>
          </a:p>
          <a:p>
            <a:pPr marL="514350" indent="-514350">
              <a:buAutoNum type="arabicPeriod"/>
            </a:pPr>
            <a:endParaRPr lang="en-US" sz="2000"/>
          </a:p>
        </p:txBody>
      </p:sp>
      <p:pic>
        <p:nvPicPr>
          <p:cNvPr id="5" name="Picture 4" descr="A graph on a piece of paper&#10;&#10;AI-generated content may be incorrect.">
            <a:extLst>
              <a:ext uri="{FF2B5EF4-FFF2-40B4-BE49-F238E27FC236}">
                <a16:creationId xmlns:a16="http://schemas.microsoft.com/office/drawing/2014/main" id="{7B11589A-CA7C-FD95-6830-871558E1B928}"/>
              </a:ext>
            </a:extLst>
          </p:cNvPr>
          <p:cNvPicPr>
            <a:picLocks noChangeAspect="1"/>
          </p:cNvPicPr>
          <p:nvPr/>
        </p:nvPicPr>
        <p:blipFill>
          <a:blip r:embed="rId2"/>
          <a:stretch>
            <a:fillRect/>
          </a:stretch>
        </p:blipFill>
        <p:spPr>
          <a:xfrm>
            <a:off x="6719367" y="2901659"/>
            <a:ext cx="4788505" cy="2322424"/>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2496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49BA-D8D4-673C-C02C-16CAB1509297}"/>
              </a:ext>
            </a:extLst>
          </p:cNvPr>
          <p:cNvSpPr>
            <a:spLocks noGrp="1"/>
          </p:cNvSpPr>
          <p:nvPr>
            <p:ph type="title"/>
          </p:nvPr>
        </p:nvSpPr>
        <p:spPr/>
        <p:txBody>
          <a:bodyPr/>
          <a:lstStyle/>
          <a:p>
            <a:r>
              <a:rPr lang="en-US" dirty="0"/>
              <a:t>Question 3 Ritalin Recollection</a:t>
            </a:r>
          </a:p>
        </p:txBody>
      </p:sp>
      <p:sp>
        <p:nvSpPr>
          <p:cNvPr id="3" name="Content Placeholder 2">
            <a:extLst>
              <a:ext uri="{FF2B5EF4-FFF2-40B4-BE49-F238E27FC236}">
                <a16:creationId xmlns:a16="http://schemas.microsoft.com/office/drawing/2014/main" id="{CCB1D6F9-AE30-55DD-300B-65D0C5EB64F8}"/>
              </a:ext>
            </a:extLst>
          </p:cNvPr>
          <p:cNvSpPr>
            <a:spLocks noGrp="1"/>
          </p:cNvSpPr>
          <p:nvPr>
            <p:ph idx="1"/>
          </p:nvPr>
        </p:nvSpPr>
        <p:spPr/>
        <p:txBody>
          <a:bodyPr/>
          <a:lstStyle/>
          <a:p>
            <a:pPr marL="514350" indent="-514350">
              <a:buAutoNum type="arabicPeriod"/>
            </a:pPr>
            <a:r>
              <a:rPr lang="en-US" dirty="0"/>
              <a:t>The probability of Ritalin not actually slowing down reaction times with our sample set, the probability would be .06. The evidence definitely leaned towards rejecting it.</a:t>
            </a:r>
          </a:p>
          <a:p>
            <a:pPr marL="514350" indent="-514350">
              <a:buAutoNum type="arabicPeriod"/>
            </a:pPr>
            <a:r>
              <a:rPr lang="en-US" dirty="0"/>
              <a:t>The power of the Test drops to .35</a:t>
            </a:r>
          </a:p>
          <a:p>
            <a:pPr marL="514350" indent="-514350">
              <a:buAutoNum type="arabicPeriod"/>
            </a:pPr>
            <a:endParaRPr lang="en-US" dirty="0"/>
          </a:p>
        </p:txBody>
      </p:sp>
      <p:pic>
        <p:nvPicPr>
          <p:cNvPr id="5" name="Picture 4">
            <a:extLst>
              <a:ext uri="{FF2B5EF4-FFF2-40B4-BE49-F238E27FC236}">
                <a16:creationId xmlns:a16="http://schemas.microsoft.com/office/drawing/2014/main" id="{47D423E8-A7AC-93DA-3E9B-93ADF7B5F92B}"/>
              </a:ext>
            </a:extLst>
          </p:cNvPr>
          <p:cNvPicPr>
            <a:picLocks noChangeAspect="1"/>
          </p:cNvPicPr>
          <p:nvPr/>
        </p:nvPicPr>
        <p:blipFill>
          <a:blip r:embed="rId2"/>
          <a:stretch>
            <a:fillRect/>
          </a:stretch>
        </p:blipFill>
        <p:spPr>
          <a:xfrm>
            <a:off x="1280160" y="3813378"/>
            <a:ext cx="5283399" cy="2505508"/>
          </a:xfrm>
          <a:prstGeom prst="rect">
            <a:avLst/>
          </a:prstGeom>
        </p:spPr>
      </p:pic>
    </p:spTree>
    <p:extLst>
      <p:ext uri="{BB962C8B-B14F-4D97-AF65-F5344CB8AC3E}">
        <p14:creationId xmlns:p14="http://schemas.microsoft.com/office/powerpoint/2010/main" val="1486211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524B-B764-BE71-1666-5FCB1583A5EF}"/>
              </a:ext>
            </a:extLst>
          </p:cNvPr>
          <p:cNvSpPr>
            <a:spLocks noGrp="1"/>
          </p:cNvSpPr>
          <p:nvPr>
            <p:ph type="title"/>
          </p:nvPr>
        </p:nvSpPr>
        <p:spPr/>
        <p:txBody>
          <a:bodyPr/>
          <a:lstStyle/>
          <a:p>
            <a:r>
              <a:rPr lang="en-US" dirty="0"/>
              <a:t>Question 3 Power CURRRVE</a:t>
            </a:r>
          </a:p>
        </p:txBody>
      </p:sp>
      <p:sp>
        <p:nvSpPr>
          <p:cNvPr id="3" name="Content Placeholder 2">
            <a:extLst>
              <a:ext uri="{FF2B5EF4-FFF2-40B4-BE49-F238E27FC236}">
                <a16:creationId xmlns:a16="http://schemas.microsoft.com/office/drawing/2014/main" id="{5C641879-5188-27CF-60DB-40EF83CBE2B4}"/>
              </a:ext>
            </a:extLst>
          </p:cNvPr>
          <p:cNvSpPr>
            <a:spLocks noGrp="1"/>
          </p:cNvSpPr>
          <p:nvPr>
            <p:ph idx="1"/>
          </p:nvPr>
        </p:nvSpPr>
        <p:spPr>
          <a:xfrm>
            <a:off x="838200" y="1841668"/>
            <a:ext cx="10515600" cy="4351338"/>
          </a:xfrm>
        </p:spPr>
        <p:txBody>
          <a:bodyPr/>
          <a:lstStyle/>
          <a:p>
            <a:r>
              <a:rPr lang="en-US" dirty="0"/>
              <a:t>See below for the power curve, and its seems the researchers would </a:t>
            </a:r>
            <a:r>
              <a:rPr lang="en-US" dirty="0" err="1"/>
              <a:t>jneed</a:t>
            </a:r>
            <a:r>
              <a:rPr lang="en-US" dirty="0"/>
              <a:t> a sample size just below 150 to achieve a power of 80%</a:t>
            </a:r>
          </a:p>
        </p:txBody>
      </p:sp>
      <p:pic>
        <p:nvPicPr>
          <p:cNvPr id="5" name="Picture 4">
            <a:extLst>
              <a:ext uri="{FF2B5EF4-FFF2-40B4-BE49-F238E27FC236}">
                <a16:creationId xmlns:a16="http://schemas.microsoft.com/office/drawing/2014/main" id="{9571B818-53A3-F496-37D8-1E515231045A}"/>
              </a:ext>
            </a:extLst>
          </p:cNvPr>
          <p:cNvPicPr>
            <a:picLocks noChangeAspect="1"/>
          </p:cNvPicPr>
          <p:nvPr/>
        </p:nvPicPr>
        <p:blipFill>
          <a:blip r:embed="rId2"/>
          <a:stretch>
            <a:fillRect/>
          </a:stretch>
        </p:blipFill>
        <p:spPr>
          <a:xfrm>
            <a:off x="2146759" y="2636255"/>
            <a:ext cx="7898482" cy="3253703"/>
          </a:xfrm>
          <a:prstGeom prst="rect">
            <a:avLst/>
          </a:prstGeom>
        </p:spPr>
      </p:pic>
    </p:spTree>
    <p:extLst>
      <p:ext uri="{BB962C8B-B14F-4D97-AF65-F5344CB8AC3E}">
        <p14:creationId xmlns:p14="http://schemas.microsoft.com/office/powerpoint/2010/main" val="3755703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7867-7677-8DD5-DD24-69707C1404C2}"/>
              </a:ext>
            </a:extLst>
          </p:cNvPr>
          <p:cNvSpPr>
            <a:spLocks noGrp="1"/>
          </p:cNvSpPr>
          <p:nvPr>
            <p:ph type="title"/>
          </p:nvPr>
        </p:nvSpPr>
        <p:spPr/>
        <p:txBody>
          <a:bodyPr/>
          <a:lstStyle/>
          <a:p>
            <a:r>
              <a:rPr lang="en-US" dirty="0"/>
              <a:t>Question 4 Creativity Story</a:t>
            </a:r>
          </a:p>
        </p:txBody>
      </p:sp>
      <p:sp>
        <p:nvSpPr>
          <p:cNvPr id="3" name="Content Placeholder 2">
            <a:extLst>
              <a:ext uri="{FF2B5EF4-FFF2-40B4-BE49-F238E27FC236}">
                <a16:creationId xmlns:a16="http://schemas.microsoft.com/office/drawing/2014/main" id="{EE908C43-27B0-073F-EC26-DE84E429BB7D}"/>
              </a:ext>
            </a:extLst>
          </p:cNvPr>
          <p:cNvSpPr>
            <a:spLocks noGrp="1"/>
          </p:cNvSpPr>
          <p:nvPr>
            <p:ph idx="1"/>
          </p:nvPr>
        </p:nvSpPr>
        <p:spPr/>
        <p:txBody>
          <a:bodyPr/>
          <a:lstStyle/>
          <a:p>
            <a:pPr marL="514350" indent="-514350">
              <a:buAutoNum type="arabicPeriod"/>
            </a:pPr>
            <a:r>
              <a:rPr lang="en-US" dirty="0"/>
              <a:t>The power was .86 and .85 (I came up with two, since there's two sample sizes)</a:t>
            </a:r>
          </a:p>
          <a:p>
            <a:pPr marL="514350" indent="-514350">
              <a:buAutoNum type="arabicPeriod"/>
            </a:pPr>
            <a:r>
              <a:rPr lang="en-US" dirty="0"/>
              <a:t>The Power grows significantly when you increase the Effect Size.</a:t>
            </a:r>
          </a:p>
          <a:p>
            <a:pPr marL="514350" indent="-514350">
              <a:buAutoNum type="arabicPeriod"/>
            </a:pPr>
            <a:r>
              <a:rPr lang="en-US" dirty="0"/>
              <a:t>I will never use MS Paint again </a:t>
            </a:r>
          </a:p>
          <a:p>
            <a:pPr marL="971550" lvl="1" indent="-514350">
              <a:buAutoNum type="arabicPeriod"/>
            </a:pPr>
            <a:r>
              <a:rPr lang="en-US" dirty="0"/>
              <a:t>I thought It’d be easier.</a:t>
            </a:r>
          </a:p>
          <a:p>
            <a:pPr marL="514350" indent="-514350">
              <a:buAutoNum type="arabicPeriod"/>
            </a:pPr>
            <a:endParaRPr lang="en-US" dirty="0"/>
          </a:p>
        </p:txBody>
      </p:sp>
      <p:pic>
        <p:nvPicPr>
          <p:cNvPr id="7" name="Picture 6">
            <a:extLst>
              <a:ext uri="{FF2B5EF4-FFF2-40B4-BE49-F238E27FC236}">
                <a16:creationId xmlns:a16="http://schemas.microsoft.com/office/drawing/2014/main" id="{8F079E94-6422-BFD6-A8FA-978D7C173DAF}"/>
              </a:ext>
            </a:extLst>
          </p:cNvPr>
          <p:cNvPicPr>
            <a:picLocks noChangeAspect="1"/>
          </p:cNvPicPr>
          <p:nvPr/>
        </p:nvPicPr>
        <p:blipFill>
          <a:blip r:embed="rId2"/>
          <a:stretch>
            <a:fillRect/>
          </a:stretch>
        </p:blipFill>
        <p:spPr>
          <a:xfrm>
            <a:off x="6440606" y="3429000"/>
            <a:ext cx="4913194" cy="3429000"/>
          </a:xfrm>
          <a:prstGeom prst="rect">
            <a:avLst/>
          </a:prstGeom>
        </p:spPr>
      </p:pic>
    </p:spTree>
    <p:extLst>
      <p:ext uri="{BB962C8B-B14F-4D97-AF65-F5344CB8AC3E}">
        <p14:creationId xmlns:p14="http://schemas.microsoft.com/office/powerpoint/2010/main" val="46692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ED8DF-9B66-A4CC-314C-9EE630760DA3}"/>
              </a:ext>
            </a:extLst>
          </p:cNvPr>
          <p:cNvSpPr>
            <a:spLocks noGrp="1"/>
          </p:cNvSpPr>
          <p:nvPr>
            <p:ph type="title"/>
          </p:nvPr>
        </p:nvSpPr>
        <p:spPr/>
        <p:txBody>
          <a:bodyPr/>
          <a:lstStyle/>
          <a:p>
            <a:r>
              <a:rPr lang="en-US" dirty="0"/>
              <a:t>Question 4:4 Power </a:t>
            </a:r>
            <a:r>
              <a:rPr lang="en-US" dirty="0" err="1"/>
              <a:t>Chord..I</a:t>
            </a:r>
            <a:r>
              <a:rPr lang="en-US" dirty="0"/>
              <a:t> mean Curve</a:t>
            </a:r>
          </a:p>
        </p:txBody>
      </p:sp>
      <p:pic>
        <p:nvPicPr>
          <p:cNvPr id="4" name="Content Placeholder 3">
            <a:extLst>
              <a:ext uri="{FF2B5EF4-FFF2-40B4-BE49-F238E27FC236}">
                <a16:creationId xmlns:a16="http://schemas.microsoft.com/office/drawing/2014/main" id="{0C1B537E-57EC-F675-D57D-4CE059CC8F98}"/>
              </a:ext>
            </a:extLst>
          </p:cNvPr>
          <p:cNvPicPr>
            <a:picLocks noGrp="1" noChangeAspect="1"/>
          </p:cNvPicPr>
          <p:nvPr>
            <p:ph idx="1"/>
          </p:nvPr>
        </p:nvPicPr>
        <p:blipFill>
          <a:blip r:embed="rId2"/>
          <a:stretch>
            <a:fillRect/>
          </a:stretch>
        </p:blipFill>
        <p:spPr>
          <a:xfrm>
            <a:off x="1309687" y="2029619"/>
            <a:ext cx="9572625" cy="3943350"/>
          </a:xfrm>
          <a:prstGeom prst="rect">
            <a:avLst/>
          </a:prstGeom>
        </p:spPr>
      </p:pic>
    </p:spTree>
    <p:extLst>
      <p:ext uri="{BB962C8B-B14F-4D97-AF65-F5344CB8AC3E}">
        <p14:creationId xmlns:p14="http://schemas.microsoft.com/office/powerpoint/2010/main" val="123804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90AC-7B04-85CE-D795-701487CD6D3A}"/>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C2881D95-F7D8-23E3-E869-7424F36DB8EF}"/>
              </a:ext>
            </a:extLst>
          </p:cNvPr>
          <p:cNvSpPr>
            <a:spLocks noGrp="1"/>
          </p:cNvSpPr>
          <p:nvPr>
            <p:ph idx="1"/>
          </p:nvPr>
        </p:nvSpPr>
        <p:spPr/>
        <p:txBody>
          <a:bodyPr/>
          <a:lstStyle/>
          <a:p>
            <a:pPr>
              <a:buFontTx/>
              <a:buChar char="-"/>
            </a:pPr>
            <a:r>
              <a:rPr lang="en-US" dirty="0"/>
              <a:t>Barely had any examples of two samples with different sample sizes, or </a:t>
            </a:r>
            <a:r>
              <a:rPr lang="en-US" dirty="0" err="1"/>
              <a:t>atleast</a:t>
            </a:r>
            <a:r>
              <a:rPr lang="en-US" dirty="0"/>
              <a:t> maybe I skimmed too fast</a:t>
            </a:r>
          </a:p>
          <a:p>
            <a:pPr>
              <a:buFontTx/>
              <a:buChar char="-"/>
            </a:pPr>
            <a:r>
              <a:rPr lang="en-US" dirty="0"/>
              <a:t>Is delta only just the difference between means? (effect size?)</a:t>
            </a:r>
          </a:p>
          <a:p>
            <a:pPr>
              <a:buFontTx/>
              <a:buChar char="-"/>
            </a:pPr>
            <a:r>
              <a:rPr lang="en-US" dirty="0"/>
              <a:t>Things are starting to get a little more confusing, I’ll probably have to keep drawing that square thing and distributions to make things make sense </a:t>
            </a:r>
          </a:p>
          <a:p>
            <a:pPr>
              <a:buFontTx/>
              <a:buChar char="-"/>
            </a:pPr>
            <a:r>
              <a:rPr lang="en-US" dirty="0"/>
              <a:t>There was a question about increasing the effect size, and when I did it, it increased the power, but I would’ve figured the power would’ve gone down, since the effect size should’ve eaten </a:t>
            </a:r>
            <a:r>
              <a:rPr lang="en-US"/>
              <a:t>into the power?</a:t>
            </a:r>
            <a:endParaRPr lang="en-US" dirty="0"/>
          </a:p>
        </p:txBody>
      </p:sp>
    </p:spTree>
    <p:extLst>
      <p:ext uri="{BB962C8B-B14F-4D97-AF65-F5344CB8AC3E}">
        <p14:creationId xmlns:p14="http://schemas.microsoft.com/office/powerpoint/2010/main" val="2607920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2868</TotalTime>
  <Words>371</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FLS Unit 4</vt:lpstr>
      <vt:lpstr>Quick Questions :D</vt:lpstr>
      <vt:lpstr>Question 2</vt:lpstr>
      <vt:lpstr>Question 3</vt:lpstr>
      <vt:lpstr>Real Question 2</vt:lpstr>
      <vt:lpstr>Question 3 Ritalin Recollection</vt:lpstr>
      <vt:lpstr>Question 3 Power CURRRVE</vt:lpstr>
      <vt:lpstr>Question 4 Creativity Story</vt:lpstr>
      <vt:lpstr>Question 4:4 Power Chord..I mean Curve</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Vogt, Johnny</dc:creator>
  <cp:lastModifiedBy>Vogt, Johnny</cp:lastModifiedBy>
  <cp:revision>2</cp:revision>
  <dcterms:created xsi:type="dcterms:W3CDTF">2025-05-20T03:15:18Z</dcterms:created>
  <dcterms:modified xsi:type="dcterms:W3CDTF">2025-05-22T03:03:48Z</dcterms:modified>
</cp:coreProperties>
</file>